
<file path=[Content_Types].xml><?xml version="1.0" encoding="utf-8"?>
<Types xmlns="http://schemas.openxmlformats.org/package/2006/content-types">
  <Default Extension="vml" ContentType="application/vnd.openxmlformats-officedocument.vmlDrawing"/>
  <Default Extension="docx" ContentType="application/vnd.openxmlformats-officedocument.wordprocessingml.document"/>
  <Default Extension="xlsx" ContentType="application/vnd.openxmlformats-officedocument.spreadsheetml.sheet"/>
  <Default Extension="bin" ContentType="application/vnd.openxmlformats-officedocument.oleObject"/>
  <Default Extension="jpeg" ContentType="image/jpeg"/>
  <Default Extension="JPG" ContentType="image/.jpg"/>
  <Default Extension="png" ContentType="image/png"/>
  <Default Extension="wdp" ContentType="image/vnd.ms-photo"/>
  <Default Extension="gif" ContentType="image/gif"/>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media/image100.svg" ContentType="image/svg+xml"/>
  <Override PartName="/ppt/media/image105.svg" ContentType="image/svg+xml"/>
  <Override PartName="/ppt/media/image110.svg" ContentType="image/svg+xml"/>
  <Override PartName="/ppt/media/image112.svg" ContentType="image/svg+xml"/>
  <Override PartName="/ppt/media/image120.svg" ContentType="image/svg+xml"/>
  <Override PartName="/ppt/media/image121.svg" ContentType="image/svg+xml"/>
  <Override PartName="/ppt/media/image134.svg" ContentType="image/svg+xml"/>
  <Override PartName="/ppt/media/image136.svg" ContentType="image/svg+xml"/>
  <Override PartName="/ppt/media/image138.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2.svg" ContentType="image/svg+xml"/>
  <Override PartName="/ppt/media/image154.svg" ContentType="image/svg+xml"/>
  <Override PartName="/ppt/media/image156.svg" ContentType="image/svg+xml"/>
  <Override PartName="/ppt/media/image158.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8.svg" ContentType="image/svg+xml"/>
  <Override PartName="/ppt/media/image170.svg" ContentType="image/svg+xml"/>
  <Override PartName="/ppt/media/image172.svg" ContentType="image/svg+xml"/>
  <Override PartName="/ppt/media/image174.svg" ContentType="image/svg+xml"/>
  <Override PartName="/ppt/media/image176.svg" ContentType="image/svg+xml"/>
  <Override PartName="/ppt/media/image178.svg" ContentType="image/svg+xml"/>
  <Override PartName="/ppt/media/image180.svg" ContentType="image/svg+xml"/>
  <Override PartName="/ppt/media/image182.svg" ContentType="image/svg+xml"/>
  <Override PartName="/ppt/media/image184.svg" ContentType="image/svg+xml"/>
  <Override PartName="/ppt/media/image186.svg" ContentType="image/svg+xml"/>
  <Override PartName="/ppt/media/image188.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42.svg" ContentType="image/svg+xml"/>
  <Override PartName="/ppt/media/image46.svg" ContentType="image/svg+xml"/>
  <Override PartName="/ppt/media/image48.svg" ContentType="image/svg+xml"/>
  <Override PartName="/ppt/media/image50.svg" ContentType="image/svg+xml"/>
  <Override PartName="/ppt/media/image56.svg" ContentType="image/svg+xml"/>
  <Override PartName="/ppt/media/image58.svg" ContentType="image/svg+xml"/>
  <Override PartName="/ppt/media/image60.svg" ContentType="image/svg+xml"/>
  <Override PartName="/ppt/media/image87.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63" r:id="rId4"/>
    <p:sldMasterId id="2147483671" r:id="rId5"/>
    <p:sldMasterId id="2147483684" r:id="rId6"/>
    <p:sldMasterId id="2147483687" r:id="rId7"/>
  </p:sldMasterIdLst>
  <p:notesMasterIdLst>
    <p:notesMasterId r:id="rId11"/>
  </p:notesMasterIdLst>
  <p:handoutMasterIdLst>
    <p:handoutMasterId r:id="rId125"/>
  </p:handoutMasterIdLst>
  <p:sldIdLst>
    <p:sldId id="350" r:id="rId8"/>
    <p:sldId id="470" r:id="rId9"/>
    <p:sldId id="1029" r:id="rId10"/>
    <p:sldId id="1030" r:id="rId12"/>
    <p:sldId id="1043" r:id="rId13"/>
    <p:sldId id="1031" r:id="rId14"/>
    <p:sldId id="1032" r:id="rId15"/>
    <p:sldId id="1033" r:id="rId16"/>
    <p:sldId id="1034" r:id="rId17"/>
    <p:sldId id="1035" r:id="rId18"/>
    <p:sldId id="1036" r:id="rId19"/>
    <p:sldId id="1037" r:id="rId20"/>
    <p:sldId id="1038" r:id="rId21"/>
    <p:sldId id="1039" r:id="rId22"/>
    <p:sldId id="1040" r:id="rId23"/>
    <p:sldId id="1041" r:id="rId24"/>
    <p:sldId id="1042" r:id="rId25"/>
    <p:sldId id="471" r:id="rId26"/>
    <p:sldId id="589" r:id="rId27"/>
    <p:sldId id="973" r:id="rId28"/>
    <p:sldId id="961" r:id="rId29"/>
    <p:sldId id="974" r:id="rId30"/>
    <p:sldId id="516" r:id="rId31"/>
    <p:sldId id="546" r:id="rId32"/>
    <p:sldId id="334" r:id="rId33"/>
    <p:sldId id="337" r:id="rId34"/>
    <p:sldId id="571" r:id="rId35"/>
    <p:sldId id="958" r:id="rId36"/>
    <p:sldId id="339" r:id="rId37"/>
    <p:sldId id="346" r:id="rId38"/>
    <p:sldId id="305" r:id="rId39"/>
    <p:sldId id="461" r:id="rId40"/>
    <p:sldId id="462" r:id="rId41"/>
    <p:sldId id="314" r:id="rId42"/>
    <p:sldId id="312" r:id="rId43"/>
    <p:sldId id="348" r:id="rId44"/>
    <p:sldId id="321" r:id="rId45"/>
    <p:sldId id="344" r:id="rId46"/>
    <p:sldId id="349" r:id="rId47"/>
    <p:sldId id="307" r:id="rId48"/>
    <p:sldId id="323" r:id="rId49"/>
    <p:sldId id="306" r:id="rId50"/>
    <p:sldId id="517" r:id="rId51"/>
    <p:sldId id="391" r:id="rId52"/>
    <p:sldId id="975" r:id="rId53"/>
    <p:sldId id="976" r:id="rId54"/>
    <p:sldId id="977" r:id="rId55"/>
    <p:sldId id="978" r:id="rId56"/>
    <p:sldId id="979" r:id="rId57"/>
    <p:sldId id="980" r:id="rId58"/>
    <p:sldId id="981" r:id="rId59"/>
    <p:sldId id="984" r:id="rId60"/>
    <p:sldId id="985" r:id="rId61"/>
    <p:sldId id="982" r:id="rId62"/>
    <p:sldId id="983" r:id="rId63"/>
    <p:sldId id="986" r:id="rId64"/>
    <p:sldId id="987" r:id="rId65"/>
    <p:sldId id="991" r:id="rId66"/>
    <p:sldId id="988" r:id="rId67"/>
    <p:sldId id="992" r:id="rId68"/>
    <p:sldId id="989" r:id="rId69"/>
    <p:sldId id="990" r:id="rId70"/>
    <p:sldId id="993" r:id="rId71"/>
    <p:sldId id="403" r:id="rId72"/>
    <p:sldId id="404" r:id="rId73"/>
    <p:sldId id="428" r:id="rId74"/>
    <p:sldId id="406" r:id="rId75"/>
    <p:sldId id="429" r:id="rId76"/>
    <p:sldId id="408" r:id="rId77"/>
    <p:sldId id="409" r:id="rId78"/>
    <p:sldId id="994" r:id="rId79"/>
    <p:sldId id="995" r:id="rId80"/>
    <p:sldId id="604" r:id="rId81"/>
    <p:sldId id="518" r:id="rId82"/>
    <p:sldId id="479" r:id="rId83"/>
    <p:sldId id="480" r:id="rId84"/>
    <p:sldId id="481" r:id="rId85"/>
    <p:sldId id="482" r:id="rId86"/>
    <p:sldId id="486" r:id="rId87"/>
    <p:sldId id="483" r:id="rId88"/>
    <p:sldId id="484" r:id="rId89"/>
    <p:sldId id="485" r:id="rId90"/>
    <p:sldId id="519" r:id="rId91"/>
    <p:sldId id="458" r:id="rId92"/>
    <p:sldId id="443" r:id="rId93"/>
    <p:sldId id="554" r:id="rId94"/>
    <p:sldId id="960" r:id="rId95"/>
    <p:sldId id="446" r:id="rId96"/>
    <p:sldId id="464" r:id="rId97"/>
    <p:sldId id="448" r:id="rId98"/>
    <p:sldId id="515" r:id="rId99"/>
    <p:sldId id="450" r:id="rId100"/>
    <p:sldId id="452" r:id="rId101"/>
    <p:sldId id="511" r:id="rId102"/>
    <p:sldId id="965" r:id="rId103"/>
    <p:sldId id="520" r:id="rId104"/>
    <p:sldId id="490" r:id="rId105"/>
    <p:sldId id="492" r:id="rId106"/>
    <p:sldId id="491" r:id="rId107"/>
    <p:sldId id="966" r:id="rId108"/>
    <p:sldId id="608" r:id="rId109"/>
    <p:sldId id="494" r:id="rId110"/>
    <p:sldId id="472" r:id="rId111"/>
    <p:sldId id="1017" r:id="rId112"/>
    <p:sldId id="1018" r:id="rId113"/>
    <p:sldId id="1019" r:id="rId114"/>
    <p:sldId id="1020" r:id="rId115"/>
    <p:sldId id="1021" r:id="rId116"/>
    <p:sldId id="1022" r:id="rId117"/>
    <p:sldId id="478" r:id="rId118"/>
    <p:sldId id="1023" r:id="rId119"/>
    <p:sldId id="1024" r:id="rId120"/>
    <p:sldId id="1025" r:id="rId121"/>
    <p:sldId id="1026" r:id="rId122"/>
    <p:sldId id="1027" r:id="rId123"/>
    <p:sldId id="351" r:id="rId124"/>
  </p:sldIdLst>
  <p:sldSz cx="12192000" cy="6858000"/>
  <p:notesSz cx="6858000" cy="9144000"/>
  <p:custDataLst>
    <p:tags r:id="rId1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8" userDrawn="1">
          <p15:clr>
            <a:srgbClr val="A4A3A4"/>
          </p15:clr>
        </p15:guide>
        <p15:guide id="2" pos="39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307" name="hzli11" initials="h" lastIdx="0" clrIdx="3306"/>
  <p:cmAuthor id="1" name="acl" initials="a" lastIdx="0" clrIdx="0"/>
  <p:cmAuthor id="3308" name="CMIT-Wangting" initials="C" lastIdx="0" clrIdx="3307"/>
  <p:cmAuthor id="2" name="yongle liao" initials="yl" lastIdx="0" clrIdx="1"/>
  <p:cmAuthor id="3309" name="liujing" initials="l" lastIdx="0" clrIdx="3308"/>
  <p:cmAuthor id="3" name="qiuzhuo" initials="q" lastIdx="0" clrIdx="2"/>
  <p:cmAuthor id="3310" name="zhifubao" initials="z" lastIdx="0" clrIdx="3309"/>
  <p:cmAuthor id="4" name="谢俊/技术总监室/软件开发中心/总行机关/ABC" initials="" lastIdx="0" clrIdx="3"/>
  <p:cmAuthor id="3311" name="xghuang2" initials="x" lastIdx="0" clrIdx="3310"/>
  <p:cmAuthor id="5" name="appleminy@outlook.com" initials="a" lastIdx="0" clrIdx="4"/>
  <p:cmAuthor id="3312" name="Xin Mingyu" initials="XM" lastIdx="0" clrIdx="3311"/>
  <p:cmAuthor id="6" name="zhiwu yin" initials="z" lastIdx="0" clrIdx="5"/>
  <p:cmAuthor id="3313" name="jiangmanman" initials="j" lastIdx="0" clrIdx="3312"/>
  <p:cmAuthor id="7" name="Yuanhao" initials="Y" lastIdx="0" clrIdx="6"/>
  <p:cmAuthor id="3314" name="明月浅兮" initials="明" lastIdx="0" clrIdx="3313"/>
  <p:cmAuthor id="8" name="微软用户" initials="微" lastIdx="0" clrIdx="7"/>
  <p:cmAuthor id="3315" name="WYX" initials="W" lastIdx="0" clrIdx="3314"/>
  <p:cmAuthor id="9" name="PC" initials="P" lastIdx="0" clrIdx="8"/>
  <p:cmAuthor id="3316" name="Miss Cheese" initials="" lastIdx="0" clrIdx="3315"/>
  <p:cmAuthor id="10" name="windows10" initials="w" lastIdx="0" clrIdx="9"/>
  <p:cmAuthor id="3317" name="浓密秀发王小余" initials="浓" lastIdx="0" clrIdx="3316"/>
  <p:cmAuthor id="11" name="user" initials="u" lastIdx="0" clrIdx="10"/>
  <p:cmAuthor id="3318" name="yjxuan2" initials="y" lastIdx="0" clrIdx="3317"/>
  <p:cmAuthor id="12" name="Microsoft Office User" initials="MOU" lastIdx="0" clrIdx="11"/>
  <p:cmAuthor id="3319" name="孙铭阳" initials="孙" lastIdx="0" clrIdx="3318"/>
  <p:cmAuthor id="13" name="作者" initials="A" lastIdx="0" clrIdx="12"/>
  <p:cmAuthor id="3320" name="讯飞朱宇" initials="讯" lastIdx="0" clrIdx="3319"/>
  <p:cmAuthor id="14" name="张媛媛/架构管理办公室/研发中心/总行机关/ABC" initials="" lastIdx="0" clrIdx="13"/>
  <p:cmAuthor id="3321" name="小小的太阳" initials="小" lastIdx="0" clrIdx="3320"/>
  <p:cmAuthor id="15" name="zhangjie" initials="z" lastIdx="0" clrIdx="14"/>
  <p:cmAuthor id="3322" name="到处玩的" initials="到" lastIdx="0" clrIdx="3321"/>
  <p:cmAuthor id="16" name="罗位国/应用平台研发部/软件开发中心/总行机关/ABC" initials="" lastIdx="0" clrIdx="15"/>
  <p:cmAuthor id="3323" name="翊超 栗" initials="翊栗" lastIdx="0" clrIdx="3322"/>
  <p:cmAuthor id="17" name="李增杰/应用开发八部/软件开发中心/总行机关/ABC" initials="" lastIdx="0" clrIdx="16"/>
  <p:cmAuthor id="3324" name="宋妙思" initials="宋" lastIdx="0" clrIdx="3323"/>
  <p:cmAuthor id="18" name="薛俊鹏/应用开发四部/软件开发中心/总行机关/ABC" initials="" lastIdx="0" clrIdx="17"/>
  <p:cmAuthor id="3325" name="无二独一" initials="无" lastIdx="0" clrIdx="3324"/>
  <p:cmAuthor id="19" name="ZhangqQi" initials="" lastIdx="0" clrIdx="18"/>
  <p:cmAuthor id="3326" name="qqwu21" initials="q" lastIdx="0" clrIdx="3325"/>
  <p:cmAuthor id="20" name="011915056" initials="" lastIdx="0" clrIdx="19"/>
  <p:cmAuthor id="3327" name="维坤" initials="维" lastIdx="0" clrIdx="3326"/>
  <p:cmAuthor id="21" name="部室管理员/软件开发中心/总行机关/ABC" initials="" lastIdx="0" clrIdx="20"/>
  <p:cmAuthor id="3328" name="春子" initials="春" lastIdx="0" clrIdx="3327"/>
  <p:cmAuthor id="22" name="Mia Vida Villanueva" initials="MVV" lastIdx="0" clrIdx="21"/>
  <p:cmAuthor id="3329" name="正直贺" initials="正" lastIdx="0" clrIdx="3328"/>
  <p:cmAuthor id="23" name="1206988966@qq.com" initials="1" lastIdx="0" clrIdx="22"/>
  <p:cmAuthor id="3330" name="huiyao3" initials="h" lastIdx="0" clrIdx="3329"/>
  <p:cmAuthor id="24" name="航天神舟智慧" initials="航天神舟智慧" lastIdx="0" clrIdx="23"/>
  <p:cmAuthor id="3331" name="jhliu37" initials="j" lastIdx="0" clrIdx="3330"/>
  <p:cmAuthor id="25" name="姜伟光" initials="姜" lastIdx="0" clrIdx="24"/>
  <p:cmAuthor id="3332" name="未知用户284" initials="未" lastIdx="0" clrIdx="3331"/>
  <p:cmAuthor id="26" name="王 泓博" initials="王" lastIdx="0" clrIdx="25"/>
  <p:cmAuthor id="3333" name="未知用户285" initials="未" lastIdx="0" clrIdx="3332"/>
  <p:cmAuthor id="27" name="lenovo" initials="l" lastIdx="0" clrIdx="26"/>
  <p:cmAuthor id="3334" name="78234500@qq.com" initials="7" lastIdx="0" clrIdx="3333"/>
  <p:cmAuthor id="28" name="Administrator" initials="A" lastIdx="0" clrIdx="27"/>
  <p:cmAuthor id="3335" name="panjm" initials="p" lastIdx="0" clrIdx="3334"/>
  <p:cmAuthor id="29" name="宋洁然" initials="宋" lastIdx="0" clrIdx="28"/>
  <p:cmAuthor id="3336" name="ye gusong" initials="y" lastIdx="0" clrIdx="3335"/>
  <p:cmAuthor id="30" name="ming qiu" initials="m" lastIdx="0" clrIdx="29"/>
  <p:cmAuthor id="3337" name="wei muzi" initials="w" lastIdx="0" clrIdx="3336"/>
  <p:cmAuthor id="31" name="未知用户8" initials="未知用户8" lastIdx="0" clrIdx="30"/>
  <p:cmAuthor id="3338" name="liuchunhua199110" initials="l" lastIdx="0" clrIdx="3337"/>
  <p:cmAuthor id="32" name="未知用户9" initials="未知用户9" lastIdx="0" clrIdx="31"/>
  <p:cmAuthor id="3339" name="胡岱雯" initials="胡" lastIdx="0" clrIdx="3338"/>
  <p:cmAuthor id="33" name="yang xu" initials="yx" lastIdx="0" clrIdx="32"/>
  <p:cmAuthor id="3340" name="张 成亚" initials="张" lastIdx="0" clrIdx="3339"/>
  <p:cmAuthor id="34" name="azure" initials="a" lastIdx="0" clrIdx="33"/>
  <p:cmAuthor id="3341" name="jian Ray" initials="j" lastIdx="0" clrIdx="3340"/>
  <p:cmAuthor id="35" name="fancy" initials="f" lastIdx="0" clrIdx="34"/>
  <p:cmAuthor id="3342" name="王丽君" initials="王" lastIdx="0" clrIdx="3341"/>
  <p:cmAuthor id="36" name="volcano2001" initials="v" lastIdx="0" clrIdx="35"/>
  <p:cmAuthor id="3343" name="�Ÿ�" initials="�" lastIdx="0" clrIdx="3342"/>
  <p:cmAuthor id="37" name="F先生" initials="F" lastIdx="0" clrIdx="36"/>
  <p:cmAuthor id="3344" name="jesschin" initials="j" lastIdx="0" clrIdx="3343"/>
  <p:cmAuthor id="38" name="余晗" initials="余" lastIdx="0" clrIdx="37"/>
  <p:cmAuthor id="3345" name="Carol Kelly" initials="C" lastIdx="0" clrIdx="3344"/>
  <p:cmAuthor id="39" name="Melody" initials="M" lastIdx="0" clrIdx="38"/>
  <p:cmAuthor id="3346" name="Unknown User58" initials="U" lastIdx="0" clrIdx="3345"/>
  <p:cmAuthor id="40" name="94982" initials="9" lastIdx="0" clrIdx="39"/>
  <p:cmAuthor id="3347" name="Tomorrow" initials="T" lastIdx="0" clrIdx="3346"/>
  <p:cmAuthor id="41" name="lijie" initials="l" lastIdx="0" clrIdx="40"/>
  <p:cmAuthor id="3348" name="李 雷雨" initials="李" lastIdx="0" clrIdx="3347"/>
  <p:cmAuthor id="42" name="qm" initials="q" lastIdx="0" clrIdx="41"/>
  <p:cmAuthor id="3349" name="zw zhou" initials="zz" lastIdx="0" clrIdx="3348"/>
  <p:cmAuthor id="43" name="孙妮" initials="孙妮" lastIdx="0" clrIdx="42"/>
  <p:cmAuthor id="3350" name="91257" initials="9" lastIdx="0" clrIdx="3349"/>
  <p:cmAuthor id="44" name="My" initials="M" lastIdx="0" clrIdx="43"/>
  <p:cmAuthor id="3351" name="vicky" initials="v" lastIdx="0" clrIdx="3350"/>
  <p:cmAuthor id="45" name="shenziqi" initials="s" lastIdx="0" clrIdx="44"/>
  <p:cmAuthor id="3352" name="庆芳 许" initials="庆" lastIdx="0" clrIdx="3351"/>
  <p:cmAuthor id="46" name="ida" initials="i" lastIdx="0" clrIdx="45"/>
  <p:cmAuthor id="3353" name="不明使用者12" initials="不" lastIdx="0" clrIdx="3352"/>
  <p:cmAuthor id="47" name="yuxuelei" initials="y" lastIdx="0" clrIdx="46"/>
  <p:cmAuthor id="3354" name="不明使用者2" initials="不" lastIdx="0" clrIdx="3353"/>
  <p:cmAuthor id="48" name="孙" initials="孙" lastIdx="0" clrIdx="47"/>
  <p:cmAuthor id="3355" name="不明使用者4" initials="不" lastIdx="0" clrIdx="3354"/>
  <p:cmAuthor id="49" name="张艺璇" initials="a" lastIdx="0" clrIdx="48"/>
  <p:cmAuthor id="3356" name="不明使用者5" initials="不" lastIdx="0" clrIdx="3355"/>
  <p:cmAuthor id="50" name="chenghongxing" initials="chx" lastIdx="0" clrIdx="49"/>
  <p:cmAuthor id="3357" name="未知用户296" initials="未" lastIdx="0" clrIdx="3356"/>
  <p:cmAuthor id="51" name="86153" initials="8" lastIdx="0" clrIdx="50"/>
  <p:cmAuthor id="3358" name="不明使用者8" initials="不" lastIdx="0" clrIdx="3357"/>
  <p:cmAuthor id="52" name="24097" initials="2" lastIdx="0" clrIdx="51"/>
  <p:cmAuthor id="3359" name="不明使用者9" initials="不" lastIdx="0" clrIdx="3358"/>
  <p:cmAuthor id="53" name="韩雨" initials="韩" lastIdx="0" clrIdx="52"/>
  <p:cmAuthor id="3360" name="不明使用者10" initials="不" lastIdx="0" clrIdx="3359"/>
  <p:cmAuthor id="54" name="fanmeijiao" initials="f" lastIdx="0" clrIdx="53"/>
  <p:cmAuthor id="3361" name="Carol Wu" initials="C" lastIdx="0" clrIdx="3360"/>
  <p:cmAuthor id="55" name="Li" initials="Li" lastIdx="0" clrIdx="54"/>
  <p:cmAuthor id="3362" name="敢 王" initials="敢" lastIdx="0" clrIdx="3361"/>
  <p:cmAuthor id="56" name="shye_EbMrZnMJ" initials="authorId_858303361" lastIdx="0" clrIdx="55"/>
  <p:cmAuthor id="3363" name="邓 勇" initials="邓" lastIdx="0" clrIdx="3362"/>
  <p:cmAuthor id="57" name="骆倩怡_Znauj26B" initials="authorId_382814100" lastIdx="0" clrIdx="56"/>
  <p:cmAuthor id="3364" name="陈城" initials="陈" lastIdx="0" clrIdx="3363"/>
  <p:cmAuthor id="58" name="高亚京" initials="高" lastIdx="0" clrIdx="57"/>
  <p:cmAuthor id="3365" name="晓  曲" initials="晓" lastIdx="0" clrIdx="3364"/>
  <p:cmAuthor id="59" name="王凯10177225" initials="王凯10177225" lastIdx="0" clrIdx="58"/>
  <p:cmAuthor id="3366" name="孟连磊" initials="孟" lastIdx="0" clrIdx="3365"/>
  <p:cmAuthor id="60" name="szq" initials="s" lastIdx="0" clrIdx="59"/>
  <p:cmAuthor id="3367" name="未知的使用者177" initials="未" lastIdx="0" clrIdx="3366"/>
  <p:cmAuthor id="61" name="li xikun" initials="lx" lastIdx="0" clrIdx="60"/>
  <p:cmAuthor id="3368" name="未知的使用者222" initials="" lastIdx="0" clrIdx="3367"/>
  <p:cmAuthor id="62" name="David" initials="D" lastIdx="0" clrIdx="61"/>
  <p:cmAuthor id="3369" name="未知的使用者225" initials="" lastIdx="0" clrIdx="3368"/>
  <p:cmAuthor id="63" name="张晓荦" initials="张" lastIdx="0" clrIdx="62"/>
  <p:cmAuthor id="3370" name="未知的使用者192" initials="未" lastIdx="0" clrIdx="3369"/>
  <p:cmAuthor id="64" name="Mac" initials="M" lastIdx="0" clrIdx="63"/>
  <p:cmAuthor id="3371" name="Brandy1386999242" initials="B" lastIdx="0" clrIdx="3370"/>
  <p:cmAuthor id="65" name="ZYSR-XY" initials="Z" lastIdx="0" clrIdx="64"/>
  <p:cmAuthor id="3372" name="未知的使用者227" initials="未" lastIdx="0" clrIdx="3371"/>
  <p:cmAuthor id="66" name="沈霄雷" initials="沈" lastIdx="0" clrIdx="65"/>
  <p:cmAuthor id="3373" name="未知的使用者270" initials="未" lastIdx="0" clrIdx="3372"/>
  <p:cmAuthor id="67" name="adminsys" initials="a" lastIdx="0" clrIdx="66"/>
  <p:cmAuthor id="3374" name="未知的使用者228" initials="未" lastIdx="0" clrIdx="3373"/>
  <p:cmAuthor id="68" name="Xing Liu" initials="XL" lastIdx="0" clrIdx="67"/>
  <p:cmAuthor id="3375" name="未知的使用者256" initials="未" lastIdx="0" clrIdx="3374"/>
  <p:cmAuthor id="69" name="曾阿婷" initials="曾" lastIdx="0" clrIdx="68"/>
  <p:cmAuthor id="3376" name="未知的使用者233" initials="未" lastIdx="0" clrIdx="3375"/>
  <p:cmAuthor id="70" name="白健" initials="1" lastIdx="0" clrIdx="69"/>
  <p:cmAuthor id="3377" name="未知的使用者236" initials="未" lastIdx="0" clrIdx="3376"/>
  <p:cmAuthor id="71" name="yubaoquan" initials="y" lastIdx="0" clrIdx="70"/>
  <p:cmAuthor id="3378" name="未知的使用者257" initials="未" lastIdx="0" clrIdx="3377"/>
  <p:cmAuthor id="72" name="ting yue" initials="t" lastIdx="0" clrIdx="71"/>
  <p:cmAuthor id="3379" name="未知的使用者238" initials="未" lastIdx="0" clrIdx="3378"/>
  <p:cmAuthor id="73" name="hua-cloud" initials="h" lastIdx="0" clrIdx="72"/>
  <p:cmAuthor id="3380" name="未知的使用者240" initials="未" lastIdx="0" clrIdx="3379"/>
  <p:cmAuthor id="74" name="david bin" initials="d" lastIdx="0" clrIdx="73"/>
  <p:cmAuthor id="3381" name="lillian" initials="l" lastIdx="0" clrIdx="3380"/>
  <p:cmAuthor id="75" name="仇怿俊" initials="仇" lastIdx="0" clrIdx="74"/>
  <p:cmAuthor id="3382" name="ZhengShilei" initials="Z" lastIdx="0" clrIdx="3381"/>
  <p:cmAuthor id="76" name="ThinkPad" initials="T" lastIdx="0" clrIdx="75"/>
  <p:cmAuthor id="3383" name="13709759491@139.com" initials="1" lastIdx="0" clrIdx="3382"/>
  <p:cmAuthor id="77" name="hao liu" initials="hl" lastIdx="0" clrIdx="76"/>
  <p:cmAuthor id="3384" name="宁文文" initials="宁" lastIdx="0" clrIdx="3383"/>
  <p:cmAuthor id="78" name="li_ji" initials="l" lastIdx="0" clrIdx="77"/>
  <p:cmAuthor id="3385" name="liubin (AD)" initials="l(" lastIdx="0" clrIdx="3384"/>
  <p:cmAuthor id="79" name="於宝泉" initials="於" lastIdx="0" clrIdx="78"/>
  <p:cmAuthor id="3386" name="林志强" initials="林" lastIdx="0" clrIdx="3385"/>
  <p:cmAuthor id="80" name="Liu Dong" initials="L" lastIdx="0" clrIdx="79"/>
  <p:cmAuthor id="3387" name="范晓龙" initials="范晓龙" lastIdx="0" clrIdx="3386"/>
  <p:cmAuthor id="81" name="Zhao Jing" initials="Z" lastIdx="0" clrIdx="80"/>
  <p:cmAuthor id="3388" name="陈梦云" initials="陈梦云" lastIdx="0" clrIdx="3387"/>
  <p:cmAuthor id="82" name="YANQING BAO" initials="Y" lastIdx="0" clrIdx="81"/>
  <p:cmAuthor id="3389" name="jmpcyc" initials="j" lastIdx="0" clrIdx="3388"/>
  <p:cmAuthor id="83" name="黄晓平" initials="黄" lastIdx="0" clrIdx="82"/>
  <p:cmAuthor id="3390" name="0049628" initials="0" lastIdx="0" clrIdx="3389"/>
  <p:cmAuthor id="84" name="Roet-Reinking, Nathalie" initials="R" lastIdx="0" clrIdx="83"/>
  <p:cmAuthor id="3391" name="ymm" initials="y" lastIdx="0" clrIdx="3390"/>
  <p:cmAuthor id="85" name="张金龙" initials="张" lastIdx="0" clrIdx="84"/>
  <p:cmAuthor id="3392" name="王梓" initials="王" lastIdx="0" clrIdx="3391"/>
  <p:cmAuthor id="86" name="祝惠蓉" initials="祝" lastIdx="0" clrIdx="85"/>
  <p:cmAuthor id="3393" name="乔沈波" initials="乔沈波" lastIdx="0" clrIdx="3392"/>
  <p:cmAuthor id="87" name="zhq" initials="z" lastIdx="0" clrIdx="86"/>
  <p:cmAuthor id="3394" name="  " initials=" " lastIdx="0" clrIdx="3393"/>
  <p:cmAuthor id="88" name="张琦" initials="zq" lastIdx="0" clrIdx="87"/>
  <p:cmAuthor id="3395" name="sunyu" initials="s" lastIdx="0" clrIdx="3394"/>
  <p:cmAuthor id="89" name="黄 俊" initials="黄" lastIdx="0" clrIdx="88"/>
  <p:cmAuthor id="3396" name="wunq1" initials="w" lastIdx="0" clrIdx="3395"/>
  <p:cmAuthor id="90" name="续晓婧" initials="续" lastIdx="0" clrIdx="89"/>
  <p:cmAuthor id="3397" name="heyiqin_cheryl@163.com" initials="h" lastIdx="0" clrIdx="3396"/>
  <p:cmAuthor id="91" name="pengmeiyong" initials="p" lastIdx="0" clrIdx="90"/>
  <p:cmAuthor id="3398" name="tf" initials="t" lastIdx="0" clrIdx="3397"/>
  <p:cmAuthor id="92" name="董苗苗" initials="董" lastIdx="0" clrIdx="91"/>
  <p:cmAuthor id="3399" name="TDS" initials="T" lastIdx="0" clrIdx="3398"/>
  <p:cmAuthor id="93" name="AutoBVT" initials="A" lastIdx="0" clrIdx="92"/>
  <p:cmAuthor id="3400" name="327724926@qq.com" initials="" lastIdx="0" clrIdx="3399"/>
  <p:cmAuthor id="94" name="RJX" initials="R" lastIdx="0" clrIdx="93"/>
  <p:cmAuthor id="3401" name="汪睿" initials="" lastIdx="0" clrIdx="3400"/>
  <p:cmAuthor id="95" name="Wang, Cherry-J" initials="W" lastIdx="0" clrIdx="94"/>
  <p:cmAuthor id="3402" name="唐紫艳" initials="唐紫艳" lastIdx="0" clrIdx="3401"/>
  <p:cmAuthor id="96" name="HP" initials="H" lastIdx="0" clrIdx="95"/>
  <p:cmAuthor id="3403" name="刘国栋" initials="刘国栋" lastIdx="0" clrIdx="3402"/>
  <p:cmAuthor id="97" name="幺以谦" initials="幺" lastIdx="0" clrIdx="96"/>
  <p:cmAuthor id="3404" name="李坤" initials="likun" lastIdx="0" clrIdx="3403"/>
  <p:cmAuthor id="98" name="顾超" initials="顾" lastIdx="0" clrIdx="97"/>
  <p:cmAuthor id="3405" name="程广南" initials="程广南" lastIdx="0" clrIdx="3404"/>
  <p:cmAuthor id="99" name="QBOSSCHEN" initials="Q" lastIdx="0" clrIdx="98"/>
  <p:cmAuthor id="3406" name="admi" initials="a" lastIdx="0" clrIdx="3405"/>
  <p:cmAuthor id="100" name="M起春" initials="M" lastIdx="0" clrIdx="99"/>
  <p:cmAuthor id="3407" name="xqfan3" initials="x" lastIdx="0" clrIdx="3406"/>
  <p:cmAuthor id="101" name="ruan jie" initials="rj" lastIdx="0" clrIdx="100"/>
  <p:cmAuthor id="3408" name="jhzhao" initials="j" lastIdx="0" clrIdx="3407"/>
  <p:cmAuthor id="102" name="况 年虎" initials="况" lastIdx="0" clrIdx="101"/>
  <p:cmAuthor id="3409" name="xiangwang25" initials="x" lastIdx="0" clrIdx="3408"/>
  <p:cmAuthor id="103" name="Guo Wei" initials="G" lastIdx="0" clrIdx="102"/>
  <p:cmAuthor id="3410" name="付艳" initials="付艳" lastIdx="0" clrIdx="3409"/>
  <p:cmAuthor id="104" name="DELL" initials="D" lastIdx="0" clrIdx="103"/>
  <p:cmAuthor id="3411" name="pingwu2" initials="p" lastIdx="0" clrIdx="3410"/>
  <p:cmAuthor id="105" name="wangyuanchi" initials="wyc" lastIdx="0" clrIdx="104"/>
  <p:cmAuthor id="3412" name="朱静" initials="朱静" lastIdx="0" clrIdx="3411"/>
  <p:cmAuthor id="106" name="宋 歌" initials="宋" lastIdx="0" clrIdx="105"/>
  <p:cmAuthor id="3413" name="htlh" initials="h" lastIdx="0" clrIdx="3412"/>
  <p:cmAuthor id="107" name="zhaoxuefeng19720820@outlook.com" initials="z" lastIdx="0" clrIdx="106"/>
  <p:cmAuthor id="3414" name="Baymax" initials="B" lastIdx="0" clrIdx="3413"/>
  <p:cmAuthor id="108" name="shangfeng" initials="" lastIdx="0" clrIdx="107"/>
  <p:cmAuthor id="3415" name="qunzhu" initials="q" lastIdx="0" clrIdx="3414"/>
  <p:cmAuthor id="109" name="x280" initials="x" lastIdx="0" clrIdx="108"/>
  <p:cmAuthor id="3416" name="zyye 6" initials="zyye6" lastIdx="0" clrIdx="3415"/>
  <p:cmAuthor id="110" name="赵越" initials="zy" lastIdx="0" clrIdx="109"/>
  <p:cmAuthor id="3417" name="崔山" initials="崔山" lastIdx="0" clrIdx="3416"/>
  <p:cmAuthor id="111" name="13988" initials="1" lastIdx="0" clrIdx="110"/>
  <p:cmAuthor id="3418" name="王松松" initials="王松松" lastIdx="0" clrIdx="3417"/>
  <p:cmAuthor id="112" name="quhep" initials="q" lastIdx="0" clrIdx="111"/>
  <p:cmAuthor id="3419" name="Dylan Koo" initials="DK" lastIdx="0" clrIdx="3418"/>
  <p:cmAuthor id="113" name="admin" initials="a" lastIdx="0" clrIdx="112"/>
  <p:cmAuthor id="3420" name="jingzhu13" initials="j" lastIdx="0" clrIdx="3419"/>
  <p:cmAuthor id="114" name="CEPRI-0592" initials="C" lastIdx="0" clrIdx="113"/>
  <p:cmAuthor id="3421" name="cylv7" initials="c" lastIdx="0" clrIdx="3420"/>
  <p:cmAuthor id="115" name="王羽欣" initials="王" lastIdx="0" clrIdx="114"/>
  <p:cmAuthor id="3422" name="zldai4" initials="z" lastIdx="0" clrIdx="3421"/>
  <p:cmAuthor id="116" name="00035181" initials="0" lastIdx="0" clrIdx="115"/>
  <p:cmAuthor id="3423" name="CC" initials="C" lastIdx="0" clrIdx="3422"/>
  <p:cmAuthor id="117" name="mingsheng xu" initials="mx" lastIdx="0" clrIdx="116"/>
  <p:cmAuthor id="3424" name="何二庆" initials="何二庆" lastIdx="0" clrIdx="3423"/>
  <p:cmAuthor id="118" name=" " initials=" " lastIdx="0" clrIdx="117"/>
  <p:cmAuthor id="3425" name="yangchen8" initials="y" lastIdx="0" clrIdx="3424"/>
  <p:cmAuthor id="119" name="SONGWENTING" initials="S" lastIdx="0" clrIdx="118"/>
  <p:cmAuthor id="3426" name="原来是颜颜！" initials="原" lastIdx="0" clrIdx="3425"/>
  <p:cmAuthor id="120" name="Saku Uchikawa" initials="S" lastIdx="0" clrIdx="119"/>
  <p:cmAuthor id="3427" name="ali maher" initials="am" lastIdx="0" clrIdx="3426"/>
  <p:cmAuthor id="121" name="熊 根鑫" initials="熊" lastIdx="0" clrIdx="120"/>
  <p:cmAuthor id="3428" name="fanghou2" initials="f" lastIdx="0" clrIdx="3427"/>
  <p:cmAuthor id="122" name="Heather Rossman" initials="HR" lastIdx="0" clrIdx="121"/>
  <p:cmAuthor id="3429" name="nfma" initials="n" lastIdx="0" clrIdx="3428"/>
  <p:cmAuthor id="123" name="XGX" initials="X" lastIdx="0" clrIdx="122"/>
  <p:cmAuthor id="3430" name="yuechen" initials="y" lastIdx="0" clrIdx="3429"/>
  <p:cmAuthor id="124" name="Ron Katcher" initials="RK" lastIdx="0" clrIdx="123"/>
  <p:cmAuthor id="3431" name="one Yov" initials="oY" lastIdx="0" clrIdx="3430"/>
  <p:cmAuthor id="125" name="luo vera" initials="l" lastIdx="0" clrIdx="124"/>
  <p:cmAuthor id="3432" name="lftang" initials="l" lastIdx="0" clrIdx="3431"/>
  <p:cmAuthor id="126" name="Chris Mabardy" initials="CM" lastIdx="0" clrIdx="125"/>
  <p:cmAuthor id="3433" name="li kai" initials="lk" lastIdx="0" clrIdx="3432"/>
  <p:cmAuthor id="127" name="liujy" initials="l" lastIdx="0" clrIdx="126"/>
  <p:cmAuthor id="3434" name="HUAWEI" initials="H" lastIdx="0" clrIdx="3433"/>
  <p:cmAuthor id="128" name="健庭 黄" initials="健庭" lastIdx="0" clrIdx="127"/>
  <p:cmAuthor id="3435" name="李剑楠" initials="李" lastIdx="0" clrIdx="3434"/>
  <p:cmAuthor id="129" name="李蕾00009994" initials="李" lastIdx="0" clrIdx="128"/>
  <p:cmAuthor id="3436" name="时光" initials="时" lastIdx="0" clrIdx="3435"/>
  <p:cmAuthor id="130" name="任英杰" initials="Ethan" lastIdx="0" clrIdx="129"/>
  <p:cmAuthor id="3437" name="lzy" initials="8" lastIdx="0" clrIdx="3436"/>
  <p:cmAuthor id="131" name="wyz" initials="w" lastIdx="0" clrIdx="130"/>
  <p:cmAuthor id="3438" name="8237403199" initials="8" lastIdx="0" clrIdx="3437"/>
  <p:cmAuthor id="132" name="BLSJ" initials="B" lastIdx="0" clrIdx="131"/>
  <p:cmAuthor id="3439" name="taochen2" initials="t" lastIdx="0" clrIdx="3438"/>
  <p:cmAuthor id="133" name="10270945" initials="1" lastIdx="0" clrIdx="132"/>
  <p:cmAuthor id="3440" name="10181267" initials="1" lastIdx="0" clrIdx="3439"/>
  <p:cmAuthor id="134" name="hxx" initials="h" lastIdx="0" clrIdx="133"/>
  <p:cmAuthor id="3441" name="10161768" initials="1" lastIdx="0" clrIdx="3440"/>
  <p:cmAuthor id="135" name="10295142" initials="1" lastIdx="0" clrIdx="134"/>
  <p:cmAuthor id="3442" name="10023731" initials="1" lastIdx="0" clrIdx="3441"/>
  <p:cmAuthor id="136" name="liangda" initials="l" lastIdx="0" clrIdx="135"/>
  <p:cmAuthor id="3443" name="WPS_1587870011" initials="W" lastIdx="0" clrIdx="3442"/>
  <p:cmAuthor id="137" name="Hou Yingfeng" initials="H" lastIdx="0" clrIdx="136"/>
  <p:cmAuthor id="3444" name="jktest" initials="U" lastIdx="0" clrIdx="3443"/>
  <p:cmAuthor id="138" name="Diams" initials="D" lastIdx="0" clrIdx="137"/>
  <p:cmAuthor id="3445" name="叶逸群" initials="叶逸群" lastIdx="0" clrIdx="3444"/>
  <p:cmAuthor id="139" name="wangqs" initials="w" lastIdx="0" clrIdx="138"/>
  <p:cmAuthor id="3446" name="张瑞" initials="张瑞" lastIdx="0" clrIdx="3445"/>
  <p:cmAuthor id="140" name="00065088" initials="0" lastIdx="0" clrIdx="139"/>
  <p:cmAuthor id="3447" name="马 啸" initials="马" lastIdx="0" clrIdx="3446"/>
  <p:cmAuthor id="141" name="10066351" initials="1" lastIdx="0" clrIdx="140"/>
  <p:cmAuthor id="3448" name="Jennifer League (Projectline Services)" initials="JL(S" lastIdx="0" clrIdx="3447"/>
  <p:cmAuthor id="142" name="pan feng" initials="pf" lastIdx="0" clrIdx="141"/>
  <p:cmAuthor id="3449" name="佟 鑫" initials="佟" lastIdx="0" clrIdx="3448"/>
  <p:cmAuthor id="143" name="蔡建楠" initials="caijianna" lastIdx="0" clrIdx="142"/>
  <p:cmAuthor id="3450" name="xiaweiwei" initials="x" lastIdx="0" clrIdx="3449"/>
  <p:cmAuthor id="144" name="yang" initials="y" lastIdx="0" clrIdx="143"/>
  <p:cmAuthor id="3451" name="贾宏波" initials="J" lastIdx="0" clrIdx="3450"/>
  <p:cmAuthor id="145" name="JACK" initials="J" lastIdx="0" clrIdx="144"/>
  <p:cmAuthor id="3452" name="xbzeng" initials="xbzeng" lastIdx="0" clrIdx="3451"/>
  <p:cmAuthor id="146" name="taiji" initials="t" lastIdx="0" clrIdx="145"/>
  <p:cmAuthor id="3453" name="xdhan" initials="x" lastIdx="0" clrIdx="3452"/>
  <p:cmAuthor id="147" name="Admin" initials="A" lastIdx="0" clrIdx="146"/>
  <p:cmAuthor id="3454" name="曹军" initials="曹军" lastIdx="0" clrIdx="3453"/>
  <p:cmAuthor id="148" name="胡亚荣" initials="胡亚荣" lastIdx="0" clrIdx="147"/>
  <p:cmAuthor id="3455" name="张金玉" initials="张" lastIdx="0" clrIdx="3454"/>
  <p:cmAuthor id="149" name="赵磊" initials="赵" lastIdx="0" clrIdx="148"/>
  <p:cmAuthor id="3456" name="赵静" initials="赵" lastIdx="0" clrIdx="3455"/>
  <p:cmAuthor id="150" name="杨 骏" initials="杨" lastIdx="0" clrIdx="149"/>
  <p:cmAuthor id="3457" name="Ruby Quemuel" initials="R" lastIdx="0" clrIdx="3456"/>
  <p:cmAuthor id="151" name="xls" initials="x" lastIdx="0" clrIdx="150"/>
  <p:cmAuthor id="3458" name="xux" initials="x" lastIdx="0" clrIdx="3457"/>
  <p:cmAuthor id="152" name="yu jy" initials="yj" lastIdx="0" clrIdx="151"/>
  <p:cmAuthor id="3459" name="李 大美" initials="李" lastIdx="0" clrIdx="3458"/>
  <p:cmAuthor id="153" name="15600881120@163.com" initials="1" lastIdx="0" clrIdx="152"/>
  <p:cmAuthor id="3460" name="Windows10" initials="W" lastIdx="0" clrIdx="3459"/>
  <p:cmAuthor id="154" name="山西公司计划部刘智" initials="u" lastIdx="0" clrIdx="153"/>
  <p:cmAuthor id="3461" name="张昭" initials="张" lastIdx="0" clrIdx="3460"/>
  <p:cmAuthor id="155" name="未知用户25" initials="未" lastIdx="0" clrIdx="154"/>
  <p:cmAuthor id="3462" name="cyq" initials="c" lastIdx="0" clrIdx="3461"/>
  <p:cmAuthor id="156" name="未知用户30" initials="未" lastIdx="0" clrIdx="155"/>
  <p:cmAuthor id="3463" name="Lina Hang(联通上海市上海市分公司)" initials="LH" lastIdx="0" clrIdx="3462"/>
  <p:cmAuthor id="157" name="leoya" initials="l" lastIdx="0" clrIdx="156"/>
  <p:cmAuthor id="3464" name="周志浩" initials="Edmond" lastIdx="0" clrIdx="3463"/>
  <p:cmAuthor id="158" name="杜雪梅" initials="杜" lastIdx="0" clrIdx="157"/>
  <p:cmAuthor id="3465" name="陈 泰维" initials="陈" lastIdx="0" clrIdx="3464"/>
  <p:cmAuthor id="159" name="崔超" initials="崔" lastIdx="0" clrIdx="158"/>
  <p:cmAuthor id="3466" name="潘尚" initials="潘" lastIdx="0" clrIdx="3465"/>
  <p:cmAuthor id="160" name="lianghb" initials="" lastIdx="0" clrIdx="159"/>
  <p:cmAuthor id="3467" name="盛佳兵" initials="盛" lastIdx="0" clrIdx="3466"/>
  <p:cmAuthor id="161" name="未知的使用者35" initials="" lastIdx="0" clrIdx="160"/>
  <p:cmAuthor id="3468" name="隆敏玲" initials="隆" lastIdx="0" clrIdx="3467"/>
  <p:cmAuthor id="162" name="未知的使用者43" initials="" lastIdx="0" clrIdx="161"/>
  <p:cmAuthor id="3469" name="82538" initials="8" lastIdx="0" clrIdx="3468"/>
  <p:cmAuthor id="163" name="Xin Wang (IB)" initials="X" lastIdx="0" clrIdx="162"/>
  <p:cmAuthor id="3470" name="wangdi" initials="w" lastIdx="0" clrIdx="3469"/>
  <p:cmAuthor id="164" name="未知用户81" initials="" lastIdx="0" clrIdx="163"/>
  <p:cmAuthor id="3471" name="王珏" initials="王" lastIdx="0" clrIdx="3470"/>
  <p:cmAuthor id="165" name="未知的使用者7" initials="" lastIdx="0" clrIdx="164"/>
  <p:cmAuthor id="3472" name="邹江林" initials="邹" lastIdx="0" clrIdx="3471"/>
  <p:cmAuthor id="166" name="muzi wei" initials="" lastIdx="0" clrIdx="165"/>
  <p:cmAuthor id="3473" name="王振军" initials="王" lastIdx="0" clrIdx="3472"/>
  <p:cmAuthor id="167" name="未知用户4" initials="未" lastIdx="0" clrIdx="166"/>
  <p:cmAuthor id="3474" name="yuexy" initials="y" lastIdx="0" clrIdx="3473"/>
  <p:cmAuthor id="168" name="ztolei@163.com" initials="z" lastIdx="0" clrIdx="167"/>
  <p:cmAuthor id="3475" name="Chang Liu" initials="CL" lastIdx="0" clrIdx="3474"/>
  <p:cmAuthor id="169" name="kathy chen" initials="" lastIdx="0" clrIdx="168"/>
  <p:cmAuthor id="3476" name="LBL" initials="LBL" lastIdx="0" clrIdx="3475"/>
  <p:cmAuthor id="170" name="未知用户6" initials="未" lastIdx="0" clrIdx="169"/>
  <p:cmAuthor id="3477" name="unicom1" initials="u" lastIdx="0" clrIdx="3476"/>
  <p:cmAuthor id="171" name="未知的使用者86" initials="" lastIdx="0" clrIdx="170"/>
  <p:cmAuthor id="3478" name="lll" initials="l" lastIdx="0" clrIdx="3477"/>
  <p:cmAuthor id="172" name="未知的使用者44" initials="" lastIdx="0" clrIdx="171"/>
  <p:cmAuthor id="3479" name="徐 正国" initials="徐" lastIdx="0" clrIdx="3478"/>
  <p:cmAuthor id="173" name="宋海锐" initials="宋" lastIdx="0" clrIdx="172"/>
  <p:cmAuthor id="3480" name="Jimmy-Power" initials="J" lastIdx="0" clrIdx="3479"/>
  <p:cmAuthor id="174" name="未知的使用者124" initials="" lastIdx="0" clrIdx="173"/>
  <p:cmAuthor id="3481" name="李香" initials="李香" lastIdx="0" clrIdx="3480"/>
  <p:cmAuthor id="175" name="zhoulifang" initials="z" lastIdx="0" clrIdx="174"/>
  <p:cmAuthor id="3482" name="杨夏林" initials="杨夏林" lastIdx="0" clrIdx="3481"/>
  <p:cmAuthor id="176" name="未知用户154" initials="" lastIdx="0" clrIdx="175"/>
  <p:cmAuthor id="3483" name="ykdu" initials="y" lastIdx="0" clrIdx="3482"/>
  <p:cmAuthor id="177" name="陈丽" initials="陈" lastIdx="0" clrIdx="176"/>
  <p:cmAuthor id="3484" name="qldai2" initials="q" lastIdx="0" clrIdx="3483"/>
  <p:cmAuthor id="178" name="未知用户50" initials="" lastIdx="0" clrIdx="177"/>
  <p:cmAuthor id="3485" name="尹大海" initials="尹大海" lastIdx="0" clrIdx="3484"/>
  <p:cmAuthor id="179" name="未知用户100" initials="" lastIdx="0" clrIdx="178"/>
  <p:cmAuthor id="3486" name="陈宁" initials="陈" lastIdx="0" clrIdx="3485"/>
  <p:cmAuthor id="180" name="未知用户42" initials="" lastIdx="0" clrIdx="179"/>
  <p:cmAuthor id="3487" name="曹小娇" initials="曹小娇" lastIdx="0" clrIdx="3486"/>
  <p:cmAuthor id="181" name="13910" initials="1" lastIdx="0" clrIdx="180"/>
  <p:cmAuthor id="3488" name="刘阿敏" initials="刘阿敏" lastIdx="0" clrIdx="3487"/>
  <p:cmAuthor id="182" name="未知用户24" initials="未" lastIdx="0" clrIdx="181"/>
  <p:cmAuthor id="3489" name="jjwang60" initials="j" lastIdx="0" clrIdx="3488"/>
  <p:cmAuthor id="183" name="wangxinran" initials="w" lastIdx="0" clrIdx="182"/>
  <p:cmAuthor id="3490" name="xxzhang2" initials="x" lastIdx="0" clrIdx="3489"/>
  <p:cmAuthor id="184" name="laichenxi" initials="u" lastIdx="0" clrIdx="183"/>
  <p:cmAuthor id="3491" name="朱群" initials="朱群" lastIdx="0" clrIdx="3490"/>
  <p:cmAuthor id="185" name="gykj-xuzq" initials="g" lastIdx="0" clrIdx="184"/>
  <p:cmAuthor id="3492" name="yyou3" initials="y" lastIdx="0" clrIdx="3491"/>
  <p:cmAuthor id="186" name="CMIC" initials="C" lastIdx="0" clrIdx="185"/>
  <p:cmAuthor id="3493" name="楼帅" initials="楼" lastIdx="0" clrIdx="3492"/>
  <p:cmAuthor id="187" name="Hao Yue" initials="HY" lastIdx="0" clrIdx="186"/>
  <p:cmAuthor id="3494" name="马文君" initials="马文君" lastIdx="0" clrIdx="3493"/>
  <p:cmAuthor id="188" name="未知的使用者220" initials="未" lastIdx="0" clrIdx="187"/>
  <p:cmAuthor id="3495" name="Ad" initials="A" lastIdx="0" clrIdx="3494"/>
  <p:cmAuthor id="189" name="甄家泽" initials="甄家泽" lastIdx="0" clrIdx="188"/>
  <p:cmAuthor id="3496" name="黄薇（IT）" initials="l" lastIdx="0" clrIdx="3495"/>
  <p:cmAuthor id="190" name="梁鹏" initials="u" lastIdx="0" clrIdx="189"/>
  <p:cmAuthor id="3497" name="yangjianhe1" initials="y" lastIdx="0" clrIdx="3496"/>
  <p:cmAuthor id="191" name="范 斌" initials="范" lastIdx="0" clrIdx="190"/>
  <p:cmAuthor id="3498" name="likeyu" initials="l" lastIdx="0" clrIdx="3497"/>
  <p:cmAuthor id="192" name="下雨天好烦" initials="下" lastIdx="0" clrIdx="191"/>
  <p:cmAuthor id="3499" name="xuting@sn.cmcc" initials="x" lastIdx="0" clrIdx="3498"/>
  <p:cmAuthor id="193" name="xiaver xiaver" initials="xx" lastIdx="0" clrIdx="192"/>
  <p:cmAuthor id="3500" name="   " initials=" " lastIdx="0" clrIdx="3499"/>
  <p:cmAuthor id="194" name="Sheen" initials="S" lastIdx="0" clrIdx="193"/>
  <p:cmAuthor id="3501" name="李 富岩" initials="李" lastIdx="0" clrIdx="3500"/>
  <p:cmAuthor id="195" name="zhao tianyi" initials="zt" lastIdx="0" clrIdx="194"/>
  <p:cmAuthor id="3502" name="chenmin" initials="c" lastIdx="0" clrIdx="3501"/>
  <p:cmAuthor id="196" name="jqgao" initials="j" lastIdx="0" clrIdx="195"/>
  <p:cmAuthor id="3503" name="黄崑" initials="HK" lastIdx="0" clrIdx="3502"/>
  <p:cmAuthor id="197" name="wzk" initials="w" lastIdx="0" clrIdx="196"/>
  <p:cmAuthor id="3504" name="郑勇进" initials="郑勇进" lastIdx="0" clrIdx="3503"/>
  <p:cmAuthor id="198" name="徐廷" initials="徐" lastIdx="0" clrIdx="197"/>
  <p:cmAuthor id="3505" name="Lovestone_Mila" initials="L" lastIdx="0" clrIdx="3504"/>
  <p:cmAuthor id="199" name="wang" initials="w" lastIdx="0" clrIdx="198"/>
  <p:cmAuthor id="3506" name="梦娜 凌" initials="梦凌" lastIdx="0" clrIdx="3505"/>
  <p:cmAuthor id="200" name="沈静" initials="沈" lastIdx="0" clrIdx="199"/>
  <p:cmAuthor id="3507" name="Nero" initials="N" lastIdx="0" clrIdx="3506"/>
  <p:cmAuthor id="201" name="恒一 杨" initials="恒一" lastIdx="0" clrIdx="200"/>
  <p:cmAuthor id="3508" name="liuxie" initials="l" lastIdx="0" clrIdx="3507"/>
  <p:cmAuthor id="202" name="张 鹏" initials="张" lastIdx="0" clrIdx="201"/>
  <p:cmAuthor id="3509" name="未知用户227" initials="未" lastIdx="0" clrIdx="3508"/>
  <p:cmAuthor id="203" name="一1381487801" initials="一" lastIdx="0" clrIdx="202"/>
  <p:cmAuthor id="3510" name="15106" initials="1" lastIdx="0" clrIdx="3509"/>
  <p:cmAuthor id="204" name="DXM" initials="D" lastIdx="0" clrIdx="203"/>
  <p:cmAuthor id="3511" name="赵 璐" initials="赵" lastIdx="0" clrIdx="3510"/>
  <p:cmAuthor id="205" name="xbany" initials="xb21cn" lastIdx="0" clrIdx="204"/>
  <p:cmAuthor id="3512" name="YS" initials="Y" lastIdx="0" clrIdx="3511"/>
  <p:cmAuthor id="206" name="黄玉橙子" initials="黄" lastIdx="0" clrIdx="205"/>
  <p:cmAuthor id="3513" name="chenmh" initials="c" lastIdx="0" clrIdx="3512"/>
  <p:cmAuthor id="207" name="y sh" initials="ys" lastIdx="0" clrIdx="206"/>
  <p:cmAuthor id="3514" name="yongzhang13" initials="y" lastIdx="0" clrIdx="3513"/>
  <p:cmAuthor id="208" name="夏源" initials="夏" lastIdx="0" clrIdx="207"/>
  <p:cmAuthor id="3515" name="hhxu14" initials="h" lastIdx="0" clrIdx="3514"/>
  <p:cmAuthor id="209" name="Wu Walter" initials="WW" lastIdx="0" clrIdx="208"/>
  <p:cmAuthor id="3516" name="一木" initials="一" lastIdx="0" clrIdx="3515"/>
  <p:cmAuthor id="210" name="wu jiang" initials="wj" lastIdx="0" clrIdx="209"/>
  <p:cmAuthor id="3517" name="pingwang15" initials="p" lastIdx="0" clrIdx="3516"/>
  <p:cmAuthor id="211" name="ShangDong" initials="S" lastIdx="0" clrIdx="210"/>
  <p:cmAuthor id="3518" name="李忻雨-市场中心_F773zyU3" initials="authorId_1320671970" lastIdx="0" clrIdx="3517"/>
  <p:cmAuthor id="212" name="谭舒雅" initials="谭" lastIdx="0" clrIdx="211"/>
  <p:cmAuthor id="3519" name="OriginalJM" initials="O" lastIdx="0" clrIdx="3518"/>
  <p:cmAuthor id="213" name="罗彬" initials="罗" lastIdx="0" clrIdx="212"/>
  <p:cmAuthor id="3520" name="WPS_1640348058" initials="W" lastIdx="0" clrIdx="3519"/>
  <p:cmAuthor id="214" name="杨霄" initials="M" lastIdx="0" clrIdx="213"/>
  <p:cmAuthor id="3521" name="Mia" initials="M" lastIdx="0" clrIdx="3520"/>
  <p:cmAuthor id="215" name="ts" initials="t" lastIdx="0" clrIdx="214"/>
  <p:cmAuthor id="3522" name="WPS用户" initials="W" lastIdx="0" clrIdx="3521"/>
  <p:cmAuthor id="216" name="洪 波" initials="洪" lastIdx="0" clrIdx="215"/>
  <p:cmAuthor id="3523" name="陆玲玲" initials="陆玲玲" lastIdx="0" clrIdx="3522"/>
  <p:cmAuthor id="217" name="1 mac" initials="1" lastIdx="0" clrIdx="216"/>
  <p:cmAuthor id="3524" name="tongxu6" initials="t" lastIdx="0" clrIdx="3523"/>
  <p:cmAuthor id="218" name="fy J" initials="fJ" lastIdx="0" clrIdx="217"/>
  <p:cmAuthor id="3525" name="路犇" initials="路犇" lastIdx="0" clrIdx="3524"/>
  <p:cmAuthor id="219" name="zz qq" initials="zq" lastIdx="0" clrIdx="218"/>
  <p:cmAuthor id="3526" name="陈成" initials="陈成" lastIdx="0" clrIdx="3525"/>
  <p:cmAuthor id="220" name="Jinyi" initials="J" lastIdx="0" clrIdx="219"/>
  <p:cmAuthor id="3527" name="卢雨晨" initials="卢雨晨" lastIdx="0" clrIdx="3526"/>
  <p:cmAuthor id="221" name="taojingxun" initials="t" lastIdx="0" clrIdx="220"/>
  <p:cmAuthor id="3528" name="stone" initials="s" lastIdx="0" clrIdx="3527"/>
  <p:cmAuthor id="222" name="江涛 李" initials="江" lastIdx="0" clrIdx="221"/>
  <p:cmAuthor id="3529" name="未知的使用者213" initials="未" lastIdx="0" clrIdx="3528"/>
  <p:cmAuthor id="223" name="e44370" initials="e" lastIdx="0" clrIdx="222"/>
  <p:cmAuthor id="3530" name="王小二" initials="王" lastIdx="0" clrIdx="3529"/>
  <p:cmAuthor id="224" name="sxp" initials="s" lastIdx="0" clrIdx="223"/>
  <p:cmAuthor id="3531" name="liangguang" initials="l" lastIdx="0" clrIdx="3530"/>
  <p:cmAuthor id="225" name="MFJ" initials="M" lastIdx="0" clrIdx="224"/>
  <p:cmAuthor id="3532" name="秦 艺" initials="秦" lastIdx="0" clrIdx="3531"/>
  <p:cmAuthor id="226" name="Zhanwei Xiao(CUC SRD2-HZ-FZ)" initials="Z" lastIdx="0" clrIdx="225"/>
  <p:cmAuthor id="3533" name="未知的使用者207" initials="未" lastIdx="0" clrIdx="3532"/>
  <p:cmAuthor id="227" name="86135" initials="8" lastIdx="0" clrIdx="226"/>
  <p:cmAuthor id="3534" name="李晓菲_MZFnUzi6" initials="李" lastIdx="0" clrIdx="3533"/>
  <p:cmAuthor id="228" name="未知用户1" initials="未知用户1" lastIdx="0" clrIdx="227"/>
  <p:cmAuthor id="3535" name="小珞_QjMfU7FR" initials="小" lastIdx="0" clrIdx="3534"/>
  <p:cmAuthor id="229" name="sj" initials="s" lastIdx="0" clrIdx="228"/>
  <p:cmAuthor id="3536" name="熊仪_aYju7RJj" initials="熊" lastIdx="0" clrIdx="3535"/>
  <p:cmAuthor id="230" name="LQ" initials="L" lastIdx="0" clrIdx="229"/>
  <p:cmAuthor id="3537" name="yifei" initials="y" lastIdx="0" clrIdx="3536"/>
  <p:cmAuthor id="231" name="李佳" initials="李" lastIdx="0" clrIdx="230"/>
  <p:cmAuthor id="3538" name="ADMIN" initials="A" lastIdx="0" clrIdx="3537"/>
  <p:cmAuthor id="232" name="wangking" initials="w" lastIdx="0" clrIdx="231"/>
  <p:cmAuthor id="3539" name="jianxu20" initials="j" lastIdx="0" clrIdx="3538"/>
  <p:cmAuthor id="233" name="diana.cheng" initials="d" lastIdx="0" clrIdx="232"/>
  <p:cmAuthor id="3540" name="王 亚芳" initials="王" lastIdx="0" clrIdx="3539"/>
  <p:cmAuthor id="234" name="魏延才" initials="魏" lastIdx="0" clrIdx="233"/>
  <p:cmAuthor id="3541" name="汪倩" initials="汪倩" lastIdx="0" clrIdx="3540"/>
  <p:cmAuthor id="235" name="黄欣悦" initials="黄" lastIdx="0" clrIdx="234"/>
  <p:cmAuthor id="3542" name="Darren Ding" initials="Darren" lastIdx="0" clrIdx="3541"/>
  <p:cmAuthor id="236" name="xuanwang" initials="x" lastIdx="0" clrIdx="235"/>
  <p:cmAuthor id="3543" name="沈 迪雅" initials="沈" lastIdx="0" clrIdx="3542"/>
  <p:cmAuthor id="237" name="Zhou, Jane Ye" initials="Z" lastIdx="0" clrIdx="236"/>
  <p:cmAuthor id="3544" name="Xiao Yao" initials="XY" lastIdx="0" clrIdx="3543"/>
  <p:cmAuthor id="238" name="sunyufang" initials="s" lastIdx="0" clrIdx="237"/>
  <p:cmAuthor id="3545" name="chengcheng7" initials="c" lastIdx="0" clrIdx="3544"/>
  <p:cmAuthor id="239" name="Ma, Jun A." initials="M" lastIdx="0" clrIdx="238"/>
  <p:cmAuthor id="3546" name="杨帆" initials="杨" lastIdx="0" clrIdx="3545"/>
  <p:cmAuthor id="240" name="肖戈" initials="肖" lastIdx="0" clrIdx="239"/>
  <p:cmAuthor id="3547" name="gus9@chinaunicom.cn" initials="g" lastIdx="0" clrIdx="3546"/>
  <p:cmAuthor id="241" name="Doris Tan" initials="D" lastIdx="0" clrIdx="240"/>
  <p:cmAuthor id="3548" name="未知用户281" initials="未" lastIdx="0" clrIdx="3547"/>
  <p:cmAuthor id="242" name="mengq" initials="m" lastIdx="0" clrIdx="241"/>
  <p:cmAuthor id="3549" name="未知用户283" initials="未" lastIdx="0" clrIdx="3548"/>
  <p:cmAuthor id="243" name="Joy HL Sang" initials="J" lastIdx="0" clrIdx="242"/>
  <p:cmAuthor id="3550" name="123" initials="1" lastIdx="0" clrIdx="3549"/>
  <p:cmAuthor id="244" name="suntina" initials="s" lastIdx="0" clrIdx="243"/>
  <p:cmAuthor id="3551" name="梁亚栋" initials="authorId_233440905" lastIdx="0" clrIdx="3550"/>
  <p:cmAuthor id="245" name="孙运海" initials="孙" lastIdx="0" clrIdx="244"/>
  <p:cmAuthor id="3552" name="u" initials="u" lastIdx="0" clrIdx="3551"/>
  <p:cmAuthor id="246" name="ZDQ" initials="Z" lastIdx="0" clrIdx="245"/>
  <p:cmAuthor id="3553" name="树连 朱" initials="树朱" lastIdx="0" clrIdx="3552"/>
  <p:cmAuthor id="247" name="Norton" initials="N" lastIdx="0" clrIdx="246"/>
  <p:cmAuthor id="3554" name="10080095" initials="1" lastIdx="0" clrIdx="3553"/>
  <p:cmAuthor id="248" name="chuj" initials="A" lastIdx="0" clrIdx="247"/>
  <p:cmAuthor id="3555" name="10200982" initials="1" lastIdx="0" clrIdx="3554"/>
  <p:cmAuthor id="249" name="dingyuemei" initials="d" lastIdx="0" clrIdx="248"/>
  <p:cmAuthor id="3556" name="10005481" initials="1" lastIdx="0" clrIdx="3555"/>
  <p:cmAuthor id="250" name="郑韩有熊" initials="郑" lastIdx="0" clrIdx="249"/>
  <p:cmAuthor id="3557" name="王波10142735" initials="王" lastIdx="0" clrIdx="3556"/>
  <p:cmAuthor id="251" name="李莎" initials="李" lastIdx="0" clrIdx="250"/>
  <p:cmAuthor id="3558" name="he feng" initials="h" lastIdx="0" clrIdx="3557"/>
  <p:cmAuthor id="252" name="隽宝" initials="隽" lastIdx="0" clrIdx="251"/>
  <p:cmAuthor id="3559" name="刘 乾" initials="刘" lastIdx="0" clrIdx="3558"/>
  <p:cmAuthor id="253" name="刘百灵" initials="刘" lastIdx="0" clrIdx="252"/>
  <p:cmAuthor id="3560" name="10095622" initials="1" lastIdx="0" clrIdx="3559"/>
  <p:cmAuthor id="254" name="xwt" initials="x" lastIdx="0" clrIdx="253"/>
  <p:cmAuthor id="3561" name="10297641" initials="1" lastIdx="0" clrIdx="3560"/>
  <p:cmAuthor id="255" name="未知用户17" initials="未" lastIdx="0" clrIdx="254"/>
  <p:cmAuthor id="3562" name="00284818" initials="0" lastIdx="0" clrIdx="3561"/>
  <p:cmAuthor id="256" name="LING" initials="L" lastIdx="0" clrIdx="255"/>
  <p:cmAuthor id="3563" name="江莉萍|jiangliping" initials="江" lastIdx="0" clrIdx="3562"/>
  <p:cmAuthor id="257" name="岳文甲" initials="岳" lastIdx="0" clrIdx="256"/>
  <p:cmAuthor id="3564" name="10011274@zte.intra" initials="1" lastIdx="0" clrIdx="3563"/>
  <p:cmAuthor id="258" name="杨庆甫" initials="杨" lastIdx="0" clrIdx="257"/>
  <p:cmAuthor id="3565" name="10039985" initials="1" lastIdx="0" clrIdx="3564"/>
  <p:cmAuthor id="259" name="91huhang" initials="9" lastIdx="0" clrIdx="258"/>
  <p:cmAuthor id="3566" name="10223621" initials="1" lastIdx="0" clrIdx="3565"/>
  <p:cmAuthor id="260" name="鲁洋" initials="鲁" lastIdx="0" clrIdx="259"/>
  <p:cmAuthor id="3567" name="10327298" initials="1" lastIdx="0" clrIdx="3566"/>
  <p:cmAuthor id="261" name="Ms" initials="M" lastIdx="0" clrIdx="260"/>
  <p:cmAuthor id="3568" name="黄媛媛" initials="黄" lastIdx="0" clrIdx="3567"/>
  <p:cmAuthor id="262" name="镑镑_NVfeJZnE" initials="authorId_749372670" lastIdx="0" clrIdx="261"/>
  <p:cmAuthor id="3569" name="10067286" initials="1" lastIdx="0" clrIdx="3568"/>
  <p:cmAuthor id="263" name="Franca, Ryan {MDAO~Basel}" initials="F" lastIdx="0" clrIdx="262"/>
  <p:cmAuthor id="3570" name="00001457" initials="0" lastIdx="0" clrIdx="3569"/>
  <p:cmAuthor id="264" name="gaowei" initials="g" lastIdx="0" clrIdx="263"/>
  <p:cmAuthor id="3571" name="10024364" initials="1" lastIdx="0" clrIdx="3570"/>
  <p:cmAuthor id="265" name="hhusunguoqiang" initials="h" lastIdx="0" clrIdx="264"/>
  <p:cmAuthor id="3572" name="10169052" initials="TC" lastIdx="0" clrIdx="3571"/>
  <p:cmAuthor id="266" name="伟 龚" initials="伟龚" lastIdx="0" clrIdx="265"/>
  <p:cmAuthor id="3573" name="dieforlove" initials="die" lastIdx="0" clrIdx="3572"/>
  <p:cmAuthor id="267" name="sujianzb@163.com" initials="s" lastIdx="0" clrIdx="266"/>
  <p:cmAuthor id="3574" name="K21" initials="K" lastIdx="0" clrIdx="3573"/>
  <p:cmAuthor id="268" name="师玄" initials="师玄" lastIdx="0" clrIdx="267"/>
  <p:cmAuthor id="3575" name="taohongyi-htpc" initials="t" lastIdx="0" clrIdx="3574"/>
  <p:cmAuthor id="269" name="陈艳" initials="陈" lastIdx="0" clrIdx="268"/>
  <p:cmAuthor id="3576" name="wangqing@cmii.cmcc" initials="w" lastIdx="0" clrIdx="3575"/>
  <p:cmAuthor id="270" name="博 张" initials="博张" lastIdx="0" clrIdx="269"/>
  <p:cmAuthor id="3577" name="李 里" initials="李" lastIdx="0" clrIdx="3576"/>
  <p:cmAuthor id="271" name="13" initials="11" lastIdx="0" clrIdx="270"/>
  <p:cmAuthor id="3578" name="小 红马" initials="小" lastIdx="0" clrIdx="3577"/>
  <p:cmAuthor id="272" name="MC SYSTEM" initials="M" lastIdx="0" clrIdx="271"/>
  <p:cmAuthor id="3579" name="苏 洋" initials="苏" lastIdx="0" clrIdx="3578"/>
  <p:cmAuthor id="273" name="人工智能" initials="人" lastIdx="0" clrIdx="272"/>
  <p:cmAuthor id="3580" name="zk_liuxuan" initials="z" lastIdx="0" clrIdx="3579"/>
  <p:cmAuthor id="274" name="spring_ren" initials="s" lastIdx="0" clrIdx="273"/>
  <p:cmAuthor id="3581" name="issuser" initials="i" lastIdx="0" clrIdx="3580"/>
  <p:cmAuthor id="275" name="MICKEY_UG" initials="M" lastIdx="0" clrIdx="274"/>
  <p:cmAuthor id="3582" name="任军" initials="任" lastIdx="0" clrIdx="3581"/>
  <p:cmAuthor id="276" name="李璐---寿险总公司营销管理部" initials="李" lastIdx="0" clrIdx="275"/>
  <p:cmAuthor id="3583" name="Qingyunli" initials="Q" lastIdx="0" clrIdx="3582"/>
  <p:cmAuthor id="277" name="xuqing" initials="x" lastIdx="0" clrIdx="276"/>
  <p:cmAuthor id="3584" name="office2016mac10413" initials="o" lastIdx="0" clrIdx="3583"/>
  <p:cmAuthor id="278" name="王顶" initials="王" lastIdx="0" clrIdx="277"/>
  <p:cmAuthor id="3585" name="Peng" initials="P" lastIdx="0" clrIdx="3584"/>
  <p:cmAuthor id="279" name="吴 明超" initials="吴" lastIdx="0" clrIdx="278"/>
  <p:cmAuthor id="3586" name="张博文" initials="CP" lastIdx="0" clrIdx="3585"/>
  <p:cmAuthor id="280" name="未知用户33" initials="未" lastIdx="0" clrIdx="279"/>
  <p:cmAuthor id="3587" name="郭广乾" initials="u" lastIdx="0" clrIdx="3586"/>
  <p:cmAuthor id="281" name="HZ" initials="office" lastIdx="0" clrIdx="280"/>
  <p:cmAuthor id="3588" name="孙 潇" initials="孙" lastIdx="0" clrIdx="3587"/>
  <p:cmAuthor id="282" name="yewei zou" initials="yz" lastIdx="0" clrIdx="281"/>
  <p:cmAuthor id="3589" name="马玲芷" initials="M" lastIdx="0" clrIdx="3588"/>
  <p:cmAuthor id="283" name="hsyh" initials="h" lastIdx="0" clrIdx="282"/>
  <p:cmAuthor id="3590" name="Work" initials="W" lastIdx="0" clrIdx="3589"/>
  <p:cmAuthor id="284" name="邓玉慧" initials="邓" lastIdx="0" clrIdx="283"/>
  <p:cmAuthor id="3591" name="梁 舒" initials="梁" lastIdx="0" clrIdx="3590"/>
  <p:cmAuthor id="285" name="kfzx-xiesi" initials="k" lastIdx="0" clrIdx="284"/>
  <p:cmAuthor id="3592" name="Lynette Zitong Li" initials="L" lastIdx="0" clrIdx="3591"/>
  <p:cmAuthor id="286" name="kfzx-lidl" initials="k" lastIdx="0" clrIdx="285"/>
  <p:cmAuthor id="3593" name="WL" initials="W" lastIdx="0" clrIdx="3592"/>
  <p:cmAuthor id="287" name="邵冠军" initials="邵" lastIdx="0" clrIdx="286"/>
  <p:cmAuthor id="3594" name="周旭东" initials="周" lastIdx="0" clrIdx="3593"/>
  <p:cmAuthor id="288" name="kfzx-luojm" initials="k" lastIdx="0" clrIdx="287"/>
  <p:cmAuthor id="3595" name="hyk" initials="h" lastIdx="0" clrIdx="3594"/>
  <p:cmAuthor id="289" name="佟恒" initials="佟" lastIdx="0" clrIdx="288"/>
  <p:cmAuthor id="3596" name="Lee 13" initials="L" lastIdx="0" clrIdx="3595"/>
  <p:cmAuthor id="290" name="Risun" initials="R" lastIdx="0" clrIdx="289"/>
  <p:cmAuthor id="3597" name="孟 昕" initials="孟" lastIdx="0" clrIdx="3596"/>
  <p:cmAuthor id="291" name="WPS_1679281038" initials="W" lastIdx="0" clrIdx="290"/>
  <p:cmAuthor id="3598" name="孙哲静" initials="孙" lastIdx="0" clrIdx="3597"/>
  <p:cmAuthor id="292" name="Charles Caize Guo" initials="C" lastIdx="0" clrIdx="291"/>
  <p:cmAuthor id="3599" name="Redeker, Yolanda" initials="R" lastIdx="0" clrIdx="3598"/>
  <p:cmAuthor id="293" name="James Shihao Zhou" initials="J" lastIdx="0" clrIdx="292"/>
  <p:cmAuthor id="3600" name="guochengyu" initials="g" lastIdx="0" clrIdx="3599"/>
  <p:cmAuthor id="294" name="Emily Lu Chen" initials="E" lastIdx="0" clrIdx="293"/>
  <p:cmAuthor id="3601" name="Tao, Sherry Sitong" initials="T" lastIdx="0" clrIdx="3600"/>
  <p:cmAuthor id="295" name="吴瑶珂_f6JfyiuY" initials="authorId_1370" lastIdx="0" clrIdx="294"/>
  <p:cmAuthor id="3602" name="weijj52" initials="w" lastIdx="0" clrIdx="3601"/>
  <p:cmAuthor id="296" name="Windows 用户" initials="W" lastIdx="0" clrIdx="295"/>
  <p:cmAuthor id="3603" name="wangjiarui" initials="w" lastIdx="0" clrIdx="3602"/>
  <p:cmAuthor id="297" name="李金玲_A3umJJBv" initials="authorId_1352" lastIdx="0" clrIdx="296"/>
  <p:cmAuthor id="3604" name="马媛" initials="马" lastIdx="0" clrIdx="3603"/>
  <p:cmAuthor id="298" name="CITIC XJ" initials="C" lastIdx="0" clrIdx="297"/>
  <p:cmAuthor id="3605" name="徐芳" initials="徐" lastIdx="0" clrIdx="3604"/>
  <p:cmAuthor id="299" name="tanqinghua" initials="t" lastIdx="0" clrIdx="298"/>
  <p:cmAuthor id="3606" name="许嘉珍" initials="u" lastIdx="0" clrIdx="3605"/>
  <p:cmAuthor id="300" name="Qiuxia Zhu" initials="Q" lastIdx="0" clrIdx="299"/>
  <p:cmAuthor id="3607" name="Charley" initials="C" lastIdx="0" clrIdx="3606"/>
  <p:cmAuthor id="301" name="10078380" initials="1" lastIdx="0" clrIdx="300"/>
  <p:cmAuthor id="3608" name="Cindy-NB" initials="C" lastIdx="0" clrIdx="3607"/>
  <p:cmAuthor id="302" name="kfzx-huangch" initials="k" lastIdx="0" clrIdx="301"/>
  <p:cmAuthor id="3609" name="未知的使用者4" initials="未" lastIdx="0" clrIdx="3608"/>
  <p:cmAuthor id="303" name="kfzx-zhouying" initials="k" lastIdx="0" clrIdx="302"/>
  <p:cmAuthor id="3610" name="yuanjy" initials="y" lastIdx="0" clrIdx="3609"/>
  <p:cmAuthor id="304" name="max hulk" initials="mh" lastIdx="0" clrIdx="303"/>
  <p:cmAuthor id="3611" name="刘凯铃" initials="刘" lastIdx="0" clrIdx="3610"/>
  <p:cmAuthor id="305" name="dccb-mawy" initials="d" lastIdx="0" clrIdx="304"/>
  <p:cmAuthor id="3612" name="guocc" initials="g" lastIdx="0" clrIdx="3611"/>
  <p:cmAuthor id="306" name="Zhao Bingyu" initials="ZB" lastIdx="0" clrIdx="305"/>
  <p:cmAuthor id="3613" name="未知的使用者2" initials="未" lastIdx="0" clrIdx="3612"/>
  <p:cmAuthor id="307" name="kfzx-yeshuan" initials="k" lastIdx="0" clrIdx="306"/>
  <p:cmAuthor id="3614" name="Huang, Leo" initials="HL" lastIdx="0" clrIdx="3613"/>
  <p:cmAuthor id="308" name="10024799" initials="1" lastIdx="0" clrIdx="307"/>
  <p:cmAuthor id="3615" name="wjy" initials="w" lastIdx="0" clrIdx="3614"/>
  <p:cmAuthor id="309" name="hj" initials="h" lastIdx="0" clrIdx="308"/>
  <p:cmAuthor id="3616" name="SJ" initials="S" lastIdx="0" clrIdx="3615"/>
  <p:cmAuthor id="310" name="IKKI" initials="I" lastIdx="0" clrIdx="309"/>
  <p:cmAuthor id="3617" name="Li, Vivian Yang" initials="LVY" lastIdx="0" clrIdx="3616"/>
  <p:cmAuthor id="311" name="bob kang" initials="b" lastIdx="0" clrIdx="310"/>
  <p:cmAuthor id="3618" name="landy1125@outlook.com" initials="l" lastIdx="0" clrIdx="3617"/>
  <p:cmAuthor id="312" name="彭浩" initials="彭" lastIdx="0" clrIdx="311"/>
  <p:cmAuthor id="3619" name="zengkaiwen" initials="z" lastIdx="0" clrIdx="3618"/>
  <p:cmAuthor id="313" name="zyrstz" initials="z" lastIdx="0" clrIdx="312"/>
  <p:cmAuthor id="3620" name="winson Wong" initials="w" lastIdx="0" clrIdx="3619"/>
  <p:cmAuthor id="314" name="庞尔慧" initials="庞" lastIdx="0" clrIdx="313"/>
  <p:cmAuthor id="3621" name="许士锦" initials="许" lastIdx="0" clrIdx="3620"/>
  <p:cmAuthor id="315" name="XMY" initials="X" lastIdx="0" clrIdx="314"/>
  <p:cmAuthor id="3622" name="林建熙" initials="林" lastIdx="0" clrIdx="3621"/>
  <p:cmAuthor id="316" name="xmy" initials="x" lastIdx="0" clrIdx="315"/>
  <p:cmAuthor id="3623" name="93456" initials="9" lastIdx="0" clrIdx="3622"/>
  <p:cmAuthor id="317" name="wum20" initials="w" lastIdx="0" clrIdx="316"/>
  <p:cmAuthor id="3624" name="LIJJ" initials="L" lastIdx="0" clrIdx="3623"/>
  <p:cmAuthor id="318" name="未知用户2" initials="未" lastIdx="0" clrIdx="317"/>
  <p:cmAuthor id="3625" name="徐总" initials="徐" lastIdx="0" clrIdx="3624"/>
  <p:cmAuthor id="319" name="未知用户3" initials="未" lastIdx="0" clrIdx="318"/>
  <p:cmAuthor id="3626" name="czzhang" initials="c" lastIdx="0" clrIdx="3625"/>
  <p:cmAuthor id="320" name="武敏" initials="武" lastIdx="0" clrIdx="319"/>
  <p:cmAuthor id="3627" name="Wei Zhen" initials="W" lastIdx="0" clrIdx="3626"/>
  <p:cmAuthor id="321" name="刘颖" initials="刘" lastIdx="0" clrIdx="320"/>
  <p:cmAuthor id="3628" name="a" initials="a" lastIdx="0" clrIdx="3627"/>
  <p:cmAuthor id="322" name="Chen, Naikang A." initials="C" lastIdx="0" clrIdx="321"/>
  <p:cmAuthor id="3629" name="郝保聪" initials="郝" lastIdx="0" clrIdx="3628"/>
  <p:cmAuthor id="323" name="song song" initials="s" lastIdx="0" clrIdx="322"/>
  <p:cmAuthor id="3630" name="jfy" initials="jfy" lastIdx="0" clrIdx="3629"/>
  <p:cmAuthor id="324" name="MLOONG" initials="M" lastIdx="0" clrIdx="323"/>
  <p:cmAuthor id="3631" name="peak Qian" initials="pQ" lastIdx="0" clrIdx="3630"/>
  <p:cmAuthor id="325" name="未知用户5" initials="未" lastIdx="0" clrIdx="324"/>
  <p:cmAuthor id="3632" name="dan" initials="d" lastIdx="0" clrIdx="3631"/>
  <p:cmAuthor id="326" name="wuzhifei" initials="wu" lastIdx="0" clrIdx="325"/>
  <p:cmAuthor id="3633" name="Thinkpad" initials="T" lastIdx="0" clrIdx="3632"/>
  <p:cmAuthor id="327" name="梅同学" initials="梅" lastIdx="0" clrIdx="326"/>
  <p:cmAuthor id="3634" name="yeyuepian" initials="y" lastIdx="0" clrIdx="3633"/>
  <p:cmAuthor id="328" name="未知用户219" initials="未" lastIdx="0" clrIdx="327"/>
  <p:cmAuthor id="3635" name="强 马" initials="强" lastIdx="0" clrIdx="3634"/>
  <p:cmAuthor id="329" name="未知用户230" initials="未" lastIdx="0" clrIdx="328"/>
  <p:cmAuthor id="3636" name="woo-2021" initials="w" lastIdx="0" clrIdx="3635"/>
  <p:cmAuthor id="330" name="未知用户231" initials="未" lastIdx="0" clrIdx="329"/>
  <p:cmAuthor id="3637" name="liuya" initials="l" lastIdx="0" clrIdx="3636"/>
  <p:cmAuthor id="331" name="未知用户232" initials="未" lastIdx="0" clrIdx="330"/>
  <p:cmAuthor id="3638" name="张妮娜" initials="张妮娜" lastIdx="0" clrIdx="3637"/>
  <p:cmAuthor id="332" name="未知用户237" initials="未" lastIdx="0" clrIdx="331"/>
  <p:cmAuthor id="3639" name="wuwei" initials="w" lastIdx="0" clrIdx="3638"/>
  <p:cmAuthor id="333" name="未知用户226" initials="未" lastIdx="0" clrIdx="332"/>
  <p:cmAuthor id="3640" name="zhu jing" initials="zj" lastIdx="0" clrIdx="3639"/>
  <p:cmAuthor id="334" name="lp" initials="l" lastIdx="0" clrIdx="333"/>
  <p:cmAuthor id="3641" name="Ge Xinliang" initials="G" lastIdx="0" clrIdx="3640"/>
  <p:cmAuthor id="335" name="张正明" initials="张" lastIdx="0" clrIdx="334"/>
  <p:cmAuthor id="3642" name="an123" initials="a" lastIdx="0" clrIdx="3641"/>
  <p:cmAuthor id="336" name="FANG SUN" initials="F" lastIdx="0" clrIdx="335"/>
  <p:cmAuthor id="3643" name="Enigma Allen" initials="EA" lastIdx="0" clrIdx="3642"/>
  <p:cmAuthor id="337" name="未知用户416" initials="未" lastIdx="0" clrIdx="336"/>
  <p:cmAuthor id="3644" name="Xin" initials="X" lastIdx="0" clrIdx="3643"/>
  <p:cmAuthor id="338" name="未知用户404" initials="未" lastIdx="0" clrIdx="337"/>
  <p:cmAuthor id="3645" name="111" initials="11" lastIdx="0" clrIdx="3644"/>
  <p:cmAuthor id="339" name="未知用户408" initials="未" lastIdx="0" clrIdx="338"/>
  <p:cmAuthor id="3646" name="kiki" initials="k" lastIdx="0" clrIdx="3645"/>
  <p:cmAuthor id="340" name="未知用户409" initials="未" lastIdx="0" clrIdx="339"/>
  <p:cmAuthor id="3647" name="B DJ" initials="BD" lastIdx="0" clrIdx="3646"/>
  <p:cmAuthor id="341" name="Jarod" initials="J" lastIdx="0" clrIdx="340"/>
  <p:cmAuthor id="3648" name="1602张悦" initials="1" lastIdx="0" clrIdx="3647"/>
  <p:cmAuthor id="342" name="未知用户412" initials="未" lastIdx="0" clrIdx="341"/>
  <p:cmAuthor id="3649" name="姚岩兵" initials="姚" lastIdx="0" clrIdx="3648"/>
  <p:cmAuthor id="343" name="Rebecca XiaoqianZhang" initials="rebezhang" lastIdx="0" clrIdx="342"/>
  <p:cmAuthor id="3650" name="crystal_linj" initials="c" lastIdx="0" clrIdx="3649"/>
  <p:cmAuthor id="344" name="未知用户413" initials="未" lastIdx="0" clrIdx="343"/>
  <p:cmAuthor id="3651" name="詝 龚" initials="詝" lastIdx="0" clrIdx="3650"/>
  <p:cmAuthor id="345" name="未知用户414" initials="未" lastIdx="0" clrIdx="344"/>
  <p:cmAuthor id="3652" name="jun" initials="j" lastIdx="0" clrIdx="3651"/>
  <p:cmAuthor id="346" name="未知用户415" initials="未" lastIdx="0" clrIdx="345"/>
  <p:cmAuthor id="3653" name="peng zhang" initials="pz" lastIdx="0" clrIdx="3652"/>
  <p:cmAuthor id="347" name="未知用户215" initials="未" lastIdx="0" clrIdx="346"/>
  <p:cmAuthor id="3654" name="norlea" initials="n" lastIdx="0" clrIdx="3653"/>
  <p:cmAuthor id="348" name="张钰" initials="张" lastIdx="0" clrIdx="347"/>
  <p:cmAuthor id="3655" name="红杉" initials="红" lastIdx="0" clrIdx="3654"/>
  <p:cmAuthor id="349" name="未知用户217" initials="未" lastIdx="0" clrIdx="348"/>
  <p:cmAuthor id="3656" name="任 钱波" initials="任" lastIdx="0" clrIdx="3655"/>
  <p:cmAuthor id="350" name="sammi" initials="s" lastIdx="0" clrIdx="349"/>
  <p:cmAuthor id="3657" name="38667" initials="3" lastIdx="0" clrIdx="3656"/>
  <p:cmAuthor id="351" name="未知用户261" initials="未" lastIdx="0" clrIdx="350"/>
  <p:cmAuthor id="3658" name="panjuan" initials="p" lastIdx="0" clrIdx="3657"/>
  <p:cmAuthor id="352" name="王元" initials="R" lastIdx="0" clrIdx="351"/>
  <p:cmAuthor id="3659" name="Qxw" initials="Q" lastIdx="0" clrIdx="3658"/>
  <p:cmAuthor id="353" name="未知用户371" initials="未" lastIdx="0" clrIdx="352"/>
  <p:cmAuthor id="3660" name="shanxin" initials="s" lastIdx="0" clrIdx="3659"/>
  <p:cmAuthor id="354" name="Caixiaojin" initials="C" lastIdx="0" clrIdx="353"/>
  <p:cmAuthor id="3661" name="董 炜" initials="董" lastIdx="0" clrIdx="3660"/>
  <p:cmAuthor id="355" name="370369741@qq.com" initials="3" lastIdx="0" clrIdx="354"/>
  <p:cmAuthor id="3662" name="梅" initials="梅" lastIdx="0" clrIdx="3661"/>
  <p:cmAuthor id="356" name="未知用户370" initials="未" lastIdx="0" clrIdx="355"/>
  <p:cmAuthor id="3663" name="842232127@qq.com" initials="8" lastIdx="0" clrIdx="3662"/>
  <p:cmAuthor id="357" name="韩剑侠" initials="P" lastIdx="0" clrIdx="356"/>
  <p:cmAuthor id="3664" name="周 文进" initials="周" lastIdx="0" clrIdx="3663"/>
  <p:cmAuthor id="358" name="未知用户347" initials="未" lastIdx="0" clrIdx="357"/>
  <p:cmAuthor id="3665" name="18698570223" initials="1" lastIdx="0" clrIdx="3664"/>
  <p:cmAuthor id="359" name="未知用户348" initials="未" lastIdx="0" clrIdx="358"/>
  <p:cmAuthor id="3666" name="雍之丶" initials="雍" lastIdx="0" clrIdx="3665"/>
  <p:cmAuthor id="360" name="未知用户286" initials="未" lastIdx="0" clrIdx="359"/>
  <p:cmAuthor id="3667" name="常 婷" initials="常" lastIdx="0" clrIdx="3666"/>
  <p:cmAuthor id="361" name="未知用户373" initials="未" lastIdx="0" clrIdx="360"/>
  <p:cmAuthor id="3668" name="WeiHao" initials="W" lastIdx="0" clrIdx="3667"/>
  <p:cmAuthor id="362" name="未知用户350" initials="未" lastIdx="0" clrIdx="361"/>
  <p:cmAuthor id="3669" name="LBB" initials="L" lastIdx="0" clrIdx="3668"/>
  <p:cmAuthor id="363" name="未知用户218" initials="未" lastIdx="0" clrIdx="362"/>
  <p:cmAuthor id="3670" name="亮 王" initials="亮" lastIdx="0" clrIdx="3669"/>
  <p:cmAuthor id="364" name="未知用户351" initials="未" lastIdx="0" clrIdx="363"/>
  <p:cmAuthor id="3671" name="Smile-zhong" initials="S" lastIdx="0" clrIdx="3670"/>
  <p:cmAuthor id="365" name="未知用户352" initials="未" lastIdx="0" clrIdx="364"/>
  <p:cmAuthor id="3672" name="824683100@qq.com" initials="8" lastIdx="0" clrIdx="3671"/>
  <p:cmAuthor id="366" name="未知用户353" initials="未" lastIdx="0" clrIdx="365"/>
  <p:cmAuthor id="3673" name="肖 金超" initials="肖" lastIdx="0" clrIdx="3672"/>
  <p:cmAuthor id="367" name="未知用户354" initials="未" lastIdx="0" clrIdx="366"/>
  <p:cmAuthor id="3674" name="cai yu" initials="cy" lastIdx="0" clrIdx="3673"/>
  <p:cmAuthor id="368" name="未知用户355" initials="未" lastIdx="0" clrIdx="367"/>
  <p:cmAuthor id="3675" name="abc" initials="a" lastIdx="0" clrIdx="3674"/>
  <p:cmAuthor id="369" name="未知用户356" initials="未" lastIdx="0" clrIdx="368"/>
  <p:cmAuthor id="3676" name="秀秀 宝贝" initials="秀秀" lastIdx="0" clrIdx="3675"/>
  <p:cmAuthor id="370" name="未知用户378" initials="未" lastIdx="0" clrIdx="369"/>
  <p:cmAuthor id="3677" name="zzyy1" initials="z" lastIdx="0" clrIdx="3676"/>
  <p:cmAuthor id="371" name="cmri" initials="c" lastIdx="0" clrIdx="370"/>
  <p:cmAuthor id="3678" name="monkey" initials="m" lastIdx="0" clrIdx="3677"/>
  <p:cmAuthor id="372" name="未知用户357" initials="未" lastIdx="0" clrIdx="371"/>
  <p:cmAuthor id="3679" name="chang songlin" initials="cs" lastIdx="0" clrIdx="3678"/>
  <p:cmAuthor id="373" name="未知用户362" initials="未" lastIdx="0" clrIdx="372"/>
  <p:cmAuthor id="3680" name="wusha" initials="w" lastIdx="0" clrIdx="3679"/>
  <p:cmAuthor id="374" name="未知用户363" initials="未" lastIdx="0" clrIdx="373"/>
  <p:cmAuthor id="3681" name="石 伟" initials="石" lastIdx="0" clrIdx="3680"/>
  <p:cmAuthor id="375" name="10056791" initials="1" lastIdx="0" clrIdx="374"/>
  <p:cmAuthor id="3682" name="zhen" initials="z" lastIdx="0" clrIdx="3681"/>
  <p:cmAuthor id="376" name="未知用户374" initials="未" lastIdx="0" clrIdx="375"/>
  <p:cmAuthor id="3683" name="张晓燚_fyeym2I3" initials="authorId_44751071" lastIdx="0" clrIdx="3682"/>
  <p:cmAuthor id="377" name="未知用户375" initials="未" lastIdx="0" clrIdx="376"/>
  <p:cmAuthor id="3684" name="王丽倩_rIJ37v2M" initials="authorId_3014419579" lastIdx="0" clrIdx="3683"/>
  <p:cmAuthor id="378" name="未知用户369" initials="未" lastIdx="0" clrIdx="377"/>
  <p:cmAuthor id="3685" name="军 田" initials="军" lastIdx="0" clrIdx="3684"/>
  <p:cmAuthor id="379" name="未知用户376" initials="未" lastIdx="0" clrIdx="378"/>
  <p:cmAuthor id="3686" name="张颖培" initials="张颖培" lastIdx="0" clrIdx="3685"/>
  <p:cmAuthor id="380" name="未知用户377" initials="未" lastIdx="0" clrIdx="379"/>
  <p:cmAuthor id="3687" name="郑飞" initials="authorId_155314484" lastIdx="0" clrIdx="3686"/>
  <p:cmAuthor id="381" name="未知用户372" initials="未" lastIdx="0" clrIdx="380"/>
  <p:cmAuthor id="3688" name="xjtuzhouwei" initials="x" lastIdx="0" clrIdx="3687"/>
  <p:cmAuthor id="382" name="tkqd" initials="t" lastIdx="0" clrIdx="381"/>
  <p:cmAuthor id="3689" name="yao_l" initials="y" lastIdx="0" clrIdx="3688"/>
  <p:cmAuthor id="383" name="未知用户12" initials="未" lastIdx="0" clrIdx="382"/>
  <p:cmAuthor id="3690" name="Jasonzhou" initials="J" lastIdx="0" clrIdx="3689"/>
  <p:cmAuthor id="384" name="未知用户466" initials="未" lastIdx="0" clrIdx="383"/>
  <p:cmAuthor id="3691" name="linda" initials="l" lastIdx="0" clrIdx="3690"/>
  <p:cmAuthor id="385" name="未知用户11" initials="未" lastIdx="0" clrIdx="384"/>
  <p:cmAuthor id="3692" name="Gxl-PC" initials="G" lastIdx="0" clrIdx="3691"/>
  <p:cmAuthor id="386" name="未知用户460" initials="未" lastIdx="0" clrIdx="385"/>
  <p:cmAuthor id="3693" name="书鑫" initials="书鑫" lastIdx="0" clrIdx="3692"/>
  <p:cmAuthor id="387" name="未知用户454" initials="未" lastIdx="0" clrIdx="386"/>
  <p:cmAuthor id="3694" name="李仪华" initials="李仪华" lastIdx="0" clrIdx="3693"/>
  <p:cmAuthor id="388" name="未知用户461" initials="未" lastIdx="0" clrIdx="387"/>
  <p:cmAuthor id="3695" name="陈玉花" initials="陈玉花" lastIdx="0" clrIdx="3694"/>
  <p:cmAuthor id="389" name="未知用户455" initials="未" lastIdx="0" clrIdx="388"/>
  <p:cmAuthor id="3696" name="zengwei" initials="z" lastIdx="0" clrIdx="3695"/>
  <p:cmAuthor id="390" name="贡鑫" initials="贡" lastIdx="0" clrIdx="389"/>
  <p:cmAuthor id="3697" name="dyy" initials="H" lastIdx="0" clrIdx="3696"/>
  <p:cmAuthor id="391" name="未知用户462" initials="未" lastIdx="0" clrIdx="390"/>
  <p:cmAuthor id="3698" name="中良" initials="中良" lastIdx="0" clrIdx="3697"/>
  <p:cmAuthor id="392" name="未知用户465" initials="未" lastIdx="0" clrIdx="391"/>
  <p:cmAuthor id="3699" name="Kai" initials="K" lastIdx="0" clrIdx="3698"/>
  <p:cmAuthor id="393" name="未知用户457" initials="未" lastIdx="0" clrIdx="392"/>
  <p:cmAuthor id="3700" name="肖 钦峰" initials="肖" lastIdx="0" clrIdx="3699"/>
  <p:cmAuthor id="394" name="未知用户450" initials="未" lastIdx="0" clrIdx="393"/>
  <p:cmAuthor id="3701" name="华晔" initials="华" lastIdx="0" clrIdx="3700"/>
  <p:cmAuthor id="395" name="未知用户463" initials="未" lastIdx="0" clrIdx="394"/>
  <p:cmAuthor id="3702" name="郭厅" initials="郭" lastIdx="0" clrIdx="3701"/>
  <p:cmAuthor id="396" name="未知用户467" initials="未" lastIdx="0" clrIdx="395"/>
  <p:cmAuthor id="3703" name="Passerby" initials="P" lastIdx="0" clrIdx="3702"/>
  <p:cmAuthor id="397" name="未知用户468" initials="未" lastIdx="0" clrIdx="396"/>
  <p:cmAuthor id="3704" name="木刀" initials="木" lastIdx="0" clrIdx="3703"/>
  <p:cmAuthor id="398" name="未知用户469" initials="未" lastIdx="0" clrIdx="397"/>
  <p:cmAuthor id="3705" name="N1rvana" initials="N" lastIdx="0" clrIdx="3704"/>
  <p:cmAuthor id="399" name="未知用户458" initials="未" lastIdx="0" clrIdx="398"/>
  <p:cmAuthor id="3706" name="宗凌红" initials="宗" lastIdx="0" clrIdx="3705"/>
  <p:cmAuthor id="400" name="未知用户22" initials="未知用户22" lastIdx="0" clrIdx="399"/>
  <p:cmAuthor id="3707" name="董昕宇" initials="董" lastIdx="0" clrIdx="3706"/>
  <p:cmAuthor id="401" name="未知用户470" initials="未" lastIdx="0" clrIdx="400"/>
  <p:cmAuthor id="3708" name="Guo_QNr2umqe" initials="authorId_627343686" lastIdx="0" clrIdx="3707"/>
  <p:cmAuthor id="402" name="未知用户471" initials="未" lastIdx="0" clrIdx="401"/>
  <p:cmAuthor id="3709" name="勤" initials="勤" lastIdx="0" clrIdx="3708"/>
  <p:cmAuthor id="403" name="liquanxi" initials="l" lastIdx="0" clrIdx="402"/>
  <p:cmAuthor id="3710" name="御秋" initials="御" lastIdx="0" clrIdx="3709"/>
  <p:cmAuthor id="404" name="未知用户472" initials="未" lastIdx="0" clrIdx="403"/>
  <p:cmAuthor id="3711" name="邱酷" initials="邱" lastIdx="0" clrIdx="3710"/>
  <p:cmAuthor id="405" name="未知用户13" initials="未" lastIdx="0" clrIdx="404"/>
  <p:cmAuthor id="3712" name="瑜 郭" initials="瑜郭" lastIdx="0" clrIdx="3711"/>
  <p:cmAuthor id="406" name="未知用户473" initials="未" lastIdx="0" clrIdx="405"/>
  <p:cmAuthor id="3713" name="梦的翅膀" initials="梦" lastIdx="0" clrIdx="3712"/>
  <p:cmAuthor id="407" name="未知用户38" initials="未" lastIdx="0" clrIdx="406"/>
  <p:cmAuthor id="3714" name="六月_JnEba6ZV" initials="authorId_1102803269" lastIdx="0" clrIdx="3713"/>
  <p:cmAuthor id="408" name="未知用户235" initials="未" lastIdx="0" clrIdx="407"/>
  <p:cmAuthor id="3715" name="ke pan" initials="kp" lastIdx="0" clrIdx="3714"/>
  <p:cmAuthor id="409" name="yqchen9" initials="y" lastIdx="0" clrIdx="408"/>
  <p:cmAuthor id="3716" name="庞宇" initials="庞" lastIdx="0" clrIdx="3715"/>
  <p:cmAuthor id="410" name="未知用户453" initials="未" lastIdx="0" clrIdx="409"/>
  <p:cmAuthor id="3717" name="xiefuwen" initials="xfw" lastIdx="0" clrIdx="3716"/>
  <p:cmAuthor id="411" name="未知用户40" initials="未" lastIdx="0" clrIdx="410"/>
  <p:cmAuthor id="3718" name="文进 周" initials="文周" lastIdx="0" clrIdx="3717"/>
  <p:cmAuthor id="412" name="未知用户474" initials="未" lastIdx="0" clrIdx="411"/>
  <p:cmAuthor id="3719" name="电力事业部-王磊" initials="电" lastIdx="0" clrIdx="3718"/>
  <p:cmAuthor id="413" name="未知用户41" initials="未" lastIdx="0" clrIdx="412"/>
  <p:cmAuthor id="3720" name="宁 超" initials="宁" lastIdx="0" clrIdx="3719"/>
  <p:cmAuthor id="414" name="未知用户475" initials="未" lastIdx="0" clrIdx="413"/>
  <p:cmAuthor id="3721" name="侯志鹏" initials="HZP" lastIdx="0" clrIdx="3720"/>
  <p:cmAuthor id="415" name="朱悦龙" initials="朱" lastIdx="0" clrIdx="414"/>
  <p:cmAuthor id="3722" name="chen seyllen" initials="cs" lastIdx="0" clrIdx="3721"/>
  <p:cmAuthor id="416" name="未知用户476" initials="未" lastIdx="0" clrIdx="415"/>
  <p:cmAuthor id="3723" name="ChengKai" initials="CK23" lastIdx="0" clrIdx="3722"/>
  <p:cmAuthor id="417" name="未知用户459" initials="未" lastIdx="0" clrIdx="416"/>
  <p:cmAuthor id="3724" name="程 明" initials="程" lastIdx="0" clrIdx="3723"/>
  <p:cmAuthor id="418" name="黄 兴贵" initials="黄" lastIdx="0" clrIdx="417"/>
  <p:cmAuthor id="3725" name="zixun zheng" initials="zz" lastIdx="0" clrIdx="3724"/>
  <p:cmAuthor id="419" name="未知用户489" initials="未" lastIdx="0" clrIdx="418"/>
  <p:cmAuthor id="3726" name="蒋 超" initials="蒋" lastIdx="0" clrIdx="3725"/>
  <p:cmAuthor id="420" name="Sky123.Org" initials="S" lastIdx="0" clrIdx="419"/>
  <p:cmAuthor id="3727" name="Shuqi Han" initials="SH" lastIdx="0" clrIdx="3726"/>
  <p:cmAuthor id="421" name="未知用户488" initials="未" lastIdx="0" clrIdx="420"/>
  <p:cmAuthor id="3728" name="赵亮亮" initials="zhaoliang" lastIdx="0" clrIdx="3727"/>
  <p:cmAuthor id="422" name="wangcz2" initials="w" lastIdx="0" clrIdx="421"/>
  <p:cmAuthor id="3729" name="gaoli" initials="g" lastIdx="0" clrIdx="3728"/>
  <p:cmAuthor id="423" name="未知用户490" initials="未" lastIdx="0" clrIdx="422"/>
  <p:cmAuthor id="3730" name="Liu Xing" initials="LX" lastIdx="0" clrIdx="3729"/>
  <p:cmAuthor id="424" name="minty minty" initials="m" lastIdx="0" clrIdx="423"/>
  <p:cmAuthor id="3731" name="焦 文韬" initials="焦" lastIdx="0" clrIdx="3730"/>
  <p:cmAuthor id="425" name="未知用户477" initials="未" lastIdx="0" clrIdx="424"/>
  <p:cmAuthor id="3732" name="shengs" initials="s" lastIdx="0" clrIdx="3731"/>
  <p:cmAuthor id="426" name="tianan" initials="t" lastIdx="0" clrIdx="425"/>
  <p:cmAuthor id="3733" name="张 冰雷" initials="张" lastIdx="0" clrIdx="3732"/>
  <p:cmAuthor id="427" name="未知用户478" initials="未" lastIdx="0" clrIdx="426"/>
  <p:cmAuthor id="3734" name="ymt" initials="y" lastIdx="0" clrIdx="3733"/>
  <p:cmAuthor id="428" name="彬 罗" initials="彬" lastIdx="0" clrIdx="427"/>
  <p:cmAuthor id="3735" name="MACBOOK" initials="M" lastIdx="0" clrIdx="3734"/>
  <p:cmAuthor id="429" name="未知用户479" initials="未" lastIdx="0" clrIdx="428"/>
  <p:cmAuthor id="3736" name="aydehao" initials="a" lastIdx="0" clrIdx="3735"/>
  <p:cmAuthor id="430" name="徐 宁" initials="徐" lastIdx="0" clrIdx="429"/>
  <p:cmAuthor id="3737" name="zsx" initials="z" lastIdx="0" clrIdx="3736"/>
  <p:cmAuthor id="431" name="未知用户480" initials="未" lastIdx="0" clrIdx="430"/>
  <p:cmAuthor id="3738" name="XUYIN" initials="X" lastIdx="0" clrIdx="3737"/>
  <p:cmAuthor id="432" name="未知用户481" initials="未" lastIdx="0" clrIdx="431"/>
  <p:cmAuthor id="3739" name="贾崟" initials="A" lastIdx="0" clrIdx="3738"/>
  <p:cmAuthor id="433" name="吴铁映" initials="吴" lastIdx="0" clrIdx="432"/>
  <p:cmAuthor id="3740" name="wjk" initials="w" lastIdx="0" clrIdx="3739"/>
  <p:cmAuthor id="434" name="未知用户482" initials="未" lastIdx="0" clrIdx="433"/>
  <p:cmAuthor id="3741" name="songwenting" initials="s" lastIdx="0" clrIdx="3740"/>
  <p:cmAuthor id="435" name="孙 贺影" initials="孙" lastIdx="0" clrIdx="434"/>
  <p:cmAuthor id="3742" name="LBQ" initials="L" lastIdx="0" clrIdx="3741"/>
  <p:cmAuthor id="436" name="未知用户483" initials="未" lastIdx="0" clrIdx="435"/>
  <p:cmAuthor id="3743" name="seraphylm" initials="s" lastIdx="0" clrIdx="3742"/>
  <p:cmAuthor id="437" name="Q Q" initials="Q" lastIdx="0" clrIdx="436"/>
  <p:cmAuthor id="3744" name="朱润泽" initials="朱" lastIdx="0" clrIdx="3743"/>
  <p:cmAuthor id="438" name="未知用户484" initials="未" lastIdx="0" clrIdx="437"/>
  <p:cmAuthor id="3745" name="soji" initials="s" lastIdx="0" clrIdx="3744"/>
  <p:cmAuthor id="439" name="grace" initials="g" lastIdx="0" clrIdx="438"/>
  <p:cmAuthor id="3746" name="郭军帅" initials="郭" lastIdx="0" clrIdx="3745"/>
  <p:cmAuthor id="440" name="未知用户485" initials="未" lastIdx="0" clrIdx="439"/>
  <p:cmAuthor id="3747" name="Fik" initials="F" lastIdx="0" clrIdx="3746"/>
  <p:cmAuthor id="441" name="未知用户99" initials="" lastIdx="0" clrIdx="440"/>
  <p:cmAuthor id="3748" name="Unicorn." initials="U" lastIdx="0" clrIdx="3747"/>
  <p:cmAuthor id="442" name="未知用户486" initials="未" lastIdx="0" clrIdx="441"/>
  <p:cmAuthor id="3749" name="zmz" initials="z" lastIdx="0" clrIdx="3748"/>
  <p:cmAuthor id="443" name="未知用户147" initials="未" lastIdx="0" clrIdx="442"/>
  <p:cmAuthor id="3750" name="董亮" initials="董" lastIdx="0" clrIdx="3749"/>
  <p:cmAuthor id="444" name="未知用户452" initials="未" lastIdx="0" clrIdx="443"/>
  <p:cmAuthor id="3751" name="林晶" initials="林" lastIdx="0" clrIdx="3750"/>
  <p:cmAuthor id="445" name="Judith" initials="J" lastIdx="0" clrIdx="444"/>
  <p:cmAuthor id="3752" name="snowball" initials="s" lastIdx="0" clrIdx="3751"/>
  <p:cmAuthor id="446" name="未知用户456" initials="未" lastIdx="0" clrIdx="445"/>
  <p:cmAuthor id="3753" name="hzy" initials="h" lastIdx="0" clrIdx="3752"/>
  <p:cmAuthor id="447" name="Charlotte Williams" initials="C" lastIdx="0" clrIdx="446"/>
  <p:cmAuthor id="3754" name="Cream" initials="C" lastIdx="0" clrIdx="3753"/>
  <p:cmAuthor id="448" name="未知用户464" initials="未" lastIdx="0" clrIdx="447"/>
  <p:cmAuthor id="3755" name="一" initials="一" lastIdx="0" clrIdx="3754"/>
  <p:cmAuthor id="449" name="未知用户487" initials="未" lastIdx="0" clrIdx="448"/>
  <p:cmAuthor id="3756" name="liuzhe" initials="l" lastIdx="0" clrIdx="3755"/>
  <p:cmAuthor id="450" name="Calvin G" initials="C" lastIdx="0" clrIdx="449"/>
  <p:cmAuthor id="3757" name="Yidan" initials="Y" lastIdx="0" clrIdx="3756"/>
  <p:cmAuthor id="451" name="张莹" initials="张" lastIdx="0" clrIdx="450"/>
  <p:cmAuthor id="3758" name="alinda" initials="a" lastIdx="0" clrIdx="3757"/>
  <p:cmAuthor id="452" name="未知用户177" initials="未" lastIdx="0" clrIdx="451"/>
  <p:cmAuthor id="3759" name="carol" initials="c" lastIdx="0" clrIdx="3758"/>
  <p:cmAuthor id="453" name="China" initials="C" lastIdx="0" clrIdx="452"/>
  <p:cmAuthor id="3760" name="wangshulong" initials="w" lastIdx="0" clrIdx="3759"/>
  <p:cmAuthor id="454" name="未知用户178" initials="未" lastIdx="0" clrIdx="453"/>
  <p:cmAuthor id="3761" name="howardliu" initials="h" lastIdx="0" clrIdx="3760"/>
  <p:cmAuthor id="455" name="jxgy15" initials="j" lastIdx="0" clrIdx="454"/>
  <p:cmAuthor id="3762" name="x1c" initials="x" lastIdx="0" clrIdx="3761"/>
  <p:cmAuthor id="456" name="seki" initials="s" lastIdx="0" clrIdx="455"/>
  <p:cmAuthor id="3763" name="yinke" initials="" lastIdx="0" clrIdx="3762"/>
  <p:cmAuthor id="457" name="未知用户179" initials="未" lastIdx="0" clrIdx="456"/>
  <p:cmAuthor id="3764" name="wqx" initials="w" lastIdx="0" clrIdx="3763"/>
  <p:cmAuthor id="458" name="朱粒" initials="朱" lastIdx="0" clrIdx="457"/>
  <p:cmAuthor id="3765" name="yuestars2013@163.com" initials="y" lastIdx="0" clrIdx="3764"/>
  <p:cmAuthor id="459" name="未知用户180" initials="未" lastIdx="0" clrIdx="458"/>
  <p:cmAuthor id="3766" name="asus" initials="a" lastIdx="0" clrIdx="3765"/>
  <p:cmAuthor id="460" name="松 李" initials="松" lastIdx="0" clrIdx="459"/>
  <p:cmAuthor id="3767" name="JCui" initials="J" lastIdx="0" clrIdx="3766"/>
  <p:cmAuthor id="461" name="未知用户181" initials="未" lastIdx="0" clrIdx="460"/>
  <p:cmAuthor id="3768" name="SAPVET" initials="S" lastIdx="0" clrIdx="3767"/>
  <p:cmAuthor id="462" name="H1900" initials="H" lastIdx="0" clrIdx="461"/>
  <p:cmAuthor id="3769" name="jxd" initials="j" lastIdx="0" clrIdx="3768"/>
  <p:cmAuthor id="463" name="未知用户182" initials="未" lastIdx="0" clrIdx="462"/>
  <p:cmAuthor id="3770" name="Achim Bauer" initials="A" lastIdx="0" clrIdx="3769"/>
  <p:cmAuthor id="464" name="王航" initials="王" lastIdx="0" clrIdx="463"/>
  <p:cmAuthor id="3771" name="König Philipp" initials="K" lastIdx="0" clrIdx="3770"/>
  <p:cmAuthor id="465" name="未知用户183" initials="未" lastIdx="0" clrIdx="464"/>
  <p:cmAuthor id="3772" name="8615865265962" initials="8" lastIdx="0" clrIdx="3771"/>
  <p:cmAuthor id="466" name="ITS" initials="ITS" lastIdx="0" clrIdx="465"/>
  <p:cmAuthor id="3773" name="MAC BOOK PRO" initials="MBP" lastIdx="0" clrIdx="3772"/>
  <p:cmAuthor id="467" name="未知用户187" initials="未" lastIdx="0" clrIdx="466"/>
  <p:cmAuthor id="3774" name="ad" initials="d" lastIdx="0" clrIdx="3773"/>
  <p:cmAuthor id="468" name="未知用户185" initials="未" lastIdx="0" clrIdx="467"/>
  <p:cmAuthor id="3775" name="编制组" initials="d" lastIdx="0" clrIdx="3774"/>
  <p:cmAuthor id="469" name="未知用户186" initials="未" lastIdx="0" clrIdx="468"/>
  <p:cmAuthor id="3776" name="64234" initials="6" lastIdx="0" clrIdx="3775"/>
  <p:cmAuthor id="470" name="Yun-Ting Tseng" initials="Y" lastIdx="0" clrIdx="469"/>
  <p:cmAuthor id="3777" name="john" initials="j" lastIdx="0" clrIdx="3776"/>
  <p:cmAuthor id="471" name="Miss 豆" initials="M" lastIdx="0" clrIdx="470"/>
  <p:cmAuthor id="3778" name="EPRI-WXH" initials="E" lastIdx="0" clrIdx="3777"/>
  <p:cmAuthor id="472" name="猫" initials="猫" lastIdx="0" clrIdx="471"/>
  <p:cmAuthor id="3779" name="xiaojianhn" initials="x" lastIdx="0" clrIdx="3778"/>
  <p:cmAuthor id="473" name="yangdi" initials="y" lastIdx="0" clrIdx="472"/>
  <p:cmAuthor id="3780" name="l" initials="l" lastIdx="0" clrIdx="3779"/>
  <p:cmAuthor id="474" name="未知的使用者119" initials="" lastIdx="0" clrIdx="473"/>
  <p:cmAuthor id="3781" name="Meiyang" initials="M" lastIdx="0" clrIdx="3780"/>
  <p:cmAuthor id="475" name="caoyq0624" initials="c" lastIdx="0" clrIdx="474"/>
  <p:cmAuthor id="3782" name="李 辉" initials="李" lastIdx="0" clrIdx="3781"/>
  <p:cmAuthor id="476" name="吴晓梅" initials="吴" lastIdx="0" clrIdx="475"/>
  <p:cmAuthor id="3783" name="徐 思" initials="徐" lastIdx="0" clrIdx="3782"/>
  <p:cmAuthor id="477" name="董晔" initials="董" lastIdx="0" clrIdx="476"/>
  <p:cmAuthor id="3784" name="zhy" initials="z" lastIdx="0" clrIdx="3783"/>
  <p:cmAuthor id="478" name="卫天一" initials="卫" lastIdx="0" clrIdx="477"/>
  <p:cmAuthor id="3785" name="71914" initials="7" lastIdx="0" clrIdx="3784"/>
  <p:cmAuthor id="479" name="449030419@qq.com" initials="4" lastIdx="0" clrIdx="478"/>
  <p:cmAuthor id="3786" name="华 鞠" initials="华鞠" lastIdx="0" clrIdx="3785"/>
  <p:cmAuthor id="480" name="史其淼" initials="史" lastIdx="0" clrIdx="479"/>
  <p:cmAuthor id="3787" name="Zhou, Gary C." initials="" lastIdx="0" clrIdx="3786"/>
  <p:cmAuthor id="481" name="pangyt" initials="p" lastIdx="0" clrIdx="480"/>
  <p:cmAuthor id="3788" name="wjf" initials="wjf" lastIdx="0" clrIdx="3787"/>
  <p:cmAuthor id="482" name="Han Bo" initials="H" lastIdx="0" clrIdx="481"/>
  <p:cmAuthor id="3789" name="caojian" initials="cj" lastIdx="0" clrIdx="3788"/>
  <p:cmAuthor id="483" name="lgp" initials="l" lastIdx="0" clrIdx="482"/>
  <p:cmAuthor id="3790" name="No way back" initials="N" lastIdx="0" clrIdx="3789"/>
  <p:cmAuthor id="484" name="lixun" initials="l" lastIdx="0" clrIdx="483"/>
  <p:cmAuthor id="3791" name="李昌洪" initials="8" lastIdx="0" clrIdx="3790"/>
  <p:cmAuthor id="485" name="Chen" initials="C" lastIdx="0" clrIdx="484"/>
  <p:cmAuthor id="3792" name="slt" initials="s" lastIdx="0" clrIdx="3791"/>
  <p:cmAuthor id="486" name="刘承刚" initials="刘" lastIdx="0" clrIdx="485"/>
  <p:cmAuthor id="3793" name="zhangxuezhi@sxj.com" initials="z" lastIdx="0" clrIdx="3792"/>
  <p:cmAuthor id="487" name="齐涛" initials="齐" lastIdx="0" clrIdx="486"/>
  <p:cmAuthor id="3794" name="gao ruicheng" initials="gr" lastIdx="0" clrIdx="3793"/>
  <p:cmAuthor id="488" name="ju zhang" initials="j" lastIdx="0" clrIdx="487"/>
  <p:cmAuthor id="3795" name="dev" initials="d" lastIdx="0" clrIdx="3794"/>
  <p:cmAuthor id="489" name="Lenovo User" initials="L" lastIdx="0" clrIdx="488"/>
  <p:cmAuthor id="3796" name="李昱" initials="李昱" lastIdx="0" clrIdx="3795"/>
  <p:cmAuthor id="490" name="未知用户18" initials="未" lastIdx="0" clrIdx="489"/>
  <p:cmAuthor id="3797" name="wlx" initials="w" lastIdx="0" clrIdx="3796"/>
  <p:cmAuthor id="491" name="yuanzh" initials="" lastIdx="0" clrIdx="490"/>
  <p:cmAuthor id="3798" name="Lisa zhu" initials="L" lastIdx="0" clrIdx="3797"/>
  <p:cmAuthor id="492" name="邓鹏君" initials="邓" lastIdx="0" clrIdx="491"/>
  <p:cmAuthor id="3799" name="chenn" initials="c" lastIdx="0" clrIdx="3798"/>
  <p:cmAuthor id="493" name="wangsc" initials="w" lastIdx="0" clrIdx="492"/>
  <p:cmAuthor id="3800" name="xiaozhou" initials="x" lastIdx="0" clrIdx="3799"/>
  <p:cmAuthor id="494" name="宋春华" initials="宋" lastIdx="0" clrIdx="493"/>
  <p:cmAuthor id="3801" name="wangwei" initials="w" lastIdx="0" clrIdx="3800"/>
  <p:cmAuthor id="495" name="lixiaosong" initials="l" lastIdx="0" clrIdx="494"/>
  <p:cmAuthor id="3802" name="li'gang" initials="l" lastIdx="0" clrIdx="3801"/>
  <p:cmAuthor id="496" name="未知用户78" initials="未" lastIdx="0" clrIdx="495"/>
  <p:cmAuthor id="3803" name="kky" initials="k" lastIdx="0" clrIdx="3802"/>
  <p:cmAuthor id="497" name="未知的使用者31" initials="" lastIdx="0" clrIdx="496"/>
  <p:cmAuthor id="3804" name="zihan xia" initials="zx" lastIdx="0" clrIdx="3803"/>
  <p:cmAuthor id="498" name="yuancc04" initials="y" lastIdx="0" clrIdx="497"/>
  <p:cmAuthor id="3805" name="lvkai" initials="l" lastIdx="0" clrIdx="3804"/>
  <p:cmAuthor id="499" name="王怀璋" initials="王" lastIdx="0" clrIdx="498"/>
  <p:cmAuthor id="3806" name="周逸翰" initials="周" lastIdx="0" clrIdx="3805"/>
  <p:cmAuthor id="500" name="未知用户34" initials="未" lastIdx="0" clrIdx="499"/>
  <p:cmAuthor id="3807" name="ccb" initials="c" lastIdx="0" clrIdx="3806"/>
  <p:cmAuthor id="501" name="番茄花园" initials="番" lastIdx="0" clrIdx="500"/>
  <p:cmAuthor id="3808" name="Liao Xiao" initials="L" lastIdx="0" clrIdx="3807"/>
  <p:cmAuthor id="502" name="Gallivan, John-Paul {MDAO~Basel}" initials="G" lastIdx="0" clrIdx="501"/>
  <p:cmAuthor id="3809" name="dream" initials="d" lastIdx="0" clrIdx="3808"/>
  <p:cmAuthor id="503" name="张妍" initials="张" lastIdx="0" clrIdx="502"/>
  <p:cmAuthor id="3810" name="only lee" initials="o" lastIdx="0" clrIdx="3809"/>
  <p:cmAuthor id="504" name="朴鹏-lhq" initials="朴" lastIdx="0" clrIdx="503"/>
  <p:cmAuthor id="3811" name="elfaib@163.com" initials="e" lastIdx="0" clrIdx="3810"/>
  <p:cmAuthor id="505" name="W Nic" initials="W" lastIdx="0" clrIdx="504"/>
  <p:cmAuthor id="3812" name="13465783713" initials="1" lastIdx="0" clrIdx="3811"/>
  <p:cmAuthor id="506" name="贺龙" initials="贺" lastIdx="0" clrIdx="505"/>
  <p:cmAuthor id="3813" name="秦 雨萌" initials="秦" lastIdx="0" clrIdx="3812"/>
  <p:cmAuthor id="507" name="刘 念" initials="刘" lastIdx="0" clrIdx="506"/>
  <p:cmAuthor id="3814" name="huangfurong" initials="h" lastIdx="0" clrIdx="3813"/>
  <p:cmAuthor id="508" name="Elfie" initials="E" lastIdx="0" clrIdx="507"/>
  <p:cmAuthor id="3815" name="charlotte" initials="c" lastIdx="0" clrIdx="3814"/>
  <p:cmAuthor id="509" name="Sandra" initials="S" lastIdx="0" clrIdx="508"/>
  <p:cmAuthor id="3816" name="张震雷_VzAzVZny" initials="authorId_793365330" lastIdx="0" clrIdx="3815"/>
  <p:cmAuthor id="510" name="刘浩" initials="刘" lastIdx="0" clrIdx="509"/>
  <p:cmAuthor id="3817" name="yangz" initials="y" lastIdx="0" clrIdx="3816"/>
  <p:cmAuthor id="511" name="mac" initials="m" lastIdx="0" clrIdx="510"/>
  <p:cmAuthor id="3818" name="01D" initials="0" lastIdx="0" clrIdx="3817"/>
  <p:cmAuthor id="512" name="Vivian Liu" initials="V" lastIdx="0" clrIdx="511"/>
  <p:cmAuthor id="3819" name="Xin-L" initials="X" lastIdx="0" clrIdx="3818"/>
  <p:cmAuthor id="513" name="tcymr@163.com" initials="t" lastIdx="0" clrIdx="512"/>
  <p:cmAuthor id="3820" name="hao chunhui" initials="hc" lastIdx="0" clrIdx="3819"/>
  <p:cmAuthor id="514" name="程玉珍" initials="程" lastIdx="0" clrIdx="513"/>
  <p:cmAuthor id="3821" name="hyc" initials="h" lastIdx="0" clrIdx="3820"/>
  <p:cmAuthor id="515" name="未知用户32" initials="未" lastIdx="0" clrIdx="514"/>
  <p:cmAuthor id="3822" name="LL" initials="L" lastIdx="0" clrIdx="3821"/>
  <p:cmAuthor id="516" name="赵威然" initials="赵" lastIdx="0" clrIdx="515"/>
  <p:cmAuthor id="3823" name="李哲(ZheLi)-顺丰科技" initials="a" lastIdx="0" clrIdx="3822"/>
  <p:cmAuthor id="517" name="未知用户157" initials="未" lastIdx="0" clrIdx="516"/>
  <p:cmAuthor id="3824" name="Echo" initials="E" lastIdx="0" clrIdx="3823"/>
  <p:cmAuthor id="518" name="廖爽亚" initials="廖" lastIdx="0" clrIdx="517"/>
  <p:cmAuthor id="3825" name="levy" initials="l" lastIdx="0" clrIdx="3824"/>
  <p:cmAuthor id="519" name="李旭兰" initials="李" lastIdx="0" clrIdx="518"/>
  <p:cmAuthor id="3826" name="袁启恒" initials="袁" lastIdx="0" clrIdx="3825"/>
  <p:cmAuthor id="520" name="Xzjd" initials="X" lastIdx="0" clrIdx="519"/>
  <p:cmAuthor id="3827" name="先生 叶" initials="先" lastIdx="0" clrIdx="3826"/>
  <p:cmAuthor id="521" name="TaiKang" initials="T" lastIdx="0" clrIdx="520"/>
  <p:cmAuthor id="3828" name="姜" initials="姜" lastIdx="0" clrIdx="3827"/>
  <p:cmAuthor id="522" name="njlife" initials="n" lastIdx="0" clrIdx="521"/>
  <p:cmAuthor id="3829" name="luowang" initials="l" lastIdx="0" clrIdx="3828"/>
  <p:cmAuthor id="523" name="未知用户19" initials="未" lastIdx="0" clrIdx="522"/>
  <p:cmAuthor id="3830" name="HA" initials="H" lastIdx="0" clrIdx="3829"/>
  <p:cmAuthor id="524" name="dreamsummit" initials="d" lastIdx="0" clrIdx="523"/>
  <p:cmAuthor id="3831" name="齐 占新" initials="齐" lastIdx="0" clrIdx="3830"/>
  <p:cmAuthor id="525" name="未知用户21" initials="未" lastIdx="0" clrIdx="524"/>
  <p:cmAuthor id="3832" name="Humboldt Ji" initials="HJ" lastIdx="0" clrIdx="3831"/>
  <p:cmAuthor id="526" name="未知用户23" initials="未" lastIdx="0" clrIdx="525"/>
  <p:cmAuthor id="3833" name="469535603@qq.com" initials="" lastIdx="0" clrIdx="3832"/>
  <p:cmAuthor id="527" name="未知用户31" initials="未" lastIdx="0" clrIdx="526"/>
  <p:cmAuthor id="3834" name="马妍" initials="马" lastIdx="0" clrIdx="3833"/>
  <p:cmAuthor id="528" name="547716734@qq.com" initials="5" lastIdx="0" clrIdx="527"/>
  <p:cmAuthor id="3835" name="Tracy Chen" initials="T" lastIdx="0" clrIdx="3834"/>
  <p:cmAuthor id="529" name="个险部" initials="个" lastIdx="0" clrIdx="528"/>
  <p:cmAuthor id="3836" name="肖婧" initials="肖" lastIdx="0" clrIdx="3835"/>
  <p:cmAuthor id="530" name="未知用户89" initials="未" lastIdx="0" clrIdx="529"/>
  <p:cmAuthor id="3837" name="万户网络" initials="万" lastIdx="0" clrIdx="3836"/>
  <p:cmAuthor id="531" name="未知用户90" initials="未" lastIdx="0" clrIdx="530"/>
  <p:cmAuthor id="3838" name="YANGS-PC" initials="Y" lastIdx="0" clrIdx="3837"/>
  <p:cmAuthor id="532" name="未知用户80" initials="未" lastIdx="0" clrIdx="531"/>
  <p:cmAuthor id="3839" name="诗还远方" initials="诗" lastIdx="0" clrIdx="3838"/>
  <p:cmAuthor id="533" name="ProMedican" initials="P" lastIdx="0" clrIdx="532"/>
  <p:cmAuthor id="3840" name="沛斯 钟" initials="沛" lastIdx="0" clrIdx="3839"/>
  <p:cmAuthor id="534" name="未知用户103" initials="未" lastIdx="0" clrIdx="533"/>
  <p:cmAuthor id="3841" name="shuaibing" initials="s" lastIdx="0" clrIdx="3840"/>
  <p:cmAuthor id="535" name="未知用户104" initials="未" lastIdx="0" clrIdx="534"/>
  <p:cmAuthor id="3842" name="侯清英" initials="侯" lastIdx="0" clrIdx="3841"/>
  <p:cmAuthor id="536" name="未知用户87" initials="未" lastIdx="0" clrIdx="535"/>
  <p:cmAuthor id="3843" name="齐登宝" initials="齐" lastIdx="0" clrIdx="3842"/>
  <p:cmAuthor id="537" name="未知用户47" initials="未" lastIdx="0" clrIdx="536"/>
  <p:cmAuthor id="3844" name="Student" initials="S" lastIdx="0" clrIdx="3843"/>
  <p:cmAuthor id="538" name="未知用户92" initials="未" lastIdx="0" clrIdx="537"/>
  <p:cmAuthor id="3845" name="madan chen" initials="mc" lastIdx="0" clrIdx="3844"/>
  <p:cmAuthor id="539" name="雷庭" initials="雷" lastIdx="0" clrIdx="538"/>
  <p:cmAuthor id="3846" name="zhuqy3" initials="z" lastIdx="0" clrIdx="3845"/>
  <p:cmAuthor id="540" name="ht guo" initials="h" lastIdx="0" clrIdx="539"/>
  <p:cmAuthor id="3847" name="f n" initials="fn" lastIdx="0" clrIdx="3846"/>
  <p:cmAuthor id="541" name="cuizijin01" initials="c" lastIdx="0" clrIdx="540"/>
  <p:cmAuthor id="3848" name="yangying73" initials="y" lastIdx="0" clrIdx="3847"/>
  <p:cmAuthor id="542" name="梁潇-lhq" initials="梁" lastIdx="0" clrIdx="541"/>
  <p:cmAuthor id="3849" name="пользователь Microsoft Office" initials="п" lastIdx="0" clrIdx="3848"/>
  <p:cmAuthor id="543" name="孙青川" initials="孙" lastIdx="0" clrIdx="542"/>
  <p:cmAuthor id="3850" name="Office 365" initials="O" lastIdx="0" clrIdx="3849"/>
  <p:cmAuthor id="544" name="未知用户52" initials="未" lastIdx="0" clrIdx="543"/>
  <p:cmAuthor id="3851" name="雷文锋" initials="雷" lastIdx="0" clrIdx="3850"/>
  <p:cmAuthor id="545" name="未知用户85" initials="未" lastIdx="0" clrIdx="544"/>
  <p:cmAuthor id="3852" name="chenli8" initials="c" lastIdx="0" clrIdx="3851"/>
  <p:cmAuthor id="546" name="未知用户86" initials="未" lastIdx="0" clrIdx="545"/>
  <p:cmAuthor id="3853" name="448097321@qq.com" initials="4" lastIdx="0" clrIdx="3852"/>
  <p:cmAuthor id="547" name="jiansheng li" initials="j" lastIdx="0" clrIdx="546"/>
  <p:cmAuthor id="3854" name="zhumin1" initials="z" lastIdx="0" clrIdx="3853"/>
  <p:cmAuthor id="548" name="b1487" initials="b" lastIdx="0" clrIdx="547"/>
  <p:cmAuthor id="3855" name="FS" initials="F" lastIdx="0" clrIdx="3854"/>
  <p:cmAuthor id="549" name="sivaram" initials="s" lastIdx="0" clrIdx="548"/>
  <p:cmAuthor id="3856" name="Temp" initials="T" lastIdx="0" clrIdx="3855"/>
  <p:cmAuthor id="550" name="焱恺 彭" initials="焱" lastIdx="0" clrIdx="549"/>
  <p:cmAuthor id="3857" name="雍中婧" initials="雍" lastIdx="0" clrIdx="3856"/>
  <p:cmAuthor id="551" name="程学春 cxc" initials="程" lastIdx="0" clrIdx="550"/>
  <p:cmAuthor id="3858" name="肖 雷" initials="肖" lastIdx="0" clrIdx="3857"/>
  <p:cmAuthor id="552" name="yanqiqi-lgd" initials="y" lastIdx="0" clrIdx="551"/>
  <p:cmAuthor id="3859" name="lin lin" initials="l" lastIdx="0" clrIdx="3858"/>
  <p:cmAuthor id="553" name="deeplm" initials="d" lastIdx="0" clrIdx="552"/>
  <p:cmAuthor id="3860" name="邓蓉榕" initials="邓" lastIdx="0" clrIdx="3859"/>
  <p:cmAuthor id="554" name="LiWei" initials="L" lastIdx="0" clrIdx="553"/>
  <p:cmAuthor id="3861" name="李明强" initials="李" lastIdx="0" clrIdx="3860"/>
  <p:cmAuthor id="555" name="方朝军/产品推动室/产品开发推广部/总公司" initials="方" lastIdx="0" clrIdx="554"/>
  <p:cmAuthor id="3862" name="zhangbw18" initials="z" lastIdx="0" clrIdx="3861"/>
  <p:cmAuthor id="556" name="tonghailan" initials="t" lastIdx="0" clrIdx="555"/>
  <p:cmAuthor id="3863" name="wangll132" initials="w" lastIdx="0" clrIdx="3862"/>
  <p:cmAuthor id="557" name="zq" initials="z" lastIdx="0" clrIdx="556"/>
  <p:cmAuthor id="3864" name="benbenonroad zhao" initials="b" lastIdx="0" clrIdx="3863"/>
  <p:cmAuthor id="558" name="M7100z-win7" initials="M" lastIdx="0" clrIdx="557"/>
  <p:cmAuthor id="3865" name="SHMILY" initials="S" lastIdx="0" clrIdx="3864"/>
  <p:cmAuthor id="559" name="蔡静敏" initials="蔡" lastIdx="0" clrIdx="558"/>
  <p:cmAuthor id="3866" name="李 斌" initials="李" lastIdx="0" clrIdx="3865"/>
  <p:cmAuthor id="560" name="Kingsoft" initials="K" lastIdx="0" clrIdx="559"/>
  <p:cmAuthor id="3867" name="田海兰" initials="田" lastIdx="0" clrIdx="3866"/>
  <p:cmAuthor id="561" name="聂潇丽" initials="聂" lastIdx="0" clrIdx="560"/>
  <p:cmAuthor id="3868" name="贾彬彬" initials="贾" lastIdx="0" clrIdx="3867"/>
  <p:cmAuthor id="562" name="郭书含" initials="郭" lastIdx="0" clrIdx="561"/>
  <p:cmAuthor id="3869" name="WPS_1219284260" initials="W" lastIdx="0" clrIdx="3868"/>
  <p:cmAuthor id="563" name="刘淼" initials="刘" lastIdx="0" clrIdx="562"/>
  <p:cmAuthor id="3870" name="Garphy Lin" initials="GL" lastIdx="0" clrIdx="3869"/>
  <p:cmAuthor id="564" name="1716266060@qq.com" initials="1" lastIdx="0" clrIdx="563"/>
  <p:cmAuthor id="3871" name="pjm" initials="p" lastIdx="0" clrIdx="3870"/>
  <p:cmAuthor id="565" name="lenovo0" initials="l" lastIdx="0" clrIdx="564"/>
  <p:cmAuthor id="3872" name="张敏" initials="张" lastIdx="0" clrIdx="3871"/>
  <p:cmAuthor id="566" name="dongwc0205" initials="d" lastIdx="0" clrIdx="565"/>
  <p:cmAuthor id="3873" name="Cheng Frank" initials="CF" lastIdx="0" clrIdx="3872"/>
  <p:cmAuthor id="567" name="刘岸亮" initials="刘" lastIdx="0" clrIdx="566"/>
  <p:cmAuthor id="3874" name="YYD" initials="Y" lastIdx="0" clrIdx="3873"/>
  <p:cmAuthor id="568" name="未知用户48" initials="未" lastIdx="0" clrIdx="567"/>
  <p:cmAuthor id="3875" name="钱李烽" initials="钱李烽" lastIdx="0" clrIdx="3874"/>
  <p:cmAuthor id="569" name="未知用户43" initials="未" lastIdx="0" clrIdx="568"/>
  <p:cmAuthor id="3876" name="June" initials="J" lastIdx="0" clrIdx="3875"/>
  <p:cmAuthor id="570" name="未知用户44" initials="未" lastIdx="0" clrIdx="569"/>
  <p:cmAuthor id="3877" name="lxy" initials="" lastIdx="0" clrIdx="3876"/>
  <p:cmAuthor id="571" name="未知用户45" initials="未" lastIdx="0" clrIdx="570"/>
  <p:cmAuthor id="3878" name="54243" initials="5" lastIdx="0" clrIdx="3877"/>
  <p:cmAuthor id="572" name="王雅静" initials="王" lastIdx="0" clrIdx="571"/>
  <p:cmAuthor id="3879" name="SKZ" initials="S" lastIdx="0" clrIdx="3878"/>
  <p:cmAuthor id="573" name="张静_QZZvv2Aj" initials="张" lastIdx="0" clrIdx="572"/>
  <p:cmAuthor id="3880" name="麟威" initials="麟威" lastIdx="0" clrIdx="3879"/>
  <p:cmAuthor id="574" name="sun frank" initials="s" lastIdx="0" clrIdx="573"/>
  <p:cmAuthor id="3881" name="杨 松林" initials="杨" lastIdx="0" clrIdx="3880"/>
  <p:cmAuthor id="575" name="zhao wei" initials="z" lastIdx="0" clrIdx="574"/>
  <p:cmAuthor id="3882" name="Jiang Fan" initials="JF" lastIdx="0" clrIdx="3881"/>
  <p:cmAuthor id="576" name="Wanwei Liang" initials="W" lastIdx="0" clrIdx="575"/>
  <p:cmAuthor id="3883" name="pangjin" initials="pj" lastIdx="0" clrIdx="3882"/>
  <p:cmAuthor id="577" name="韩冰" initials="韩" lastIdx="0" clrIdx="576"/>
  <p:cmAuthor id="3884" name="黄 飞" initials="黄" lastIdx="0" clrIdx="3883"/>
  <p:cmAuthor id="578" name="未知用户" initials="未" lastIdx="0" clrIdx="577"/>
  <p:cmAuthor id="3885" name="wyr" initials="w" lastIdx="0" clrIdx="3884"/>
  <p:cmAuthor id="579" name="未知的使用者63" initials="" lastIdx="0" clrIdx="578"/>
  <p:cmAuthor id="3886" name="liangchong" initials="l" lastIdx="0" clrIdx="3885"/>
  <p:cmAuthor id="580" name="张建超" initials="张" lastIdx="0" clrIdx="579"/>
  <p:cmAuthor id="3887" name="昊" initials="昊" lastIdx="0" clrIdx="3886"/>
  <p:cmAuthor id="581" name="Poseidon" initials="P" lastIdx="0" clrIdx="580"/>
  <p:cmAuthor id="3888" name="沈雪晴" initials="809_shenxueqing" lastIdx="0" clrIdx="3887"/>
  <p:cmAuthor id="582" name="zhaoxx" initials="z" lastIdx="0" clrIdx="581"/>
  <p:cmAuthor id="3889" name="huangqi" initials="h" lastIdx="0" clrIdx="3888"/>
  <p:cmAuthor id="583" name="未知用户107" initials="未" lastIdx="0" clrIdx="582"/>
  <p:cmAuthor id="3890" name="lingqiao_pang" initials="l" lastIdx="0" clrIdx="3889"/>
  <p:cmAuthor id="584" name="未知的使用者54" initials="" lastIdx="0" clrIdx="583"/>
  <p:cmAuthor id="3891" name="冯宇宏" initials="冯宇宏" lastIdx="0" clrIdx="3890"/>
  <p:cmAuthor id="585" name="sdlife" initials="s" lastIdx="0" clrIdx="584"/>
  <p:cmAuthor id="3892" name="Zeng, Zhao-Jing (Software China/BJ)" initials="ZZ(C" lastIdx="0" clrIdx="3891"/>
  <p:cmAuthor id="586" name="未知的使用者65" initials="" lastIdx="0" clrIdx="585"/>
  <p:cmAuthor id="3893" name="冯国聪" initials="冯国聪" lastIdx="0" clrIdx="3892"/>
  <p:cmAuthor id="587" name="李晨曦" initials="李" lastIdx="0" clrIdx="586"/>
  <p:cmAuthor id="3894" name="LEE" initials="L" lastIdx="0" clrIdx="3893"/>
  <p:cmAuthor id="588" name="未知的使用者107" initials="" lastIdx="0" clrIdx="587"/>
  <p:cmAuthor id="3895" name="王庆祝" initials="庆祝" lastIdx="0" clrIdx="3894"/>
  <p:cmAuthor id="589" name="yaoxiaojun" initials="y" lastIdx="0" clrIdx="588"/>
  <p:cmAuthor id="3896" name="liujun" initials="" lastIdx="0" clrIdx="3895"/>
  <p:cmAuthor id="590" name="yangysh" initials="y" lastIdx="0" clrIdx="589"/>
  <p:cmAuthor id="3897" name="root" initials="r" lastIdx="0" clrIdx="3896"/>
  <p:cmAuthor id="591" name="朱雪松" initials="朱" lastIdx="0" clrIdx="590"/>
  <p:cmAuthor id="3898" name="Dylan Chu" initials="D" lastIdx="0" clrIdx="3897"/>
  <p:cmAuthor id="592" name="周涛" initials="周" lastIdx="0" clrIdx="591"/>
  <p:cmAuthor id="3899" name="Yang Qingfu" initials="Y" lastIdx="0" clrIdx="3898"/>
  <p:cmAuthor id="593" name="未知的使用者37" initials="" lastIdx="0" clrIdx="592"/>
  <p:cmAuthor id="3900" name="20623" initials="2" lastIdx="0" clrIdx="3899"/>
  <p:cmAuthor id="594" name="未知的使用者126" initials="" lastIdx="0" clrIdx="593"/>
  <p:cmAuthor id="3901" name="浩鲸新智能" initials="浩鲸新智能" lastIdx="0" clrIdx="3900"/>
  <p:cmAuthor id="595" name="未知的使用者127" initials="" lastIdx="0" clrIdx="594"/>
  <p:cmAuthor id="3902" name="lcy" initials="l" lastIdx="0" clrIdx="3901"/>
  <p:cmAuthor id="596" name="郭禹希" initials="郭" lastIdx="0" clrIdx="595"/>
  <p:cmAuthor id="3903" name="豆豆" initials="豆豆" lastIdx="0" clrIdx="3902"/>
  <p:cmAuthor id="597" name="Bonan Qi" initials="B" lastIdx="0" clrIdx="596"/>
  <p:cmAuthor id="3904" name="乔乔" initials="乔" lastIdx="0" clrIdx="3903"/>
  <p:cmAuthor id="598" name="未知的使用者125" initials="" lastIdx="0" clrIdx="597"/>
  <p:cmAuthor id="3905" name="crespo lee" initials="cl" lastIdx="0" clrIdx="3904"/>
  <p:cmAuthor id="599" name="Sara Chen" initials="" lastIdx="0" clrIdx="598"/>
  <p:cmAuthor id="3906" name="zhf" initials="zhf" lastIdx="0" clrIdx="3905"/>
  <p:cmAuthor id="600" name="G.Wong" initials="G" lastIdx="0" clrIdx="599"/>
  <p:cmAuthor id="3907" name="178405028@qq.com" initials="1" lastIdx="0" clrIdx="3906"/>
  <p:cmAuthor id="601" name="huang gerrard" initials="" lastIdx="0" clrIdx="600"/>
  <p:cmAuthor id="3908" name="Qingxin" initials="Q" lastIdx="0" clrIdx="3907"/>
  <p:cmAuthor id="602" name="xuhaoyu" initials="x" lastIdx="0" clrIdx="601"/>
  <p:cmAuthor id="3909" name="Liu Wei" initials="L" lastIdx="0" clrIdx="3908"/>
  <p:cmAuthor id="603" name="黄 霞" initials="黄" lastIdx="0" clrIdx="602"/>
  <p:cmAuthor id="3910" name="CCB" initials="车" lastIdx="0" clrIdx="3909"/>
  <p:cmAuthor id="604" name="志国 刘" initials="志" lastIdx="0" clrIdx="603"/>
  <p:cmAuthor id="3911" name="梁翀" initials="梁" lastIdx="0" clrIdx="3910"/>
  <p:cmAuthor id="605" name="未知用户148" initials="未" lastIdx="0" clrIdx="604"/>
  <p:cmAuthor id="3912" name="Gedi" initials="G" lastIdx="0" clrIdx="3911"/>
  <p:cmAuthor id="606" name="未知用户163" initials="未" lastIdx="0" clrIdx="605"/>
  <p:cmAuthor id="3913" name="22576" initials="2" lastIdx="0" clrIdx="3912"/>
  <p:cmAuthor id="607" name="未知用户152" initials="" lastIdx="0" clrIdx="606"/>
  <p:cmAuthor id="3914" name="姜振宇" initials="姜" lastIdx="0" clrIdx="3913"/>
  <p:cmAuthor id="608" name="未知用户153" initials="" lastIdx="0" clrIdx="607"/>
  <p:cmAuthor id="3915" name="蔡炎松_IFjyveUb" initials="authorId_1128255409" lastIdx="0" clrIdx="3914"/>
  <p:cmAuthor id="609" name="张梦莞" initials="张" lastIdx="0" clrIdx="608"/>
  <p:cmAuthor id="3916" name="69409" initials="6" lastIdx="0" clrIdx="3915"/>
  <p:cmAuthor id="610" name="严之" initials="严" lastIdx="0" clrIdx="609"/>
  <p:cmAuthor id="3917" name="zhaojie" initials="z" lastIdx="0" clrIdx="3916"/>
  <p:cmAuthor id="611" name="未知用户156" initials="未" lastIdx="0" clrIdx="610"/>
  <p:cmAuthor id="3918" name="王 旭" initials="王" lastIdx="0" clrIdx="3917"/>
  <p:cmAuthor id="612" name="未知用户64" initials="" lastIdx="0" clrIdx="611"/>
  <p:cmAuthor id="3919" name="留毓吟" initials="留" lastIdx="0" clrIdx="3918"/>
  <p:cmAuthor id="613" name="未知用户69" initials="" lastIdx="0" clrIdx="612"/>
  <p:cmAuthor id="3920" name="8618618239200" initials="8" lastIdx="0" clrIdx="3919"/>
  <p:cmAuthor id="614" name="未知用户70" initials="" lastIdx="0" clrIdx="613"/>
  <p:cmAuthor id="3921" name="LiuJianbo" initials="LiuJianbo" lastIdx="0" clrIdx="3920"/>
  <p:cmAuthor id="615" name="hanyi" initials="h" lastIdx="0" clrIdx="614"/>
  <p:cmAuthor id="3922" name="严安" initials="严" lastIdx="0" clrIdx="3921"/>
  <p:cmAuthor id="616" name="未知用户49" initials="" lastIdx="0" clrIdx="615"/>
  <p:cmAuthor id="3923" name="ysw" initials="y" lastIdx="0" clrIdx="3922"/>
  <p:cmAuthor id="617" name="KK Yoda" initials="K" lastIdx="0" clrIdx="616"/>
  <p:cmAuthor id="3924" name="X1C" initials="A" lastIdx="0" clrIdx="3923"/>
  <p:cmAuthor id="618" name="刘仕俭" initials="刘" lastIdx="0" clrIdx="617"/>
  <p:cmAuthor id="3925" name="大洋 雷" initials="大雷" lastIdx="0" clrIdx="3924"/>
  <p:cmAuthor id="619" name="MA15" initials="" lastIdx="0" clrIdx="618"/>
  <p:cmAuthor id="3926" name="SU" initials="SU" lastIdx="0" clrIdx="3925"/>
  <p:cmAuthor id="620" name="未知用户53" initials="" lastIdx="0" clrIdx="619"/>
  <p:cmAuthor id="3927" name="苏 红莉" initials="苏" lastIdx="0" clrIdx="3926"/>
  <p:cmAuthor id="621" name="未知用户151" initials="未" lastIdx="0" clrIdx="620"/>
  <p:cmAuthor id="3928" name="HW" initials="H" lastIdx="0" clrIdx="3927"/>
  <p:cmAuthor id="622" name="未知用户164" initials="未" lastIdx="0" clrIdx="621"/>
  <p:cmAuthor id="3929" name="Benny Yuan" initials="" lastIdx="0" clrIdx="3928"/>
  <p:cmAuthor id="623" name="未知用户155" initials="未" lastIdx="0" clrIdx="622"/>
  <p:cmAuthor id="3930" name="lsZhiYuanLu" initials="l" lastIdx="0" clrIdx="3929"/>
  <p:cmAuthor id="624" name="赵杰" initials="赵" lastIdx="0" clrIdx="623"/>
  <p:cmAuthor id="3931" name="96426" initials="9" lastIdx="0" clrIdx="3930"/>
  <p:cmAuthor id="625" name="未知的使用者122" initials="" lastIdx="0" clrIdx="624"/>
  <p:cmAuthor id="3932" name="dzg" initials="d" lastIdx="0" clrIdx="3931"/>
  <p:cmAuthor id="626" name="未知的使用者123" initials="" lastIdx="0" clrIdx="625"/>
  <p:cmAuthor id="3933" name="yesg" initials="y" lastIdx="0" clrIdx="3932"/>
  <p:cmAuthor id="627" name="tkyan" initials="t" lastIdx="0" clrIdx="626"/>
  <p:cmAuthor id="3934" name="shuman" initials="s" lastIdx="0" clrIdx="3933"/>
  <p:cmAuthor id="628" name="杨 晓彤" initials="杨" lastIdx="0" clrIdx="627"/>
  <p:cmAuthor id="3935" name="留" initials="留" lastIdx="0" clrIdx="3934"/>
  <p:cmAuthor id="629" name="未知用户67" initials="未" lastIdx="0" clrIdx="628"/>
  <p:cmAuthor id="3936" name="未知用户449" initials="未" lastIdx="0" clrIdx="3935"/>
  <p:cmAuthor id="630" name="未知用户74" initials="" lastIdx="0" clrIdx="629"/>
  <p:cmAuthor id="3937" name="浅影" initials="浅" lastIdx="0" clrIdx="3936"/>
  <p:cmAuthor id="631" name="86139" initials="8" lastIdx="0" clrIdx="630"/>
  <p:cmAuthor id="3938" name="关健" initials="关" lastIdx="0" clrIdx="3937"/>
  <p:cmAuthor id="632" name="Wangzhi gang" initials="W" lastIdx="0" clrIdx="631"/>
  <p:cmAuthor id="3939" name="未知用户190" initials="未" lastIdx="0" clrIdx="3938"/>
  <p:cmAuthor id="633" name="程诗媛" initials="程" lastIdx="0" clrIdx="632"/>
  <p:cmAuthor id="3940" name="未知的使用者100" initials="未" lastIdx="0" clrIdx="3939"/>
  <p:cmAuthor id="634" name="Andrew Moss (HI)" initials="A" lastIdx="0" clrIdx="633"/>
  <p:cmAuthor id="3941" name="未知用户105" initials="未" lastIdx="0" clrIdx="3940"/>
  <p:cmAuthor id="635" name="Harry xu" initials="" lastIdx="0" clrIdx="634"/>
  <p:cmAuthor id="3942" name="未知的使用者88" initials="未" lastIdx="0" clrIdx="3941"/>
  <p:cmAuthor id="636" name="孟轩君" initials="孟" lastIdx="0" clrIdx="635"/>
  <p:cmAuthor id="3943" name="未知的使用者89" initials="未" lastIdx="0" clrIdx="3942"/>
  <p:cmAuthor id="637" name="未知用户111" initials="未" lastIdx="0" clrIdx="636"/>
  <p:cmAuthor id="3944" name="小杰" initials="小" lastIdx="0" clrIdx="3943"/>
  <p:cmAuthor id="638" name="Yvonne Lin" initials="Y" lastIdx="0" clrIdx="637"/>
  <p:cmAuthor id="3945" name="Unknown User113" initials="U" lastIdx="0" clrIdx="3944"/>
  <p:cmAuthor id="639" name="renyina" initials="r" lastIdx="0" clrIdx="638"/>
  <p:cmAuthor id="3946" name="Unknown User114" initials="U" lastIdx="0" clrIdx="3945"/>
  <p:cmAuthor id="640" name="lingc" initials="l" lastIdx="0" clrIdx="639"/>
  <p:cmAuthor id="3947" name="Unknown User111" initials="U" lastIdx="0" clrIdx="3946"/>
  <p:cmAuthor id="641" name="Kaiyuan" initials="K" lastIdx="0" clrIdx="640"/>
  <p:cmAuthor id="3948" name="Unknown User63" initials="U" lastIdx="0" clrIdx="3947"/>
  <p:cmAuthor id="642" name="Cecilia" initials="C" lastIdx="0" clrIdx="641"/>
  <p:cmAuthor id="3949" name="Unknown User115" initials="U" lastIdx="0" clrIdx="3948"/>
  <p:cmAuthor id="643" name="jiangjunrz" initials="jiangjunrz" lastIdx="0" clrIdx="642"/>
  <p:cmAuthor id="3950" name="Unknown User116" initials="U" lastIdx="0" clrIdx="3949"/>
  <p:cmAuthor id="644" name="mashan@cmhi.cmcc" initials="mashan@cmhi.cmcc" lastIdx="0" clrIdx="643"/>
  <p:cmAuthor id="3951" name="Unknown User66" initials="U" lastIdx="0" clrIdx="3950"/>
  <p:cmAuthor id="645" name="未知用户108" initials="未" lastIdx="0" clrIdx="644"/>
  <p:cmAuthor id="3952" name="Unknown User67" initials="U" lastIdx="0" clrIdx="3951"/>
  <p:cmAuthor id="646" name="liyite" initials="l" lastIdx="0" clrIdx="645"/>
  <p:cmAuthor id="3953" name="Unknown User68" initials="U" lastIdx="0" clrIdx="3952"/>
  <p:cmAuthor id="647" name="未知用户83" initials="未" lastIdx="0" clrIdx="646"/>
  <p:cmAuthor id="3954" name="Unknown User69" initials="U" lastIdx="0" clrIdx="3953"/>
  <p:cmAuthor id="648" name="未知用户71" initials="未" lastIdx="0" clrIdx="647"/>
  <p:cmAuthor id="3955" name="胡庆浩" initials="胡" lastIdx="0" clrIdx="3954"/>
  <p:cmAuthor id="649" name="李娜" initials="李" lastIdx="0" clrIdx="648"/>
  <p:cmAuthor id="3956" name="未知的使用者208" initials="未" lastIdx="0" clrIdx="3955"/>
  <p:cmAuthor id="650" name="殷格非" initials="殷" lastIdx="0" clrIdx="649"/>
  <p:cmAuthor id="3957" name="未知的使用者193" initials="未" lastIdx="0" clrIdx="3956"/>
  <p:cmAuthor id="651" name="tonyliu" initials="t" lastIdx="0" clrIdx="650"/>
  <p:cmAuthor id="3958" name="未知的使用者209" initials="未" lastIdx="0" clrIdx="3957"/>
  <p:cmAuthor id="652" name="z r" initials="zr" lastIdx="0" clrIdx="651"/>
  <p:cmAuthor id="3959" name="未知的使用者210" initials="未" lastIdx="0" clrIdx="3958"/>
  <p:cmAuthor id="653" name="hwjjjjjjjj" initials="h" lastIdx="0" clrIdx="652"/>
  <p:cmAuthor id="3960" name="未知的使用者212" initials="未" lastIdx="0" clrIdx="3959"/>
  <p:cmAuthor id="654" name="lc xue" initials="lx" lastIdx="0" clrIdx="653"/>
  <p:cmAuthor id="3961" name="未知的使用者215" initials="未" lastIdx="0" clrIdx="3960"/>
  <p:cmAuthor id="655" name="百里 长青" initials="百" lastIdx="0" clrIdx="654"/>
  <p:cmAuthor id="3962" name="未知的使用者216" initials="未" lastIdx="0" clrIdx="3961"/>
  <p:cmAuthor id="656" name="孟芳芳（借调）" initials="V" lastIdx="0" clrIdx="655"/>
  <p:cmAuthor id="3963" name="未知的使用者153" initials="未" lastIdx="0" clrIdx="3962"/>
  <p:cmAuthor id="657" name="songlinyan" initials="s" lastIdx="0" clrIdx="656"/>
  <p:cmAuthor id="3964" name="未知的使用者154" initials="未" lastIdx="0" clrIdx="3963"/>
  <p:cmAuthor id="658" name="小延魔法师" initials="小" lastIdx="0" clrIdx="657"/>
  <p:cmAuthor id="3965" name="未知的使用者156" initials="未" lastIdx="0" clrIdx="3964"/>
  <p:cmAuthor id="659" name="YaoChunfen" initials="Y" lastIdx="0" clrIdx="658"/>
  <p:cmAuthor id="3966" name="未知的使用者151" initials="未" lastIdx="0" clrIdx="3965"/>
  <p:cmAuthor id="660" name="zhaoby01" initials="z" lastIdx="0" clrIdx="659"/>
  <p:cmAuthor id="3967" name="Wuyan (B)" initials="W(" lastIdx="0" clrIdx="3966"/>
  <p:cmAuthor id="661" name="ZUJI CHEN" initials="ZC" lastIdx="0" clrIdx="660"/>
  <p:cmAuthor id="3968" name="hao wen" initials="hw" lastIdx="0" clrIdx="3967"/>
  <p:cmAuthor id="662" name="cheng" initials="c" lastIdx="0" clrIdx="661"/>
  <p:cmAuthor id="3969" name="未知的使用者164" initials="未" lastIdx="0" clrIdx="3968"/>
  <p:cmAuthor id="663" name="Lydia" initials="L" lastIdx="0" clrIdx="662"/>
  <p:cmAuthor id="3970" name="未知的使用者172" initials="未" lastIdx="0" clrIdx="3969"/>
  <p:cmAuthor id="664" name="冯江宁" initials="U" lastIdx="0" clrIdx="663"/>
  <p:cmAuthor id="3971" name="郑哲" initials="郑" lastIdx="0" clrIdx="3970"/>
  <p:cmAuthor id="665" name="方少_UbQfrimU" initials="authorId_442114952" lastIdx="0" clrIdx="664"/>
  <p:cmAuthor id="3972" name="lvyanan" initials="l" lastIdx="0" clrIdx="3971"/>
  <p:cmAuthor id="666" name="ghostcat" initials="g" lastIdx="0" clrIdx="665"/>
  <p:cmAuthor id="3973" name="未知的使用者266" initials="未" lastIdx="0" clrIdx="3972"/>
  <p:cmAuthor id="667" name="叶盛_Q3A3IfEf" initials="authorId_506280334" lastIdx="0" clrIdx="666"/>
  <p:cmAuthor id="3974" name="刘晖" initials="刘" lastIdx="0" clrIdx="3973"/>
  <p:cmAuthor id="668" name="行 朱" initials="行朱" lastIdx="0" clrIdx="667"/>
  <p:cmAuthor id="3975" name="FanJQ" initials="F" lastIdx="0" clrIdx="3974"/>
  <p:cmAuthor id="669" name="Harley._bEJrUJ7r" initials="authorId_432156705" lastIdx="0" clrIdx="668"/>
  <p:cmAuthor id="3976" name="亮亮亮" initials="亮" lastIdx="0" clrIdx="3975"/>
  <p:cmAuthor id="670" name="tong" initials="t" lastIdx="0" clrIdx="669"/>
  <p:cmAuthor id="3977" name="张宇驰" initials="张宇驰" lastIdx="0" clrIdx="3976"/>
  <p:cmAuthor id="671" name="Huxiaojian" initials="H" lastIdx="0" clrIdx="670"/>
  <p:cmAuthor id="3978" name="309-外网4" initials="3" lastIdx="0" clrIdx="3977"/>
  <p:cmAuthor id="672" name="罗平_VB7vJb2E" initials="authorId_305049361" lastIdx="0" clrIdx="671"/>
  <p:cmAuthor id="3979" name="ll z" initials="l" lastIdx="0" clrIdx="3978"/>
  <p:cmAuthor id="673" name="cpic" initials="c" lastIdx="0" clrIdx="672"/>
  <p:cmAuthor id="3980" name="未知用户191" initials="未" lastIdx="0" clrIdx="3979"/>
  <p:cmAuthor id="674" name="谷雨" initials="谷" lastIdx="0" clrIdx="673"/>
  <p:cmAuthor id="3981" name="aaaaaa apple" initials="a" lastIdx="0" clrIdx="3980"/>
  <p:cmAuthor id="675" name="xixi_nUjqe22E" initials="authorId_359229261" lastIdx="0" clrIdx="674"/>
  <p:cmAuthor id="3982" name="win7" initials="w" lastIdx="0" clrIdx="3981"/>
  <p:cmAuthor id="676" name="taowei" initials="t" lastIdx="0" clrIdx="675"/>
  <p:cmAuthor id="3983" name="Johnny Hsieh" initials="J" lastIdx="0" clrIdx="3982"/>
  <p:cmAuthor id="677" name="安安_zm6nYnYZ" initials="authorId_347340296" lastIdx="0" clrIdx="676"/>
  <p:cmAuthor id="3984" name="张博" initials="张" lastIdx="0" clrIdx="3983"/>
  <p:cmAuthor id="678" name="X1" initials="X" lastIdx="0" clrIdx="677"/>
  <p:cmAuthor id="3985" name="L-B-J" initials="L" lastIdx="0" clrIdx="3984"/>
  <p:cmAuthor id="679" name="Dizzy" initials="D" lastIdx="0" clrIdx="678"/>
  <p:cmAuthor id="3986" name="8618811718968" initials="" lastIdx="0" clrIdx="3985"/>
  <p:cmAuthor id="680" name="倚海听风" initials="倚" lastIdx="0" clrIdx="679"/>
  <p:cmAuthor id="3987" name="wangyukun" initials="w" lastIdx="0" clrIdx="3986"/>
  <p:cmAuthor id="681" name="周君_MfIffYra" initials="authorId_375419134" lastIdx="0" clrIdx="680"/>
  <p:cmAuthor id="3988" name="排慕杆劝枷" initials="排" lastIdx="0" clrIdx="3987"/>
  <p:cmAuthor id="682" name="孙璐璐" initials="孙" lastIdx="0" clrIdx="681"/>
  <p:cmAuthor id="3989" name="11" initials="1" lastIdx="0" clrIdx="3988"/>
  <p:cmAuthor id="683" name="1003776019@qq.com" initials="1" lastIdx="0" clrIdx="682"/>
  <p:cmAuthor id="3990" name="test001" initials="k" lastIdx="0" clrIdx="3989"/>
  <p:cmAuthor id="684" name="Helms, Hans-Joachim {MDBA~Basel}" initials="H" lastIdx="0" clrIdx="683"/>
  <p:cmAuthor id="3991" name="JACKY" initials="J" lastIdx="0" clrIdx="3990"/>
  <p:cmAuthor id="685" name="Codon Medical" initials="C" lastIdx="0" clrIdx="684"/>
  <p:cmAuthor id="3992" name="jsflyer" initials="j" lastIdx="0" clrIdx="3991"/>
  <p:cmAuthor id="686" name="Petersen, Jenny {MDBD~South San Francisco}" initials="P" lastIdx="0" clrIdx="685"/>
  <p:cmAuthor id="3993" name="troy608" initials="t" lastIdx="0" clrIdx="3992"/>
  <p:cmAuthor id="687" name="刘风香" initials="刘" lastIdx="0" clrIdx="686"/>
  <p:cmAuthor id="3994" name="yangyong" initials="y" lastIdx="0" clrIdx="3993"/>
  <p:cmAuthor id="688" name="王 金谦" initials="王" lastIdx="0" clrIdx="687"/>
  <p:cmAuthor id="3995" name="sss" initials="s" lastIdx="0" clrIdx="3994"/>
  <p:cmAuthor id="689" name="Mary Beattie" initials="M" lastIdx="0" clrIdx="688"/>
  <p:cmAuthor id="3996" name="擎 吴" initials="擎" lastIdx="0" clrIdx="3995"/>
  <p:cmAuthor id="690" name="15090" initials="1" lastIdx="0" clrIdx="689"/>
  <p:cmAuthor id="3997" name="LVQING" initials="L" lastIdx="0" clrIdx="3996"/>
  <p:cmAuthor id="691" name="Andrea Michels" initials="A" lastIdx="0" clrIdx="690"/>
  <p:cmAuthor id="3998" name="杨德贤" initials="杨" lastIdx="0" clrIdx="3997"/>
  <p:cmAuthor id="692" name="Daniel Clyde (HI)" initials="D" lastIdx="0" clrIdx="691"/>
  <p:cmAuthor id="3999" name="hua" initials="h" lastIdx="0" clrIdx="3998"/>
  <p:cmAuthor id="693" name="anni" initials="a" lastIdx="0" clrIdx="692"/>
  <p:cmAuthor id="4000" name="吴 长朋" initials="吴" lastIdx="0" clrIdx="3999"/>
  <p:cmAuthor id="694" name="Kate Rijnen" initials="K" lastIdx="0" clrIdx="693"/>
  <p:cmAuthor id="4001" name="王大帝" initials="wdd" lastIdx="0" clrIdx="4000"/>
  <p:cmAuthor id="695" name="Mark McGregor (HI)" initials="M" lastIdx="0" clrIdx="694"/>
  <p:cmAuthor id="4002" name="琢" initials="琢" lastIdx="0" clrIdx="4001"/>
  <p:cmAuthor id="696" name="Machackova, Zuzana {MDAO~Basel}" initials="M" lastIdx="0" clrIdx="695"/>
  <p:cmAuthor id="4003" name="于啸峰" initials="于" lastIdx="0" clrIdx="4002"/>
  <p:cmAuthor id="697" name="Bart Baranowski (HI)" initials="B" lastIdx="0" clrIdx="696"/>
  <p:cmAuthor id="4004" name="国 玺" initials="国" lastIdx="0" clrIdx="4003"/>
  <p:cmAuthor id="698" name="YUN Jiayue" initials="Y" lastIdx="0" clrIdx="697"/>
  <p:cmAuthor id="4005" name="howard.qun.hao" initials="h" lastIdx="0" clrIdx="4004"/>
  <p:cmAuthor id="699" name="Louise Adamson (HI)" initials="L" lastIdx="0" clrIdx="698"/>
  <p:cmAuthor id="4006" name="Cynthia" initials="C" lastIdx="0" clrIdx="4005"/>
  <p:cmAuthor id="700" name="Yoda KK" initials="Y" lastIdx="0" clrIdx="699"/>
  <p:cmAuthor id="4007" name="12122" initials="1" lastIdx="0" clrIdx="4006"/>
  <p:cmAuthor id="701" name="ZYM" initials="Z" lastIdx="0" clrIdx="700"/>
  <p:cmAuthor id="4008" name="Microsoft " initials="M" lastIdx="0" clrIdx="4007"/>
  <p:cmAuthor id="702" name="未知用户72" initials="未" lastIdx="0" clrIdx="701"/>
  <p:cmAuthor id="4009" name="shuai zhang" initials="s" lastIdx="0" clrIdx="4008"/>
  <p:cmAuthor id="703" name="曾蓓/贝贝" initials="曾" lastIdx="0" clrIdx="702"/>
  <p:cmAuthor id="4010" name="l sp" initials="ls" lastIdx="0" clrIdx="4009"/>
  <p:cmAuthor id="704" name="zhouyangfan" initials="z" lastIdx="0" clrIdx="703"/>
  <p:cmAuthor id="4011" name="Ryan" initials="R" lastIdx="0" clrIdx="4010"/>
  <p:cmAuthor id="705" name="甘源" initials="甘" lastIdx="0" clrIdx="704"/>
  <p:cmAuthor id="4012" name="陈 安怡" initials="陈" lastIdx="0" clrIdx="4011"/>
  <p:cmAuthor id="706" name="fengyuan03" initials="f" lastIdx="0" clrIdx="705"/>
  <p:cmAuthor id="4013" name="凯 喻" initials="凯" lastIdx="0" clrIdx="4012"/>
  <p:cmAuthor id="707" name="刘国强" initials="刘" lastIdx="0" clrIdx="706"/>
  <p:cmAuthor id="4014" name="高 小鱼" initials="高" lastIdx="0" clrIdx="4013"/>
  <p:cmAuthor id="708" name="Melanie Smitt" initials="M" lastIdx="0" clrIdx="707"/>
  <p:cmAuthor id="4015" name="Deng, M." initials="D" lastIdx="0" clrIdx="4014"/>
  <p:cmAuthor id="709" name="miaott" initials="m" lastIdx="0" clrIdx="708"/>
  <p:cmAuthor id="4016" name="lijiangtao" initials="l" lastIdx="0" clrIdx="4015"/>
  <p:cmAuthor id="710" name="古二蛋" initials="古" lastIdx="0" clrIdx="709"/>
  <p:cmAuthor id="4017" name="chenfy" initials="c" lastIdx="0" clrIdx="4016"/>
  <p:cmAuthor id="711" name="刘云飞" initials="刘" lastIdx="0" clrIdx="710"/>
  <p:cmAuthor id="4018" name="nathen" initials="n" lastIdx="0" clrIdx="4017"/>
  <p:cmAuthor id="712" name="xusha" initials="x" lastIdx="0" clrIdx="711"/>
  <p:cmAuthor id="4019" name="一 程贰" initials="一程" lastIdx="0" clrIdx="4018"/>
  <p:cmAuthor id="713" name="未知用户198" initials="未" lastIdx="0" clrIdx="712"/>
  <p:cmAuthor id="4020" name="woolf zhang" initials="w" lastIdx="0" clrIdx="4019"/>
  <p:cmAuthor id="714" name="王源" initials="王" lastIdx="0" clrIdx="713"/>
  <p:cmAuthor id="4021" name="Li Lin" initials="LL" lastIdx="0" clrIdx="4020"/>
  <p:cmAuthor id="715" name="未知用户220" initials="未" lastIdx="0" clrIdx="714"/>
  <p:cmAuthor id="4022" name="zheng" initials="z" lastIdx="0" clrIdx="4021"/>
  <p:cmAuthor id="716" name="李 东科" initials="李" lastIdx="0" clrIdx="715"/>
  <p:cmAuthor id="4023" name="云霄" initials="云" lastIdx="0" clrIdx="4022"/>
  <p:cmAuthor id="717" name="陈海洋" initials="陈" lastIdx="0" clrIdx="716"/>
  <p:cmAuthor id="4024" name="李豪" initials="LH" lastIdx="0" clrIdx="4023"/>
  <p:cmAuthor id="718" name="未知用户199" initials="未" lastIdx="0" clrIdx="717"/>
  <p:cmAuthor id="4025" name="杨旭" initials="杨旭" lastIdx="0" clrIdx="4024"/>
  <p:cmAuthor id="719" name="未知用户200" initials="未" lastIdx="0" clrIdx="718"/>
  <p:cmAuthor id="4026" name="xyzt" initials="x" lastIdx="0" clrIdx="4025"/>
  <p:cmAuthor id="720" name="未知用户201" initials="未" lastIdx="0" clrIdx="719"/>
  <p:cmAuthor id="4027" name="HQY" initials="H" lastIdx="0" clrIdx="4026"/>
  <p:cmAuthor id="721" name="未知用户214" initials="未" lastIdx="0" clrIdx="720"/>
  <p:cmAuthor id="4028" name="26582" initials="2" lastIdx="0" clrIdx="4027"/>
  <p:cmAuthor id="722" name="未知用户216" initials="未" lastIdx="0" clrIdx="721"/>
  <p:cmAuthor id="4029" name="唐承均" initials="xb21cn" lastIdx="0" clrIdx="4028"/>
  <p:cmAuthor id="723" name="袁正海" initials="袁" lastIdx="0" clrIdx="722"/>
  <p:cmAuthor id="4030" name="雷 鸣" initials="雷" lastIdx="0" clrIdx="4029"/>
  <p:cmAuthor id="724" name="未知用户203" initials="未" lastIdx="0" clrIdx="723"/>
  <p:cmAuthor id="4031" name="zhou naikang" initials="zn" lastIdx="0" clrIdx="4030"/>
  <p:cmAuthor id="725" name="未知用户204" initials="未" lastIdx="0" clrIdx="724"/>
  <p:cmAuthor id="4032" name="朱 维佳" initials="朱" lastIdx="0" clrIdx="4031"/>
  <p:cmAuthor id="726" name="未知用户205" initials="未" lastIdx="0" clrIdx="725"/>
  <p:cmAuthor id="4033" name="donna" initials="d" lastIdx="0" clrIdx="4032"/>
  <p:cmAuthor id="727" name="未知用户206" initials="未" lastIdx="0" clrIdx="726"/>
  <p:cmAuthor id="4034" name="xujin" initials="x" lastIdx="0" clrIdx="4033"/>
  <p:cmAuthor id="728" name="未知用户207" initials="未" lastIdx="0" clrIdx="727"/>
  <p:cmAuthor id="4035" name="凤伟 李" initials="凤李" lastIdx="0" clrIdx="4034"/>
  <p:cmAuthor id="729" name="未知用户84" initials="未" lastIdx="0" clrIdx="728"/>
  <p:cmAuthor id="4036" name="大升超超" initials="大" lastIdx="0" clrIdx="4035"/>
  <p:cmAuthor id="730" name="未知用户209" initials="未" lastIdx="0" clrIdx="729"/>
  <p:cmAuthor id="4037" name="yg001" initials="y" lastIdx="0" clrIdx="4036"/>
  <p:cmAuthor id="731" name="未知用户210" initials="未" lastIdx="0" clrIdx="730"/>
  <p:cmAuthor id="4038" name="杨仲权" initials="杨" lastIdx="0" clrIdx="4037"/>
  <p:cmAuthor id="732" name="未知用户213" initials="未" lastIdx="0" clrIdx="731"/>
  <p:cmAuthor id="4039" name="huangting" initials="h" lastIdx="0" clrIdx="4038"/>
  <p:cmAuthor id="733" name="未知用户88" initials="未" lastIdx="0" clrIdx="732"/>
  <p:cmAuthor id="4040" name="qiaobo liu" initials="ql" lastIdx="0" clrIdx="4039"/>
  <p:cmAuthor id="734" name="?定义" initials="?" lastIdx="0" clrIdx="733"/>
  <p:cmAuthor id="4041" name="zeng zeng" initials="zz" lastIdx="0" clrIdx="4040"/>
  <p:cmAuthor id="735" name="allan" initials="a" lastIdx="0" clrIdx="734"/>
  <p:cmAuthor id="4042" name="Wangsisheng" initials="W" lastIdx="0" clrIdx="4041"/>
  <p:cmAuthor id="736" name="未知用户93" initials="未" lastIdx="0" clrIdx="735"/>
  <p:cmAuthor id="4043" name="wzg" initials="w" lastIdx="0" clrIdx="4042"/>
  <p:cmAuthor id="737" name="未知用户77" initials="未" lastIdx="0" clrIdx="736"/>
  <p:cmAuthor id="4044" name="孙俊峰" initials="孙" lastIdx="0" clrIdx="4043"/>
  <p:cmAuthor id="738" name="未知用户95" initials="未" lastIdx="0" clrIdx="737"/>
  <p:cmAuthor id="4045" name="chen273" initials="c" lastIdx="0" clrIdx="4044"/>
  <p:cmAuthor id="739" name="未知用户96" initials="未" lastIdx="0" clrIdx="738"/>
  <p:cmAuthor id="4046" name="wdy" initials="w" lastIdx="0" clrIdx="4045"/>
  <p:cmAuthor id="740" name="未知用户97" initials="未" lastIdx="0" clrIdx="739"/>
  <p:cmAuthor id="4047" name="xiacf" initials="x" lastIdx="0" clrIdx="4046"/>
  <p:cmAuthor id="741" name="未知用户98" initials="未" lastIdx="0" clrIdx="740"/>
  <p:cmAuthor id="4048" name="SYG" initials="SYG" lastIdx="0" clrIdx="4047"/>
  <p:cmAuthor id="742" name="未知用户61" initials="未" lastIdx="0" clrIdx="741"/>
  <p:cmAuthor id="4049" name="Aleian Jake" initials="AJ" lastIdx="0" clrIdx="4048"/>
  <p:cmAuthor id="743" name="未知用户65" initials="未" lastIdx="0" clrIdx="742"/>
  <p:cmAuthor id="4050" name="JL" initials="J" lastIdx="0" clrIdx="4049"/>
  <p:cmAuthor id="744" name="Unknown User23" initials="U" lastIdx="0" clrIdx="743"/>
  <p:cmAuthor id="4051" name="洋 张" initials="洋" lastIdx="0" clrIdx="4050"/>
  <p:cmAuthor id="745" name="未知用户101" initials="未" lastIdx="0" clrIdx="744"/>
  <p:cmAuthor id="4052" name="LIU nan" initials="Ln" lastIdx="0" clrIdx="4051"/>
  <p:cmAuthor id="746" name="未知用户75" initials="未" lastIdx="0" clrIdx="745"/>
  <p:cmAuthor id="4053" name="nico Snake" initials="nS" lastIdx="0" clrIdx="4052"/>
  <p:cmAuthor id="747" name="未知用户76" initials="未" lastIdx="0" clrIdx="746"/>
  <p:cmAuthor id="4054" name="xiali" initials="x" lastIdx="0" clrIdx="4053"/>
  <p:cmAuthor id="748" name="未知用户63" initials="未" lastIdx="0" clrIdx="747"/>
  <p:cmAuthor id="4055" name="qiucool" initials="q" lastIdx="0" clrIdx="4054"/>
  <p:cmAuthor id="749" name="未知的使用者102" initials="未" lastIdx="0" clrIdx="748"/>
  <p:cmAuthor id="4056" name="hp" initials="h" lastIdx="0" clrIdx="4055"/>
  <p:cmAuthor id="750" name="未知的使用者61" initials="未" lastIdx="0" clrIdx="749"/>
  <p:cmAuthor id="4057" name="兔子精" initials="兔" lastIdx="0" clrIdx="4056"/>
  <p:cmAuthor id="751" name="Unknown User52" initials="U" lastIdx="0" clrIdx="750"/>
  <p:cmAuthor id="4058" name="何灵" initials="101_ling-he" lastIdx="0" clrIdx="4057"/>
  <p:cmAuthor id="752" name="未知用户112" initials="未" lastIdx="0" clrIdx="751"/>
  <p:cmAuthor id="4059" name="关琦" initials="关" lastIdx="0" clrIdx="4058"/>
  <p:cmAuthor id="753" name="未知的使用者183" initials="未" lastIdx="0" clrIdx="752"/>
  <p:cmAuthor id="4060" name="Lh" initials="L" lastIdx="0" clrIdx="4059"/>
  <p:cmAuthor id="754" name="未知用户162" initials="未" lastIdx="0" clrIdx="753"/>
  <p:cmAuthor id="4061" name="刘瑞龙" initials="刘" lastIdx="0" clrIdx="4060"/>
  <p:cmAuthor id="755" name="針對所選的門市進行小範圍實驗，捕捉驅動績效的關鍵影響因子" initials="針" lastIdx="0" clrIdx="754"/>
  <p:cmAuthor id="4062" name="Shi, Fangrui" initials="" lastIdx="0" clrIdx="4061"/>
  <p:cmAuthor id="756" name="James" initials="J" lastIdx="0" clrIdx="755"/>
  <p:cmAuthor id="4063" name="wangxiang" initials="wx" lastIdx="0" clrIdx="4062"/>
  <p:cmAuthor id="757" name="未知的使用者114" initials="未" lastIdx="0" clrIdx="756"/>
  <p:cmAuthor id="4064" name="郑 博贤" initials="郑" lastIdx="0" clrIdx="4063"/>
  <p:cmAuthor id="758" name="孟智勇" initials="孟" lastIdx="0" clrIdx="757"/>
  <p:cmAuthor id="4065" name="wangcy" initials="w" lastIdx="0" clrIdx="4064"/>
  <p:cmAuthor id="759" name="未知的使用者184" initials="未" lastIdx="0" clrIdx="758"/>
  <p:cmAuthor id="4066" name="cshl" initials="c" lastIdx="0" clrIdx="4065"/>
  <p:cmAuthor id="760" name="未知的使用者185" initials="未" lastIdx="0" clrIdx="759"/>
  <p:cmAuthor id="4067" name="yanlifei" initials="y" lastIdx="0" clrIdx="4066"/>
  <p:cmAuthor id="761" name="未知的使用者186" initials="未" lastIdx="0" clrIdx="760"/>
  <p:cmAuthor id="4068" name="5313045" initials="5" lastIdx="0" clrIdx="4067"/>
  <p:cmAuthor id="762" name="未知的使用者175" initials="未" lastIdx="0" clrIdx="761"/>
  <p:cmAuthor id="4069" name="wangcj" initials="w" lastIdx="0" clrIdx="4068"/>
  <p:cmAuthor id="763" name="未知的使用者176" initials="未" lastIdx="0" clrIdx="762"/>
  <p:cmAuthor id="4070" name="49081" initials="4" lastIdx="0" clrIdx="4069"/>
  <p:cmAuthor id="764" name="未知的使用者187" initials="未" lastIdx="0" clrIdx="763"/>
  <p:cmAuthor id="4071" name="yanxh" initials="y" lastIdx="0" clrIdx="4070"/>
  <p:cmAuthor id="765" name="zhang li" initials="z" lastIdx="0" clrIdx="764"/>
  <p:cmAuthor id="4072" name="栗 原" initials="栗" lastIdx="0" clrIdx="4071"/>
  <p:cmAuthor id="766" name="未知的使用者179" initials="未" lastIdx="0" clrIdx="765"/>
  <p:cmAuthor id="4073" name="qingh" initials="q" lastIdx="0" clrIdx="4072"/>
  <p:cmAuthor id="767" name="未知的使用者180" initials="未" lastIdx="0" clrIdx="766"/>
  <p:cmAuthor id="4074" name="fengmin" initials="f" lastIdx="0" clrIdx="4073"/>
  <p:cmAuthor id="768" name="未知的使用者181" initials="未" lastIdx="0" clrIdx="767"/>
  <p:cmAuthor id="4075" name="menhao" initials="m" lastIdx="0" clrIdx="4074"/>
  <p:cmAuthor id="769" name="未知的使用者170" initials="未" lastIdx="0" clrIdx="768"/>
  <p:cmAuthor id="4076" name="Wang Judy" initials="WJ" lastIdx="0" clrIdx="4075"/>
  <p:cmAuthor id="770" name="未知的使用者190" initials="未" lastIdx="0" clrIdx="769"/>
  <p:cmAuthor id="4077" name="wang liu" initials="wl" lastIdx="0" clrIdx="4076"/>
  <p:cmAuthor id="771" name="未知的使用者191" initials="未" lastIdx="0" clrIdx="770"/>
  <p:cmAuthor id="4078" name="张 岚" initials="张" lastIdx="0" clrIdx="4077"/>
  <p:cmAuthor id="772" name="未知的使用者141" initials="未" lastIdx="0" clrIdx="771"/>
  <p:cmAuthor id="4079" name="jiaodong" initials="j" lastIdx="0" clrIdx="4078"/>
  <p:cmAuthor id="773" name="未知的使用者142" initials="未" lastIdx="0" clrIdx="772"/>
  <p:cmAuthor id="4080" name="商 莹楠" initials="商" lastIdx="0" clrIdx="4079"/>
  <p:cmAuthor id="774" name="不明使用者6" initials="不" lastIdx="0" clrIdx="773"/>
  <p:cmAuthor id="4081" name="86186" initials="8" lastIdx="0" clrIdx="4080"/>
  <p:cmAuthor id="775" name="未知的使用者143" initials="未" lastIdx="0" clrIdx="774"/>
  <p:cmAuthor id="4082" name="chzb" initials="c" lastIdx="0" clrIdx="4081"/>
  <p:cmAuthor id="776" name="Think" initials="T" lastIdx="0" clrIdx="775"/>
  <p:cmAuthor id="4083" name="Shark" initials="S" lastIdx="0" clrIdx="4082"/>
  <p:cmAuthor id="777" name="未知的使用者144" initials="未" lastIdx="0" clrIdx="776"/>
  <p:cmAuthor id="4084" name="ZHX" initials="Z" lastIdx="0" clrIdx="4083"/>
  <p:cmAuthor id="778" name="未知的使用者145" initials="未" lastIdx="0" clrIdx="777"/>
  <p:cmAuthor id="779" name="mawei19" initials="m" lastIdx="0" clrIdx="778"/>
  <p:cmAuthor id="780" name="未知的使用者147" initials="未" lastIdx="0" clrIdx="779"/>
  <p:cmAuthor id="781" name="David Morgan (HI)" initials="D" lastIdx="0" clrIdx="780"/>
  <p:cmAuthor id="782" name="Kate Sillitoe (HI)" initials="K" lastIdx="0" clrIdx="781"/>
  <p:cmAuthor id="783" name="hpguan" initials="h" lastIdx="0" clrIdx="782"/>
  <p:cmAuthor id="784" name="橙子" initials="橙" lastIdx="0" clrIdx="783"/>
  <p:cmAuthor id="785" name="未知用户118" initials="未" lastIdx="0" clrIdx="784"/>
  <p:cmAuthor id="786" name="未知的使用者157" initials="未" lastIdx="0" clrIdx="785"/>
  <p:cmAuthor id="787" name="未知用户119" initials="未" lastIdx="0" clrIdx="786"/>
  <p:cmAuthor id="788" name="未知用户120" initials="未" lastIdx="0" clrIdx="787"/>
  <p:cmAuthor id="789" name="alen" initials="a" lastIdx="0" clrIdx="788"/>
  <p:cmAuthor id="790" name="未知用户121" initials="未" lastIdx="0" clrIdx="789"/>
  <p:cmAuthor id="791" name="未知用户122" initials="未" lastIdx="0" clrIdx="790"/>
  <p:cmAuthor id="792" name="未知用户123" initials="未" lastIdx="0" clrIdx="791"/>
  <p:cmAuthor id="793" name="未知用户124" initials="未" lastIdx="0" clrIdx="792"/>
  <p:cmAuthor id="794" name="未知用户125" initials="未" lastIdx="0" clrIdx="793"/>
  <p:cmAuthor id="795" name="未知用户126" initials="未" lastIdx="0" clrIdx="794"/>
  <p:cmAuthor id="796" name="未知用户127" initials="未" lastIdx="0" clrIdx="795"/>
  <p:cmAuthor id="797" name="未知用户128" initials="未" lastIdx="0" clrIdx="796"/>
  <p:cmAuthor id="798" name="未知用户129" initials="未" lastIdx="0" clrIdx="797"/>
  <p:cmAuthor id="799" name="未知用户130" initials="未" lastIdx="0" clrIdx="798"/>
  <p:cmAuthor id="800" name="未知用户131" initials="未" lastIdx="0" clrIdx="799"/>
  <p:cmAuthor id="801" name="未知用户132" initials="未" lastIdx="0" clrIdx="800"/>
  <p:cmAuthor id="802" name="未知用户133" initials="未" lastIdx="0" clrIdx="801"/>
  <p:cmAuthor id="803" name="未知用户134" initials="未" lastIdx="0" clrIdx="802"/>
  <p:cmAuthor id="804" name="未知用户135" initials="未" lastIdx="0" clrIdx="803"/>
  <p:cmAuthor id="805" name="未知用户136" initials="未" lastIdx="0" clrIdx="804"/>
  <p:cmAuthor id="806" name="未知用户137" initials="未" lastIdx="0" clrIdx="805"/>
  <p:cmAuthor id="807" name="未知的使用者255" initials="未" lastIdx="0" clrIdx="806"/>
  <p:cmAuthor id="808" name="毕邺" initials="党委办公室" lastIdx="0" clrIdx="807"/>
  <p:cmAuthor id="809" name="USER" initials="U" lastIdx="0" clrIdx="808"/>
  <p:cmAuthor id="810" name="未知用户138" initials="未" lastIdx="0" clrIdx="809"/>
  <p:cmAuthor id="811" name="未知用户141" initials="未" lastIdx="0" clrIdx="810"/>
  <p:cmAuthor id="812" name="未知用户142" initials="未" lastIdx="0" clrIdx="811"/>
  <p:cmAuthor id="813" name="Evonlin" initials="E" lastIdx="0" clrIdx="812"/>
  <p:cmAuthor id="814" name="WANGZF" initials="W" lastIdx="0" clrIdx="813"/>
  <p:cmAuthor id="815" name="未知用户143" initials="未" lastIdx="0" clrIdx="814"/>
  <p:cmAuthor id="816" name="未知的使用者188" initials="未" lastIdx="0" clrIdx="815"/>
  <p:cmAuthor id="817" name="未知用户144" initials="未" lastIdx="0" clrIdx="816"/>
  <p:cmAuthor id="818" name="未知用户145" initials="未" lastIdx="0" clrIdx="817"/>
  <p:cmAuthor id="819" name="未知用户114" initials="未" lastIdx="0" clrIdx="818"/>
  <p:cmAuthor id="820" name="未知用户115" initials="未" lastIdx="0" clrIdx="819"/>
  <p:cmAuthor id="821" name="未知用户116" initials="未" lastIdx="0" clrIdx="820"/>
  <p:cmAuthor id="822" name="未知用户117" initials="未" lastIdx="0" clrIdx="821"/>
  <p:cmAuthor id="823" name="未知用户139" initials="未" lastIdx="0" clrIdx="822"/>
  <p:cmAuthor id="824" name="加 林" initials="加" lastIdx="0" clrIdx="823"/>
  <p:cmAuthor id="825" name="未知用户197" initials="未" lastIdx="0" clrIdx="824"/>
  <p:cmAuthor id="826" name="王 一鸣" initials="王" lastIdx="0" clrIdx="825"/>
  <p:cmAuthor id="827" name="Well Li" initials="W" lastIdx="0" clrIdx="826"/>
  <p:cmAuthor id="828" name="任俊宣" initials="任" lastIdx="0" clrIdx="827"/>
  <p:cmAuthor id="829" name="未知用户188" initials="未" lastIdx="0" clrIdx="828"/>
  <p:cmAuthor id="830" name="未知用户189" initials="未" lastIdx="0" clrIdx="829"/>
  <p:cmAuthor id="831" name="未知用户165" initials="未" lastIdx="0" clrIdx="830"/>
  <p:cmAuthor id="832" name="未知用户166" initials="未" lastIdx="0" clrIdx="831"/>
  <p:cmAuthor id="833" name="未知用户167" initials="未" lastIdx="0" clrIdx="832"/>
  <p:cmAuthor id="834" name="未知用户168" initials="未" lastIdx="0" clrIdx="833"/>
  <p:cmAuthor id="835" name="未知用户169" initials="未" lastIdx="0" clrIdx="834"/>
  <p:cmAuthor id="836" name="未知用户170" initials="未" lastIdx="0" clrIdx="835"/>
  <p:cmAuthor id="837" name="未知用户171" initials="未" lastIdx="0" clrIdx="836"/>
  <p:cmAuthor id="838" name="未知用户172" initials="未" lastIdx="0" clrIdx="837"/>
  <p:cmAuthor id="839" name="未知用户173" initials="未" lastIdx="0" clrIdx="838"/>
  <p:cmAuthor id="840" name="未知用户174" initials="未" lastIdx="0" clrIdx="839"/>
  <p:cmAuthor id="841" name="未知用户175" initials="未" lastIdx="0" clrIdx="840"/>
  <p:cmAuthor id="842" name="未知用户176" initials="未" lastIdx="0" clrIdx="841"/>
  <p:cmAuthor id="843" name="未知用户150" initials="未" lastIdx="0" clrIdx="842"/>
  <p:cmAuthor id="844" name="未知用户221" initials="未" lastIdx="0" clrIdx="843"/>
  <p:cmAuthor id="845" name="未知用户202" initials="未" lastIdx="0" clrIdx="844"/>
  <p:cmAuthor id="846" name="未知用户208" initials="未" lastIdx="0" clrIdx="845"/>
  <p:cmAuthor id="847" name="未知用户211" initials="未" lastIdx="0" clrIdx="846"/>
  <p:cmAuthor id="848" name="未知用户68" initials="未" lastIdx="0" clrIdx="847"/>
  <p:cmAuthor id="849" name="未知用户337" initials="未" lastIdx="0" clrIdx="848"/>
  <p:cmAuthor id="850" name="未知用户336" initials="未" lastIdx="0" clrIdx="849"/>
  <p:cmAuthor id="851" name="未知用户318" initials="未" lastIdx="0" clrIdx="850"/>
  <p:cmAuthor id="852" name="未知用户319" initials="未" lastIdx="0" clrIdx="851"/>
  <p:cmAuthor id="853" name="未知用户320" initials="未" lastIdx="0" clrIdx="852"/>
  <p:cmAuthor id="854" name="未知用户321" initials="未" lastIdx="0" clrIdx="853"/>
  <p:cmAuthor id="855" name="未知用户322" initials="未" lastIdx="0" clrIdx="854"/>
  <p:cmAuthor id="856" name="未知用户323" initials="未" lastIdx="0" clrIdx="855"/>
  <p:cmAuthor id="857" name="未知用户287" initials="未" lastIdx="0" clrIdx="856"/>
  <p:cmAuthor id="858" name="未知用户324" initials="未" lastIdx="0" clrIdx="857"/>
  <p:cmAuthor id="859" name="未知用户325" initials="未" lastIdx="0" clrIdx="858"/>
  <p:cmAuthor id="860" name="未知用户290" initials="未" lastIdx="0" clrIdx="859"/>
  <p:cmAuthor id="861" name="未知用户291" initials="未" lastIdx="0" clrIdx="860"/>
  <p:cmAuthor id="862" name="未知用户292" initials="未" lastIdx="0" clrIdx="861"/>
  <p:cmAuthor id="863" name="未知用户293" initials="未" lastIdx="0" clrIdx="862"/>
  <p:cmAuthor id="864" name="未知用户294" initials="未" lastIdx="0" clrIdx="863"/>
  <p:cmAuthor id="865" name="未知用户295" initials="未" lastIdx="0" clrIdx="864"/>
  <p:cmAuthor id="866" name="未知用户326" initials="未" lastIdx="0" clrIdx="865"/>
  <p:cmAuthor id="867" name="未知用户327" initials="未" lastIdx="0" clrIdx="866"/>
  <p:cmAuthor id="868" name="未知用户328" initials="未" lastIdx="0" clrIdx="867"/>
  <p:cmAuthor id="869" name="未知用户299" initials="未" lastIdx="0" clrIdx="868"/>
  <p:cmAuthor id="870" name="未知用户300" initials="未" lastIdx="0" clrIdx="869"/>
  <p:cmAuthor id="871" name="未知用户301" initials="未" lastIdx="0" clrIdx="870"/>
  <p:cmAuthor id="872" name="未知用户302" initials="未" lastIdx="0" clrIdx="871"/>
  <p:cmAuthor id="873" name="未知用户303" initials="未" lastIdx="0" clrIdx="872"/>
  <p:cmAuthor id="874" name="未知用户304" initials="未" lastIdx="0" clrIdx="873"/>
  <p:cmAuthor id="875" name="未知用户305" initials="未" lastIdx="0" clrIdx="874"/>
  <p:cmAuthor id="876" name="未知用户306" initials="未" lastIdx="0" clrIdx="875"/>
  <p:cmAuthor id="877" name="未知用户222" initials="未" lastIdx="0" clrIdx="876"/>
  <p:cmAuthor id="878" name="未知用户224" initials="未" lastIdx="0" clrIdx="877"/>
  <p:cmAuthor id="879" name="未知用户332" initials="未" lastIdx="0" clrIdx="878"/>
  <p:cmAuthor id="880" name="未知用户309" initials="未" lastIdx="0" clrIdx="879"/>
  <p:cmAuthor id="881" name="未知用户310" initials="未" lastIdx="0" clrIdx="880"/>
  <p:cmAuthor id="882" name="李 嘉" initials="李" lastIdx="0" clrIdx="881"/>
  <p:cmAuthor id="883" name="未知用户311" initials="未" lastIdx="0" clrIdx="882"/>
  <p:cmAuthor id="884" name="未知用户312" initials="未" lastIdx="0" clrIdx="883"/>
  <p:cmAuthor id="885" name="未知用户313" initials="未" lastIdx="0" clrIdx="884"/>
  <p:cmAuthor id="886" name="未知用户335" initials="未" lastIdx="0" clrIdx="885"/>
  <p:cmAuthor id="887" name="未知用户316" initials="未" lastIdx="0" clrIdx="886"/>
  <p:cmAuthor id="888" name="未知用户277" initials="未" lastIdx="0" clrIdx="887"/>
  <p:cmAuthor id="889" name="未知用户278" initials="未" lastIdx="0" clrIdx="888"/>
  <p:cmAuthor id="890" name="未知用户272" initials="未" lastIdx="0" clrIdx="889"/>
  <p:cmAuthor id="891" name="未知用户273" initials="未" lastIdx="0" clrIdx="890"/>
  <p:cmAuthor id="892" name="未知用户279" initials="未" lastIdx="0" clrIdx="891"/>
  <p:cmAuthor id="893" name="未知用户233" initials="未" lastIdx="0" clrIdx="892"/>
  <p:cmAuthor id="894" name="未知用户229" initials="未" lastIdx="0" clrIdx="893"/>
  <p:cmAuthor id="895" name="未知用户234" initials="未" lastIdx="0" clrIdx="894"/>
  <p:cmAuthor id="896" name="未知用户274" initials="未" lastIdx="0" clrIdx="895"/>
  <p:cmAuthor id="897" name="未知用户236" initials="未" lastIdx="0" clrIdx="896"/>
  <p:cmAuthor id="898" name="未知用户280" initials="未" lastIdx="0" clrIdx="897"/>
  <p:cmAuthor id="899" name="未知用户238" initials="未" lastIdx="0" clrIdx="898"/>
  <p:cmAuthor id="900" name="未知用户239" initials="未" lastIdx="0" clrIdx="899"/>
  <p:cmAuthor id="901" name="未知用户240" initials="未" lastIdx="0" clrIdx="900"/>
  <p:cmAuthor id="902" name="未知用户241" initials="未" lastIdx="0" clrIdx="901"/>
  <p:cmAuthor id="903" name="未知用户242" initials="未" lastIdx="0" clrIdx="902"/>
  <p:cmAuthor id="904" name="未知用户243" initials="未" lastIdx="0" clrIdx="903"/>
  <p:cmAuthor id="905" name="未知用户244" initials="未" lastIdx="0" clrIdx="904"/>
  <p:cmAuthor id="906" name="未知用户245" initials="未" lastIdx="0" clrIdx="905"/>
  <p:cmAuthor id="907" name="未知用户246" initials="未" lastIdx="0" clrIdx="906"/>
  <p:cmAuthor id="908" name="未知用户247" initials="未" lastIdx="0" clrIdx="907"/>
  <p:cmAuthor id="909" name="未知用户248" initials="未" lastIdx="0" clrIdx="908"/>
  <p:cmAuthor id="910" name="未知用户249" initials="未" lastIdx="0" clrIdx="909"/>
  <p:cmAuthor id="911" name="未知用户250" initials="未" lastIdx="0" clrIdx="910"/>
  <p:cmAuthor id="912" name="未知用户251" initials="未" lastIdx="0" clrIdx="911"/>
  <p:cmAuthor id="913" name="未知用户252" initials="未" lastIdx="0" clrIdx="912"/>
  <p:cmAuthor id="914" name="未知用户253" initials="未" lastIdx="0" clrIdx="913"/>
  <p:cmAuthor id="915" name="未知用户254" initials="未" lastIdx="0" clrIdx="914"/>
  <p:cmAuthor id="916" name="未知用户255" initials="未" lastIdx="0" clrIdx="915"/>
  <p:cmAuthor id="917" name="未知用户256" initials="未" lastIdx="0" clrIdx="916"/>
  <p:cmAuthor id="918" name="未知用户257" initials="未" lastIdx="0" clrIdx="917"/>
  <p:cmAuthor id="919" name="未知用户258" initials="未" lastIdx="0" clrIdx="918"/>
  <p:cmAuthor id="920" name="未知用户259" initials="未" lastIdx="0" clrIdx="919"/>
  <p:cmAuthor id="921" name="未知用户260" initials="未" lastIdx="0" clrIdx="920"/>
  <p:cmAuthor id="922" name="未知用户275" initials="未" lastIdx="0" clrIdx="921"/>
  <p:cmAuthor id="923" name="未知用户276" initials="未" lastIdx="0" clrIdx="922"/>
  <p:cmAuthor id="924" name="未知用户263" initials="未" lastIdx="0" clrIdx="923"/>
  <p:cmAuthor id="925" name="未知用户264" initials="未" lastIdx="0" clrIdx="924"/>
  <p:cmAuthor id="926" name="未知用户265" initials="未" lastIdx="0" clrIdx="925"/>
  <p:cmAuthor id="927" name="未知用户266" initials="未" lastIdx="0" clrIdx="926"/>
  <p:cmAuthor id="928" name="未知用户267" initials="未" lastIdx="0" clrIdx="927"/>
  <p:cmAuthor id="929" name="未知用户268" initials="未" lastIdx="0" clrIdx="928"/>
  <p:cmAuthor id="930" name="未知用户269" initials="未" lastIdx="0" clrIdx="929"/>
  <p:cmAuthor id="931" name="未知用户270" initials="未" lastIdx="0" clrIdx="930"/>
  <p:cmAuthor id="932" name="未知用户193" initials="未" lastIdx="0" clrIdx="931"/>
  <p:cmAuthor id="933" name="未知用户195" initials="未" lastIdx="0" clrIdx="932"/>
  <p:cmAuthor id="934" name="未知用户196" initials="未" lastIdx="0" clrIdx="933"/>
  <p:cmAuthor id="935" name="未知用户358" initials="未" lastIdx="0" clrIdx="934"/>
  <p:cmAuthor id="936" name="未知用户359" initials="未" lastIdx="0" clrIdx="935"/>
  <p:cmAuthor id="937" name="未知用户360" initials="未" lastIdx="0" clrIdx="936"/>
  <p:cmAuthor id="938" name="未知用户361" initials="未" lastIdx="0" clrIdx="937"/>
  <p:cmAuthor id="939" name="未知用户364" initials="未" lastIdx="0" clrIdx="938"/>
  <p:cmAuthor id="940" name="未知用户288" initials="未" lastIdx="0" clrIdx="939"/>
  <p:cmAuthor id="941" name="未知用户297" initials="未" lastIdx="0" clrIdx="940"/>
  <p:cmAuthor id="942" name="未知用户298" initials="未" lastIdx="0" clrIdx="941"/>
  <p:cmAuthor id="943" name="未知用户307" initials="未" lastIdx="0" clrIdx="942"/>
  <p:cmAuthor id="944" name="未知用户308" initials="未" lastIdx="0" clrIdx="943"/>
  <p:cmAuthor id="945" name="未知用户315" initials="未" lastIdx="0" clrIdx="944"/>
  <p:cmAuthor id="946" name="未知用户317" initials="未" lastIdx="0" clrIdx="945"/>
  <p:cmAuthor id="947" name="未知用户329" initials="未" lastIdx="0" clrIdx="946"/>
  <p:cmAuthor id="948" name="未知用户333" initials="未" lastIdx="0" clrIdx="947"/>
  <p:cmAuthor id="949" name="未知用户334" initials="未" lastIdx="0" clrIdx="948"/>
  <p:cmAuthor id="950" name="未知用户340" initials="未" lastIdx="0" clrIdx="949"/>
  <p:cmAuthor id="951" name="未知用户341" initials="未" lastIdx="0" clrIdx="950"/>
  <p:cmAuthor id="952" name="未知用户342" initials="未" lastIdx="0" clrIdx="951"/>
  <p:cmAuthor id="953" name="未知用户343" initials="未" lastIdx="0" clrIdx="952"/>
  <p:cmAuthor id="954" name="未知用户344" initials="未" lastIdx="0" clrIdx="953"/>
  <p:cmAuthor id="955" name="未知用户345" initials="未" lastIdx="0" clrIdx="954"/>
  <p:cmAuthor id="956" name="未知用户365" initials="未" lastIdx="0" clrIdx="955"/>
  <p:cmAuthor id="957" name="未知用户366" initials="未" lastIdx="0" clrIdx="956"/>
  <p:cmAuthor id="958" name="未知用户367" initials="未" lastIdx="0" clrIdx="957"/>
  <p:cmAuthor id="959" name="未知用户368" initials="未" lastIdx="0" clrIdx="958"/>
  <p:cmAuthor id="960" name="未知用户403" initials="未" lastIdx="0" clrIdx="959"/>
  <p:cmAuthor id="961" name="未知用户402" initials="未" lastIdx="0" clrIdx="960"/>
  <p:cmAuthor id="962" name="未知用户379" initials="未" lastIdx="0" clrIdx="961"/>
  <p:cmAuthor id="963" name="未知用户380" initials="未" lastIdx="0" clrIdx="962"/>
  <p:cmAuthor id="964" name="未知用户405" initials="未" lastIdx="0" clrIdx="963"/>
  <p:cmAuthor id="965" name="未知用户382" initials="未" lastIdx="0" clrIdx="964"/>
  <p:cmAuthor id="966" name="未知用户383" initials="未" lastIdx="0" clrIdx="965"/>
  <p:cmAuthor id="967" name="未知用户384" initials="未" lastIdx="0" clrIdx="966"/>
  <p:cmAuthor id="968" name="wangxiaoxuan@ha.cmcc" initials="w" lastIdx="0" clrIdx="967"/>
  <p:cmAuthor id="969" name="未知用户385" initials="未" lastIdx="0" clrIdx="968"/>
  <p:cmAuthor id="970" name="未知用户386" initials="未" lastIdx="0" clrIdx="969"/>
  <p:cmAuthor id="971" name="dengwanting" initials="d" lastIdx="0" clrIdx="970"/>
  <p:cmAuthor id="972" name="未知用户387" initials="未" lastIdx="0" clrIdx="971"/>
  <p:cmAuthor id="973" name="mouse zz" initials="mz" lastIdx="0" clrIdx="972"/>
  <p:cmAuthor id="974" name="未知用户388" initials="未" lastIdx="0" clrIdx="973"/>
  <p:cmAuthor id="975" name="goulei" initials="g" lastIdx="0" clrIdx="974"/>
  <p:cmAuthor id="976" name="未知用户411" initials="未" lastIdx="0" clrIdx="975"/>
  <p:cmAuthor id="977" name="未知用户389" initials="未" lastIdx="0" clrIdx="976"/>
  <p:cmAuthor id="978" name="未知用户390" initials="未" lastIdx="0" clrIdx="977"/>
  <p:cmAuthor id="979" name="未知用户391" initials="未" lastIdx="0" clrIdx="978"/>
  <p:cmAuthor id="980" name="未知用户392" initials="未" lastIdx="0" clrIdx="979"/>
  <p:cmAuthor id="981" name="未知用户393" initials="未" lastIdx="0" clrIdx="980"/>
  <p:cmAuthor id="982" name="未知用户394" initials="未" lastIdx="0" clrIdx="981"/>
  <p:cmAuthor id="983" name="未知用户395" initials="未" lastIdx="0" clrIdx="982"/>
  <p:cmAuthor id="984" name="未知用户396" initials="未" lastIdx="0" clrIdx="983"/>
  <p:cmAuthor id="985" name="未知用户406" initials="未" lastIdx="0" clrIdx="984"/>
  <p:cmAuthor id="986" name="未知用户397" initials="未" lastIdx="0" clrIdx="985"/>
  <p:cmAuthor id="987" name="未知用户407" initials="未" lastIdx="0" clrIdx="986"/>
  <p:cmAuthor id="988" name="群智集" initials="群" lastIdx="0" clrIdx="987"/>
  <p:cmAuthor id="989" name="未知用户398" initials="未" lastIdx="0" clrIdx="988"/>
  <p:cmAuthor id="990" name="未知用户399" initials="未" lastIdx="0" clrIdx="989"/>
  <p:cmAuthor id="991" name="未知用户400" initials="未" lastIdx="0" clrIdx="990"/>
  <p:cmAuthor id="992" name="未知用户401" initials="未" lastIdx="0" clrIdx="991"/>
  <p:cmAuthor id="993" name="未知用户420" initials="未" lastIdx="0" clrIdx="992"/>
  <p:cmAuthor id="994" name="未知用户421" initials="未" lastIdx="0" clrIdx="993"/>
  <p:cmAuthor id="995" name="未知用户422" initials="未" lastIdx="0" clrIdx="994"/>
  <p:cmAuthor id="996" name="未知用户423" initials="未" lastIdx="0" clrIdx="995"/>
  <p:cmAuthor id="997" name="未知用户424" initials="未" lastIdx="0" clrIdx="996"/>
  <p:cmAuthor id="998" name="未知用户419" initials="未" lastIdx="0" clrIdx="997"/>
  <p:cmAuthor id="999" name="未知用户425" initials="未" lastIdx="0" clrIdx="998"/>
  <p:cmAuthor id="1000" name="未知用户426" initials="未" lastIdx="0" clrIdx="999"/>
  <p:cmAuthor id="1001" name="未知用户427" initials="未" lastIdx="0" clrIdx="1000"/>
  <p:cmAuthor id="1002" name="未知用户428" initials="未" lastIdx="0" clrIdx="1001"/>
  <p:cmAuthor id="1003" name="未知用户429" initials="未" lastIdx="0" clrIdx="1002"/>
  <p:cmAuthor id="1004" name="未知用户430" initials="未" lastIdx="0" clrIdx="1003"/>
  <p:cmAuthor id="1005" name="未知用户431" initials="未" lastIdx="0" clrIdx="1004"/>
  <p:cmAuthor id="1006" name="未知用户432" initials="未" lastIdx="0" clrIdx="1005"/>
  <p:cmAuthor id="1007" name="未知用户433" initials="未" lastIdx="0" clrIdx="1006"/>
  <p:cmAuthor id="1008" name="未知用户434" initials="未" lastIdx="0" clrIdx="1007"/>
  <p:cmAuthor id="1009" name="未知用户435" initials="未" lastIdx="0" clrIdx="1008"/>
  <p:cmAuthor id="1010" name="未知用户436" initials="未" lastIdx="0" clrIdx="1009"/>
  <p:cmAuthor id="1011" name="未知用户437" initials="未" lastIdx="0" clrIdx="1010"/>
  <p:cmAuthor id="1012" name="未知用户438" initials="未" lastIdx="0" clrIdx="1011"/>
  <p:cmAuthor id="1013" name="未知用户417" initials="未" lastIdx="0" clrIdx="1012"/>
  <p:cmAuthor id="1014" name="未知用户439" initials="未" lastIdx="0" clrIdx="1013"/>
  <p:cmAuthor id="1015" name="未知用户440" initials="未" lastIdx="0" clrIdx="1014"/>
  <p:cmAuthor id="1016" name="未知用户441" initials="未" lastIdx="0" clrIdx="1015"/>
  <p:cmAuthor id="1017" name="未知用户442" initials="未" lastIdx="0" clrIdx="1016"/>
  <p:cmAuthor id="1018" name="未知用户443" initials="未" lastIdx="0" clrIdx="1017"/>
  <p:cmAuthor id="1019" name="未知用户444" initials="未" lastIdx="0" clrIdx="1018"/>
  <p:cmAuthor id="1020" name="未知用户445" initials="未" lastIdx="0" clrIdx="1019"/>
  <p:cmAuthor id="1021" name="未知用户446" initials="未" lastIdx="0" clrIdx="1020"/>
  <p:cmAuthor id="1022" name="未知用户447" initials="未" lastIdx="0" clrIdx="1021"/>
  <p:cmAuthor id="1023" name="未知用户448" initials="未" lastIdx="0" clrIdx="1022"/>
  <p:cmAuthor id="1024" name="罗梁" initials="罗梁" lastIdx="0" clrIdx="1023"/>
  <p:cmAuthor id="1025" name="YY" initials="Y" lastIdx="0" clrIdx="1024"/>
  <p:cmAuthor id="1026" name="wenle369@sina.com" initials="w" lastIdx="0" clrIdx="1025"/>
  <p:cmAuthor id="1027" name="554154816@qq.com" initials="5" lastIdx="0" clrIdx="1026"/>
  <p:cmAuthor id="1028" name="未知用户192" initials="未" lastIdx="0" clrIdx="1027"/>
  <p:cmAuthor id="1029" name="未知用户418" initials="未" lastIdx="0" clrIdx="1028"/>
  <p:cmAuthor id="1030" name="未知用户271" initials="未" lastIdx="0" clrIdx="1029"/>
  <p:cmAuthor id="1031" name="jialuo" initials="j" lastIdx="0" clrIdx="1030"/>
  <p:cmAuthor id="1032" name="TianLei" initials="T" lastIdx="0" clrIdx="1031"/>
  <p:cmAuthor id="1033" name="谢学斌" initials="谢" lastIdx="0" clrIdx="1032"/>
  <p:cmAuthor id="1034" name="sjzx" initials="s" lastIdx="0" clrIdx="1033"/>
  <p:cmAuthor id="1035" name="yang.yuan" initials="y" lastIdx="0" clrIdx="1034"/>
  <p:cmAuthor id="1036" name="杨强" initials="杨" lastIdx="0" clrIdx="1035"/>
  <p:cmAuthor id="1037" name="檀晟 陈" initials="檀晟" lastIdx="0" clrIdx="1036"/>
  <p:cmAuthor id="1038" name="未知用户27" initials="未" lastIdx="0" clrIdx="1037"/>
  <p:cmAuthor id="1039" name="未知用户28" initials="未" lastIdx="0" clrIdx="1038"/>
  <p:cmAuthor id="1040" name="未知用户26" initials="未" lastIdx="0" clrIdx="1039"/>
  <p:cmAuthor id="1041" name="LENOVO" initials="L" lastIdx="0" clrIdx="1040"/>
  <p:cmAuthor id="1042" name="于玺" initials="yx" lastIdx="0" clrIdx="1041"/>
  <p:cmAuthor id="1043" name="suniehuang" initials="s" lastIdx="0" clrIdx="1042"/>
  <p:cmAuthor id="1044" name="Sophie" initials="S" lastIdx="0" clrIdx="1043"/>
  <p:cmAuthor id="1045" name="EDZ" initials="E" lastIdx="0" clrIdx="1044"/>
  <p:cmAuthor id="1046" name="LACIE WANG" initials="LW" lastIdx="0" clrIdx="1045"/>
  <p:cmAuthor id="1047" name="dlh zxa" initials="" lastIdx="0" clrIdx="1046"/>
  <p:cmAuthor id="1048" name="syan4" initials="s" lastIdx="0" clrIdx="1047"/>
  <p:cmAuthor id="1049" name="WPS" initials="W" lastIdx="0" clrIdx="1048"/>
  <p:cmAuthor id="1050" name="Yiheng Qin" initials="Y" lastIdx="0" clrIdx="1049"/>
  <p:cmAuthor id="1051" name="ozg106" initials="o" lastIdx="0" clrIdx="1050"/>
  <p:cmAuthor id="1052" name="dengzhifang" initials="d" lastIdx="0" clrIdx="1051"/>
  <p:cmAuthor id="1053" name="Deakin" initials="D" lastIdx="0" clrIdx="1052"/>
  <p:cmAuthor id="1054" name="zhu li" initials="zl" lastIdx="0" clrIdx="1053"/>
  <p:cmAuthor id="1055" name="44697" initials="4" lastIdx="0" clrIdx="1054"/>
  <p:cmAuthor id="1056" name="songchunhua" initials="s" lastIdx="0" clrIdx="1055"/>
  <p:cmAuthor id="1057" name="CREO" initials="C" lastIdx="0" clrIdx="1056"/>
  <p:cmAuthor id="1058" name="大洋悍马" initials="大" lastIdx="0" clrIdx="1057"/>
  <p:cmAuthor id="1059" name="8615995992029" initials="8" lastIdx="0" clrIdx="1058"/>
  <p:cmAuthor id="1060" name="刘硕" initials="刘" lastIdx="0" clrIdx="1059"/>
  <p:cmAuthor id="1061" name="系统管理员" initials="系" lastIdx="0" clrIdx="1060"/>
  <p:cmAuthor id="1062" name="Bevan" initials="B" lastIdx="0" clrIdx="1061"/>
  <p:cmAuthor id="1063" name="dou" initials="d" lastIdx="0" clrIdx="1062"/>
  <p:cmAuthor id="1064" name="sxl" initials="s" lastIdx="0" clrIdx="1063"/>
  <p:cmAuthor id="1065" name="吕永朋" initials="吕" lastIdx="0" clrIdx="1064"/>
  <p:cmAuthor id="1066" name="宋大凡奥里给" initials="宋" lastIdx="0" clrIdx="1065"/>
  <p:cmAuthor id="1067" name="13782" initials="1" lastIdx="0" clrIdx="1066"/>
  <p:cmAuthor id="1068" name="Epoint" initials="E" lastIdx="0" clrIdx="1067"/>
  <p:cmAuthor id="1069" name="lychang" initials="l" lastIdx="0" clrIdx="1068"/>
  <p:cmAuthor id="1070" name="xingtao" initials="x" lastIdx="0" clrIdx="1069"/>
  <p:cmAuthor id="1071" name="46282" initials="4" lastIdx="0" clrIdx="1070"/>
  <p:cmAuthor id="1072" name="一只徐" initials="一" lastIdx="0" clrIdx="1071"/>
  <p:cmAuthor id="1073" name="1" initials="1" lastIdx="0" clrIdx="1072"/>
  <p:cmAuthor id="1074" name="liu'meng" initials="l" lastIdx="0" clrIdx="1073"/>
  <p:cmAuthor id="1075" name="ERAZER" initials="E" lastIdx="0" clrIdx="1074"/>
  <p:cmAuthor id="1076" name="49396" initials="4" lastIdx="0" clrIdx="1075"/>
  <p:cmAuthor id="1077" name="李良振" initials="L" lastIdx="0" clrIdx="1076"/>
  <p:cmAuthor id="1078" name="CMCC" initials="C" lastIdx="0" clrIdx="1077"/>
  <p:cmAuthor id="1079" name="31595" initials="3" lastIdx="0" clrIdx="1078"/>
  <p:cmAuthor id="1080" name="Lenovo" initials="L" lastIdx="0" clrIdx="1079"/>
  <p:cmAuthor id="1081" name="李楠10047711" initials="李楠10047711" lastIdx="0" clrIdx="1080"/>
  <p:cmAuthor id="1082" name="610007" initials="6" lastIdx="0" clrIdx="1081"/>
  <p:cmAuthor id="1083" name="Author" initials="A" lastIdx="0" clrIdx="1082"/>
  <p:cmAuthor id="1084" name="NTKO" initials="binw" lastIdx="0" clrIdx="1083"/>
  <p:cmAuthor id="1085" name="曹 媛" initials="曹" lastIdx="0" clrIdx="1084"/>
  <p:cmAuthor id="1086" name="ke guibin" initials="kg" lastIdx="0" clrIdx="1085"/>
  <p:cmAuthor id="1087" name="zhoupeiling" initials="z" lastIdx="0" clrIdx="1086"/>
  <p:cmAuthor id="1088" name="xujun" initials="x" lastIdx="0" clrIdx="1087"/>
  <p:cmAuthor id="1089" name="未知用户35" initials="未" lastIdx="0" clrIdx="1088"/>
  <p:cmAuthor id="1090" name="hm" initials="h" lastIdx="0" clrIdx="1089"/>
  <p:cmAuthor id="1091" name="Lucifer" initials="L" lastIdx="0" clrIdx="1090"/>
  <p:cmAuthor id="1092" name="Microsoft" initials="M" lastIdx="0" clrIdx="1091"/>
  <p:cmAuthor id="1093" name="扉我所念" initials="扉" lastIdx="0" clrIdx="1092"/>
  <p:cmAuthor id="1094" name="艾thinkpad" initials="艾" lastIdx="0" clrIdx="1093"/>
  <p:cmAuthor id="1095" name="ZW183UX" initials="Z" lastIdx="0" clrIdx="1094"/>
  <p:cmAuthor id="1096" name="常双龙" initials="常" lastIdx="0" clrIdx="1095"/>
  <p:cmAuthor id="1097" name="faye faye" initials="ff" lastIdx="0" clrIdx="1096"/>
  <p:cmAuthor id="1098" name="从雨佳_Q3MrBzQB" initials="authorId_1348" lastIdx="0" clrIdx="1097"/>
  <p:cmAuthor id="1099" name="張秀娟" initials="張" lastIdx="0" clrIdx="1098"/>
  <p:cmAuthor id="1100" name="王忱_iA7bMbaE" initials="authorId_1315" lastIdx="0" clrIdx="1099"/>
  <p:cmAuthor id="1101" name="姜来" initials="姜" lastIdx="0" clrIdx="1100"/>
  <p:cmAuthor id="1102" name="1119677930@qq.com" initials="" lastIdx="0" clrIdx="1101"/>
  <p:cmAuthor id="1103" name="史明慧-项目管理办公室" initials="史" lastIdx="0" clrIdx="1102"/>
  <p:cmAuthor id="1104" name="王鹏凯" initials="王" lastIdx="0" clrIdx="1103"/>
  <p:cmAuthor id="1105" name="J" initials="J" lastIdx="0" clrIdx="1104"/>
  <p:cmAuthor id="1106" name="ZhouYang" initials="Z" lastIdx="0" clrIdx="1105"/>
  <p:cmAuthor id="1107" name="何杰" initials="何" lastIdx="0" clrIdx="1106"/>
  <p:cmAuthor id="1108" name="柯 少鹏" initials="柯" lastIdx="0" clrIdx="1107"/>
  <p:cmAuthor id="1109" name="Xiang" initials="X" lastIdx="0" clrIdx="1108"/>
  <p:cmAuthor id="1110" name="施普希（菜菜）" initials="施" lastIdx="0" clrIdx="1109"/>
  <p:cmAuthor id="1111" name="张黎明" initials="张" lastIdx="0" clrIdx="1110"/>
  <p:cmAuthor id="1112" name="AGK" initials="AGK" lastIdx="0" clrIdx="1111"/>
  <p:cmAuthor id="1113" name="孙现民" initials="孙" lastIdx="0" clrIdx="1112"/>
  <p:cmAuthor id="1114" name="王许培01" initials="王" lastIdx="0" clrIdx="1113"/>
  <p:cmAuthor id="1115" name="zhang" initials="z" lastIdx="0" clrIdx="1114"/>
  <p:cmAuthor id="1116" name="柳 先涛" initials="柳" lastIdx="0" clrIdx="1115"/>
  <p:cmAuthor id="1117" name="李寄思" initials="李" lastIdx="0" clrIdx="1116"/>
  <p:cmAuthor id="1118" name="张逸晨" initials="张" lastIdx="0" clrIdx="1117"/>
  <p:cmAuthor id="1119" name="wn" initials="w" lastIdx="0" clrIdx="1118"/>
  <p:cmAuthor id="1120" name="Picc" initials="P" lastIdx="0" clrIdx="1119"/>
  <p:cmAuthor id="1121" name="张 宇" initials="张" lastIdx="0" clrIdx="1120"/>
  <p:cmAuthor id="1122" name="guoge" initials="g" lastIdx="0" clrIdx="1121"/>
  <p:cmAuthor id="1123" name="未知用户10" initials="未" lastIdx="0" clrIdx="1122"/>
  <p:cmAuthor id="1124" name="黄金凤_m2qeEVJ3" initials="authorId_9d1b2878d3ca5142074d5e467affe8d3" lastIdx="0" clrIdx="1123"/>
  <p:cmAuthor id="1125" name="陈玮琦_J3E3MN7F" initials="authorId_edc5e5776957b69b4110082e97bcfa5f" lastIdx="0" clrIdx="1124"/>
  <p:cmAuthor id="1126" name="刘 先生" initials="刘" lastIdx="0" clrIdx="1125"/>
  <p:cmAuthor id="1127" name="姬生振_yAjyZJNB" initials="authorId_03a22c3965831c0fda2f493420d64f72" lastIdx="0" clrIdx="1126"/>
  <p:cmAuthor id="1128" name="lixingyu112233@outlook.com" initials="l" lastIdx="0" clrIdx="1127"/>
  <p:cmAuthor id="1129" name="孙孟尧_vIvaJzMJ" initials="authorId_e5f5085cd1be94a691c192080e1701a0" lastIdx="0" clrIdx="1128"/>
  <p:cmAuthor id="1130" name="牛牛" initials="牛牛" lastIdx="0" clrIdx="1129"/>
  <p:cmAuthor id="1131" name="W Lihua" initials="WL" lastIdx="0" clrIdx="1130"/>
  <p:cmAuthor id="1132" name="章鱼" initials="章" lastIdx="0" clrIdx="1131"/>
  <p:cmAuthor id="1133" name="exfeng" initials="e" lastIdx="0" clrIdx="1132"/>
  <p:cmAuthor id="1134" name="Office" initials="O" lastIdx="0" clrIdx="1133"/>
  <p:cmAuthor id="1135" name="仝德志" initials="仝" lastIdx="0" clrIdx="1134"/>
  <p:cmAuthor id="1136" name="Windows" initials="W" lastIdx="0" clrIdx="1135"/>
  <p:cmAuthor id="1137" name="季玉洁" initials="季" lastIdx="0" clrIdx="1136"/>
  <p:cmAuthor id="1138" name="杨姗" initials="杨" lastIdx="0" clrIdx="1137"/>
  <p:cmAuthor id="1139" name="qq zz" initials="qz" lastIdx="0" clrIdx="1138"/>
  <p:cmAuthor id="1140" name="孙遒_UnMrQ36N" initials="authorId_1008746-10054700" lastIdx="0" clrIdx="1139"/>
  <p:cmAuthor id="1141" name="DaiZhengYuan" initials="D" lastIdx="0" clrIdx="1140"/>
  <p:cmAuthor id="1142" name="LYW" initials="L" lastIdx="0" clrIdx="1141"/>
  <p:cmAuthor id="1143" name="泾伦" initials="泾伦" lastIdx="0" clrIdx="1142"/>
  <p:cmAuthor id="1144" name="Y Y" initials="YY" lastIdx="0" clrIdx="1143"/>
  <p:cmAuthor id="1145" name="丹丹 高" initials="丹高" lastIdx="0" clrIdx="1144"/>
  <p:cmAuthor id="1146" name="Joben" initials="J" lastIdx="0" clrIdx="1145"/>
  <p:cmAuthor id="1147" name="Dell" initials="D" lastIdx="0" clrIdx="1146"/>
  <p:cmAuthor id="1148" name="张谭" initials="张" lastIdx="0" clrIdx="1147"/>
  <p:cmAuthor id="1149" name="George Clooney" initials="GC" lastIdx="0" clrIdx="1148"/>
  <p:cmAuthor id="1150" name="lvjun" initials="l" lastIdx="0" clrIdx="1149"/>
  <p:cmAuthor id="1151" name="jk-an" initials="j" lastIdx="0" clrIdx="1150"/>
  <p:cmAuthor id="1152" name="未知用户15" initials="未" lastIdx="0" clrIdx="1151"/>
  <p:cmAuthor id="1153" name="未知用户20" initials="未" lastIdx="0" clrIdx="1152"/>
  <p:cmAuthor id="1154" name="海荣 李" initials="海荣" lastIdx="0" clrIdx="1153"/>
  <p:cmAuthor id="1155" name="王 公然" initials="王" lastIdx="0" clrIdx="1154"/>
  <p:cmAuthor id="1156" name="何 静" initials="何" lastIdx="0" clrIdx="1155"/>
  <p:cmAuthor id="1157" name="孟萦" initials="孟" lastIdx="0" clrIdx="1156"/>
  <p:cmAuthor id="1158" name="林雪" initials="林" lastIdx="0" clrIdx="1157"/>
  <p:cmAuthor id="1159" name="Zhou, Joey (IBD)" initials="Z" lastIdx="0" clrIdx="1158"/>
  <p:cmAuthor id="1160" name="浩 陈" initials="浩" lastIdx="0" clrIdx="1159"/>
  <p:cmAuthor id="1161" name="wumin" initials="w" lastIdx="0" clrIdx="1160"/>
  <p:cmAuthor id="1162" name="Laptop" initials="L" lastIdx="0" clrIdx="1161"/>
  <p:cmAuthor id="1163" name="王秋实" initials="j" lastIdx="0" clrIdx="1162"/>
  <p:cmAuthor id="1164" name="IOT" initials="I" lastIdx="0" clrIdx="1163"/>
  <p:cmAuthor id="1165" name="david Si" initials="dS" lastIdx="0" clrIdx="1164"/>
  <p:cmAuthor id="1166" name="SYSTEM" initials="P" lastIdx="0" clrIdx="1165"/>
  <p:cmAuthor id="1167" name="未知用户7" initials="未知用户7" lastIdx="0" clrIdx="1166"/>
  <p:cmAuthor id="1168" name="dingxin" initials="d" lastIdx="0" clrIdx="1167"/>
  <p:cmAuthor id="1169" name="赖嘉" initials="LJ" lastIdx="0" clrIdx="1168"/>
  <p:cmAuthor id="1170" name="zhanhongma" initials="z" lastIdx="0" clrIdx="1169"/>
  <p:cmAuthor id="1171" name="张 明晖" initials="张" lastIdx="0" clrIdx="1170"/>
  <p:cmAuthor id="1172" name="User" initials="U" lastIdx="0" clrIdx="1171"/>
  <p:cmAuthor id="1173" name="宋 磊" initials="宋" lastIdx="0" clrIdx="1172"/>
  <p:cmAuthor id="1174" name="zhangshh" initials="z" lastIdx="0" clrIdx="1173"/>
  <p:cmAuthor id="1175" name="张 小姐" initials="张" lastIdx="0" clrIdx="1174"/>
  <p:cmAuthor id="1176" name="Administrator1" initials="A" lastIdx="0" clrIdx="1175"/>
  <p:cmAuthor id="1177" name="林妺" initials="林" lastIdx="0" clrIdx="1176"/>
  <p:cmAuthor id="1178" name="kongy" initials="k" lastIdx="0" clrIdx="1177"/>
  <p:cmAuthor id="1179" name="cw" initials="c" lastIdx="0" clrIdx="1178"/>
  <p:cmAuthor id="1180" name="HS" initials="HS" lastIdx="0" clrIdx="1179"/>
  <p:cmAuthor id="1181" name="luxu" initials="l" lastIdx="0" clrIdx="1180"/>
  <p:cmAuthor id="1182" name="未知用户51" initials="未" lastIdx="0" clrIdx="1181"/>
  <p:cmAuthor id="1183" name="未知的使用者62" initials="未" lastIdx="0" clrIdx="1182"/>
  <p:cmAuthor id="1184" name="未知的使用者58" initials="未" lastIdx="0" clrIdx="1183"/>
  <p:cmAuthor id="1185" name="张炎-商业广告_iA3qbeyi" initials="authorId_1320782576" lastIdx="0" clrIdx="1184"/>
  <p:cmAuthor id="1186" name="杜晶晶-投资者关系部_vM3mnymA" initials="authorId_1323951053" lastIdx="0" clrIdx="1185"/>
  <p:cmAuthor id="1187" name="未知的使用者118" initials="未" lastIdx="0" clrIdx="1186"/>
  <p:cmAuthor id="1188" name="未知的使用者76" initials="未" lastIdx="0" clrIdx="1187"/>
  <p:cmAuthor id="1189" name="蝡媆_Izain6bM" initials="authorId_248152390" lastIdx="0" clrIdx="1188"/>
  <p:cmAuthor id="1190" name="ツ、刚Æ_U7vyYFNv" initials="authorId_1209797653" lastIdx="0" clrIdx="1189"/>
  <p:cmAuthor id="1191" name="雄飞_n6jmyYrM" initials="authorId_339283699" lastIdx="0" clrIdx="1190"/>
  <p:cmAuthor id="1192" name="alen.ao" initials="a" lastIdx="0" clrIdx="1191"/>
  <p:cmAuthor id="1193" name="2212858804@qq.com" initials="" lastIdx="0" clrIdx="1192"/>
  <p:cmAuthor id="1194" name="业务组靳瑞升" initials="业" lastIdx="0" clrIdx="1193"/>
  <p:cmAuthor id="1195" name="WPS_12138" initials="W" lastIdx="0" clrIdx="1194"/>
  <p:cmAuthor id="1196" name="未知的使用者92" initials="未" lastIdx="0" clrIdx="1195"/>
  <p:cmAuthor id="1197" name="Unknown User27" initials="U" lastIdx="0" clrIdx="1196"/>
  <p:cmAuthor id="1198" name="Unknown User28" initials="U" lastIdx="0" clrIdx="1197"/>
  <p:cmAuthor id="1199" name="Unknown User11" initials="U" lastIdx="0" clrIdx="1198"/>
  <p:cmAuthor id="1200" name="Unknown User22" initials="U" lastIdx="0" clrIdx="1199"/>
  <p:cmAuthor id="1201" name="未知的使用者146" initials="未" lastIdx="0" clrIdx="1200"/>
  <p:cmAuthor id="1202" name="未知的使用者133" initials="未" lastIdx="0" clrIdx="1201"/>
  <p:cmAuthor id="1203" name="未知的使用者134" initials="未" lastIdx="0" clrIdx="1202"/>
  <p:cmAuthor id="1204" name="未知的使用者135" initials="未" lastIdx="0" clrIdx="1203"/>
  <p:cmAuthor id="1205" name="未知的使用者136" initials="未" lastIdx="0" clrIdx="1204"/>
  <p:cmAuthor id="1206" name="未知的使用者137" initials="未" lastIdx="0" clrIdx="1205"/>
  <p:cmAuthor id="1207" name="." initials="." lastIdx="0" clrIdx="1206"/>
  <p:cmAuthor id="1208" name="未知的使用者138" initials="未" lastIdx="0" clrIdx="1207"/>
  <p:cmAuthor id="1209" name="未知的使用者139" initials="未" lastIdx="0" clrIdx="1208"/>
  <p:cmAuthor id="1210" name="未知的使用者140" initials="未" lastIdx="0" clrIdx="1209"/>
  <p:cmAuthor id="1211" name="xw" initials="x" lastIdx="0" clrIdx="1210"/>
  <p:cmAuthor id="1212" name="未知的使用者162" initials="未" lastIdx="0" clrIdx="1211"/>
  <p:cmAuthor id="1213" name="未知的使用者163" initials="未" lastIdx="0" clrIdx="1212"/>
  <p:cmAuthor id="1214" name="未知的使用者165" initials="未" lastIdx="0" clrIdx="1213"/>
  <p:cmAuthor id="1215" name="未知的使用者158" initials="未" lastIdx="0" clrIdx="1214"/>
  <p:cmAuthor id="1216" name="李臻_jiai6ZRr" initials="authorId_192999303" lastIdx="0" clrIdx="1215"/>
  <p:cmAuthor id="1217" name="未知的使用者148" initials="未" lastIdx="0" clrIdx="1216"/>
  <p:cmAuthor id="1218" name="田亚林+_vEn2feIZ" initials="authorId_385966644" lastIdx="0" clrIdx="1217"/>
  <p:cmAuthor id="1219" name="未知的使用者149" initials="未" lastIdx="0" clrIdx="1218"/>
  <p:cmAuthor id="1220" name="未知的使用者166" initials="未" lastIdx="0" clrIdx="1219"/>
  <p:cmAuthor id="1221" name="未知的使用者167" initials="未" lastIdx="0" clrIdx="1220"/>
  <p:cmAuthor id="1222" name="未知的使用者159" initials="未" lastIdx="0" clrIdx="1221"/>
  <p:cmAuthor id="1223" name="未知的使用者160" initials="未" lastIdx="0" clrIdx="1222"/>
  <p:cmAuthor id="1224" name="未知的使用者168" initials="未" lastIdx="0" clrIdx="1223"/>
  <p:cmAuthor id="1225" name="未知的使用者169" initials="未" lastIdx="0" clrIdx="1224"/>
  <p:cmAuthor id="1226" name="郭晓川" initials="郭" lastIdx="0" clrIdx="1225"/>
  <p:cmAuthor id="1227" name="资本运营-柒萍" initials="资" lastIdx="0" clrIdx="1226"/>
  <p:cmAuthor id="1228" name="未知的使用者198" initials="未" lastIdx="0" clrIdx="1227"/>
  <p:cmAuthor id="1229" name="未知的使用者205" initials="未" lastIdx="0" clrIdx="1228"/>
  <p:cmAuthor id="1230" name="未知的使用者200" initials="未" lastIdx="0" clrIdx="1229"/>
  <p:cmAuthor id="1231" name="未知的使用者194" initials="未" lastIdx="0" clrIdx="1230"/>
  <p:cmAuthor id="1232" name="未知的使用者182" initials="未" lastIdx="0" clrIdx="1231"/>
  <p:cmAuthor id="1233" name="kkzha" initials="k" lastIdx="0" clrIdx="1232"/>
  <p:cmAuthor id="1234" name="未知的使用者201" initials="未" lastIdx="0" clrIdx="1233"/>
  <p:cmAuthor id="1235" name="SUNGWX" initials="S" lastIdx="0" clrIdx="1234"/>
  <p:cmAuthor id="1236" name="未知的使用者202" initials="未" lastIdx="0" clrIdx="1235"/>
  <p:cmAuthor id="1237" name="未知的使用者171" initials="未" lastIdx="0" clrIdx="1236"/>
  <p:cmAuthor id="1238" name="未知的使用者195" initials="未" lastIdx="0" clrIdx="1237"/>
  <p:cmAuthor id="1239" name="未知的使用者173" initials="未" lastIdx="0" clrIdx="1238"/>
  <p:cmAuthor id="1240" name="未知的使用者196" initials="未" lastIdx="0" clrIdx="1239"/>
  <p:cmAuthor id="1241" name="Jiang-Haiyang" initials="JHY" lastIdx="0" clrIdx="1240"/>
  <p:cmAuthor id="1242" name="未知的使用者203" initials="未" lastIdx="0" clrIdx="1241"/>
  <p:cmAuthor id="1243" name="linwt" initials="l" lastIdx="0" clrIdx="1242"/>
  <p:cmAuthor id="1244" name="未知的使用者204" initials="未" lastIdx="0" clrIdx="1243"/>
  <p:cmAuthor id="1245" name="未知用户37" initials="未" lastIdx="0" clrIdx="1244"/>
  <p:cmAuthor id="1246" name="未知用户39" initials="未" lastIdx="0" clrIdx="1245"/>
  <p:cmAuthor id="1247" name="86185" initials="8" lastIdx="0" clrIdx="1246"/>
  <p:cmAuthor id="1248" name="韩佳楠" initials="韩" lastIdx="0" clrIdx="1247"/>
  <p:cmAuthor id="1249" name="未知用户36" initials="未" lastIdx="0" clrIdx="1248"/>
  <p:cmAuthor id="1250" name="xuanyuanxuanyi dad" initials="xd" lastIdx="0" clrIdx="1249"/>
  <p:cmAuthor id="1251" name="kingdee" initials="k" lastIdx="0" clrIdx="1250"/>
  <p:cmAuthor id="1252" name="Puzzle." initials="P" lastIdx="0" clrIdx="1251"/>
  <p:cmAuthor id="1253" name="老甲" initials="老" lastIdx="0" clrIdx="1252"/>
  <p:cmAuthor id="1254" name="wenwang xie" initials="wx" lastIdx="0" clrIdx="1253"/>
  <p:cmAuthor id="1255" name="holya holya" initials="hh" lastIdx="0" clrIdx="1254"/>
  <p:cmAuthor id="1256" name="ZHU Frank" initials="ZF" lastIdx="0" clrIdx="1255"/>
  <p:cmAuthor id="1257" name="18651" initials="1" lastIdx="0" clrIdx="1256"/>
  <p:cmAuthor id="1258" name="肖 润南" initials="肖" lastIdx="0" clrIdx="1257"/>
  <p:cmAuthor id="1259" name="zyl" initials="z" lastIdx="0" clrIdx="1258"/>
  <p:cmAuthor id="1260" name="hsl" initials="hsl" lastIdx="0" clrIdx="1259"/>
  <p:cmAuthor id="1261" name="ye xin" initials="yx" lastIdx="0" clrIdx="1260"/>
  <p:cmAuthor id="1262" name="杨 珂" initials="杨" lastIdx="0" clrIdx="1261"/>
  <p:cmAuthor id="1263" name="clycy990@163.com" initials="c" lastIdx="0" clrIdx="1262"/>
  <p:cmAuthor id="1264" name="王海涛" initials="王" lastIdx="0" clrIdx="1263"/>
  <p:cmAuthor id="1265" name="localadmin" initials="l" lastIdx="0" clrIdx="1264"/>
  <p:cmAuthor id="1266" name="yude-he" initials="y" lastIdx="0" clrIdx="1265"/>
  <p:cmAuthor id="1267" name="J Z" initials="JZ" lastIdx="0" clrIdx="1266"/>
  <p:cmAuthor id="1268" name="阮 幸云" initials="阮" lastIdx="0" clrIdx="1267"/>
  <p:cmAuthor id="1269" name="CGD" initials="C" lastIdx="0" clrIdx="1268"/>
  <p:cmAuthor id="1270" name="姚铁锤" initials="姚铁锤" lastIdx="0" clrIdx="1269"/>
  <p:cmAuthor id="1271" name="成平 曾" initials="成平" lastIdx="0" clrIdx="1270"/>
  <p:cmAuthor id="1272" name="86181" initials="8" lastIdx="0" clrIdx="1271"/>
  <p:cmAuthor id="1273" name="MD" initials="M" lastIdx="0" clrIdx="1272"/>
  <p:cmAuthor id="1274" name="css" initials="c" lastIdx="0" clrIdx="1273"/>
  <p:cmAuthor id="1275" name="陈婉迎" initials="陈" lastIdx="0" clrIdx="1274"/>
  <p:cmAuthor id="1276" name="Microsoft 帐户" initials="M" lastIdx="0" clrIdx="1275"/>
  <p:cmAuthor id="1277" name="黄文琦" initials="黄" lastIdx="0" clrIdx="1276"/>
  <p:cmAuthor id="1278" name="Mumu Wen" initials="M" lastIdx="0" clrIdx="1277"/>
  <p:cmAuthor id="1279" name="杨骏" initials="杨" lastIdx="0" clrIdx="1278"/>
  <p:cmAuthor id="1280" name="Xiaofei Wang" initials="X" lastIdx="0" clrIdx="1279"/>
  <p:cmAuthor id="1281" name="bai-shuo" initials="b" lastIdx="0" clrIdx="1280"/>
  <p:cmAuthor id="1282" name="GW-RDUser" initials="G" lastIdx="0" clrIdx="1281"/>
  <p:cmAuthor id="1283" name="MP" initials="M" lastIdx="0" clrIdx="1282"/>
  <p:cmAuthor id="1284" name="余丽琼" initials="余" lastIdx="0" clrIdx="1283"/>
  <p:cmAuthor id="1285" name="UU" initials="U" lastIdx="0" clrIdx="1284"/>
  <p:cmAuthor id="1286" name="yulq" initials="y" lastIdx="0" clrIdx="1285"/>
  <p:cmAuthor id="1287" name="jiang" initials="j" lastIdx="0" clrIdx="1286"/>
  <p:cmAuthor id="1288" name="10118178" initials="1" lastIdx="0" clrIdx="1287"/>
  <p:cmAuthor id="1289" name="lizhongqiang" initials="l" lastIdx="0" clrIdx="1288"/>
  <p:cmAuthor id="1290" name="zhouwd" initials="z" lastIdx="0" clrIdx="1289"/>
  <p:cmAuthor id="1291" name="MH" initials="authorId_601135204" lastIdx="0" clrIdx="1290"/>
  <p:cmAuthor id="1292" name="马云飞10014438" initials="马" lastIdx="0" clrIdx="1291"/>
  <p:cmAuthor id="1293" name="赵梦杰" initials="梦杰" lastIdx="0" clrIdx="1292"/>
  <p:cmAuthor id="1294" name="John" initials="J" lastIdx="0" clrIdx="1293"/>
  <p:cmAuthor id="1295" name="tgang" initials="TG" lastIdx="0" clrIdx="1294"/>
  <p:cmAuthor id="1296" name="10025093" initials="1" lastIdx="0" clrIdx="1295"/>
  <p:cmAuthor id="1297" name="国创" initials="国" lastIdx="0" clrIdx="1296"/>
  <p:cmAuthor id="1298" name="张 珲" initials="张" lastIdx="0" clrIdx="1297"/>
  <p:cmAuthor id="1299" name="YYT" initials="Y" lastIdx="0" clrIdx="1298"/>
  <p:cmAuthor id="1300" name="229" initials="2" lastIdx="0" clrIdx="1299"/>
  <p:cmAuthor id="1301" name="dtdream" initials="d" lastIdx="0" clrIdx="1300"/>
  <p:cmAuthor id="1302" name="李岚磊" initials="李" lastIdx="0" clrIdx="1301"/>
  <p:cmAuthor id="1303" name="王 辛端" initials="王" lastIdx="0" clrIdx="1302"/>
  <p:cmAuthor id="1304" name="张燕" initials="张" lastIdx="0" clrIdx="1303"/>
  <p:cmAuthor id="1305" name="dongxia" initials="d" lastIdx="0" clrIdx="1304"/>
  <p:cmAuthor id="1306" name="ChuPengfei" initials="CPF" lastIdx="0" clrIdx="1305"/>
  <p:cmAuthor id="1307" name="zhulin" initials="z" lastIdx="0" clrIdx="1306"/>
  <p:cmAuthor id="1308" name="59762" initials="5" lastIdx="0" clrIdx="1307"/>
  <p:cmAuthor id="1309" name="竹林" initials="竹" lastIdx="0" clrIdx="1308"/>
  <p:cmAuthor id="1310" name="王宇豪" initials="WYH" lastIdx="0" clrIdx="1309"/>
  <p:cmAuthor id="1311" name="fujing" initials="f" lastIdx="0" clrIdx="1310"/>
  <p:cmAuthor id="1312" name="Ann An" initials="AA" lastIdx="0" clrIdx="1311"/>
  <p:cmAuthor id="1313" name="张寒" initials="张" lastIdx="0" clrIdx="1312"/>
  <p:cmAuthor id="1314" name="彭 小猫" initials="彭" lastIdx="0" clrIdx="1313"/>
  <p:cmAuthor id="1315" name="chenghui" initials="c" lastIdx="0" clrIdx="1314"/>
  <p:cmAuthor id="1316" name="周 杰鑫" initials="周" lastIdx="0" clrIdx="1315"/>
  <p:cmAuthor id="1317" name="kun yang" initials="" lastIdx="0" clrIdx="1316"/>
  <p:cmAuthor id="1318" name="白云起" initials="白云起" lastIdx="0" clrIdx="1317"/>
  <p:cmAuthor id="1319" name="18511994914@163.com" initials="1" lastIdx="0" clrIdx="1318"/>
  <p:cmAuthor id="1320" name="Bao Yafei" initials="BY" lastIdx="0" clrIdx="1319"/>
  <p:cmAuthor id="1321" name="he zhirui" initials="hz" lastIdx="0" clrIdx="1320"/>
  <p:cmAuthor id="1322" name="xuhongli" initials="XHL" lastIdx="0" clrIdx="1321"/>
  <p:cmAuthor id="1323" name="伟哥" initials="伟哥" lastIdx="0" clrIdx="1322"/>
  <p:cmAuthor id="1324" name="刘 彦杰" initials="刘" lastIdx="0" clrIdx="1323"/>
  <p:cmAuthor id="1325" name="Windows User" initials="WU" lastIdx="0" clrIdx="1324"/>
  <p:cmAuthor id="1326" name="李璇" initials="李" lastIdx="0" clrIdx="1325"/>
  <p:cmAuthor id="1327" name="Nar.soul" initials="N" lastIdx="0" clrIdx="1326"/>
  <p:cmAuthor id="1328" name="粤" initials="粤" lastIdx="0" clrIdx="1327"/>
  <p:cmAuthor id="1329" name="季健雄" initials="季" lastIdx="0" clrIdx="1328"/>
  <p:cmAuthor id="1330" name="毛雪峰" initials="毛" lastIdx="0" clrIdx="1329"/>
  <p:cmAuthor id="1331" name="Lee Alwin" initials="LA" lastIdx="0" clrIdx="1330"/>
  <p:cmAuthor id="1332" name="rev2" initials="c" lastIdx="0" clrIdx="1331"/>
  <p:cmAuthor id="1333" name="赵欣" initials="zx" lastIdx="0" clrIdx="1332"/>
  <p:cmAuthor id="1334" name="10206899" initials="1" lastIdx="0" clrIdx="1333"/>
  <p:cmAuthor id="1335" name="10133177" initials="1" lastIdx="0" clrIdx="1334"/>
  <p:cmAuthor id="1336" name="ASUS" initials="A" lastIdx="0" clrIdx="1335"/>
  <p:cmAuthor id="1337" name="cjj" initials="c" lastIdx="0" clrIdx="1336"/>
  <p:cmAuthor id="1338" name="10319231" initials="1" lastIdx="0" clrIdx="1337"/>
  <p:cmAuthor id="1339" name="yuange" initials="y" lastIdx="0" clrIdx="1338"/>
  <p:cmAuthor id="1340" name="wmj" initials="w" lastIdx="0" clrIdx="1339"/>
  <p:cmAuthor id="1341" name="yhs" initials="y" lastIdx="0" clrIdx="1340"/>
  <p:cmAuthor id="1342" name="张卓豫" initials="zzy" lastIdx="0" clrIdx="1341"/>
  <p:cmAuthor id="1343" name="admin7" initials="l" lastIdx="0" clrIdx="1342"/>
  <p:cmAuthor id="1344" name="未知的使用者83" initials="" lastIdx="0" clrIdx="1343"/>
  <p:cmAuthor id="1345" name="Paul" initials="P" lastIdx="0" clrIdx="1344"/>
  <p:cmAuthor id="1346" name="未知的使用者84" initials="" lastIdx="0" clrIdx="1345"/>
  <p:cmAuthor id="1347" name="未知的使用者70" initials="" lastIdx="0" clrIdx="1346"/>
  <p:cmAuthor id="1348" name="未知的使用者40" initials="" lastIdx="0" clrIdx="1347"/>
  <p:cmAuthor id="1349" name="Ms.Zhang" initials="M" lastIdx="0" clrIdx="1348"/>
  <p:cmAuthor id="1350" name="未知的使用者87" initials="" lastIdx="0" clrIdx="1349"/>
  <p:cmAuthor id="1351" name="张雅欣" initials="张" lastIdx="0" clrIdx="1350"/>
  <p:cmAuthor id="1352" name="曾红" initials="" lastIdx="0" clrIdx="1351"/>
  <p:cmAuthor id="1353" name="未知的使用者90" initials="" lastIdx="0" clrIdx="1352"/>
  <p:cmAuthor id="1354" name="未知的使用者29" initials="" lastIdx="0" clrIdx="1353"/>
  <p:cmAuthor id="1355" name="未知的使用者91" initials="" lastIdx="0" clrIdx="1354"/>
  <p:cmAuthor id="1356" name="未知的使用者98" initials="" lastIdx="0" clrIdx="1355"/>
  <p:cmAuthor id="1357" name="gengxuan" initials="g" lastIdx="0" clrIdx="1356"/>
  <p:cmAuthor id="1358" name="未知的使用者113" initials="" lastIdx="0" clrIdx="1357"/>
  <p:cmAuthor id="1359" name="liucunri" initials="" lastIdx="0" clrIdx="1358"/>
  <p:cmAuthor id="1360" name="Unknown User48" initials="" lastIdx="0" clrIdx="1359"/>
  <p:cmAuthor id="1361" name="未知的使用者42" initials="" lastIdx="0" clrIdx="1360"/>
  <p:cmAuthor id="1362" name="Unknown User50" initials="" lastIdx="0" clrIdx="1361"/>
  <p:cmAuthor id="1363" name="未知的使用者120" initials="" lastIdx="0" clrIdx="1362"/>
  <p:cmAuthor id="1364" name="px" initials="" lastIdx="0" clrIdx="1363"/>
  <p:cmAuthor id="1365" name="Wurui (Ray)" initials="W(" lastIdx="0" clrIdx="1364"/>
  <p:cmAuthor id="1366" name="rbh" initials="r" lastIdx="0" clrIdx="1365"/>
  <p:cmAuthor id="1367" name="未知的使用者73" initials="" lastIdx="0" clrIdx="1366"/>
  <p:cmAuthor id="1368" name="未知的使用者24" initials="" lastIdx="0" clrIdx="1367"/>
  <p:cmAuthor id="1369" name="未知用户16" initials="" lastIdx="0" clrIdx="1368"/>
  <p:cmAuthor id="1370" name="Mary Feil-Jacobs" initials="" lastIdx="0" clrIdx="1369"/>
  <p:cmAuthor id="1371" name="LiuHui" initials="" lastIdx="0" clrIdx="1370"/>
  <p:cmAuthor id="1372" name="未知的使用者45" initials="" lastIdx="0" clrIdx="1371"/>
  <p:cmAuthor id="1373" name="马一杰" initials="马" lastIdx="0" clrIdx="1372"/>
  <p:cmAuthor id="1374" name="未知的使用者10" initials="" lastIdx="0" clrIdx="1373"/>
  <p:cmAuthor id="1375" name="未知的使用者93" initials="" lastIdx="0" clrIdx="1374"/>
  <p:cmAuthor id="1376" name="范作霖" initials="范" lastIdx="0" clrIdx="1375"/>
  <p:cmAuthor id="1377" name="LeeElva" initials="" lastIdx="0" clrIdx="1376"/>
  <p:cmAuthor id="1378" name="未知的使用者34" initials="" lastIdx="0" clrIdx="1377"/>
  <p:cmAuthor id="1379" name="未知的使用者115" initials="" lastIdx="0" clrIdx="1378"/>
  <p:cmAuthor id="1380" name="未知用户57" initials="" lastIdx="0" clrIdx="1379"/>
  <p:cmAuthor id="1381" name="yu 1" initials="y1" lastIdx="0" clrIdx="1380"/>
  <p:cmAuthor id="1382" name="刘" initials="刘" lastIdx="0" clrIdx="1381"/>
  <p:cmAuthor id="1383" name="Deanna Schuler (Bookey Consulting)" initials="" lastIdx="0" clrIdx="1382"/>
  <p:cmAuthor id="1384" name="未知的使用者57" initials="" lastIdx="0" clrIdx="1383"/>
  <p:cmAuthor id="1385" name="CNPC" initials="C" lastIdx="0" clrIdx="1384"/>
  <p:cmAuthor id="1386" name="未知的使用者16" initials="" lastIdx="0" clrIdx="1385"/>
  <p:cmAuthor id="1387" name="V" initials="V" lastIdx="0" clrIdx="1386"/>
  <p:cmAuthor id="1388" name="未知用户102" initials="" lastIdx="0" clrIdx="1387"/>
  <p:cmAuthor id="1389" name="maxine" initials="" lastIdx="0" clrIdx="1388"/>
  <p:cmAuthor id="1390" name="未知的使用者121" initials="" lastIdx="0" clrIdx="1389"/>
  <p:cmAuthor id="1391" name="未知的使用者12" initials="" lastIdx="0" clrIdx="1390"/>
  <p:cmAuthor id="1392" name="周元元" initials="" lastIdx="0" clrIdx="1391"/>
  <p:cmAuthor id="1393" name="未知的使用者27" initials="" lastIdx="0" clrIdx="1392"/>
  <p:cmAuthor id="1394" name="刘豹" initials="刘" lastIdx="0" clrIdx="1393"/>
  <p:cmAuthor id="1395" name="未知的使用者30" initials="" lastIdx="0" clrIdx="1394"/>
  <p:cmAuthor id="1396" name="未知的使用者53" initials="" lastIdx="0" clrIdx="1395"/>
  <p:cmAuthor id="1397" name="未知用户58" initials="" lastIdx="0" clrIdx="1396"/>
  <p:cmAuthor id="1398" name="未知的使用者25" initials="" lastIdx="0" clrIdx="1397"/>
  <p:cmAuthor id="1399" name="liupeng" initials="" lastIdx="0" clrIdx="1398"/>
  <p:cmAuthor id="1400" name="@" initials="@" lastIdx="0" clrIdx="1399"/>
  <p:cmAuthor id="1401" name="AbuSina" initials="" lastIdx="0" clrIdx="1400"/>
  <p:cmAuthor id="1402" name="hl sun" initials="" lastIdx="0" clrIdx="1401"/>
  <p:cmAuthor id="1403" name="未知的使用者94" initials="" lastIdx="0" clrIdx="1402"/>
  <p:cmAuthor id="1404" name="ma yanru" initials="my" lastIdx="0" clrIdx="1403"/>
  <p:cmAuthor id="1405" name="韩雨_UBvibq63" initials="authorId_353158055" lastIdx="0" clrIdx="1404"/>
  <p:cmAuthor id="1406" name="未知用户66" initials="" lastIdx="0" clrIdx="1405"/>
  <p:cmAuthor id="1407" name="罗志军" initials="Microsof" lastIdx="0" clrIdx="1406"/>
  <p:cmAuthor id="1408" name="赵培勋_3IVrI7J7" initials="authorId_965678369" lastIdx="0" clrIdx="1407"/>
  <p:cmAuthor id="1409" name="郑汝鸿" initials="郑" lastIdx="0" clrIdx="1408"/>
  <p:cmAuthor id="1410" name="施丽勤_uMzuu63y" initials="authorId_279398808" lastIdx="0" clrIdx="1409"/>
  <p:cmAuthor id="1411" name="周宏達JerryChou" initials="" lastIdx="0" clrIdx="1410"/>
  <p:cmAuthor id="1412" name="peng Terry" initials="pT" lastIdx="0" clrIdx="1411"/>
  <p:cmAuthor id="1413" name="邢辰凤" initials="邢" lastIdx="0" clrIdx="1412"/>
  <p:cmAuthor id="1414" name="海阔、天空" initials="海" lastIdx="0" clrIdx="1413"/>
  <p:cmAuthor id="1415" name="BlackHole" initials="B" lastIdx="0" clrIdx="1414"/>
  <p:cmAuthor id="1416" name="未知的使用者56" initials="" lastIdx="0" clrIdx="1415"/>
  <p:cmAuthor id="1417" name="未知用户46" initials="未" lastIdx="0" clrIdx="1416"/>
  <p:cmAuthor id="1418" name="未知用户59" initials="" lastIdx="0" clrIdx="1417"/>
  <p:cmAuthor id="1419" name="未知的使用者22" initials="" lastIdx="0" clrIdx="1418"/>
  <p:cmAuthor id="1420" name="未知的使用者103" initials="" lastIdx="0" clrIdx="1419"/>
  <p:cmAuthor id="1421" name="Wenwen" initials="" lastIdx="0" clrIdx="1420"/>
  <p:cmAuthor id="1422" name="未知的使用者117" initials="" lastIdx="0" clrIdx="1421"/>
  <p:cmAuthor id="1423" name="未知的使用者33" initials="" lastIdx="0" clrIdx="1422"/>
  <p:cmAuthor id="1424" name="未知的使用者28" initials="" lastIdx="0" clrIdx="1423"/>
  <p:cmAuthor id="1425" name="未知的使用者67" initials="" lastIdx="0" clrIdx="1424"/>
  <p:cmAuthor id="1426" name="未知的使用者46" initials="" lastIdx="0" clrIdx="1425"/>
  <p:cmAuthor id="1427" name="未知的使用者26" initials="" lastIdx="0" clrIdx="1426"/>
  <p:cmAuthor id="1428" name="未知的使用者9" initials="" lastIdx="0" clrIdx="1427"/>
  <p:cmAuthor id="1429" name="未知用户62" initials="" lastIdx="0" clrIdx="1428"/>
  <p:cmAuthor id="1430" name="不明使用者57" initials="" lastIdx="0" clrIdx="1429"/>
  <p:cmAuthor id="1431" name="未知的使用者110" initials="" lastIdx="0" clrIdx="1430"/>
  <p:cmAuthor id="1432" name="linyd" initials="" lastIdx="0" clrIdx="1431"/>
  <p:cmAuthor id="1433" name="mystic" initials="m" lastIdx="0" clrIdx="1432"/>
  <p:cmAuthor id="1434" name="未知的使用者68" initials="" lastIdx="0" clrIdx="1433"/>
  <p:cmAuthor id="1435" name="帅帅" initials="帅" lastIdx="0" clrIdx="1434"/>
  <p:cmAuthor id="1436" name="mm" initials="" lastIdx="0" clrIdx="1435"/>
  <p:cmAuthor id="1437" name="朱晓瑜" initials="" lastIdx="0" clrIdx="1436"/>
  <p:cmAuthor id="1438" name="不明使用者20" initials="" lastIdx="0" clrIdx="1437"/>
  <p:cmAuthor id="1439" name="未知用户82" initials="" lastIdx="0" clrIdx="1438"/>
  <p:cmAuthor id="1440" name="未知的使用者55" initials="" lastIdx="0" clrIdx="1439"/>
  <p:cmAuthor id="1441" name="未知的使用者111" initials="" lastIdx="0" clrIdx="1440"/>
  <p:cmAuthor id="1442" name="未知的使用者50" initials="" lastIdx="0" clrIdx="1441"/>
  <p:cmAuthor id="1443" name="未知的使用者11" initials="" lastIdx="0" clrIdx="1442"/>
  <p:cmAuthor id="1444" name="未知用户106" initials="未" lastIdx="0" clrIdx="1443"/>
  <p:cmAuthor id="1445" name="未知的使用者150" initials="未" lastIdx="0" clrIdx="1444"/>
  <p:cmAuthor id="1446" name="未知的使用者69" initials="" lastIdx="0" clrIdx="1445"/>
  <p:cmAuthor id="1447" name="未知的使用者112" initials="" lastIdx="0" clrIdx="1446"/>
  <p:cmAuthor id="1448" name="Kevin Hu" initials="" lastIdx="0" clrIdx="1447"/>
  <p:cmAuthor id="1449" name="宋远辉" initials="宋" lastIdx="0" clrIdx="1448"/>
  <p:cmAuthor id="1450" name="未知的使用者38" initials="" lastIdx="0" clrIdx="1449"/>
  <p:cmAuthor id="1451" name="唐可欣" initials="" lastIdx="0" clrIdx="1450"/>
  <p:cmAuthor id="1452" name="未知的使用者8" initials="" lastIdx="0" clrIdx="1451"/>
  <p:cmAuthor id="1453" name="不明使用者56" initials="" lastIdx="0" clrIdx="1452"/>
  <p:cmAuthor id="1454" name="P00035_jeremy" initials="" lastIdx="0" clrIdx="1453"/>
  <p:cmAuthor id="1455" name="Unknown User7" initials="" lastIdx="0" clrIdx="1454"/>
  <p:cmAuthor id="1456" name="未知的使用者41" initials="" lastIdx="0" clrIdx="1455"/>
  <p:cmAuthor id="1457" name="未知的使用者13" initials="" lastIdx="0" clrIdx="1456"/>
  <p:cmAuthor id="1458" name="djj" initials="" lastIdx="0" clrIdx="1457"/>
  <p:cmAuthor id="1459" name="郏 鹏" initials="郏" lastIdx="0" clrIdx="1458"/>
  <p:cmAuthor id="1460" name="郏鹏" initials="M" lastIdx="0" clrIdx="1459"/>
  <p:cmAuthor id="1461" name="不明使用者21" initials="" lastIdx="0" clrIdx="1460"/>
  <p:cmAuthor id="1462" name="YUMINGNJ" initials="" lastIdx="0" clrIdx="1461"/>
  <p:cmAuthor id="1463" name="未知的使用者52" initials="" lastIdx="0" clrIdx="1462"/>
  <p:cmAuthor id="1464" name="未知用户109" initials="" lastIdx="0" clrIdx="1463"/>
  <p:cmAuthor id="1465" name="Unknown User117" initials="U" lastIdx="0" clrIdx="1464"/>
  <p:cmAuthor id="1466" name="thomas" initials="" lastIdx="0" clrIdx="1465"/>
  <p:cmAuthor id="1467" name="未知的使用者3" initials="" lastIdx="0" clrIdx="1466"/>
  <p:cmAuthor id="1468" name="未知用户14" initials="" lastIdx="0" clrIdx="1467"/>
  <p:cmAuthor id="1469" name="Unknown User65" initials="U" lastIdx="0" clrIdx="1468"/>
  <p:cmAuthor id="1470" name="任斐" initials="任" lastIdx="0" clrIdx="1469"/>
  <p:cmAuthor id="1471" name="Jason Wang" initials="" lastIdx="0" clrIdx="1470"/>
  <p:cmAuthor id="1472" name="不明使用者18" initials="" lastIdx="0" clrIdx="1471"/>
  <p:cmAuthor id="1473" name="未知的使用者72" initials="" lastIdx="0" clrIdx="1472"/>
  <p:cmAuthor id="1474" name="未知的使用者48" initials="" lastIdx="0" clrIdx="1473"/>
  <p:cmAuthor id="1475" name="未知的使用者104" initials="" lastIdx="0" clrIdx="1474"/>
  <p:cmAuthor id="1476" name="未知用户60" initials="" lastIdx="0" clrIdx="1475"/>
  <p:cmAuthor id="1477" name="未知的使用者39" initials="未" lastIdx="0" clrIdx="1476"/>
  <p:cmAuthor id="1478" name="Shawna Strickland" initials="" lastIdx="0" clrIdx="1477"/>
  <p:cmAuthor id="1479" name="未知的使用者36" initials="" lastIdx="0" clrIdx="1478"/>
  <p:cmAuthor id="1480" name="Daniel Wuu" initials="" lastIdx="0" clrIdx="1479"/>
  <p:cmAuthor id="1481" name="未知用户56" initials="" lastIdx="0" clrIdx="1480"/>
  <p:cmAuthor id="1482" name="未知的使用者14" initials="" lastIdx="0" clrIdx="1481"/>
  <p:cmAuthor id="1483" name="Ashley Eberenz" initials="" lastIdx="0" clrIdx="1482"/>
  <p:cmAuthor id="1484" name="不明使用者19" initials="" lastIdx="0" clrIdx="1483"/>
  <p:cmAuthor id="1485" name="WPS_1678941670" initials="W" lastIdx="0" clrIdx="1484"/>
  <p:cmAuthor id="1486" name="qiantong" initials="" lastIdx="0" clrIdx="1485"/>
  <p:cmAuthor id="1487" name="未知的使用者74" initials="" lastIdx="0" clrIdx="1486"/>
  <p:cmAuthor id="1488" name="未知的使用者23" initials="" lastIdx="0" clrIdx="1487"/>
  <p:cmAuthor id="1489" name="未知的使用者1" initials="" lastIdx="0" clrIdx="1488"/>
  <p:cmAuthor id="1490" name="116304" initials="" lastIdx="0" clrIdx="1489"/>
  <p:cmAuthor id="1491" name="R affer" initials="" lastIdx="0" clrIdx="1490"/>
  <p:cmAuthor id="1492" name="qihua-DCMS" initials="" lastIdx="0" clrIdx="1491"/>
  <p:cmAuthor id="1493" name="未知用户55" initials="" lastIdx="0" clrIdx="1492"/>
  <p:cmAuthor id="1494" name="未知的使用者95" initials="" lastIdx="0" clrIdx="1493"/>
  <p:cmAuthor id="1495" name="未知的使用者32" initials="" lastIdx="0" clrIdx="1494"/>
  <p:cmAuthor id="1496" name="未知的使用者49" initials="" lastIdx="0" clrIdx="1495"/>
  <p:cmAuthor id="1497" name="Unknown User26" initials="U" lastIdx="0" clrIdx="1496"/>
  <p:cmAuthor id="1498" name="WPS_1653443306" initials="W" lastIdx="0" clrIdx="1497"/>
  <p:cmAuthor id="1499" name="yuexuejun" initials="" lastIdx="0" clrIdx="1498"/>
  <p:cmAuthor id="1500" name="未知的使用者71" initials="" lastIdx="0" clrIdx="1499"/>
  <p:cmAuthor id="1501" name="未知的使用者105" initials="" lastIdx="0" clrIdx="1500"/>
  <p:cmAuthor id="1502" name="Unknown User70" initials="" lastIdx="0" clrIdx="1501"/>
  <p:cmAuthor id="1503" name="clinchen" initials="" lastIdx="0" clrIdx="1502"/>
  <p:cmAuthor id="1504" name="hanjuncompany" initials="" lastIdx="0" clrIdx="1503"/>
  <p:cmAuthor id="1505" name="未知的使用者64" initials="" lastIdx="0" clrIdx="1504"/>
  <p:cmAuthor id="1506" name="未知的使用者47" initials="" lastIdx="0" clrIdx="1505"/>
  <p:cmAuthor id="1507" name="未知的使用者60" initials="" lastIdx="0" clrIdx="1506"/>
  <p:cmAuthor id="1508" name="未知的使用者59" initials="" lastIdx="0" clrIdx="1507"/>
  <p:cmAuthor id="1509" name="未知的使用者66" initials="" lastIdx="0" clrIdx="1508"/>
  <p:cmAuthor id="1510" name="未知的使用者106" initials="" lastIdx="0" clrIdx="1509"/>
  <p:cmAuthor id="1511" name="未知的使用者108" initials="" lastIdx="0" clrIdx="1510"/>
  <p:cmAuthor id="1512" name="未知的使用者116" initials="" lastIdx="0" clrIdx="1511"/>
  <p:cmAuthor id="1513" name="未知的使用者128" initials="" lastIdx="0" clrIdx="1512"/>
  <p:cmAuthor id="1514" name="未知用户149" initials="" lastIdx="0" clrIdx="1513"/>
  <p:cmAuthor id="1515" name="zahur" initials="z" lastIdx="0" clrIdx="1514"/>
  <p:cmAuthor id="1516" name="孙军_a2y2UrEv" initials="authorId_524475945" lastIdx="0" clrIdx="1515"/>
  <p:cmAuthor id="1517" name="戴 清泺" initials="戴" lastIdx="0" clrIdx="1516"/>
  <p:cmAuthor id="1518" name="NN" initials="NN" lastIdx="0" clrIdx="1517"/>
  <p:cmAuthor id="1519" name="he wen" initials="hw" lastIdx="0" clrIdx="1518"/>
  <p:cmAuthor id="1520" name="于洪宇_rMRzAZZ7" initials="authorId_260024" lastIdx="0" clrIdx="1519"/>
  <p:cmAuthor id="1521" name="未知用户73" initials="" lastIdx="0" clrIdx="1520"/>
  <p:cmAuthor id="1522" name="山河念远" initials="山" lastIdx="0" clrIdx="1521"/>
  <p:cmAuthor id="1523" name="未知用户29" initials="" lastIdx="0" clrIdx="1522"/>
  <p:cmAuthor id="1524" name="未知的使用者109" initials="" lastIdx="0" clrIdx="1523"/>
  <p:cmAuthor id="1525" name="未知用户91" initials="" lastIdx="0" clrIdx="1524"/>
  <p:cmAuthor id="1526" name="未知用户79" initials="" lastIdx="0" clrIdx="1525"/>
  <p:cmAuthor id="1527" name="崔彤欣" initials="崔" lastIdx="0" clrIdx="1526"/>
  <p:cmAuthor id="1528" name="ethel" initials="e" lastIdx="0" clrIdx="1527"/>
  <p:cmAuthor id="1529" name="多丽娅" initials="多" lastIdx="0" clrIdx="1528"/>
  <p:cmAuthor id="1530" name="25720" initials="2" lastIdx="0" clrIdx="1529"/>
  <p:cmAuthor id="1531" name="周华慧" initials="周" lastIdx="0" clrIdx="1530"/>
  <p:cmAuthor id="1532" name="胡萍" initials="胡" lastIdx="0" clrIdx="1531"/>
  <p:cmAuthor id="1533" name="tianyuan@cmhi.cmcc" initials="tianyuan@cmhi.cmcc" lastIdx="0" clrIdx="1532"/>
  <p:cmAuthor id="1534" name="24525" initials="2" lastIdx="0" clrIdx="1533"/>
  <p:cmAuthor id="1535" name="CHENBIN" initials="C" lastIdx="0" clrIdx="1534"/>
  <p:cmAuthor id="1536" name="挚爱一生♥祺" initials="挚" lastIdx="0" clrIdx="1535"/>
  <p:cmAuthor id="1537" name="liutAO" initials="l" lastIdx="0" clrIdx="1536"/>
  <p:cmAuthor id="1538" name="玉柱 姚" initials="玉" lastIdx="0" clrIdx="1537"/>
  <p:cmAuthor id="1539" name="周文_R7fau6bq" initials="周" lastIdx="0" clrIdx="1538"/>
  <p:cmAuthor id="1540" name="Mjf" initials="M" lastIdx="0" clrIdx="1539"/>
  <p:cmAuthor id="1541" name="王岚晟" initials="王" lastIdx="0" clrIdx="1540"/>
  <p:cmAuthor id="1542" name="温文波" initials="温" lastIdx="0" clrIdx="1541"/>
  <p:cmAuthor id="1543" name="zhoupeng" initials="z" lastIdx="0" clrIdx="1542"/>
  <p:cmAuthor id="1544" name="xiaohan" initials="x" lastIdx="0" clrIdx="1543"/>
  <p:cmAuthor id="1545" name="kylin" initials="k" lastIdx="0" clrIdx="1544"/>
  <p:cmAuthor id="1546" name="金雯茜" initials="金" lastIdx="0" clrIdx="1545"/>
  <p:cmAuthor id="1547" name="熊俊阳_JVbuRZzi" initials="authorId_369679057" lastIdx="0" clrIdx="1546"/>
  <p:cmAuthor id="1548" name="于晖_zy632mY3" initials="authorId_387757713" lastIdx="0" clrIdx="1547"/>
  <p:cmAuthor id="1549" name="金宇峰_BfyebuM3" initials="authorId_1008746-10054633" lastIdx="0" clrIdx="1548"/>
  <p:cmAuthor id="1550" name="Mr.Wu" initials="M" lastIdx="0" clrIdx="1549"/>
  <p:cmAuthor id="1551" name="jiaru tiger" initials="jt" lastIdx="0" clrIdx="1550"/>
  <p:cmAuthor id="1552" name="程臻_JzeuN3qQ" initials="authorId_2702193" lastIdx="0" clrIdx="1551"/>
  <p:cmAuthor id="1553" name="Jancy_He" initials="J" lastIdx="0" clrIdx="1552"/>
  <p:cmAuthor id="1554" name="陈睿君" initials="ruijun" lastIdx="0" clrIdx="1553"/>
  <p:cmAuthor id="1555" name="xiaming song" initials="xs" lastIdx="0" clrIdx="1554"/>
  <p:cmAuthor id="1556" name="Rensheng Tang" initials="RT" lastIdx="0" clrIdx="1555"/>
  <p:cmAuthor id="1557" name="林茂" initials="" lastIdx="0" clrIdx="1556"/>
  <p:cmAuthor id="1558" name="little star" initials="l" lastIdx="0" clrIdx="1557"/>
  <p:cmAuthor id="1559" name="jusfoun" initials="j" lastIdx="0" clrIdx="1558"/>
  <p:cmAuthor id="1560" name="张 敏" initials="张" lastIdx="0" clrIdx="1559"/>
  <p:cmAuthor id="1561" name="Thomas Zeng" initials="TZ" lastIdx="0" clrIdx="1560"/>
  <p:cmAuthor id="1562" name="陶然" initials="陶然 [7]" lastIdx="0" clrIdx="1561"/>
  <p:cmAuthor id="1563" name="张鼎" initials="张鼎" lastIdx="0" clrIdx="1562"/>
  <p:cmAuthor id="1564" name="张斌" initials="张" lastIdx="0" clrIdx="1563"/>
  <p:cmAuthor id="1565" name="k1897" initials="k" lastIdx="0" clrIdx="1564"/>
  <p:cmAuthor id="1566" name="qiao" initials="q" lastIdx="0" clrIdx="1565"/>
  <p:cmAuthor id="1567" name="xuan" initials="x" lastIdx="0" clrIdx="1566"/>
  <p:cmAuthor id="1568" name="zx" initials="z" lastIdx="0" clrIdx="1567"/>
  <p:cmAuthor id="1569" name="10073006" initials="1" lastIdx="0" clrIdx="1568"/>
  <p:cmAuthor id="1570" name="10033224" initials="1" lastIdx="0" clrIdx="1569"/>
  <p:cmAuthor id="1571" name="王 曦" initials="王" lastIdx="0" clrIdx="1570"/>
  <p:cmAuthor id="1572" name="Aqf" initials="A" lastIdx="0" clrIdx="1571"/>
  <p:cmAuthor id="1573" name="关全全10258021" initials="关" lastIdx="0" clrIdx="1572"/>
  <p:cmAuthor id="1574" name="woshimaomaoli" initials="w" lastIdx="0" clrIdx="1573"/>
  <p:cmAuthor id="1575" name="10293" initials="1" lastIdx="0" clrIdx="1574"/>
  <p:cmAuthor id="1576" name="huangjin" initials="h" lastIdx="0" clrIdx="1575"/>
  <p:cmAuthor id="1577" name="10054047" initials="1" lastIdx="0" clrIdx="1576"/>
  <p:cmAuthor id="1578" name="李庆文" initials="李" lastIdx="0" clrIdx="1577"/>
  <p:cmAuthor id="1579" name="C风信子C" initials="C" lastIdx="0" clrIdx="1578"/>
  <p:cmAuthor id="1580" name="chenhx" initials="c" lastIdx="0" clrIdx="1579"/>
  <p:cmAuthor id="1581" name="张惊雷" initials="张" lastIdx="0" clrIdx="1580"/>
  <p:cmAuthor id="1582" name="张梦瑶" initials="张" lastIdx="0" clrIdx="1581"/>
  <p:cmAuthor id="1583" name="XiHu木鱼" initials="X" lastIdx="0" clrIdx="1582"/>
  <p:cmAuthor id="1584" name="贾胜峰" initials="贾" lastIdx="0" clrIdx="1583"/>
  <p:cmAuthor id="1585" name="wyao8" initials="w" lastIdx="0" clrIdx="1584"/>
  <p:cmAuthor id="1586" name="未知的使用者82" initials="" lastIdx="0" clrIdx="1585"/>
  <p:cmAuthor id="1587" name="李雪清" initials="李" lastIdx="0" clrIdx="1586"/>
  <p:cmAuthor id="1588" name="牛滢滢" initials="牛" lastIdx="0" clrIdx="1587"/>
  <p:cmAuthor id="1589" name="谢婧" initials="谢" lastIdx="0" clrIdx="1588"/>
  <p:cmAuthor id="1590" name="李金金" initials="李金金" lastIdx="0" clrIdx="1589"/>
  <p:cmAuthor id="1591" name="Ling" initials="L" lastIdx="0" clrIdx="1590"/>
  <p:cmAuthor id="1592" name="CHRISYU" initials="" lastIdx="0" clrIdx="1591"/>
  <p:cmAuthor id="1593" name="t18221" initials="t" lastIdx="0" clrIdx="1592"/>
  <p:cmAuthor id="1594" name="office" initials="o" lastIdx="0" clrIdx="1593"/>
  <p:cmAuthor id="1595" name="周姣" initials="1" lastIdx="0" clrIdx="1594"/>
  <p:cmAuthor id="1596" name="成国强_6jqyBN7N" initials="authorId_8148959" lastIdx="0" clrIdx="1595"/>
  <p:cmAuthor id="1597" name="翔 张" initials="翔" lastIdx="0" clrIdx="1596"/>
  <p:cmAuthor id="1598" name="王竑达" initials="王竑达" lastIdx="0" clrIdx="1597"/>
  <p:cmAuthor id="1599" name="刘春杰10244342" initials="刘春杰10244342" lastIdx="0" clrIdx="1598"/>
  <p:cmAuthor id="1600" name="li hui" initials="lh" lastIdx="0" clrIdx="1599"/>
  <p:cmAuthor id="1601" name="徐琳00159163" initials="徐琳00159163" lastIdx="0" clrIdx="1600"/>
  <p:cmAuthor id="1602" name="执着" initials="authorId_249023083" lastIdx="0" clrIdx="1601"/>
  <p:cmAuthor id="1603" name="fangz zheng" initials="fz" lastIdx="0" clrIdx="1602"/>
  <p:cmAuthor id="1604" name="刘乾勇" initials="" lastIdx="0" clrIdx="1603"/>
  <p:cmAuthor id="1605" name="唐仲志" initials="" lastIdx="0" clrIdx="1604"/>
  <p:cmAuthor id="1606" name="zpz" initials="" lastIdx="0" clrIdx="1605"/>
  <p:cmAuthor id="1607" name="马博" initials="" lastIdx="0" clrIdx="1606"/>
  <p:cmAuthor id="1608" name="邵阳" initials="" lastIdx="0" clrIdx="1607"/>
  <p:cmAuthor id="1609" name="舟瑶" initials="" lastIdx="0" clrIdx="1608"/>
  <p:cmAuthor id="1610" name="DIMAN ZHU" initials="" lastIdx="0" clrIdx="1609"/>
  <p:cmAuthor id="1611" name="XIONGJING" initials="X" lastIdx="0" clrIdx="1610"/>
  <p:cmAuthor id="1612" name="acer" initials="a" lastIdx="0" clrIdx="1611"/>
  <p:cmAuthor id="1613" name="tuj" initials="t" lastIdx="0" clrIdx="1612"/>
  <p:cmAuthor id="1614" name="windows" initials="w" lastIdx="0" clrIdx="1613"/>
  <p:cmAuthor id="1615" name="mi" initials="m" lastIdx="0" clrIdx="1614"/>
  <p:cmAuthor id="1616" name="Macco Qu" initials="MQ" lastIdx="0" clrIdx="1615"/>
  <p:cmAuthor id="1617" name="langlongya" initials="l" lastIdx="0" clrIdx="1616"/>
  <p:cmAuthor id="1618" name="jsnjpeace" initials="j" lastIdx="0" clrIdx="1617"/>
  <p:cmAuthor id="1619" name="黎 健" initials="黎" lastIdx="0" clrIdx="1618"/>
  <p:cmAuthor id="1620" name="fengxue326" initials="f" lastIdx="0" clrIdx="1619"/>
  <p:cmAuthor id="1621" name="李博" initials="李博" lastIdx="0" clrIdx="1620"/>
  <p:cmAuthor id="1622" name="sun" initials="s" lastIdx="0" clrIdx="1621"/>
  <p:cmAuthor id="1623" name="wangw" initials="w" lastIdx="0" clrIdx="1622"/>
  <p:cmAuthor id="1624" name="李 雅雯" initials="李" lastIdx="0" clrIdx="1623"/>
  <p:cmAuthor id="1625" name="夏 栋" initials="夏" lastIdx="0" clrIdx="1624"/>
  <p:cmAuthor id="1626" name="ju wentao" initials="jw" lastIdx="0" clrIdx="1625"/>
  <p:cmAuthor id="1627" name="wangguohua" initials="w" lastIdx="0" clrIdx="1626"/>
  <p:cmAuthor id="1628" name="jihua zhang" initials="jz" lastIdx="0" clrIdx="1627"/>
  <p:cmAuthor id="1629" name="布 丁" initials="布" lastIdx="0" clrIdx="1628"/>
  <p:cmAuthor id="1630" name="张俊凯" initials="H" lastIdx="0" clrIdx="1629"/>
  <p:cmAuthor id="1631" name="冰扎凉" initials="冰" lastIdx="0" clrIdx="1630"/>
  <p:cmAuthor id="1632" name="lichl" initials="l" lastIdx="0" clrIdx="1631"/>
  <p:cmAuthor id="1633" name="李 闽川" initials="李" lastIdx="0" clrIdx="1632"/>
  <p:cmAuthor id="1634" name="28213" initials="2" lastIdx="0" clrIdx="1633"/>
  <p:cmAuthor id="1635" name="啦啦啦！" initials="啦" lastIdx="0" clrIdx="1634"/>
  <p:cmAuthor id="1636" name="conni" initials="c" lastIdx="0" clrIdx="1635"/>
  <p:cmAuthor id="1637" name="文广 裴" initials="文裴" lastIdx="0" clrIdx="1636"/>
  <p:cmAuthor id="1638" name="我也太菜嘹" initials="authorId_677276549" lastIdx="0" clrIdx="1637"/>
  <p:cmAuthor id="1639" name="liuxiaofan" initials="l" lastIdx="0" clrIdx="1638"/>
  <p:cmAuthor id="1640" name="陈¥$" initials="陈" lastIdx="0" clrIdx="1639"/>
  <p:cmAuthor id="1641" name="tzh" initials="t" lastIdx="0" clrIdx="1640"/>
  <p:cmAuthor id="1642" name="chenhj" initials="c" lastIdx="0" clrIdx="1641"/>
  <p:cmAuthor id="1643" name="张兰" initials="张" lastIdx="0" clrIdx="1642"/>
  <p:cmAuthor id="1644" name="zlg" initials="z" lastIdx="0" clrIdx="1643"/>
  <p:cmAuthor id="1645" name="KSOGZD21000128" initials="K" lastIdx="0" clrIdx="1644"/>
  <p:cmAuthor id="1646" name="晓珣" initials="晓" lastIdx="0" clrIdx="1645"/>
  <p:cmAuthor id="1647" name="沐色 微凉" initials="沐色" lastIdx="0" clrIdx="1646"/>
  <p:cmAuthor id="1648" name="徐思" initials="徐" lastIdx="0" clrIdx="1647"/>
  <p:cmAuthor id="1649" name="info" initials="i" lastIdx="0" clrIdx="1648"/>
  <p:cmAuthor id="1650" name="dong yi" initials="dy" lastIdx="0" clrIdx="1649"/>
  <p:cmAuthor id="1651" name="壮 崔" initials="壮" lastIdx="0" clrIdx="1650"/>
  <p:cmAuthor id="1652" name="于三人" initials="xu" lastIdx="0" clrIdx="1651"/>
  <p:cmAuthor id="1653" name="shenweiyuan" initials="s" lastIdx="0" clrIdx="1652"/>
  <p:cmAuthor id="1654" name="CWL" initials="C" lastIdx="0" clrIdx="1653"/>
  <p:cmAuthor id="1655" name="zhongkui" initials="z" lastIdx="0" clrIdx="1654"/>
  <p:cmAuthor id="1656" name="brains" initials="b" lastIdx="0" clrIdx="1655"/>
  <p:cmAuthor id="1657" name="skyjoyo" initials="s" lastIdx="0" clrIdx="1656"/>
  <p:cmAuthor id="1658" name="Luffy" initials="L" lastIdx="0" clrIdx="1657"/>
  <p:cmAuthor id="1659" name="Yao, Wei" initials="" lastIdx="0" clrIdx="1658"/>
  <p:cmAuthor id="1660" name="宋 雪贤" initials="宋" lastIdx="0" clrIdx="1659"/>
  <p:cmAuthor id="1661" name="yu qiao" initials="y" lastIdx="0" clrIdx="1660"/>
  <p:cmAuthor id="1662" name="FtpDown" initials="F" lastIdx="0" clrIdx="1661"/>
  <p:cmAuthor id="1663" name="Zhan, Grace Haiting" initials="Z" lastIdx="0" clrIdx="1662"/>
  <p:cmAuthor id="1664" name="ysophie" initials="y" lastIdx="0" clrIdx="1663"/>
  <p:cmAuthor id="1665" name="Ti, Sarah Bowen" initials="T" lastIdx="0" clrIdx="1664"/>
  <p:cmAuthor id="1666" name="Lin, Mantong" initials="L" lastIdx="0" clrIdx="1665"/>
  <p:cmAuthor id="1667" name="严婕" initials="严" lastIdx="0" clrIdx="1666"/>
  <p:cmAuthor id="1668" name="deng" initials="d" lastIdx="0" clrIdx="1667"/>
  <p:cmAuthor id="1669" name="GuyDeng" initials="G" lastIdx="0" clrIdx="1668"/>
  <p:cmAuthor id="1670" name="哈哈" initials="哈" lastIdx="0" clrIdx="1669"/>
  <p:cmAuthor id="1671" name="Perry" initials="P" lastIdx="0" clrIdx="1670"/>
  <p:cmAuthor id="1672" name="ViolaLee" initials="V" lastIdx="0" clrIdx="1671"/>
  <p:cmAuthor id="1673" name="Xuliang NIU" initials="X" lastIdx="0" clrIdx="1672"/>
  <p:cmAuthor id="1674" name="Fan Isaac" initials="F" lastIdx="0" clrIdx="1673"/>
  <p:cmAuthor id="1675" name="wangshuangli" initials="w" lastIdx="0" clrIdx="1674"/>
  <p:cmAuthor id="1676" name="wangxiaohai" initials="w" lastIdx="0" clrIdx="1675"/>
  <p:cmAuthor id="1677" name="liu qiaobo" initials="lq" lastIdx="0" clrIdx="1676"/>
  <p:cmAuthor id="1678" name="liutiantian" initials="l" lastIdx="0" clrIdx="1677"/>
  <p:cmAuthor id="1679" name="sgcc" initials="101_dongdong-jia" lastIdx="0" clrIdx="1678"/>
  <p:cmAuthor id="1680" name="SPIC" initials="S" lastIdx="0" clrIdx="1679"/>
  <p:cmAuthor id="1681" name="孙永霞" initials="孙" lastIdx="0" clrIdx="1680"/>
  <p:cmAuthor id="1682" name="liuchenyang" initials="l" lastIdx="0" clrIdx="1681"/>
  <p:cmAuthor id="1683" name="lihui" initials="l" lastIdx="0" clrIdx="1682"/>
  <p:cmAuthor id="1684" name="范浩" initials="FanHao" lastIdx="0" clrIdx="1683"/>
  <p:cmAuthor id="1685" name="高 芳" initials="高" lastIdx="0" clrIdx="1684"/>
  <p:cmAuthor id="1686" name="ygsoft" initials="YG" lastIdx="0" clrIdx="1685"/>
  <p:cmAuthor id="1687" name="胡昌洪" initials="HCH" lastIdx="0" clrIdx="1686"/>
  <p:cmAuthor id="1688" name="ggit" initials="g" lastIdx="0" clrIdx="1687"/>
  <p:cmAuthor id="1689" name="Zhang Nathan" initials="ZN" lastIdx="0" clrIdx="1688"/>
  <p:cmAuthor id="1690" name="sherry lee" initials="s" lastIdx="0" clrIdx="1689"/>
  <p:cmAuthor id="1691" name="liguodong3" initials="l" lastIdx="0" clrIdx="1690"/>
  <p:cmAuthor id="1692" name="wtx" initials="wtx" lastIdx="0" clrIdx="1691"/>
  <p:cmAuthor id="1693" name="shi" initials="s" lastIdx="0" clrIdx="1692"/>
  <p:cmAuthor id="1694" name="王晓乐" initials="王" lastIdx="0" clrIdx="1693"/>
  <p:cmAuthor id="1695" name="yezi" initials="y" lastIdx="0" clrIdx="1694"/>
  <p:cmAuthor id="1696" name="陈俊奕" initials="陈" lastIdx="0" clrIdx="1695"/>
  <p:cmAuthor id="1697" name="binhui zhou" initials="bz" lastIdx="0" clrIdx="1696"/>
  <p:cmAuthor id="1698" name="杨素雯" initials="杨" lastIdx="0" clrIdx="1697"/>
  <p:cmAuthor id="1699" name="jing-xu" initials="j" lastIdx="0" clrIdx="1698"/>
  <p:cmAuthor id="1700" name="Zz" initials="Z" lastIdx="0" clrIdx="1699"/>
  <p:cmAuthor id="1701" name="mingminren@163.com" initials="m" lastIdx="0" clrIdx="1700"/>
  <p:cmAuthor id="1702" name="indexvc" initials="i" lastIdx="0" clrIdx="1701"/>
  <p:cmAuthor id="1703" name="ke qu" initials="kq" lastIdx="0" clrIdx="1702"/>
  <p:cmAuthor id="1704" name="gao'chang'kuan" initials="g" lastIdx="0" clrIdx="1703"/>
  <p:cmAuthor id="1705" name="曲悠" initials="U" lastIdx="0" clrIdx="1704"/>
  <p:cmAuthor id="1706" name="wenhui" initials="w" lastIdx="0" clrIdx="1705"/>
  <p:cmAuthor id="1707" name="Bian Yixiong" initials="BY" lastIdx="0" clrIdx="1706"/>
  <p:cmAuthor id="1708" name="yuanguiying" initials="y" lastIdx="0" clrIdx="1707"/>
  <p:cmAuthor id="1709" name="mac-wk" initials="m" lastIdx="0" clrIdx="1708"/>
  <p:cmAuthor id="1710" name="Wong G" initials="WG" lastIdx="0" clrIdx="1709"/>
  <p:cmAuthor id="1711" name="Colin" initials="C" lastIdx="0" clrIdx="1710"/>
  <p:cmAuthor id="1712" name="陈霖" initials="l" lastIdx="0" clrIdx="1711"/>
  <p:cmAuthor id="1713" name="zhang yong" initials="zy" lastIdx="0" clrIdx="1712"/>
  <p:cmAuthor id="1714" name="方明" initials="方" lastIdx="0" clrIdx="1713"/>
  <p:cmAuthor id="1715" name="雨林木风" initials="雨" lastIdx="0" clrIdx="1714"/>
  <p:cmAuthor id="1716" name="方 明" initials="方" lastIdx="0" clrIdx="1715"/>
  <p:cmAuthor id="1717" name="张洁01-lhq" initials="张" lastIdx="0" clrIdx="1716"/>
  <p:cmAuthor id="1718" name="Liu, Hugo H.G. (SH/MC)" initials="LHH(" lastIdx="0" clrIdx="1717"/>
  <p:cmAuthor id="1719" name="池依曼" initials="池" lastIdx="0" clrIdx="1718"/>
  <p:cmAuthor id="1720" name="何 思怡" initials="何" lastIdx="0" clrIdx="1719"/>
  <p:cmAuthor id="1721" name="Li, Cynthia Q.X. (SH/MC)" initials="L" lastIdx="0" clrIdx="1720"/>
  <p:cmAuthor id="1722" name="刘奕明" initials="c" lastIdx="0" clrIdx="1721"/>
  <p:cmAuthor id="1723" name="王畅" initials="W用" lastIdx="0" clrIdx="1722"/>
  <p:cmAuthor id="1724" name="李国圣" initials="lgs" lastIdx="0" clrIdx="1723"/>
  <p:cmAuthor id="1725" name="Fu Xuan" initials="FX" lastIdx="0" clrIdx="1724"/>
  <p:cmAuthor id="1726" name="亚运 曹" initials="亚" lastIdx="0" clrIdx="1725"/>
  <p:cmAuthor id="1727" name="政府版用户" initials="政府版用户" lastIdx="0" clrIdx="1726"/>
  <p:cmAuthor id="1728" name="孙雨琛" initials="孙" lastIdx="0" clrIdx="1727"/>
  <p:cmAuthor id="1729" name="孙 佳明" initials="孙" lastIdx="0" clrIdx="1728"/>
  <p:cmAuthor id="1730" name="Lara" initials="L" lastIdx="0" clrIdx="1729"/>
  <p:cmAuthor id="1731" name="富德生命人寿" initials="富" lastIdx="0" clrIdx="1730"/>
  <p:cmAuthor id="1732" name="lara" initials="l" lastIdx="0" clrIdx="1731"/>
  <p:cmAuthor id="1733" name="袁缘" initials="袁" lastIdx="0" clrIdx="1732"/>
  <p:cmAuthor id="1734" name="燕辉" initials="S" lastIdx="0" clrIdx="1733"/>
  <p:cmAuthor id="1735" name="Jorden" initials="J" lastIdx="0" clrIdx="1734"/>
  <p:cmAuthor id="1736" name="Fang Aaron" initials="FA" lastIdx="0" clrIdx="1735"/>
  <p:cmAuthor id="1737" name="余鸣峰" initials="余" lastIdx="0" clrIdx="1736"/>
  <p:cmAuthor id="1738" name="刘清" initials="刘" lastIdx="0" clrIdx="1737"/>
  <p:cmAuthor id="1739" name="lijinyin" initials="l" lastIdx="0" clrIdx="1738"/>
  <p:cmAuthor id="1740" name="刘泓晖" initials="刘" lastIdx="0" clrIdx="1739"/>
  <p:cmAuthor id="1741" name="晶 王" initials="晶王" lastIdx="0" clrIdx="1740"/>
  <p:cmAuthor id="1742" name="xzxl78680" initials="x" lastIdx="0" clrIdx="1741"/>
  <p:cmAuthor id="1743" name="杨文杰" initials="杨" lastIdx="0" clrIdx="1742"/>
  <p:cmAuthor id="1744" name="吴琦" initials="吴" lastIdx="0" clrIdx="1743"/>
  <p:cmAuthor id="1745" name="元鹏 王" initials="元" lastIdx="0" clrIdx="1744"/>
  <p:cmAuthor id="1746" name="赵成文" initials="赵" lastIdx="0" clrIdx="1745"/>
  <p:cmAuthor id="1747" name="席琛" initials="" lastIdx="0" clrIdx="1746"/>
  <p:cmAuthor id="1748" name="W JZ" initials="WJ" lastIdx="0" clrIdx="1747"/>
  <p:cmAuthor id="1749" name="刘晶晶(科技)" initials="刘晶晶(科技)" lastIdx="0" clrIdx="1748"/>
  <p:cmAuthor id="1750" name="Fengsiyu" initials="F" lastIdx="0" clrIdx="1749"/>
  <p:cmAuthor id="1751" name="yangwf" initials="y" lastIdx="0" clrIdx="1750"/>
  <p:cmAuthor id="1752" name="王娟" initials="1" lastIdx="0" clrIdx="1751"/>
  <p:cmAuthor id="1753" name="姚琳" initials="姚" lastIdx="0" clrIdx="1752"/>
  <p:cmAuthor id="1754" name="hxw" initials="h" lastIdx="0" clrIdx="1753"/>
  <p:cmAuthor id="1755" name="chen" initials="c" lastIdx="0" clrIdx="1754"/>
  <p:cmAuthor id="1756" name="黄珂10009187" initials="黄珂10009187" lastIdx="0" clrIdx="1755"/>
  <p:cmAuthor id="1757" name="张 雨桐" initials="张" lastIdx="0" clrIdx="1756"/>
  <p:cmAuthor id="1758" name="15424" initials="1" lastIdx="0" clrIdx="1757"/>
  <p:cmAuthor id="1759" name="Wei Wang" initials="WW" lastIdx="0" clrIdx="1758"/>
  <p:cmAuthor id="1760" name="王伟" initials="" lastIdx="0" clrIdx="1759"/>
  <p:cmAuthor id="1761" name="姜亚荣" initials="" lastIdx="0" clrIdx="1760"/>
  <p:cmAuthor id="1762" name="xiaoxuan Zeng" initials="x" lastIdx="0" clrIdx="1761"/>
  <p:cmAuthor id="1763" name="杨晶" initials="" lastIdx="0" clrIdx="1762"/>
  <p:cmAuthor id="1764" name="马静" initials="" lastIdx="0" clrIdx="1763"/>
  <p:cmAuthor id="1765" name="刘艳龙" initials="" lastIdx="0" clrIdx="1764"/>
  <p:cmAuthor id="1766" name="李天骄" initials="" lastIdx="0" clrIdx="1765"/>
  <p:cmAuthor id="1767" name="chunsong_hu" initials="" lastIdx="0" clrIdx="1766"/>
  <p:cmAuthor id="1768" name="张杰" initials="" lastIdx="0" clrIdx="1767"/>
  <p:cmAuthor id="1769" name="杨艳霞" initials="" lastIdx="0" clrIdx="1768"/>
  <p:cmAuthor id="1770" name="rq fan" initials="" lastIdx="0" clrIdx="1769"/>
  <p:cmAuthor id="1771" name="李永欣" initials="" lastIdx="0" clrIdx="1770"/>
  <p:cmAuthor id="1772" name="宋俭" initials="" lastIdx="0" clrIdx="1771"/>
  <p:cmAuthor id="1773" name="许弘扬" initials="" lastIdx="0" clrIdx="1772"/>
  <p:cmAuthor id="1774" name="刘莹" initials="刘" lastIdx="0" clrIdx="1773"/>
  <p:cmAuthor id="1775" name="郝崇" initials="" lastIdx="0" clrIdx="1774"/>
  <p:cmAuthor id="1776" name="吴杰" initials="" lastIdx="0" clrIdx="1775"/>
  <p:cmAuthor id="1777" name="刘丽仙" initials="" lastIdx="0" clrIdx="1776"/>
  <p:cmAuthor id="1778" name="administrator1" initials="" lastIdx="0" clrIdx="1777"/>
  <p:cmAuthor id="1779" name="lijin" initials="" lastIdx="0" clrIdx="1778"/>
  <p:cmAuthor id="1780" name="贾清山" initials="" lastIdx="0" clrIdx="1779"/>
  <p:cmAuthor id="1781" name="陈桂枝" initials="" lastIdx="0" clrIdx="1780"/>
  <p:cmAuthor id="1782" name="新萝卜家园" initials="" lastIdx="0" clrIdx="1781"/>
  <p:cmAuthor id="1783" name="李正" initials="" lastIdx="0" clrIdx="1782"/>
  <p:cmAuthor id="1784" name="吴铭锐" initials="" lastIdx="0" clrIdx="1783"/>
  <p:cmAuthor id="1785" name="孟祥超" initials="" lastIdx="0" clrIdx="1784"/>
  <p:cmAuthor id="1786" name="陶川" initials="" lastIdx="0" clrIdx="1785"/>
  <p:cmAuthor id="1787" name="周开雷" initials="" lastIdx="0" clrIdx="1786"/>
  <p:cmAuthor id="1788" name="lx" initials="" lastIdx="0" clrIdx="1787"/>
  <p:cmAuthor id="1789" name="赵兰玉" initials="" lastIdx="0" clrIdx="1788"/>
  <p:cmAuthor id="1790" name="李振宇" initials="" lastIdx="0" clrIdx="1789"/>
  <p:cmAuthor id="1791" name="邹洋" initials="" lastIdx="0" clrIdx="1790"/>
  <p:cmAuthor id="1792" name="yangkun" initials="" lastIdx="0" clrIdx="1791"/>
  <p:cmAuthor id="1793" name="hys2" initials="" lastIdx="0" clrIdx="1792"/>
  <p:cmAuthor id="1794" name="朱绍春" initials="" lastIdx="0" clrIdx="1793"/>
  <p:cmAuthor id="1795" name="ZQ" initials="" lastIdx="0" clrIdx="1794"/>
  <p:cmAuthor id="1796" name="HYZL05" initials="" lastIdx="0" clrIdx="1795"/>
  <p:cmAuthor id="1797" name="陈尚文" initials="" lastIdx="0" clrIdx="1796"/>
  <p:cmAuthor id="1798" name="张宏伟" initials="" lastIdx="0" clrIdx="1797"/>
  <p:cmAuthor id="1799" name="Yuan Hu" initials="" lastIdx="0" clrIdx="1798"/>
  <p:cmAuthor id="1800" name="张静" initials="" lastIdx="0" clrIdx="1799"/>
  <p:cmAuthor id="1801" name="李威" initials="" lastIdx="0" clrIdx="1800"/>
  <p:cmAuthor id="1802" name="李百秋" initials="" lastIdx="0" clrIdx="1801"/>
  <p:cmAuthor id="1803" name="张立鑫" initials="" lastIdx="0" clrIdx="1802"/>
  <p:cmAuthor id="1804" name="jgj" initials="" lastIdx="0" clrIdx="1803"/>
  <p:cmAuthor id="1805" name="杨静" initials="" lastIdx="0" clrIdx="1804"/>
  <p:cmAuthor id="1806" name="changding2" initials="c" lastIdx="0" clrIdx="1805"/>
  <p:cmAuthor id="1807" name="包珊珊" initials="" lastIdx="0" clrIdx="1806"/>
  <p:cmAuthor id="1808" name="YuQing" initials="" lastIdx="0" clrIdx="1807"/>
  <p:cmAuthor id="1809" name="Youwen Sun" initials="" lastIdx="0" clrIdx="1808"/>
  <p:cmAuthor id="1810" name="未知" initials="" lastIdx="0" clrIdx="1809"/>
  <p:cmAuthor id="1811" name="周满红" initials="" lastIdx="0" clrIdx="1810"/>
  <p:cmAuthor id="1812" name="李丽华" initials="" lastIdx="0" clrIdx="1811"/>
  <p:cmAuthor id="1813" name="张惠" initials="" lastIdx="0" clrIdx="1812"/>
  <p:cmAuthor id="1814" name="Ying Li" initials="" lastIdx="0" clrIdx="1813"/>
  <p:cmAuthor id="1815" name="魏永生" initials="" lastIdx="0" clrIdx="1814"/>
  <p:cmAuthor id="1816" name="Zhou, Judy" initials="" lastIdx="0" clrIdx="1815"/>
  <p:cmAuthor id="1817" name="张钦" initials="" lastIdx="0" clrIdx="1816"/>
  <p:cmAuthor id="1818" name="nine" initials="" lastIdx="0" clrIdx="1817"/>
  <p:cmAuthor id="1819" name="涛娜" initials="" lastIdx="0" clrIdx="1818"/>
  <p:cmAuthor id="1820" name="rnzhang9" initials="r" lastIdx="0" clrIdx="1819"/>
  <p:cmAuthor id="1821" name="侯 林" initials="" lastIdx="0" clrIdx="1820"/>
  <p:cmAuthor id="1822" name="郝志永" initials="" lastIdx="0" clrIdx="1821"/>
  <p:cmAuthor id="1823" name="hyrx05" initials="" lastIdx="0" clrIdx="1822"/>
  <p:cmAuthor id="1824" name="徐仕超" initials="" lastIdx="0" clrIdx="1823"/>
  <p:cmAuthor id="1825" name="王梓合" initials="" lastIdx="0" clrIdx="1824"/>
  <p:cmAuthor id="1826" name="ADMINIBM" initials="" lastIdx="0" clrIdx="1825"/>
  <p:cmAuthor id="1827" name="zyf" initials="" lastIdx="0" clrIdx="1826"/>
  <p:cmAuthor id="1828" name="Chris Kou" initials="" lastIdx="0" clrIdx="1827"/>
  <p:cmAuthor id="1829" name="未知用户54" initials="" lastIdx="0" clrIdx="1828"/>
  <p:cmAuthor id="1830" name="宋少霞" initials="" lastIdx="0" clrIdx="1829"/>
  <p:cmAuthor id="1831" name="光启" initials="" lastIdx="0" clrIdx="1830"/>
  <p:cmAuthor id="1832" name="原鹏" initials="" lastIdx="0" clrIdx="1831"/>
  <p:cmAuthor id="1833" name="郑廷东" initials="" lastIdx="0" clrIdx="1832"/>
  <p:cmAuthor id="1834" name="张田田" initials="" lastIdx="0" clrIdx="1833"/>
  <p:cmAuthor id="1835" name="zixuan jia" initials="" lastIdx="0" clrIdx="1834"/>
  <p:cmAuthor id="1836" name="周鑫" initials="" lastIdx="0" clrIdx="1835"/>
  <p:cmAuthor id="1837" name="于静" initials="" lastIdx="0" clrIdx="1836"/>
  <p:cmAuthor id="1838" name="郭 里芬" initials="" lastIdx="0" clrIdx="1837"/>
  <p:cmAuthor id="1839" name="acer1" initials="" lastIdx="0" clrIdx="1838"/>
  <p:cmAuthor id="1840" name="张永玲" initials="" lastIdx="0" clrIdx="1839"/>
  <p:cmAuthor id="1841" name="LEO L" initials="" lastIdx="0" clrIdx="1840"/>
  <p:cmAuthor id="1842" name="李勇" initials="" lastIdx="0" clrIdx="1841"/>
  <p:cmAuthor id="1843" name="冯帅" initials="" lastIdx="0" clrIdx="1842"/>
  <p:cmAuthor id="1844" name="侯雪飞" initials="" lastIdx="0" clrIdx="1843"/>
  <p:cmAuthor id="1845" name="张利英" initials="" lastIdx="0" clrIdx="1844"/>
  <p:cmAuthor id="1846" name="liu yj" initials="" lastIdx="0" clrIdx="1845"/>
  <p:cmAuthor id="1847" name="隔壁老张" initials="隔" lastIdx="0" clrIdx="1846"/>
  <p:cmAuthor id="1848" name="谭涛" initials="" lastIdx="0" clrIdx="1847"/>
  <p:cmAuthor id="1849" name="scx" initials="" lastIdx="0" clrIdx="1848"/>
  <p:cmAuthor id="1850" name="qinghui han" initials="" lastIdx="0" clrIdx="1849"/>
  <p:cmAuthor id="1851" name="高飞" initials="高" lastIdx="0" clrIdx="1850"/>
  <p:cmAuthor id="1852" name="毕军(0212009)" initials="" lastIdx="0" clrIdx="1851"/>
  <p:cmAuthor id="1853" name="xzb1" initials="x" lastIdx="0" clrIdx="1852"/>
  <p:cmAuthor id="1854" name="未知用户140" initials="" lastIdx="0" clrIdx="1853"/>
  <p:cmAuthor id="1855" name="王志刚" initials="" lastIdx="0" clrIdx="1854"/>
  <p:cmAuthor id="1856" name="徐光宇" initials="" lastIdx="0" clrIdx="1855"/>
  <p:cmAuthor id="1857" name="Liu, Leo (MBSHR cs)" initials="" lastIdx="0" clrIdx="1856"/>
  <p:cmAuthor id="1858" name="董威" initials="" lastIdx="0" clrIdx="1857"/>
  <p:cmAuthor id="1859" name="张艳芳" initials="" lastIdx="0" clrIdx="1858"/>
  <p:cmAuthor id="1860" name="志斌 杜" initials="" lastIdx="0" clrIdx="1859"/>
  <p:cmAuthor id="1861" name="赵洪丹" initials="" lastIdx="0" clrIdx="1860"/>
  <p:cmAuthor id="1862" name="????" initials="" lastIdx="0" clrIdx="1861"/>
  <p:cmAuthor id="1863" name="张德胜" initials="" lastIdx="0" clrIdx="1862"/>
  <p:cmAuthor id="1864" name="张" initials="" lastIdx="0" clrIdx="1863"/>
  <p:cmAuthor id="1865" name="赵丽丽" initials="" lastIdx="0" clrIdx="1864"/>
  <p:cmAuthor id="1866" name="周建文" initials="" lastIdx="0" clrIdx="1865"/>
  <p:cmAuthor id="1867" name="广东伊利" initials="" lastIdx="0" clrIdx="1866"/>
  <p:cmAuthor id="1868" name="毛香勤" initials="" lastIdx="0" clrIdx="1867"/>
  <p:cmAuthor id="1869" name="朱彩霞" initials="" lastIdx="0" clrIdx="1868"/>
  <p:cmAuthor id="1870" name="王婷慧" initials="" lastIdx="0" clrIdx="1869"/>
  <p:cmAuthor id="1871" name="Anastasiya Ladoshkina" initials="" lastIdx="0" clrIdx="1870"/>
  <p:cmAuthor id="1872" name="李刚" initials="" lastIdx="0" clrIdx="1871"/>
  <p:cmAuthor id="1873" name="Microsoft Office 用户" initials="" lastIdx="0" clrIdx="1872"/>
  <p:cmAuthor id="1874" name="段振华" initials="" lastIdx="0" clrIdx="1873"/>
  <p:cmAuthor id="1875" name="沈永强" initials="" lastIdx="0" clrIdx="1874"/>
  <p:cmAuthor id="1876" name="云峰 贾" initials="" lastIdx="0" clrIdx="1875"/>
  <p:cmAuthor id="1877" name="pc" initials="p" lastIdx="0" clrIdx="1876"/>
  <p:cmAuthor id="1878" name="马红" initials="" lastIdx="0" clrIdx="1877"/>
  <p:cmAuthor id="1879" name="杨彦伟" initials="" lastIdx="0" clrIdx="1878"/>
  <p:cmAuthor id="1880" name="叶滔" initials="" lastIdx="0" clrIdx="1879"/>
  <p:cmAuthor id="1881" name="mengshun" initials="" lastIdx="0" clrIdx="1880"/>
  <p:cmAuthor id="1882" name="王彦昀" initials="wyy" lastIdx="0" clrIdx="1881"/>
  <p:cmAuthor id="1883" name="徐 伟钦" initials="徐" lastIdx="0" clrIdx="1882"/>
  <p:cmAuthor id="1884" name="李昕玫" initials="李" lastIdx="0" clrIdx="1883"/>
  <p:cmAuthor id="1885" name="lianxing liao" initials="l" lastIdx="0" clrIdx="1884"/>
  <p:cmAuthor id="1886" name="张乐" initials="张" lastIdx="0" clrIdx="1885"/>
  <p:cmAuthor id="1887" name="沈心悦" initials="c" lastIdx="0" clrIdx="1886"/>
  <p:cmAuthor id="1888" name="许明辽" initials="许" lastIdx="0" clrIdx="1887"/>
  <p:cmAuthor id="1889" name="陈吉珍" initials="陈" lastIdx="0" clrIdx="1888"/>
  <p:cmAuthor id="1890" name="Vagun Vagun" initials="V" lastIdx="0" clrIdx="1889"/>
  <p:cmAuthor id="1891" name="李秋静" initials="李" lastIdx="0" clrIdx="1890"/>
  <p:cmAuthor id="1892" name="陈林" initials="陈" lastIdx="0" clrIdx="1891"/>
  <p:cmAuthor id="1893" name="文文" initials="文" lastIdx="0" clrIdx="1892"/>
  <p:cmAuthor id="1894" name="史璐瑶" initials="史" lastIdx="0" clrIdx="1893"/>
  <p:cmAuthor id="1895" name="吕 阔" initials="吕" lastIdx="0" clrIdx="1894"/>
  <p:cmAuthor id="1896" name="冰箱" initials="冰" lastIdx="0" clrIdx="1895"/>
  <p:cmAuthor id="1897" name="Isabella" initials="I" lastIdx="0" clrIdx="1896"/>
  <p:cmAuthor id="1898" name="未知用户158" initials="未" lastIdx="0" clrIdx="1897"/>
  <p:cmAuthor id="1899" name="未知用户159" initials="未" lastIdx="0" clrIdx="1898"/>
  <p:cmAuthor id="1900" name="未知用户160" initials="未" lastIdx="0" clrIdx="1899"/>
  <p:cmAuthor id="1901" name="未知用户161" initials="未" lastIdx="0" clrIdx="1900"/>
  <p:cmAuthor id="1902" name="未知用户146" initials="未" lastIdx="0" clrIdx="1901"/>
  <p:cmAuthor id="1903" name="Changing Zhuang" initials="C" lastIdx="0" clrIdx="1902"/>
  <p:cmAuthor id="1904" name="未知用户184" initials="未" lastIdx="0" clrIdx="1903"/>
  <p:cmAuthor id="1905" name="哒哒 熊猫" initials="哒" lastIdx="0" clrIdx="1904"/>
  <p:cmAuthor id="1906" name="G" initials="G" lastIdx="0" clrIdx="1905"/>
  <p:cmAuthor id="1907" name="我" initials="我" lastIdx="0" clrIdx="1906"/>
  <p:cmAuthor id="1908" name="??" initials="?" lastIdx="0" clrIdx="1907"/>
  <p:cmAuthor id="1909" name="未知用户110" initials="未" lastIdx="0" clrIdx="1908"/>
  <p:cmAuthor id="1910" name="小皮蛋" initials="小" lastIdx="0" clrIdx="1909"/>
  <p:cmAuthor id="1911" name="熘?" initials="熘" lastIdx="0" clrIdx="1910"/>
  <p:cmAuthor id="1912" name="中星 叶" initials="中" lastIdx="0" clrIdx="1911"/>
  <p:cmAuthor id="1913" name="CodonMedical" initials="C" lastIdx="0" clrIdx="1912"/>
  <p:cmAuthor id="1914" name="feng wei" initials="f" lastIdx="0" clrIdx="1913"/>
  <p:cmAuthor id="1915" name="Meredith Kalish" initials="M" lastIdx="0" clrIdx="1914"/>
  <p:cmAuthor id="1916" name="Fitzpatrick, Nicole {MGAO~Basel}" initials="F" lastIdx="0" clrIdx="1915"/>
  <p:cmAuthor id="1917" name="Helen Keyworth (HI)" initials="H" lastIdx="0" clrIdx="1916"/>
  <p:cmAuthor id="1918" name="Dongzhichao (Charles)" initials="D(" lastIdx="0" clrIdx="1917"/>
  <p:cmAuthor id="1919" name="gh666 S" initials="gS" lastIdx="0" clrIdx="1918"/>
  <p:cmAuthor id="1920" name="田宇恒" initials="田" lastIdx="0" clrIdx="1919"/>
  <p:cmAuthor id="1921" name="Mars" initials="M" lastIdx="0" clrIdx="1920"/>
  <p:cmAuthor id="1922" name="何富军" initials="何" lastIdx="0" clrIdx="1921"/>
  <p:cmAuthor id="1923" name="闫秀丽" initials="闫" lastIdx="0" clrIdx="1922"/>
  <p:cmAuthor id="1924" name="fafa" initials="f" lastIdx="0" clrIdx="1923"/>
  <p:cmAuthor id="1925" name="qatr130" initials="q" lastIdx="0" clrIdx="1924"/>
  <p:cmAuthor id="1926" name="未知用户94" initials="未" lastIdx="0" clrIdx="1925"/>
  <p:cmAuthor id="1927" name="think" initials="t" lastIdx="0" clrIdx="1926"/>
  <p:cmAuthor id="1928" name="过 去" initials="过" lastIdx="0" clrIdx="1927"/>
  <p:cmAuthor id="1929" name="ChinaUser" initials="C" lastIdx="0" clrIdx="1928"/>
  <p:cmAuthor id="1930" name="linkplus" initials="l" lastIdx="0" clrIdx="1929"/>
  <p:cmAuthor id="1931" name="Gusto" initials="G" lastIdx="0" clrIdx="1930"/>
  <p:cmAuthor id="1932" name="蒋芳" initials="蒋" lastIdx="0" clrIdx="1931"/>
  <p:cmAuthor id="1933" name="陈晓华-891302_JraqvieE" initials="authorId_51005" lastIdx="0" clrIdx="1932"/>
  <p:cmAuthor id="1934" name="qsl" initials="q" lastIdx="0" clrIdx="1933"/>
  <p:cmAuthor id="1935" name="王嘉偉" initials="王" lastIdx="0" clrIdx="1934"/>
  <p:cmAuthor id="1936" name="gongjt" initials="g" lastIdx="0" clrIdx="1935"/>
  <p:cmAuthor id="1937" name="未知的使用者237" initials="未" lastIdx="0" clrIdx="1936"/>
  <p:cmAuthor id="1938" name="呵呵先生" initials="呵" lastIdx="0" clrIdx="1937"/>
  <p:cmAuthor id="1939" name="未知的使用者239" initials="未" lastIdx="0" clrIdx="1938"/>
  <p:cmAuthor id="1940" name="未知的使用者241" initials="未" lastIdx="0" clrIdx="1939"/>
  <p:cmAuthor id="1941" name="未知的使用者242" initials="未" lastIdx="0" clrIdx="1940"/>
  <p:cmAuthor id="1942" name="未知的使用者243" initials="未" lastIdx="0" clrIdx="1941"/>
  <p:cmAuthor id="1943" name="未知的使用者258" initials="未" lastIdx="0" clrIdx="1942"/>
  <p:cmAuthor id="1944" name="烬飞默途" initials="烬" lastIdx="0" clrIdx="1943"/>
  <p:cmAuthor id="1945" name="未知的使用者259" initials="未" lastIdx="0" clrIdx="1944"/>
  <p:cmAuthor id="1946" name="未知的使用者261" initials="未" lastIdx="0" clrIdx="1945"/>
  <p:cmAuthor id="1947" name="未知的使用者262" initials="未" lastIdx="0" clrIdx="1946"/>
  <p:cmAuthor id="1948" name="未知的使用者263" initials="未" lastIdx="0" clrIdx="1947"/>
  <p:cmAuthor id="1949" name="未知的使用者264" initials="未" lastIdx="0" clrIdx="1948"/>
  <p:cmAuthor id="1950" name="未知的使用者265" initials="未" lastIdx="0" clrIdx="1949"/>
  <p:cmAuthor id="1951" name="未知的使用者267" initials="未" lastIdx="0" clrIdx="1950"/>
  <p:cmAuthor id="1952" name="未知的使用者268" initials="未" lastIdx="0" clrIdx="1951"/>
  <p:cmAuthor id="1953" name="未知的使用者269" initials="未" lastIdx="0" clrIdx="1952"/>
  <p:cmAuthor id="1954" name="面包" initials="面" lastIdx="0" clrIdx="1953"/>
  <p:cmAuthor id="1955" name="刘瀛蔚" initials="C" lastIdx="0" clrIdx="1954"/>
  <p:cmAuthor id="1956" name="baicai dx" initials="bd" lastIdx="0" clrIdx="1955"/>
  <p:cmAuthor id="1957" name="HZC" initials="H" lastIdx="0" clrIdx="1956"/>
  <p:cmAuthor id="1958" name="阿修罗" initials="阿" lastIdx="0" clrIdx="1957"/>
  <p:cmAuthor id="1959" name="冷暖自知" initials="冷" lastIdx="0" clrIdx="1958"/>
  <p:cmAuthor id="1960" name="薛鹃_VzaeNbUv" initials="authorId_191251885" lastIdx="0" clrIdx="1959"/>
  <p:cmAuthor id="1961" name="文昊炅_YzYvfm67" initials="authorId_436426381" lastIdx="0" clrIdx="1960"/>
  <p:cmAuthor id="1962" name="陈淦浩_QfMnbeim" initials="authorId_431536726" lastIdx="0" clrIdx="1961"/>
  <p:cmAuthor id="1963" name="丁蕾-011499_riUrfmau" initials="authorId_3605" lastIdx="0" clrIdx="1962"/>
  <p:cmAuthor id="1964" name="Bin Wangb" initials="BW" lastIdx="0" clrIdx="1963"/>
  <p:cmAuthor id="1965" name="陈晨-016346_zquaYv2E" initials="authorId_2355" lastIdx="0" clrIdx="1964"/>
  <p:cmAuthor id="1966" name="930232" initials="9" lastIdx="0" clrIdx="1965"/>
  <p:cmAuthor id="1967" name="黄 晓贤" initials="黄" lastIdx="0" clrIdx="1966"/>
  <p:cmAuthor id="1968" name="goforever814" initials="g" lastIdx="0" clrIdx="1967"/>
  <p:cmAuthor id="1969" name="黄闽粤" initials="黄" lastIdx="0" clrIdx="1968"/>
  <p:cmAuthor id="1970" name="yinlu" initials="y" lastIdx="0" clrIdx="1969"/>
  <p:cmAuthor id="1971" name="杨 贺春" initials="杨" lastIdx="0" clrIdx="1970"/>
  <p:cmAuthor id="1972" name="haoli" initials="h" lastIdx="0" clrIdx="1971"/>
  <p:cmAuthor id="1973" name="xddu" initials="x" lastIdx="0" clrIdx="1972"/>
  <p:cmAuthor id="1974" name="wlj352" initials="w" lastIdx="0" clrIdx="1973"/>
  <p:cmAuthor id="1975" name="朗 月" initials="朗" lastIdx="0" clrIdx="1974"/>
  <p:cmAuthor id="1976" name="cib" initials="c" lastIdx="0" clrIdx="1975"/>
  <p:cmAuthor id="1977" name="Lisong (Jeff, ManageOne SC)" initials="L(MS" lastIdx="0" clrIdx="1976"/>
  <p:cmAuthor id="1978" name="cnooc" initials="c" lastIdx="0" clrIdx="1977"/>
  <p:cmAuthor id="1979" name="bjxia" initials="b" lastIdx="0" clrIdx="1978"/>
  <p:cmAuthor id="1980" name="刘国飞" initials="刘" lastIdx="0" clrIdx="1979"/>
  <p:cmAuthor id="1981" name="殷 积波" initials="殷" lastIdx="0" clrIdx="1980"/>
  <p:cmAuthor id="1982" name="启浩" initials="启" lastIdx="0" clrIdx="1981"/>
  <p:cmAuthor id="1983" name="袨?嗴?傤?" initials="袨" lastIdx="0" clrIdx="1982"/>
  <p:cmAuthor id="1984" name="林玲 郑" initials="林" lastIdx="0" clrIdx="1983"/>
  <p:cmAuthor id="1985" name="pengding" initials="p" lastIdx="0" clrIdx="1984"/>
  <p:cmAuthor id="1986" name="hywang70" initials="h" lastIdx="0" clrIdx="1985"/>
  <p:cmAuthor id="1987" name="xyhu25" initials="x" lastIdx="0" clrIdx="1986"/>
  <p:cmAuthor id="1988" name="zhzhang44" initials="z" lastIdx="0" clrIdx="1987"/>
  <p:cmAuthor id="1989" name="jwgao11" initials="j" lastIdx="0" clrIdx="1988"/>
  <p:cmAuthor id="1990" name="WPS_1474700236" initials="W" lastIdx="0" clrIdx="1989"/>
  <p:cmAuthor id="1991" name="班主任" initials="班" lastIdx="0" clrIdx="1990"/>
  <p:cmAuthor id="1992" name="阿星" initials="阿" lastIdx="0" clrIdx="1991"/>
  <p:cmAuthor id="1993" name="未知的使用者251" initials="未" lastIdx="0" clrIdx="1992"/>
  <p:cmAuthor id="1994" name="未知的使用者246" initials="未" lastIdx="0" clrIdx="1993"/>
  <p:cmAuthor id="1995" name="未知的使用者253" initials="未" lastIdx="0" clrIdx="1994"/>
  <p:cmAuthor id="1996" name="ytli6" initials="y" lastIdx="0" clrIdx="1995"/>
  <p:cmAuthor id="1997" name="未知的使用者219" initials="未" lastIdx="0" clrIdx="1996"/>
  <p:cmAuthor id="1998" name="未知的使用者130" initials="未" lastIdx="0" clrIdx="1997"/>
  <p:cmAuthor id="1999" name="未知的使用者131" initials="未" lastIdx="0" clrIdx="1998"/>
  <p:cmAuthor id="2000" name="未知的使用者132" initials="未" lastIdx="0" clrIdx="1999"/>
  <p:cmAuthor id="2001" name="张伟凡" initials="zhangwf" lastIdx="0" clrIdx="2000"/>
  <p:cmAuthor id="2002" name="吴铭轩" initials="吴" lastIdx="0" clrIdx="2001"/>
  <p:cmAuthor id="2003" name="wuxian" initials="w" lastIdx="0" clrIdx="2002"/>
  <p:cmAuthor id="2004" name="Zhuge Hongyi" initials="Z" lastIdx="0" clrIdx="2003"/>
  <p:cmAuthor id="2005" name="李斌" initials="李" lastIdx="0" clrIdx="2004"/>
  <p:cmAuthor id="2006" name="Doreen" initials="D" lastIdx="0" clrIdx="2005"/>
  <p:cmAuthor id="2007" name="Jie Wen" initials="JW" lastIdx="0" clrIdx="2006"/>
  <p:cmAuthor id="2008" name="Yaguang Ma" initials="Y" lastIdx="0" clrIdx="2007"/>
  <p:cmAuthor id="2009" name="葛 伟" initials="葛" lastIdx="0" clrIdx="2008"/>
  <p:cmAuthor id="2010" name="Maple Liu" initials="ML" lastIdx="0" clrIdx="2009"/>
  <p:cmAuthor id="2011" name="bigeyes" initials="b" lastIdx="0" clrIdx="2010"/>
  <p:cmAuthor id="2012" name="尹冬冬" initials="cib" lastIdx="0" clrIdx="2011"/>
  <p:cmAuthor id="2013" name="张笑冬" initials="张" lastIdx="0" clrIdx="2012"/>
  <p:cmAuthor id="2014" name="吴岩" initials="吴" lastIdx="0" clrIdx="2013"/>
  <p:cmAuthor id="2015" name="宋昆" initials="宋" lastIdx="0" clrIdx="2014"/>
  <p:cmAuthor id="2016" name="lipengfei01111@outlook.com" initials="l" lastIdx="0" clrIdx="2015"/>
  <p:cmAuthor id="2017" name="刘思蜀" initials="刘" lastIdx="0" clrIdx="2016"/>
  <p:cmAuthor id="2018" name="hasee" initials="h" lastIdx="0" clrIdx="2017"/>
  <p:cmAuthor id="2019" name="hainan zheng" initials="h" lastIdx="0" clrIdx="2018"/>
  <p:cmAuthor id="2020" name="杨涛-lah" initials="杨" lastIdx="0" clrIdx="2019"/>
  <p:cmAuthor id="2021" name="张星-lgd" initials="张" lastIdx="0" clrIdx="2020"/>
  <p:cmAuthor id="2022" name="曾 继" initials="曾" lastIdx="0" clrIdx="2021"/>
  <p:cmAuthor id="2023" name="沈琪-pbj" initials="沈" lastIdx="0" clrIdx="2022"/>
  <p:cmAuthor id="2024" name="张 博" initials="张" lastIdx="0" clrIdx="2023"/>
  <p:cmAuthor id="2025" name="潈ऎ䕨அ" initials="潈" lastIdx="0" clrIdx="2024"/>
  <p:cmAuthor id="2026" name="孟家兴" initials="孟" lastIdx="0" clrIdx="2025"/>
  <p:cmAuthor id="2027" name="刘盛潮" initials="刘" lastIdx="0" clrIdx="2026"/>
  <p:cmAuthor id="2028" name="lvlulu" initials="ll" lastIdx="0" clrIdx="2027"/>
  <p:cmAuthor id="2029" name="张宝贤" initials="张" lastIdx="0" clrIdx="2028"/>
  <p:cmAuthor id="2030" name="杨 艺" initials="杨" lastIdx="0" clrIdx="2029"/>
  <p:cmAuthor id="2031" name="鱼 飞" initials="鱼" lastIdx="0" clrIdx="2030"/>
  <p:cmAuthor id="2032" name="可臣 王" initials="可" lastIdx="0" clrIdx="2031"/>
  <p:cmAuthor id="2033" name="qqqqq" initials="q" lastIdx="0" clrIdx="2032"/>
  <p:cmAuthor id="2034" name="You Zhou" initials="YZ" lastIdx="0" clrIdx="2033"/>
  <p:cmAuthor id="2035" name="汤莹" initials="汤莹" lastIdx="0" clrIdx="2034"/>
  <p:cmAuthor id="2036" name="谭开元/国寿协同部/总行信用卡中心/广发银行" initials="谭" lastIdx="0" clrIdx="2035"/>
  <p:cmAuthor id="2037" name="Xuyidan(HCS)" initials="X" lastIdx="0" clrIdx="2036"/>
  <p:cmAuthor id="2038" name="Unknown User24" initials="" lastIdx="0" clrIdx="2037"/>
  <p:cmAuthor id="2039" name="Unknown User25" initials="" lastIdx="0" clrIdx="2038"/>
  <p:cmAuthor id="2040" name="未知的使用者197" initials="" lastIdx="0" clrIdx="2039"/>
  <p:cmAuthor id="2041" name="鹤 张" initials="" lastIdx="0" clrIdx="2040"/>
  <p:cmAuthor id="2042" name="箭牌" initials="" lastIdx="0" clrIdx="2041"/>
  <p:cmAuthor id="2043" name="伟伟" initials="伟伟" lastIdx="0" clrIdx="2042"/>
  <p:cmAuthor id="2044" name="康凯" initials="康" lastIdx="0" clrIdx="2043"/>
  <p:cmAuthor id="2045" name="sunpp" initials="s" lastIdx="0" clrIdx="2044"/>
  <p:cmAuthor id="2046" name="宋瑞芳" initials="宋" lastIdx="0" clrIdx="2045"/>
  <p:cmAuthor id="2047" name="张 强" initials="张" lastIdx="0" clrIdx="2046"/>
  <p:cmAuthor id="2048" name="ZhangQianmei-PC" initials="Z" lastIdx="0" clrIdx="2047"/>
  <p:cmAuthor id="2049" name="王丽（IT）" initials="王" lastIdx="0" clrIdx="2048"/>
  <p:cmAuthor id="2050" name="zzy" initials="z" lastIdx="0" clrIdx="2049"/>
  <p:cmAuthor id="2051" name="cmcc" initials="c" lastIdx="0" clrIdx="2050"/>
  <p:cmAuthor id="2052" name="10045953" initials="1" lastIdx="0" clrIdx="2051"/>
  <p:cmAuthor id="2053" name="张洋" initials="张" lastIdx="0" clrIdx="2052"/>
  <p:cmAuthor id="2054" name="刘达" initials="刘" lastIdx="0" clrIdx="2053"/>
  <p:cmAuthor id="2055" name="10072453" initials="1" lastIdx="0" clrIdx="2054"/>
  <p:cmAuthor id="2056" name="卫新新" initials="卫" lastIdx="0" clrIdx="2055"/>
  <p:cmAuthor id="2057" name="lipengfei2@ha.cmcc" initials="lipengfei2@ha.cmcc" lastIdx="0" clrIdx="2056"/>
  <p:cmAuthor id="2058" name="hou" initials="h" lastIdx="0" clrIdx="2057"/>
  <p:cmAuthor id="2059" name="李文" initials="李" lastIdx="0" clrIdx="2058"/>
  <p:cmAuthor id="2060" name="wwba" initials="w" lastIdx="0" clrIdx="2059"/>
  <p:cmAuthor id="2061" name="lsfan2" initials="l" lastIdx="0" clrIdx="2060"/>
  <p:cmAuthor id="2062" name="LT" initials="L" lastIdx="0" clrIdx="2061"/>
  <p:cmAuthor id="2063" name="jqcao5" initials="j" lastIdx="0" clrIdx="2062"/>
  <p:cmAuthor id="2064" name="ylchen24" initials="y" lastIdx="0" clrIdx="2063"/>
  <p:cmAuthor id="2065" name="g" initials="g" lastIdx="0" clrIdx="2064"/>
  <p:cmAuthor id="2066" name="郭 浩" initials="郭" lastIdx="0" clrIdx="2065"/>
  <p:cmAuthor id="2067" name="unicom" initials="" lastIdx="0" clrIdx="2066"/>
  <p:cmAuthor id="2068" name="李雪雯" initials="李" lastIdx="0" clrIdx="2067"/>
  <p:cmAuthor id="2069" name="王美娜" initials="王" lastIdx="0" clrIdx="2068"/>
  <p:cmAuthor id="2070" name="Clifford" initials="C" lastIdx="0" clrIdx="2069"/>
  <p:cmAuthor id="2071" name="sunyi1" initials="s" lastIdx="0" clrIdx="2070"/>
  <p:cmAuthor id="2072" name="金洁" initials="金" lastIdx="0" clrIdx="2071"/>
  <p:cmAuthor id="2073" name="赵刚" initials="赵" lastIdx="0" clrIdx="2072"/>
  <p:cmAuthor id="2074" name="李 剑峰" initials="李" lastIdx="0" clrIdx="2073"/>
  <p:cmAuthor id="2075" name="娜娅" initials="娜" lastIdx="0" clrIdx="2074"/>
  <p:cmAuthor id="2076" name="林诗婷" initials="林" lastIdx="0" clrIdx="2075"/>
  <p:cmAuthor id="2077" name="dcis" initials="d" lastIdx="0" clrIdx="2076"/>
  <p:cmAuthor id="2078" name="Unknown User55" initials="U" lastIdx="0" clrIdx="2077"/>
  <p:cmAuthor id="2079" name="未知用户194" initials="未" lastIdx="0" clrIdx="2078"/>
  <p:cmAuthor id="2080" name="Huipeng Cao" initials="H" lastIdx="0" clrIdx="2079"/>
  <p:cmAuthor id="2081" name="罗 罗" initials="罗" lastIdx="0" clrIdx="2080"/>
  <p:cmAuthor id="2082" name="刘莎_Rnie2Mv6" initials="authorId_1390812686" lastIdx="0" clrIdx="2081"/>
  <p:cmAuthor id="2083" name="董耘_um22zMFb" initials="authorId_1461203234" lastIdx="0" clrIdx="2082"/>
  <p:cmAuthor id="2084" name="廖一明" initials="廖一明" lastIdx="0" clrIdx="2083"/>
  <p:cmAuthor id="2085" name="王彤妤" initials="王" lastIdx="0" clrIdx="2084"/>
  <p:cmAuthor id="2086" name="He Siyi" initials="H" lastIdx="0" clrIdx="2085"/>
  <p:cmAuthor id="2087" name="食梦" initials="食" lastIdx="0" clrIdx="2086"/>
  <p:cmAuthor id="2088" name="Maoye Ran" initials="M" lastIdx="0" clrIdx="2087"/>
  <p:cmAuthor id="2089" name="xiong" initials="x" lastIdx="0" clrIdx="2088"/>
  <p:cmAuthor id="2090" name="冯敏" initials="冯" lastIdx="0" clrIdx="2089"/>
  <p:cmAuthor id="2091" name="apple" initials="a" lastIdx="0" clrIdx="2090"/>
  <p:cmAuthor id="2092" name="时方赛" initials="时" lastIdx="0" clrIdx="2091"/>
  <p:cmAuthor id="2093" name="翁宏" initials="翁" lastIdx="0" clrIdx="2092"/>
  <p:cmAuthor id="2094" name="zxd" initials="zxd" lastIdx="0" clrIdx="2093"/>
  <p:cmAuthor id="2095" name="Jsliu" initials="J" lastIdx="0" clrIdx="2094"/>
  <p:cmAuthor id="2096" name="阿 凝" initials="阿" lastIdx="0" clrIdx="2095"/>
  <p:cmAuthor id="2097" name="势幌刨乃淌" initials="势" lastIdx="0" clrIdx="2096"/>
  <p:cmAuthor id="2098" name="王彦瓓" initials="王" lastIdx="0" clrIdx="2097"/>
  <p:cmAuthor id="2099" name="XIHAO LIN" initials="XL" lastIdx="0" clrIdx="2098"/>
  <p:cmAuthor id="2100" name="沈 振国" initials="沈" lastIdx="0" clrIdx="2099"/>
  <p:cmAuthor id="2101" name="王荣埕-016563_qmiuNj2m" initials="authorId_37868" lastIdx="0" clrIdx="2100"/>
  <p:cmAuthor id="2102" name="陈佳尉" initials="陈" lastIdx="0" clrIdx="2101"/>
  <p:cmAuthor id="2103" name="Prd" initials="P" lastIdx="0" clrIdx="2102"/>
  <p:cmAuthor id="2104" name="周梦-014690_RfIjZRfU" initials="authorId_27837" lastIdx="0" clrIdx="2103"/>
  <p:cmAuthor id="2105" name="廖和章-014680_QnMv6Z7R" initials="authorId_46949" lastIdx="0" clrIdx="2104"/>
  <p:cmAuthor id="2106" name="王昊天-899704_zqUjbmii" initials="authorId_85411" lastIdx="0" clrIdx="2105"/>
  <p:cmAuthor id="2107" name="唐福英-892609_mEBnUJri" initials="authorId_58063" lastIdx="0" clrIdx="2106"/>
  <p:cmAuthor id="2108" name="陈晓凌-891189_BvQry2mU" initials="authorId_48289" lastIdx="0" clrIdx="2107"/>
  <p:cmAuthor id="2109" name="卞寅峰" initials="BYF" lastIdx="0" clrIdx="2108"/>
  <p:cmAuthor id="2110" name="王哲" initials="王" lastIdx="0" clrIdx="2109"/>
  <p:cmAuthor id="2111" name="席丽雅" initials="席" lastIdx="0" clrIdx="2110"/>
  <p:cmAuthor id="2112" name="王小磊" initials="王" lastIdx="0" clrIdx="2111"/>
  <p:cmAuthor id="2113" name="付冰" initials="付" lastIdx="0" clrIdx="2112"/>
  <p:cmAuthor id="2114" name="012722" initials="0" lastIdx="0" clrIdx="2113"/>
  <p:cmAuthor id="2115" name="郑汉翔" initials="郑" lastIdx="0" clrIdx="2114"/>
  <p:cmAuthor id="2116" name="Microsoft account" initials="Ma" lastIdx="0" clrIdx="2115"/>
  <p:cmAuthor id="2117" name="56160" initials="5" lastIdx="0" clrIdx="2116"/>
  <p:cmAuthor id="2118" name="马骏逸" initials="马骏逸" lastIdx="0" clrIdx="2117"/>
  <p:cmAuthor id="2119" name="Ruyi" initials="R" lastIdx="0" clrIdx="2118"/>
  <p:cmAuthor id="2120" name="全彬元" initials="全" lastIdx="0" clrIdx="2119"/>
  <p:cmAuthor id="2121" name="陈倩-892447_n6vaErYv" initials="authorId_58942" lastIdx="0" clrIdx="2120"/>
  <p:cmAuthor id="2122" name="李雪盛" initials="l" lastIdx="0" clrIdx="2121"/>
  <p:cmAuthor id="2123" name="ZZC" initials="Z" lastIdx="0" clrIdx="2122"/>
  <p:cmAuthor id="2124" name="zhangcui" initials="zc" lastIdx="0" clrIdx="2123"/>
  <p:cmAuthor id="2125" name="夏侯阳Mort" initials="夏" lastIdx="0" clrIdx="2124"/>
  <p:cmAuthor id="2126" name="like" initials="like" lastIdx="0" clrIdx="2125"/>
  <p:cmAuthor id="2127" name="木木" initials="木" lastIdx="0" clrIdx="2126"/>
  <p:cmAuthor id="2128" name="孙鹏云" initials="sun" lastIdx="0" clrIdx="2127"/>
  <p:cmAuthor id="2129" name="zhang Nicolas" initials="z" lastIdx="0" clrIdx="2128"/>
  <p:cmAuthor id="2130" name="wenhui liu" initials="wl" lastIdx="0" clrIdx="2129"/>
  <p:cmAuthor id="2131" name="Nicolas Zhang" initials="NZ" lastIdx="0" clrIdx="2130"/>
  <p:cmAuthor id="2132" name="曹一溪" initials="曹" lastIdx="0" clrIdx="2131"/>
  <p:cmAuthor id="2133" name="詹赵林" initials="詹赵林" lastIdx="0" clrIdx="2132"/>
  <p:cmAuthor id="2134" name="魏子昂" initials="S" lastIdx="0" clrIdx="2133"/>
  <p:cmAuthor id="2135" name="jet" initials="" lastIdx="0" clrIdx="2134"/>
  <p:cmAuthor id="2136" name="陈辰" initials="陈" lastIdx="0" clrIdx="2135"/>
  <p:cmAuthor id="2137" name="李凤辉" initials="李" lastIdx="0" clrIdx="2136"/>
  <p:cmAuthor id="2138" name="冯翔" initials="冯" lastIdx="0" clrIdx="2137"/>
  <p:cmAuthor id="2139" name="黄思翌" initials="黄" lastIdx="0" clrIdx="2138"/>
  <p:cmAuthor id="2140" name="王涛" initials="王涛" lastIdx="0" clrIdx="2139"/>
  <p:cmAuthor id="2141" name="陈飞宇" initials="陈" lastIdx="0" clrIdx="2140"/>
  <p:cmAuthor id="2142" name="陈瑛瑛" initials="陈" lastIdx="0" clrIdx="2141"/>
  <p:cmAuthor id="2143" name="黄杰" initials="黄" lastIdx="0" clrIdx="2142"/>
  <p:cmAuthor id="2144" name="杨家起" initials="l" lastIdx="0" clrIdx="2143"/>
  <p:cmAuthor id="2145" name="30992" initials="3" lastIdx="0" clrIdx="2144"/>
  <p:cmAuthor id="2146" name="王曦" initials="l" lastIdx="0" clrIdx="2145"/>
  <p:cmAuthor id="2147" name="zhanzhaolin" initials="colin" lastIdx="0" clrIdx="2146"/>
  <p:cmAuthor id="2148" name="许红峰" initials="W用" lastIdx="0" clrIdx="2147"/>
  <p:cmAuthor id="2149" name="Jiajie Fu" initials="JF" lastIdx="0" clrIdx="2148"/>
  <p:cmAuthor id="2150" name="寿舟帆" initials="寿" lastIdx="0" clrIdx="2149"/>
  <p:cmAuthor id="2151" name="李长华（字忠实）" initials="李" lastIdx="0" clrIdx="2150"/>
  <p:cmAuthor id="2152" name="weijie0213@163.com" initials="w" lastIdx="0" clrIdx="2151"/>
  <p:cmAuthor id="2153" name="李 昕泽" initials="李" lastIdx="0" clrIdx="2152"/>
  <p:cmAuthor id="2154" name="test" initials="t" lastIdx="0" clrIdx="2153"/>
  <p:cmAuthor id="2155" name="Han Bary" initials="HB" lastIdx="0" clrIdx="2154"/>
  <p:cmAuthor id="2156" name="程 迅骐" initials="程" lastIdx="0" clrIdx="2155"/>
  <p:cmAuthor id="2157" name="许 志军" initials="许" lastIdx="0" clrIdx="2156"/>
  <p:cmAuthor id="2158" name="欧 志芳" initials="欧" lastIdx="0" clrIdx="2157"/>
  <p:cmAuthor id="2159" name="旭 文" initials="旭" lastIdx="0" clrIdx="2158"/>
  <p:cmAuthor id="2160" name="fudinglong" initials="f" lastIdx="0" clrIdx="2159"/>
  <p:cmAuthor id="2161" name="大量" initials="大量" lastIdx="0" clrIdx="2160"/>
  <p:cmAuthor id="2162" name="dengshikao" initials="d" lastIdx="0" clrIdx="2161"/>
  <p:cmAuthor id="2163" name="熊先奎10009191" initials="熊先奎10009191" lastIdx="0" clrIdx="2162"/>
  <p:cmAuthor id="2164" name="钱福利" initials="Q" lastIdx="0" clrIdx="2163"/>
  <p:cmAuthor id="2165" name="wudid" initials="w" lastIdx="0" clrIdx="2164"/>
  <p:cmAuthor id="2166" name="Baty xiao" initials="Bx" lastIdx="0" clrIdx="2165"/>
  <p:cmAuthor id="2167" name="李婧宜_YBferYVR" initials="authorId_1217247658" lastIdx="0" clrIdx="2166"/>
  <p:cmAuthor id="2168" name="Chris Kun Yu Lin" initials="C" lastIdx="0" clrIdx="2167"/>
  <p:cmAuthor id="2169" name="TF013070" initials="T" lastIdx="0" clrIdx="2168"/>
  <p:cmAuthor id="2170" name="张志海" initials="张" lastIdx="0" clrIdx="2169"/>
  <p:cmAuthor id="2171" name="孟伟伟" initials="孟" lastIdx="0" clrIdx="2170"/>
  <p:cmAuthor id="2172" name="zhaoliyuan" initials="z" lastIdx="0" clrIdx="2171"/>
  <p:cmAuthor id="2173" name="林子酉" initials="林" lastIdx="0" clrIdx="2172"/>
  <p:cmAuthor id="2174" name="18937" initials="1" lastIdx="0" clrIdx="2173"/>
  <p:cmAuthor id="2175" name="Rita" initials="R" lastIdx="0" clrIdx="2174"/>
  <p:cmAuthor id="2176" name="申利霞|shenlixia" initials="申" lastIdx="0" clrIdx="2175"/>
  <p:cmAuthor id="2177" name="忠林 许" initials="忠" lastIdx="0" clrIdx="2176"/>
  <p:cmAuthor id="2178" name="余大白" initials="余" lastIdx="0" clrIdx="2177"/>
  <p:cmAuthor id="2179" name="曹悦" initials="曹" lastIdx="0" clrIdx="2178"/>
  <p:cmAuthor id="2180" name="鹿心悸" initials="鹿" lastIdx="0" clrIdx="2179"/>
  <p:cmAuthor id="2181" name="魏蜜蜜|weimimi" initials="魏" lastIdx="0" clrIdx="2180"/>
  <p:cmAuthor id="2182" name="胡成飞" initials="胡" lastIdx="0" clrIdx="2181"/>
  <p:cmAuthor id="2183" name="白锐锋" initials="白" lastIdx="0" clrIdx="2182"/>
  <p:cmAuthor id="2184" name="Athena" initials="c" lastIdx="0" clrIdx="2183"/>
  <p:cmAuthor id="2185" name="李菁1|sqlijing1" initials="李" lastIdx="0" clrIdx="2184"/>
  <p:cmAuthor id="2186" name="liu" initials="l" lastIdx="0" clrIdx="2185"/>
  <p:cmAuthor id="2187" name="安 宝来" initials="安" lastIdx="0" clrIdx="2186"/>
  <p:cmAuthor id="2188" name="feng xingbo" initials="fx" lastIdx="0" clrIdx="2187"/>
  <p:cmAuthor id="2189" name="fei Ren" initials="fR" lastIdx="0" clrIdx="2188"/>
  <p:cmAuthor id="2190" name="zhaohaiqi" initials="z" lastIdx="0" clrIdx="2189"/>
  <p:cmAuthor id="2191" name="12724" initials="1" lastIdx="0" clrIdx="2190"/>
  <p:cmAuthor id="2192" name="zhixuan zhang (张志轩)" initials="zz(" lastIdx="0" clrIdx="2191"/>
  <p:cmAuthor id="2193" name="邹申" initials="邹" lastIdx="0" clrIdx="2192"/>
  <p:cmAuthor id="2194" name="zhangjing" initials="z" lastIdx="0" clrIdx="2193"/>
  <p:cmAuthor id="2195" name="林杰聪" initials="林" lastIdx="0" clrIdx="2194"/>
  <p:cmAuthor id="2196" name="AJ" initials="A" lastIdx="0" clrIdx="2195"/>
  <p:cmAuthor id="2197" name="张鹏鹏" initials="张" lastIdx="0" clrIdx="2196"/>
  <p:cmAuthor id="2198" name="廖娅娉" initials="廖" lastIdx="0" clrIdx="2197"/>
  <p:cmAuthor id="2199" name="robin" initials="r" lastIdx="0" clrIdx="2198"/>
  <p:cmAuthor id="2200" name="Eraser-CV_732yNZVB" initials="authorId_935319539" lastIdx="0" clrIdx="2199"/>
  <p:cmAuthor id="2201" name="张静_Anua7Nne" initials="authorId_935319063" lastIdx="0" clrIdx="2200"/>
  <p:cmAuthor id="2202" name="chenmeme" initials="c" lastIdx="0" clrIdx="2201"/>
  <p:cmAuthor id="2203" name="hjm" initials="h" lastIdx="0" clrIdx="2202"/>
  <p:cmAuthor id="2204" name="Chun Chung YEH" initials="C" lastIdx="0" clrIdx="2203"/>
  <p:cmAuthor id="2205" name="Vicky" initials="V" lastIdx="0" clrIdx="2204"/>
  <p:cmAuthor id="2206" name="刘云轩" initials="刘" lastIdx="0" clrIdx="2205"/>
  <p:cmAuthor id="2207" name="sharon" initials="s" lastIdx="0" clrIdx="2206"/>
  <p:cmAuthor id="2208" name="未知的使用者81" initials="未" lastIdx="0" clrIdx="2207"/>
  <p:cmAuthor id="2209" name="alpha" initials="a" lastIdx="0" clrIdx="2208"/>
  <p:cmAuthor id="2210" name="未知的使用者75" initials="未" lastIdx="0" clrIdx="2209"/>
  <p:cmAuthor id="2211" name="未知的使用者77" initials="未" lastIdx="0" clrIdx="2210"/>
  <p:cmAuthor id="2212" name="未知的使用者78" initials="未" lastIdx="0" clrIdx="2211"/>
  <p:cmAuthor id="2213" name="未知的使用者79" initials="未" lastIdx="0" clrIdx="2212"/>
  <p:cmAuthor id="2214" name="未知的使用者80" initials="未" lastIdx="0" clrIdx="2213"/>
  <p:cmAuthor id="2215" name="未知的使用者85" initials="未" lastIdx="0" clrIdx="2214"/>
  <p:cmAuthor id="2216" name="未知的使用者161" initials="未" lastIdx="0" clrIdx="2215"/>
  <p:cmAuthor id="2217" name="未知的使用者152" initials="未" lastIdx="0" clrIdx="2216"/>
  <p:cmAuthor id="2218" name="未知的使用者21" initials="未" lastIdx="0" clrIdx="2217"/>
  <p:cmAuthor id="2219" name="未知的使用者178" initials="未" lastIdx="0" clrIdx="2218"/>
  <p:cmAuthor id="2220" name="jing hu" initials="jh" lastIdx="0" clrIdx="2219"/>
  <p:cmAuthor id="2221" name="August" initials="A" lastIdx="0" clrIdx="2220"/>
  <p:cmAuthor id="2222" name="daphne" initials="d" lastIdx="0" clrIdx="2221"/>
  <p:cmAuthor id="2223" name="Unknown User8" initials="U" lastIdx="0" clrIdx="2222"/>
  <p:cmAuthor id="2224" name="Christina" initials="C" lastIdx="0" clrIdx="2223"/>
  <p:cmAuthor id="2225" name="Frank De Waelle" initials="F" lastIdx="0" clrIdx="2224"/>
  <p:cmAuthor id="2226" name="Alice" initials="A" lastIdx="0" clrIdx="2225"/>
  <p:cmAuthor id="2227" name="梦琳 孙" initials="梦孙" lastIdx="0" clrIdx="2226"/>
  <p:cmAuthor id="2228" name="8310" initials="8" lastIdx="0" clrIdx="2227"/>
  <p:cmAuthor id="2229" name="锦堃 黄" initials="锦黄" lastIdx="0" clrIdx="2228"/>
  <p:cmAuthor id="2230" name="韩 明宇" initials="韩" lastIdx="0" clrIdx="2229"/>
  <p:cmAuthor id="2231" name="jyy" initials="" lastIdx="0" clrIdx="2230"/>
  <p:cmAuthor id="2232" name="MAXHUB" initials="M" lastIdx="0" clrIdx="2231"/>
  <p:cmAuthor id="2233" name="hhmwps" initials="authorId_1669124577" lastIdx="0" clrIdx="2232"/>
  <p:cmAuthor id="2234" name="zhangxc210" initials="z" lastIdx="0" clrIdx="2233"/>
  <p:cmAuthor id="2235" name="lantj" initials="l" lastIdx="0" clrIdx="2234"/>
  <p:cmAuthor id="2236" name="zhangjj" initials="z" lastIdx="0" clrIdx="2235"/>
  <p:cmAuthor id="2237" name="Shirley" initials="S" lastIdx="0" clrIdx="2236"/>
  <p:cmAuthor id="2238" name="wumeng" initials="w" lastIdx="0" clrIdx="2237"/>
  <p:cmAuthor id="2239" name="邵丹(联通上海市上海市分公司)" initials="邵丹(联通上海市上海市分公司)" lastIdx="0" clrIdx="2238"/>
  <p:cmAuthor id="2240" name="廖麗華" initials="廖" lastIdx="0" clrIdx="2239"/>
  <p:cmAuthor id="2241" name="xxjiang" initials="x" lastIdx="0" clrIdx="2240"/>
  <p:cmAuthor id="2242" name="zjchen6" initials="z" lastIdx="0" clrIdx="2241"/>
  <p:cmAuthor id="2243" name="hwang" initials="h" lastIdx="0" clrIdx="2242"/>
  <p:cmAuthor id="2244" name="yang chen" initials="yc" lastIdx="0" clrIdx="2243"/>
  <p:cmAuthor id="2245" name="qing wang" initials="qw" lastIdx="0" clrIdx="2244"/>
  <p:cmAuthor id="2246" name="lan" initials="l" lastIdx="0" clrIdx="2245"/>
  <p:cmAuthor id="2247" name="kin paul" initials="kp" lastIdx="0" clrIdx="2246"/>
  <p:cmAuthor id="2248" name="李天烁" initials="李天烁" lastIdx="0" clrIdx="2247"/>
  <p:cmAuthor id="2249" name="Yang Frank" initials="YF [10]" lastIdx="0" clrIdx="2248"/>
  <p:cmAuthor id="2250" name="xrbao2" initials="x" lastIdx="0" clrIdx="2249"/>
  <p:cmAuthor id="2251" name="xinfang" initials="x" lastIdx="0" clrIdx="2250"/>
  <p:cmAuthor id="2252" name="absurdus" initials="a" lastIdx="0" clrIdx="2251"/>
  <p:cmAuthor id="2253" name="Cushion" initials="C" lastIdx="0" clrIdx="2252"/>
  <p:cmAuthor id="2254" name="贺胜" initials="贺胜" lastIdx="0" clrIdx="2253"/>
  <p:cmAuthor id="2255" name="wysun3" initials="w" lastIdx="0" clrIdx="2254"/>
  <p:cmAuthor id="2256" name="zhangmengyao" initials="z" lastIdx="0" clrIdx="2255"/>
  <p:cmAuthor id="2257" name="幸全" initials="幸全" lastIdx="0" clrIdx="2256"/>
  <p:cmAuthor id="2258" name="李 书臣" initials="李" lastIdx="0" clrIdx="2257"/>
  <p:cmAuthor id="2259" name="yjli8" initials="y" lastIdx="0" clrIdx="2258"/>
  <p:cmAuthor id="2260" name="mctang2" initials="m" lastIdx="0" clrIdx="2259"/>
  <p:cmAuthor id="2261" name="jyxie11" initials="j" lastIdx="0" clrIdx="2260"/>
  <p:cmAuthor id="2262" name="shinevin liu" initials="s" lastIdx="0" clrIdx="2261"/>
  <p:cmAuthor id="2263" name="yanzheng4" initials="y" lastIdx="0" clrIdx="2262"/>
  <p:cmAuthor id="2264" name="Autumn" initials="A" lastIdx="0" clrIdx="2263"/>
  <p:cmAuthor id="2265" name="133" initials="1" lastIdx="0" clrIdx="2264"/>
  <p:cmAuthor id="2266" name="83934" initials="8" lastIdx="0" clrIdx="2265"/>
  <p:cmAuthor id="2267" name="qiu" initials="q" lastIdx="0" clrIdx="2266"/>
  <p:cmAuthor id="2268" name="yzwang25" initials="y" lastIdx="0" clrIdx="2267"/>
  <p:cmAuthor id="2269" name="simin Li" initials="sL" lastIdx="0" clrIdx="2268"/>
  <p:cmAuthor id="2270" name="Anne楠" initials="Anne" lastIdx="0" clrIdx="2269"/>
  <p:cmAuthor id="2271" name="zzchen7" initials="z" lastIdx="0" clrIdx="2270"/>
  <p:cmAuthor id="2272" name="Paula White (Silver Fox)" initials="P" lastIdx="0" clrIdx="2271"/>
  <p:cmAuthor id="2273" name="MA QINGXIN" initials="MQ" lastIdx="0" clrIdx="2272"/>
  <p:cmAuthor id="2274" name="mdli4" initials="m" lastIdx="0" clrIdx="2273"/>
  <p:cmAuthor id="2275" name="HONOR" initials="H" lastIdx="0" clrIdx="2274"/>
  <p:cmAuthor id="2276" name="xlli27" initials="x" lastIdx="0" clrIdx="2275"/>
  <p:cmAuthor id="2277" name="wtfeng2" initials="w" lastIdx="0" clrIdx="2276"/>
  <p:cmAuthor id="2278" name="孙瑞娟" initials="孙瑞娟" lastIdx="0" clrIdx="2277"/>
  <p:cmAuthor id="2279" name="郑振茹" initials="郑振茹" lastIdx="0" clrIdx="2278"/>
  <p:cmAuthor id="2280" name="高锦锋" initials="高" lastIdx="0" clrIdx="2279"/>
  <p:cmAuthor id="2281" name="ppzhang13" initials="p" lastIdx="0" clrIdx="2280"/>
  <p:cmAuthor id="2282" name="孙境廷" initials="孙" lastIdx="0" clrIdx="2281"/>
  <p:cmAuthor id="2283" name="slanz" initials="s" lastIdx="0" clrIdx="2282"/>
  <p:cmAuthor id="2284" name="刘 娟" initials="刘" lastIdx="0" clrIdx="2283"/>
  <p:cmAuthor id="2285" name="JumperApp" initials="J" lastIdx="0" clrIdx="2284"/>
  <p:cmAuthor id="2286" name="Huang Hongbo" initials="HH" lastIdx="0" clrIdx="2285"/>
  <p:cmAuthor id="2287" name="wh3f0304" initials="w" lastIdx="0" clrIdx="2286"/>
  <p:cmAuthor id="2288" name="gao markin" initials="gm" lastIdx="0" clrIdx="2287"/>
  <p:cmAuthor id="2289" name="temp" initials="t" lastIdx="0" clrIdx="2288"/>
  <p:cmAuthor id="2290" name="杨国" initials="杨" lastIdx="0" clrIdx="2289"/>
  <p:cmAuthor id="2291" name="tkuser" initials="t" lastIdx="0" clrIdx="2290"/>
  <p:cmAuthor id="2292" name="tplife" initials="t" lastIdx="0" clrIdx="2291"/>
  <p:cmAuthor id="2293" name="zhenwb" initials="z" lastIdx="0" clrIdx="2292"/>
  <p:cmAuthor id="2294" name="ansen emma" initials="a" lastIdx="0" clrIdx="2293"/>
  <p:cmAuthor id="2295" name="余潇迎" initials="余" lastIdx="0" clrIdx="2294"/>
  <p:cmAuthor id="2296" name="w" initials="w" lastIdx="0" clrIdx="2295"/>
  <p:cmAuthor id="2297" name="Gu Yiwen" initials="GY" lastIdx="0" clrIdx="2296"/>
  <p:cmAuthor id="2298" name="陈 橙橙" initials="陈" lastIdx="0" clrIdx="2297"/>
  <p:cmAuthor id="2299" name="catlaohu" initials="c" lastIdx="0" clrIdx="2298"/>
  <p:cmAuthor id="2300" name="盛红" initials="盛" lastIdx="0" clrIdx="2299"/>
  <p:cmAuthor id="2301" name="志龙 姜" initials="志" lastIdx="0" clrIdx="2300"/>
  <p:cmAuthor id="2302" name="陈静雯" initials="陈" lastIdx="0" clrIdx="2301"/>
  <p:cmAuthor id="2303" name="CommUser" initials="C" lastIdx="0" clrIdx="2302"/>
  <p:cmAuthor id="2304" name="Qu song" initials="Q" lastIdx="0" clrIdx="2303"/>
  <p:cmAuthor id="2305" name="asuse" initials="a" lastIdx="0" clrIdx="2304"/>
  <p:cmAuthor id="2306" name="tpuser" initials="t" lastIdx="0" clrIdx="2305"/>
  <p:cmAuthor id="2307" name="朱海平" initials="朱" lastIdx="0" clrIdx="2306"/>
  <p:cmAuthor id="2308" name="王景红" initials="王" lastIdx="0" clrIdx="2307"/>
  <p:cmAuthor id="2309" name="席金煜" initials="席" lastIdx="0" clrIdx="2308"/>
  <p:cmAuthor id="2310" name="樊佳佳" initials="樊" lastIdx="0" clrIdx="2309"/>
  <p:cmAuthor id="2311" name="fgx" initials="f" lastIdx="0" clrIdx="2310"/>
  <p:cmAuthor id="2312" name="回校" initials="回" lastIdx="0" clrIdx="2311"/>
  <p:cmAuthor id="2313" name="高永刚" initials="高" lastIdx="0" clrIdx="2312"/>
  <p:cmAuthor id="2314" name="袁 栋" initials="袁" lastIdx="0" clrIdx="2313"/>
  <p:cmAuthor id="2315" name="wu ruozhen" initials="wr" lastIdx="0" clrIdx="2314"/>
  <p:cmAuthor id="2316" name="太海峰" initials="太" lastIdx="0" clrIdx="2315"/>
  <p:cmAuthor id="2317" name="hk z" initials="hz" lastIdx="0" clrIdx="2316"/>
  <p:cmAuthor id="2318" name="xuzha" initials="x" lastIdx="0" clrIdx="2317"/>
  <p:cmAuthor id="2319" name="Xiaosu Wang" initials="XW" lastIdx="0" clrIdx="2318"/>
  <p:cmAuthor id="2320" name="企业用户_336365963" initials="企" lastIdx="0" clrIdx="2319"/>
  <p:cmAuthor id="2321" name="刘晓忙" initials="" lastIdx="0" clrIdx="2320"/>
  <p:cmAuthor id="2322" name="hui" initials="h" lastIdx="0" clrIdx="2321"/>
  <p:cmAuthor id="2323" name="yanyu3" initials="y" lastIdx="0" clrIdx="2322"/>
  <p:cmAuthor id="2324" name="王晨晨" initials="王晨晨" lastIdx="0" clrIdx="2323"/>
  <p:cmAuthor id="2325" name="xiaopeng" initials="" lastIdx="0" clrIdx="2324"/>
  <p:cmAuthor id="2326" name="ywsong5" initials="y" lastIdx="0" clrIdx="2325"/>
  <p:cmAuthor id="2327" name="huizhao6" initials="h" lastIdx="0" clrIdx="2326"/>
  <p:cmAuthor id="2328" name="刘 译璟" initials="刘" lastIdx="0" clrIdx="2327"/>
  <p:cmAuthor id="2329" name="zhaozhang13" initials="z" lastIdx="0" clrIdx="2328"/>
  <p:cmAuthor id="2330" name="xypeng3" initials="x" lastIdx="0" clrIdx="2329"/>
  <p:cmAuthor id="2331" name="jhjiang" initials="j" lastIdx="0" clrIdx="2330"/>
  <p:cmAuthor id="2332" name="KK" initials="MOU" lastIdx="0" clrIdx="2331"/>
  <p:cmAuthor id="2333" name="hyqi4" initials="h" lastIdx="0" clrIdx="2332"/>
  <p:cmAuthor id="2334" name="lhmei_nQVriEvi" initials="authorId_1298381640" lastIdx="0" clrIdx="2333"/>
  <p:cmAuthor id="2335" name="hhh" initials="h" lastIdx="0" clrIdx="2334"/>
  <p:cmAuthor id="2336" name="徐晓微" initials="徐晓微" lastIdx="0" clrIdx="2335"/>
  <p:cmAuthor id="2337" name="Owner" initials="O" lastIdx="0" clrIdx="2336"/>
  <p:cmAuthor id="2338" name="WPS_1592556096" initials="W" lastIdx="0" clrIdx="2337"/>
  <p:cmAuthor id="2339" name="X13-Y" initials="X" lastIdx="0" clrIdx="2338"/>
  <p:cmAuthor id="2340" name="赵永成" initials="赵" lastIdx="0" clrIdx="2339"/>
  <p:cmAuthor id="2341" name="Oscar" initials="O" lastIdx="0" clrIdx="2340"/>
  <p:cmAuthor id="2342" name="Phoebe" initials="P" lastIdx="0" clrIdx="2341"/>
  <p:cmAuthor id="2343" name="储贤民" initials="储" lastIdx="0" clrIdx="2342"/>
  <p:cmAuthor id="2344" name="CMIT" initials="C" lastIdx="0" clrIdx="2343"/>
  <p:cmAuthor id="2345" name="奇点" initials="奇" lastIdx="0" clrIdx="2344"/>
  <p:cmAuthor id="2346" name="吴开云" initials="吴" lastIdx="0" clrIdx="2345"/>
  <p:cmAuthor id="2347" name="✨ Nicole " initials="✨" lastIdx="0" clrIdx="2346"/>
  <p:cmAuthor id="2348" name="李凤仪" initials="李" lastIdx="0" clrIdx="2347"/>
  <p:cmAuthor id="2349" name="西赆南琛" initials="西" lastIdx="0" clrIdx="2348"/>
  <p:cmAuthor id="2350" name="黄常宇" initials="黄" lastIdx="0" clrIdx="2349"/>
  <p:cmAuthor id="2351" name="晚·峰" initials="晚" lastIdx="0" clrIdx="2350"/>
  <p:cmAuthor id="2352" name=" 胖哒慧" initials="" lastIdx="0" clrIdx="2351"/>
  <p:cmAuthor id="2353" name="WIN10" initials="W" lastIdx="0" clrIdx="2352"/>
  <p:cmAuthor id="2354" name="小迷糊" initials="小" lastIdx="0" clrIdx="2353"/>
  <p:cmAuthor id="2355" name="曼 王" initials="曼王" lastIdx="0" clrIdx="2354"/>
  <p:cmAuthor id="2356" name="Daigy" initials="D" lastIdx="0" clrIdx="2355"/>
  <p:cmAuthor id="2357" name="sx" initials="s" lastIdx="0" clrIdx="2356"/>
  <p:cmAuthor id="2358" name="罗冠" initials="罗" lastIdx="0" clrIdx="2357"/>
  <p:cmAuthor id="2359" name="未知的使用者189" initials="未" lastIdx="0" clrIdx="2358"/>
  <p:cmAuthor id="2360" name="ex_fantt" initials="e" lastIdx="0" clrIdx="2359"/>
  <p:cmAuthor id="2361" name="薛洪霞" initials="薛" lastIdx="0" clrIdx="2360"/>
  <p:cmAuthor id="2362" name="Xia Ting" initials="X" lastIdx="0" clrIdx="2361"/>
  <p:cmAuthor id="2363" name="艾博文" initials="艾" lastIdx="0" clrIdx="2362"/>
  <p:cmAuthor id="2364" name="杨涛" initials="杨" lastIdx="0" clrIdx="2363"/>
  <p:cmAuthor id="2365" name="linxiao" initials="l" lastIdx="0" clrIdx="2364"/>
  <p:cmAuthor id="2366" name="ex_yangwei5" initials="e" lastIdx="0" clrIdx="2365"/>
  <p:cmAuthor id="2367" name="穗儿" initials="穗" lastIdx="0" clrIdx="2366"/>
  <p:cmAuthor id="2368" name="Alt," initials="A" lastIdx="0" clrIdx="2367"/>
  <p:cmAuthor id="2369" name="盛艳" initials="盛艳" lastIdx="0" clrIdx="2368"/>
  <p:cmAuthor id="2370" name="Hjzhang-X1" initials="H" lastIdx="0" clrIdx="2369"/>
  <p:cmAuthor id="2371" name="吴岸" initials="吴岸" lastIdx="0" clrIdx="2370"/>
  <p:cmAuthor id="2372" name="unknown" initials="z" lastIdx="0" clrIdx="2371"/>
  <p:cmAuthor id="2373" name="朱 汉雄" initials="朱" lastIdx="0" clrIdx="2372"/>
  <p:cmAuthor id="2374" name="xiao sorn" initials="xs" lastIdx="0" clrIdx="2373"/>
  <p:cmAuthor id="2375" name="李婉君" initials="李" lastIdx="0" clrIdx="2374"/>
  <p:cmAuthor id="2376" name="柴祯" initials="柴" lastIdx="0" clrIdx="2375"/>
  <p:cmAuthor id="2377" name="李 奇峰" initials="李" lastIdx="0" clrIdx="2376"/>
  <p:cmAuthor id="2378" name="卢 歆怡" initials="卢" lastIdx="0" clrIdx="2377"/>
  <p:cmAuthor id="2379" name="棘星" initials="科技处棘星" lastIdx="0" clrIdx="2378"/>
  <p:cmAuthor id="2380" name="杜伟" initials="杜伟" lastIdx="0" clrIdx="2379"/>
  <p:cmAuthor id="2381" name="qkchen2" initials="q" lastIdx="0" clrIdx="2380"/>
  <p:cmAuthor id="2382" name="叶得会" initials="叶" lastIdx="0" clrIdx="2381"/>
  <p:cmAuthor id="2383" name="zhang bin" initials="zb" lastIdx="0" clrIdx="2382"/>
  <p:cmAuthor id="2384" name="王奎" initials="王" lastIdx="0" clrIdx="2383"/>
  <p:cmAuthor id="2385" name="张扬扬" initials="" lastIdx="0" clrIdx="2384"/>
  <p:cmAuthor id="2386" name="陈烨坤" initials="陈烨坤" lastIdx="0" clrIdx="2385"/>
  <p:cmAuthor id="2387" name="tan zhu" initials="" lastIdx="0" clrIdx="2386"/>
  <p:cmAuthor id="2388" name="Judi Lee" initials="J" lastIdx="0" clrIdx="2387"/>
  <p:cmAuthor id="2389" name="Xu ., Lei(Amanda)" initials="X.L" lastIdx="0" clrIdx="2388"/>
  <p:cmAuthor id="2390" name="Luka" initials="L" lastIdx="0" clrIdx="2389"/>
  <p:cmAuthor id="2391" name="Zhang, James Y (SH/MC)" initials="Z" lastIdx="0" clrIdx="2390"/>
  <p:cmAuthor id="2392" name="翟宏帅" initials="翟" lastIdx="0" clrIdx="2391"/>
  <p:cmAuthor id="2393" name="王 巍巍" initials="王" lastIdx="0" clrIdx="2392"/>
  <p:cmAuthor id="2394" name="Unknown User9" initials="Unknown User9" lastIdx="0" clrIdx="2393"/>
  <p:cmAuthor id="2395" name="张 平" initials="张" lastIdx="0" clrIdx="2394"/>
  <p:cmAuthor id="2396" name="lynne" initials="l" lastIdx="0" clrIdx="2395"/>
  <p:cmAuthor id="2397" name="qwer266" initials="q" lastIdx="0" clrIdx="2396"/>
  <p:cmAuthor id="2398" name="00" initials="0" lastIdx="0" clrIdx="2397"/>
  <p:cmAuthor id="2399" name="wyj9898@163.com" initials="w" lastIdx="0" clrIdx="2398"/>
  <p:cmAuthor id="2400" name="kaminarimiyabikoto" initials="k" lastIdx="0" clrIdx="2399"/>
  <p:cmAuthor id="2401" name="Ys.Han" initials="Y" lastIdx="0" clrIdx="2400"/>
  <p:cmAuthor id="2402" name="严 帅" initials="严" lastIdx="0" clrIdx="2401"/>
  <p:cmAuthor id="2403" name="周舟-商业广告_Y7Bf3EjA" initials="authorId_1340955903" lastIdx="0" clrIdx="2402"/>
  <p:cmAuthor id="2404" name="王思雨-商业广告_R3AbJrye" initials="authorId_1323117445" lastIdx="0" clrIdx="2403"/>
  <p:cmAuthor id="2405" name="hongliu" initials="h" lastIdx="0" clrIdx="2404"/>
  <p:cmAuthor id="2406" name="我是你笑爷" initials="我" lastIdx="0" clrIdx="2405"/>
  <p:cmAuthor id="2407" name="Auteur" initials="A" lastIdx="0" clrIdx="2406"/>
  <p:cmAuthor id="2408" name="Regression" initials="R" lastIdx="0" clrIdx="2407"/>
  <p:cmAuthor id="2409" name="邢 术锋" initials="邢" lastIdx="0" clrIdx="2408"/>
  <p:cmAuthor id="2410" name="R480" initials="R" lastIdx="0" clrIdx="2409"/>
  <p:cmAuthor id="2411" name="suaofengyang@126.com" initials="s" lastIdx="0" clrIdx="2410"/>
  <p:cmAuthor id="2412" name="孟 范志" initials="孟" lastIdx="0" clrIdx="2411"/>
  <p:cmAuthor id="2413" name="么长英" initials="n" lastIdx="0" clrIdx="2412"/>
  <p:cmAuthor id="2414" name="XUWEI" initials="X" lastIdx="0" clrIdx="2413"/>
  <p:cmAuthor id="2415" name="Dorrin" initials="D" lastIdx="0" clrIdx="2414"/>
  <p:cmAuthor id="2416" name="刘 铮" initials="刘" lastIdx="0" clrIdx="2415"/>
  <p:cmAuthor id="2417" name="pis (☆_☆)" initials="p" lastIdx="0" clrIdx="2416"/>
  <p:cmAuthor id="2418" name="张丽华" initials="张" lastIdx="0" clrIdx="2417"/>
  <p:cmAuthor id="2419" name="董峻宏" initials="董" lastIdx="0" clrIdx="2418"/>
  <p:cmAuthor id="2420" name="郭庆" initials="郭" lastIdx="0" clrIdx="2419"/>
  <p:cmAuthor id="2421" name="zhouzean" initials="z" lastIdx="0" clrIdx="2420"/>
  <p:cmAuthor id="2422" name="李鹏飞_6bQfzI3a" initials="李" lastIdx="0" clrIdx="2421"/>
  <p:cmAuthor id="2423" name="徐晴婕" initials="徐" lastIdx="0" clrIdx="2422"/>
  <p:cmAuthor id="2424" name="pccc531" initials="p" lastIdx="0" clrIdx="2423"/>
  <p:cmAuthor id="2425" name="谢思明" initials="谢" lastIdx="0" clrIdx="2424"/>
  <p:cmAuthor id="2426" name="叶茂甫" initials="叶" lastIdx="0" clrIdx="2425"/>
  <p:cmAuthor id="2427" name="gayxb" initials="g" lastIdx="0" clrIdx="2426"/>
  <p:cmAuthor id="2428" name="ZXAGX@outlook.com" initials="Z" lastIdx="0" clrIdx="2427"/>
  <p:cmAuthor id="2429" name="Bo" initials="B" lastIdx="0" clrIdx="2428"/>
  <p:cmAuthor id="2430" name="郑由星_外网" initials="郑" lastIdx="0" clrIdx="2429"/>
  <p:cmAuthor id="2431" name="nieyp" initials="n" lastIdx="0" clrIdx="2430"/>
  <p:cmAuthor id="2432" name="王小东" initials="王" lastIdx="0" clrIdx="2431"/>
  <p:cmAuthor id="2433" name="孙金枝" initials="孙" lastIdx="0" clrIdx="2432"/>
  <p:cmAuthor id="2434" name="daiyi06" initials="d" lastIdx="0" clrIdx="2433"/>
  <p:cmAuthor id="2435" name="吴少晨" initials="吴少晨" lastIdx="0" clrIdx="2434"/>
  <p:cmAuthor id="2436" name="吴文杰" initials="wu" lastIdx="0" clrIdx="2435"/>
  <p:cmAuthor id="2437" name="郭洁" initials="guojie" lastIdx="0" clrIdx="2436"/>
  <p:cmAuthor id="2438" name="LSY" initials="L" lastIdx="0" clrIdx="2437"/>
  <p:cmAuthor id="2439" name="陈嫣瑾" initials="陈" lastIdx="0" clrIdx="2438"/>
  <p:cmAuthor id="2440" name="新一代核心系统建设推进工作小组" initials="新" lastIdx="0" clrIdx="2439"/>
  <p:cmAuthor id="2441" name="李昂" initials="李" lastIdx="0" clrIdx="2440"/>
  <p:cmAuthor id="2442" name="丁慧" initials="丁" lastIdx="0" clrIdx="2441"/>
  <p:cmAuthor id="2443" name="Qiu, Tonia /CN" initials="QT/" lastIdx="0" clrIdx="2442"/>
  <p:cmAuthor id="2444" name="zll" initials="H" lastIdx="0" clrIdx="2443"/>
  <p:cmAuthor id="2445" name="CCA" initials="C" lastIdx="0" clrIdx="2444"/>
  <p:cmAuthor id="2446" name="王习习" initials="王" lastIdx="0" clrIdx="2445"/>
  <p:cmAuthor id="2447" name="申玉霞" initials="申" lastIdx="0" clrIdx="2446"/>
  <p:cmAuthor id="2448" name="刘乐" initials="刘" lastIdx="0" clrIdx="2447"/>
  <p:cmAuthor id="2449" name="942118604@qq.com" initials="9" lastIdx="0" clrIdx="2448"/>
  <p:cmAuthor id="2450" name="孙宁" initials="孙" lastIdx="0" clrIdx="2449"/>
  <p:cmAuthor id="2451" name="郑骏" initials="郑骏" lastIdx="0" clrIdx="2450"/>
  <p:cmAuthor id="2452" name="佳" initials="佳" lastIdx="0" clrIdx="2451"/>
  <p:cmAuthor id="2453" name="Ronnie" initials="R" lastIdx="0" clrIdx="2452"/>
  <p:cmAuthor id="2454" name="xieyw" initials="x" lastIdx="0" clrIdx="2453"/>
  <p:cmAuthor id="2455" name="洋葱头" initials="洋" lastIdx="0" clrIdx="2454"/>
  <p:cmAuthor id="2456" name="刘德超" initials="刘" lastIdx="0" clrIdx="2455"/>
  <p:cmAuthor id="2457" name="WPS_1668126963" initials="W" lastIdx="0" clrIdx="2456"/>
  <p:cmAuthor id="2458" name="M.eng" initials="M" lastIdx="0" clrIdx="2457"/>
  <p:cmAuthor id="2459" name="海阳" initials="海" lastIdx="0" clrIdx="2458"/>
  <p:cmAuthor id="2460" name="Fanny" initials="F" lastIdx="0" clrIdx="2459"/>
  <p:cmAuthor id="2461" name="冬" initials="冬" lastIdx="0" clrIdx="2460"/>
  <p:cmAuthor id="2462" name="孙圈圈" initials="孙" lastIdx="0" clrIdx="2461"/>
  <p:cmAuthor id="2463" name="GUO ZI" initials="GZ" lastIdx="0" clrIdx="2462"/>
  <p:cmAuthor id="2464" name="阳光若水" initials="阳" lastIdx="0" clrIdx="2463"/>
  <p:cmAuthor id="2465" name="J I N G " initials="J" lastIdx="0" clrIdx="2464"/>
  <p:cmAuthor id="2466" name="李盼" initials="李" lastIdx="0" clrIdx="2465"/>
  <p:cmAuthor id="2467" name="王 成岩" initials="王" lastIdx="0" clrIdx="2466"/>
  <p:cmAuthor id="2468" name="陶夏溦" initials="陶夏溦" lastIdx="0" clrIdx="2467"/>
  <p:cmAuthor id="2469" name="uo G" initials="uG" lastIdx="0" clrIdx="2468"/>
  <p:cmAuthor id="2470" name="雨天" initials="雨" lastIdx="0" clrIdx="2469"/>
  <p:cmAuthor id="2471" name="XZ25" initials="x" lastIdx="0" clrIdx="2470"/>
  <p:cmAuthor id="2472" name="未知用户381" initials="未" lastIdx="0" clrIdx="2471"/>
  <p:cmAuthor id="2473" name="yang fengyu" initials="yf" lastIdx="0" clrIdx="2472"/>
  <p:cmAuthor id="2474" name="李 鑫" initials="李" lastIdx="0" clrIdx="2473"/>
  <p:cmAuthor id="2475" name="张璐" initials="张" lastIdx="0" clrIdx="2474"/>
  <p:cmAuthor id="2476" name="jerrychou" initials="j" lastIdx="0" clrIdx="2475"/>
  <p:cmAuthor id="2477" name="不明使用者1" initials="不" lastIdx="0" clrIdx="2476"/>
  <p:cmAuthor id="2478" name="不明使用者7" initials="不" lastIdx="0" clrIdx="2477"/>
  <p:cmAuthor id="2479" name="未知的使用者230" initials="" lastIdx="0" clrIdx="2478"/>
  <p:cmAuthor id="2480" name="未知的使用者232" initials="" lastIdx="0" clrIdx="2479"/>
  <p:cmAuthor id="2481" name="不明使用者11" initials="不" lastIdx="0" clrIdx="2480"/>
  <p:cmAuthor id="2482" name="macos" initials="m" lastIdx="0" clrIdx="2481"/>
  <p:cmAuthor id="2483" name="wangchangkun@cmhi.cmcc" initials="wangchangkun@cmhi.cmcc" lastIdx="0" clrIdx="2482"/>
  <p:cmAuthor id="2484" name="shq316@vod365.com" initials="s" lastIdx="0" clrIdx="2483"/>
  <p:cmAuthor id="2485" name="未知的使用者260" initials="未" lastIdx="0" clrIdx="2484"/>
  <p:cmAuthor id="2486" name="未知的使用者129" initials="未" lastIdx="0" clrIdx="2485"/>
  <p:cmAuthor id="2487" name="许建超" initials="xu" lastIdx="0" clrIdx="2486"/>
  <p:cmAuthor id="2488" name="未知的使用者254" initials="未" lastIdx="0" clrIdx="2487"/>
  <p:cmAuthor id="2489" name="侯大鹏" initials="侯大鹏" lastIdx="0" clrIdx="2488"/>
  <p:cmAuthor id="2490" name="konglu2012@126.com" initials="k" lastIdx="0" clrIdx="2489"/>
  <p:cmAuthor id="2491" name="Danling Li" initials="D" lastIdx="0" clrIdx="2490"/>
  <p:cmAuthor id="2492" name="Saunter" initials="S" lastIdx="0" clrIdx="2491"/>
  <p:cmAuthor id="2493" name="王瑶" initials="王" lastIdx="0" clrIdx="2492"/>
  <p:cmAuthor id="2494" name="Bo Yu" initials="B" lastIdx="0" clrIdx="2493"/>
  <p:cmAuthor id="2495" name="杨婷婷" initials="杨" lastIdx="0" clrIdx="2494"/>
  <p:cmAuthor id="2496" name="maple" initials="m" lastIdx="0" clrIdx="2495"/>
  <p:cmAuthor id="2497" name="陈晨" initials="陈" lastIdx="0" clrIdx="2496"/>
  <p:cmAuthor id="2498" name="欧阳华-011436_uam2e2IF" initials="authorId_24979" lastIdx="0" clrIdx="2497"/>
  <p:cmAuthor id="2499" name="张浩钧" initials="zhanghj" lastIdx="0" clrIdx="2498"/>
  <p:cmAuthor id="2500" name="SONY" initials="S" lastIdx="0" clrIdx="2499"/>
  <p:cmAuthor id="2501" name="范修来" initials="范修来" lastIdx="0" clrIdx="2500"/>
  <p:cmAuthor id="2502" name="赵静（总行零售信贷）" initials="赵静（总行零售信贷）" lastIdx="0" clrIdx="2501"/>
  <p:cmAuthor id="2503" name="feng yang" initials="fy" lastIdx="0" clrIdx="2502"/>
  <p:cmAuthor id="2504" name="过文亮" initials="过文亮" lastIdx="0" clrIdx="2503"/>
  <p:cmAuthor id="2505" name="邰洪婷" initials="邰洪婷" lastIdx="0" clrIdx="2504"/>
  <p:cmAuthor id="2506" name="叶灼贤" initials="叶灼贤" lastIdx="0" clrIdx="2505"/>
  <p:cmAuthor id="2507" name="鲁进" initials="鲁进" lastIdx="0" clrIdx="2506"/>
  <p:cmAuthor id="2508" name="feng li" initials="fl" lastIdx="0" clrIdx="2507"/>
  <p:cmAuthor id="2509" name="裴秋然" initials="裴秋然" lastIdx="0" clrIdx="2508"/>
  <p:cmAuthor id="2510" name="俞骅" initials="俞骅" lastIdx="0" clrIdx="2509"/>
  <p:cmAuthor id="2511" name="李伟" initials="李伟" lastIdx="0" clrIdx="2510"/>
  <p:cmAuthor id="2512" name="李飞" initials="李飞" lastIdx="0" clrIdx="2511"/>
  <p:cmAuthor id="2513" name="王玉超" initials="王玉超" lastIdx="0" clrIdx="2512"/>
  <p:cmAuthor id="2514" name="况夫容" initials="况夫容" lastIdx="0" clrIdx="2513"/>
  <p:cmAuthor id="2515" name="PJ Landwehrle" initials="P" lastIdx="0" clrIdx="2514"/>
  <p:cmAuthor id="2516" name="smkhan" initials="s" lastIdx="0" clrIdx="2515"/>
  <p:cmAuthor id="2517" name="user8246" initials="u" lastIdx="0" clrIdx="2516"/>
  <p:cmAuthor id="2518" name="朱磊" initials="朱" lastIdx="0" clrIdx="2517"/>
  <p:cmAuthor id="2519" name="李岩（IT）" initials="李" lastIdx="0" clrIdx="2518"/>
  <p:cmAuthor id="2520" name="13686" initials="1" lastIdx="0" clrIdx="2519"/>
  <p:cmAuthor id="2521" name="周辉" initials="周" lastIdx="0" clrIdx="2520"/>
  <p:cmAuthor id="2522" name="Xinyue Li" initials="X" lastIdx="0" clrIdx="2521"/>
  <p:cmAuthor id="2523" name="郭雨婷" initials="郭" lastIdx="0" clrIdx="2522"/>
  <p:cmAuthor id="2524" name="yanhexin" initials="y" lastIdx="0" clrIdx="2523"/>
  <p:cmAuthor id="2525" name="CHEN LONG" initials="C" lastIdx="0" clrIdx="2524"/>
  <p:cmAuthor id="2526" name="zhangjingjing-033" initials="z" lastIdx="0" clrIdx="2525"/>
  <p:cmAuthor id="2527" name="核保" initials="核" lastIdx="0" clrIdx="2526"/>
  <p:cmAuthor id="2528" name="kp l" initials="k" lastIdx="0" clrIdx="2527"/>
  <p:cmAuthor id="2529" name="wanghao31" initials="w" lastIdx="0" clrIdx="2528"/>
  <p:cmAuthor id="2530" name="zhouyiming" initials="z" lastIdx="0" clrIdx="2529"/>
  <p:cmAuthor id="2531" name="姚琴" initials="姚琴" lastIdx="0" clrIdx="2530"/>
  <p:cmAuthor id="2532" name="陈依依" initials="陈" lastIdx="0" clrIdx="2531"/>
  <p:cmAuthor id="2533" name="实习生_严政宇" initials="实" lastIdx="0" clrIdx="2532"/>
  <p:cmAuthor id="2534" name="jing.xue" initials="j" lastIdx="0" clrIdx="2533"/>
  <p:cmAuthor id="2535" name="方方" initials="方" lastIdx="0" clrIdx="2534"/>
  <p:cmAuthor id="2536" name="tuhh" initials="t" lastIdx="0" clrIdx="2535"/>
  <p:cmAuthor id="2537" name="庞付娟" initials="庞" lastIdx="0" clrIdx="2536"/>
  <p:cmAuthor id="2538" name="hy-tkyl" initials="h" lastIdx="0" clrIdx="2537"/>
  <p:cmAuthor id="2539" name="黄元" initials="黄" lastIdx="0" clrIdx="2538"/>
  <p:cmAuthor id="2540" name="胡君" initials="胡" lastIdx="0" clrIdx="2539"/>
  <p:cmAuthor id="2541" name="FrogPrince1121" initials="F" lastIdx="0" clrIdx="2540"/>
  <p:cmAuthor id="2542" name="stillu" initials="s" lastIdx="0" clrIdx="2541"/>
  <p:cmAuthor id="2543" name="孟 兵" initials="孟" lastIdx="0" clrIdx="2542"/>
  <p:cmAuthor id="2544" name="Ab133" initials="A" lastIdx="0" clrIdx="2543"/>
  <p:cmAuthor id="2545" name="杨舟" initials="Y" lastIdx="0" clrIdx="2544"/>
  <p:cmAuthor id="2546" name="zxc" initials="z" lastIdx="0" clrIdx="2545"/>
  <p:cmAuthor id="2547" name="mei shuo" initials="mei shuo" lastIdx="0" clrIdx="2546"/>
  <p:cmAuthor id="2548" name="zhouying" initials="ZY" lastIdx="0" clrIdx="2547"/>
  <p:cmAuthor id="2549" name="张建勇" initials="u" lastIdx="0" clrIdx="2548"/>
  <p:cmAuthor id="2550" name="MI" initials="M" lastIdx="0" clrIdx="2549"/>
  <p:cmAuthor id="2551" name="黄忠孝" initials="黄" lastIdx="0" clrIdx="2550"/>
  <p:cmAuthor id="2552" name="嘉琦" initials="嘉琦" lastIdx="0" clrIdx="2551"/>
  <p:cmAuthor id="2553" name="梁光灯_iI7bJ7vm" initials="authorId_510858482" lastIdx="0" clrIdx="2552"/>
  <p:cmAuthor id="2554" name="yangjun123" initials="y" lastIdx="0" clrIdx="2553"/>
  <p:cmAuthor id="2555" name="未知的使用者217" initials="未" lastIdx="0" clrIdx="2554"/>
  <p:cmAuthor id="2556" name="未知的使用者174" initials="未" lastIdx="0" clrIdx="2555"/>
  <p:cmAuthor id="2557" name="唐 赛" initials="唐" lastIdx="0" clrIdx="2556"/>
  <p:cmAuthor id="2558" name="未知用户282" initials="未" lastIdx="0" clrIdx="2557"/>
  <p:cmAuthor id="2559" name="未知的使用者250" initials="未" lastIdx="0" clrIdx="2558"/>
  <p:cmAuthor id="2560" name="韩嘉伟" initials="韩" lastIdx="0" clrIdx="2559"/>
  <p:cmAuthor id="2561" name="丁利文" initials="丁" lastIdx="0" clrIdx="2560"/>
  <p:cmAuthor id="2562" name="Sixteen" initials="S" lastIdx="0" clrIdx="2561"/>
  <p:cmAuthor id="2563" name="夏小芸°Bella" initials="夏" lastIdx="0" clrIdx="2562"/>
  <p:cmAuthor id="2564" name="韩林松" initials="a" lastIdx="0" clrIdx="2563"/>
  <p:cmAuthor id="2565" name="简单1401026546" initials="简" lastIdx="0" clrIdx="2564"/>
  <p:cmAuthor id="2566" name="吴萍pingwu2" initials="吴" lastIdx="0" clrIdx="2565"/>
  <p:cmAuthor id="2567" name="丹" initials="丹" lastIdx="0" clrIdx="2566"/>
  <p:cmAuthor id="2568" name="殷兵" initials="殷兵" lastIdx="0" clrIdx="2567"/>
  <p:cmAuthor id="2569" name="Chita Liu" initials="C" lastIdx="0" clrIdx="2568"/>
  <p:cmAuthor id="2570" name="张小山" initials="张" lastIdx="0" clrIdx="2569"/>
  <p:cmAuthor id="2571" name="颜敏" initials="颜" lastIdx="0" clrIdx="2570"/>
  <p:cmAuthor id="2572" name="张迪" initials="张" lastIdx="0" clrIdx="2571"/>
  <p:cmAuthor id="2573" name="xzpang2" initials="x" lastIdx="0" clrIdx="2572"/>
  <p:cmAuthor id="2574" name="高胖欧巴" initials="高" lastIdx="0" clrIdx="2573"/>
  <p:cmAuthor id="2575" name="zhechen15" initials="z" lastIdx="0" clrIdx="2574"/>
  <p:cmAuthor id="2576" name="ttzou" initials="t" lastIdx="0" clrIdx="2575"/>
  <p:cmAuthor id="2577" name="19393" initials="1" lastIdx="0" clrIdx="2576"/>
  <p:cmAuthor id="2578" name="WPS_1691732569" initials="W" lastIdx="0" clrIdx="2577"/>
  <p:cmAuthor id="2579" name="用户1" initials="用" lastIdx="0" clrIdx="2578"/>
  <p:cmAuthor id="2580" name="Sylvia-" initials="S" lastIdx="0" clrIdx="2579"/>
  <p:cmAuthor id="2581" name="landscape" initials="l" lastIdx="0" clrIdx="2580"/>
  <p:cmAuthor id="2582" name="wjfu5" initials="w" lastIdx="0" clrIdx="2581"/>
  <p:cmAuthor id="2583" name="谷子" initials="谷" lastIdx="0" clrIdx="2582"/>
  <p:cmAuthor id="2584" name="未知的使用者214" initials="未" lastIdx="0" clrIdx="2583"/>
  <p:cmAuthor id="2585" name="魏建伟" initials="魏" lastIdx="0" clrIdx="2584"/>
  <p:cmAuthor id="2586" name="杨超" initials="杨" lastIdx="0" clrIdx="2585"/>
  <p:cmAuthor id="2587" name="随风的蒲公英" initials="随" lastIdx="0" clrIdx="2586"/>
  <p:cmAuthor id="2588" name="llfu" initials="l" lastIdx="0" clrIdx="2587"/>
  <p:cmAuthor id="2589" name="Athrun1380968400" initials="A" lastIdx="0" clrIdx="2588"/>
  <p:cmAuthor id="2590" name="ruizhang12" initials="r" lastIdx="0" clrIdx="2589"/>
  <p:cmAuthor id="2591" name="Janet Zhao" initials="J" lastIdx="0" clrIdx="2590"/>
  <p:cmAuthor id="2592" name="小双" initials="小" lastIdx="0" clrIdx="2591"/>
  <p:cmAuthor id="2593" name="糊小瑞 ^^" initials="糊" lastIdx="0" clrIdx="2592"/>
  <p:cmAuthor id="2594" name="王大力" initials="王" lastIdx="0" clrIdx="2593"/>
  <p:cmAuthor id="2595" name="付莉莉" initials="付" lastIdx="0" clrIdx="2594"/>
  <p:cmAuthor id="2596" name="媛媛" initials="媛" lastIdx="0" clrIdx="2595"/>
  <p:cmAuthor id="2597" name="进步青年" initials="进" lastIdx="0" clrIdx="2596"/>
  <p:cmAuthor id="2598" name="WPS_1700055720" initials="W" lastIdx="0" clrIdx="2597"/>
  <p:cmAuthor id="2599" name="ylzhu30" initials="y" lastIdx="0" clrIdx="2598"/>
  <p:cmAuthor id="2600" name="rangu" initials="r" lastIdx="0" clrIdx="2599"/>
  <p:cmAuthor id="2601" name="鞦末掃嶪" initials="鞦" lastIdx="0" clrIdx="2600"/>
  <p:cmAuthor id="2602" name="mhhu4" initials="m" lastIdx="0" clrIdx="2601"/>
  <p:cmAuthor id="2603" name="程丽雅" initials="程" lastIdx="0" clrIdx="2602"/>
  <p:cmAuthor id="2604" name="刘鑫" initials="刘" lastIdx="0" clrIdx="2603"/>
  <p:cmAuthor id="2605" name="陈安妮" initials="陈" lastIdx="0" clrIdx="2604"/>
  <p:cmAuthor id="2606" name="傲宇凌天" initials="傲" lastIdx="0" clrIdx="2605"/>
  <p:cmAuthor id="2607" name="Tao" initials="T" lastIdx="0" clrIdx="2606"/>
  <p:cmAuthor id="2608" name="爱上稻草人" initials="爱" lastIdx="0" clrIdx="2607"/>
  <p:cmAuthor id="2609" name="binbintongtong" initials="b" lastIdx="0" clrIdx="2608"/>
  <p:cmAuthor id="2610" name="vivian" initials="v" lastIdx="0" clrIdx="2609"/>
  <p:cmAuthor id="2611" name="你好" initials="你" lastIdx="0" clrIdx="2610"/>
  <p:cmAuthor id="2612" name="四塘主" initials="四" lastIdx="0" clrIdx="2611"/>
  <p:cmAuthor id="2613" name="Mo Zhou" initials="MZ" lastIdx="0" clrIdx="2612"/>
  <p:cmAuthor id="2614" name="WPS_1699864303" initials="W" lastIdx="0" clrIdx="2613"/>
  <p:cmAuthor id="2615" name="世一" initials="世" lastIdx="0" clrIdx="2614"/>
  <p:cmAuthor id="2616" name="素质教育推动者" initials="素" lastIdx="0" clrIdx="2615"/>
  <p:cmAuthor id="2617" name="鲍先森" initials="鲍" lastIdx="0" clrIdx="2616"/>
  <p:cmAuthor id="2618" name="王雯" initials="王" lastIdx="0" clrIdx="2617"/>
  <p:cmAuthor id="2619" name="nature_emInFJF7" initials="authorId_313163542" lastIdx="0" clrIdx="2618"/>
  <p:cmAuthor id="2620" name="Lesley ^∞^" initials="L" lastIdx="0" clrIdx="2619"/>
  <p:cmAuthor id="2621" name="杨思思_VNjyvY7j" initials="authorId_430925712" lastIdx="0" clrIdx="2620"/>
  <p:cmAuthor id="2622" name="未知的使用者229" initials="未" lastIdx="0" clrIdx="2621"/>
  <p:cmAuthor id="2623" name="天顾" initials="天" lastIdx="0" clrIdx="2622"/>
  <p:cmAuthor id="2624" name="未知的使用者234" initials="未" lastIdx="0" clrIdx="2623"/>
  <p:cmAuthor id="2625" name="HE JIE" initials="" lastIdx="0" clrIdx="2624"/>
  <p:cmAuthor id="2626" name="吴玲玲" initials="吴" lastIdx="0" clrIdx="2625"/>
  <p:cmAuthor id="2627" name="丹宁" initials="丹" lastIdx="0" clrIdx="2626"/>
  <p:cmAuthor id="2628" name="邢绍文" initials="邢" lastIdx="0" clrIdx="2627"/>
  <p:cmAuthor id="2629" name="陶 洋" initials="陶" lastIdx="0" clrIdx="2628"/>
  <p:cmAuthor id="2630" name="过眼云烟" initials="过" lastIdx="0" clrIdx="2629"/>
  <p:cmAuthor id="2631" name="dongguan2" initials="d" lastIdx="0" clrIdx="2630"/>
  <p:cmAuthor id="2632" name="13701792343@139.com" initials="1" lastIdx="0" clrIdx="2631"/>
  <p:cmAuthor id="2633" name="榕树下的村口" initials="榕" lastIdx="0" clrIdx="2632"/>
  <p:cmAuthor id="2634" name="d" initials="d" lastIdx="0" clrIdx="2633"/>
  <p:cmAuthor id="2635" name="～_～" initials="～" lastIdx="0" clrIdx="2634"/>
  <p:cmAuthor id="2636" name="楠·Anne" initials="a" lastIdx="0" clrIdx="2635"/>
  <p:cmAuthor id="2637" name="zxqian7" initials="z" lastIdx="0" clrIdx="2636"/>
  <p:cmAuthor id="2638" name="yfzhao24" initials="y" lastIdx="0" clrIdx="2637"/>
  <p:cmAuthor id="2639" name="束柬" initials="束" lastIdx="0" clrIdx="2638"/>
  <p:cmAuthor id="2640" name="平淡中的幸福小女人" initials="平" lastIdx="0" clrIdx="2639"/>
  <p:cmAuthor id="2641" name="未知的使用者231" initials="未" lastIdx="0" clrIdx="2640"/>
  <p:cmAuthor id="2642" name="张鑫" initials="张" lastIdx="0" clrIdx="2641"/>
  <p:cmAuthor id="2643" name="红旗的理想" initials="红" lastIdx="0" clrIdx="2642"/>
  <p:cmAuthor id="2644" name="shq316" initials="s" lastIdx="0" clrIdx="2643"/>
  <p:cmAuthor id="2645" name="LZ" initials="L" lastIdx="0" clrIdx="2644"/>
  <p:cmAuthor id="2646" name="蒯蒯" initials="蒯" lastIdx="0" clrIdx="2645"/>
  <p:cmAuthor id="2647" name="ygcheng" initials="y" lastIdx="0" clrIdx="2646"/>
  <p:cmAuthor id="2648" name="leige2" initials="l" lastIdx="0" clrIdx="2647"/>
  <p:cmAuthor id="2649" name="PP" initials="P" lastIdx="0" clrIdx="2648"/>
  <p:cmAuthor id="2650" name="吴娴" initials="吴" lastIdx="0" clrIdx="2649"/>
  <p:cmAuthor id="2651" name="xyqi6" initials="x" lastIdx="0" clrIdx="2650"/>
  <p:cmAuthor id="2652" name="xiangfeng" initials="x" lastIdx="0" clrIdx="2651"/>
  <p:cmAuthor id="2653" name="yanzhou13" initials="y" lastIdx="0" clrIdx="2652"/>
  <p:cmAuthor id="2654" name="Lei Ray" initials="LR" lastIdx="0" clrIdx="2653"/>
  <p:cmAuthor id="2655" name="Yan Jin (IB)" initials="YJ(" lastIdx="0" clrIdx="2654"/>
  <p:cmAuthor id="2656" name="Yijia Yang" initials="YY" lastIdx="0" clrIdx="2655"/>
  <p:cmAuthor id="2657" name="gaojie (V)" initials="g(" lastIdx="0" clrIdx="2656"/>
  <p:cmAuthor id="2658" name="汪勇" initials="汪" lastIdx="0" clrIdx="2657"/>
  <p:cmAuthor id="2659" name="任 黄" initials="任" lastIdx="0" clrIdx="2658"/>
  <p:cmAuthor id="2660" name="于涛" initials="于" lastIdx="0" clrIdx="2659"/>
  <p:cmAuthor id="2661" name="风" initials="风" lastIdx="0" clrIdx="2660"/>
  <p:cmAuthor id="2662" name="zhizhou" initials="z" lastIdx="0" clrIdx="2661"/>
  <p:cmAuthor id="2663" name="ykyu4" initials="ykyu4" lastIdx="0" clrIdx="2662"/>
  <p:cmAuthor id="2664" name="张思维" initials="zsw" lastIdx="0" clrIdx="2663"/>
  <p:cmAuthor id="2665" name="超级玛腻" initials="超" lastIdx="0" clrIdx="2664"/>
  <p:cmAuthor id="2666" name="刘斐" initials="刘" lastIdx="0" clrIdx="2665"/>
  <p:cmAuthor id="2667" name="wanglina" initials="w" lastIdx="0" clrIdx="2666"/>
  <p:cmAuthor id="2668" name="順天" initials="順" lastIdx="0" clrIdx="2667"/>
  <p:cmAuthor id="2669" name="liyuhong" initials="l" lastIdx="0" clrIdx="2668"/>
  <p:cmAuthor id="2670" name="WenWen" initials="W" lastIdx="0" clrIdx="2669"/>
  <p:cmAuthor id="2671" name="Hedy HM Li" initials="HHL" lastIdx="0" clrIdx="2670"/>
  <p:cmAuthor id="2672" name="靳涛" initials="L" lastIdx="0" clrIdx="2671"/>
  <p:cmAuthor id="2673" name="郭 宁彦" initials="郭" lastIdx="0" clrIdx="2672"/>
  <p:cmAuthor id="2674" name="george xu" initials="gx" lastIdx="0" clrIdx="2673"/>
  <p:cmAuthor id="2675" name="qing0954@163.com" initials="q" lastIdx="0" clrIdx="2674"/>
  <p:cmAuthor id="2676" name="yangh" initials="y" lastIdx="0" clrIdx="2675"/>
  <p:cmAuthor id="2677" name="力进" initials="力进" lastIdx="0" clrIdx="2676"/>
  <p:cmAuthor id="2678" name="dell" initials="d" lastIdx="0" clrIdx="2677"/>
  <p:cmAuthor id="2679" name="heqi" initials="h" lastIdx="0" clrIdx="2678"/>
  <p:cmAuthor id="2680" name="ji chenxi" initials="jc" lastIdx="0" clrIdx="2679"/>
  <p:cmAuthor id="2681" name="杨 科" initials="杨" lastIdx="0" clrIdx="2680"/>
  <p:cmAuthor id="2682" name="校审01" initials="Y" lastIdx="0" clrIdx="2681"/>
  <p:cmAuthor id="2683" name="赵诚荣10027092" initials="赵" lastIdx="0" clrIdx="2682"/>
  <p:cmAuthor id="2684" name="gyx" initials="g" lastIdx="0" clrIdx="2683"/>
  <p:cmAuthor id="2685" name="ZJK" initials="Z" lastIdx="0" clrIdx="2684"/>
  <p:cmAuthor id="2686" name="IrisH" initials="I" lastIdx="0" clrIdx="2685"/>
  <p:cmAuthor id="2687" name="尹瑶瑶" initials="YYY" lastIdx="0" clrIdx="2686"/>
  <p:cmAuthor id="2688" name="sizhao@cmsr.cmcc" initials="S" lastIdx="0" clrIdx="2687"/>
  <p:cmAuthor id="2689" name="cmsz" initials="c" lastIdx="0" clrIdx="2688"/>
  <p:cmAuthor id="2690" name="49554261@qq.com" initials="4" lastIdx="0" clrIdx="2689"/>
  <p:cmAuthor id="2691" name="22720" initials="2" lastIdx="0" clrIdx="2690"/>
  <p:cmAuthor id="2692" name="rongyue" initials="r" lastIdx="0" clrIdx="2691"/>
  <p:cmAuthor id="2693" name="54423" initials="5" lastIdx="0" clrIdx="2692"/>
  <p:cmAuthor id="2694" name="Chengli" initials="C" lastIdx="0" clrIdx="2693"/>
  <p:cmAuthor id="2695" name="xinping liu" initials="xl" lastIdx="0" clrIdx="2694"/>
  <p:cmAuthor id="2696" name="da lin" initials="dl" lastIdx="0" clrIdx="2695"/>
  <p:cmAuthor id="2697" name="619963410@qq.com" initials="6" lastIdx="0" clrIdx="2696"/>
  <p:cmAuthor id="2698" name="黄 俊楠" initials="黄" lastIdx="0" clrIdx="2697"/>
  <p:cmAuthor id="2699" name="administrator" initials="ad" lastIdx="0" clrIdx="2698"/>
  <p:cmAuthor id="2700" name="陈茜（研究院）_6vaibMNj" initials="authorId_733" lastIdx="0" clrIdx="2699"/>
  <p:cmAuthor id="2701" name="flower" initials="f" lastIdx="0" clrIdx="2700"/>
  <p:cmAuthor id="2702" name="赫祎诺_nu6r2eyy" initials="authorId_2234" lastIdx="0" clrIdx="2701"/>
  <p:cmAuthor id="2703" name="方绍波|fangshaobo" initials="方" lastIdx="0" clrIdx="2702"/>
  <p:cmAuthor id="2704" name="Yoyo Wu" initials="Y" lastIdx="0" clrIdx="2703"/>
  <p:cmAuthor id="2705" name="梅芬 吳" initials="梅" lastIdx="0" clrIdx="2704"/>
  <p:cmAuthor id="2706" name="guanhh" initials="g" lastIdx="0" clrIdx="2705"/>
  <p:cmAuthor id="2707" name="刘晓杨" initials="刘" lastIdx="0" clrIdx="2706"/>
  <p:cmAuthor id="2708" name="le" initials="l" lastIdx="0" clrIdx="2707"/>
  <p:cmAuthor id="2709" name="于书丹" initials="C" lastIdx="0" clrIdx="2708"/>
  <p:cmAuthor id="2710" name="zhoux" initials="z" lastIdx="0" clrIdx="2709"/>
  <p:cmAuthor id="2711" name="zhangxinyao" initials="z" lastIdx="0" clrIdx="2710"/>
  <p:cmAuthor id="2712" name="liuyanxue" initials="l" lastIdx="0" clrIdx="2711"/>
  <p:cmAuthor id="2713" name="59314" initials="5" lastIdx="0" clrIdx="2712"/>
  <p:cmAuthor id="2714" name="wangdaiyuan" initials="w" lastIdx="0" clrIdx="2713"/>
  <p:cmAuthor id="2715" name="王薇（政企）" initials="王" lastIdx="0" clrIdx="2714"/>
  <p:cmAuthor id="2716" name="zhangbin" initials="z" lastIdx="0" clrIdx="2715"/>
  <p:cmAuthor id="2717" name="Arno.Du(杜明星)" initials="A" lastIdx="0" clrIdx="2716"/>
  <p:cmAuthor id="2718" name="Unknown User112" initials="U" lastIdx="0" clrIdx="2717"/>
  <p:cmAuthor id="2719" name="Unknown User59" initials="U" lastIdx="0" clrIdx="2718"/>
  <p:cmAuthor id="2720" name="未知的使用者249" initials="未" lastIdx="0" clrIdx="2719"/>
  <p:cmAuthor id="2721" name="未知的使用者224" initials="未" lastIdx="0" clrIdx="2720"/>
  <p:cmAuthor id="2722" name="未知的使用者252" initials="未" lastIdx="0" clrIdx="2721"/>
  <p:cmAuthor id="2723" name="未知的使用者226" initials="未" lastIdx="0" clrIdx="2722"/>
  <p:cmAuthor id="2724" name="raymond luan" initials="r" lastIdx="0" clrIdx="2723"/>
  <p:cmAuthor id="2725" name="未知的使用者247" initials="未" lastIdx="0" clrIdx="2724"/>
  <p:cmAuthor id="2726" name="alexw" initials="a" lastIdx="0" clrIdx="2725"/>
  <p:cmAuthor id="2727" name="yudi lin" initials="y" lastIdx="0" clrIdx="2726"/>
  <p:cmAuthor id="2728" name="liuzga" initials="l" lastIdx="0" clrIdx="2727"/>
  <p:cmAuthor id="2729" name="行者" initials="行者" lastIdx="0" clrIdx="2728"/>
  <p:cmAuthor id="2730" name="占萌萌" initials="占萌萌" lastIdx="0" clrIdx="2729"/>
  <p:cmAuthor id="2731" name="徐斌" initials="徐斌" lastIdx="0" clrIdx="2730"/>
  <p:cmAuthor id="2732" name="Lei Sun" initials="LS" lastIdx="0" clrIdx="2731"/>
  <p:cmAuthor id="2733" name="李婷婷" initials="李婷婷" lastIdx="0" clrIdx="2732"/>
  <p:cmAuthor id="2734" name="xiujin" initials="x" lastIdx="0" clrIdx="2733"/>
  <p:cmAuthor id="2735" name="12212" initials="1" lastIdx="0" clrIdx="2734"/>
  <p:cmAuthor id="2736" name="卢静" initials="卢静" lastIdx="0" clrIdx="2735"/>
  <p:cmAuthor id="2737" name="liuyeqing" initials="l" lastIdx="0" clrIdx="2736"/>
  <p:cmAuthor id="2738" name="10288631" initials="1" lastIdx="0" clrIdx="2737"/>
  <p:cmAuthor id="2739" name="guoliru@cmii.cmcc" initials="GLR" lastIdx="0" clrIdx="2738"/>
  <p:cmAuthor id="2740" name="Bianjing (China NPS, C&amp;SI)" initials="B(NC" lastIdx="0" clrIdx="2739"/>
  <p:cmAuthor id="2741" name="zhuliang1" initials="z" lastIdx="0" clrIdx="2740"/>
  <p:cmAuthor id="2742" name="kaixun" initials="k" lastIdx="0" clrIdx="2741"/>
  <p:cmAuthor id="2743" name="章炼" initials="章炼" lastIdx="0" clrIdx="2742"/>
  <p:cmAuthor id="2744" name="卓桂珍" initials="卓桂珍" lastIdx="0" clrIdx="2743"/>
  <p:cmAuthor id="2745" name="wu woody" initials="ww" lastIdx="0" clrIdx="2744"/>
  <p:cmAuthor id="2746" name="沈庆" initials="shenq6" lastIdx="0" clrIdx="2745"/>
  <p:cmAuthor id="2747" name="秦铭" initials="秦铭" lastIdx="0" clrIdx="2746"/>
  <p:cmAuthor id="2748" name="高成龙" initials="高成龙" lastIdx="0" clrIdx="2747"/>
  <p:cmAuthor id="2749" name="xwh" initials="x" lastIdx="0" clrIdx="2748"/>
  <p:cmAuthor id="2750" name="HaoshuaiWu" initials="H" lastIdx="0" clrIdx="2749"/>
  <p:cmAuthor id="2751" name="SF" initials="S" lastIdx="0" clrIdx="2750"/>
  <p:cmAuthor id="2752" name="高荔" initials="高" lastIdx="0" clrIdx="2751"/>
  <p:cmAuthor id="2753" name="gykj-boa" initials="g" lastIdx="0" clrIdx="2752"/>
  <p:cmAuthor id="2754" name="康晓宇" initials="康" lastIdx="0" clrIdx="2753"/>
  <p:cmAuthor id="2755" name="kfzx-huangzb01" initials="k" lastIdx="0" clrIdx="2754"/>
  <p:cmAuthor id="2756" name="Eric Qin" initials="E" lastIdx="0" clrIdx="2755"/>
  <p:cmAuthor id="2757" name="wenqiao" initials="w" lastIdx="0" clrIdx="2756"/>
  <p:cmAuthor id="2758" name="Hong Jiang MI Chen" initials="HJMC" lastIdx="0" clrIdx="2757"/>
  <p:cmAuthor id="2759" name="Yi Ran Que" initials="YRQ" lastIdx="0" clrIdx="2758"/>
  <p:cmAuthor id="2760" name="王海青" initials="王" lastIdx="0" clrIdx="2759"/>
  <p:cmAuthor id="2761" name="tank" initials="t" lastIdx="0" clrIdx="2760"/>
  <p:cmAuthor id="2762" name="金良_jYJz3qQJ" initials="authorId_387587456" lastIdx="0" clrIdx="2761"/>
  <p:cmAuthor id="2763" name="许艳松" initials="" lastIdx="0" clrIdx="2762"/>
  <p:cmAuthor id="2764" name="zxl" initials="" lastIdx="0" clrIdx="2763"/>
  <p:cmAuthor id="2765" name="yan.y" initials="y" lastIdx="0" clrIdx="2764"/>
  <p:cmAuthor id="2766" name="马梦嘉" initials="马" lastIdx="0" clrIdx="2765"/>
  <p:cmAuthor id="2767" name="丁林" initials="DL" lastIdx="0" clrIdx="2766"/>
  <p:cmAuthor id="2768" name="钟明英" initials="zmy" lastIdx="0" clrIdx="2767"/>
  <p:cmAuthor id="2769" name="王雪婷_zYNffiee" initials="authorId_6093" lastIdx="0" clrIdx="2768"/>
  <p:cmAuthor id="2770" name="李心玥" initials="李心玥" lastIdx="0" clrIdx="2769"/>
  <p:cmAuthor id="2771" name="zang" initials="z" lastIdx="0" clrIdx="2770"/>
  <p:cmAuthor id="2772" name="吴奕" initials="吴" lastIdx="0" clrIdx="2771"/>
  <p:cmAuthor id="2773" name="haoyugang" initials="hyg" lastIdx="0" clrIdx="2772"/>
  <p:cmAuthor id="2774" name="龚立" initials="龚" lastIdx="0" clrIdx="2773"/>
  <p:cmAuthor id="2775" name="马晟钊" initials="钊" lastIdx="0" clrIdx="2774"/>
  <p:cmAuthor id="2776" name="thinkbap" initials="t" lastIdx="0" clrIdx="2775"/>
  <p:cmAuthor id="2777" name="李 晓菲" initials="李" lastIdx="0" clrIdx="2776"/>
  <p:cmAuthor id="2778" name="Yu Han COOEC CANADA" initials="Y" lastIdx="0" clrIdx="2777"/>
  <p:cmAuthor id="2779" name="Wen" initials="W" lastIdx="0" clrIdx="2778"/>
  <p:cmAuthor id="2780" name="Zhang, Diankun" initials="ZD" lastIdx="0" clrIdx="2779"/>
  <p:cmAuthor id="2781" name="wangchao" initials="w" lastIdx="0" clrIdx="2780"/>
  <p:cmAuthor id="2782" name="东方_b3dea543bad08e97" initials="authorId_278826930" lastIdx="0" clrIdx="2781"/>
  <p:cmAuthor id="2783" name="Ella Dong" initials="ED" lastIdx="0" clrIdx="2782"/>
  <p:cmAuthor id="2784" name="86130" initials="8" lastIdx="0" clrIdx="2783"/>
  <p:cmAuthor id="2785" name="张雅萱" initials="张" lastIdx="0" clrIdx="2784"/>
  <p:cmAuthor id="2786" name="Abin" initials="L" lastIdx="0" clrIdx="2785"/>
  <p:cmAuthor id="2787" name="86189" initials="8" lastIdx="0" clrIdx="2786"/>
  <p:cmAuthor id="2788" name="chenf" initials="c" lastIdx="0" clrIdx="2787"/>
  <p:cmAuthor id="2789" name="刘广艳" initials="刘" lastIdx="0" clrIdx="2788"/>
  <p:cmAuthor id="2790" name="zhao chun" initials="zc" lastIdx="0" clrIdx="2789"/>
  <p:cmAuthor id="2791" name="Mmm" initials="M" lastIdx="0" clrIdx="2790"/>
  <p:cmAuthor id="2792" name="XIAN" initials="X" lastIdx="0" clrIdx="2791"/>
  <p:cmAuthor id="2793" name="FAN" initials="F" lastIdx="0" clrIdx="2792"/>
  <p:cmAuthor id="2794" name="sunaoran" initials="s" lastIdx="0" clrIdx="2793"/>
  <p:cmAuthor id="2795" name="刘海娜|liuhaina" initials="W用" lastIdx="0" clrIdx="2794"/>
  <p:cmAuthor id="2796" name="yuemu" initials="y" lastIdx="0" clrIdx="2795"/>
  <p:cmAuthor id="2797" name="吴岷雪" initials="吴" lastIdx="0" clrIdx="2796"/>
  <p:cmAuthor id="2798" name="汤弘" initials="汤弘" lastIdx="0" clrIdx="2797"/>
  <p:cmAuthor id="2799" name="高建清" initials="高建清" lastIdx="0" clrIdx="2798"/>
  <p:cmAuthor id="2800" name="王煜淞" initials="王" lastIdx="0" clrIdx="2799"/>
  <p:cmAuthor id="2801" name="宋玉坤" initials="W用" lastIdx="0" clrIdx="2800"/>
  <p:cmAuthor id="2802" name="qhsun2" initials="q" lastIdx="0" clrIdx="2801"/>
  <p:cmAuthor id="2803" name="谷冉" initials="谷冉" lastIdx="0" clrIdx="2802"/>
  <p:cmAuthor id="2804" name="程伟" initials="Wei" lastIdx="0" clrIdx="2803"/>
  <p:cmAuthor id="2805" name="veo" initials="v" lastIdx="0" clrIdx="2804"/>
  <p:cmAuthor id="2806" name="Lee" initials="L" lastIdx="0" clrIdx="2805"/>
  <p:cmAuthor id="2807" name="zhan" initials="z" lastIdx="0" clrIdx="2806"/>
  <p:cmAuthor id="2808" name="wangcheng" initials="w" lastIdx="0" clrIdx="2807"/>
  <p:cmAuthor id="2809" name="mtxu5" initials="m" lastIdx="0" clrIdx="2808"/>
  <p:cmAuthor id="2810" name="邵名柱" initials="邵" lastIdx="0" clrIdx="2809"/>
  <p:cmAuthor id="2811" name="10073055" initials="1" lastIdx="0" clrIdx="2810"/>
  <p:cmAuthor id="2812" name="h.c.y" initials="h" lastIdx="0" clrIdx="2811"/>
  <p:cmAuthor id="2813" name="醉江南" initials="醉" lastIdx="0" clrIdx="2812"/>
  <p:cmAuthor id="2814" name="曹宇" initials="曹" lastIdx="0" clrIdx="2813"/>
  <p:cmAuthor id="2815" name="王啸" initials="王啸" lastIdx="0" clrIdx="2814"/>
  <p:cmAuthor id="2816" name="ycsun5" initials="y" lastIdx="0" clrIdx="2815"/>
  <p:cmAuthor id="2817" name="pangxw01" initials="p" lastIdx="0" clrIdx="2816"/>
  <p:cmAuthor id="2818" name="viola_yang" initials="v" lastIdx="0" clrIdx="2817"/>
  <p:cmAuthor id="2819" name="Smilyrwj" initials="S" lastIdx="0" clrIdx="2818"/>
  <p:cmAuthor id="2820" name="ydx2003new@163.com" initials="y" lastIdx="0" clrIdx="2819"/>
  <p:cmAuthor id="2821" name="庞宝国" initials="庞" lastIdx="0" clrIdx="2820"/>
  <p:cmAuthor id="2822" name="何慧丽" initials="何" lastIdx="0" clrIdx="2821"/>
  <p:cmAuthor id="2823" name="49254" initials="4" lastIdx="0" clrIdx="2822"/>
  <p:cmAuthor id="2824" name="mengli45" initials="m" lastIdx="0" clrIdx="2823"/>
  <p:cmAuthor id="2825" name="未知用户212" initials="未" lastIdx="0" clrIdx="2824"/>
  <p:cmAuthor id="2826" name="slzhang23" initials="s" lastIdx="0" clrIdx="2825"/>
  <p:cmAuthor id="2827" name="张雨晨_IzMnE77f" initials="authorId_1512878115" lastIdx="0" clrIdx="2826"/>
  <p:cmAuthor id="2828" name="何智键_eiEzyEbQ" initials="authorId_196113762" lastIdx="0" clrIdx="2827"/>
  <p:cmAuthor id="2829" name="余梅二_NjuaaA3m" initials="authorId_277156191" lastIdx="0" clrIdx="2828"/>
  <p:cmAuthor id="2830" name="黄伟杰_miiaIjIJ" initials="authorId_191251403" lastIdx="0" clrIdx="2829"/>
  <p:cmAuthor id="2831" name="阳华_6vE3r63I" initials="authorId_315943548" lastIdx="0" clrIdx="2830"/>
  <p:cmAuthor id="2832" name="赖建森_JzMvmQFj" initials="authorId_1570658462" lastIdx="0" clrIdx="2831"/>
  <p:cmAuthor id="2833" name="贾淼_rAnuYn6N" initials="authorId_584575149" lastIdx="0" clrIdx="2832"/>
  <p:cmAuthor id="2834" name="于叶舟_aQzma2Uv" initials="authorId_1273292282" lastIdx="0" clrIdx="2833"/>
  <p:cmAuthor id="2835" name="刘振全_VBJz2aAF" initials="authorId_578493370" lastIdx="0" clrIdx="2834"/>
  <p:cmAuthor id="2836" name="佘柠宇_yeA3Nn2E" initials="authorId_1492498131" lastIdx="0" clrIdx="2835"/>
  <p:cmAuthor id="2837" name="李晓杰_zE3eZfM3" initials="authorId_1512475837" lastIdx="0" clrIdx="2836"/>
  <p:cmAuthor id="2838" name="黄露慧_mErmQnQr" initials="authorId_191251700" lastIdx="0" clrIdx="2837"/>
  <p:cmAuthor id="2839" name="闵天" initials="闵" lastIdx="0" clrIdx="2838"/>
  <p:cmAuthor id="2840" name="USER631805" initials="U" lastIdx="0" clrIdx="2839"/>
  <p:cmAuthor id="2841" name="zhangbai" initials="z" lastIdx="0" clrIdx="2840"/>
  <p:cmAuthor id="2842" name="俊呈 賴" initials="俊" lastIdx="0" clrIdx="2841"/>
  <p:cmAuthor id="2843" name="yifan song" initials="y" lastIdx="0" clrIdx="2842"/>
  <p:cmAuthor id="2844" name="莊安君" initials="莊" lastIdx="0" clrIdx="2843"/>
  <p:cmAuthor id="2845" name="陳建璋" initials="陳" lastIdx="0" clrIdx="2844"/>
  <p:cmAuthor id="2846" name="建璋" initials="建" lastIdx="0" clrIdx="2845"/>
  <p:cmAuthor id="2847" name="77482" initials="7" lastIdx="0" clrIdx="2846"/>
  <p:cmAuthor id="2848" name="张因然10112423" initials="1" lastIdx="0" clrIdx="2847"/>
  <p:cmAuthor id="2849" name="許詩婕" initials="許" lastIdx="0" clrIdx="2848"/>
  <p:cmAuthor id="2850" name="jinpengcheng" initials="j" lastIdx="0" clrIdx="2849"/>
  <p:cmAuthor id="2851" name="minil" initials="m" lastIdx="0" clrIdx="2850"/>
  <p:cmAuthor id="2852" name="Zhu, Hawk" initials="Z" lastIdx="0" clrIdx="2851"/>
  <p:cmAuthor id="2853" name="tanjp" initials="t" lastIdx="0" clrIdx="2852"/>
  <p:cmAuthor id="2854" name="10285279" initials="1" lastIdx="0" clrIdx="2853"/>
  <p:cmAuthor id="2855" name="Jdi" initials="J" lastIdx="0" clrIdx="2854"/>
  <p:cmAuthor id="2856" name="CVTEr" initials="C" lastIdx="0" clrIdx="2855"/>
  <p:cmAuthor id="2857" name="June C" initials="J" lastIdx="0" clrIdx="2856"/>
  <p:cmAuthor id="2858" name="00270" initials="0" lastIdx="0" clrIdx="2857"/>
  <p:cmAuthor id="2859" name="IBM_USER" initials="I" lastIdx="0" clrIdx="2858"/>
  <p:cmAuthor id="2860" name="aa" initials="a" lastIdx="0" clrIdx="2859"/>
  <p:cmAuthor id="2861" name="Davidpeng" initials="D" lastIdx="0" clrIdx="2860"/>
  <p:cmAuthor id="2862" name="dbc" initials="d" lastIdx="0" clrIdx="2861"/>
  <p:cmAuthor id="2863" name="吴军影" initials="吴" lastIdx="0" clrIdx="2862"/>
  <p:cmAuthor id="2864" name="冯学沛" initials="冯" lastIdx="0" clrIdx="2863"/>
  <p:cmAuthor id="2865" name="杨 超" initials="杨" lastIdx="0" clrIdx="2864"/>
  <p:cmAuthor id="2866" name="Rex" initials="R" lastIdx="0" clrIdx="2865"/>
  <p:cmAuthor id="2867" name="永月墨夜" initials="永" lastIdx="0" clrIdx="2866"/>
  <p:cmAuthor id="2868" name="妍" initials="妍" lastIdx="0" clrIdx="2867"/>
  <p:cmAuthor id="2869" name="咘嘚咘嘚" initials="咘" lastIdx="0" clrIdx="2868"/>
  <p:cmAuthor id="2870" name="Hey！Judy" initials="H" lastIdx="0" clrIdx="2869"/>
  <p:cmAuthor id="2871" name="陈思曦_Z3Ivji6B" initials="authorId_AK20221026:AK20221029HCSFPP10055444" lastIdx="0" clrIdx="2870"/>
  <p:cmAuthor id="2872" name="翟栋_VBFrBjyM" initials="authorId_AK20221026:AK20221029HCSFPP10055482" lastIdx="0" clrIdx="2871"/>
  <p:cmAuthor id="2873" name="lin" initials="l" lastIdx="0" clrIdx="2872"/>
  <p:cmAuthor id="2874" name="乐燕" initials="乐" lastIdx="0" clrIdx="2873"/>
  <p:cmAuthor id="2875" name="Carith" initials="C" lastIdx="0" clrIdx="2874"/>
  <p:cmAuthor id="2876" name="洋仔" initials="洋" lastIdx="0" clrIdx="2875"/>
  <p:cmAuthor id="2877" name="Tea" initials="T" lastIdx="0" clrIdx="2876"/>
  <p:cmAuthor id="2878" name="李进进" initials="李" lastIdx="0" clrIdx="2877"/>
  <p:cmAuthor id="2879" name="黄百成_m6Jjq6bQ" initials="authorId_901868002" lastIdx="0" clrIdx="2878"/>
  <p:cmAuthor id="2880" name="周帆" initials="周" lastIdx="0" clrIdx="2879"/>
  <p:cmAuthor id="2881" name="Cherry Wang" initials="C" lastIdx="0" clrIdx="2880"/>
  <p:cmAuthor id="2882" name="JY" initials="J" lastIdx="0" clrIdx="2881"/>
  <p:cmAuthor id="2883" name="阳朔" initials="阳" lastIdx="0" clrIdx="2882"/>
  <p:cmAuthor id="2884" name="李林林" initials="李" lastIdx="0" clrIdx="2883"/>
  <p:cmAuthor id="2885" name="lin li" initials="ll" lastIdx="0" clrIdx="2884"/>
  <p:cmAuthor id="2886" name="595434287@qq.com" initials="5" lastIdx="0" clrIdx="2885"/>
  <p:cmAuthor id="2887" name="345175348@qq.com" initials="3" lastIdx="0" clrIdx="2886"/>
  <p:cmAuthor id="2888" name="李 奕霖" initials="李" lastIdx="0" clrIdx="2887"/>
  <p:cmAuthor id="2889" name="敬泉 李" initials="敬泉" lastIdx="0" clrIdx="2888"/>
  <p:cmAuthor id="2890" name="陈媛媛" initials="c" lastIdx="0" clrIdx="2889"/>
  <p:cmAuthor id="2891" name="艾启明" initials="A" lastIdx="0" clrIdx="2890"/>
  <p:cmAuthor id="2892" name="mayl" initials="m" lastIdx="0" clrIdx="2891"/>
  <p:cmAuthor id="2893" name="姜熠龙" initials="姜" lastIdx="0" clrIdx="2892"/>
  <p:cmAuthor id="2894" name="一桶" initials="一" lastIdx="0" clrIdx="2893"/>
  <p:cmAuthor id="2895" name="哇咔咔" initials="哇" lastIdx="0" clrIdx="2894"/>
  <p:cmAuthor id="2896" name="朝花since_G" initials="朝" lastIdx="0" clrIdx="2895"/>
  <p:cmAuthor id="2897" name="LUO CHENG" initials="L" lastIdx="0" clrIdx="2896"/>
  <p:cmAuthor id="2898" name="shenyanning-001" initials="s" lastIdx="0" clrIdx="2897"/>
  <p:cmAuthor id="2899" name="Evander Wan" initials="E" lastIdx="0" clrIdx="2898"/>
  <p:cmAuthor id="2900" name="郭成报" initials="郭" lastIdx="0" clrIdx="2899"/>
  <p:cmAuthor id="2901" name="谢静波" initials="谢" lastIdx="0" clrIdx="2900"/>
  <p:cmAuthor id="2902" name="zcy" initials="z" lastIdx="0" clrIdx="2901"/>
  <p:cmAuthor id="2903" name="肖雪杉" initials="肖雪杉" lastIdx="0" clrIdx="2902"/>
  <p:cmAuthor id="2904" name="崔艳鹏" initials="崔" lastIdx="0" clrIdx="2903"/>
  <p:cmAuthor id="2905" name="chenjy1018@outlook.com" initials="c" lastIdx="0" clrIdx="2904"/>
  <p:cmAuthor id="2906" name="8613250766486" initials="8" lastIdx="0" clrIdx="2905"/>
  <p:cmAuthor id="2907" name="丁喆彤" initials="丁" lastIdx="0" clrIdx="2906"/>
  <p:cmAuthor id="2908" name="Eliva Sun" initials="E" lastIdx="0" clrIdx="2907"/>
  <p:cmAuthor id="2909" name="张辉" initials="张" lastIdx="0" clrIdx="2908"/>
  <p:cmAuthor id="2910" name="mingqi2" initials="m" lastIdx="0" clrIdx="2909"/>
  <p:cmAuthor id="2911" name="聂天奇" initials="聂天奇" lastIdx="0" clrIdx="2910"/>
  <p:cmAuthor id="2912" name="请" initials="请" lastIdx="0" clrIdx="2911"/>
  <p:cmAuthor id="2913" name="未知的使用者211" initials="未" lastIdx="0" clrIdx="2912"/>
  <p:cmAuthor id="2914" name="Fei （Philip）" initials="F（" lastIdx="0" clrIdx="2913"/>
  <p:cmAuthor id="2915" name="未知用户451" initials="未" lastIdx="0" clrIdx="2914"/>
  <p:cmAuthor id="2916" name="张 洋" initials="张" lastIdx="0" clrIdx="2915"/>
  <p:cmAuthor id="2917" name="g df" initials="gd" lastIdx="0" clrIdx="2916"/>
  <p:cmAuthor id="2918" name="郭嘉琳" initials="郭" lastIdx="0" clrIdx="2917"/>
  <p:cmAuthor id="2919" name="XH" initials="XH" lastIdx="0" clrIdx="2918"/>
  <p:cmAuthor id="2920" name="容止_e5b8a960c7519c00" initials="authorId_373053694" lastIdx="0" clrIdx="2919"/>
  <p:cmAuthor id="2921" name="hmwang20" initials="h" lastIdx="0" clrIdx="2920"/>
  <p:cmAuthor id="2922" name="kingsoft" initials="k" lastIdx="0" clrIdx="2921"/>
  <p:cmAuthor id="2923" name="鸣珂" initials="鸣珂" lastIdx="0" clrIdx="2922"/>
  <p:cmAuthor id="2924" name="ahhming" initials="a" lastIdx="0" clrIdx="2923"/>
  <p:cmAuthor id="2925" name="jiapeng wong" initials="jw" lastIdx="0" clrIdx="2924"/>
  <p:cmAuthor id="2926" name="sai han" initials="sh" lastIdx="0" clrIdx="2925"/>
  <p:cmAuthor id="2927" name="桑榆非晚" initials="桑" lastIdx="0" clrIdx="2926"/>
  <p:cmAuthor id="2928" name="安琪" initials="安" lastIdx="0" clrIdx="2927"/>
  <p:cmAuthor id="2929" name="沈思铭" initials="沈思铭" lastIdx="0" clrIdx="2928"/>
  <p:cmAuthor id="2930" name="ckf69968" initials="c" lastIdx="0" clrIdx="2929"/>
  <p:cmAuthor id="2931" name="Neil" initials="N" lastIdx="0" clrIdx="2930"/>
  <p:cmAuthor id="2932" name="姚 倩维" initials="姚" lastIdx="0" clrIdx="2931"/>
  <p:cmAuthor id="2933" name="TIAN RONG" initials="TR" lastIdx="0" clrIdx="2932"/>
  <p:cmAuthor id="2934" name="44620" initials="4" lastIdx="0" clrIdx="2933"/>
  <p:cmAuthor id="2935" name="yangjx" initials="y" lastIdx="0" clrIdx="2934"/>
  <p:cmAuthor id="2936" name="于 楠" initials="于" lastIdx="0" clrIdx="2935"/>
  <p:cmAuthor id="2937" name="利杰" initials="利" lastIdx="0" clrIdx="2936"/>
  <p:cmAuthor id="2938" name="GaryW" initials="G" lastIdx="0" clrIdx="2937"/>
  <p:cmAuthor id="2939" name="e-works" initials="e" lastIdx="0" clrIdx="2938"/>
  <p:cmAuthor id="2940" name="Jason" initials="J" lastIdx="0" clrIdx="2939"/>
  <p:cmAuthor id="2941" name="wangshiqi98@outlook.com" initials="w" lastIdx="0" clrIdx="2940"/>
  <p:cmAuthor id="2942" name="xiaofangyang" initials="x" lastIdx="0" clrIdx="2941"/>
  <p:cmAuthor id="2943" name="ttwisdom2@outlook.com" initials="t" lastIdx="0" clrIdx="2942"/>
  <p:cmAuthor id="2944" name="8613480159771" initials="8" lastIdx="0" clrIdx="2943"/>
  <p:cmAuthor id="2945" name="Shuai Cui" initials="SC" lastIdx="0" clrIdx="2944"/>
  <p:cmAuthor id="2946" name="A" initials="A" lastIdx="0" clrIdx="2945"/>
  <p:cmAuthor id="2947" name="li shuiping" initials="ls" lastIdx="0" clrIdx="2946"/>
  <p:cmAuthor id="2948" name="1208361776@qq.com" initials="1" lastIdx="0" clrIdx="2947"/>
  <p:cmAuthor id="2949" name="陈 杰" initials="陈" lastIdx="0" clrIdx="2948"/>
  <p:cmAuthor id="2950" name="WHTP" initials="W" lastIdx="0" clrIdx="2949"/>
  <p:cmAuthor id="2951" name="sudaobo" initials="s" lastIdx="0" clrIdx="2950"/>
  <p:cmAuthor id="2952" name="Jiaying Wang" initials="J" lastIdx="0" clrIdx="2951"/>
  <p:cmAuthor id="2953" name="Yangtianyi" initials="Y" lastIdx="0" clrIdx="2952"/>
  <p:cmAuthor id="2954" name="Jun Li" initials="J" lastIdx="0" clrIdx="2953"/>
  <p:cmAuthor id="2955" name="刘振权" initials="刘" lastIdx="0" clrIdx="2954"/>
  <p:cmAuthor id="2956" name="len" initials="l" lastIdx="0" clrIdx="2955"/>
  <p:cmAuthor id="2957" name="xiaofeng yin" initials="x" lastIdx="0" clrIdx="2956"/>
  <p:cmAuthor id="2958" name="陈 润葆" initials="陈" lastIdx="0" clrIdx="2957"/>
  <p:cmAuthor id="2959" name="zhouqing" initials="z" lastIdx="0" clrIdx="2958"/>
  <p:cmAuthor id="2960" name="李增增" initials="李" lastIdx="0" clrIdx="2959"/>
  <p:cmAuthor id="2961" name="殷素丽" initials="殷" lastIdx="0" clrIdx="2960"/>
  <p:cmAuthor id="2962" name="备用电脑2" initials="备" lastIdx="0" clrIdx="2961"/>
  <p:cmAuthor id="2963" name="YZB" initials="Y" lastIdx="0" clrIdx="2962"/>
  <p:cmAuthor id="2964" name="yiwei zhu" initials="y" lastIdx="0" clrIdx="2963"/>
  <p:cmAuthor id="2965" name="吕震" initials="吕" lastIdx="0" clrIdx="2964"/>
  <p:cmAuthor id="2966" name="陈蕾" initials="陈" lastIdx="0" clrIdx="2965"/>
  <p:cmAuthor id="2967" name="huangao" initials="h" lastIdx="0" clrIdx="2966"/>
  <p:cmAuthor id="2968" name="葛磊" initials="葛磊" lastIdx="0" clrIdx="2967"/>
  <p:cmAuthor id="2969" name="朱再敏" initials="朱再敏" lastIdx="0" clrIdx="2968"/>
  <p:cmAuthor id="2970" name="吕岑苑" initials="吕" lastIdx="0" clrIdx="2969"/>
  <p:cmAuthor id="2971" name="qwzhang10" initials="q" lastIdx="0" clrIdx="2970"/>
  <p:cmAuthor id="2972" name="林欢哲" initials="林" lastIdx="0" clrIdx="2971"/>
  <p:cmAuthor id="2973" name="kfzx-guz" initials="k" lastIdx="0" clrIdx="2972"/>
  <p:cmAuthor id="2974" name="kfzx-zhangy14" initials="k" lastIdx="0" clrIdx="2973"/>
  <p:cmAuthor id="2975" name="kfzx-linhz" initials="k" lastIdx="0" clrIdx="2974"/>
  <p:cmAuthor id="2976" name="kfzx-haojb" initials="k" lastIdx="0" clrIdx="2975"/>
  <p:cmAuthor id="2977" name="KFZX-JIANGDB" initials="K" lastIdx="0" clrIdx="2976"/>
  <p:cmAuthor id="2978" name="00006891" initials="0" lastIdx="0" clrIdx="2977"/>
  <p:cmAuthor id="2979" name="10107538" initials="1" lastIdx="0" clrIdx="2978"/>
  <p:cmAuthor id="2980" name="姜珊" initials="姜" lastIdx="0" clrIdx="2979"/>
  <p:cmAuthor id="2981" name="郭欣萍" initials="郭" lastIdx="0" clrIdx="2980"/>
  <p:cmAuthor id="2982" name="唐思源" initials="唐" lastIdx="0" clrIdx="2981"/>
  <p:cmAuthor id="2983" name="BA-俞阳" initials="authorId_4447802" lastIdx="0" clrIdx="2982"/>
  <p:cmAuthor id="2984" name="epstean1" initials="e" lastIdx="0" clrIdx="2983"/>
  <p:cmAuthor id="2985" name="李华亮" initials="李" lastIdx="0" clrIdx="2984"/>
  <p:cmAuthor id="2986" name="雷赛龄" initials="雷" lastIdx="0" clrIdx="2985"/>
  <p:cmAuthor id="2987" name="man zhang" initials="m" lastIdx="0" clrIdx="2986"/>
  <p:cmAuthor id="2988" name="容福丽/信息技术部/总行/广发银行" initials="容" lastIdx="0" clrIdx="2987"/>
  <p:cmAuthor id="2989" name="张耀峰" initials="张耀峰" lastIdx="0" clrIdx="2988"/>
  <p:cmAuthor id="2990" name="icbc" initials="i" lastIdx="0" clrIdx="2989"/>
  <p:cmAuthor id="2991" name="翁蔚涛" initials="翁" lastIdx="0" clrIdx="2990"/>
  <p:cmAuthor id="2992" name="潜龙 陈" initials="潜陈" lastIdx="0" clrIdx="2991"/>
  <p:cmAuthor id="2993" name="书佳 王" initials="书王" lastIdx="0" clrIdx="2992"/>
  <p:cmAuthor id="2994" name="瑶" initials="瑶" lastIdx="0" clrIdx="2993"/>
  <p:cmAuthor id="2995" name="清泺 戴" initials="清戴" lastIdx="0" clrIdx="2994"/>
  <p:cmAuthor id="2996" name="zhuxiangyi" initials="z" lastIdx="0" clrIdx="2995"/>
  <p:cmAuthor id="2997" name="zhangmh@httz.cc" initials="z" lastIdx="0" clrIdx="2996"/>
  <p:cmAuthor id="2998" name="shijiaxin" initials="s" lastIdx="0" clrIdx="2997"/>
  <p:cmAuthor id="2999" name="KFZX-zhujy" initials="K" lastIdx="0" clrIdx="2998"/>
  <p:cmAuthor id="3000" name="888804516" initials="8" lastIdx="0" clrIdx="2999"/>
  <p:cmAuthor id="3001" name="dccb-zhansy" initials="d" lastIdx="0" clrIdx="3000"/>
  <p:cmAuthor id="3002" name="kfzx-caoly" initials="k" lastIdx="0" clrIdx="3001"/>
  <p:cmAuthor id="3003" name="kfzx-liuap" initials="k" lastIdx="0" clrIdx="3002"/>
  <p:cmAuthor id="3004" name="001334518" initials="0" lastIdx="0" clrIdx="3003"/>
  <p:cmAuthor id="3005" name="kfzx-zhengxu" initials="k" lastIdx="0" clrIdx="3004"/>
  <p:cmAuthor id="3006" name="kfzx-fanly" initials="k" lastIdx="0" clrIdx="3005"/>
  <p:cmAuthor id="3007" name="kfzx-yinzx" initials="k" lastIdx="0" clrIdx="3006"/>
  <p:cmAuthor id="3008" name="000786075" initials="0" lastIdx="0" clrIdx="3007"/>
  <p:cmAuthor id="3009" name="kfzx-zhicj" initials="k" lastIdx="0" clrIdx="3008"/>
  <p:cmAuthor id="3010" name="kfzx-yext" initials="k" lastIdx="0" clrIdx="3009"/>
  <p:cmAuthor id="3011" name="王永" initials="王" lastIdx="0" clrIdx="3010"/>
  <p:cmAuthor id="3012" name="喰?" initials="喰" lastIdx="0" clrIdx="3011"/>
  <p:cmAuthor id="3013" name="taiping" initials="t" lastIdx="0" clrIdx="3012"/>
  <p:cmAuthor id="3014" name="hu oreo" initials="ho" lastIdx="0" clrIdx="3013"/>
  <p:cmAuthor id="3015" name="林 声洋" initials="林" lastIdx="0" clrIdx="3014"/>
  <p:cmAuthor id="3016" name="Ray" initials="R" lastIdx="0" clrIdx="3015"/>
  <p:cmAuthor id="3017" name="zhengzhong" initials="z" lastIdx="0" clrIdx="3016"/>
  <p:cmAuthor id="3018" name="gongxuan" initials="g" lastIdx="0" clrIdx="3017"/>
  <p:cmAuthor id="3019" name="Sky.Wang" initials="S" lastIdx="0" clrIdx="3018"/>
  <p:cmAuthor id="3020" name="kfzx-meiyt" initials="k" lastIdx="0" clrIdx="3019"/>
  <p:cmAuthor id="3021" name="kfzx-zhangcc" initials="k" lastIdx="0" clrIdx="3020"/>
  <p:cmAuthor id="3022" name="kfzx-shixk" initials="k" lastIdx="0" clrIdx="3021"/>
  <p:cmAuthor id="3023" name="kfzx-gul" initials="k" lastIdx="0" clrIdx="3022"/>
  <p:cmAuthor id="3024" name="000754539" initials="0" lastIdx="0" clrIdx="3023"/>
  <p:cmAuthor id="3025" name="LLM" initials="L" lastIdx="0" clrIdx="3024"/>
  <p:cmAuthor id="3026" name="hongmudan" initials="h" lastIdx="0" clrIdx="3025"/>
  <p:cmAuthor id="3027" name="kongtao" initials="k" lastIdx="0" clrIdx="3026"/>
  <p:cmAuthor id="3028" name="kfzx-lind" initials="k" lastIdx="0" clrIdx="3027"/>
  <p:cmAuthor id="3029" name="000823681" initials="0" lastIdx="0" clrIdx="3028"/>
  <p:cmAuthor id="3030" name="kfzx-pengxq" initials="k" lastIdx="0" clrIdx="3029"/>
  <p:cmAuthor id="3031" name="付瑶_ENzqa6B7" initials="authorId_373053694" lastIdx="0" clrIdx="3030"/>
  <p:cmAuthor id="3032" name="马丽贤" initials="马丽贤" lastIdx="0" clrIdx="3031"/>
  <p:cmAuthor id="3033" name="001410301" initials="0" lastIdx="0" clrIdx="3032"/>
  <p:cmAuthor id="3034" name="kfzx-liyl01" initials="k" lastIdx="0" clrIdx="3033"/>
  <p:cmAuthor id="3035" name="kfzx-zhouy03" initials="k" lastIdx="0" clrIdx="3034"/>
  <p:cmAuthor id="3036" name="马超" initials="马" lastIdx="0" clrIdx="3035"/>
  <p:cmAuthor id="3037" name="000831501" initials="0" lastIdx="0" clrIdx="3036"/>
  <p:cmAuthor id="3038" name="kfzx-wujh" initials="k" lastIdx="0" clrIdx="3037"/>
  <p:cmAuthor id="3039" name="谢聪_NRFnveMF" initials="authorId_202410" lastIdx="0" clrIdx="3038"/>
  <p:cmAuthor id="3040" name="刘晨光_fiqiU7zU" initials="authorId_344979" lastIdx="0" clrIdx="3039"/>
  <p:cmAuthor id="3041" name="000787991" initials="0" lastIdx="0" clrIdx="3040"/>
  <p:cmAuthor id="3042" name="kfzx-luozl" initials="k" lastIdx="0" clrIdx="3041"/>
  <p:cmAuthor id="3043" name="ROSIEANNA" initials="R" lastIdx="0" clrIdx="3042"/>
  <p:cmAuthor id="3044" name="821375975@qq.com" initials="8" lastIdx="0" clrIdx="3043"/>
  <p:cmAuthor id="3045" name="张 美红" initials="张" lastIdx="0" clrIdx="3044"/>
  <p:cmAuthor id="3046" name="dingenshi" initials="d" lastIdx="0" clrIdx="3045"/>
  <p:cmAuthor id="3047" name="zilong.li" initials="z" lastIdx="0" clrIdx="3046"/>
  <p:cmAuthor id="3048" name="James Conard" initials="J" lastIdx="0" clrIdx="3047"/>
  <p:cmAuthor id="3049" name="22010" initials="2" lastIdx="0" clrIdx="3048"/>
  <p:cmAuthor id="3050" name="daliang xu" initials="d" lastIdx="0" clrIdx="3049"/>
  <p:cmAuthor id="3051" name="刘凯欣" initials="刘" lastIdx="0" clrIdx="3050"/>
  <p:cmAuthor id="3052" name="3930" initials="3" lastIdx="0" clrIdx="3051"/>
  <p:cmAuthor id="3053" name="Chinalife_Cz" initials="C" lastIdx="0" clrIdx="3052"/>
  <p:cmAuthor id="3054" name="李昀东" initials="李" lastIdx="0" clrIdx="3053"/>
  <p:cmAuthor id="3055" name="liuhao24" initials="l" lastIdx="0" clrIdx="3054"/>
  <p:cmAuthor id="3056" name="理者" initials="理" lastIdx="0" clrIdx="3055"/>
  <p:cmAuthor id="3057" name="闪电杰尼" initials="闪" lastIdx="0" clrIdx="3056"/>
  <p:cmAuthor id="3058" name="翔宇" initials="翔" lastIdx="0" clrIdx="3057"/>
  <p:cmAuthor id="3059" name="t-1i-caiwu" initials="t" lastIdx="0" clrIdx="3058"/>
  <p:cmAuthor id="3060" name="zhaoyue46" initials="z" lastIdx="0" clrIdx="3059"/>
  <p:cmAuthor id="3061" name="未知用户113" initials="未" lastIdx="0" clrIdx="3060"/>
  <p:cmAuthor id="3062" name="Eileen Yi" initials="E" lastIdx="0" clrIdx="3061"/>
  <p:cmAuthor id="3063" name="dellwin" initials="d" lastIdx="0" clrIdx="3062"/>
  <p:cmAuthor id="3064" name="未知用户410" initials="未" lastIdx="0" clrIdx="3063"/>
  <p:cmAuthor id="3065" name="wangqi01-lhe" initials="w" lastIdx="0" clrIdx="3064"/>
  <p:cmAuthor id="3066" name="ae2000" initials="a" lastIdx="0" clrIdx="3065"/>
  <p:cmAuthor id="3067" name="黄梅" initials="黄" lastIdx="0" clrIdx="3066"/>
  <p:cmAuthor id="3068" name="赵生杰" initials="赵" lastIdx="0" clrIdx="3067"/>
  <p:cmAuthor id="3069" name="yuxue" initials="y" lastIdx="0" clrIdx="3068"/>
  <p:cmAuthor id="3070" name="Abel" initials="A" lastIdx="0" clrIdx="3069"/>
  <p:cmAuthor id="3071" name="xq" initials="x" lastIdx="0" clrIdx="3070"/>
  <p:cmAuthor id="3072" name="贝贝ai猪" initials="贝" lastIdx="0" clrIdx="3071"/>
  <p:cmAuthor id="3073" name="User_2" initials="U" lastIdx="0" clrIdx="3072"/>
  <p:cmAuthor id="3074" name="sdzz-syy" initials="s" lastIdx="0" clrIdx="3073"/>
  <p:cmAuthor id="3075" name="CN=谢俊/OU=技术总监室/OU=软件开发中心/OU=总行机关/O=ABC" initials="C" lastIdx="0" clrIdx="3074"/>
  <p:cmAuthor id="3076" name="wpp" initials="w" lastIdx="0" clrIdx="3075"/>
  <p:cmAuthor id="3077" name="zhengwen" initials="z" lastIdx="0" clrIdx="3076"/>
  <p:cmAuthor id="3078" name="tk-taiyuan" initials="t" lastIdx="0" clrIdx="3077"/>
  <p:cmAuthor id="3079" name="chenzheng4" initials="c" lastIdx="0" clrIdx="3078"/>
  <p:cmAuthor id="3080" name="王 震环" initials="王" lastIdx="0" clrIdx="3079"/>
  <p:cmAuthor id="3081" name="T K" initials="T" lastIdx="0" clrIdx="3080"/>
  <p:cmAuthor id="3082" name="刘彩琴" initials="刘" lastIdx="0" clrIdx="3081"/>
  <p:cmAuthor id="3083" name="z cl" initials="z" lastIdx="0" clrIdx="3082"/>
  <p:cmAuthor id="3084" name="liuys40" initials="l" lastIdx="0" clrIdx="3083"/>
  <p:cmAuthor id="3085" name="刘 帅" initials="刘" lastIdx="0" clrIdx="3084"/>
  <p:cmAuthor id="3086" name="martin" initials="m" lastIdx="0" clrIdx="3085"/>
  <p:cmAuthor id="3087" name="qin yu" initials="q" lastIdx="0" clrIdx="3086"/>
  <p:cmAuthor id="3088" name="沈 秀敏" initials="沈" lastIdx="0" clrIdx="3087"/>
  <p:cmAuthor id="3089" name="李建阳（内蒙古英才管培生）" initials="李" lastIdx="0" clrIdx="3088"/>
  <p:cmAuthor id="3090" name="马靖松" initials="马" lastIdx="0" clrIdx="3089"/>
  <p:cmAuthor id="3091" name="pingchangxin@outlook.com LI" initials="p" lastIdx="0" clrIdx="3090"/>
  <p:cmAuthor id="3092" name="张晓燕(内蒙古巴彦淖尔)" initials="张" lastIdx="0" clrIdx="3091"/>
  <p:cmAuthor id="3093" name="王凯" initials="王" lastIdx="0" clrIdx="3092"/>
  <p:cmAuthor id="3094" name="Simon Camp" initials="S" lastIdx="0" clrIdx="3093"/>
  <p:cmAuthor id="3095" name="郭佳宏" initials="郭" lastIdx="0" clrIdx="3094"/>
  <p:cmAuthor id="3096" name="王书珍" initials="王" lastIdx="0" clrIdx="3095"/>
  <p:cmAuthor id="3097" name="何兴胜" initials="何" lastIdx="0" clrIdx="3096"/>
  <p:cmAuthor id="3098" name="bing" initials="b" lastIdx="0" clrIdx="3097"/>
  <p:cmAuthor id="3099" name="hh" initials="h" lastIdx="0" clrIdx="3098"/>
  <p:cmAuthor id="3100" name="273839920@qq.com" initials="2" lastIdx="0" clrIdx="3099"/>
  <p:cmAuthor id="3101" name="陈健" initials="陈" lastIdx="0" clrIdx="3100"/>
  <p:cmAuthor id="3102" name="Hope0187" initials="H" lastIdx="0" clrIdx="3101"/>
  <p:cmAuthor id="3103" name="靖千 罗" initials="靖" lastIdx="0" clrIdx="3102"/>
  <p:cmAuthor id="3104" name="舒迪" initials="舒" lastIdx="0" clrIdx="3103"/>
  <p:cmAuthor id="3105" name="Maxsad" initials="M" lastIdx="0" clrIdx="3104"/>
  <p:cmAuthor id="3106" name="8613607323127" initials="8" lastIdx="0" clrIdx="3105"/>
  <p:cmAuthor id="3107" name="liuyadong" initials="l" lastIdx="0" clrIdx="3106"/>
  <p:cmAuthor id="3108" name="69395" initials="6" lastIdx="0" clrIdx="3107"/>
  <p:cmAuthor id="3109" name="hanwen luo" initials="h" lastIdx="0" clrIdx="3108"/>
  <p:cmAuthor id="3110" name="Cpic" initials="C" lastIdx="0" clrIdx="3109"/>
  <p:cmAuthor id="3111" name="小田" initials="小" lastIdx="0" clrIdx="3110"/>
  <p:cmAuthor id="3112" name="庄伟铭zwm136200" initials="庄" lastIdx="0" clrIdx="3111"/>
  <p:cmAuthor id="3113" name="张 凯" initials="张" lastIdx="0" clrIdx="3112"/>
  <p:cmAuthor id="3114" name="CNTP" initials="C" lastIdx="0" clrIdx="3113"/>
  <p:cmAuthor id="3115" name="李柯然" initials="李" lastIdx="0" clrIdx="3114"/>
  <p:cmAuthor id="3116" name="li hw" initials="l" lastIdx="0" clrIdx="3115"/>
  <p:cmAuthor id="3117" name="王玉" initials="王" lastIdx="0" clrIdx="3116"/>
  <p:cmAuthor id="3118" name="Ming Zuo" initials="M" lastIdx="0" clrIdx="3117"/>
  <p:cmAuthor id="3119" name="FR" initials="F" lastIdx="0" clrIdx="3118"/>
  <p:cmAuthor id="3120" name="Office User" initials="O" lastIdx="0" clrIdx="3119"/>
  <p:cmAuthor id="3121" name="LS" initials="L" lastIdx="0" clrIdx="3120"/>
  <p:cmAuthor id="3122" name="2819264246@qq.com" initials="2" lastIdx="0" clrIdx="3121"/>
  <p:cmAuthor id="3123" name="Morgan, Aaron" initials="M" lastIdx="0" clrIdx="3122"/>
  <p:cmAuthor id="3124" name="weige" initials="w" lastIdx="0" clrIdx="3123"/>
  <p:cmAuthor id="3125" name="李 俊琦" initials="李" lastIdx="0" clrIdx="3124"/>
  <p:cmAuthor id="3126" name="沈 鹤" initials="沈" lastIdx="0" clrIdx="3125"/>
  <p:cmAuthor id="3127" name="jilin" initials="j" lastIdx="0" clrIdx="3126"/>
  <p:cmAuthor id="3128" name="王保青-pah" initials="王" lastIdx="0" clrIdx="3127"/>
  <p:cmAuthor id="3129" name="Jason Li" initials="J" lastIdx="0" clrIdx="3128"/>
  <p:cmAuthor id="3130" name="duxingge" initials="d" lastIdx="0" clrIdx="3129"/>
  <p:cmAuthor id="3131" name="tangjx03" initials="t" lastIdx="0" clrIdx="3130"/>
  <p:cmAuthor id="3132" name="yingchao xi" initials="y" lastIdx="0" clrIdx="3131"/>
  <p:cmAuthor id="3133" name="depeng diao" initials="d" lastIdx="0" clrIdx="3132"/>
  <p:cmAuthor id="3134" name="amyzhang" initials="a" lastIdx="0" clrIdx="3133"/>
  <p:cmAuthor id="3135" name="JerryW" initials="J" lastIdx="0" clrIdx="3134"/>
  <p:cmAuthor id="3136" name="shenyy" initials="s" lastIdx="0" clrIdx="3135"/>
  <p:cmAuthor id="3137" name="Jason Cheung" initials="J" lastIdx="0" clrIdx="3136"/>
  <p:cmAuthor id="3138" name="刘笑" initials="刘" lastIdx="0" clrIdx="3137"/>
  <p:cmAuthor id="3139" name="admini" initials="a" lastIdx="0" clrIdx="3138"/>
  <p:cmAuthor id="3140" name="Maggie" initials="M" lastIdx="0" clrIdx="3139"/>
  <p:cmAuthor id="3141" name="谢 小小" initials="谢" lastIdx="0" clrIdx="3140"/>
  <p:cmAuthor id="3142" name="Liang Dong" initials="L" lastIdx="0" clrIdx="3141"/>
  <p:cmAuthor id="3143" name="许 爽" initials="许" lastIdx="0" clrIdx="3142"/>
  <p:cmAuthor id="3144" name="林桦桦" initials="林" lastIdx="0" clrIdx="3143"/>
  <p:cmAuthor id="3145" name="aliutao007@163.com" initials="a" lastIdx="0" clrIdx="3144"/>
  <p:cmAuthor id="3146" name="752844632@qq.com" initials="7" lastIdx="0" clrIdx="3145"/>
  <p:cmAuthor id="3147" name="tkadmin" initials="t" lastIdx="0" clrIdx="3146"/>
  <p:cmAuthor id="3148" name="李红钢" initials="李" lastIdx="0" clrIdx="3147"/>
  <p:cmAuthor id="3149" name="McGlasson, Louise" initials="M" lastIdx="0" clrIdx="3148"/>
  <p:cmAuthor id="3150" name="未定义" initials="未" lastIdx="0" clrIdx="3149"/>
  <p:cmAuthor id="3151" name="范丽萍" initials="范" lastIdx="0" clrIdx="3150"/>
  <p:cmAuthor id="3152" name="唐芳菲" initials="唐" lastIdx="0" clrIdx="3151"/>
  <p:cmAuthor id="3153" name="zhuyk" initials="z" lastIdx="0" clrIdx="3152"/>
  <p:cmAuthor id="3154" name="邹 伟栋" initials="邹" lastIdx="0" clrIdx="3153"/>
  <p:cmAuthor id="3155" name="孙明阳" initials="孙" lastIdx="0" clrIdx="3154"/>
  <p:cmAuthor id="3156" name="sk" initials="s" lastIdx="0" clrIdx="3155"/>
  <p:cmAuthor id="3157" name="余森" initials="余" lastIdx="0" clrIdx="3156"/>
  <p:cmAuthor id="3158" name="龚平-lcq" initials="龚" lastIdx="0" clrIdx="3157"/>
  <p:cmAuthor id="3159" name="未知用户314" initials="未" lastIdx="0" clrIdx="3158"/>
  <p:cmAuthor id="3160" name="cs" initials="c" lastIdx="0" clrIdx="3159"/>
  <p:cmAuthor id="3161" name="wfbs" initials="w" lastIdx="0" clrIdx="3160"/>
  <p:cmAuthor id="3162" name="郄 琰" initials="郄" lastIdx="0" clrIdx="3161"/>
  <p:cmAuthor id="3163" name="李 惠" initials="李" lastIdx="0" clrIdx="3162"/>
  <p:cmAuthor id="3164" name="lish54" initials="l" lastIdx="0" clrIdx="3163"/>
  <p:cmAuthor id="3165" name="志刚 赵" initials="志" lastIdx="0" clrIdx="3164"/>
  <p:cmAuthor id="3166" name="赵博洋(L. D.)" initials="赵" lastIdx="0" clrIdx="3165"/>
  <p:cmAuthor id="3167" name="sizx" initials="s" lastIdx="0" clrIdx="3166"/>
  <p:cmAuthor id="3168" name="39538" initials="3" lastIdx="0" clrIdx="3167"/>
  <p:cmAuthor id="3169" name="a1270005862@outlook.com" initials="a" lastIdx="0" clrIdx="3168"/>
  <p:cmAuthor id="3170" name="kfzx-sunbh" initials="k" lastIdx="0" clrIdx="3169"/>
  <p:cmAuthor id="3171" name="Luo Mingjie" initials="L" lastIdx="0" clrIdx="3170"/>
  <p:cmAuthor id="3172" name="454659240@qq.com" initials="4" lastIdx="0" clrIdx="3171"/>
  <p:cmAuthor id="3173" name="PPTer_Tang" initials="P" lastIdx="0" clrIdx="3172"/>
  <p:cmAuthor id="3174" name="kfzx-yingwl" initials="k" lastIdx="0" clrIdx="3173"/>
  <p:cmAuthor id="3175" name="周文泽_zeq2f63y" initials="authorId_159164" lastIdx="0" clrIdx="3174"/>
  <p:cmAuthor id="3176" name="冯程_QRjemMFR" initials="authorId_228276" lastIdx="0" clrIdx="3175"/>
  <p:cmAuthor id="3177" name="郑凯_ie2mrmI3" initials="authorId_159141" lastIdx="0" clrIdx="3176"/>
  <p:cmAuthor id="3178" name="洁 杨" initials="洁杨" lastIdx="0" clrIdx="3177"/>
  <p:cmAuthor id="3179" name="kfzx-gugy" initials="k" lastIdx="0" clrIdx="3178"/>
  <p:cmAuthor id="3180" name="kfzx-hanwc" initials="k" lastIdx="0" clrIdx="3179"/>
  <p:cmAuthor id="3181" name="方磊" initials="方" lastIdx="0" clrIdx="3180"/>
  <p:cmAuthor id="3182" name="kfzx-xulinl" initials="k" lastIdx="0" clrIdx="3181"/>
  <p:cmAuthor id="3183" name="kfzx-suny" initials="k" lastIdx="0" clrIdx="3182"/>
  <p:cmAuthor id="3184" name="000831573" initials="0" lastIdx="0" clrIdx="3183"/>
  <p:cmAuthor id="3185" name="王辉" initials="A" lastIdx="0" clrIdx="3184"/>
  <p:cmAuthor id="3186" name="wangyuan20" initials="w" lastIdx="0" clrIdx="3185"/>
  <p:cmAuthor id="3187" name="曹 朝辉" initials="曹" lastIdx="0" clrIdx="3186"/>
  <p:cmAuthor id="3188" name="穆 峯" initials="穆" lastIdx="0" clrIdx="3187"/>
  <p:cmAuthor id="3189" name="闫志深" initials="闫" lastIdx="0" clrIdx="3188"/>
  <p:cmAuthor id="3190" name="武立强" initials="武" lastIdx="0" clrIdx="3189"/>
  <p:cmAuthor id="3191" name="钱 伟强" initials="钱" lastIdx="0" clrIdx="3190"/>
  <p:cmAuthor id="3192" name="黄楹" initials="黄楹" lastIdx="0" clrIdx="3191"/>
  <p:cmAuthor id="3193" name="韩晓宇00207529" initials="韩晓宇00207529" lastIdx="0" clrIdx="3192"/>
  <p:cmAuthor id="3194" name="任涛10036216" initials="任涛10036216" lastIdx="0" clrIdx="3193"/>
  <p:cmAuthor id="3195" name="赵泽盛10022760" initials="赵泽盛10022760" lastIdx="0" clrIdx="3194"/>
  <p:cmAuthor id="3196" name="kfzx-liuq" initials="k" lastIdx="0" clrIdx="3195"/>
  <p:cmAuthor id="3197" name="kfzx-yangk1" initials="k" lastIdx="0" clrIdx="3196"/>
  <p:cmAuthor id="3198" name="fengc" initials="f" lastIdx="0" clrIdx="3197"/>
  <p:cmAuthor id="3199" name="001160936" initials="0" lastIdx="0" clrIdx="3198"/>
  <p:cmAuthor id="3200" name="000988809" initials="0" lastIdx="0" clrIdx="3199"/>
  <p:cmAuthor id="3201" name="kfzx-xulr" initials="k" lastIdx="0" clrIdx="3200"/>
  <p:cmAuthor id="3202" name="kfzx-yangtt1" initials="k" lastIdx="0" clrIdx="3201"/>
  <p:cmAuthor id="3203" name="kfzx-xiej" initials="k" lastIdx="0" clrIdx="3202"/>
  <p:cmAuthor id="3204" name="001538113" initials="0" lastIdx="0" clrIdx="3203"/>
  <p:cmAuthor id="3205" name="woody" initials="w" lastIdx="0" clrIdx="3204"/>
  <p:cmAuthor id="3206" name="liliu24" initials="l" lastIdx="0" clrIdx="3205"/>
  <p:cmAuthor id="3207" name="唐正江" initials="唐正江" lastIdx="0" clrIdx="3206"/>
  <p:cmAuthor id="3208" name="王敬民" initials="王" lastIdx="0" clrIdx="3207"/>
  <p:cmAuthor id="3209" name="玉娟" initials="玉" lastIdx="0" clrIdx="3208"/>
  <p:cmAuthor id="3210" name="A8100" initials="" lastIdx="0" clrIdx="3209"/>
  <p:cmAuthor id="3211" name="话不多。" initials="话" lastIdx="0" clrIdx="3210"/>
  <p:cmAuthor id="3212" name="王O_oQQ" initials="王" lastIdx="0" clrIdx="3211"/>
  <p:cmAuthor id="3213" name="子小T光军" initials="子" lastIdx="0" clrIdx="3212"/>
  <p:cmAuthor id="3214" name="SUPER" initials="S" lastIdx="0" clrIdx="3213"/>
  <p:cmAuthor id="3215" name="北冥有鱼" initials="北" lastIdx="0" clrIdx="3214"/>
  <p:cmAuthor id="3216" name="未知的使用者218" initials="未" lastIdx="0" clrIdx="3215"/>
  <p:cmAuthor id="3217" name="殷一非" initials="殷" lastIdx="0" clrIdx="3216"/>
  <p:cmAuthor id="3218" name="崔雪平" initials="崔雪平" lastIdx="0" clrIdx="3217"/>
  <p:cmAuthor id="3219" name="修心静月" initials="修" lastIdx="0" clrIdx="3218"/>
  <p:cmAuthor id="3220" name="糕酥...●—●" initials="糕" lastIdx="0" clrIdx="3219"/>
  <p:cmAuthor id="3221" name="Glenice" initials="G" lastIdx="0" clrIdx="3220"/>
  <p:cmAuthor id="3222" name="大攀" initials="大" lastIdx="0" clrIdx="3221"/>
  <p:cmAuthor id="3223" name="HZS00" initials="H" lastIdx="0" clrIdx="3222"/>
  <p:cmAuthor id="3224" name="symeng4" initials="s" lastIdx="0" clrIdx="3223"/>
  <p:cmAuthor id="3225" name="韩 萌" initials="韩" lastIdx="0" clrIdx="3224"/>
  <p:cmAuthor id="3226" name="樊磊硕" initials="樊磊硕" lastIdx="0" clrIdx="3225"/>
  <p:cmAuthor id="3227" name="hhlin@iflytek.com" initials="h" lastIdx="0" clrIdx="3226"/>
  <p:cmAuthor id="3228" name="iflytek" initials="i" lastIdx="0" clrIdx="3227"/>
  <p:cmAuthor id="3229" name="13522" initials="1" lastIdx="0" clrIdx="3228"/>
  <p:cmAuthor id="3230" name="崟" initials="崟" lastIdx="0" clrIdx="3229"/>
  <p:cmAuthor id="3231" name="袁威" initials="Arvil" lastIdx="0" clrIdx="3230"/>
  <p:cmAuthor id="3232" name="chengxiang" initials="c" lastIdx="0" clrIdx="3231"/>
  <p:cmAuthor id="3233" name="JaneWang" initials="J" lastIdx="0" clrIdx="3232"/>
  <p:cmAuthor id="3234" name="李杏" initials="李" lastIdx="0" clrIdx="3233"/>
  <p:cmAuthor id="3235" name="pcty" initials="p" lastIdx="0" clrIdx="3234"/>
  <p:cmAuthor id="3236" name="陈驹洲" initials="陈" lastIdx="0" clrIdx="3235"/>
  <p:cmAuthor id="3237" name="DELL-5490" initials="D" lastIdx="0" clrIdx="3236"/>
  <p:cmAuthor id="3238" name="朱 智源" initials="朱" lastIdx="0" clrIdx="3237"/>
  <p:cmAuthor id="3239" name="张望喜" initials="张望喜" lastIdx="0" clrIdx="3238"/>
  <p:cmAuthor id="3240" name="金巧" initials="金" lastIdx="0" clrIdx="3239"/>
  <p:cmAuthor id="3241" name="Masquerade" initials="M" lastIdx="0" clrIdx="3240"/>
  <p:cmAuthor id="3242" name="刘伟" initials="刘" lastIdx="0" clrIdx="3241"/>
  <p:cmAuthor id="3243" name="flona" initials="f" lastIdx="0" clrIdx="3242"/>
  <p:cmAuthor id="3244" name="什彩医" initials="什" lastIdx="0" clrIdx="3243"/>
  <p:cmAuthor id="3245" name="zhou Martin" initials="z" lastIdx="0" clrIdx="3244"/>
  <p:cmAuthor id="3246" name="jingxiao" initials="j" lastIdx="0" clrIdx="3245"/>
  <p:cmAuthor id="3247" name="刘莉" initials="刘莉" lastIdx="0" clrIdx="3246"/>
  <p:cmAuthor id="3248" name="WangQiyu" initials="W" lastIdx="0" clrIdx="3247"/>
  <p:cmAuthor id="3249" name="Hu Jiaqi" initials="HJ" lastIdx="0" clrIdx="3248"/>
  <p:cmAuthor id="3250" name="孙彩虹" initials="孙" lastIdx="0" clrIdx="3249"/>
  <p:cmAuthor id="3251" name="陈祖吉" initials="陈祖吉" lastIdx="0" clrIdx="3250"/>
  <p:cmAuthor id="3252" name="许晓嘉" initials="许晓嘉" lastIdx="0" clrIdx="3251"/>
  <p:cmAuthor id="3253" name="ppwang4" initials="p" lastIdx="0" clrIdx="3252"/>
  <p:cmAuthor id="3254" name="yfshao" initials="S" lastIdx="0" clrIdx="3253"/>
  <p:cmAuthor id="3255" name="jqzhang14" initials="j" lastIdx="0" clrIdx="3254"/>
  <p:cmAuthor id="3256" name="宋聪" initials="宋聪" lastIdx="0" clrIdx="3255"/>
  <p:cmAuthor id="3257" name="hygong2" initials="h" lastIdx="0" clrIdx="3256"/>
  <p:cmAuthor id="3258" name="glxu" initials="g" lastIdx="0" clrIdx="3257"/>
  <p:cmAuthor id="3259" name="lywang26" initials="l" lastIdx="0" clrIdx="3258"/>
  <p:cmAuthor id="3260" name="wjyang8" initials="w" lastIdx="0" clrIdx="3259"/>
  <p:cmAuthor id="3261" name="xbpang2" initials="x" lastIdx="0" clrIdx="3260"/>
  <p:cmAuthor id="3262" name="qipeng5201314@outlook.com" initials="" lastIdx="0" clrIdx="3261"/>
  <p:cmAuthor id="3263" name="gtmc" initials="g" lastIdx="0" clrIdx="3262"/>
  <p:cmAuthor id="3264" name="dingbo" initials="d" lastIdx="0" clrIdx="3263"/>
  <p:cmAuthor id="3265" name="yupu3" initials="y" lastIdx="0" clrIdx="3264"/>
  <p:cmAuthor id="3266" name="bancheng" initials="b" lastIdx="0" clrIdx="3265"/>
  <p:cmAuthor id="3267" name="徐文_7nQzi2Mr" initials="authorId_570827183" lastIdx="0" clrIdx="3266"/>
  <p:cmAuthor id="3268" name="M Y" initials="M" lastIdx="0" clrIdx="3267"/>
  <p:cmAuthor id="3269" name="fgdrycssjifev" initials="f" lastIdx="0" clrIdx="3268"/>
  <p:cmAuthor id="3270" name="小熊睡不醒" initials="小" lastIdx="0" clrIdx="3269"/>
  <p:cmAuthor id="3271" name="姚敏" initials="姚" lastIdx="0" clrIdx="3270"/>
  <p:cmAuthor id="3272" name="粥兮兮" initials="粥" lastIdx="0" clrIdx="3271"/>
  <p:cmAuthor id="3273" name="hshuang" initials="h" lastIdx="0" clrIdx="3272"/>
  <p:cmAuthor id="3274" name="yansheng" initials="y" lastIdx="0" clrIdx="3273"/>
  <p:cmAuthor id="3275" name="好想" initials="好" lastIdx="0" clrIdx="3274"/>
  <p:cmAuthor id="3276" name="张瑞尼" initials="authorId_327550691" lastIdx="0" clrIdx="3275"/>
  <p:cmAuthor id="3277" name="fangl" initials="f" lastIdx="0" clrIdx="3276"/>
  <p:cmAuthor id="3278" name="muyan" initials="m" lastIdx="0" clrIdx="3277"/>
  <p:cmAuthor id="3279" name="大虾 锅" initials="" lastIdx="0" clrIdx="3278"/>
  <p:cmAuthor id="3280" name="宇 王" initials="宇王" lastIdx="0" clrIdx="3279"/>
  <p:cmAuthor id="3281" name="x" initials="x" lastIdx="0" clrIdx="3280"/>
  <p:cmAuthor id="3282" name="Vinshinefive@163.com" initials="V" lastIdx="0" clrIdx="3281"/>
  <p:cmAuthor id="3283" name="cyklovevv" initials="c" lastIdx="0" clrIdx="3282"/>
  <p:cmAuthor id="3284" name="zhouMa" initials="z" lastIdx="0" clrIdx="3283"/>
  <p:cmAuthor id="3285" name="夏菲菲" initials="夏菲菲" lastIdx="0" clrIdx="3284"/>
  <p:cmAuthor id="3286" name="lili" initials="lili" lastIdx="0" clrIdx="3285"/>
  <p:cmAuthor id="3287" name="Ronoy" initials="R" lastIdx="0" clrIdx="3286"/>
  <p:cmAuthor id="3288" name="王宏亮_YNVvFRZr" initials="authorId_424856759" lastIdx="0" clrIdx="3287"/>
  <p:cmAuthor id="3289" name="未知的使用者235" initials="未" lastIdx="0" clrIdx="3288"/>
  <p:cmAuthor id="3290" name="yin gang" initials="yg" lastIdx="0" clrIdx="3289"/>
  <p:cmAuthor id="3291" name="sjma2" initials="s" lastIdx="0" clrIdx="3290"/>
  <p:cmAuthor id="3292" name="xiaoya" initials="x" lastIdx="0" clrIdx="3291"/>
  <p:cmAuthor id="3293" name="李武略的哥" initials="李" lastIdx="0" clrIdx="3292"/>
  <p:cmAuthor id="3294" name="zhenfan3" initials="z" lastIdx="0" clrIdx="3293"/>
  <p:cmAuthor id="3295" name="yyzhou23" initials="y" lastIdx="0" clrIdx="3294"/>
  <p:cmAuthor id="3296" name="影联" initials="影" lastIdx="0" clrIdx="3295"/>
  <p:cmAuthor id="3297" name="吴青青" initials="吴" lastIdx="0" clrIdx="3296"/>
  <p:cmAuthor id="3298" name="讯飞-石楠" initials="讯" lastIdx="0" clrIdx="3297"/>
  <p:cmAuthor id="3299" name="yaozhang10" initials="y" lastIdx="0" clrIdx="3298"/>
  <p:cmAuthor id="3300" name="刘碗瑜" initials="刘" lastIdx="0" clrIdx="3299"/>
  <p:cmAuthor id="3301" name="壹米陽光1400580388" initials="壹" lastIdx="0" clrIdx="3300"/>
  <p:cmAuthor id="3302" name="yjmei" initials="y" lastIdx="0" clrIdx="3301"/>
  <p:cmAuthor id="3303" name="wuhui" initials="w" lastIdx="0" clrIdx="3302"/>
  <p:cmAuthor id="3304" name="llli35" initials="l" lastIdx="0" clrIdx="3303"/>
  <p:cmAuthor id="3305" name="史国悦" initials="史" lastIdx="0" clrIdx="3304"/>
  <p:cmAuthor id="3306" name="S" initials="S" lastIdx="0" clrIdx="3305"/>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5C74"/>
    <a:srgbClr val="DBAE00"/>
    <a:srgbClr val="88B2E9"/>
    <a:srgbClr val="0397D3"/>
    <a:srgbClr val="929292"/>
    <a:srgbClr val="008DCC"/>
    <a:srgbClr val="3D5268"/>
    <a:srgbClr val="D5A400"/>
    <a:srgbClr val="7EA9E4"/>
    <a:srgbClr val="FDA7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80328" autoAdjust="0"/>
  </p:normalViewPr>
  <p:slideViewPr>
    <p:cSldViewPr snapToGrid="0" showGuides="1">
      <p:cViewPr varScale="1">
        <p:scale>
          <a:sx n="71" d="100"/>
          <a:sy n="71" d="100"/>
        </p:scale>
        <p:origin x="956" y="40"/>
      </p:cViewPr>
      <p:guideLst>
        <p:guide orient="horz" pos="2048"/>
        <p:guide pos="394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1.xml"/><Relationship Id="rId98" Type="http://schemas.openxmlformats.org/officeDocument/2006/relationships/slide" Target="slides/slide90.xml"/><Relationship Id="rId97" Type="http://schemas.openxmlformats.org/officeDocument/2006/relationships/slide" Target="slides/slide89.xml"/><Relationship Id="rId96" Type="http://schemas.openxmlformats.org/officeDocument/2006/relationships/slide" Target="slides/slide88.xml"/><Relationship Id="rId95" Type="http://schemas.openxmlformats.org/officeDocument/2006/relationships/slide" Target="slides/slide87.xml"/><Relationship Id="rId94" Type="http://schemas.openxmlformats.org/officeDocument/2006/relationships/slide" Target="slides/slide86.xml"/><Relationship Id="rId93" Type="http://schemas.openxmlformats.org/officeDocument/2006/relationships/slide" Target="slides/slide85.xml"/><Relationship Id="rId92" Type="http://schemas.openxmlformats.org/officeDocument/2006/relationships/slide" Target="slides/slide84.xml"/><Relationship Id="rId91" Type="http://schemas.openxmlformats.org/officeDocument/2006/relationships/slide" Target="slides/slide83.xml"/><Relationship Id="rId90" Type="http://schemas.openxmlformats.org/officeDocument/2006/relationships/slide" Target="slides/slide82.xml"/><Relationship Id="rId9" Type="http://schemas.openxmlformats.org/officeDocument/2006/relationships/slide" Target="slides/slide2.xml"/><Relationship Id="rId89" Type="http://schemas.openxmlformats.org/officeDocument/2006/relationships/slide" Target="slides/slide81.xml"/><Relationship Id="rId88" Type="http://schemas.openxmlformats.org/officeDocument/2006/relationships/slide" Target="slides/slide80.xml"/><Relationship Id="rId87" Type="http://schemas.openxmlformats.org/officeDocument/2006/relationships/slide" Target="slides/slide79.xml"/><Relationship Id="rId86" Type="http://schemas.openxmlformats.org/officeDocument/2006/relationships/slide" Target="slides/slide78.xml"/><Relationship Id="rId85" Type="http://schemas.openxmlformats.org/officeDocument/2006/relationships/slide" Target="slides/slide77.xml"/><Relationship Id="rId84" Type="http://schemas.openxmlformats.org/officeDocument/2006/relationships/slide" Target="slides/slide76.xml"/><Relationship Id="rId83" Type="http://schemas.openxmlformats.org/officeDocument/2006/relationships/slide" Target="slides/slide75.xml"/><Relationship Id="rId82" Type="http://schemas.openxmlformats.org/officeDocument/2006/relationships/slide" Target="slides/slide74.xml"/><Relationship Id="rId81" Type="http://schemas.openxmlformats.org/officeDocument/2006/relationships/slide" Target="slides/slide73.xml"/><Relationship Id="rId80" Type="http://schemas.openxmlformats.org/officeDocument/2006/relationships/slide" Target="slides/slide72.xml"/><Relationship Id="rId8" Type="http://schemas.openxmlformats.org/officeDocument/2006/relationships/slide" Target="slides/slide1.xml"/><Relationship Id="rId79" Type="http://schemas.openxmlformats.org/officeDocument/2006/relationships/slide" Target="slides/slide71.xml"/><Relationship Id="rId78" Type="http://schemas.openxmlformats.org/officeDocument/2006/relationships/slide" Target="slides/slide70.xml"/><Relationship Id="rId77" Type="http://schemas.openxmlformats.org/officeDocument/2006/relationships/slide" Target="slides/slide69.xml"/><Relationship Id="rId76" Type="http://schemas.openxmlformats.org/officeDocument/2006/relationships/slide" Target="slides/slide68.xml"/><Relationship Id="rId75" Type="http://schemas.openxmlformats.org/officeDocument/2006/relationships/slide" Target="slides/slide67.xml"/><Relationship Id="rId74" Type="http://schemas.openxmlformats.org/officeDocument/2006/relationships/slide" Target="slides/slide66.xml"/><Relationship Id="rId73" Type="http://schemas.openxmlformats.org/officeDocument/2006/relationships/slide" Target="slides/slide65.xml"/><Relationship Id="rId72" Type="http://schemas.openxmlformats.org/officeDocument/2006/relationships/slide" Target="slides/slide64.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0" Type="http://schemas.openxmlformats.org/officeDocument/2006/relationships/tags" Target="tags/tag622.xml"/><Relationship Id="rId13" Type="http://schemas.openxmlformats.org/officeDocument/2006/relationships/slide" Target="slides/slide5.xml"/><Relationship Id="rId129" Type="http://schemas.openxmlformats.org/officeDocument/2006/relationships/commentAuthors" Target="commentAuthors.xml"/><Relationship Id="rId128" Type="http://schemas.openxmlformats.org/officeDocument/2006/relationships/tableStyles" Target="tableStyles.xml"/><Relationship Id="rId127" Type="http://schemas.openxmlformats.org/officeDocument/2006/relationships/viewProps" Target="viewProps.xml"/><Relationship Id="rId126" Type="http://schemas.openxmlformats.org/officeDocument/2006/relationships/presProps" Target="presProps.xml"/><Relationship Id="rId125" Type="http://schemas.openxmlformats.org/officeDocument/2006/relationships/handoutMaster" Target="handoutMasters/handoutMaster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121" Type="http://schemas.openxmlformats.org/officeDocument/2006/relationships/slide" Target="slides/slide113.xml"/><Relationship Id="rId120" Type="http://schemas.openxmlformats.org/officeDocument/2006/relationships/slide" Target="slides/slide112.xml"/><Relationship Id="rId12" Type="http://schemas.openxmlformats.org/officeDocument/2006/relationships/slide" Target="slides/slide4.xml"/><Relationship Id="rId119" Type="http://schemas.openxmlformats.org/officeDocument/2006/relationships/slide" Target="slides/slide111.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4" Type="http://schemas.openxmlformats.org/officeDocument/2006/relationships/slide" Target="slides/slide106.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110" Type="http://schemas.openxmlformats.org/officeDocument/2006/relationships/slide" Target="slides/slide102.xml"/><Relationship Id="rId11" Type="http://schemas.openxmlformats.org/officeDocument/2006/relationships/notesMaster" Target="notesMasters/notesMaster1.xml"/><Relationship Id="rId109" Type="http://schemas.openxmlformats.org/officeDocument/2006/relationships/slide" Target="slides/slide101.xml"/><Relationship Id="rId108" Type="http://schemas.openxmlformats.org/officeDocument/2006/relationships/slide" Target="slides/slide100.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10" Type="http://schemas.openxmlformats.org/officeDocument/2006/relationships/slide" Target="slides/slide3.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3#3">
  <dgm:title val=""/>
  <dgm:desc val=""/>
  <dgm:catLst>
    <dgm:cat type="accent2" pri="11300"/>
  </dgm:catLst>
  <dgm:styleLbl name="alignAcc1">
    <dgm:fillClrLst meth="repeat">
      <a:srgbClr val="FFFFFF">
        <a:alpha val="90000"/>
      </a:srgbClr>
    </dgm:fillClrLst>
    <dgm:linClrLst>
      <a:srgbClr val="1F71FF">
        <a:shade val="80000"/>
      </a:srgbClr>
      <a:srgbClr val="1F71FF">
        <a:tint val="70000"/>
      </a:srgbClr>
    </dgm:linClrLst>
    <dgm:effectClrLst/>
    <dgm:txLinClrLst/>
    <dgm:txFillClrLst meth="repeat">
      <a:srgbClr val="000000"/>
    </dgm:txFillClrLst>
    <dgm:txEffectClrLst/>
  </dgm:styleLbl>
  <dgm:styleLbl name="alignAccFollowNode1">
    <dgm:fillClrLst meth="repeat">
      <a:srgbClr val="1F71FF">
        <a:alpha val="90000"/>
        <a:tint val="40000"/>
      </a:srgbClr>
    </dgm:fillClrLst>
    <dgm:linClrLst meth="repeat">
      <a:srgbClr val="1F71FF">
        <a:alpha val="90000"/>
        <a:tint val="40000"/>
      </a:srgbClr>
    </dgm:linClrLst>
    <dgm:effectClrLst/>
    <dgm:txLinClrLst/>
    <dgm:txFillClrLst meth="repeat">
      <a:srgbClr val="000000"/>
    </dgm:txFillClrLst>
    <dgm:txEffectClrLst/>
  </dgm:styleLbl>
  <dgm:styleLbl name="alignImgPlace1">
    <dgm:fillClrLst>
      <a:srgbClr val="1F71FF">
        <a:tint val="50000"/>
      </a:srgbClr>
      <a:srgbClr val="1F71FF">
        <a:tint val="20000"/>
      </a:srgbClr>
    </dgm:fillClrLst>
    <dgm:linClrLst meth="repeat">
      <a:srgbClr val="FFFFFF"/>
    </dgm:linClrLst>
    <dgm:effectClrLst/>
    <dgm:txLinClrLst/>
    <dgm:txFillClrLst meth="repeat">
      <a:srgbClr val="FFFFFF"/>
    </dgm:txFillClrLst>
    <dgm:txEffectClrLst/>
  </dgm:styleLbl>
  <dgm:styleLbl name="alignNode1">
    <dgm:fillClrLst>
      <a:srgbClr val="1F71FF">
        <a:shade val="80000"/>
      </a:srgbClr>
      <a:srgbClr val="1F71FF">
        <a:tint val="70000"/>
      </a:srgbClr>
    </dgm:fillClrLst>
    <dgm:linClrLst>
      <a:srgbClr val="1F71FF">
        <a:shade val="80000"/>
      </a:srgbClr>
      <a:srgbClr val="1F71FF">
        <a:tint val="70000"/>
      </a:srgbClr>
    </dgm:linClrLst>
    <dgm:effectClrLst/>
    <dgm:txLinClrLst/>
    <dgm:txFillClrLst/>
    <dgm:txEffectClrLst/>
  </dgm:styleLbl>
  <dgm:styleLbl name="asst0">
    <dgm:fillClrLst meth="repeat">
      <a:srgbClr val="1F71FF">
        <a:shade val="80000"/>
      </a:srgbClr>
    </dgm:fillClrLst>
    <dgm:linClrLst meth="repeat">
      <a:srgbClr val="FFFFFF"/>
    </dgm:linClrLst>
    <dgm:effectClrLst/>
    <dgm:txLinClrLst/>
    <dgm:txFillClrLst/>
    <dgm:txEffectClrLst/>
  </dgm:styleLbl>
  <dgm:styleLbl name="asst1">
    <dgm:fillClrLst meth="repeat">
      <a:srgbClr val="1F71FF">
        <a:shade val="80000"/>
      </a:srgbClr>
    </dgm:fillClrLst>
    <dgm:linClrLst meth="repeat">
      <a:srgbClr val="FFFFFF"/>
    </dgm:linClrLst>
    <dgm:effectClrLst/>
    <dgm:txLinClrLst/>
    <dgm:txFillClrLst/>
    <dgm:txEffectClrLst/>
  </dgm:styleLbl>
  <dgm:styleLbl name="asst2">
    <dgm:fillClrLst>
      <a:srgbClr val="1F71FF">
        <a:tint val="99000"/>
      </a:srgbClr>
    </dgm:fillClrLst>
    <dgm:linClrLst meth="repeat">
      <a:srgbClr val="FFFFFF"/>
    </dgm:linClrLst>
    <dgm:effectClrLst/>
    <dgm:txLinClrLst/>
    <dgm:txFillClrLst/>
    <dgm:txEffectClrLst/>
  </dgm:styleLbl>
  <dgm:styleLbl name="asst3">
    <dgm:fillClrLst>
      <a:srgbClr val="1F71FF">
        <a:tint val="80000"/>
      </a:srgbClr>
    </dgm:fillClrLst>
    <dgm:linClrLst meth="repeat">
      <a:srgbClr val="FFFFFF"/>
    </dgm:linClrLst>
    <dgm:effectClrLst/>
    <dgm:txLinClrLst/>
    <dgm:txFillClrLst/>
    <dgm:txEffectClrLst/>
  </dgm:styleLbl>
  <dgm:styleLbl name="asst4">
    <dgm:fillClrLst>
      <a:srgbClr val="1F71FF">
        <a:tint val="70000"/>
      </a:srgbClr>
    </dgm:fillClrLst>
    <dgm:linClrLst meth="repeat">
      <a:srgbClr val="FFFFFF"/>
    </dgm:linClrLst>
    <dgm:effectClrLst/>
    <dgm:txLinClrLst/>
    <dgm:txFillClrLst/>
    <dgm:txEffectClrLst/>
  </dgm:styleLbl>
  <dgm:styleLbl name="bgAcc1">
    <dgm:fillClrLst meth="repeat">
      <a:srgbClr val="FFFFFF">
        <a:alpha val="90000"/>
      </a:srgbClr>
    </dgm:fillClrLst>
    <dgm:linClrLst>
      <a:srgbClr val="1F71FF">
        <a:shade val="80000"/>
      </a:srgbClr>
      <a:srgbClr val="1F71FF">
        <a:tint val="70000"/>
      </a:srgbClr>
    </dgm:linClrLst>
    <dgm:effectClrLst/>
    <dgm:txLinClrLst/>
    <dgm:txFillClrLst meth="repeat">
      <a:srgbClr val="000000"/>
    </dgm:txFillClrLst>
    <dgm:txEffectClrLst/>
  </dgm:styleLbl>
  <dgm:styleLbl name="bgAccFollowNode1">
    <dgm:fillClrLst meth="repeat">
      <a:srgbClr val="1F71FF">
        <a:alpha val="90000"/>
        <a:tint val="40000"/>
      </a:srgbClr>
    </dgm:fillClrLst>
    <dgm:linClrLst meth="repeat">
      <a:srgbClr val="FFFFFF"/>
    </dgm:linClrLst>
    <dgm:effectClrLst/>
    <dgm:txLinClrLst/>
    <dgm:txFillClrLst meth="repeat">
      <a:srgbClr val="000000"/>
    </dgm:txFillClrLst>
    <dgm:txEffectClrLst/>
  </dgm:styleLbl>
  <dgm:styleLbl name="bgImgPlace1">
    <dgm:fillClrLst>
      <a:srgbClr val="1F71FF">
        <a:tint val="50000"/>
      </a:srgbClr>
      <a:srgbClr val="1F71FF">
        <a:tint val="20000"/>
      </a:srgbClr>
    </dgm:fillClrLst>
    <dgm:linClrLst meth="repeat">
      <a:srgbClr val="FFFFFF"/>
    </dgm:linClrLst>
    <dgm:effectClrLst/>
    <dgm:txLinClrLst/>
    <dgm:txFillClrLst meth="repeat">
      <a:srgbClr val="FFFFFF"/>
    </dgm:txFillClrLst>
    <dgm:txEffectClrLst/>
  </dgm:styleLbl>
  <dgm:styleLbl name="bgShp">
    <dgm:fillClrLst meth="repeat">
      <a:srgbClr val="1F71FF">
        <a:tint val="40000"/>
      </a:srgbClr>
    </dgm:fillClrLst>
    <dgm:linClrLst meth="repeat">
      <a:srgbClr val="000000"/>
    </dgm:linClrLst>
    <dgm:effectClrLst/>
    <dgm:txLinClrLst/>
    <dgm:txFillClrLst meth="repeat">
      <a:srgbClr val="000000"/>
    </dgm:txFillClrLst>
    <dgm:txEffectClrLst/>
  </dgm:styleLbl>
  <dgm:styleLbl name="bgSibTrans2D1">
    <dgm:fillClrLst>
      <a:srgbClr val="1F71FF">
        <a:shade val="90000"/>
      </a:srgbClr>
      <a:srgbClr val="1F71FF">
        <a:tint val="70000"/>
      </a:srgbClr>
    </dgm:fillClrLst>
    <dgm:linClrLst>
      <a:srgbClr val="1F71FF">
        <a:shade val="90000"/>
      </a:srgbClr>
      <a:srgbClr val="1F71FF">
        <a:tint val="70000"/>
      </a:srgbClr>
    </dgm:linClrLst>
    <dgm:effectClrLst/>
    <dgm:txLinClrLst/>
    <dgm:txFillClrLst meth="repeat">
      <a:srgbClr val="FFFFFF"/>
    </dgm:txFillClrLst>
    <dgm:txEffectClrLst/>
  </dgm:styleLbl>
  <dgm:styleLbl name="callout">
    <dgm:fillClrLst meth="repeat">
      <a:srgbClr val="1F71FF"/>
    </dgm:fillClrLst>
    <dgm:linClrLst meth="repeat">
      <a:srgbClr val="1F71FF"/>
    </dgm:linClrLst>
    <dgm:effectClrLst/>
    <dgm:txLinClrLst/>
    <dgm:txFillClrLst meth="repeat">
      <a:srgbClr val="000000"/>
    </dgm:txFillClrLst>
    <dgm:txEffectClrLst/>
  </dgm:styleLbl>
  <dgm:styleLbl name="conFgAcc1">
    <dgm:fillClrLst meth="repeat">
      <a:srgbClr val="FFFFFF">
        <a:alpha val="90000"/>
      </a:srgbClr>
    </dgm:fillClrLst>
    <dgm:linClrLst>
      <a:srgbClr val="1F71FF">
        <a:shade val="80000"/>
      </a:srgbClr>
      <a:srgbClr val="1F71FF">
        <a:tint val="70000"/>
      </a:srgbClr>
    </dgm:linClrLst>
    <dgm:effectClrLst/>
    <dgm:txLinClrLst/>
    <dgm:txFillClrLst meth="repeat">
      <a:srgbClr val="000000"/>
    </dgm:txFillClrLst>
    <dgm:txEffectClrLst/>
  </dgm:styleLbl>
  <dgm:styleLbl name="dkBgShp">
    <dgm:fillClrLst meth="repeat">
      <a:srgbClr val="1F71FF">
        <a:shade val="90000"/>
      </a:srgbClr>
    </dgm:fillClrLst>
    <dgm:linClrLst meth="repeat">
      <a:srgbClr val="000000"/>
    </dgm:linClrLst>
    <dgm:effectClrLst/>
    <dgm:txLinClrLst/>
    <dgm:txFillClrLst meth="repeat">
      <a:srgbClr val="FFFFFF"/>
    </dgm:txFillClrLst>
    <dgm:txEffectClrLst/>
  </dgm:styleLbl>
  <dgm:styleLbl name="fgAcc0">
    <dgm:fillClrLst meth="repeat">
      <a:srgbClr val="FFFFFF">
        <a:alpha val="90000"/>
      </a:srgbClr>
    </dgm:fillClrLst>
    <dgm:linClrLst meth="repeat">
      <a:srgbClr val="1F71FF">
        <a:shade val="80000"/>
      </a:srgbClr>
    </dgm:linClrLst>
    <dgm:effectClrLst/>
    <dgm:txLinClrLst/>
    <dgm:txFillClrLst meth="repeat">
      <a:srgbClr val="000000"/>
    </dgm:txFillClrLst>
    <dgm:txEffectClrLst/>
  </dgm:styleLbl>
  <dgm:styleLbl name="fgAcc1">
    <dgm:fillClrLst meth="repeat">
      <a:srgbClr val="FFFFFF">
        <a:alpha val="90000"/>
      </a:srgbClr>
    </dgm:fillClrLst>
    <dgm:linClrLst>
      <a:srgbClr val="1F71FF">
        <a:shade val="80000"/>
      </a:srgbClr>
      <a:srgbClr val="1F71FF">
        <a:tint val="70000"/>
      </a:srgbClr>
    </dgm:linClrLst>
    <dgm:effectClrLst/>
    <dgm:txLinClrLst/>
    <dgm:txFillClrLst meth="repeat">
      <a:srgbClr val="000000"/>
    </dgm:txFillClrLst>
    <dgm:txEffectClrLst/>
  </dgm:styleLbl>
  <dgm:styleLbl name="fgAcc2">
    <dgm:fillClrLst meth="repeat">
      <a:srgbClr val="FFFFFF">
        <a:alpha val="90000"/>
      </a:srgbClr>
    </dgm:fillClrLst>
    <dgm:linClrLst meth="repeat">
      <a:srgbClr val="1F71FF">
        <a:tint val="99000"/>
      </a:srgbClr>
    </dgm:linClrLst>
    <dgm:effectClrLst/>
    <dgm:txLinClrLst/>
    <dgm:txFillClrLst meth="repeat">
      <a:srgbClr val="000000"/>
    </dgm:txFillClrLst>
    <dgm:txEffectClrLst/>
  </dgm:styleLbl>
  <dgm:styleLbl name="fgAcc3">
    <dgm:fillClrLst meth="repeat">
      <a:srgbClr val="FFFFFF">
        <a:alpha val="90000"/>
      </a:srgbClr>
    </dgm:fillClrLst>
    <dgm:linClrLst meth="repeat">
      <a:srgbClr val="1F71FF">
        <a:tint val="80000"/>
      </a:srgbClr>
    </dgm:linClrLst>
    <dgm:effectClrLst/>
    <dgm:txLinClrLst/>
    <dgm:txFillClrLst meth="repeat">
      <a:srgbClr val="000000"/>
    </dgm:txFillClrLst>
    <dgm:txEffectClrLst/>
  </dgm:styleLbl>
  <dgm:styleLbl name="fgAcc4">
    <dgm:fillClrLst meth="repeat">
      <a:srgbClr val="FFFFFF">
        <a:alpha val="90000"/>
      </a:srgbClr>
    </dgm:fillClrLst>
    <dgm:linClrLst meth="repeat">
      <a:srgbClr val="1F71FF">
        <a:tint val="70000"/>
      </a:srgbClr>
    </dgm:linClrLst>
    <dgm:effectClrLst/>
    <dgm:txLinClrLst/>
    <dgm:txFillClrLst meth="repeat">
      <a:srgbClr val="000000"/>
    </dgm:txFillClrLst>
    <dgm:txEffectClrLst/>
  </dgm:styleLbl>
  <dgm:styleLbl name="fgAccFollowNode1">
    <dgm:fillClrLst meth="repeat">
      <a:srgbClr val="1F71FF">
        <a:alpha val="90000"/>
        <a:tint val="40000"/>
      </a:srgbClr>
    </dgm:fillClrLst>
    <dgm:linClrLst meth="repeat">
      <a:srgbClr val="1F71FF">
        <a:alpha val="90000"/>
        <a:tint val="40000"/>
      </a:srgbClr>
    </dgm:linClrLst>
    <dgm:effectClrLst/>
    <dgm:txLinClrLst/>
    <dgm:txFillClrLst meth="repeat">
      <a:srgbClr val="000000"/>
    </dgm:txFillClrLst>
    <dgm:txEffectClrLst/>
  </dgm:styleLbl>
  <dgm:styleLbl name="fgImgPlace1">
    <dgm:fillClrLst>
      <a:srgbClr val="1F71FF">
        <a:tint val="50000"/>
      </a:srgbClr>
      <a:srgbClr val="1F71FF">
        <a:tint val="20000"/>
      </a:srgbClr>
    </dgm:fillClrLst>
    <dgm:linClrLst meth="repeat">
      <a:srgbClr val="FFFFFF"/>
    </dgm:linClrLst>
    <dgm:effectClrLst/>
    <dgm:txLinClrLst/>
    <dgm:txFillClrLst meth="repeat">
      <a:srgbClr val="FFFFFF"/>
    </dgm:txFillClrLst>
    <dgm:txEffectClrLst/>
  </dgm:styleLbl>
  <dgm:styleLbl name="fgShp">
    <dgm:fillClrLst meth="repeat">
      <a:srgbClr val="1F71FF">
        <a:tint val="40000"/>
      </a:srgbClr>
    </dgm:fillClrLst>
    <dgm:linClrLst meth="repeat">
      <a:srgbClr val="FFFFFF"/>
    </dgm:linClrLst>
    <dgm:effectClrLst/>
    <dgm:txLinClrLst/>
    <dgm:txFillClrLst meth="repeat">
      <a:srgbClr val="000000"/>
    </dgm:txFillClrLst>
    <dgm:txEffectClrLst/>
  </dgm:styleLbl>
  <dgm:styleLbl name="fgSibTrans2D1">
    <dgm:fillClrLst>
      <a:srgbClr val="1F71FF">
        <a:shade val="90000"/>
      </a:srgbClr>
      <a:srgbClr val="1F71FF">
        <a:tint val="70000"/>
      </a:srgbClr>
    </dgm:fillClrLst>
    <dgm:linClrLst>
      <a:srgbClr val="1F71FF">
        <a:shade val="90000"/>
      </a:srgbClr>
      <a:srgbClr val="1F71FF">
        <a:tint val="70000"/>
      </a:srgbClr>
    </dgm:linClrLst>
    <dgm:effectClrLst/>
    <dgm:txLinClrLst/>
    <dgm:txFillClrLst meth="repeat">
      <a:srgbClr val="FFFFFF"/>
    </dgm:txFillClrLst>
    <dgm:txEffectClrLst/>
  </dgm:styleLbl>
  <dgm:styleLbl name="lnNode1">
    <dgm:fillClrLst>
      <a:srgbClr val="1F71FF">
        <a:shade val="80000"/>
      </a:srgbClr>
      <a:srgbClr val="1F71FF">
        <a:tint val="70000"/>
      </a:srgbClr>
    </dgm:fillClrLst>
    <dgm:linClrLst meth="repeat">
      <a:srgbClr val="FFFFFF"/>
    </dgm:linClrLst>
    <dgm:effectClrLst/>
    <dgm:txLinClrLst/>
    <dgm:txFillClrLst/>
    <dgm:txEffectClrLst/>
  </dgm:styleLbl>
  <dgm:styleLbl name="node0">
    <dgm:fillClrLst meth="repeat">
      <a:srgbClr val="1F71FF">
        <a:shade val="80000"/>
      </a:srgbClr>
    </dgm:fillClrLst>
    <dgm:linClrLst meth="repeat">
      <a:srgbClr val="FFFFFF"/>
    </dgm:linClrLst>
    <dgm:effectClrLst/>
    <dgm:txLinClrLst/>
    <dgm:txFillClrLst/>
    <dgm:txEffectClrLst/>
  </dgm:styleLbl>
  <dgm:styleLbl name="node1">
    <dgm:fillClrLst>
      <a:srgbClr val="1F71FF">
        <a:shade val="80000"/>
      </a:srgbClr>
      <a:srgbClr val="1F71FF">
        <a:tint val="70000"/>
      </a:srgbClr>
    </dgm:fillClrLst>
    <dgm:linClrLst meth="repeat">
      <a:srgbClr val="FFFFFF"/>
    </dgm:linClrLst>
    <dgm:effectClrLst/>
    <dgm:txLinClrLst/>
    <dgm:txFillClrLst/>
    <dgm:txEffectClrLst/>
  </dgm:styleLbl>
  <dgm:styleLbl name="node2">
    <dgm:fillClrLst>
      <a:srgbClr val="1F71FF">
        <a:tint val="99000"/>
      </a:srgbClr>
    </dgm:fillClrLst>
    <dgm:linClrLst meth="repeat">
      <a:srgbClr val="FFFFFF"/>
    </dgm:linClrLst>
    <dgm:effectClrLst/>
    <dgm:txLinClrLst/>
    <dgm:txFillClrLst/>
    <dgm:txEffectClrLst/>
  </dgm:styleLbl>
  <dgm:styleLbl name="node3">
    <dgm:fillClrLst>
      <a:srgbClr val="1F71FF">
        <a:tint val="80000"/>
      </a:srgbClr>
    </dgm:fillClrLst>
    <dgm:linClrLst meth="repeat">
      <a:srgbClr val="FFFFFF"/>
    </dgm:linClrLst>
    <dgm:effectClrLst/>
    <dgm:txLinClrLst/>
    <dgm:txFillClrLst/>
    <dgm:txEffectClrLst/>
  </dgm:styleLbl>
  <dgm:styleLbl name="node4">
    <dgm:fillClrLst>
      <a:srgbClr val="1F71FF">
        <a:tint val="70000"/>
      </a:srgbClr>
    </dgm:fillClrLst>
    <dgm:linClrLst meth="repeat">
      <a:srgbClr val="FFFFFF"/>
    </dgm:linClrLst>
    <dgm:effectClrLst/>
    <dgm:txLinClrLst/>
    <dgm:txFillClrLst/>
    <dgm:txEffectClrLst/>
  </dgm:styleLbl>
  <dgm:styleLbl name="parChTrans1D1">
    <dgm:fillClrLst meth="repeat">
      <a:srgbClr val="1F71FF">
        <a:shade val="80000"/>
      </a:srgbClr>
    </dgm:fillClrLst>
    <dgm:linClrLst meth="repeat">
      <a:srgbClr val="1F71FF">
        <a:shade val="80000"/>
      </a:srgbClr>
    </dgm:linClrLst>
    <dgm:effectClrLst/>
    <dgm:txLinClrLst/>
    <dgm:txFillClrLst meth="repeat">
      <a:srgbClr val="000000"/>
    </dgm:txFillClrLst>
    <dgm:txEffectClrLst/>
  </dgm:styleLbl>
  <dgm:styleLbl name="parChTrans1D2">
    <dgm:fillClrLst meth="repeat">
      <a:srgbClr val="1F71FF">
        <a:tint val="99000"/>
      </a:srgbClr>
    </dgm:fillClrLst>
    <dgm:linClrLst meth="repeat">
      <a:srgbClr val="1F71FF">
        <a:tint val="99000"/>
      </a:srgbClr>
    </dgm:linClrLst>
    <dgm:effectClrLst/>
    <dgm:txLinClrLst/>
    <dgm:txFillClrLst meth="repeat">
      <a:srgbClr val="000000"/>
    </dgm:txFillClrLst>
    <dgm:txEffectClrLst/>
  </dgm:styleLbl>
  <dgm:styleLbl name="parChTrans1D3">
    <dgm:fillClrLst meth="repeat">
      <a:srgbClr val="1F71FF">
        <a:tint val="80000"/>
      </a:srgbClr>
    </dgm:fillClrLst>
    <dgm:linClrLst meth="repeat">
      <a:srgbClr val="1F71FF">
        <a:tint val="80000"/>
      </a:srgbClr>
    </dgm:linClrLst>
    <dgm:effectClrLst/>
    <dgm:txLinClrLst/>
    <dgm:txFillClrLst meth="repeat">
      <a:srgbClr val="000000"/>
    </dgm:txFillClrLst>
    <dgm:txEffectClrLst/>
  </dgm:styleLbl>
  <dgm:styleLbl name="parChTrans1D4">
    <dgm:fillClrLst meth="repeat">
      <a:srgbClr val="1F71FF">
        <a:tint val="70000"/>
      </a:srgbClr>
    </dgm:fillClrLst>
    <dgm:linClrLst meth="repeat">
      <a:srgbClr val="1F71FF">
        <a:tint val="70000"/>
      </a:srgbClr>
    </dgm:linClrLst>
    <dgm:effectClrLst/>
    <dgm:txLinClrLst/>
    <dgm:txFillClrLst meth="repeat">
      <a:srgbClr val="000000"/>
    </dgm:txFillClrLst>
    <dgm:txEffectClrLst/>
  </dgm:styleLbl>
  <dgm:styleLbl name="parChTrans2D1">
    <dgm:fillClrLst meth="repeat">
      <a:srgbClr val="1F71FF">
        <a:tint val="60000"/>
      </a:srgbClr>
    </dgm:fillClrLst>
    <dgm:linClrLst meth="repeat">
      <a:srgbClr val="1F71FF">
        <a:tint val="60000"/>
      </a:srgbClr>
    </dgm:linClrLst>
    <dgm:effectClrLst/>
    <dgm:txLinClrLst/>
    <dgm:txFillClrLst meth="repeat">
      <a:srgbClr val="FFFFFF"/>
    </dgm:txFillClrLst>
    <dgm:txEffectClrLst/>
  </dgm:styleLbl>
  <dgm:styleLbl name="parChTrans2D2">
    <dgm:fillClrLst meth="repeat">
      <a:srgbClr val="1F71FF">
        <a:tint val="90000"/>
      </a:srgbClr>
    </dgm:fillClrLst>
    <dgm:linClrLst meth="repeat">
      <a:srgbClr val="1F71FF">
        <a:tint val="90000"/>
      </a:srgbClr>
    </dgm:linClrLst>
    <dgm:effectClrLst/>
    <dgm:txLinClrLst/>
    <dgm:txFillClrLst/>
    <dgm:txEffectClrLst/>
  </dgm:styleLbl>
  <dgm:styleLbl name="parChTrans2D3">
    <dgm:fillClrLst meth="repeat">
      <a:srgbClr val="1F71FF">
        <a:tint val="70000"/>
      </a:srgbClr>
    </dgm:fillClrLst>
    <dgm:linClrLst meth="repeat">
      <a:srgbClr val="1F71FF">
        <a:tint val="70000"/>
      </a:srgbClr>
    </dgm:linClrLst>
    <dgm:effectClrLst/>
    <dgm:txLinClrLst/>
    <dgm:txFillClrLst/>
    <dgm:txEffectClrLst/>
  </dgm:styleLbl>
  <dgm:styleLbl name="parChTrans2D4">
    <dgm:fillClrLst meth="repeat">
      <a:srgbClr val="1F71FF">
        <a:tint val="50000"/>
      </a:srgbClr>
    </dgm:fillClrLst>
    <dgm:linClrLst meth="repeat">
      <a:srgbClr val="1F71FF">
        <a:tint val="50000"/>
      </a:srgbClr>
    </dgm:linClrLst>
    <dgm:effectClrLst/>
    <dgm:txLinClrLst/>
    <dgm:txFillClrLst meth="repeat">
      <a:srgbClr val="FFFFFF"/>
    </dgm:txFillClrLst>
    <dgm:txEffectClrLst/>
  </dgm:styleLbl>
  <dgm:styleLbl name="revTx">
    <dgm:fillClrLst meth="repeat">
      <a:srgbClr val="FFFFFF">
        <a:alpha val="0"/>
      </a:srgbClr>
    </dgm:fillClrLst>
    <dgm:linClrLst meth="repeat">
      <a:srgbClr val="000000">
        <a:alpha val="0"/>
      </a:srgbClr>
    </dgm:linClrLst>
    <dgm:effectClrLst/>
    <dgm:txLinClrLst/>
    <dgm:txFillClrLst meth="repeat">
      <a:srgbClr val="000000"/>
    </dgm:txFillClrLst>
    <dgm:txEffectClrLst/>
  </dgm:styleLbl>
  <dgm:styleLbl name="sibTrans1D1">
    <dgm:fillClrLst>
      <a:srgbClr val="1F71FF">
        <a:shade val="90000"/>
      </a:srgbClr>
      <a:srgbClr val="1F71FF">
        <a:tint val="70000"/>
      </a:srgbClr>
    </dgm:fillClrLst>
    <dgm:linClrLst>
      <a:srgbClr val="1F71FF">
        <a:shade val="90000"/>
      </a:srgbClr>
      <a:srgbClr val="1F71FF">
        <a:tint val="70000"/>
      </a:srgbClr>
    </dgm:linClrLst>
    <dgm:effectClrLst/>
    <dgm:txLinClrLst/>
    <dgm:txFillClrLst meth="repeat">
      <a:srgbClr val="000000"/>
    </dgm:txFillClrLst>
    <dgm:txEffectClrLst/>
  </dgm:styleLbl>
  <dgm:styleLbl name="sibTrans2D1">
    <dgm:fillClrLst>
      <a:srgbClr val="1F71FF">
        <a:shade val="90000"/>
      </a:srgbClr>
      <a:srgbClr val="1F71FF">
        <a:tint val="70000"/>
      </a:srgbClr>
    </dgm:fillClrLst>
    <dgm:linClrLst>
      <a:srgbClr val="1F71FF">
        <a:shade val="90000"/>
      </a:srgbClr>
      <a:srgbClr val="1F71FF">
        <a:tint val="70000"/>
      </a:srgbClr>
    </dgm:linClrLst>
    <dgm:effectClrLst/>
    <dgm:txLinClrLst/>
    <dgm:txFillClrLst/>
    <dgm:txEffectClrLst/>
  </dgm:styleLbl>
  <dgm:styleLbl name="solidAlignAcc1">
    <dgm:fillClrLst meth="repeat">
      <a:srgbClr val="FFFFFF"/>
    </dgm:fillClrLst>
    <dgm:linClrLst meth="repeat">
      <a:srgbClr val="1F71FF"/>
    </dgm:linClrLst>
    <dgm:effectClrLst/>
    <dgm:txLinClrLst/>
    <dgm:txFillClrLst meth="repeat">
      <a:srgbClr val="000000"/>
    </dgm:txFillClrLst>
    <dgm:txEffectClrLst/>
  </dgm:styleLbl>
  <dgm:styleLbl name="solidBgAcc1">
    <dgm:fillClrLst meth="repeat">
      <a:srgbClr val="FFFFFF"/>
    </dgm:fillClrLst>
    <dgm:linClrLst meth="repeat">
      <a:srgbClr val="1F71FF"/>
    </dgm:linClrLst>
    <dgm:effectClrLst/>
    <dgm:txLinClrLst/>
    <dgm:txFillClrLst meth="repeat">
      <a:srgbClr val="000000"/>
    </dgm:txFillClrLst>
    <dgm:txEffectClrLst/>
  </dgm:styleLbl>
  <dgm:styleLbl name="solidFgAcc1">
    <dgm:fillClrLst meth="repeat">
      <a:srgbClr val="FFFFFF"/>
    </dgm:fillClrLst>
    <dgm:linClrLst>
      <a:srgbClr val="1F71FF">
        <a:shade val="80000"/>
      </a:srgbClr>
      <a:srgbClr val="1F71FF">
        <a:tint val="70000"/>
      </a:srgbClr>
    </dgm:linClrLst>
    <dgm:effectClrLst/>
    <dgm:txLinClrLst/>
    <dgm:txFillClrLst meth="repeat">
      <a:srgbClr val="000000"/>
    </dgm:txFillClrLst>
    <dgm:txEffectClrLst/>
  </dgm:styleLbl>
  <dgm:styleLbl name="trAlignAcc1">
    <dgm:fillClrLst meth="repeat">
      <a:srgbClr val="FFFFFF">
        <a:alpha val="40000"/>
      </a:srgbClr>
    </dgm:fillClrLst>
    <dgm:linClrLst meth="repeat">
      <a:srgbClr val="1F71FF"/>
    </dgm:linClrLst>
    <dgm:effectClrLst/>
    <dgm:txLinClrLst/>
    <dgm:txFillClrLst meth="repeat">
      <a:srgbClr val="000000"/>
    </dgm:txFillClrLst>
    <dgm:txEffectClrLst/>
  </dgm:styleLbl>
  <dgm:styleLbl name="trBgShp">
    <dgm:fillClrLst meth="repeat">
      <a:srgbClr val="1F71FF">
        <a:tint val="50000"/>
        <a:alpha val="40000"/>
      </a:srgbClr>
    </dgm:fillClrLst>
    <dgm:linClrLst meth="repeat">
      <a:srgbClr val="1F71FF"/>
    </dgm:linClrLst>
    <dgm:effectClrLst/>
    <dgm:txLinClrLst/>
    <dgm:txFillClrLst meth="repeat">
      <a:srgbClr val="FFFFFF"/>
    </dgm:txFillClrLst>
    <dgm:txEffectClrLst/>
  </dgm:styleLbl>
  <dgm:styleLbl name="vennNode1">
    <dgm:fillClrLst>
      <a:srgbClr val="1F71FF">
        <a:shade val="80000"/>
        <a:alpha val="50000"/>
      </a:srgbClr>
      <a:srgbClr val="1F71FF">
        <a:tint val="70000"/>
        <a:alpha val="50000"/>
      </a:srgbClr>
    </dgm:fillClrLst>
    <dgm:linClrLst meth="repeat">
      <a:srgbClr val="FFFFFF"/>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3">
  <dgm:title val=""/>
  <dgm:desc val=""/>
  <dgm:catLst>
    <dgm:cat type="accent2" pri="11400"/>
  </dgm:catLst>
  <dgm:styleLbl name="alignAcc1">
    <dgm:fillClrLst meth="repeat">
      <a:srgbClr val="FFFFFF">
        <a:alpha val="90000"/>
      </a:srgbClr>
    </dgm:fillClrLst>
    <dgm:linClrLst meth="cycle">
      <a:srgbClr val="1F71FF">
        <a:shade val="50000"/>
      </a:srgbClr>
      <a:srgbClr val="1F71FF">
        <a:tint val="55000"/>
      </a:srgbClr>
    </dgm:linClrLst>
    <dgm:effectClrLst/>
    <dgm:txLinClrLst/>
    <dgm:txFillClrLst meth="repeat">
      <a:srgbClr val="000000"/>
    </dgm:txFillClrLst>
    <dgm:txEffectClrLst/>
  </dgm:styleLbl>
  <dgm:styleLbl name="alignAccFollowNode1">
    <dgm:fillClrLst meth="repeat">
      <a:srgbClr val="1F71FF">
        <a:alpha val="90000"/>
        <a:tint val="55000"/>
      </a:srgbClr>
    </dgm:fillClrLst>
    <dgm:linClrLst meth="repeat">
      <a:srgbClr val="1F71FF">
        <a:alpha val="90000"/>
        <a:tint val="55000"/>
      </a:srgbClr>
    </dgm:linClrLst>
    <dgm:effectClrLst/>
    <dgm:txLinClrLst/>
    <dgm:txFillClrLst meth="repeat">
      <a:srgbClr val="000000"/>
    </dgm:txFillClrLst>
    <dgm:txEffectClrLst/>
  </dgm:styleLbl>
  <dgm:styleLbl name="alignImgPlace1">
    <dgm:fillClrLst>
      <a:srgbClr val="1F71FF">
        <a:tint val="50000"/>
      </a:srgbClr>
      <a:srgbClr val="1F71FF">
        <a:tint val="55000"/>
      </a:srgbClr>
    </dgm:fillClrLst>
    <dgm:linClrLst meth="repeat">
      <a:srgbClr val="FFFFFF"/>
    </dgm:linClrLst>
    <dgm:effectClrLst/>
    <dgm:txLinClrLst/>
    <dgm:txFillClrLst meth="repeat">
      <a:srgbClr val="FFFFFF"/>
    </dgm:txFillClrLst>
    <dgm:txEffectClrLst/>
  </dgm:styleLbl>
  <dgm:styleLbl name="alignNode1">
    <dgm:fillClrLst meth="cycle">
      <a:srgbClr val="1F71FF">
        <a:shade val="50000"/>
      </a:srgbClr>
      <a:srgbClr val="1F71FF">
        <a:tint val="45000"/>
      </a:srgbClr>
    </dgm:fillClrLst>
    <dgm:linClrLst meth="cycle">
      <a:srgbClr val="1F71FF">
        <a:shade val="50000"/>
      </a:srgbClr>
      <a:srgbClr val="1F71FF">
        <a:tint val="45000"/>
      </a:srgbClr>
    </dgm:linClrLst>
    <dgm:effectClrLst/>
    <dgm:txLinClrLst/>
    <dgm:txFillClrLst/>
    <dgm:txEffectClrLst/>
  </dgm:styleLbl>
  <dgm:styleLbl name="asst0">
    <dgm:fillClrLst meth="repeat">
      <a:srgbClr val="1F71FF">
        <a:shade val="80000"/>
      </a:srgbClr>
    </dgm:fillClrLst>
    <dgm:linClrLst meth="repeat">
      <a:srgbClr val="FFFFFF"/>
    </dgm:linClrLst>
    <dgm:effectClrLst/>
    <dgm:txLinClrLst/>
    <dgm:txFillClrLst/>
    <dgm:txEffectClrLst/>
  </dgm:styleLbl>
  <dgm:styleLbl name="asst1">
    <dgm:fillClrLst meth="repeat">
      <a:srgbClr val="1F71FF">
        <a:shade val="80000"/>
      </a:srgbClr>
    </dgm:fillClrLst>
    <dgm:linClrLst meth="repeat">
      <a:srgbClr val="FFFFFF"/>
    </dgm:linClrLst>
    <dgm:effectClrLst/>
    <dgm:txLinClrLst/>
    <dgm:txFillClrLst/>
    <dgm:txEffectClrLst/>
  </dgm:styleLbl>
  <dgm:styleLbl name="asst2">
    <dgm:fillClrLst>
      <a:srgbClr val="1F71FF">
        <a:tint val="90000"/>
      </a:srgbClr>
    </dgm:fillClrLst>
    <dgm:linClrLst meth="repeat">
      <a:srgbClr val="FFFFFF"/>
    </dgm:linClrLst>
    <dgm:effectClrLst/>
    <dgm:txLinClrLst/>
    <dgm:txFillClrLst/>
    <dgm:txEffectClrLst/>
  </dgm:styleLbl>
  <dgm:styleLbl name="asst3">
    <dgm:fillClrLst>
      <a:srgbClr val="1F71FF">
        <a:tint val="70000"/>
      </a:srgbClr>
    </dgm:fillClrLst>
    <dgm:linClrLst meth="repeat">
      <a:srgbClr val="FFFFFF"/>
    </dgm:linClrLst>
    <dgm:effectClrLst/>
    <dgm:txLinClrLst/>
    <dgm:txFillClrLst/>
    <dgm:txEffectClrLst/>
  </dgm:styleLbl>
  <dgm:styleLbl name="asst4">
    <dgm:fillClrLst>
      <a:srgbClr val="1F71FF">
        <a:tint val="50000"/>
      </a:srgbClr>
    </dgm:fillClrLst>
    <dgm:linClrLst meth="repeat">
      <a:srgbClr val="FFFFFF"/>
    </dgm:linClrLst>
    <dgm:effectClrLst/>
    <dgm:txLinClrLst/>
    <dgm:txFillClrLst/>
    <dgm:txEffectClrLst/>
  </dgm:styleLbl>
  <dgm:styleLbl name="bgAcc1">
    <dgm:fillClrLst meth="repeat">
      <a:srgbClr val="FFFFFF">
        <a:alpha val="90000"/>
      </a:srgbClr>
    </dgm:fillClrLst>
    <dgm:linClrLst meth="cycle">
      <a:srgbClr val="1F71FF">
        <a:shade val="50000"/>
      </a:srgbClr>
      <a:srgbClr val="1F71FF">
        <a:tint val="55000"/>
      </a:srgbClr>
    </dgm:linClrLst>
    <dgm:effectClrLst/>
    <dgm:txLinClrLst/>
    <dgm:txFillClrLst meth="repeat">
      <a:srgbClr val="000000"/>
    </dgm:txFillClrLst>
    <dgm:txEffectClrLst/>
  </dgm:styleLbl>
  <dgm:styleLbl name="bgAccFollowNode1">
    <dgm:fillClrLst meth="repeat">
      <a:srgbClr val="1F71FF">
        <a:alpha val="90000"/>
        <a:tint val="55000"/>
      </a:srgbClr>
    </dgm:fillClrLst>
    <dgm:linClrLst meth="repeat">
      <a:srgbClr val="FFFFFF"/>
    </dgm:linClrLst>
    <dgm:effectClrLst/>
    <dgm:txLinClrLst/>
    <dgm:txFillClrLst meth="repeat">
      <a:srgbClr val="000000"/>
    </dgm:txFillClrLst>
    <dgm:txEffectClrLst/>
  </dgm:styleLbl>
  <dgm:styleLbl name="bgImgPlace1">
    <dgm:fillClrLst>
      <a:srgbClr val="1F71FF">
        <a:tint val="50000"/>
      </a:srgbClr>
      <a:srgbClr val="1F71FF">
        <a:tint val="55000"/>
      </a:srgbClr>
    </dgm:fillClrLst>
    <dgm:linClrLst meth="repeat">
      <a:srgbClr val="FFFFFF"/>
    </dgm:linClrLst>
    <dgm:effectClrLst/>
    <dgm:txLinClrLst/>
    <dgm:txFillClrLst meth="repeat">
      <a:srgbClr val="FFFFFF"/>
    </dgm:txFillClrLst>
    <dgm:txEffectClrLst/>
  </dgm:styleLbl>
  <dgm:styleLbl name="bgShp">
    <dgm:fillClrLst meth="repeat">
      <a:srgbClr val="1F71FF">
        <a:tint val="55000"/>
      </a:srgbClr>
    </dgm:fillClrLst>
    <dgm:linClrLst meth="repeat">
      <a:srgbClr val="000000"/>
    </dgm:linClrLst>
    <dgm:effectClrLst/>
    <dgm:txLinClrLst/>
    <dgm:txFillClrLst meth="repeat">
      <a:srgbClr val="000000"/>
    </dgm:txFillClrLst>
    <dgm:txEffectClrLst/>
  </dgm:styleLbl>
  <dgm:styleLbl name="bgSibTrans2D1">
    <dgm:fillClrLst meth="cycle">
      <a:srgbClr val="1F71FF">
        <a:shade val="90000"/>
      </a:srgbClr>
      <a:srgbClr val="1F71FF">
        <a:tint val="50000"/>
      </a:srgbClr>
    </dgm:fillClrLst>
    <dgm:linClrLst meth="cycle">
      <a:srgbClr val="1F71FF">
        <a:shade val="90000"/>
      </a:srgbClr>
      <a:srgbClr val="1F71FF">
        <a:tint val="50000"/>
      </a:srgbClr>
    </dgm:linClrLst>
    <dgm:effectClrLst/>
    <dgm:txLinClrLst/>
    <dgm:txFillClrLst/>
    <dgm:txEffectClrLst/>
  </dgm:styleLbl>
  <dgm:styleLbl name="callout">
    <dgm:fillClrLst meth="repeat">
      <a:srgbClr val="1F71FF"/>
    </dgm:fillClrLst>
    <dgm:linClrLst meth="repeat">
      <a:srgbClr val="1F71FF"/>
    </dgm:linClrLst>
    <dgm:effectClrLst/>
    <dgm:txLinClrLst/>
    <dgm:txFillClrLst meth="repeat">
      <a:srgbClr val="000000"/>
    </dgm:txFillClrLst>
    <dgm:txEffectClrLst/>
  </dgm:styleLbl>
  <dgm:styleLbl name="conFgAcc1">
    <dgm:fillClrLst meth="repeat">
      <a:srgbClr val="FFFFFF">
        <a:alpha val="90000"/>
      </a:srgbClr>
    </dgm:fillClrLst>
    <dgm:linClrLst meth="cycle">
      <a:srgbClr val="1F71FF">
        <a:shade val="50000"/>
      </a:srgbClr>
      <a:srgbClr val="1F71FF">
        <a:tint val="55000"/>
      </a:srgbClr>
    </dgm:linClrLst>
    <dgm:effectClrLst/>
    <dgm:txLinClrLst/>
    <dgm:txFillClrLst meth="repeat">
      <a:srgbClr val="000000"/>
    </dgm:txFillClrLst>
    <dgm:txEffectClrLst/>
  </dgm:styleLbl>
  <dgm:styleLbl name="dkBgShp">
    <dgm:fillClrLst meth="repeat">
      <a:srgbClr val="1F71FF">
        <a:shade val="90000"/>
      </a:srgbClr>
    </dgm:fillClrLst>
    <dgm:linClrLst meth="repeat">
      <a:srgbClr val="000000"/>
    </dgm:linClrLst>
    <dgm:effectClrLst/>
    <dgm:txLinClrLst/>
    <dgm:txFillClrLst meth="repeat">
      <a:srgbClr val="FFFFFF"/>
    </dgm:txFillClrLst>
    <dgm:txEffectClrLst/>
  </dgm:styleLbl>
  <dgm:styleLbl name="fgAcc0">
    <dgm:fillClrLst meth="repeat">
      <a:srgbClr val="FFFFFF">
        <a:alpha val="90000"/>
      </a:srgbClr>
    </dgm:fillClrLst>
    <dgm:linClrLst meth="repeat">
      <a:srgbClr val="1F71FF">
        <a:shade val="80000"/>
      </a:srgbClr>
    </dgm:linClrLst>
    <dgm:effectClrLst/>
    <dgm:txLinClrLst/>
    <dgm:txFillClrLst meth="repeat">
      <a:srgbClr val="000000"/>
    </dgm:txFillClrLst>
    <dgm:txEffectClrLst/>
  </dgm:styleLbl>
  <dgm:styleLbl name="fgAcc1">
    <dgm:fillClrLst meth="repeat">
      <a:srgbClr val="FFFFFF">
        <a:alpha val="90000"/>
      </a:srgbClr>
    </dgm:fillClrLst>
    <dgm:linClrLst meth="cycle">
      <a:srgbClr val="1F71FF">
        <a:shade val="50000"/>
      </a:srgbClr>
      <a:srgbClr val="1F71FF">
        <a:tint val="55000"/>
      </a:srgbClr>
    </dgm:linClrLst>
    <dgm:effectClrLst/>
    <dgm:txLinClrLst/>
    <dgm:txFillClrLst meth="repeat">
      <a:srgbClr val="000000"/>
    </dgm:txFillClrLst>
    <dgm:txEffectClrLst/>
  </dgm:styleLbl>
  <dgm:styleLbl name="fgAcc2">
    <dgm:fillClrLst meth="repeat">
      <a:srgbClr val="FFFFFF">
        <a:alpha val="90000"/>
      </a:srgbClr>
    </dgm:fillClrLst>
    <dgm:linClrLst meth="repeat">
      <a:srgbClr val="1F71FF">
        <a:tint val="90000"/>
      </a:srgbClr>
    </dgm:linClrLst>
    <dgm:effectClrLst/>
    <dgm:txLinClrLst/>
    <dgm:txFillClrLst meth="repeat">
      <a:srgbClr val="000000"/>
    </dgm:txFillClrLst>
    <dgm:txEffectClrLst/>
  </dgm:styleLbl>
  <dgm:styleLbl name="fgAcc3">
    <dgm:fillClrLst meth="repeat">
      <a:srgbClr val="FFFFFF">
        <a:alpha val="90000"/>
      </a:srgbClr>
    </dgm:fillClrLst>
    <dgm:linClrLst meth="repeat">
      <a:srgbClr val="1F71FF">
        <a:tint val="70000"/>
      </a:srgbClr>
    </dgm:linClrLst>
    <dgm:effectClrLst/>
    <dgm:txLinClrLst/>
    <dgm:txFillClrLst meth="repeat">
      <a:srgbClr val="000000"/>
    </dgm:txFillClrLst>
    <dgm:txEffectClrLst/>
  </dgm:styleLbl>
  <dgm:styleLbl name="fgAcc4">
    <dgm:fillClrLst meth="repeat">
      <a:srgbClr val="FFFFFF">
        <a:alpha val="90000"/>
      </a:srgbClr>
    </dgm:fillClrLst>
    <dgm:linClrLst meth="repeat">
      <a:srgbClr val="1F71FF">
        <a:tint val="50000"/>
      </a:srgbClr>
    </dgm:linClrLst>
    <dgm:effectClrLst/>
    <dgm:txLinClrLst/>
    <dgm:txFillClrLst meth="repeat">
      <a:srgbClr val="000000"/>
    </dgm:txFillClrLst>
    <dgm:txEffectClrLst/>
  </dgm:styleLbl>
  <dgm:styleLbl name="fgAccFollowNode1">
    <dgm:fillClrLst meth="repeat">
      <a:srgbClr val="1F71FF">
        <a:alpha val="90000"/>
        <a:tint val="55000"/>
      </a:srgbClr>
    </dgm:fillClrLst>
    <dgm:linClrLst meth="repeat">
      <a:srgbClr val="1F71FF">
        <a:alpha val="90000"/>
        <a:tint val="55000"/>
      </a:srgbClr>
    </dgm:linClrLst>
    <dgm:effectClrLst/>
    <dgm:txLinClrLst/>
    <dgm:txFillClrLst meth="repeat">
      <a:srgbClr val="000000"/>
    </dgm:txFillClrLst>
    <dgm:txEffectClrLst/>
  </dgm:styleLbl>
  <dgm:styleLbl name="fgImgPlace1">
    <dgm:fillClrLst>
      <a:srgbClr val="1F71FF">
        <a:tint val="50000"/>
      </a:srgbClr>
      <a:srgbClr val="1F71FF">
        <a:tint val="55000"/>
      </a:srgbClr>
    </dgm:fillClrLst>
    <dgm:linClrLst meth="repeat">
      <a:srgbClr val="FFFFFF"/>
    </dgm:linClrLst>
    <dgm:effectClrLst/>
    <dgm:txLinClrLst/>
    <dgm:txFillClrLst meth="repeat">
      <a:srgbClr val="FFFFFF"/>
    </dgm:txFillClrLst>
    <dgm:txEffectClrLst/>
  </dgm:styleLbl>
  <dgm:styleLbl name="fgShp">
    <dgm:fillClrLst meth="repeat">
      <a:srgbClr val="1F71FF">
        <a:tint val="55000"/>
      </a:srgbClr>
    </dgm:fillClrLst>
    <dgm:linClrLst meth="repeat">
      <a:srgbClr val="FFFFFF"/>
    </dgm:linClrLst>
    <dgm:effectClrLst/>
    <dgm:txLinClrLst/>
    <dgm:txFillClrLst meth="repeat">
      <a:srgbClr val="000000"/>
    </dgm:txFillClrLst>
    <dgm:txEffectClrLst/>
  </dgm:styleLbl>
  <dgm:styleLbl name="fgSibTrans2D1">
    <dgm:fillClrLst meth="cycle">
      <a:srgbClr val="1F71FF">
        <a:shade val="90000"/>
      </a:srgbClr>
      <a:srgbClr val="1F71FF">
        <a:tint val="50000"/>
      </a:srgbClr>
    </dgm:fillClrLst>
    <dgm:linClrLst meth="cycle">
      <a:srgbClr val="1F71FF">
        <a:shade val="90000"/>
      </a:srgbClr>
      <a:srgbClr val="1F71FF">
        <a:tint val="50000"/>
      </a:srgbClr>
    </dgm:linClrLst>
    <dgm:effectClrLst/>
    <dgm:txLinClrLst/>
    <dgm:txFillClrLst/>
    <dgm:txEffectClrLst/>
  </dgm:styleLbl>
  <dgm:styleLbl name="lnNode1">
    <dgm:fillClrLst meth="cycle">
      <a:srgbClr val="1F71FF">
        <a:shade val="50000"/>
      </a:srgbClr>
      <a:srgbClr val="1F71FF">
        <a:tint val="45000"/>
      </a:srgbClr>
    </dgm:fillClrLst>
    <dgm:linClrLst meth="repeat">
      <a:srgbClr val="FFFFFF"/>
    </dgm:linClrLst>
    <dgm:effectClrLst/>
    <dgm:txLinClrLst/>
    <dgm:txFillClrLst/>
    <dgm:txEffectClrLst/>
  </dgm:styleLbl>
  <dgm:styleLbl name="node0">
    <dgm:fillClrLst meth="cycle">
      <a:srgbClr val="1F71FF">
        <a:shade val="60000"/>
      </a:srgbClr>
    </dgm:fillClrLst>
    <dgm:linClrLst meth="repeat">
      <a:srgbClr val="FFFFFF"/>
    </dgm:linClrLst>
    <dgm:effectClrLst/>
    <dgm:txLinClrLst/>
    <dgm:txFillClrLst/>
    <dgm:txEffectClrLst/>
  </dgm:styleLbl>
  <dgm:styleLbl name="node1">
    <dgm:fillClrLst meth="cycle">
      <a:srgbClr val="1F71FF">
        <a:shade val="50000"/>
      </a:srgbClr>
      <a:srgbClr val="1F71FF">
        <a:tint val="45000"/>
      </a:srgbClr>
    </dgm:fillClrLst>
    <dgm:linClrLst meth="repeat">
      <a:srgbClr val="FFFFFF"/>
    </dgm:linClrLst>
    <dgm:effectClrLst/>
    <dgm:txLinClrLst/>
    <dgm:txFillClrLst/>
    <dgm:txEffectClrLst/>
  </dgm:styleLbl>
  <dgm:styleLbl name="node2">
    <dgm:fillClrLst>
      <a:srgbClr val="1F71FF">
        <a:shade val="80000"/>
      </a:srgbClr>
    </dgm:fillClrLst>
    <dgm:linClrLst meth="repeat">
      <a:srgbClr val="FFFFFF"/>
    </dgm:linClrLst>
    <dgm:effectClrLst/>
    <dgm:txLinClrLst/>
    <dgm:txFillClrLst/>
    <dgm:txEffectClrLst/>
  </dgm:styleLbl>
  <dgm:styleLbl name="node3">
    <dgm:fillClrLst>
      <a:srgbClr val="1F71FF">
        <a:tint val="99000"/>
      </a:srgbClr>
    </dgm:fillClrLst>
    <dgm:linClrLst meth="repeat">
      <a:srgbClr val="FFFFFF"/>
    </dgm:linClrLst>
    <dgm:effectClrLst/>
    <dgm:txLinClrLst/>
    <dgm:txFillClrLst/>
    <dgm:txEffectClrLst/>
  </dgm:styleLbl>
  <dgm:styleLbl name="node4">
    <dgm:fillClrLst>
      <a:srgbClr val="1F71FF">
        <a:tint val="70000"/>
      </a:srgbClr>
    </dgm:fillClrLst>
    <dgm:linClrLst meth="repeat">
      <a:srgbClr val="FFFFFF"/>
    </dgm:linClrLst>
    <dgm:effectClrLst/>
    <dgm:txLinClrLst/>
    <dgm:txFillClrLst/>
    <dgm:txEffectClrLst/>
  </dgm:styleLbl>
  <dgm:styleLbl name="parChTrans1D1">
    <dgm:fillClrLst meth="repeat">
      <a:srgbClr val="1F71FF">
        <a:shade val="80000"/>
      </a:srgbClr>
    </dgm:fillClrLst>
    <dgm:linClrLst meth="repeat">
      <a:srgbClr val="1F71FF">
        <a:shade val="80000"/>
      </a:srgbClr>
    </dgm:linClrLst>
    <dgm:effectClrLst/>
    <dgm:txLinClrLst/>
    <dgm:txFillClrLst meth="repeat">
      <a:srgbClr val="000000"/>
    </dgm:txFillClrLst>
    <dgm:txEffectClrLst/>
  </dgm:styleLbl>
  <dgm:styleLbl name="parChTrans1D2">
    <dgm:fillClrLst meth="repeat">
      <a:srgbClr val="1F71FF">
        <a:tint val="90000"/>
      </a:srgbClr>
    </dgm:fillClrLst>
    <dgm:linClrLst meth="repeat">
      <a:srgbClr val="1F71FF">
        <a:tint val="90000"/>
      </a:srgbClr>
    </dgm:linClrLst>
    <dgm:effectClrLst/>
    <dgm:txLinClrLst/>
    <dgm:txFillClrLst meth="repeat">
      <a:srgbClr val="000000"/>
    </dgm:txFillClrLst>
    <dgm:txEffectClrLst/>
  </dgm:styleLbl>
  <dgm:styleLbl name="parChTrans1D3">
    <dgm:fillClrLst meth="repeat">
      <a:srgbClr val="1F71FF">
        <a:tint val="70000"/>
      </a:srgbClr>
    </dgm:fillClrLst>
    <dgm:linClrLst meth="repeat">
      <a:srgbClr val="1F71FF">
        <a:tint val="70000"/>
      </a:srgbClr>
    </dgm:linClrLst>
    <dgm:effectClrLst/>
    <dgm:txLinClrLst/>
    <dgm:txFillClrLst meth="repeat">
      <a:srgbClr val="000000"/>
    </dgm:txFillClrLst>
    <dgm:txEffectClrLst/>
  </dgm:styleLbl>
  <dgm:styleLbl name="parChTrans1D4">
    <dgm:fillClrLst meth="repeat">
      <a:srgbClr val="1F71FF">
        <a:tint val="50000"/>
      </a:srgbClr>
    </dgm:fillClrLst>
    <dgm:linClrLst meth="repeat">
      <a:srgbClr val="1F71FF">
        <a:tint val="50000"/>
      </a:srgbClr>
    </dgm:linClrLst>
    <dgm:effectClrLst/>
    <dgm:txLinClrLst/>
    <dgm:txFillClrLst meth="repeat">
      <a:srgbClr val="000000"/>
    </dgm:txFillClrLst>
    <dgm:txEffectClrLst/>
  </dgm:styleLbl>
  <dgm:styleLbl name="parChTrans2D1">
    <dgm:fillClrLst meth="repeat">
      <a:srgbClr val="1F71FF">
        <a:tint val="60000"/>
      </a:srgbClr>
    </dgm:fillClrLst>
    <dgm:linClrLst meth="repeat">
      <a:srgbClr val="1F71FF">
        <a:shade val="80000"/>
      </a:srgbClr>
    </dgm:linClrLst>
    <dgm:effectClrLst/>
    <dgm:txLinClrLst/>
    <dgm:txFillClrLst/>
    <dgm:txEffectClrLst/>
  </dgm:styleLbl>
  <dgm:styleLbl name="parChTrans2D2">
    <dgm:fillClrLst meth="repeat">
      <a:srgbClr val="1F71FF">
        <a:tint val="90000"/>
      </a:srgbClr>
    </dgm:fillClrLst>
    <dgm:linClrLst meth="repeat">
      <a:srgbClr val="1F71FF">
        <a:tint val="90000"/>
      </a:srgbClr>
    </dgm:linClrLst>
    <dgm:effectClrLst/>
    <dgm:txLinClrLst/>
    <dgm:txFillClrLst/>
    <dgm:txEffectClrLst/>
  </dgm:styleLbl>
  <dgm:styleLbl name="parChTrans2D3">
    <dgm:fillClrLst meth="repeat">
      <a:srgbClr val="1F71FF">
        <a:tint val="70000"/>
      </a:srgbClr>
    </dgm:fillClrLst>
    <dgm:linClrLst meth="repeat">
      <a:srgbClr val="1F71FF">
        <a:tint val="70000"/>
      </a:srgbClr>
    </dgm:linClrLst>
    <dgm:effectClrLst/>
    <dgm:txLinClrLst/>
    <dgm:txFillClrLst/>
    <dgm:txEffectClrLst/>
  </dgm:styleLbl>
  <dgm:styleLbl name="parChTrans2D4">
    <dgm:fillClrLst meth="repeat">
      <a:srgbClr val="1F71FF">
        <a:tint val="50000"/>
      </a:srgbClr>
    </dgm:fillClrLst>
    <dgm:linClrLst meth="repeat">
      <a:srgbClr val="1F71FF">
        <a:tint val="50000"/>
      </a:srgbClr>
    </dgm:linClrLst>
    <dgm:effectClrLst/>
    <dgm:txLinClrLst/>
    <dgm:txFillClrLst meth="repeat">
      <a:srgbClr val="000000"/>
    </dgm:txFillClrLst>
    <dgm:txEffectClrLst/>
  </dgm:styleLbl>
  <dgm:styleLbl name="revTx">
    <dgm:fillClrLst meth="repeat">
      <a:srgbClr val="FFFFFF">
        <a:alpha val="0"/>
      </a:srgbClr>
    </dgm:fillClrLst>
    <dgm:linClrLst meth="repeat">
      <a:srgbClr val="000000">
        <a:alpha val="0"/>
      </a:srgbClr>
    </dgm:linClrLst>
    <dgm:effectClrLst/>
    <dgm:txLinClrLst/>
    <dgm:txFillClrLst meth="repeat">
      <a:srgbClr val="000000"/>
    </dgm:txFillClrLst>
    <dgm:txEffectClrLst/>
  </dgm:styleLbl>
  <dgm:styleLbl name="sibTrans1D1">
    <dgm:fillClrLst meth="cycle">
      <a:srgbClr val="1F71FF">
        <a:shade val="90000"/>
      </a:srgbClr>
      <a:srgbClr val="1F71FF">
        <a:tint val="50000"/>
      </a:srgbClr>
    </dgm:fillClrLst>
    <dgm:linClrLst meth="cycle">
      <a:srgbClr val="1F71FF">
        <a:shade val="90000"/>
      </a:srgbClr>
      <a:srgbClr val="1F71FF">
        <a:tint val="50000"/>
      </a:srgbClr>
    </dgm:linClrLst>
    <dgm:effectClrLst/>
    <dgm:txLinClrLst/>
    <dgm:txFillClrLst meth="repeat">
      <a:srgbClr val="000000"/>
    </dgm:txFillClrLst>
    <dgm:txEffectClrLst/>
  </dgm:styleLbl>
  <dgm:styleLbl name="sibTrans2D1">
    <dgm:fillClrLst meth="cycle">
      <a:srgbClr val="1F71FF">
        <a:shade val="90000"/>
      </a:srgbClr>
      <a:srgbClr val="1F71FF">
        <a:tint val="50000"/>
      </a:srgbClr>
    </dgm:fillClrLst>
    <dgm:linClrLst meth="cycle">
      <a:srgbClr val="1F71FF">
        <a:shade val="90000"/>
      </a:srgbClr>
      <a:srgbClr val="1F71FF">
        <a:tint val="50000"/>
      </a:srgbClr>
    </dgm:linClrLst>
    <dgm:effectClrLst/>
    <dgm:txLinClrLst/>
    <dgm:txFillClrLst/>
    <dgm:txEffectClrLst/>
  </dgm:styleLbl>
  <dgm:styleLbl name="solidAlignAcc1">
    <dgm:fillClrLst meth="repeat">
      <a:srgbClr val="FFFFFF"/>
    </dgm:fillClrLst>
    <dgm:linClrLst meth="repeat">
      <a:srgbClr val="1F71FF"/>
    </dgm:linClrLst>
    <dgm:effectClrLst/>
    <dgm:txLinClrLst/>
    <dgm:txFillClrLst meth="repeat">
      <a:srgbClr val="000000"/>
    </dgm:txFillClrLst>
    <dgm:txEffectClrLst/>
  </dgm:styleLbl>
  <dgm:styleLbl name="solidBgAcc1">
    <dgm:fillClrLst meth="repeat">
      <a:srgbClr val="FFFFFF"/>
    </dgm:fillClrLst>
    <dgm:linClrLst meth="repeat">
      <a:srgbClr val="1F71FF"/>
    </dgm:linClrLst>
    <dgm:effectClrLst/>
    <dgm:txLinClrLst/>
    <dgm:txFillClrLst meth="repeat">
      <a:srgbClr val="000000"/>
    </dgm:txFillClrLst>
    <dgm:txEffectClrLst/>
  </dgm:styleLbl>
  <dgm:styleLbl name="solidFgAcc1">
    <dgm:fillClrLst meth="repeat">
      <a:srgbClr val="FFFFFF"/>
    </dgm:fillClrLst>
    <dgm:linClrLst meth="cycle">
      <a:srgbClr val="1F71FF">
        <a:shade val="50000"/>
      </a:srgbClr>
      <a:srgbClr val="1F71FF">
        <a:tint val="55000"/>
      </a:srgbClr>
    </dgm:linClrLst>
    <dgm:effectClrLst/>
    <dgm:txLinClrLst/>
    <dgm:txFillClrLst meth="repeat">
      <a:srgbClr val="000000"/>
    </dgm:txFillClrLst>
    <dgm:txEffectClrLst/>
  </dgm:styleLbl>
  <dgm:styleLbl name="trAlignAcc1">
    <dgm:fillClrLst meth="repeat">
      <a:srgbClr val="FFFFFF">
        <a:alpha val="55000"/>
      </a:srgbClr>
    </dgm:fillClrLst>
    <dgm:linClrLst meth="repeat">
      <a:srgbClr val="1F71FF"/>
    </dgm:linClrLst>
    <dgm:effectClrLst/>
    <dgm:txLinClrLst/>
    <dgm:txFillClrLst meth="repeat">
      <a:srgbClr val="000000"/>
    </dgm:txFillClrLst>
    <dgm:txEffectClrLst/>
  </dgm:styleLbl>
  <dgm:styleLbl name="trBgShp">
    <dgm:fillClrLst meth="repeat">
      <a:srgbClr val="1F71FF">
        <a:tint val="50000"/>
        <a:alpha val="55000"/>
      </a:srgbClr>
    </dgm:fillClrLst>
    <dgm:linClrLst meth="repeat">
      <a:srgbClr val="1F71FF"/>
    </dgm:linClrLst>
    <dgm:effectClrLst/>
    <dgm:txLinClrLst/>
    <dgm:txFillClrLst meth="repeat">
      <a:srgbClr val="FFFFFF"/>
    </dgm:txFillClrLst>
    <dgm:txEffectClrLst/>
  </dgm:styleLbl>
  <dgm:styleLbl name="vennNode1">
    <dgm:fillClrLst meth="cycle">
      <a:srgbClr val="1F71FF">
        <a:shade val="80000"/>
        <a:alpha val="50000"/>
      </a:srgbClr>
      <a:srgbClr val="1F71FF">
        <a:tint val="45000"/>
        <a:alpha val="50000"/>
      </a:srgbClr>
    </dgm:fillClrLst>
    <dgm:linClrLst meth="repeat">
      <a:srgbClr val="FFFFFF"/>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44ECC5E-D1E7-4F6C-BFE5-ABA9FFDB4B21}" type="doc">
      <dgm:prSet loTypeId="urn:microsoft.com/office/officeart/2009/layout/CircleArrowProcess#5" loCatId="cycle" qsTypeId="urn:microsoft.com/office/officeart/2005/8/quickstyle/simple5#5" qsCatId="simple" csTypeId="urn:microsoft.com/office/officeart/2005/8/colors/accent2_3#3" csCatId="accent2" phldr="1"/>
      <dgm:spPr/>
      <dgm:t>
        <a:bodyPr/>
        <a:lstStyle/>
        <a:p>
          <a:endParaRPr lang="zh-CN" altLang="en-US"/>
        </a:p>
      </dgm:t>
    </dgm:pt>
    <dgm:pt modelId="{3A5079BE-6367-4FE2-BDC1-307F2A6C0852}">
      <dgm:prSet phldrT="[文本]"/>
      <dgm:spPr/>
      <dgm:t>
        <a:bodyPr/>
        <a:lstStyle/>
        <a:p>
          <a:r>
            <a:rPr lang="zh-CN" altLang="en-US" b="1" dirty="0">
              <a:effectLst>
                <a:outerShdw blurRad="38100" dist="38100" dir="2700000" algn="tl">
                  <a:srgbClr val="000000">
                    <a:alpha val="43137"/>
                  </a:srgbClr>
                </a:outerShdw>
              </a:effectLst>
            </a:rPr>
            <a:t>数据采集</a:t>
          </a:r>
        </a:p>
      </dgm:t>
    </dgm:pt>
    <dgm:pt modelId="{0F9D0A9F-F334-4AC1-ADA4-88A2AAE544B9}" cxnId="{F7A73078-41E8-437D-B93C-D6A89048DCFD}" type="par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ACFA6A01-7CEC-4A50-BE1E-4BC0CCD736CE}" cxnId="{F7A73078-41E8-437D-B93C-D6A89048DCFD}" type="sib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9ED7C1BC-9928-4DE8-BC10-878AEBA6A171}">
      <dgm:prSet phldrT="[文本]"/>
      <dgm:spPr/>
      <dgm:t>
        <a:bodyPr/>
        <a:lstStyle/>
        <a:p>
          <a:r>
            <a:rPr lang="zh-CN" altLang="en-US" b="1">
              <a:effectLst>
                <a:outerShdw blurRad="38100" dist="38100" dir="2700000" algn="tl">
                  <a:srgbClr val="000000">
                    <a:alpha val="43137"/>
                  </a:srgbClr>
                </a:outerShdw>
              </a:effectLst>
            </a:rPr>
            <a:t>数据分析</a:t>
          </a:r>
          <a:endParaRPr lang="zh-CN" altLang="en-US" b="1" dirty="0">
            <a:effectLst>
              <a:outerShdw blurRad="38100" dist="38100" dir="2700000" algn="tl">
                <a:srgbClr val="000000">
                  <a:alpha val="43137"/>
                </a:srgbClr>
              </a:outerShdw>
            </a:effectLst>
          </a:endParaRPr>
        </a:p>
      </dgm:t>
    </dgm:pt>
    <dgm:pt modelId="{14473081-956F-4363-9958-1E0764F2E297}" cxnId="{A0D6A0BE-CB6D-4384-A79F-C431DD12A12D}" type="par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2091F4E5-4B93-4861-A7AE-D9F9B4547B70}" cxnId="{A0D6A0BE-CB6D-4384-A79F-C431DD12A12D}" type="sib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AC277EF5-8F48-491F-8A7E-3B46DBEBDB88}">
      <dgm:prSet phldrT="[文本]"/>
      <dgm:spPr/>
      <dgm:t>
        <a:bodyPr/>
        <a:lstStyle/>
        <a:p>
          <a:r>
            <a:rPr lang="zh-CN" altLang="en-US" b="1">
              <a:effectLst>
                <a:outerShdw blurRad="38100" dist="38100" dir="2700000" algn="tl">
                  <a:srgbClr val="000000">
                    <a:alpha val="43137"/>
                  </a:srgbClr>
                </a:outerShdw>
              </a:effectLst>
            </a:rPr>
            <a:t>数据应用</a:t>
          </a:r>
          <a:endParaRPr lang="zh-CN" altLang="en-US" b="1" dirty="0">
            <a:effectLst>
              <a:outerShdw blurRad="38100" dist="38100" dir="2700000" algn="tl">
                <a:srgbClr val="000000">
                  <a:alpha val="43137"/>
                </a:srgbClr>
              </a:outerShdw>
            </a:effectLst>
          </a:endParaRPr>
        </a:p>
      </dgm:t>
    </dgm:pt>
    <dgm:pt modelId="{7FD6EE59-0A95-4723-AE4C-4CAD9CC42411}" cxnId="{AC70409A-34B7-4263-A052-790B47034C6C}" type="par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C0F03DBD-D3F3-4B5B-8A8D-FACB629401CB}" cxnId="{AC70409A-34B7-4263-A052-790B47034C6C}" type="sib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05E5F944-000D-415D-AC02-31BEFD4F62BE}" type="pres">
      <dgm:prSet presAssocID="{444ECC5E-D1E7-4F6C-BFE5-ABA9FFDB4B21}" presName="Name0" presStyleCnt="0">
        <dgm:presLayoutVars>
          <dgm:chMax val="7"/>
          <dgm:chPref val="7"/>
          <dgm:dir/>
          <dgm:animLvl val="lvl"/>
        </dgm:presLayoutVars>
      </dgm:prSet>
      <dgm:spPr/>
    </dgm:pt>
    <dgm:pt modelId="{011CDA87-7E26-497A-91B4-0FB1C9913BA2}" type="pres">
      <dgm:prSet presAssocID="{3A5079BE-6367-4FE2-BDC1-307F2A6C0852}" presName="Accent1" presStyleCnt="0"/>
      <dgm:spPr/>
    </dgm:pt>
    <dgm:pt modelId="{AFEFBCBC-A269-4E29-9AD3-26A2C6E6EB9F}" type="pres">
      <dgm:prSet presAssocID="{3A5079BE-6367-4FE2-BDC1-307F2A6C0852}" presName="Accent" presStyleLbl="node1" presStyleIdx="0" presStyleCnt="3" custLinFactNeighborX="1765" custLinFactNeighborY="-706"/>
      <dgm:spPr/>
    </dgm:pt>
    <dgm:pt modelId="{FF422143-1CB8-4079-8094-60957EDDE20D}" type="pres">
      <dgm:prSet presAssocID="{3A5079BE-6367-4FE2-BDC1-307F2A6C0852}" presName="Parent1" presStyleLbl="revTx" presStyleIdx="0" presStyleCnt="3">
        <dgm:presLayoutVars>
          <dgm:chMax val="1"/>
          <dgm:chPref val="1"/>
          <dgm:bulletEnabled val="1"/>
        </dgm:presLayoutVars>
      </dgm:prSet>
      <dgm:spPr/>
    </dgm:pt>
    <dgm:pt modelId="{6895301C-68AA-48D8-8635-268D1398B48C}" type="pres">
      <dgm:prSet presAssocID="{9ED7C1BC-9928-4DE8-BC10-878AEBA6A171}" presName="Accent2" presStyleCnt="0"/>
      <dgm:spPr/>
    </dgm:pt>
    <dgm:pt modelId="{BBCFAC2F-B402-44CE-ABDA-D94A14835359}" type="pres">
      <dgm:prSet presAssocID="{9ED7C1BC-9928-4DE8-BC10-878AEBA6A171}" presName="Accent" presStyleLbl="node1" presStyleIdx="1" presStyleCnt="3"/>
      <dgm:spPr/>
    </dgm:pt>
    <dgm:pt modelId="{F7E92608-8E4A-4171-951C-82836EAEECD4}" type="pres">
      <dgm:prSet presAssocID="{9ED7C1BC-9928-4DE8-BC10-878AEBA6A171}" presName="Parent2" presStyleLbl="revTx" presStyleIdx="1" presStyleCnt="3">
        <dgm:presLayoutVars>
          <dgm:chMax val="1"/>
          <dgm:chPref val="1"/>
          <dgm:bulletEnabled val="1"/>
        </dgm:presLayoutVars>
      </dgm:prSet>
      <dgm:spPr/>
    </dgm:pt>
    <dgm:pt modelId="{C3A3A504-998C-4486-9ACB-C167E0201851}" type="pres">
      <dgm:prSet presAssocID="{AC277EF5-8F48-491F-8A7E-3B46DBEBDB88}" presName="Accent3" presStyleCnt="0"/>
      <dgm:spPr/>
    </dgm:pt>
    <dgm:pt modelId="{EA0BC1EB-E72C-4BDF-B970-C5BCA5D9B504}" type="pres">
      <dgm:prSet presAssocID="{AC277EF5-8F48-491F-8A7E-3B46DBEBDB88}" presName="Accent" presStyleLbl="node1" presStyleIdx="2" presStyleCnt="3"/>
      <dgm:spPr/>
    </dgm:pt>
    <dgm:pt modelId="{EBAA190B-09BD-4C7B-B59A-5DA53B6D05F5}" type="pres">
      <dgm:prSet presAssocID="{AC277EF5-8F48-491F-8A7E-3B46DBEBDB88}" presName="Parent3" presStyleLbl="revTx" presStyleIdx="2" presStyleCnt="3">
        <dgm:presLayoutVars>
          <dgm:chMax val="1"/>
          <dgm:chPref val="1"/>
          <dgm:bulletEnabled val="1"/>
        </dgm:presLayoutVars>
      </dgm:prSet>
      <dgm:spPr/>
    </dgm:pt>
  </dgm:ptLst>
  <dgm:cxnLst>
    <dgm:cxn modelId="{F7A73078-41E8-437D-B93C-D6A89048DCFD}" srcId="{444ECC5E-D1E7-4F6C-BFE5-ABA9FFDB4B21}" destId="{3A5079BE-6367-4FE2-BDC1-307F2A6C0852}" srcOrd="0" destOrd="0" parTransId="{0F9D0A9F-F334-4AC1-ADA4-88A2AAE544B9}" sibTransId="{ACFA6A01-7CEC-4A50-BE1E-4BC0CCD736CE}"/>
    <dgm:cxn modelId="{CCA2CB84-B1CF-48FF-A118-F7F417D0BA81}" type="presOf" srcId="{3A5079BE-6367-4FE2-BDC1-307F2A6C0852}" destId="{FF422143-1CB8-4079-8094-60957EDDE20D}" srcOrd="0" destOrd="0" presId="urn:microsoft.com/office/officeart/2009/layout/CircleArrowProcess#5"/>
    <dgm:cxn modelId="{4B460090-DCEB-4115-8660-F4E6D0C79924}" type="presOf" srcId="{9ED7C1BC-9928-4DE8-BC10-878AEBA6A171}" destId="{F7E92608-8E4A-4171-951C-82836EAEECD4}" srcOrd="0" destOrd="0" presId="urn:microsoft.com/office/officeart/2009/layout/CircleArrowProcess#5"/>
    <dgm:cxn modelId="{AC70409A-34B7-4263-A052-790B47034C6C}" srcId="{444ECC5E-D1E7-4F6C-BFE5-ABA9FFDB4B21}" destId="{AC277EF5-8F48-491F-8A7E-3B46DBEBDB88}" srcOrd="2" destOrd="0" parTransId="{7FD6EE59-0A95-4723-AE4C-4CAD9CC42411}" sibTransId="{C0F03DBD-D3F3-4B5B-8A8D-FACB629401CB}"/>
    <dgm:cxn modelId="{8FE8D0A6-6F52-4639-972A-036A59409BBD}" type="presOf" srcId="{444ECC5E-D1E7-4F6C-BFE5-ABA9FFDB4B21}" destId="{05E5F944-000D-415D-AC02-31BEFD4F62BE}" srcOrd="0" destOrd="0" presId="urn:microsoft.com/office/officeart/2009/layout/CircleArrowProcess#5"/>
    <dgm:cxn modelId="{A0D6A0BE-CB6D-4384-A79F-C431DD12A12D}" srcId="{444ECC5E-D1E7-4F6C-BFE5-ABA9FFDB4B21}" destId="{9ED7C1BC-9928-4DE8-BC10-878AEBA6A171}" srcOrd="1" destOrd="0" parTransId="{14473081-956F-4363-9958-1E0764F2E297}" sibTransId="{2091F4E5-4B93-4861-A7AE-D9F9B4547B70}"/>
    <dgm:cxn modelId="{BE5223F5-A39C-4FE2-AAD9-003EA171AC67}" type="presOf" srcId="{AC277EF5-8F48-491F-8A7E-3B46DBEBDB88}" destId="{EBAA190B-09BD-4C7B-B59A-5DA53B6D05F5}" srcOrd="0" destOrd="0" presId="urn:microsoft.com/office/officeart/2009/layout/CircleArrowProcess#5"/>
    <dgm:cxn modelId="{78595FF1-BB4D-4D62-9651-210B6A700B49}" type="presParOf" srcId="{05E5F944-000D-415D-AC02-31BEFD4F62BE}" destId="{011CDA87-7E26-497A-91B4-0FB1C9913BA2}" srcOrd="0" destOrd="0" presId="urn:microsoft.com/office/officeart/2009/layout/CircleArrowProcess#5"/>
    <dgm:cxn modelId="{E6916DC9-2F3A-4126-87E4-08ED9966BECF}" type="presParOf" srcId="{011CDA87-7E26-497A-91B4-0FB1C9913BA2}" destId="{AFEFBCBC-A269-4E29-9AD3-26A2C6E6EB9F}" srcOrd="0" destOrd="0" presId="urn:microsoft.com/office/officeart/2009/layout/CircleArrowProcess#5"/>
    <dgm:cxn modelId="{DD75D976-0486-4795-85A1-4A6655F3DB2D}" type="presParOf" srcId="{05E5F944-000D-415D-AC02-31BEFD4F62BE}" destId="{FF422143-1CB8-4079-8094-60957EDDE20D}" srcOrd="1" destOrd="0" presId="urn:microsoft.com/office/officeart/2009/layout/CircleArrowProcess#5"/>
    <dgm:cxn modelId="{9B15C914-E2C1-457E-96BF-BEC98561C9C9}" type="presParOf" srcId="{05E5F944-000D-415D-AC02-31BEFD4F62BE}" destId="{6895301C-68AA-48D8-8635-268D1398B48C}" srcOrd="2" destOrd="0" presId="urn:microsoft.com/office/officeart/2009/layout/CircleArrowProcess#5"/>
    <dgm:cxn modelId="{9434B4CA-13B4-4A80-BF45-0C69BD781EDA}" type="presParOf" srcId="{6895301C-68AA-48D8-8635-268D1398B48C}" destId="{BBCFAC2F-B402-44CE-ABDA-D94A14835359}" srcOrd="0" destOrd="0" presId="urn:microsoft.com/office/officeart/2009/layout/CircleArrowProcess#5"/>
    <dgm:cxn modelId="{CB0F6DA9-F638-4C02-B3FF-3BC348231D6F}" type="presParOf" srcId="{05E5F944-000D-415D-AC02-31BEFD4F62BE}" destId="{F7E92608-8E4A-4171-951C-82836EAEECD4}" srcOrd="3" destOrd="0" presId="urn:microsoft.com/office/officeart/2009/layout/CircleArrowProcess#5"/>
    <dgm:cxn modelId="{8BE3FE7A-80D8-4275-A613-C0930B4C3775}" type="presParOf" srcId="{05E5F944-000D-415D-AC02-31BEFD4F62BE}" destId="{C3A3A504-998C-4486-9ACB-C167E0201851}" srcOrd="4" destOrd="0" presId="urn:microsoft.com/office/officeart/2009/layout/CircleArrowProcess#5"/>
    <dgm:cxn modelId="{4A06129E-AF2E-4BB0-8D88-A15E0ED48A9B}" type="presParOf" srcId="{C3A3A504-998C-4486-9ACB-C167E0201851}" destId="{EA0BC1EB-E72C-4BDF-B970-C5BCA5D9B504}" srcOrd="0" destOrd="0" presId="urn:microsoft.com/office/officeart/2009/layout/CircleArrowProcess#5"/>
    <dgm:cxn modelId="{F67E6EB6-2C7D-4713-84E4-3B38207216BA}" type="presParOf" srcId="{05E5F944-000D-415D-AC02-31BEFD4F62BE}" destId="{EBAA190B-09BD-4C7B-B59A-5DA53B6D05F5}" srcOrd="5" destOrd="0" presId="urn:microsoft.com/office/officeart/2009/layout/CircleArrow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4ECC5E-D1E7-4F6C-BFE5-ABA9FFDB4B21}" type="doc">
      <dgm:prSet loTypeId="urn:microsoft.com/office/officeart/2009/layout/CircleArrowProcess#6" loCatId="cycle" qsTypeId="urn:microsoft.com/office/officeart/2005/8/quickstyle/simple5#6" qsCatId="simple" csTypeId="urn:microsoft.com/office/officeart/2005/8/colors/accent2_4#3" csCatId="accent2" phldr="1"/>
      <dgm:spPr/>
      <dgm:t>
        <a:bodyPr/>
        <a:lstStyle/>
        <a:p>
          <a:endParaRPr lang="zh-CN" altLang="en-US"/>
        </a:p>
      </dgm:t>
    </dgm:pt>
    <dgm:pt modelId="{3A5079BE-6367-4FE2-BDC1-307F2A6C0852}">
      <dgm:prSet phldrT="[文本]"/>
      <dgm:spPr/>
      <dgm:t>
        <a:bodyPr/>
        <a:lstStyle/>
        <a:p>
          <a:r>
            <a:rPr lang="zh-CN" altLang="en-US" b="1">
              <a:effectLst>
                <a:outerShdw blurRad="38100" dist="38100" dir="2700000" algn="tl">
                  <a:srgbClr val="000000">
                    <a:alpha val="43137"/>
                  </a:srgbClr>
                </a:outerShdw>
              </a:effectLst>
            </a:rPr>
            <a:t>数据知识</a:t>
          </a:r>
          <a:endParaRPr lang="en-US" altLang="zh-CN" b="1" dirty="0">
            <a:effectLst>
              <a:outerShdw blurRad="38100" dist="38100" dir="2700000" algn="tl">
                <a:srgbClr val="000000">
                  <a:alpha val="43137"/>
                </a:srgbClr>
              </a:outerShdw>
            </a:effectLst>
          </a:endParaRPr>
        </a:p>
      </dgm:t>
    </dgm:pt>
    <dgm:pt modelId="{0F9D0A9F-F334-4AC1-ADA4-88A2AAE544B9}" cxnId="{8B90D1AB-811A-45B9-BBDA-8CA113EB9257}" type="par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ACFA6A01-7CEC-4A50-BE1E-4BC0CCD736CE}" cxnId="{8B90D1AB-811A-45B9-BBDA-8CA113EB9257}" type="sib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9ED7C1BC-9928-4DE8-BC10-878AEBA6A171}">
      <dgm:prSet phldrT="[文本]" phldr="0" custT="0"/>
      <dgm:spPr/>
      <dgm:t>
        <a:bodyPr vert="horz" wrap="square"/>
        <a:p>
          <a:pPr>
            <a:lnSpc>
              <a:spcPct val="100000"/>
            </a:lnSpc>
            <a:spcBef>
              <a:spcPct val="0"/>
            </a:spcBef>
            <a:spcAft>
              <a:spcPct val="35000"/>
            </a:spcAft>
          </a:pPr>
          <a:r>
            <a:rPr lang="zh-CN" altLang="en-US" b="1">
              <a:effectLst>
                <a:outerShdw blurRad="38100" dist="38100" dir="2700000" algn="tl">
                  <a:srgbClr val="000000">
                    <a:alpha val="43137"/>
                  </a:srgbClr>
                </a:outerShdw>
              </a:effectLst>
            </a:rPr>
            <a:t>推理</a:t>
          </a:r>
          <a:r>
            <a:rPr lang="zh-CN" altLang="en-US" b="1">
              <a:effectLst>
                <a:outerShdw blurRad="38100" dist="38100" dir="2700000" algn="tl">
                  <a:srgbClr val="000000">
                    <a:alpha val="43137"/>
                  </a:srgbClr>
                </a:outerShdw>
              </a:effectLst>
            </a:rPr>
            <a:t>知识</a:t>
          </a:r>
          <a:r>
            <a:rPr lang="zh-CN" altLang="en-US" b="1" dirty="0">
              <a:effectLst>
                <a:outerShdw blurRad="38100" dist="38100" dir="2700000" algn="tl">
                  <a:srgbClr val="000000">
                    <a:alpha val="43137"/>
                  </a:srgbClr>
                </a:outerShdw>
              </a:effectLst>
            </a:rPr>
            <a:t/>
          </a:r>
          <a:endParaRPr lang="zh-CN" altLang="en-US" b="1" dirty="0">
            <a:effectLst>
              <a:outerShdw blurRad="38100" dist="38100" dir="2700000" algn="tl">
                <a:srgbClr val="000000">
                  <a:alpha val="43137"/>
                </a:srgbClr>
              </a:outerShdw>
            </a:effectLst>
          </a:endParaRPr>
        </a:p>
      </dgm:t>
    </dgm:pt>
    <dgm:pt modelId="{14473081-956F-4363-9958-1E0764F2E297}" cxnId="{F5408D4F-C65D-47D7-A95B-BE6A34F67082}" type="par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2091F4E5-4B93-4861-A7AE-D9F9B4547B70}" cxnId="{F5408D4F-C65D-47D7-A95B-BE6A34F67082}" type="sib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AC277EF5-8F48-491F-8A7E-3B46DBEBDB88}">
      <dgm:prSet phldrT="[文本]"/>
      <dgm:spPr/>
      <dgm:t>
        <a:bodyPr/>
        <a:lstStyle/>
        <a:p>
          <a:r>
            <a:rPr lang="zh-CN" altLang="en-US" b="1">
              <a:effectLst>
                <a:outerShdw blurRad="38100" dist="38100" dir="2700000" algn="tl">
                  <a:srgbClr val="000000">
                    <a:alpha val="43137"/>
                  </a:srgbClr>
                </a:outerShdw>
              </a:effectLst>
            </a:rPr>
            <a:t>操作知识</a:t>
          </a:r>
          <a:endParaRPr lang="zh-CN" altLang="en-US" b="1" dirty="0">
            <a:effectLst>
              <a:outerShdw blurRad="38100" dist="38100" dir="2700000" algn="tl">
                <a:srgbClr val="000000">
                  <a:alpha val="43137"/>
                </a:srgbClr>
              </a:outerShdw>
            </a:effectLst>
          </a:endParaRPr>
        </a:p>
      </dgm:t>
    </dgm:pt>
    <dgm:pt modelId="{7FD6EE59-0A95-4723-AE4C-4CAD9CC42411}" cxnId="{6F56EB03-3BF9-46C1-925E-13251F6F61E4}" type="par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C0F03DBD-D3F3-4B5B-8A8D-FACB629401CB}" cxnId="{6F56EB03-3BF9-46C1-925E-13251F6F61E4}" type="sibTrans">
      <dgm:prSet/>
      <dgm:spPr/>
      <dgm:t>
        <a:bodyPr/>
        <a:lstStyle/>
        <a:p>
          <a:endParaRPr lang="zh-CN" altLang="en-US" b="1">
            <a:solidFill>
              <a:srgbClr val="000000">
                <a:lumMod val="75000"/>
                <a:lumOff val="25000"/>
              </a:srgbClr>
            </a:solidFill>
            <a:effectLst>
              <a:outerShdw blurRad="38100" dist="38100" dir="2700000" algn="tl">
                <a:srgbClr val="000000">
                  <a:alpha val="43137"/>
                </a:srgbClr>
              </a:outerShdw>
            </a:effectLst>
          </a:endParaRPr>
        </a:p>
      </dgm:t>
    </dgm:pt>
    <dgm:pt modelId="{05E5F944-000D-415D-AC02-31BEFD4F62BE}" type="pres">
      <dgm:prSet presAssocID="{444ECC5E-D1E7-4F6C-BFE5-ABA9FFDB4B21}" presName="Name0" presStyleCnt="0">
        <dgm:presLayoutVars>
          <dgm:chMax val="7"/>
          <dgm:chPref val="7"/>
          <dgm:dir/>
          <dgm:animLvl val="lvl"/>
        </dgm:presLayoutVars>
      </dgm:prSet>
      <dgm:spPr/>
    </dgm:pt>
    <dgm:pt modelId="{011CDA87-7E26-497A-91B4-0FB1C9913BA2}" type="pres">
      <dgm:prSet presAssocID="{3A5079BE-6367-4FE2-BDC1-307F2A6C0852}" presName="Accent1" presStyleCnt="0"/>
      <dgm:spPr/>
    </dgm:pt>
    <dgm:pt modelId="{AFEFBCBC-A269-4E29-9AD3-26A2C6E6EB9F}" type="pres">
      <dgm:prSet presAssocID="{3A5079BE-6367-4FE2-BDC1-307F2A6C0852}" presName="Accent" presStyleLbl="node1" presStyleIdx="0" presStyleCnt="3" custLinFactNeighborX="1765" custLinFactNeighborY="-706"/>
      <dgm:spPr/>
    </dgm:pt>
    <dgm:pt modelId="{FF422143-1CB8-4079-8094-60957EDDE20D}" type="pres">
      <dgm:prSet presAssocID="{3A5079BE-6367-4FE2-BDC1-307F2A6C0852}" presName="Parent1" presStyleLbl="revTx" presStyleIdx="0" presStyleCnt="3">
        <dgm:presLayoutVars>
          <dgm:chMax val="1"/>
          <dgm:chPref val="1"/>
          <dgm:bulletEnabled val="1"/>
        </dgm:presLayoutVars>
      </dgm:prSet>
      <dgm:spPr/>
    </dgm:pt>
    <dgm:pt modelId="{6895301C-68AA-48D8-8635-268D1398B48C}" type="pres">
      <dgm:prSet presAssocID="{9ED7C1BC-9928-4DE8-BC10-878AEBA6A171}" presName="Accent2" presStyleCnt="0"/>
      <dgm:spPr/>
    </dgm:pt>
    <dgm:pt modelId="{BBCFAC2F-B402-44CE-ABDA-D94A14835359}" type="pres">
      <dgm:prSet presAssocID="{9ED7C1BC-9928-4DE8-BC10-878AEBA6A171}" presName="Accent" presStyleLbl="node1" presStyleIdx="1" presStyleCnt="3"/>
      <dgm:spPr/>
    </dgm:pt>
    <dgm:pt modelId="{F7E92608-8E4A-4171-951C-82836EAEECD4}" type="pres">
      <dgm:prSet presAssocID="{9ED7C1BC-9928-4DE8-BC10-878AEBA6A171}" presName="Parent2" presStyleLbl="revTx" presStyleIdx="1" presStyleCnt="3">
        <dgm:presLayoutVars>
          <dgm:chMax val="1"/>
          <dgm:chPref val="1"/>
          <dgm:bulletEnabled val="1"/>
        </dgm:presLayoutVars>
      </dgm:prSet>
      <dgm:spPr/>
    </dgm:pt>
    <dgm:pt modelId="{C3A3A504-998C-4486-9ACB-C167E0201851}" type="pres">
      <dgm:prSet presAssocID="{AC277EF5-8F48-491F-8A7E-3B46DBEBDB88}" presName="Accent3" presStyleCnt="0"/>
      <dgm:spPr/>
    </dgm:pt>
    <dgm:pt modelId="{EA0BC1EB-E72C-4BDF-B970-C5BCA5D9B504}" type="pres">
      <dgm:prSet presAssocID="{AC277EF5-8F48-491F-8A7E-3B46DBEBDB88}" presName="Accent" presStyleLbl="node1" presStyleIdx="2" presStyleCnt="3" custLinFactNeighborX="-1023" custLinFactNeighborY="-374"/>
      <dgm:spPr/>
    </dgm:pt>
    <dgm:pt modelId="{EBAA190B-09BD-4C7B-B59A-5DA53B6D05F5}" type="pres">
      <dgm:prSet presAssocID="{AC277EF5-8F48-491F-8A7E-3B46DBEBDB88}" presName="Parent3" presStyleLbl="revTx" presStyleIdx="2" presStyleCnt="3">
        <dgm:presLayoutVars>
          <dgm:chMax val="1"/>
          <dgm:chPref val="1"/>
          <dgm:bulletEnabled val="1"/>
        </dgm:presLayoutVars>
      </dgm:prSet>
      <dgm:spPr/>
    </dgm:pt>
  </dgm:ptLst>
  <dgm:cxnLst>
    <dgm:cxn modelId="{8B90D1AB-811A-45B9-BBDA-8CA113EB9257}" srcId="{444ECC5E-D1E7-4F6C-BFE5-ABA9FFDB4B21}" destId="{3A5079BE-6367-4FE2-BDC1-307F2A6C0852}" srcOrd="0" destOrd="0" parTransId="{0F9D0A9F-F334-4AC1-ADA4-88A2AAE544B9}" sibTransId="{ACFA6A01-7CEC-4A50-BE1E-4BC0CCD736CE}"/>
    <dgm:cxn modelId="{F5408D4F-C65D-47D7-A95B-BE6A34F67082}" srcId="{444ECC5E-D1E7-4F6C-BFE5-ABA9FFDB4B21}" destId="{9ED7C1BC-9928-4DE8-BC10-878AEBA6A171}" srcOrd="1" destOrd="0" parTransId="{14473081-956F-4363-9958-1E0764F2E297}" sibTransId="{2091F4E5-4B93-4861-A7AE-D9F9B4547B70}"/>
    <dgm:cxn modelId="{6F56EB03-3BF9-46C1-925E-13251F6F61E4}" srcId="{444ECC5E-D1E7-4F6C-BFE5-ABA9FFDB4B21}" destId="{AC277EF5-8F48-491F-8A7E-3B46DBEBDB88}" srcOrd="2" destOrd="0" parTransId="{7FD6EE59-0A95-4723-AE4C-4CAD9CC42411}" sibTransId="{C0F03DBD-D3F3-4B5B-8A8D-FACB629401CB}"/>
    <dgm:cxn modelId="{AF6FDE47-AEE8-4F79-8CE2-966F7221000E}" type="presOf" srcId="{444ECC5E-D1E7-4F6C-BFE5-ABA9FFDB4B21}" destId="{05E5F944-000D-415D-AC02-31BEFD4F62BE}" srcOrd="0" destOrd="0" presId="urn:microsoft.com/office/officeart/2009/layout/CircleArrowProcess#6"/>
    <dgm:cxn modelId="{ABD02D40-9186-4193-AFF9-9A53164AF947}" type="presParOf" srcId="{05E5F944-000D-415D-AC02-31BEFD4F62BE}" destId="{011CDA87-7E26-497A-91B4-0FB1C9913BA2}" srcOrd="0" destOrd="0" presId="urn:microsoft.com/office/officeart/2009/layout/CircleArrowProcess#6"/>
    <dgm:cxn modelId="{6A42A8B3-83F5-417F-A016-75FEEFEA8B9F}" type="presParOf" srcId="{011CDA87-7E26-497A-91B4-0FB1C9913BA2}" destId="{AFEFBCBC-A269-4E29-9AD3-26A2C6E6EB9F}" srcOrd="0" destOrd="0" presId="urn:microsoft.com/office/officeart/2009/layout/CircleArrowProcess#6"/>
    <dgm:cxn modelId="{1B96C3DD-B521-4CA8-ADFA-BED88FC2D3C3}" type="presParOf" srcId="{05E5F944-000D-415D-AC02-31BEFD4F62BE}" destId="{FF422143-1CB8-4079-8094-60957EDDE20D}" srcOrd="1" destOrd="0" presId="urn:microsoft.com/office/officeart/2009/layout/CircleArrowProcess#6"/>
    <dgm:cxn modelId="{7253A738-D284-4978-8CBE-C1FBC52D4E55}" type="presOf" srcId="{3A5079BE-6367-4FE2-BDC1-307F2A6C0852}" destId="{FF422143-1CB8-4079-8094-60957EDDE20D}" srcOrd="0" destOrd="0" presId="urn:microsoft.com/office/officeart/2009/layout/CircleArrowProcess#6"/>
    <dgm:cxn modelId="{D80A133F-CD21-49C9-8488-65C5CBBA74A8}" type="presParOf" srcId="{05E5F944-000D-415D-AC02-31BEFD4F62BE}" destId="{6895301C-68AA-48D8-8635-268D1398B48C}" srcOrd="2" destOrd="0" presId="urn:microsoft.com/office/officeart/2009/layout/CircleArrowProcess#6"/>
    <dgm:cxn modelId="{D784465D-2F40-4135-A55D-4ED76835EC2A}" type="presParOf" srcId="{6895301C-68AA-48D8-8635-268D1398B48C}" destId="{BBCFAC2F-B402-44CE-ABDA-D94A14835359}" srcOrd="0" destOrd="2" presId="urn:microsoft.com/office/officeart/2009/layout/CircleArrowProcess#6"/>
    <dgm:cxn modelId="{157C00D9-5B65-47C3-832F-423F94AF4027}" type="presParOf" srcId="{05E5F944-000D-415D-AC02-31BEFD4F62BE}" destId="{F7E92608-8E4A-4171-951C-82836EAEECD4}" srcOrd="3" destOrd="0" presId="urn:microsoft.com/office/officeart/2009/layout/CircleArrowProcess#6"/>
    <dgm:cxn modelId="{AA403FF9-9F3F-4AF3-B1B8-0E4A626AB2B6}" type="presOf" srcId="{9ED7C1BC-9928-4DE8-BC10-878AEBA6A171}" destId="{F7E92608-8E4A-4171-951C-82836EAEECD4}" srcOrd="0" destOrd="0" presId="urn:microsoft.com/office/officeart/2009/layout/CircleArrowProcess#6"/>
    <dgm:cxn modelId="{B525523A-FC44-490B-8FA5-E9E7C9E86D8A}" type="presParOf" srcId="{05E5F944-000D-415D-AC02-31BEFD4F62BE}" destId="{C3A3A504-998C-4486-9ACB-C167E0201851}" srcOrd="4" destOrd="0" presId="urn:microsoft.com/office/officeart/2009/layout/CircleArrowProcess#6"/>
    <dgm:cxn modelId="{35B75FD2-9552-4BB9-B14D-D4DAC7F501C7}" type="presParOf" srcId="{C3A3A504-998C-4486-9ACB-C167E0201851}" destId="{EA0BC1EB-E72C-4BDF-B970-C5BCA5D9B504}" srcOrd="0" destOrd="4" presId="urn:microsoft.com/office/officeart/2009/layout/CircleArrowProcess#6"/>
    <dgm:cxn modelId="{90A43B8B-BBAC-49F2-BF27-48F6053189C8}" type="presParOf" srcId="{05E5F944-000D-415D-AC02-31BEFD4F62BE}" destId="{EBAA190B-09BD-4C7B-B59A-5DA53B6D05F5}" srcOrd="5" destOrd="0" presId="urn:microsoft.com/office/officeart/2009/layout/CircleArrowProcess#6"/>
    <dgm:cxn modelId="{272E5A4B-4E73-4818-B642-0CACAD9C434E}" type="presOf" srcId="{AC277EF5-8F48-491F-8A7E-3B46DBEBDB88}" destId="{EBAA190B-09BD-4C7B-B59A-5DA53B6D05F5}" srcOrd="0" destOrd="0" presId="urn:microsoft.com/office/officeart/2009/layout/CircleArrowProcess#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684435" cy="2969836"/>
        <a:chOff x="0" y="0"/>
        <a:chExt cx="2684435" cy="2969836"/>
      </a:xfrm>
    </dsp:grpSpPr>
    <dsp:sp modelId="{AFEFBCBC-A269-4E29-9AD3-26A2C6E6EB9F}">
      <dsp:nvSpPr>
        <dsp:cNvPr id="3" name="环形箭头 2"/>
        <dsp:cNvSpPr/>
      </dsp:nvSpPr>
      <dsp:spPr bwMode="white">
        <a:xfrm>
          <a:off x="851231" y="1085527"/>
          <a:ext cx="1429462" cy="1429679"/>
        </a:xfrm>
        <a:prstGeom prst="circularArrow">
          <a:avLst>
            <a:gd name="adj1" fmla="val 10980"/>
            <a:gd name="adj2" fmla="val 1142322"/>
            <a:gd name="adj3" fmla="val 4500000"/>
            <a:gd name="adj4" fmla="val 10800000"/>
            <a:gd name="adj5" fmla="val 12500"/>
          </a:avLst>
        </a:prstGeom>
      </dsp:spPr>
      <dsp:style>
        <a:lnRef idx="0">
          <a:srgbClr val="FFFFFF"/>
        </a:lnRef>
        <a:fillRef idx="3">
          <a:srgbClr val="1F71FF">
            <a:shade val="80000"/>
            <a:hueOff val="0"/>
            <a:satOff val="0"/>
            <a:lumOff val="0"/>
            <a:alpha val="100000"/>
          </a:srgbClr>
        </a:fillRef>
        <a:effectRef idx="3">
          <a:scrgbClr r="0" g="0" b="0"/>
        </a:effectRef>
        <a:fontRef idx="minor">
          <a:srgbClr val="FFFFFF"/>
        </a:fontRef>
      </dsp:style>
      <dsp:txXfrm>
        <a:off x="851231" y="1085527"/>
        <a:ext cx="1429462" cy="1429679"/>
      </dsp:txXfrm>
    </dsp:sp>
    <dsp:sp modelId="{FF422143-1CB8-4079-8094-60957EDDE20D}">
      <dsp:nvSpPr>
        <dsp:cNvPr id="4" name="矩形 3"/>
        <dsp:cNvSpPr/>
      </dsp:nvSpPr>
      <dsp:spPr bwMode="white">
        <a:xfrm>
          <a:off x="1141959" y="1611778"/>
          <a:ext cx="794324" cy="397067"/>
        </a:xfrm>
        <a:prstGeom prst="rect">
          <a:avLst/>
        </a:prstGeom>
      </dsp:spPr>
      <dsp:style>
        <a:lnRef idx="0">
          <a:srgbClr val="000000">
            <a:alpha val="0"/>
          </a:srgbClr>
        </a:lnRef>
        <a:fillRef idx="0">
          <a:srgbClr val="FFFFFF">
            <a:alpha val="0"/>
          </a:srgbClr>
        </a:fillRef>
        <a:effectRef idx="0">
          <a:scrgbClr r="0" g="0" b="0"/>
        </a:effectRef>
        <a:fontRef idx="minor"/>
      </dsp:style>
      <dsp:txBody>
        <a:bodyPr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b="1" dirty="0">
              <a:solidFill>
                <a:srgbClr val="000000"/>
              </a:solidFill>
              <a:effectLst>
                <a:outerShdw blurRad="38100" dist="38100" dir="2700000" algn="tl">
                  <a:srgbClr val="000000">
                    <a:alpha val="43137"/>
                  </a:srgbClr>
                </a:outerShdw>
              </a:effectLst>
            </a:rPr>
            <a:t>数据采集</a:t>
          </a:r>
          <a:endParaRPr>
            <a:solidFill>
              <a:srgbClr val="000000"/>
            </a:solidFill>
          </a:endParaRPr>
        </a:p>
      </dsp:txBody>
      <dsp:txXfrm>
        <a:off x="1141959" y="1611778"/>
        <a:ext cx="794324" cy="397067"/>
      </dsp:txXfrm>
    </dsp:sp>
    <dsp:sp modelId="{BBCFAC2F-B402-44CE-ABDA-D94A14835359}">
      <dsp:nvSpPr>
        <dsp:cNvPr id="5" name="形状 4"/>
        <dsp:cNvSpPr/>
      </dsp:nvSpPr>
      <dsp:spPr bwMode="white">
        <a:xfrm>
          <a:off x="428973" y="1917077"/>
          <a:ext cx="1429462" cy="1429679"/>
        </a:xfrm>
        <a:prstGeom prst="leftCircularArrow">
          <a:avLst>
            <a:gd name="adj1" fmla="val 10980"/>
            <a:gd name="adj2" fmla="val 1142322"/>
            <a:gd name="adj3" fmla="val 6300000"/>
            <a:gd name="adj4" fmla="val 18900000"/>
            <a:gd name="adj5" fmla="val 12500"/>
          </a:avLst>
        </a:prstGeom>
      </dsp:spPr>
      <dsp:style>
        <a:lnRef idx="0">
          <a:srgbClr val="FFFFFF"/>
        </a:lnRef>
        <a:fillRef idx="3">
          <a:srgbClr val="1F71FF">
            <a:shade val="80000"/>
            <a:hueOff val="300000"/>
            <a:satOff val="9412"/>
            <a:lumOff val="14510"/>
            <a:alpha val="100000"/>
          </a:srgbClr>
        </a:fillRef>
        <a:effectRef idx="3">
          <a:scrgbClr r="0" g="0" b="0"/>
        </a:effectRef>
        <a:fontRef idx="minor">
          <a:srgbClr val="FFFFFF"/>
        </a:fontRef>
      </dsp:style>
      <dsp:txXfrm>
        <a:off x="428973" y="1917077"/>
        <a:ext cx="1429462" cy="1429679"/>
      </dsp:txXfrm>
    </dsp:sp>
    <dsp:sp modelId="{F7E92608-8E4A-4171-951C-82836EAEECD4}">
      <dsp:nvSpPr>
        <dsp:cNvPr id="6" name="矩形 5"/>
        <dsp:cNvSpPr/>
      </dsp:nvSpPr>
      <dsp:spPr bwMode="white">
        <a:xfrm>
          <a:off x="746541" y="2437986"/>
          <a:ext cx="794324" cy="397067"/>
        </a:xfrm>
        <a:prstGeom prst="rect">
          <a:avLst/>
        </a:prstGeom>
      </dsp:spPr>
      <dsp:style>
        <a:lnRef idx="0">
          <a:srgbClr val="000000">
            <a:alpha val="0"/>
          </a:srgbClr>
        </a:lnRef>
        <a:fillRef idx="0">
          <a:srgbClr val="FFFFFF">
            <a:alpha val="0"/>
          </a:srgbClr>
        </a:fillRef>
        <a:effectRef idx="0">
          <a:scrgbClr r="0" g="0" b="0"/>
        </a:effectRef>
        <a:fontRef idx="minor"/>
      </dsp:style>
      <dsp:txBody>
        <a:bodyPr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b="1">
              <a:solidFill>
                <a:srgbClr val="000000"/>
              </a:solidFill>
              <a:effectLst>
                <a:outerShdw blurRad="38100" dist="38100" dir="2700000" algn="tl">
                  <a:srgbClr val="000000">
                    <a:alpha val="43137"/>
                  </a:srgbClr>
                </a:outerShdw>
              </a:effectLst>
            </a:rPr>
            <a:t>数据分析</a:t>
          </a:r>
          <a:endParaRPr lang="zh-CN" altLang="en-US" b="1" dirty="0">
            <a:solidFill>
              <a:srgbClr val="000000"/>
            </a:solidFill>
            <a:effectLst>
              <a:outerShdw blurRad="38100" dist="38100" dir="2700000" algn="tl">
                <a:srgbClr val="000000">
                  <a:alpha val="43137"/>
                </a:srgbClr>
              </a:outerShdw>
            </a:effectLst>
          </a:endParaRPr>
        </a:p>
      </dsp:txBody>
      <dsp:txXfrm>
        <a:off x="746541" y="2437986"/>
        <a:ext cx="794324" cy="397067"/>
      </dsp:txXfrm>
    </dsp:sp>
    <dsp:sp modelId="{EA0BC1EB-E72C-4BDF-B970-C5BCA5D9B504}">
      <dsp:nvSpPr>
        <dsp:cNvPr id="7" name="空心弧 6"/>
        <dsp:cNvSpPr/>
      </dsp:nvSpPr>
      <dsp:spPr bwMode="white">
        <a:xfrm>
          <a:off x="927741" y="2836835"/>
          <a:ext cx="1228129" cy="1228621"/>
        </a:xfrm>
        <a:prstGeom prst="blockArc">
          <a:avLst>
            <a:gd name="adj1" fmla="val 13500000"/>
            <a:gd name="adj2" fmla="val 10800000"/>
            <a:gd name="adj3" fmla="val 12740"/>
          </a:avLst>
        </a:prstGeom>
      </dsp:spPr>
      <dsp:style>
        <a:lnRef idx="0">
          <a:srgbClr val="FFFFFF"/>
        </a:lnRef>
        <a:fillRef idx="3">
          <a:srgbClr val="1F71FF">
            <a:shade val="80000"/>
            <a:hueOff val="600000"/>
            <a:satOff val="18824"/>
            <a:lumOff val="29020"/>
            <a:alpha val="100000"/>
          </a:srgbClr>
        </a:fillRef>
        <a:effectRef idx="3">
          <a:scrgbClr r="0" g="0" b="0"/>
        </a:effectRef>
        <a:fontRef idx="minor">
          <a:srgbClr val="FFFFFF"/>
        </a:fontRef>
      </dsp:style>
      <dsp:txXfrm>
        <a:off x="927741" y="2836835"/>
        <a:ext cx="1228129" cy="1228621"/>
      </dsp:txXfrm>
    </dsp:sp>
    <dsp:sp modelId="{EBAA190B-09BD-4C7B-B59A-5DA53B6D05F5}">
      <dsp:nvSpPr>
        <dsp:cNvPr id="8" name="矩形 7"/>
        <dsp:cNvSpPr/>
      </dsp:nvSpPr>
      <dsp:spPr bwMode="white">
        <a:xfrm>
          <a:off x="1143838" y="3265383"/>
          <a:ext cx="794324" cy="397067"/>
        </a:xfrm>
        <a:prstGeom prst="rect">
          <a:avLst/>
        </a:prstGeom>
      </dsp:spPr>
      <dsp:style>
        <a:lnRef idx="0">
          <a:srgbClr val="000000">
            <a:alpha val="0"/>
          </a:srgbClr>
        </a:lnRef>
        <a:fillRef idx="0">
          <a:srgbClr val="FFFFFF">
            <a:alpha val="0"/>
          </a:srgbClr>
        </a:fillRef>
        <a:effectRef idx="0">
          <a:scrgbClr r="0" g="0" b="0"/>
        </a:effectRef>
        <a:fontRef idx="minor"/>
      </dsp:style>
      <dsp:txBody>
        <a:bodyPr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b="1">
              <a:solidFill>
                <a:srgbClr val="000000"/>
              </a:solidFill>
              <a:effectLst>
                <a:outerShdw blurRad="38100" dist="38100" dir="2700000" algn="tl">
                  <a:srgbClr val="000000">
                    <a:alpha val="43137"/>
                  </a:srgbClr>
                </a:outerShdw>
              </a:effectLst>
            </a:rPr>
            <a:t>数据应用</a:t>
          </a:r>
          <a:endParaRPr lang="zh-CN" altLang="en-US" b="1" dirty="0">
            <a:solidFill>
              <a:srgbClr val="000000"/>
            </a:solidFill>
            <a:effectLst>
              <a:outerShdw blurRad="38100" dist="38100" dir="2700000" algn="tl">
                <a:srgbClr val="000000">
                  <a:alpha val="43137"/>
                </a:srgbClr>
              </a:outerShdw>
            </a:effectLst>
          </a:endParaRPr>
        </a:p>
      </dsp:txBody>
      <dsp:txXfrm>
        <a:off x="1143838" y="3265383"/>
        <a:ext cx="794324" cy="397067"/>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684435" cy="2969836"/>
        <a:chOff x="0" y="0"/>
        <a:chExt cx="2684435" cy="2969836"/>
      </a:xfrm>
    </dsp:grpSpPr>
    <dsp:sp modelId="{AFEFBCBC-A269-4E29-9AD3-26A2C6E6EB9F}">
      <dsp:nvSpPr>
        <dsp:cNvPr id="3" name="环形箭头 2"/>
        <dsp:cNvSpPr/>
      </dsp:nvSpPr>
      <dsp:spPr bwMode="white">
        <a:xfrm>
          <a:off x="851231" y="1085527"/>
          <a:ext cx="1429462" cy="1429679"/>
        </a:xfrm>
        <a:prstGeom prst="circularArrow">
          <a:avLst>
            <a:gd name="adj1" fmla="val 10980"/>
            <a:gd name="adj2" fmla="val 1142322"/>
            <a:gd name="adj3" fmla="val 4500000"/>
            <a:gd name="adj4" fmla="val 10800000"/>
            <a:gd name="adj5" fmla="val 12500"/>
          </a:avLst>
        </a:prstGeom>
      </dsp:spPr>
      <dsp:style>
        <a:lnRef idx="0">
          <a:srgbClr val="FFFFFF"/>
        </a:lnRef>
        <a:fillRef idx="3">
          <a:srgbClr val="1F71FF">
            <a:shade val="50000"/>
            <a:hueOff val="0"/>
            <a:satOff val="0"/>
            <a:lumOff val="0"/>
            <a:alpha val="100000"/>
          </a:srgbClr>
        </a:fillRef>
        <a:effectRef idx="3">
          <a:scrgbClr r="0" g="0" b="0"/>
        </a:effectRef>
        <a:fontRef idx="minor">
          <a:srgbClr val="FFFFFF"/>
        </a:fontRef>
      </dsp:style>
      <dsp:txXfrm>
        <a:off x="851231" y="1085527"/>
        <a:ext cx="1429462" cy="1429679"/>
      </dsp:txXfrm>
    </dsp:sp>
    <dsp:sp modelId="{FF422143-1CB8-4079-8094-60957EDDE20D}">
      <dsp:nvSpPr>
        <dsp:cNvPr id="4" name="矩形 3"/>
        <dsp:cNvSpPr/>
      </dsp:nvSpPr>
      <dsp:spPr bwMode="white">
        <a:xfrm>
          <a:off x="1141959" y="1611778"/>
          <a:ext cx="794324" cy="397067"/>
        </a:xfrm>
        <a:prstGeom prst="rect">
          <a:avLst/>
        </a:prstGeom>
      </dsp:spPr>
      <dsp:style>
        <a:lnRef idx="0">
          <a:srgbClr val="000000">
            <a:alpha val="0"/>
          </a:srgbClr>
        </a:lnRef>
        <a:fillRef idx="0">
          <a:srgbClr val="FFFFFF">
            <a:alpha val="0"/>
          </a:srgbClr>
        </a:fillRef>
        <a:effectRef idx="0">
          <a:scrgbClr r="0" g="0" b="0"/>
        </a:effectRef>
        <a:fontRef idx="minor"/>
      </dsp:style>
      <dsp:txBody>
        <a:bodyPr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b="1">
              <a:solidFill>
                <a:srgbClr val="000000"/>
              </a:solidFill>
              <a:effectLst>
                <a:outerShdw blurRad="38100" dist="38100" dir="2700000" algn="tl">
                  <a:srgbClr val="000000">
                    <a:alpha val="43137"/>
                  </a:srgbClr>
                </a:outerShdw>
              </a:effectLst>
            </a:rPr>
            <a:t>数据知识</a:t>
          </a:r>
          <a:endParaRPr lang="en-US" altLang="zh-CN" b="1" dirty="0">
            <a:solidFill>
              <a:srgbClr val="000000"/>
            </a:solidFill>
            <a:effectLst>
              <a:outerShdw blurRad="38100" dist="38100" dir="2700000" algn="tl">
                <a:srgbClr val="000000">
                  <a:alpha val="43137"/>
                </a:srgbClr>
              </a:outerShdw>
            </a:effectLst>
          </a:endParaRPr>
        </a:p>
      </dsp:txBody>
      <dsp:txXfrm>
        <a:off x="1141959" y="1611778"/>
        <a:ext cx="794324" cy="397067"/>
      </dsp:txXfrm>
    </dsp:sp>
    <dsp:sp modelId="{BBCFAC2F-B402-44CE-ABDA-D94A14835359}">
      <dsp:nvSpPr>
        <dsp:cNvPr id="5" name="形状 4"/>
        <dsp:cNvSpPr/>
      </dsp:nvSpPr>
      <dsp:spPr bwMode="white">
        <a:xfrm>
          <a:off x="428973" y="1917077"/>
          <a:ext cx="1429462" cy="1429679"/>
        </a:xfrm>
        <a:prstGeom prst="leftCircularArrow">
          <a:avLst>
            <a:gd name="adj1" fmla="val 10980"/>
            <a:gd name="adj2" fmla="val 1142322"/>
            <a:gd name="adj3" fmla="val 6300000"/>
            <a:gd name="adj4" fmla="val 18900000"/>
            <a:gd name="adj5" fmla="val 12500"/>
          </a:avLst>
        </a:prstGeom>
      </dsp:spPr>
      <dsp:style>
        <a:lnRef idx="0">
          <a:srgbClr val="FFFFFF"/>
        </a:lnRef>
        <a:fillRef idx="3">
          <a:srgbClr val="1F71FF">
            <a:shade val="50000"/>
            <a:hueOff val="440000"/>
            <a:satOff val="12810"/>
            <a:lumOff val="31895"/>
            <a:alpha val="100000"/>
          </a:srgbClr>
        </a:fillRef>
        <a:effectRef idx="3">
          <a:scrgbClr r="0" g="0" b="0"/>
        </a:effectRef>
        <a:fontRef idx="minor">
          <a:srgbClr val="FFFFFF"/>
        </a:fontRef>
      </dsp:style>
      <dsp:txXfrm>
        <a:off x="428973" y="1917077"/>
        <a:ext cx="1429462" cy="1429679"/>
      </dsp:txXfrm>
    </dsp:sp>
    <dsp:sp modelId="{F7E92608-8E4A-4171-951C-82836EAEECD4}">
      <dsp:nvSpPr>
        <dsp:cNvPr id="6" name="矩形 5"/>
        <dsp:cNvSpPr/>
      </dsp:nvSpPr>
      <dsp:spPr bwMode="white">
        <a:xfrm>
          <a:off x="746541" y="2437986"/>
          <a:ext cx="794324" cy="397067"/>
        </a:xfrm>
        <a:prstGeom prst="rect">
          <a:avLst/>
        </a:prstGeom>
      </dsp:spPr>
      <dsp:style>
        <a:lnRef idx="0">
          <a:srgbClr val="000000">
            <a:alpha val="0"/>
          </a:srgbClr>
        </a:lnRef>
        <a:fillRef idx="0">
          <a:srgbClr val="FFFFFF">
            <a:alpha val="0"/>
          </a:srgbClr>
        </a:fillRef>
        <a:effectRef idx="0">
          <a:scrgbClr r="0" g="0" b="0"/>
        </a:effectRef>
        <a:fontRef idx="minor"/>
      </dsp:style>
      <dsp:txBody>
        <a:bodyPr vert="horz" wrap="square"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b="1">
              <a:solidFill>
                <a:srgbClr val="000000"/>
              </a:solidFill>
              <a:effectLst>
                <a:outerShdw blurRad="38100" dist="38100" dir="2700000" algn="tl">
                  <a:srgbClr val="000000">
                    <a:alpha val="43137"/>
                  </a:srgbClr>
                </a:outerShdw>
              </a:effectLst>
            </a:rPr>
            <a:t>推理</a:t>
          </a:r>
          <a:r>
            <a:rPr lang="zh-CN" altLang="en-US" b="1">
              <a:solidFill>
                <a:srgbClr val="000000"/>
              </a:solidFill>
              <a:effectLst>
                <a:outerShdw blurRad="38100" dist="38100" dir="2700000" algn="tl">
                  <a:srgbClr val="000000">
                    <a:alpha val="43137"/>
                  </a:srgbClr>
                </a:outerShdw>
              </a:effectLst>
            </a:rPr>
            <a:t>知识</a:t>
          </a:r>
          <a:endParaRPr lang="zh-CN" altLang="en-US" b="1" dirty="0">
            <a:solidFill>
              <a:srgbClr val="000000"/>
            </a:solidFill>
            <a:effectLst>
              <a:outerShdw blurRad="38100" dist="38100" dir="2700000" algn="tl">
                <a:srgbClr val="000000">
                  <a:alpha val="43137"/>
                </a:srgbClr>
              </a:outerShdw>
            </a:effectLst>
          </a:endParaRPr>
        </a:p>
      </dsp:txBody>
      <dsp:txXfrm>
        <a:off x="746541" y="2437986"/>
        <a:ext cx="794324" cy="397067"/>
      </dsp:txXfrm>
    </dsp:sp>
    <dsp:sp modelId="{EA0BC1EB-E72C-4BDF-B970-C5BCA5D9B504}">
      <dsp:nvSpPr>
        <dsp:cNvPr id="7" name="空心弧 6"/>
        <dsp:cNvSpPr/>
      </dsp:nvSpPr>
      <dsp:spPr bwMode="white">
        <a:xfrm>
          <a:off x="915177" y="2832240"/>
          <a:ext cx="1228129" cy="1228621"/>
        </a:xfrm>
        <a:prstGeom prst="blockArc">
          <a:avLst>
            <a:gd name="adj1" fmla="val 13500000"/>
            <a:gd name="adj2" fmla="val 10800000"/>
            <a:gd name="adj3" fmla="val 12740"/>
          </a:avLst>
        </a:prstGeom>
      </dsp:spPr>
      <dsp:style>
        <a:lnRef idx="0">
          <a:srgbClr val="FFFFFF"/>
        </a:lnRef>
        <a:fillRef idx="3">
          <a:srgbClr val="1F71FF">
            <a:tint val="45000"/>
            <a:hueOff val="-220000"/>
            <a:satOff val="-6404"/>
            <a:lumOff val="-15947"/>
            <a:alpha val="100000"/>
          </a:srgbClr>
        </a:fillRef>
        <a:effectRef idx="3">
          <a:scrgbClr r="0" g="0" b="0"/>
        </a:effectRef>
        <a:fontRef idx="minor">
          <a:srgbClr val="FFFFFF"/>
        </a:fontRef>
      </dsp:style>
      <dsp:txXfrm>
        <a:off x="915177" y="2832240"/>
        <a:ext cx="1228129" cy="1228621"/>
      </dsp:txXfrm>
    </dsp:sp>
    <dsp:sp modelId="{EBAA190B-09BD-4C7B-B59A-5DA53B6D05F5}">
      <dsp:nvSpPr>
        <dsp:cNvPr id="8" name="矩形 7"/>
        <dsp:cNvSpPr/>
      </dsp:nvSpPr>
      <dsp:spPr bwMode="white">
        <a:xfrm>
          <a:off x="1143838" y="3265383"/>
          <a:ext cx="794324" cy="397067"/>
        </a:xfrm>
        <a:prstGeom prst="rect">
          <a:avLst/>
        </a:prstGeom>
      </dsp:spPr>
      <dsp:style>
        <a:lnRef idx="0">
          <a:srgbClr val="000000">
            <a:alpha val="0"/>
          </a:srgbClr>
        </a:lnRef>
        <a:fillRef idx="0">
          <a:srgbClr val="FFFFFF">
            <a:alpha val="0"/>
          </a:srgbClr>
        </a:fillRef>
        <a:effectRef idx="0">
          <a:scrgbClr r="0" g="0" b="0"/>
        </a:effectRef>
        <a:fontRef idx="minor"/>
      </dsp:style>
      <dsp:txBody>
        <a:bodyPr lIns="9525" tIns="9525" rIns="9525" bIns="9525"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nSpc>
              <a:spcPct val="100000"/>
            </a:lnSpc>
            <a:spcBef>
              <a:spcPct val="0"/>
            </a:spcBef>
            <a:spcAft>
              <a:spcPct val="35000"/>
            </a:spcAft>
          </a:pPr>
          <a:r>
            <a:rPr lang="zh-CN" altLang="en-US" b="1">
              <a:solidFill>
                <a:srgbClr val="000000"/>
              </a:solidFill>
              <a:effectLst>
                <a:outerShdw blurRad="38100" dist="38100" dir="2700000" algn="tl">
                  <a:srgbClr val="000000">
                    <a:alpha val="43137"/>
                  </a:srgbClr>
                </a:outerShdw>
              </a:effectLst>
            </a:rPr>
            <a:t>操作知识</a:t>
          </a:r>
          <a:endParaRPr lang="zh-CN" altLang="en-US" b="1" dirty="0">
            <a:solidFill>
              <a:srgbClr val="000000"/>
            </a:solidFill>
            <a:effectLst>
              <a:outerShdw blurRad="38100" dist="38100" dir="2700000" algn="tl">
                <a:srgbClr val="000000">
                  <a:alpha val="43137"/>
                </a:srgbClr>
              </a:outerShdw>
            </a:effectLst>
          </a:endParaRPr>
        </a:p>
      </dsp:txBody>
      <dsp:txXfrm>
        <a:off x="1143838" y="3265383"/>
        <a:ext cx="794324" cy="397067"/>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5">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CircleArrowProcess#6">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rgbClr val="FFFFFF"/>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rgbClr val="000000"/>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6">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rgbClr val="FFFFFF"/>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rgbClr val="FFFFFF"/>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rgbClr val="000000"/>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8879446-8C63-4BF2-9DB8-E36C44AEF020}" type="slidenum">
              <a:rPr kumimoji="0" lang="zh-CN" altLang="en-US" sz="1200" b="0" i="0" u="none" strike="noStrike" kern="1200" cap="none" spc="0" normalizeH="0" baseline="0" noProof="0" smtClean="0">
                <a:ln>
                  <a:noFill/>
                </a:ln>
                <a:solidFill>
                  <a:prstClr val="black"/>
                </a:solidFill>
                <a:effectLst/>
                <a:uLnTx/>
                <a:uFillTx/>
                <a:latin typeface="苹方-简" panose="020B0400000000000000" charset="-122"/>
                <a:cs typeface="+mn-cs"/>
              </a:rPr>
            </a:fld>
            <a:endParaRPr kumimoji="0" lang="zh-CN" altLang="en-US"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011B788-735D-4B9B-8FE2-46E750432DED}" type="slidenum">
              <a:rPr kumimoji="0" lang="zh-CN" altLang="en-US" sz="1200" b="0" i="0" u="none" strike="noStrike" kern="1200" cap="none" spc="0" normalizeH="0" baseline="0" noProof="0" smtClean="0">
                <a:ln>
                  <a:noFill/>
                </a:ln>
                <a:solidFill>
                  <a:prstClr val="black"/>
                </a:solidFill>
                <a:effectLst/>
                <a:uLnTx/>
                <a:uFillTx/>
                <a:latin typeface="苹方-简" panose="020B0400000000000000" charset="-122"/>
                <a:cs typeface="+mn-cs"/>
              </a:rPr>
            </a:fld>
            <a:endParaRPr kumimoji="0" lang="zh-CN" altLang="en-US"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苹方-简" panose="020B0400000000000000" charset="-122"/>
                <a:cs typeface="+mn-cs"/>
              </a:rPr>
              <a:t>1.7.2013</a:t>
            </a:r>
            <a:endParaRPr kumimoji="0" lang="cs-CZ"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苹方-简" panose="020B0400000000000000" charset="-122"/>
                <a:cs typeface="+mn-cs"/>
              </a:rPr>
              <a:t>‹#›</a:t>
            </a:r>
            <a:endParaRPr kumimoji="0" lang="cs-CZ"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苹方-简" panose="020B0400000000000000" charset="-122"/>
                <a:cs typeface="+mn-cs"/>
              </a:rPr>
              <a:t>1.7.2013</a:t>
            </a:r>
            <a:endParaRPr kumimoji="0" lang="cs-CZ"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苹方-简" panose="020B0400000000000000" charset="-122"/>
                <a:cs typeface="+mn-cs"/>
              </a:rPr>
              <a:t>‹#›</a:t>
            </a:r>
            <a:endParaRPr kumimoji="0" lang="cs-CZ"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8879446-8C63-4BF2-9DB8-E36C44AEF020}" type="slidenum">
              <a:rPr kumimoji="0" lang="zh-CN" altLang="en-US" sz="1200" b="0" i="0" u="none" strike="noStrike" kern="1200" cap="none" spc="0" normalizeH="0" baseline="0" noProof="0" smtClean="0">
                <a:ln>
                  <a:noFill/>
                </a:ln>
                <a:solidFill>
                  <a:prstClr val="black"/>
                </a:solidFill>
                <a:effectLst/>
                <a:uLnTx/>
                <a:uFillTx/>
                <a:latin typeface="苹方-简" panose="020B0400000000000000" charset="-122"/>
                <a:cs typeface="+mn-cs"/>
              </a:rPr>
            </a:fld>
            <a:endParaRPr kumimoji="0" lang="zh-CN" altLang="en-US"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8879446-8C63-4BF2-9DB8-E36C44AEF020}" type="slidenum">
              <a:rPr kumimoji="0" lang="zh-CN" altLang="en-US" sz="1200" b="0" i="0" u="none" strike="noStrike" kern="1200" cap="none" spc="0" normalizeH="0" baseline="0" noProof="0" smtClean="0">
                <a:ln>
                  <a:noFill/>
                </a:ln>
                <a:solidFill>
                  <a:prstClr val="black"/>
                </a:solidFill>
                <a:effectLst/>
                <a:uLnTx/>
                <a:uFillTx/>
                <a:latin typeface="苹方-简" panose="020B0400000000000000" charset="-122"/>
                <a:cs typeface="+mn-cs"/>
              </a:rPr>
            </a:fld>
            <a:endParaRPr kumimoji="0" lang="zh-CN" altLang="en-US"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879446-8C63-4BF2-9DB8-E36C44AEF02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A8879446-8C63-4BF2-9DB8-E36C44AEF02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苹方-简" panose="020B0400000000000000" charset="-122"/>
                <a:cs typeface="+mn-cs"/>
              </a:rPr>
              <a:t>1.7.2013</a:t>
            </a:r>
            <a:endParaRPr kumimoji="0" lang="cs-CZ"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200" b="0" i="0" u="none" strike="noStrike">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cs-CZ" sz="1200" b="0" i="0" u="none" strike="noStrike" kern="1200" cap="none" spc="0" normalizeH="0" baseline="0" noProof="0">
                <a:ln>
                  <a:noFill/>
                </a:ln>
                <a:solidFill>
                  <a:prstClr val="black"/>
                </a:solidFill>
                <a:effectLst/>
                <a:uLnTx/>
                <a:uFillTx/>
                <a:latin typeface="苹方-简" panose="020B0400000000000000" charset="-122"/>
                <a:cs typeface="+mn-cs"/>
              </a:rPr>
              <a:t>‹#›</a:t>
            </a:r>
            <a:endParaRPr kumimoji="0" lang="cs-CZ" sz="1200" b="0" i="0" u="none" strike="noStrike" kern="1200" cap="none" spc="0" normalizeH="0" baseline="0" noProof="0">
              <a:ln>
                <a:noFill/>
              </a:ln>
              <a:solidFill>
                <a:prstClr val="black"/>
              </a:solidFill>
              <a:effectLst/>
              <a:uLnTx/>
              <a:uFillTx/>
              <a:latin typeface="苹方-简" panose="020B0400000000000000"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8879446-8C63-4BF2-9DB8-E36C44AEF02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左侧替换</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文档申请服务</a:t>
            </a:r>
            <a:r>
              <a:rPr lang="en-US" altLang="zh-CN"/>
              <a:t>、</a:t>
            </a:r>
            <a:r>
              <a:rPr lang="zh-CN" altLang="en-US"/>
              <a:t>文档权限服务合成文档权限</a:t>
            </a:r>
            <a:r>
              <a:rPr lang="zh-CN" altLang="en-US"/>
              <a:t>管理</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智能向量加工（Chunk级·增强）</a:t>
            </a:r>
            <a:endPar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知识多轮问答简化</a:t>
            </a:r>
            <a:endParaRPr lang="zh-CN" altLang="en-US"/>
          </a:p>
          <a:p>
            <a:r>
              <a:rPr lang="zh-CN" altLang="en-US"/>
              <a:t>知图谱功能补充，多链路标识</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明细类的给一个模板，根据模板去抽语义模型</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关系类型</a:t>
            </a:r>
            <a:r>
              <a:rPr lang="en-US" altLang="zh-CN"/>
              <a:t>、</a:t>
            </a:r>
            <a:r>
              <a:rPr lang="zh-CN" altLang="en-US"/>
              <a:t>实体</a:t>
            </a:r>
            <a:r>
              <a:rPr lang="zh-CN" altLang="en-US"/>
              <a:t>颜色</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聚焦</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latin typeface="微软雅黑" panose="020B0503020204020204" charset="-122"/>
                <a:ea typeface="微软雅黑" panose="020B0503020204020204" charset="-122"/>
                <a:cs typeface="微软雅黑" panose="020B0503020204020204" charset="-122"/>
                <a:sym typeface="+mn-ea"/>
              </a:rPr>
              <a:t>用户可结合实际业务场景需求，对语义知识图谱的本体模型进行修改，自定义实体及关系</a:t>
            </a:r>
            <a:r>
              <a:rPr lang="en-US" altLang="zh-CN">
                <a:latin typeface="微软雅黑" panose="020B0503020204020204" charset="-122"/>
                <a:ea typeface="微软雅黑" panose="020B0503020204020204" charset="-122"/>
                <a:cs typeface="微软雅黑" panose="020B0503020204020204" charset="-122"/>
                <a:sym typeface="+mn-ea"/>
              </a:rPr>
              <a:t>。</a:t>
            </a: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场景建语义图谱，输入是什么，输出是什么？</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SCHEMA:</a:t>
            </a:r>
            <a:r>
              <a:rPr lang="zh-CN" altLang="en-US">
                <a:ea typeface="宋体" pitchFamily="2" charset="-122"/>
              </a:rPr>
              <a:t>抵押贷款</a:t>
            </a:r>
            <a:endParaRPr lang="zh-CN" altLang="en-US">
              <a:ea typeface="宋体"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根据明细类实体文档检索需求，定义专题知识图谱本体模型，标记实体和关系</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基于文档做向量加工</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视频必须外部抽帧，音频依赖 </a:t>
            </a:r>
            <a:r>
              <a:rPr lang="en-US" altLang="zh-CN"/>
              <a:t>ASR</a:t>
            </a:r>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服务层流程说清楚</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olidFill>
                  <a:prstClr val="black"/>
                </a:solidFill>
                <a:latin typeface="微软雅黑" panose="020B0503020204020204" charset="-122"/>
                <a:ea typeface="微软雅黑" panose="020B0503020204020204" charset="-122"/>
                <a:sym typeface="+mn-ea"/>
              </a:rPr>
              <a:t>监运层聚焦银行知识工程平台长效合规运营与</a:t>
            </a:r>
            <a:r>
              <a:rPr lang="en-US" altLang="zh-CN" dirty="0">
                <a:solidFill>
                  <a:prstClr val="black"/>
                </a:solidFill>
                <a:latin typeface="微软雅黑" panose="020B0503020204020204" charset="-122"/>
                <a:ea typeface="微软雅黑" panose="020B0503020204020204" charset="-122"/>
                <a:sym typeface="+mn-ea"/>
              </a:rPr>
              <a:t>AI</a:t>
            </a:r>
            <a:r>
              <a:rPr lang="zh-CN" altLang="en-US" dirty="0">
                <a:solidFill>
                  <a:prstClr val="black"/>
                </a:solidFill>
                <a:latin typeface="微软雅黑" panose="020B0503020204020204" charset="-122"/>
                <a:ea typeface="微软雅黑" panose="020B0503020204020204" charset="-122"/>
                <a:sym typeface="+mn-ea"/>
              </a:rPr>
              <a:t>能力持续迭代，据弃传统人工逐级治理、被动整改的管理模式，基于</a:t>
            </a:r>
            <a:r>
              <a:rPr lang="en-US" altLang="zh-CN" dirty="0">
                <a:solidFill>
                  <a:prstClr val="black"/>
                </a:solidFill>
                <a:latin typeface="微软雅黑" panose="020B0503020204020204" charset="-122"/>
                <a:ea typeface="微软雅黑" panose="020B0503020204020204" charset="-122"/>
                <a:sym typeface="+mn-ea"/>
              </a:rPr>
              <a:t>Loop</a:t>
            </a:r>
            <a:r>
              <a:rPr lang="zh-CN" altLang="en-US" dirty="0">
                <a:solidFill>
                  <a:prstClr val="black"/>
                </a:solidFill>
                <a:latin typeface="微软雅黑" panose="020B0503020204020204" charset="-122"/>
                <a:ea typeface="微软雅黑" panose="020B0503020204020204" charset="-122"/>
                <a:sym typeface="+mn-ea"/>
              </a:rPr>
              <a:t>迭代工程、上下文图谱、</a:t>
            </a:r>
            <a:r>
              <a:rPr lang="en-US" altLang="zh-CN" dirty="0">
                <a:solidFill>
                  <a:prstClr val="black"/>
                </a:solidFill>
                <a:latin typeface="微软雅黑" panose="020B0503020204020204" charset="-122"/>
                <a:ea typeface="微软雅黑" panose="020B0503020204020204" charset="-122"/>
                <a:sym typeface="+mn-ea"/>
              </a:rPr>
              <a:t>MOA</a:t>
            </a:r>
            <a:r>
              <a:rPr lang="zh-CN" altLang="en-US" dirty="0">
                <a:solidFill>
                  <a:prstClr val="black"/>
                </a:solidFill>
                <a:latin typeface="微软雅黑" panose="020B0503020204020204" charset="-122"/>
                <a:ea typeface="微软雅黑" panose="020B0503020204020204" charset="-122"/>
                <a:sym typeface="+mn-ea"/>
              </a:rPr>
              <a:t>多智能体架构，搭建</a:t>
            </a:r>
            <a:r>
              <a:rPr lang="en-US" altLang="zh-CN" dirty="0">
                <a:solidFill>
                  <a:prstClr val="black"/>
                </a:solidFill>
                <a:latin typeface="微软雅黑" panose="020B0503020204020204" charset="-122"/>
                <a:ea typeface="微软雅黑" panose="020B0503020204020204" charset="-122"/>
                <a:sym typeface="+mn-ea"/>
              </a:rPr>
              <a:t>C.0.T.E.E.L</a:t>
            </a:r>
            <a:r>
              <a:rPr lang="zh-CN" altLang="en-US" dirty="0">
                <a:solidFill>
                  <a:prstClr val="black"/>
                </a:solidFill>
                <a:latin typeface="微软雅黑" panose="020B0503020204020204" charset="-122"/>
                <a:ea typeface="微软雅黑" panose="020B0503020204020204" charset="-122"/>
                <a:sym typeface="+mn-ea"/>
              </a:rPr>
              <a:t>六维</a:t>
            </a:r>
            <a:r>
              <a:rPr lang="en-US" altLang="zh-CN" dirty="0">
                <a:solidFill>
                  <a:prstClr val="black"/>
                </a:solidFill>
                <a:latin typeface="微软雅黑" panose="020B0503020204020204" charset="-122"/>
                <a:ea typeface="微软雅黑" panose="020B0503020204020204" charset="-122"/>
                <a:sym typeface="+mn-ea"/>
              </a:rPr>
              <a:t>AI</a:t>
            </a:r>
            <a:r>
              <a:rPr lang="zh-CN" altLang="en-US" dirty="0">
                <a:solidFill>
                  <a:prstClr val="black"/>
                </a:solidFill>
                <a:latin typeface="微软雅黑" panose="020B0503020204020204" charset="-122"/>
                <a:ea typeface="微软雅黑" panose="020B0503020204020204" charset="-122"/>
                <a:sym typeface="+mn-ea"/>
              </a:rPr>
              <a:t>自治运营体系</a:t>
            </a:r>
            <a:r>
              <a:rPr lang="en-US" altLang="zh-CN" dirty="0">
                <a:solidFill>
                  <a:prstClr val="black"/>
                </a:solidFill>
                <a:latin typeface="微软雅黑" panose="020B0503020204020204" charset="-122"/>
                <a:ea typeface="微软雅黑" panose="020B0503020204020204" charset="-122"/>
                <a:sym typeface="+mn-ea"/>
              </a:rPr>
              <a:t>,</a:t>
            </a:r>
            <a:r>
              <a:rPr lang="zh-CN" altLang="en-US" dirty="0">
                <a:solidFill>
                  <a:prstClr val="black"/>
                </a:solidFill>
                <a:latin typeface="微软雅黑" panose="020B0503020204020204" charset="-122"/>
                <a:ea typeface="微软雅黑" panose="020B0503020204020204" charset="-122"/>
                <a:sym typeface="+mn-ea"/>
              </a:rPr>
              <a:t>适配金融强合规、可审计、可追溯、高精准的运营要求，实现知识智力自主进化、全域可控。</a:t>
            </a:r>
            <a:endParaRPr lang="zh-CN" altLang="en-US" dirty="0">
              <a:solidFill>
                <a:prstClr val="black"/>
              </a:solidFill>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olidFill>
                  <a:prstClr val="black"/>
                </a:solidFill>
                <a:latin typeface="微软雅黑" panose="020B0503020204020204" charset="-122"/>
                <a:ea typeface="微软雅黑" panose="020B0503020204020204" charset="-122"/>
                <a:sym typeface="+mn-ea"/>
              </a:rPr>
              <a:t>监运层聚焦银行知识工程平台长效合规运营与</a:t>
            </a:r>
            <a:r>
              <a:rPr lang="en-US" altLang="zh-CN" dirty="0">
                <a:solidFill>
                  <a:prstClr val="black"/>
                </a:solidFill>
                <a:latin typeface="微软雅黑" panose="020B0503020204020204" charset="-122"/>
                <a:ea typeface="微软雅黑" panose="020B0503020204020204" charset="-122"/>
                <a:sym typeface="+mn-ea"/>
              </a:rPr>
              <a:t>AI</a:t>
            </a:r>
            <a:r>
              <a:rPr lang="zh-CN" altLang="en-US" dirty="0">
                <a:solidFill>
                  <a:prstClr val="black"/>
                </a:solidFill>
                <a:latin typeface="微软雅黑" panose="020B0503020204020204" charset="-122"/>
                <a:ea typeface="微软雅黑" panose="020B0503020204020204" charset="-122"/>
                <a:sym typeface="+mn-ea"/>
              </a:rPr>
              <a:t>能力持续迭代，据弃传统人工逐级治理、被动整改的管理模式，基于</a:t>
            </a:r>
            <a:r>
              <a:rPr lang="en-US" altLang="zh-CN" dirty="0">
                <a:solidFill>
                  <a:prstClr val="black"/>
                </a:solidFill>
                <a:latin typeface="微软雅黑" panose="020B0503020204020204" charset="-122"/>
                <a:ea typeface="微软雅黑" panose="020B0503020204020204" charset="-122"/>
                <a:sym typeface="+mn-ea"/>
              </a:rPr>
              <a:t>Loop</a:t>
            </a:r>
            <a:r>
              <a:rPr lang="zh-CN" altLang="en-US" dirty="0">
                <a:solidFill>
                  <a:prstClr val="black"/>
                </a:solidFill>
                <a:latin typeface="微软雅黑" panose="020B0503020204020204" charset="-122"/>
                <a:ea typeface="微软雅黑" panose="020B0503020204020204" charset="-122"/>
                <a:sym typeface="+mn-ea"/>
              </a:rPr>
              <a:t>迭代工程、上下文图谱、</a:t>
            </a:r>
            <a:r>
              <a:rPr lang="en-US" altLang="zh-CN" dirty="0">
                <a:solidFill>
                  <a:prstClr val="black"/>
                </a:solidFill>
                <a:latin typeface="微软雅黑" panose="020B0503020204020204" charset="-122"/>
                <a:ea typeface="微软雅黑" panose="020B0503020204020204" charset="-122"/>
                <a:sym typeface="+mn-ea"/>
              </a:rPr>
              <a:t>MOA</a:t>
            </a:r>
            <a:r>
              <a:rPr lang="zh-CN" altLang="en-US" dirty="0">
                <a:solidFill>
                  <a:prstClr val="black"/>
                </a:solidFill>
                <a:latin typeface="微软雅黑" panose="020B0503020204020204" charset="-122"/>
                <a:ea typeface="微软雅黑" panose="020B0503020204020204" charset="-122"/>
                <a:sym typeface="+mn-ea"/>
              </a:rPr>
              <a:t>多智能体架构，搭建</a:t>
            </a:r>
            <a:r>
              <a:rPr lang="en-US" altLang="zh-CN" dirty="0">
                <a:solidFill>
                  <a:prstClr val="black"/>
                </a:solidFill>
                <a:latin typeface="微软雅黑" panose="020B0503020204020204" charset="-122"/>
                <a:ea typeface="微软雅黑" panose="020B0503020204020204" charset="-122"/>
                <a:sym typeface="+mn-ea"/>
              </a:rPr>
              <a:t>C.0.T.E.E.L</a:t>
            </a:r>
            <a:r>
              <a:rPr lang="zh-CN" altLang="en-US" dirty="0">
                <a:solidFill>
                  <a:prstClr val="black"/>
                </a:solidFill>
                <a:latin typeface="微软雅黑" panose="020B0503020204020204" charset="-122"/>
                <a:ea typeface="微软雅黑" panose="020B0503020204020204" charset="-122"/>
                <a:sym typeface="+mn-ea"/>
              </a:rPr>
              <a:t>六维</a:t>
            </a:r>
            <a:r>
              <a:rPr lang="en-US" altLang="zh-CN" dirty="0">
                <a:solidFill>
                  <a:prstClr val="black"/>
                </a:solidFill>
                <a:latin typeface="微软雅黑" panose="020B0503020204020204" charset="-122"/>
                <a:ea typeface="微软雅黑" panose="020B0503020204020204" charset="-122"/>
                <a:sym typeface="+mn-ea"/>
              </a:rPr>
              <a:t>AI</a:t>
            </a:r>
            <a:r>
              <a:rPr lang="zh-CN" altLang="en-US" dirty="0">
                <a:solidFill>
                  <a:prstClr val="black"/>
                </a:solidFill>
                <a:latin typeface="微软雅黑" panose="020B0503020204020204" charset="-122"/>
                <a:ea typeface="微软雅黑" panose="020B0503020204020204" charset="-122"/>
                <a:sym typeface="+mn-ea"/>
              </a:rPr>
              <a:t>自治运营体系</a:t>
            </a:r>
            <a:r>
              <a:rPr lang="en-US" altLang="zh-CN" dirty="0">
                <a:solidFill>
                  <a:prstClr val="black"/>
                </a:solidFill>
                <a:latin typeface="微软雅黑" panose="020B0503020204020204" charset="-122"/>
                <a:ea typeface="微软雅黑" panose="020B0503020204020204" charset="-122"/>
                <a:sym typeface="+mn-ea"/>
              </a:rPr>
              <a:t>,</a:t>
            </a:r>
            <a:r>
              <a:rPr lang="zh-CN" altLang="en-US" dirty="0">
                <a:solidFill>
                  <a:prstClr val="black"/>
                </a:solidFill>
                <a:latin typeface="微软雅黑" panose="020B0503020204020204" charset="-122"/>
                <a:ea typeface="微软雅黑" panose="020B0503020204020204" charset="-122"/>
                <a:sym typeface="+mn-ea"/>
              </a:rPr>
              <a:t>适配金融强合规、可审计、可追溯、高精准的运营要求，实现知识智力自主进化、全域可控。</a:t>
            </a:r>
            <a:endParaRPr lang="zh-CN" altLang="en-US" dirty="0">
              <a:solidFill>
                <a:prstClr val="black"/>
              </a:solidFill>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抬升</a:t>
            </a:r>
            <a:r>
              <a:rPr lang="en-US" altLang="zh-CN"/>
              <a:t>/</a:t>
            </a:r>
            <a:r>
              <a:rPr lang="zh-CN" altLang="en-US"/>
              <a:t>沉降策略</a:t>
            </a:r>
            <a:endParaRPr lang="zh-CN" altLang="en-US"/>
          </a:p>
          <a:p>
            <a:r>
              <a:rPr lang="zh-CN" altLang="en-US"/>
              <a:t>检索排序策略</a:t>
            </a:r>
            <a:endParaRPr lang="zh-CN" altLang="en-US"/>
          </a:p>
          <a:p>
            <a:r>
              <a:rPr lang="zh-CN" altLang="en-US"/>
              <a:t>评估</a:t>
            </a:r>
            <a:r>
              <a:rPr lang="en-US" altLang="zh-CN"/>
              <a:t>/</a:t>
            </a:r>
            <a:r>
              <a:rPr lang="zh-CN" altLang="en-US"/>
              <a:t>归因策略</a:t>
            </a:r>
            <a:endParaRPr lang="zh-CN" altLang="en-US"/>
          </a:p>
          <a:p>
            <a:r>
              <a:rPr lang="zh-CN" altLang="en-US"/>
              <a:t>术语新增策略</a:t>
            </a:r>
            <a:endParaRPr lang="zh-CN" altLang="en-US"/>
          </a:p>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权限修改</a:t>
            </a:r>
            <a:r>
              <a:rPr lang="en-US" altLang="zh-CN"/>
              <a:t>，</a:t>
            </a:r>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全链路埋点要跟上面检索流程对齐</a:t>
            </a:r>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面企业级</a:t>
            </a:r>
            <a:r>
              <a:rPr lang="en-US" altLang="zh-CN"/>
              <a:t> Harness </a:t>
            </a:r>
            <a:r>
              <a:rPr lang="zh-CN" altLang="en-US"/>
              <a:t>要突破非结构化业务语义体系，挂接数字化生产环境，通过统一语义实体对象体系的建设，进一步规范、补充数字化生产环境结构化数据计算体系的</a:t>
            </a:r>
            <a:r>
              <a:rPr lang="en-US" altLang="zh-CN"/>
              <a:t> Data</a:t>
            </a:r>
            <a:r>
              <a:rPr lang="zh-CN" altLang="en-US"/>
              <a:t>、</a:t>
            </a:r>
            <a:r>
              <a:rPr lang="en-US" altLang="zh-CN"/>
              <a:t>Logic </a:t>
            </a:r>
            <a:r>
              <a:rPr lang="zh-CN" altLang="en-US"/>
              <a:t>和</a:t>
            </a:r>
            <a:r>
              <a:rPr lang="en-US" altLang="zh-CN"/>
              <a:t> Action </a:t>
            </a:r>
            <a:r>
              <a:rPr lang="zh-CN" altLang="en-US"/>
              <a:t>知识，实现业务语义环境内与数字化环境业务数据、业务规则、业务活动的知识对齐，为下一步企业基于业务语义环境知识成果，推动</a:t>
            </a:r>
            <a:r>
              <a:rPr lang="en-US" altLang="zh-CN"/>
              <a:t> AI </a:t>
            </a:r>
            <a:r>
              <a:rPr lang="zh-CN" altLang="en-US"/>
              <a:t>开展企业数字化环境自动化操作预留接口，奠定基础</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noProof="0" dirty="0">
                <a:ln>
                  <a:noFill/>
                </a:ln>
                <a:solidFill>
                  <a:prstClr val="black"/>
                </a:solidFill>
                <a:effectLst/>
                <a:uLnTx/>
                <a:uFillTx/>
                <a:latin typeface="微软雅黑" panose="020B0503020204020204" charset="-122"/>
                <a:ea typeface="微软雅黑" panose="020B0503020204020204" charset="-122"/>
                <a:sym typeface="+mn-ea"/>
              </a:rPr>
              <a:t>负责知识生产和修订，对知识应用进行效果评价、建知识库、关联目录</a:t>
            </a:r>
            <a:endParaRPr kumimoji="0" lang="zh-CN" altLang="en-US"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元数据谁制定谁发布，元数据标准的审核提交中心评审</a:t>
            </a:r>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7C42E20-4F3B-4452-A59E-904AF5F5918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B56B93-EFB7-488D-A789-3EBFC2625F1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2000" cy="800099"/>
          </a:xfrm>
          <a:prstGeom prst="rect">
            <a:avLst/>
          </a:prstGeom>
        </p:spPr>
      </p:pic>
      <p:sp>
        <p:nvSpPr>
          <p:cNvPr id="6" name="标题 11"/>
          <p:cNvSpPr>
            <a:spLocks noGrp="1"/>
          </p:cNvSpPr>
          <p:nvPr>
            <p:ph type="title"/>
          </p:nvPr>
        </p:nvSpPr>
        <p:spPr>
          <a:xfrm>
            <a:off x="320396" y="193781"/>
            <a:ext cx="10515600" cy="412536"/>
          </a:xfrm>
          <a:prstGeom prst="rect">
            <a:avLst/>
          </a:prstGeom>
        </p:spPr>
        <p:txBody>
          <a:bodyPr/>
          <a:lstStyle>
            <a:lvl1pPr>
              <a:defRPr sz="2400" b="0">
                <a:latin typeface="KaiTi_GB2312" panose="02010609030101010101" pitchFamily="49" charset="-122"/>
                <a:ea typeface="KaiTi_GB2312" panose="02010609030101010101" pitchFamily="49"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标题占位符 3"/>
          <p:cNvSpPr>
            <a:spLocks noGrp="1"/>
          </p:cNvSpPr>
          <p:nvPr>
            <p:ph type="title"/>
          </p:nvPr>
        </p:nvSpPr>
        <p:spPr>
          <a:xfrm>
            <a:off x="987535" y="2766218"/>
            <a:ext cx="10515600" cy="662782"/>
          </a:xfrm>
          <a:prstGeom prst="rect">
            <a:avLst/>
          </a:prstGeom>
        </p:spPr>
        <p:txBody>
          <a:bodyPr vert="horz" lIns="91440" tIns="45720" rIns="91440" bIns="45720" rtlCol="0" anchor="ctr">
            <a:noAutofit/>
          </a:bodyPr>
          <a:lstStyle/>
          <a:p>
            <a:r>
              <a:rPr kumimoji="1" lang="zh-CN" altLang="en-US" dirty="0"/>
              <a:t>单击此处编辑母版标题样式</a:t>
            </a:r>
            <a:endParaRPr kumimoji="1" lang="zh-CN" altLang="en-US" dirty="0"/>
          </a:p>
        </p:txBody>
      </p:sp>
      <p:sp>
        <p:nvSpPr>
          <p:cNvPr id="7" name="文本占位符 6"/>
          <p:cNvSpPr>
            <a:spLocks noGrp="1"/>
          </p:cNvSpPr>
          <p:nvPr>
            <p:ph type="body" sz="quarter" idx="10" hasCustomPrompt="1"/>
          </p:nvPr>
        </p:nvSpPr>
        <p:spPr>
          <a:xfrm>
            <a:off x="987535" y="3464858"/>
            <a:ext cx="10515600" cy="662783"/>
          </a:xfrm>
          <a:prstGeom prst="rect">
            <a:avLst/>
          </a:prstGeom>
        </p:spPr>
        <p:txBody>
          <a:bodyPr/>
          <a:lstStyle>
            <a:lvl1pPr>
              <a:defRPr sz="2800">
                <a:latin typeface="Kaiti SC" panose="02010600040101010101" pitchFamily="2" charset="-122"/>
                <a:ea typeface="Kaiti SC" panose="02010600040101010101" pitchFamily="2" charset="-122"/>
              </a:defRPr>
            </a:lvl1pPr>
          </a:lstStyle>
          <a:p>
            <a:r>
              <a:rPr kumimoji="1" lang="zh-CN" altLang="en-US" dirty="0"/>
              <a:t>编辑所属域</a:t>
            </a:r>
            <a:endParaRPr kumimoji="1" lang="zh-CN" altLang="en-US" dirty="0"/>
          </a:p>
        </p:txBody>
      </p:sp>
      <p:sp>
        <p:nvSpPr>
          <p:cNvPr id="8" name="文本占位符 6"/>
          <p:cNvSpPr>
            <a:spLocks noGrp="1"/>
          </p:cNvSpPr>
          <p:nvPr>
            <p:ph type="body" sz="quarter" idx="11" hasCustomPrompt="1"/>
          </p:nvPr>
        </p:nvSpPr>
        <p:spPr>
          <a:xfrm>
            <a:off x="987535" y="4818225"/>
            <a:ext cx="10515600" cy="662783"/>
          </a:xfrm>
          <a:prstGeom prst="rect">
            <a:avLst/>
          </a:prstGeom>
        </p:spPr>
        <p:txBody>
          <a:bodyPr/>
          <a:lstStyle>
            <a:lvl1pPr>
              <a:defRPr sz="2000">
                <a:latin typeface="Kaiti SC" panose="02010600040101010101" pitchFamily="2" charset="-122"/>
                <a:ea typeface="Kaiti SC" panose="02010600040101010101" pitchFamily="2" charset="-122"/>
              </a:defRPr>
            </a:lvl1pPr>
          </a:lstStyle>
          <a:p>
            <a:r>
              <a:rPr kumimoji="1" lang="zh-CN" altLang="en-US" dirty="0"/>
              <a:t>编辑时间</a:t>
            </a:r>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文本占位符 39"/>
          <p:cNvSpPr>
            <a:spLocks noGrp="1"/>
          </p:cNvSpPr>
          <p:nvPr>
            <p:ph type="body" sz="quarter" idx="10" hasCustomPrompt="1"/>
          </p:nvPr>
        </p:nvSpPr>
        <p:spPr>
          <a:xfrm>
            <a:off x="5396566" y="1470866"/>
            <a:ext cx="5558304" cy="555158"/>
          </a:xfrm>
        </p:spPr>
        <p:txBody>
          <a:bodyPr/>
          <a:lstStyle/>
          <a:p>
            <a:r>
              <a:rPr kumimoji="1" lang="en-US" altLang="zh-CN" dirty="0"/>
              <a:t>01</a:t>
            </a:r>
            <a:r>
              <a:rPr kumimoji="1" lang="zh-CN" altLang="en-US" dirty="0"/>
              <a:t>   单击此处添加文本</a:t>
            </a:r>
            <a:endParaRPr kumimoji="1" lang="zh-CN" altLang="en-US" dirty="0"/>
          </a:p>
        </p:txBody>
      </p:sp>
      <p:sp>
        <p:nvSpPr>
          <p:cNvPr id="5" name="文本占位符 39"/>
          <p:cNvSpPr>
            <a:spLocks noGrp="1"/>
          </p:cNvSpPr>
          <p:nvPr>
            <p:ph type="body" sz="quarter" idx="11" hasCustomPrompt="1"/>
          </p:nvPr>
        </p:nvSpPr>
        <p:spPr>
          <a:xfrm>
            <a:off x="5396566" y="2188043"/>
            <a:ext cx="5558304" cy="555158"/>
          </a:xfrm>
        </p:spPr>
        <p:txBody>
          <a:bodyPr/>
          <a:lstStyle/>
          <a:p>
            <a:r>
              <a:rPr kumimoji="1" lang="en-US" altLang="zh-CN" dirty="0"/>
              <a:t>02</a:t>
            </a:r>
            <a:r>
              <a:rPr kumimoji="1" lang="zh-CN" altLang="en-US" dirty="0"/>
              <a:t>   单击此处添加文本</a:t>
            </a:r>
            <a:endParaRPr kumimoji="1" lang="zh-CN" altLang="en-US" dirty="0"/>
          </a:p>
        </p:txBody>
      </p:sp>
      <p:sp>
        <p:nvSpPr>
          <p:cNvPr id="6" name="文本占位符 39"/>
          <p:cNvSpPr>
            <a:spLocks noGrp="1"/>
          </p:cNvSpPr>
          <p:nvPr>
            <p:ph type="body" sz="quarter" idx="12" hasCustomPrompt="1"/>
          </p:nvPr>
        </p:nvSpPr>
        <p:spPr>
          <a:xfrm>
            <a:off x="5396566" y="2905220"/>
            <a:ext cx="5558304" cy="555158"/>
          </a:xfrm>
        </p:spPr>
        <p:txBody>
          <a:bodyPr/>
          <a:lstStyle/>
          <a:p>
            <a:r>
              <a:rPr kumimoji="1" lang="en-US" altLang="zh-CN" dirty="0"/>
              <a:t>03</a:t>
            </a:r>
            <a:r>
              <a:rPr kumimoji="1" lang="zh-CN" altLang="en-US" dirty="0"/>
              <a:t>   单击此处添加文本</a:t>
            </a:r>
            <a:endParaRPr kumimoji="1" lang="zh-CN" altLang="en-US" dirty="0"/>
          </a:p>
        </p:txBody>
      </p:sp>
      <p:sp>
        <p:nvSpPr>
          <p:cNvPr id="7" name="文本占位符 39"/>
          <p:cNvSpPr>
            <a:spLocks noGrp="1"/>
          </p:cNvSpPr>
          <p:nvPr>
            <p:ph type="body" sz="quarter" idx="13" hasCustomPrompt="1"/>
          </p:nvPr>
        </p:nvSpPr>
        <p:spPr>
          <a:xfrm>
            <a:off x="5396566" y="3622397"/>
            <a:ext cx="5558304" cy="555158"/>
          </a:xfrm>
        </p:spPr>
        <p:txBody>
          <a:bodyPr/>
          <a:lstStyle/>
          <a:p>
            <a:r>
              <a:rPr kumimoji="1" lang="en-US" altLang="zh-CN" dirty="0"/>
              <a:t>03</a:t>
            </a:r>
            <a:r>
              <a:rPr kumimoji="1" lang="zh-CN" altLang="en-US" dirty="0"/>
              <a:t>   单击此处添加文本</a:t>
            </a:r>
            <a:endParaRPr kumimoji="1" lang="zh-CN" altLang="en-US" dirty="0"/>
          </a:p>
        </p:txBody>
      </p:sp>
      <p:sp>
        <p:nvSpPr>
          <p:cNvPr id="8" name="文本占位符 39"/>
          <p:cNvSpPr>
            <a:spLocks noGrp="1"/>
          </p:cNvSpPr>
          <p:nvPr>
            <p:ph type="body" sz="quarter" idx="14" hasCustomPrompt="1"/>
          </p:nvPr>
        </p:nvSpPr>
        <p:spPr>
          <a:xfrm>
            <a:off x="5396566" y="4339574"/>
            <a:ext cx="5558304" cy="555158"/>
          </a:xfrm>
        </p:spPr>
        <p:txBody>
          <a:bodyPr/>
          <a:lstStyle/>
          <a:p>
            <a:r>
              <a:rPr kumimoji="1" lang="en-US" altLang="zh-CN" dirty="0"/>
              <a:t>05</a:t>
            </a:r>
            <a:r>
              <a:rPr kumimoji="1" lang="zh-CN" altLang="en-US" dirty="0"/>
              <a:t>   单击此处添加文本</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908847" y="184503"/>
            <a:ext cx="9448800" cy="447675"/>
          </a:xfrm>
          <a:prstGeom prst="rect">
            <a:avLst/>
          </a:prstGeom>
        </p:spPr>
        <p:txBody>
          <a:bodyPr/>
          <a:lstStyle>
            <a:lvl1pPr>
              <a:defRPr sz="2400" b="1">
                <a:latin typeface="KaiTi_GB2312" panose="02010609030101010101" pitchFamily="49" charset="-122"/>
                <a:ea typeface="KaiTi_GB2312" panose="02010609030101010101" pitchFamily="49" charset="-122"/>
              </a:defRPr>
            </a:lvl1pPr>
          </a:lstStyle>
          <a:p>
            <a:r>
              <a:rPr lang="zh-CN" altLang="en-US" dirty="0"/>
              <a:t>单击此处编辑母版标题样式</a:t>
            </a:r>
            <a:endParaRPr lang="zh-CN" altLang="en-US" dirty="0"/>
          </a:p>
        </p:txBody>
      </p:sp>
      <p:sp>
        <p:nvSpPr>
          <p:cNvPr id="6" name="文本占位符 5"/>
          <p:cNvSpPr>
            <a:spLocks noGrp="1"/>
          </p:cNvSpPr>
          <p:nvPr>
            <p:ph type="body" sz="quarter" idx="10" hasCustomPrompt="1"/>
          </p:nvPr>
        </p:nvSpPr>
        <p:spPr>
          <a:xfrm>
            <a:off x="749217" y="1090362"/>
            <a:ext cx="9448800" cy="3337259"/>
          </a:xfrm>
          <a:prstGeom prst="rect">
            <a:avLst/>
          </a:prstGeom>
        </p:spPr>
        <p:txBody>
          <a:bodyPr/>
          <a:lstStyle>
            <a:lvl1pPr>
              <a:defRPr sz="2000" b="1">
                <a:latin typeface="KaiTi_GB2312" panose="02010609030101010101" pitchFamily="49" charset="-122"/>
                <a:ea typeface="KaiTi_GB2312" panose="02010609030101010101" pitchFamily="49" charset="-122"/>
              </a:defRPr>
            </a:lvl1pPr>
          </a:lstStyle>
          <a:p>
            <a:r>
              <a:rPr kumimoji="1" lang="zh-CN" altLang="en-US" dirty="0"/>
              <a:t>编辑母版文本样式
第二级
第三级
第四级
第五级</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08847" y="184503"/>
            <a:ext cx="9448800" cy="447675"/>
          </a:xfrm>
          <a:prstGeom prst="rect">
            <a:avLst/>
          </a:prstGeom>
        </p:spPr>
        <p:txBody>
          <a:bodyPr/>
          <a:lstStyle>
            <a:lvl1pPr>
              <a:defRPr sz="2400" b="1">
                <a:latin typeface="KaiTi_GB2312" panose="02010609030101010101" pitchFamily="49" charset="-122"/>
                <a:ea typeface="KaiTi_GB2312" panose="02010609030101010101" pitchFamily="49"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3_自定义版式">
    <p:spTree>
      <p:nvGrpSpPr>
        <p:cNvPr id="1" name=""/>
        <p:cNvGrpSpPr/>
        <p:nvPr/>
      </p:nvGrpSpPr>
      <p:grpSpPr>
        <a:xfrm>
          <a:off x="0" y="0"/>
          <a:ext cx="0" cy="0"/>
          <a:chOff x="0" y="0"/>
          <a:chExt cx="0" cy="0"/>
        </a:xfrm>
      </p:grpSpPr>
      <p:sp>
        <p:nvSpPr>
          <p:cNvPr id="16" name="标题文本"/>
          <p:cNvSpPr txBox="1">
            <a:spLocks noGrp="1"/>
          </p:cNvSpPr>
          <p:nvPr>
            <p:ph type="title" hasCustomPrompt="1"/>
          </p:nvPr>
        </p:nvSpPr>
        <p:spPr>
          <a:prstGeom prst="rect">
            <a:avLst/>
          </a:prstGeom>
        </p:spPr>
        <p:txBody>
          <a:bodyPr/>
          <a:lstStyle/>
          <a:p>
            <a:r>
              <a:t>标题文本</a:t>
            </a:r>
          </a:p>
        </p:txBody>
      </p:sp>
      <p:sp>
        <p:nvSpPr>
          <p:cNvPr id="17" name="正文级别 1…"/>
          <p:cNvSpPr txBox="1">
            <a:spLocks noGrp="1"/>
          </p:cNvSpPr>
          <p:nvPr>
            <p:ph type="body" sz="half" idx="1" hasCustomPrompt="1"/>
          </p:nvPr>
        </p:nvSpPr>
        <p:spPr>
          <a:xfrm>
            <a:off x="749217" y="1090362"/>
            <a:ext cx="9448801" cy="3337260"/>
          </a:xfrm>
          <a:prstGeom prst="rect">
            <a:avLst/>
          </a:prstGeom>
        </p:spPr>
        <p:txBody>
          <a:bodyPr/>
          <a:lstStyle/>
          <a:p>
            <a:r>
              <a:t>编辑母版文本样式
第二级
第三级
第四级
第五级</a:t>
            </a:r>
          </a:p>
          <a:p>
            <a:pPr lvl="1"/>
          </a:p>
          <a:p>
            <a:pPr lvl="2"/>
          </a:p>
          <a:p>
            <a:pPr lvl="3"/>
          </a:p>
          <a:p>
            <a:pPr lvl="4"/>
          </a:p>
        </p:txBody>
      </p:sp>
      <p:sp>
        <p:nvSpPr>
          <p:cNvPr id="1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883171" y="188870"/>
            <a:ext cx="9448800" cy="447675"/>
          </a:xfrm>
          <a:prstGeom prst="rect">
            <a:avLst/>
          </a:prstGeom>
        </p:spPr>
        <p:txBody>
          <a:bodyPr/>
          <a:lstStyle>
            <a:lvl1pPr>
              <a:defRPr kumimoji="1" lang="zh-CN" altLang="en-US" sz="2400" b="1" i="0" kern="1200" dirty="0">
                <a:solidFill>
                  <a:schemeClr val="tx1"/>
                </a:solidFill>
                <a:latin typeface="KaiTi_GB2312" panose="02010609030101010101" pitchFamily="49" charset="-122"/>
                <a:ea typeface="KaiTi_GB2312" panose="02010609030101010101" pitchFamily="49" charset="-122"/>
                <a:cs typeface="+mj-cs"/>
              </a:defRPr>
            </a:lvl1pPr>
          </a:lstStyle>
          <a:p>
            <a:r>
              <a:rPr lang="zh-CN" altLang="en-US" dirty="0"/>
              <a:t>单击此处编辑母版标题样式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2000" cy="800099"/>
          </a:xfrm>
          <a:prstGeom prst="rect">
            <a:avLst/>
          </a:prstGeom>
        </p:spPr>
      </p:pic>
      <p:sp>
        <p:nvSpPr>
          <p:cNvPr id="6" name="标题 11"/>
          <p:cNvSpPr>
            <a:spLocks noGrp="1"/>
          </p:cNvSpPr>
          <p:nvPr>
            <p:ph type="title"/>
          </p:nvPr>
        </p:nvSpPr>
        <p:spPr>
          <a:xfrm>
            <a:off x="320396" y="193781"/>
            <a:ext cx="10515600" cy="412536"/>
          </a:xfrm>
          <a:prstGeom prst="rect">
            <a:avLst/>
          </a:prstGeom>
        </p:spPr>
        <p:txBody>
          <a:bodyPr/>
          <a:lstStyle>
            <a:lvl1pPr>
              <a:defRPr sz="2400" b="0">
                <a:latin typeface="KaiTi_GB2312" panose="02010609030101010101" pitchFamily="49" charset="-122"/>
                <a:ea typeface="KaiTi_GB2312" panose="02010609030101010101" pitchFamily="49"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2000" cy="800099"/>
          </a:xfrm>
          <a:prstGeom prst="rect">
            <a:avLst/>
          </a:prstGeom>
        </p:spPr>
      </p:pic>
      <p:sp>
        <p:nvSpPr>
          <p:cNvPr id="6" name="标题 11"/>
          <p:cNvSpPr>
            <a:spLocks noGrp="1"/>
          </p:cNvSpPr>
          <p:nvPr>
            <p:ph type="title"/>
          </p:nvPr>
        </p:nvSpPr>
        <p:spPr>
          <a:xfrm>
            <a:off x="320396" y="193781"/>
            <a:ext cx="10515600" cy="412536"/>
          </a:xfrm>
          <a:prstGeom prst="rect">
            <a:avLst/>
          </a:prstGeom>
        </p:spPr>
        <p:txBody>
          <a:bodyPr/>
          <a:lstStyle>
            <a:lvl1pPr>
              <a:defRPr sz="2400" b="1" i="0" baseline="0">
                <a:latin typeface="KaiTi_GB2312" panose="02010609030101010101" pitchFamily="49" charset="-122"/>
                <a:ea typeface="KaiTi_GB2312" panose="02010609030101010101" pitchFamily="49"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2000" cy="800099"/>
          </a:xfrm>
          <a:prstGeom prst="rect">
            <a:avLst/>
          </a:prstGeom>
        </p:spPr>
      </p:pic>
      <p:sp>
        <p:nvSpPr>
          <p:cNvPr id="6" name="标题 11"/>
          <p:cNvSpPr>
            <a:spLocks noGrp="1"/>
          </p:cNvSpPr>
          <p:nvPr>
            <p:ph type="title"/>
          </p:nvPr>
        </p:nvSpPr>
        <p:spPr>
          <a:xfrm>
            <a:off x="320396" y="193781"/>
            <a:ext cx="10515600" cy="412536"/>
          </a:xfrm>
          <a:prstGeom prst="rect">
            <a:avLst/>
          </a:prstGeom>
        </p:spPr>
        <p:txBody>
          <a:bodyPr/>
          <a:lstStyle>
            <a:lvl1pPr>
              <a:defRPr sz="2400" b="0">
                <a:latin typeface="KaiTi_GB2312" panose="02010609030101010101" pitchFamily="49" charset="-122"/>
                <a:ea typeface="KaiTi_GB2312" panose="02010609030101010101" pitchFamily="49"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6.emf"/><Relationship Id="rId8" Type="http://schemas.openxmlformats.org/officeDocument/2006/relationships/image" Target="../media/image5.jpeg"/><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0"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3" Type="http://schemas.openxmlformats.org/officeDocument/2006/relationships/theme" Target="../theme/theme4.xml"/><Relationship Id="rId12" Type="http://schemas.openxmlformats.org/officeDocument/2006/relationships/slideLayout" Target="../slideLayouts/slideLayout32.xml"/><Relationship Id="rId11" Type="http://schemas.openxmlformats.org/officeDocument/2006/relationships/slideLayout" Target="../slideLayouts/slideLayout31.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34.xml"/><Relationship Id="rId1" Type="http://schemas.openxmlformats.org/officeDocument/2006/relationships/slideLayout" Target="../slideLayouts/slideLayout33.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9" Type="http://schemas.openxmlformats.org/officeDocument/2006/relationships/theme" Target="../theme/theme6.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46.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42E20-4F3B-4452-A59E-904AF5F5918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56B93-EFB7-488D-A789-3EBFC2625F1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0"/>
            <a:ext cx="12192000" cy="6858000"/>
          </a:xfrm>
          <a:prstGeom prst="rect">
            <a:avLst/>
          </a:prstGeom>
        </p:spPr>
      </p:pic>
      <p:pic>
        <p:nvPicPr>
          <p:cNvPr id="8" name="图片 7" descr="图片包含 游戏机, 画&#10;&#10;描述已自动生成"/>
          <p:cNvPicPr>
            <a:picLocks noChangeAspect="1"/>
          </p:cNvPicPr>
          <p:nvPr userDrawn="1"/>
        </p:nvPicPr>
        <p:blipFill rotWithShape="1">
          <a:blip r:embed="rId3"/>
          <a:srcRect b="27864"/>
          <a:stretch>
            <a:fillRect/>
          </a:stretch>
        </p:blipFill>
        <p:spPr>
          <a:xfrm>
            <a:off x="316414" y="319530"/>
            <a:ext cx="2406237" cy="709397"/>
          </a:xfrm>
          <a:prstGeom prst="rect">
            <a:avLst/>
          </a:prstGeom>
        </p:spPr>
      </p:pic>
      <p:pic>
        <p:nvPicPr>
          <p:cNvPr id="12" name="图片 11"/>
          <p:cNvPicPr>
            <a:picLocks noChangeAspect="1"/>
          </p:cNvPicPr>
          <p:nvPr userDrawn="1"/>
        </p:nvPicPr>
        <p:blipFill>
          <a:blip r:embed="rId4"/>
          <a:stretch>
            <a:fillRect/>
          </a:stretch>
        </p:blipFill>
        <p:spPr>
          <a:xfrm>
            <a:off x="9605396" y="480917"/>
            <a:ext cx="2198272" cy="351724"/>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b="1" kern="1200">
          <a:solidFill>
            <a:schemeClr val="tx1"/>
          </a:solidFill>
          <a:latin typeface="Kaiti SC" panose="02010600040101010101" pitchFamily="2" charset="-122"/>
          <a:ea typeface="Kaiti SC" panose="02010600040101010101" pitchFamily="2" charset="-122"/>
          <a:cs typeface="+mj-cs"/>
        </a:defRPr>
      </a:lvl1pPr>
    </p:titleStyle>
    <p:bodyStyle>
      <a:lvl1pPr marL="0" indent="0" algn="l" defTabSz="914400" rtl="0" eaLnBrk="1" latinLnBrk="0" hangingPunct="1">
        <a:lnSpc>
          <a:spcPct val="150000"/>
        </a:lnSpc>
        <a:spcBef>
          <a:spcPts val="1000"/>
        </a:spcBef>
        <a:buFont typeface="Arial" panose="020B0604020202090204" pitchFamily="34" charset="0"/>
        <a:buNone/>
        <a:defRPr sz="2000" kern="1200">
          <a:solidFill>
            <a:schemeClr val="tx1"/>
          </a:solidFill>
          <a:latin typeface="KaiTi_GB2312" panose="02010609030101010101" pitchFamily="49" charset="-122"/>
          <a:ea typeface="KaiTi_GB2312" panose="02010609030101010101" pitchFamily="49"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8"/>
          <a:srcRect b="12630"/>
          <a:stretch>
            <a:fillRect/>
          </a:stretch>
        </p:blipFill>
        <p:spPr>
          <a:xfrm>
            <a:off x="0" y="5265724"/>
            <a:ext cx="12192000" cy="1592275"/>
          </a:xfrm>
          <a:prstGeom prst="rect">
            <a:avLst/>
          </a:prstGeom>
        </p:spPr>
      </p:pic>
      <p:pic>
        <p:nvPicPr>
          <p:cNvPr id="13" name="图片 12"/>
          <p:cNvPicPr>
            <a:picLocks noChangeAspect="1"/>
          </p:cNvPicPr>
          <p:nvPr userDrawn="1"/>
        </p:nvPicPr>
        <p:blipFill>
          <a:blip r:embed="rId9"/>
          <a:stretch>
            <a:fillRect/>
          </a:stretch>
        </p:blipFill>
        <p:spPr>
          <a:xfrm>
            <a:off x="0" y="0"/>
            <a:ext cx="4110087" cy="6858000"/>
          </a:xfrm>
          <a:prstGeom prst="rect">
            <a:avLst/>
          </a:prstGeom>
        </p:spPr>
      </p:pic>
      <p:sp>
        <p:nvSpPr>
          <p:cNvPr id="14" name="标题 21"/>
          <p:cNvSpPr txBox="1"/>
          <p:nvPr userDrawn="1"/>
        </p:nvSpPr>
        <p:spPr bwMode="auto">
          <a:xfrm>
            <a:off x="515073" y="1274041"/>
            <a:ext cx="3058486" cy="548255"/>
          </a:xfrm>
          <a:prstGeom prst="rect">
            <a:avLst/>
          </a:prstGeom>
        </p:spPr>
        <p:txBody>
          <a:bodyPr lIns="90000" tIns="0" rIns="90000" bIns="0" anchor="t" anchorCtr="0"/>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ctr">
              <a:defRPr/>
            </a:pPr>
            <a:r>
              <a:rPr kumimoji="1" lang="zh-CN" altLang="en-US" sz="3200" b="1" i="0" u="none" strike="noStrike" kern="0" cap="none" spc="0" normalizeH="0" baseline="0" noProof="0" dirty="0">
                <a:ln>
                  <a:noFill/>
                </a:ln>
                <a:solidFill>
                  <a:srgbClr val="000000"/>
                </a:solidFill>
                <a:effectLst/>
                <a:uLnTx/>
                <a:uFillTx/>
                <a:latin typeface="楷体_GB2312" panose="02010609030101010101" pitchFamily="49" charset="-122"/>
              </a:rPr>
              <a:t>目录</a:t>
            </a:r>
            <a:endParaRPr kumimoji="1" lang="zh-CN" altLang="en-US" sz="1800" b="0" i="0" u="none" strike="noStrike" kern="0" cap="none" spc="0" normalizeH="0" baseline="0" noProof="0" dirty="0">
              <a:ln>
                <a:noFill/>
              </a:ln>
              <a:solidFill>
                <a:schemeClr val="bg1">
                  <a:lumMod val="50000"/>
                </a:schemeClr>
              </a:solidFill>
              <a:effectLst/>
              <a:uLnTx/>
              <a:uFillTx/>
              <a:latin typeface="楷体_GB2312" panose="02010609030101010101" pitchFamily="49" charset="-122"/>
            </a:endParaRPr>
          </a:p>
        </p:txBody>
      </p:sp>
      <p:sp>
        <p:nvSpPr>
          <p:cNvPr id="16" name="标题 21"/>
          <p:cNvSpPr txBox="1"/>
          <p:nvPr userDrawn="1"/>
        </p:nvSpPr>
        <p:spPr bwMode="auto">
          <a:xfrm>
            <a:off x="515073" y="1789196"/>
            <a:ext cx="3058486" cy="297181"/>
          </a:xfrm>
          <a:prstGeom prst="rect">
            <a:avLst/>
          </a:prstGeom>
        </p:spPr>
        <p:txBody>
          <a:bodyPr lIns="90000" tIns="0" rIns="90000" bIns="0" anchor="t" anchorCtr="0"/>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ctr">
              <a:defRPr/>
            </a:pPr>
            <a:r>
              <a:rPr lang="en-US" altLang="zh-CN" sz="2000" dirty="0">
                <a:solidFill>
                  <a:srgbClr val="000000"/>
                </a:solidFill>
                <a:latin typeface="Helvetica" pitchFamily="2" charset="0"/>
              </a:rPr>
              <a:t>CONTENTS</a:t>
            </a:r>
            <a:endParaRPr kumimoji="1" lang="zh-CN" altLang="en-US" sz="1800" b="0" i="0" u="none" strike="noStrike" kern="0" cap="none" spc="0" normalizeH="0" baseline="0" noProof="0" dirty="0">
              <a:ln>
                <a:noFill/>
              </a:ln>
              <a:solidFill>
                <a:schemeClr val="bg1">
                  <a:lumMod val="50000"/>
                </a:schemeClr>
              </a:solidFill>
              <a:effectLst/>
              <a:uLnTx/>
              <a:uFillTx/>
              <a:latin typeface="Helvetica" pitchFamily="2" charset="0"/>
            </a:endParaRPr>
          </a:p>
        </p:txBody>
      </p:sp>
      <p:sp>
        <p:nvSpPr>
          <p:cNvPr id="32" name="文本占位符 31"/>
          <p:cNvSpPr>
            <a:spLocks noGrp="1"/>
          </p:cNvSpPr>
          <p:nvPr>
            <p:ph type="body" idx="1"/>
          </p:nvPr>
        </p:nvSpPr>
        <p:spPr>
          <a:xfrm>
            <a:off x="4831976" y="692728"/>
            <a:ext cx="6012487"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endParaRPr kumimoji="1" lang="zh-CN" alt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Lst>
  <p:txStyles>
    <p:titleStyle>
      <a:lvl1pPr algn="l" defTabSz="914400" rtl="0" eaLnBrk="1" latinLnBrk="0" hangingPunct="1">
        <a:lnSpc>
          <a:spcPct val="90000"/>
        </a:lnSpc>
        <a:spcBef>
          <a:spcPct val="0"/>
        </a:spcBef>
        <a:buNone/>
        <a:defRPr sz="2000" kern="1200">
          <a:solidFill>
            <a:schemeClr val="tx1"/>
          </a:solidFill>
          <a:latin typeface="KaiTi_GB2312" panose="02010609030101010101" pitchFamily="49" charset="-122"/>
          <a:ea typeface="KaiTi_GB2312" panose="02010609030101010101" pitchFamily="49" charset="-122"/>
          <a:cs typeface="+mj-cs"/>
        </a:defRPr>
      </a:lvl1pPr>
    </p:titleStyle>
    <p:bodyStyle>
      <a:lvl1pPr marL="0" indent="0" algn="l" defTabSz="914400" rtl="0" eaLnBrk="1" latinLnBrk="0" hangingPunct="1">
        <a:lnSpc>
          <a:spcPct val="150000"/>
        </a:lnSpc>
        <a:spcBef>
          <a:spcPts val="1000"/>
        </a:spcBef>
        <a:buFont typeface="Arial" panose="020B0604020202090204" pitchFamily="34" charset="0"/>
        <a:buNone/>
        <a:defRPr sz="2000" kern="1200">
          <a:solidFill>
            <a:schemeClr val="tx1"/>
          </a:solidFill>
          <a:latin typeface="KaiTi_GB2312" panose="02010609030101010101" pitchFamily="49" charset="-122"/>
          <a:ea typeface="KaiTi_GB2312" panose="02010609030101010101" pitchFamily="49"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42E20-4F3B-4452-A59E-904AF5F5918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56B93-EFB7-488D-A789-3EBFC2625F1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baseline="0">
          <a:solidFill>
            <a:schemeClr val="tx1"/>
          </a:solidFill>
          <a:latin typeface="+mn-lt"/>
          <a:ea typeface="楷体"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baseline="0">
          <a:solidFill>
            <a:schemeClr val="tx1"/>
          </a:solidFill>
          <a:latin typeface="+mn-lt"/>
          <a:ea typeface="楷体"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baseline="0">
          <a:solidFill>
            <a:schemeClr val="tx1"/>
          </a:solidFill>
          <a:latin typeface="+mn-lt"/>
          <a:ea typeface="楷体"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baseline="0">
          <a:solidFill>
            <a:schemeClr val="tx1"/>
          </a:solidFill>
          <a:latin typeface="+mn-lt"/>
          <a:ea typeface="楷体"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baseline="0">
          <a:solidFill>
            <a:schemeClr val="tx1"/>
          </a:solidFill>
          <a:latin typeface="+mn-lt"/>
          <a:ea typeface="楷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3.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3.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2" Type="http://schemas.openxmlformats.org/officeDocument/2006/relationships/notesSlide" Target="../notesSlides/notesSlide3.xml"/><Relationship Id="rId41" Type="http://schemas.openxmlformats.org/officeDocument/2006/relationships/slideLayout" Target="../slideLayouts/slideLayout12.xml"/><Relationship Id="rId40" Type="http://schemas.openxmlformats.org/officeDocument/2006/relationships/tags" Target="../tags/tag102.xml"/><Relationship Id="rId4" Type="http://schemas.openxmlformats.org/officeDocument/2006/relationships/tags" Target="../tags/tag66.xml"/><Relationship Id="rId39" Type="http://schemas.openxmlformats.org/officeDocument/2006/relationships/tags" Target="../tags/tag101.xml"/><Relationship Id="rId38" Type="http://schemas.openxmlformats.org/officeDocument/2006/relationships/tags" Target="../tags/tag100.xml"/><Relationship Id="rId37" Type="http://schemas.openxmlformats.org/officeDocument/2006/relationships/tags" Target="../tags/tag99.xml"/><Relationship Id="rId36" Type="http://schemas.openxmlformats.org/officeDocument/2006/relationships/tags" Target="../tags/tag98.xml"/><Relationship Id="rId35" Type="http://schemas.openxmlformats.org/officeDocument/2006/relationships/tags" Target="../tags/tag97.xml"/><Relationship Id="rId34" Type="http://schemas.openxmlformats.org/officeDocument/2006/relationships/tags" Target="../tags/tag96.xml"/><Relationship Id="rId33" Type="http://schemas.openxmlformats.org/officeDocument/2006/relationships/tags" Target="../tags/tag95.xml"/><Relationship Id="rId32" Type="http://schemas.openxmlformats.org/officeDocument/2006/relationships/tags" Target="../tags/tag94.xml"/><Relationship Id="rId31" Type="http://schemas.openxmlformats.org/officeDocument/2006/relationships/tags" Target="../tags/tag93.xml"/><Relationship Id="rId30" Type="http://schemas.openxmlformats.org/officeDocument/2006/relationships/tags" Target="../tags/tag92.xml"/><Relationship Id="rId3" Type="http://schemas.openxmlformats.org/officeDocument/2006/relationships/tags" Target="../tags/tag65.xml"/><Relationship Id="rId29" Type="http://schemas.openxmlformats.org/officeDocument/2006/relationships/tags" Target="../tags/tag91.xml"/><Relationship Id="rId28" Type="http://schemas.openxmlformats.org/officeDocument/2006/relationships/tags" Target="../tags/tag90.xml"/><Relationship Id="rId27" Type="http://schemas.openxmlformats.org/officeDocument/2006/relationships/tags" Target="../tags/tag89.xml"/><Relationship Id="rId26" Type="http://schemas.openxmlformats.org/officeDocument/2006/relationships/tags" Target="../tags/tag88.xml"/><Relationship Id="rId25" Type="http://schemas.openxmlformats.org/officeDocument/2006/relationships/tags" Target="../tags/tag87.xml"/><Relationship Id="rId24" Type="http://schemas.openxmlformats.org/officeDocument/2006/relationships/tags" Target="../tags/tag86.xml"/><Relationship Id="rId23" Type="http://schemas.openxmlformats.org/officeDocument/2006/relationships/tags" Target="../tags/tag85.xml"/><Relationship Id="rId22" Type="http://schemas.openxmlformats.org/officeDocument/2006/relationships/tags" Target="../tags/tag84.xml"/><Relationship Id="rId21" Type="http://schemas.openxmlformats.org/officeDocument/2006/relationships/tags" Target="../tags/tag83.xml"/><Relationship Id="rId20" Type="http://schemas.openxmlformats.org/officeDocument/2006/relationships/tags" Target="../tags/tag82.xml"/><Relationship Id="rId2" Type="http://schemas.openxmlformats.org/officeDocument/2006/relationships/tags" Target="../tags/tag64.xml"/><Relationship Id="rId19" Type="http://schemas.openxmlformats.org/officeDocument/2006/relationships/tags" Target="../tags/tag81.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7.xml.rels><?xml version="1.0" encoding="UTF-8" standalone="yes"?>
<Relationships xmlns="http://schemas.openxmlformats.org/package/2006/relationships"><Relationship Id="rId9" Type="http://schemas.openxmlformats.org/officeDocument/2006/relationships/tags" Target="../tags/tag110.xml"/><Relationship Id="rId81" Type="http://schemas.openxmlformats.org/officeDocument/2006/relationships/notesSlide" Target="../notesSlides/notesSlide4.xml"/><Relationship Id="rId80" Type="http://schemas.openxmlformats.org/officeDocument/2006/relationships/slideLayout" Target="../slideLayouts/slideLayout1.xml"/><Relationship Id="rId8" Type="http://schemas.openxmlformats.org/officeDocument/2006/relationships/tags" Target="../tags/tag109.xml"/><Relationship Id="rId79" Type="http://schemas.openxmlformats.org/officeDocument/2006/relationships/tags" Target="../tags/tag179.xml"/><Relationship Id="rId78" Type="http://schemas.openxmlformats.org/officeDocument/2006/relationships/tags" Target="../tags/tag178.xml"/><Relationship Id="rId77" Type="http://schemas.openxmlformats.org/officeDocument/2006/relationships/tags" Target="../tags/tag177.xml"/><Relationship Id="rId76" Type="http://schemas.openxmlformats.org/officeDocument/2006/relationships/image" Target="../media/image10.png"/><Relationship Id="rId75" Type="http://schemas.openxmlformats.org/officeDocument/2006/relationships/tags" Target="../tags/tag176.xml"/><Relationship Id="rId74" Type="http://schemas.openxmlformats.org/officeDocument/2006/relationships/tags" Target="../tags/tag175.xml"/><Relationship Id="rId73" Type="http://schemas.openxmlformats.org/officeDocument/2006/relationships/tags" Target="../tags/tag174.xml"/><Relationship Id="rId72" Type="http://schemas.openxmlformats.org/officeDocument/2006/relationships/tags" Target="../tags/tag173.xml"/><Relationship Id="rId71" Type="http://schemas.openxmlformats.org/officeDocument/2006/relationships/tags" Target="../tags/tag172.xml"/><Relationship Id="rId70" Type="http://schemas.openxmlformats.org/officeDocument/2006/relationships/tags" Target="../tags/tag171.xml"/><Relationship Id="rId7" Type="http://schemas.openxmlformats.org/officeDocument/2006/relationships/tags" Target="../tags/tag108.xml"/><Relationship Id="rId69" Type="http://schemas.openxmlformats.org/officeDocument/2006/relationships/tags" Target="../tags/tag170.xml"/><Relationship Id="rId68" Type="http://schemas.openxmlformats.org/officeDocument/2006/relationships/tags" Target="../tags/tag169.xml"/><Relationship Id="rId67" Type="http://schemas.openxmlformats.org/officeDocument/2006/relationships/tags" Target="../tags/tag168.xml"/><Relationship Id="rId66" Type="http://schemas.openxmlformats.org/officeDocument/2006/relationships/tags" Target="../tags/tag167.xml"/><Relationship Id="rId65" Type="http://schemas.openxmlformats.org/officeDocument/2006/relationships/tags" Target="../tags/tag166.xml"/><Relationship Id="rId64" Type="http://schemas.openxmlformats.org/officeDocument/2006/relationships/tags" Target="../tags/tag165.xml"/><Relationship Id="rId63" Type="http://schemas.openxmlformats.org/officeDocument/2006/relationships/tags" Target="../tags/tag164.xml"/><Relationship Id="rId62" Type="http://schemas.openxmlformats.org/officeDocument/2006/relationships/tags" Target="../tags/tag163.xml"/><Relationship Id="rId61" Type="http://schemas.openxmlformats.org/officeDocument/2006/relationships/tags" Target="../tags/tag162.xml"/><Relationship Id="rId60" Type="http://schemas.openxmlformats.org/officeDocument/2006/relationships/tags" Target="../tags/tag161.xml"/><Relationship Id="rId6" Type="http://schemas.openxmlformats.org/officeDocument/2006/relationships/tags" Target="../tags/tag107.xml"/><Relationship Id="rId59" Type="http://schemas.openxmlformats.org/officeDocument/2006/relationships/tags" Target="../tags/tag160.xml"/><Relationship Id="rId58" Type="http://schemas.openxmlformats.org/officeDocument/2006/relationships/tags" Target="../tags/tag159.xml"/><Relationship Id="rId57" Type="http://schemas.openxmlformats.org/officeDocument/2006/relationships/tags" Target="../tags/tag158.xml"/><Relationship Id="rId56" Type="http://schemas.openxmlformats.org/officeDocument/2006/relationships/tags" Target="../tags/tag157.xml"/><Relationship Id="rId55" Type="http://schemas.openxmlformats.org/officeDocument/2006/relationships/tags" Target="../tags/tag156.xml"/><Relationship Id="rId54" Type="http://schemas.openxmlformats.org/officeDocument/2006/relationships/tags" Target="../tags/tag155.xml"/><Relationship Id="rId53" Type="http://schemas.openxmlformats.org/officeDocument/2006/relationships/tags" Target="../tags/tag154.xml"/><Relationship Id="rId52" Type="http://schemas.openxmlformats.org/officeDocument/2006/relationships/tags" Target="../tags/tag153.xml"/><Relationship Id="rId51" Type="http://schemas.openxmlformats.org/officeDocument/2006/relationships/tags" Target="../tags/tag152.xml"/><Relationship Id="rId50" Type="http://schemas.openxmlformats.org/officeDocument/2006/relationships/tags" Target="../tags/tag151.xml"/><Relationship Id="rId5" Type="http://schemas.openxmlformats.org/officeDocument/2006/relationships/tags" Target="../tags/tag106.xml"/><Relationship Id="rId49" Type="http://schemas.openxmlformats.org/officeDocument/2006/relationships/tags" Target="../tags/tag150.xml"/><Relationship Id="rId48" Type="http://schemas.openxmlformats.org/officeDocument/2006/relationships/tags" Target="../tags/tag149.xml"/><Relationship Id="rId47" Type="http://schemas.openxmlformats.org/officeDocument/2006/relationships/tags" Target="../tags/tag148.xml"/><Relationship Id="rId46" Type="http://schemas.openxmlformats.org/officeDocument/2006/relationships/tags" Target="../tags/tag147.xml"/><Relationship Id="rId45" Type="http://schemas.openxmlformats.org/officeDocument/2006/relationships/tags" Target="../tags/tag146.xml"/><Relationship Id="rId44" Type="http://schemas.openxmlformats.org/officeDocument/2006/relationships/tags" Target="../tags/tag145.xml"/><Relationship Id="rId43" Type="http://schemas.openxmlformats.org/officeDocument/2006/relationships/tags" Target="../tags/tag144.xml"/><Relationship Id="rId42" Type="http://schemas.openxmlformats.org/officeDocument/2006/relationships/tags" Target="../tags/tag143.xml"/><Relationship Id="rId41" Type="http://schemas.openxmlformats.org/officeDocument/2006/relationships/tags" Target="../tags/tag142.xml"/><Relationship Id="rId40" Type="http://schemas.openxmlformats.org/officeDocument/2006/relationships/tags" Target="../tags/tag141.xml"/><Relationship Id="rId4" Type="http://schemas.openxmlformats.org/officeDocument/2006/relationships/tags" Target="../tags/tag105.xml"/><Relationship Id="rId39" Type="http://schemas.openxmlformats.org/officeDocument/2006/relationships/tags" Target="../tags/tag140.xml"/><Relationship Id="rId38" Type="http://schemas.openxmlformats.org/officeDocument/2006/relationships/tags" Target="../tags/tag139.xml"/><Relationship Id="rId37" Type="http://schemas.openxmlformats.org/officeDocument/2006/relationships/tags" Target="../tags/tag138.xml"/><Relationship Id="rId36" Type="http://schemas.openxmlformats.org/officeDocument/2006/relationships/tags" Target="../tags/tag137.xml"/><Relationship Id="rId35" Type="http://schemas.openxmlformats.org/officeDocument/2006/relationships/tags" Target="../tags/tag136.xml"/><Relationship Id="rId34" Type="http://schemas.openxmlformats.org/officeDocument/2006/relationships/tags" Target="../tags/tag135.xml"/><Relationship Id="rId33" Type="http://schemas.openxmlformats.org/officeDocument/2006/relationships/tags" Target="../tags/tag134.xml"/><Relationship Id="rId32" Type="http://schemas.openxmlformats.org/officeDocument/2006/relationships/tags" Target="../tags/tag133.xml"/><Relationship Id="rId31" Type="http://schemas.openxmlformats.org/officeDocument/2006/relationships/tags" Target="../tags/tag132.xml"/><Relationship Id="rId30" Type="http://schemas.openxmlformats.org/officeDocument/2006/relationships/tags" Target="../tags/tag131.xml"/><Relationship Id="rId3" Type="http://schemas.openxmlformats.org/officeDocument/2006/relationships/tags" Target="../tags/tag104.xml"/><Relationship Id="rId29" Type="http://schemas.openxmlformats.org/officeDocument/2006/relationships/tags" Target="../tags/tag130.xml"/><Relationship Id="rId28" Type="http://schemas.openxmlformats.org/officeDocument/2006/relationships/tags" Target="../tags/tag129.xml"/><Relationship Id="rId27" Type="http://schemas.openxmlformats.org/officeDocument/2006/relationships/tags" Target="../tags/tag128.xml"/><Relationship Id="rId26" Type="http://schemas.openxmlformats.org/officeDocument/2006/relationships/tags" Target="../tags/tag127.xml"/><Relationship Id="rId25" Type="http://schemas.openxmlformats.org/officeDocument/2006/relationships/tags" Target="../tags/tag126.xml"/><Relationship Id="rId24" Type="http://schemas.openxmlformats.org/officeDocument/2006/relationships/tags" Target="../tags/tag125.xml"/><Relationship Id="rId23" Type="http://schemas.openxmlformats.org/officeDocument/2006/relationships/tags" Target="../tags/tag124.xml"/><Relationship Id="rId22" Type="http://schemas.openxmlformats.org/officeDocument/2006/relationships/tags" Target="../tags/tag123.xml"/><Relationship Id="rId21" Type="http://schemas.openxmlformats.org/officeDocument/2006/relationships/tags" Target="../tags/tag122.xml"/><Relationship Id="rId20" Type="http://schemas.openxmlformats.org/officeDocument/2006/relationships/tags" Target="../tags/tag121.xml"/><Relationship Id="rId2" Type="http://schemas.openxmlformats.org/officeDocument/2006/relationships/tags" Target="../tags/tag103.xml"/><Relationship Id="rId19" Type="http://schemas.openxmlformats.org/officeDocument/2006/relationships/tags" Target="../tags/tag120.xml"/><Relationship Id="rId18" Type="http://schemas.openxmlformats.org/officeDocument/2006/relationships/tags" Target="../tags/tag119.xml"/><Relationship Id="rId17" Type="http://schemas.openxmlformats.org/officeDocument/2006/relationships/tags" Target="../tags/tag118.xml"/><Relationship Id="rId16" Type="http://schemas.openxmlformats.org/officeDocument/2006/relationships/tags" Target="../tags/tag117.xml"/><Relationship Id="rId15" Type="http://schemas.openxmlformats.org/officeDocument/2006/relationships/tags" Target="../tags/tag116.xml"/><Relationship Id="rId14" Type="http://schemas.openxmlformats.org/officeDocument/2006/relationships/tags" Target="../tags/tag115.xml"/><Relationship Id="rId13" Type="http://schemas.openxmlformats.org/officeDocument/2006/relationships/tags" Target="../tags/tag114.xml"/><Relationship Id="rId12" Type="http://schemas.openxmlformats.org/officeDocument/2006/relationships/tags" Target="../tags/tag113.xml"/><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image" Target="../media/image11.png"/><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6" Type="http://schemas.openxmlformats.org/officeDocument/2006/relationships/notesSlide" Target="../notesSlides/notesSlide5.xml"/><Relationship Id="rId35" Type="http://schemas.openxmlformats.org/officeDocument/2006/relationships/slideLayout" Target="../slideLayouts/slideLayout1.xml"/><Relationship Id="rId34" Type="http://schemas.openxmlformats.org/officeDocument/2006/relationships/tags" Target="../tags/tag209.xml"/><Relationship Id="rId33" Type="http://schemas.openxmlformats.org/officeDocument/2006/relationships/tags" Target="../tags/tag208.xml"/><Relationship Id="rId32" Type="http://schemas.openxmlformats.org/officeDocument/2006/relationships/tags" Target="../tags/tag207.xml"/><Relationship Id="rId31" Type="http://schemas.openxmlformats.org/officeDocument/2006/relationships/tags" Target="../tags/tag206.xml"/><Relationship Id="rId30" Type="http://schemas.openxmlformats.org/officeDocument/2006/relationships/tags" Target="../tags/tag205.xml"/><Relationship Id="rId3" Type="http://schemas.openxmlformats.org/officeDocument/2006/relationships/tags" Target="../tags/tag181.xml"/><Relationship Id="rId29" Type="http://schemas.openxmlformats.org/officeDocument/2006/relationships/tags" Target="../tags/tag204.xml"/><Relationship Id="rId28" Type="http://schemas.openxmlformats.org/officeDocument/2006/relationships/tags" Target="../tags/tag203.xml"/><Relationship Id="rId27" Type="http://schemas.openxmlformats.org/officeDocument/2006/relationships/tags" Target="../tags/tag202.xml"/><Relationship Id="rId26" Type="http://schemas.openxmlformats.org/officeDocument/2006/relationships/tags" Target="../tags/tag201.xml"/><Relationship Id="rId25" Type="http://schemas.openxmlformats.org/officeDocument/2006/relationships/tags" Target="../tags/tag200.xml"/><Relationship Id="rId24" Type="http://schemas.openxmlformats.org/officeDocument/2006/relationships/tags" Target="../tags/tag199.xml"/><Relationship Id="rId23" Type="http://schemas.openxmlformats.org/officeDocument/2006/relationships/tags" Target="../tags/tag198.xml"/><Relationship Id="rId22" Type="http://schemas.openxmlformats.org/officeDocument/2006/relationships/tags" Target="../tags/tag197.xml"/><Relationship Id="rId21" Type="http://schemas.openxmlformats.org/officeDocument/2006/relationships/tags" Target="../tags/tag196.xml"/><Relationship Id="rId20" Type="http://schemas.openxmlformats.org/officeDocument/2006/relationships/tags" Target="../tags/tag195.xml"/><Relationship Id="rId2" Type="http://schemas.openxmlformats.org/officeDocument/2006/relationships/tags" Target="../tags/tag180.xml"/><Relationship Id="rId19" Type="http://schemas.openxmlformats.org/officeDocument/2006/relationships/image" Target="../media/image13.png"/><Relationship Id="rId18" Type="http://schemas.openxmlformats.org/officeDocument/2006/relationships/tags" Target="../tags/tag194.xml"/><Relationship Id="rId17" Type="http://schemas.openxmlformats.org/officeDocument/2006/relationships/tags" Target="../tags/tag193.xml"/><Relationship Id="rId16" Type="http://schemas.openxmlformats.org/officeDocument/2006/relationships/tags" Target="../tags/tag192.xml"/><Relationship Id="rId15" Type="http://schemas.openxmlformats.org/officeDocument/2006/relationships/tags" Target="../tags/tag191.xml"/><Relationship Id="rId14" Type="http://schemas.openxmlformats.org/officeDocument/2006/relationships/tags" Target="../tags/tag190.xml"/><Relationship Id="rId13" Type="http://schemas.openxmlformats.org/officeDocument/2006/relationships/image" Target="../media/image12.png"/><Relationship Id="rId12" Type="http://schemas.openxmlformats.org/officeDocument/2006/relationships/tags" Target="../tags/tag189.xml"/><Relationship Id="rId11" Type="http://schemas.openxmlformats.org/officeDocument/2006/relationships/tags" Target="../tags/tag188.xml"/><Relationship Id="rId10" Type="http://schemas.openxmlformats.org/officeDocument/2006/relationships/tags" Target="../tags/tag187.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5" Type="http://schemas.openxmlformats.org/officeDocument/2006/relationships/notesSlide" Target="../notesSlides/notesSlide6.xml"/><Relationship Id="rId34" Type="http://schemas.openxmlformats.org/officeDocument/2006/relationships/slideLayout" Target="../slideLayouts/slideLayout12.xml"/><Relationship Id="rId33" Type="http://schemas.openxmlformats.org/officeDocument/2006/relationships/image" Target="../media/image14.png"/><Relationship Id="rId32" Type="http://schemas.openxmlformats.org/officeDocument/2006/relationships/tags" Target="../tags/tag241.xml"/><Relationship Id="rId31" Type="http://schemas.openxmlformats.org/officeDocument/2006/relationships/tags" Target="../tags/tag240.xml"/><Relationship Id="rId30" Type="http://schemas.openxmlformats.org/officeDocument/2006/relationships/tags" Target="../tags/tag239.xml"/><Relationship Id="rId3" Type="http://schemas.openxmlformats.org/officeDocument/2006/relationships/tags" Target="../tags/tag212.xml"/><Relationship Id="rId29" Type="http://schemas.openxmlformats.org/officeDocument/2006/relationships/tags" Target="../tags/tag238.xml"/><Relationship Id="rId28" Type="http://schemas.openxmlformats.org/officeDocument/2006/relationships/tags" Target="../tags/tag237.xml"/><Relationship Id="rId27" Type="http://schemas.openxmlformats.org/officeDocument/2006/relationships/tags" Target="../tags/tag236.xml"/><Relationship Id="rId26" Type="http://schemas.openxmlformats.org/officeDocument/2006/relationships/tags" Target="../tags/tag235.xml"/><Relationship Id="rId25" Type="http://schemas.openxmlformats.org/officeDocument/2006/relationships/tags" Target="../tags/tag234.xml"/><Relationship Id="rId24" Type="http://schemas.openxmlformats.org/officeDocument/2006/relationships/tags" Target="../tags/tag233.xml"/><Relationship Id="rId23" Type="http://schemas.openxmlformats.org/officeDocument/2006/relationships/tags" Target="../tags/tag232.xml"/><Relationship Id="rId22" Type="http://schemas.openxmlformats.org/officeDocument/2006/relationships/tags" Target="../tags/tag231.xml"/><Relationship Id="rId21" Type="http://schemas.openxmlformats.org/officeDocument/2006/relationships/tags" Target="../tags/tag230.xml"/><Relationship Id="rId20" Type="http://schemas.openxmlformats.org/officeDocument/2006/relationships/tags" Target="../tags/tag229.xml"/><Relationship Id="rId2" Type="http://schemas.openxmlformats.org/officeDocument/2006/relationships/tags" Target="../tags/tag211.xml"/><Relationship Id="rId19" Type="http://schemas.openxmlformats.org/officeDocument/2006/relationships/tags" Target="../tags/tag228.xml"/><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0.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243.xml"/><Relationship Id="rId1" Type="http://schemas.openxmlformats.org/officeDocument/2006/relationships/tags" Target="../tags/tag24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3.xml"/><Relationship Id="rId2" Type="http://schemas.openxmlformats.org/officeDocument/2006/relationships/image" Target="../media/image16.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3.xml"/><Relationship Id="rId1" Type="http://schemas.openxmlformats.org/officeDocument/2006/relationships/image" Target="../media/image18.png"/></Relationships>
</file>

<file path=ppt/slides/_rels/slide15.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tags" Target="../tags/tag250.xml"/><Relationship Id="rId7" Type="http://schemas.openxmlformats.org/officeDocument/2006/relationships/tags" Target="../tags/tag249.xml"/><Relationship Id="rId6" Type="http://schemas.openxmlformats.org/officeDocument/2006/relationships/tags" Target="../tags/tag248.xml"/><Relationship Id="rId54" Type="http://schemas.openxmlformats.org/officeDocument/2006/relationships/notesSlide" Target="../notesSlides/notesSlide11.xml"/><Relationship Id="rId53" Type="http://schemas.openxmlformats.org/officeDocument/2006/relationships/slideLayout" Target="../slideLayouts/slideLayout1.xml"/><Relationship Id="rId52" Type="http://schemas.openxmlformats.org/officeDocument/2006/relationships/tags" Target="../tags/tag287.xml"/><Relationship Id="rId51" Type="http://schemas.openxmlformats.org/officeDocument/2006/relationships/tags" Target="../tags/tag286.xml"/><Relationship Id="rId50" Type="http://schemas.openxmlformats.org/officeDocument/2006/relationships/tags" Target="../tags/tag285.xml"/><Relationship Id="rId5" Type="http://schemas.openxmlformats.org/officeDocument/2006/relationships/tags" Target="../tags/tag247.xml"/><Relationship Id="rId49" Type="http://schemas.openxmlformats.org/officeDocument/2006/relationships/tags" Target="../tags/tag284.xml"/><Relationship Id="rId48" Type="http://schemas.openxmlformats.org/officeDocument/2006/relationships/tags" Target="../tags/tag283.xml"/><Relationship Id="rId47" Type="http://schemas.openxmlformats.org/officeDocument/2006/relationships/tags" Target="../tags/tag282.xml"/><Relationship Id="rId46" Type="http://schemas.openxmlformats.org/officeDocument/2006/relationships/tags" Target="../tags/tag281.xml"/><Relationship Id="rId45" Type="http://schemas.openxmlformats.org/officeDocument/2006/relationships/image" Target="../media/image25.GIF"/><Relationship Id="rId44" Type="http://schemas.openxmlformats.org/officeDocument/2006/relationships/tags" Target="../tags/tag280.xml"/><Relationship Id="rId43" Type="http://schemas.openxmlformats.org/officeDocument/2006/relationships/image" Target="../media/image24.png"/><Relationship Id="rId42" Type="http://schemas.openxmlformats.org/officeDocument/2006/relationships/tags" Target="../tags/tag279.xml"/><Relationship Id="rId41" Type="http://schemas.openxmlformats.org/officeDocument/2006/relationships/tags" Target="../tags/tag278.xml"/><Relationship Id="rId40" Type="http://schemas.openxmlformats.org/officeDocument/2006/relationships/tags" Target="../tags/tag277.xml"/><Relationship Id="rId4" Type="http://schemas.openxmlformats.org/officeDocument/2006/relationships/tags" Target="../tags/tag246.xml"/><Relationship Id="rId39" Type="http://schemas.openxmlformats.org/officeDocument/2006/relationships/image" Target="../media/image23.png"/><Relationship Id="rId38" Type="http://schemas.openxmlformats.org/officeDocument/2006/relationships/tags" Target="../tags/tag276.xml"/><Relationship Id="rId37" Type="http://schemas.openxmlformats.org/officeDocument/2006/relationships/tags" Target="../tags/tag275.xml"/><Relationship Id="rId36" Type="http://schemas.openxmlformats.org/officeDocument/2006/relationships/tags" Target="../tags/tag274.xml"/><Relationship Id="rId35" Type="http://schemas.openxmlformats.org/officeDocument/2006/relationships/tags" Target="../tags/tag273.xml"/><Relationship Id="rId34" Type="http://schemas.openxmlformats.org/officeDocument/2006/relationships/tags" Target="../tags/tag272.xml"/><Relationship Id="rId33" Type="http://schemas.openxmlformats.org/officeDocument/2006/relationships/tags" Target="../tags/tag271.xml"/><Relationship Id="rId32" Type="http://schemas.openxmlformats.org/officeDocument/2006/relationships/tags" Target="../tags/tag270.xml"/><Relationship Id="rId31" Type="http://schemas.openxmlformats.org/officeDocument/2006/relationships/tags" Target="../tags/tag269.xml"/><Relationship Id="rId30" Type="http://schemas.openxmlformats.org/officeDocument/2006/relationships/image" Target="../media/image22.png"/><Relationship Id="rId3" Type="http://schemas.openxmlformats.org/officeDocument/2006/relationships/tags" Target="../tags/tag245.xml"/><Relationship Id="rId29" Type="http://schemas.openxmlformats.org/officeDocument/2006/relationships/tags" Target="../tags/tag268.xml"/><Relationship Id="rId28" Type="http://schemas.openxmlformats.org/officeDocument/2006/relationships/image" Target="../media/image21.png"/><Relationship Id="rId27" Type="http://schemas.openxmlformats.org/officeDocument/2006/relationships/tags" Target="../tags/tag267.xml"/><Relationship Id="rId26" Type="http://schemas.openxmlformats.org/officeDocument/2006/relationships/tags" Target="../tags/tag266.xml"/><Relationship Id="rId25" Type="http://schemas.openxmlformats.org/officeDocument/2006/relationships/tags" Target="../tags/tag265.xml"/><Relationship Id="rId24" Type="http://schemas.openxmlformats.org/officeDocument/2006/relationships/tags" Target="../tags/tag264.xml"/><Relationship Id="rId23" Type="http://schemas.openxmlformats.org/officeDocument/2006/relationships/tags" Target="../tags/tag263.xml"/><Relationship Id="rId22" Type="http://schemas.openxmlformats.org/officeDocument/2006/relationships/tags" Target="../tags/tag262.xml"/><Relationship Id="rId21" Type="http://schemas.openxmlformats.org/officeDocument/2006/relationships/tags" Target="../tags/tag261.xml"/><Relationship Id="rId20" Type="http://schemas.openxmlformats.org/officeDocument/2006/relationships/tags" Target="../tags/tag260.xml"/><Relationship Id="rId2" Type="http://schemas.openxmlformats.org/officeDocument/2006/relationships/tags" Target="../tags/tag244.xml"/><Relationship Id="rId19" Type="http://schemas.openxmlformats.org/officeDocument/2006/relationships/tags" Target="../tags/tag259.xml"/><Relationship Id="rId18" Type="http://schemas.openxmlformats.org/officeDocument/2006/relationships/tags" Target="../tags/tag258.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microsoft.com/office/2007/relationships/hdphoto" Target="../media/image20.wdp"/><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6.xml"/><Relationship Id="rId1" Type="http://schemas.openxmlformats.org/officeDocument/2006/relationships/tags" Target="../tags/tag28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svg"/><Relationship Id="rId7"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svg"/><Relationship Id="rId12" Type="http://schemas.openxmlformats.org/officeDocument/2006/relationships/notesSlide" Target="../notesSlides/notesSlide13.xml"/><Relationship Id="rId11" Type="http://schemas.openxmlformats.org/officeDocument/2006/relationships/slideLayout" Target="../slideLayouts/slideLayout12.xml"/><Relationship Id="rId10" Type="http://schemas.openxmlformats.org/officeDocument/2006/relationships/image" Target="../media/image35.svg"/><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tags" Target="../tags/tag294.xml"/><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1" Type="http://schemas.openxmlformats.org/officeDocument/2006/relationships/notesSlide" Target="../notesSlides/notesSlide14.xml"/><Relationship Id="rId20" Type="http://schemas.openxmlformats.org/officeDocument/2006/relationships/slideLayout" Target="../slideLayouts/slideLayout12.xml"/><Relationship Id="rId2" Type="http://schemas.openxmlformats.org/officeDocument/2006/relationships/tags" Target="../tags/tag290.xml"/><Relationship Id="rId19" Type="http://schemas.openxmlformats.org/officeDocument/2006/relationships/tags" Target="../tags/tag307.xml"/><Relationship Id="rId18" Type="http://schemas.openxmlformats.org/officeDocument/2006/relationships/tags" Target="../tags/tag306.xml"/><Relationship Id="rId17" Type="http://schemas.openxmlformats.org/officeDocument/2006/relationships/tags" Target="../tags/tag305.xml"/><Relationship Id="rId16" Type="http://schemas.openxmlformats.org/officeDocument/2006/relationships/tags" Target="../tags/tag304.xml"/><Relationship Id="rId15" Type="http://schemas.openxmlformats.org/officeDocument/2006/relationships/tags" Target="../tags/tag303.xml"/><Relationship Id="rId14" Type="http://schemas.openxmlformats.org/officeDocument/2006/relationships/tags" Target="../tags/tag302.xml"/><Relationship Id="rId13" Type="http://schemas.openxmlformats.org/officeDocument/2006/relationships/tags" Target="../tags/tag301.xml"/><Relationship Id="rId12" Type="http://schemas.openxmlformats.org/officeDocument/2006/relationships/tags" Target="../tags/tag300.xml"/><Relationship Id="rId11" Type="http://schemas.openxmlformats.org/officeDocument/2006/relationships/tags" Target="../tags/tag299.xml"/><Relationship Id="rId10" Type="http://schemas.openxmlformats.org/officeDocument/2006/relationships/tags" Target="../tags/tag298.xml"/><Relationship Id="rId1" Type="http://schemas.openxmlformats.org/officeDocument/2006/relationships/tags" Target="../tags/tag28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9" Type="http://schemas.openxmlformats.org/officeDocument/2006/relationships/tags" Target="../tags/tag316.xml"/><Relationship Id="rId8" Type="http://schemas.openxmlformats.org/officeDocument/2006/relationships/tags" Target="../tags/tag315.xml"/><Relationship Id="rId7" Type="http://schemas.openxmlformats.org/officeDocument/2006/relationships/tags" Target="../tags/tag314.xml"/><Relationship Id="rId6" Type="http://schemas.openxmlformats.org/officeDocument/2006/relationships/tags" Target="../tags/tag313.xml"/><Relationship Id="rId5" Type="http://schemas.openxmlformats.org/officeDocument/2006/relationships/tags" Target="../tags/tag31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1" Type="http://schemas.openxmlformats.org/officeDocument/2006/relationships/notesSlide" Target="../notesSlides/notesSlide16.xml"/><Relationship Id="rId10" Type="http://schemas.openxmlformats.org/officeDocument/2006/relationships/slideLayout" Target="../slideLayouts/slideLayout12.xml"/><Relationship Id="rId1" Type="http://schemas.openxmlformats.org/officeDocument/2006/relationships/tags" Target="../tags/tag30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2.xml"/><Relationship Id="rId2" Type="http://schemas.openxmlformats.org/officeDocument/2006/relationships/image" Target="../media/image37.svg"/><Relationship Id="rId1"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17.xml"/></Relationships>
</file>

<file path=ppt/slides/_rels/slide29.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vmlDrawing" Target="../drawings/vmlDrawing1.vml"/><Relationship Id="rId7"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package" Target="../embeddings/Workbook1.xlsx"/><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tags" Target="../tags/tag318.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0.png"/><Relationship Id="rId1" Type="http://schemas.openxmlformats.org/officeDocument/2006/relationships/image" Target="../media/image39.png"/></Relationships>
</file>

<file path=ppt/slides/_rels/slide31.xml.rels><?xml version="1.0" encoding="UTF-8" standalone="yes"?>
<Relationships xmlns="http://schemas.openxmlformats.org/package/2006/relationships"><Relationship Id="rId9" Type="http://schemas.openxmlformats.org/officeDocument/2006/relationships/tags" Target="../tags/tag330.xml"/><Relationship Id="rId8" Type="http://schemas.openxmlformats.org/officeDocument/2006/relationships/tags" Target="../tags/tag329.xml"/><Relationship Id="rId7" Type="http://schemas.openxmlformats.org/officeDocument/2006/relationships/tags" Target="../tags/tag328.xml"/><Relationship Id="rId6" Type="http://schemas.openxmlformats.org/officeDocument/2006/relationships/tags" Target="../tags/tag327.xml"/><Relationship Id="rId5" Type="http://schemas.openxmlformats.org/officeDocument/2006/relationships/tags" Target="../tags/tag326.xml"/><Relationship Id="rId4" Type="http://schemas.openxmlformats.org/officeDocument/2006/relationships/tags" Target="../tags/tag325.xml"/><Relationship Id="rId3" Type="http://schemas.openxmlformats.org/officeDocument/2006/relationships/tags" Target="../tags/tag324.xml"/><Relationship Id="rId2" Type="http://schemas.openxmlformats.org/officeDocument/2006/relationships/tags" Target="../tags/tag323.xml"/><Relationship Id="rId16" Type="http://schemas.openxmlformats.org/officeDocument/2006/relationships/slideLayout" Target="../slideLayouts/slideLayout12.xml"/><Relationship Id="rId15" Type="http://schemas.openxmlformats.org/officeDocument/2006/relationships/tags" Target="../tags/tag336.xml"/><Relationship Id="rId14" Type="http://schemas.openxmlformats.org/officeDocument/2006/relationships/tags" Target="../tags/tag335.xml"/><Relationship Id="rId13" Type="http://schemas.openxmlformats.org/officeDocument/2006/relationships/tags" Target="../tags/tag334.xml"/><Relationship Id="rId12" Type="http://schemas.openxmlformats.org/officeDocument/2006/relationships/tags" Target="../tags/tag333.xml"/><Relationship Id="rId11" Type="http://schemas.openxmlformats.org/officeDocument/2006/relationships/tags" Target="../tags/tag332.xml"/><Relationship Id="rId10" Type="http://schemas.openxmlformats.org/officeDocument/2006/relationships/tags" Target="../tags/tag331.xml"/><Relationship Id="rId1" Type="http://schemas.openxmlformats.org/officeDocument/2006/relationships/tags" Target="../tags/tag3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9" Type="http://schemas.openxmlformats.org/officeDocument/2006/relationships/tags" Target="../tags/tag345.xml"/><Relationship Id="rId8" Type="http://schemas.openxmlformats.org/officeDocument/2006/relationships/tags" Target="../tags/tag344.xml"/><Relationship Id="rId7" Type="http://schemas.openxmlformats.org/officeDocument/2006/relationships/tags" Target="../tags/tag343.xml"/><Relationship Id="rId6" Type="http://schemas.openxmlformats.org/officeDocument/2006/relationships/tags" Target="../tags/tag342.xml"/><Relationship Id="rId5" Type="http://schemas.openxmlformats.org/officeDocument/2006/relationships/tags" Target="../tags/tag341.xml"/><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6" Type="http://schemas.openxmlformats.org/officeDocument/2006/relationships/slideLayout" Target="../slideLayouts/slideLayout12.xml"/><Relationship Id="rId15" Type="http://schemas.openxmlformats.org/officeDocument/2006/relationships/tags" Target="../tags/tag351.xml"/><Relationship Id="rId14" Type="http://schemas.openxmlformats.org/officeDocument/2006/relationships/tags" Target="../tags/tag350.xml"/><Relationship Id="rId13" Type="http://schemas.openxmlformats.org/officeDocument/2006/relationships/tags" Target="../tags/tag349.xml"/><Relationship Id="rId12" Type="http://schemas.openxmlformats.org/officeDocument/2006/relationships/tags" Target="../tags/tag348.xml"/><Relationship Id="rId11" Type="http://schemas.openxmlformats.org/officeDocument/2006/relationships/tags" Target="../tags/tag347.xml"/><Relationship Id="rId10" Type="http://schemas.openxmlformats.org/officeDocument/2006/relationships/tags" Target="../tags/tag346.xml"/><Relationship Id="rId1" Type="http://schemas.openxmlformats.org/officeDocument/2006/relationships/tags" Target="../tags/tag33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52.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tags" Target="../tags/tag353.xml"/></Relationships>
</file>

<file path=ppt/slides/_rels/slide37.xml.rels><?xml version="1.0" encoding="UTF-8" standalone="yes"?>
<Relationships xmlns="http://schemas.openxmlformats.org/package/2006/relationships"><Relationship Id="rId9" Type="http://schemas.openxmlformats.org/officeDocument/2006/relationships/tags" Target="../tags/tag365.xml"/><Relationship Id="rId8" Type="http://schemas.openxmlformats.org/officeDocument/2006/relationships/tags" Target="../tags/tag364.xml"/><Relationship Id="rId7" Type="http://schemas.openxmlformats.org/officeDocument/2006/relationships/tags" Target="../tags/tag363.xml"/><Relationship Id="rId6" Type="http://schemas.openxmlformats.org/officeDocument/2006/relationships/tags" Target="../tags/tag362.xml"/><Relationship Id="rId5" Type="http://schemas.openxmlformats.org/officeDocument/2006/relationships/tags" Target="../tags/tag361.xml"/><Relationship Id="rId4" Type="http://schemas.openxmlformats.org/officeDocument/2006/relationships/tags" Target="../tags/tag360.xml"/><Relationship Id="rId3" Type="http://schemas.openxmlformats.org/officeDocument/2006/relationships/tags" Target="../tags/tag359.xml"/><Relationship Id="rId2" Type="http://schemas.openxmlformats.org/officeDocument/2006/relationships/tags" Target="../tags/tag358.xml"/><Relationship Id="rId13" Type="http://schemas.openxmlformats.org/officeDocument/2006/relationships/slideLayout" Target="../slideLayouts/slideLayout12.xml"/><Relationship Id="rId12" Type="http://schemas.openxmlformats.org/officeDocument/2006/relationships/tags" Target="../tags/tag368.xml"/><Relationship Id="rId11" Type="http://schemas.openxmlformats.org/officeDocument/2006/relationships/tags" Target="../tags/tag367.xml"/><Relationship Id="rId10" Type="http://schemas.openxmlformats.org/officeDocument/2006/relationships/tags" Target="../tags/tag366.xml"/><Relationship Id="rId1" Type="http://schemas.openxmlformats.org/officeDocument/2006/relationships/tags" Target="../tags/tag357.xml"/></Relationships>
</file>

<file path=ppt/slides/_rels/slide38.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tags" Target="../tags/tag376.xml"/><Relationship Id="rId7" Type="http://schemas.openxmlformats.org/officeDocument/2006/relationships/tags" Target="../tags/tag375.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3" Type="http://schemas.openxmlformats.org/officeDocument/2006/relationships/slideLayout" Target="../slideLayouts/slideLayout12.xml"/><Relationship Id="rId12" Type="http://schemas.openxmlformats.org/officeDocument/2006/relationships/tags" Target="../tags/tag378.xml"/><Relationship Id="rId11" Type="http://schemas.openxmlformats.org/officeDocument/2006/relationships/tags" Target="../tags/tag377.xml"/><Relationship Id="rId10" Type="http://schemas.openxmlformats.org/officeDocument/2006/relationships/image" Target="../media/image44.png"/><Relationship Id="rId1" Type="http://schemas.openxmlformats.org/officeDocument/2006/relationships/tags" Target="../tags/tag369.xml"/></Relationships>
</file>

<file path=ppt/slides/_rels/slide39.xml.rels><?xml version="1.0" encoding="UTF-8" standalone="yes"?>
<Relationships xmlns="http://schemas.openxmlformats.org/package/2006/relationships"><Relationship Id="rId9" Type="http://schemas.openxmlformats.org/officeDocument/2006/relationships/tags" Target="../tags/tag387.xml"/><Relationship Id="rId8" Type="http://schemas.openxmlformats.org/officeDocument/2006/relationships/tags" Target="../tags/tag386.xml"/><Relationship Id="rId7" Type="http://schemas.openxmlformats.org/officeDocument/2006/relationships/tags" Target="../tags/tag385.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tags" Target="../tags/tag380.xml"/><Relationship Id="rId17" Type="http://schemas.openxmlformats.org/officeDocument/2006/relationships/notesSlide" Target="../notesSlides/notesSlide22.xml"/><Relationship Id="rId16" Type="http://schemas.openxmlformats.org/officeDocument/2006/relationships/slideLayout" Target="../slideLayouts/slideLayout12.xml"/><Relationship Id="rId15" Type="http://schemas.openxmlformats.org/officeDocument/2006/relationships/tags" Target="../tags/tag393.xml"/><Relationship Id="rId14" Type="http://schemas.openxmlformats.org/officeDocument/2006/relationships/tags" Target="../tags/tag392.xml"/><Relationship Id="rId13" Type="http://schemas.openxmlformats.org/officeDocument/2006/relationships/tags" Target="../tags/tag391.xml"/><Relationship Id="rId12" Type="http://schemas.openxmlformats.org/officeDocument/2006/relationships/tags" Target="../tags/tag390.xml"/><Relationship Id="rId11" Type="http://schemas.openxmlformats.org/officeDocument/2006/relationships/tags" Target="../tags/tag389.xml"/><Relationship Id="rId10" Type="http://schemas.openxmlformats.org/officeDocument/2006/relationships/tags" Target="../tags/tag388.xml"/><Relationship Id="rId1" Type="http://schemas.openxmlformats.org/officeDocument/2006/relationships/tags" Target="../tags/tag379.xml"/></Relationships>
</file>

<file path=ppt/slides/_rels/slide40.xml.rels><?xml version="1.0" encoding="UTF-8" standalone="yes"?>
<Relationships xmlns="http://schemas.openxmlformats.org/package/2006/relationships"><Relationship Id="rId9" Type="http://schemas.openxmlformats.org/officeDocument/2006/relationships/tags" Target="../tags/tag396.xml"/><Relationship Id="rId8" Type="http://schemas.openxmlformats.org/officeDocument/2006/relationships/tags" Target="../tags/tag395.xml"/><Relationship Id="rId7" Type="http://schemas.openxmlformats.org/officeDocument/2006/relationships/tags" Target="../tags/tag394.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 Id="rId3" Type="http://schemas.openxmlformats.org/officeDocument/2006/relationships/image" Target="../media/image47.png"/><Relationship Id="rId2" Type="http://schemas.openxmlformats.org/officeDocument/2006/relationships/image" Target="../media/image46.svg"/><Relationship Id="rId13" Type="http://schemas.openxmlformats.org/officeDocument/2006/relationships/notesSlide" Target="../notesSlides/notesSlide23.xml"/><Relationship Id="rId12" Type="http://schemas.openxmlformats.org/officeDocument/2006/relationships/slideLayout" Target="../slideLayouts/slideLayout12.xml"/><Relationship Id="rId11" Type="http://schemas.openxmlformats.org/officeDocument/2006/relationships/image" Target="../media/image52.png"/><Relationship Id="rId10" Type="http://schemas.openxmlformats.org/officeDocument/2006/relationships/image" Target="../media/image51.png"/><Relationship Id="rId1"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4.png"/><Relationship Id="rId1" Type="http://schemas.openxmlformats.org/officeDocument/2006/relationships/image" Target="../media/image53.png"/></Relationships>
</file>

<file path=ppt/slides/_rels/slide42.xml.rels><?xml version="1.0" encoding="UTF-8" standalone="yes"?>
<Relationships xmlns="http://schemas.openxmlformats.org/package/2006/relationships"><Relationship Id="rId9" Type="http://schemas.openxmlformats.org/officeDocument/2006/relationships/tags" Target="../tags/tag403.xml"/><Relationship Id="rId8" Type="http://schemas.openxmlformats.org/officeDocument/2006/relationships/tags" Target="../tags/tag402.xml"/><Relationship Id="rId7" Type="http://schemas.openxmlformats.org/officeDocument/2006/relationships/tags" Target="../tags/tag401.xml"/><Relationship Id="rId6" Type="http://schemas.openxmlformats.org/officeDocument/2006/relationships/tags" Target="../tags/tag400.xml"/><Relationship Id="rId5" Type="http://schemas.openxmlformats.org/officeDocument/2006/relationships/tags" Target="../tags/tag399.xml"/><Relationship Id="rId4" Type="http://schemas.openxmlformats.org/officeDocument/2006/relationships/image" Target="../media/image42.svg"/><Relationship Id="rId30" Type="http://schemas.openxmlformats.org/officeDocument/2006/relationships/notesSlide" Target="../notesSlides/notesSlide24.xml"/><Relationship Id="rId3" Type="http://schemas.openxmlformats.org/officeDocument/2006/relationships/image" Target="../media/image41.png"/><Relationship Id="rId29" Type="http://schemas.openxmlformats.org/officeDocument/2006/relationships/slideLayout" Target="../slideLayouts/slideLayout12.xml"/><Relationship Id="rId28" Type="http://schemas.openxmlformats.org/officeDocument/2006/relationships/tags" Target="../tags/tag416.xml"/><Relationship Id="rId27" Type="http://schemas.openxmlformats.org/officeDocument/2006/relationships/tags" Target="../tags/tag415.xml"/><Relationship Id="rId26" Type="http://schemas.openxmlformats.org/officeDocument/2006/relationships/tags" Target="../tags/tag414.xml"/><Relationship Id="rId25" Type="http://schemas.openxmlformats.org/officeDocument/2006/relationships/image" Target="../media/image60.svg"/><Relationship Id="rId24" Type="http://schemas.openxmlformats.org/officeDocument/2006/relationships/image" Target="../media/image59.png"/><Relationship Id="rId23" Type="http://schemas.openxmlformats.org/officeDocument/2006/relationships/tags" Target="../tags/tag413.xml"/><Relationship Id="rId22" Type="http://schemas.openxmlformats.org/officeDocument/2006/relationships/tags" Target="../tags/tag412.xml"/><Relationship Id="rId21" Type="http://schemas.openxmlformats.org/officeDocument/2006/relationships/tags" Target="../tags/tag411.xml"/><Relationship Id="rId20" Type="http://schemas.openxmlformats.org/officeDocument/2006/relationships/tags" Target="../tags/tag410.xml"/><Relationship Id="rId2" Type="http://schemas.openxmlformats.org/officeDocument/2006/relationships/tags" Target="../tags/tag398.xml"/><Relationship Id="rId19" Type="http://schemas.openxmlformats.org/officeDocument/2006/relationships/tags" Target="../tags/tag409.xml"/><Relationship Id="rId18" Type="http://schemas.openxmlformats.org/officeDocument/2006/relationships/image" Target="../media/image58.svg"/><Relationship Id="rId17" Type="http://schemas.openxmlformats.org/officeDocument/2006/relationships/image" Target="../media/image57.png"/><Relationship Id="rId16" Type="http://schemas.openxmlformats.org/officeDocument/2006/relationships/tags" Target="../tags/tag408.xml"/><Relationship Id="rId15" Type="http://schemas.openxmlformats.org/officeDocument/2006/relationships/tags" Target="../tags/tag407.xml"/><Relationship Id="rId14" Type="http://schemas.openxmlformats.org/officeDocument/2006/relationships/tags" Target="../tags/tag406.xml"/><Relationship Id="rId13" Type="http://schemas.openxmlformats.org/officeDocument/2006/relationships/tags" Target="../tags/tag405.xml"/><Relationship Id="rId12" Type="http://schemas.openxmlformats.org/officeDocument/2006/relationships/tags" Target="../tags/tag404.xml"/><Relationship Id="rId11" Type="http://schemas.openxmlformats.org/officeDocument/2006/relationships/image" Target="../media/image56.svg"/><Relationship Id="rId10" Type="http://schemas.openxmlformats.org/officeDocument/2006/relationships/image" Target="../media/image55.png"/><Relationship Id="rId1" Type="http://schemas.openxmlformats.org/officeDocument/2006/relationships/tags" Target="../tags/tag39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tags" Target="../tags/tag420.xml"/><Relationship Id="rId6" Type="http://schemas.openxmlformats.org/officeDocument/2006/relationships/tags" Target="../tags/tag419.xml"/><Relationship Id="rId5" Type="http://schemas.openxmlformats.org/officeDocument/2006/relationships/tags" Target="../tags/tag418.xml"/><Relationship Id="rId4" Type="http://schemas.openxmlformats.org/officeDocument/2006/relationships/tags" Target="../tags/tag417.xml"/><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61.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tags" Target="../tags/tag422.xml"/><Relationship Id="rId1" Type="http://schemas.openxmlformats.org/officeDocument/2006/relationships/tags" Target="../tags/tag42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9" Type="http://schemas.openxmlformats.org/officeDocument/2006/relationships/tags" Target="../tags/tag431.xml"/><Relationship Id="rId8" Type="http://schemas.openxmlformats.org/officeDocument/2006/relationships/tags" Target="../tags/tag430.xml"/><Relationship Id="rId7" Type="http://schemas.openxmlformats.org/officeDocument/2006/relationships/tags" Target="../tags/tag429.xml"/><Relationship Id="rId6" Type="http://schemas.openxmlformats.org/officeDocument/2006/relationships/tags" Target="../tags/tag428.xml"/><Relationship Id="rId5" Type="http://schemas.openxmlformats.org/officeDocument/2006/relationships/tags" Target="../tags/tag427.xml"/><Relationship Id="rId46" Type="http://schemas.openxmlformats.org/officeDocument/2006/relationships/notesSlide" Target="../notesSlides/notesSlide29.xml"/><Relationship Id="rId45" Type="http://schemas.openxmlformats.org/officeDocument/2006/relationships/slideLayout" Target="../slideLayouts/slideLayout12.xml"/><Relationship Id="rId44" Type="http://schemas.openxmlformats.org/officeDocument/2006/relationships/tags" Target="../tags/tag466.xml"/><Relationship Id="rId43" Type="http://schemas.openxmlformats.org/officeDocument/2006/relationships/tags" Target="../tags/tag465.xml"/><Relationship Id="rId42" Type="http://schemas.openxmlformats.org/officeDocument/2006/relationships/tags" Target="../tags/tag464.xml"/><Relationship Id="rId41" Type="http://schemas.openxmlformats.org/officeDocument/2006/relationships/tags" Target="../tags/tag463.xml"/><Relationship Id="rId40" Type="http://schemas.openxmlformats.org/officeDocument/2006/relationships/tags" Target="../tags/tag462.xml"/><Relationship Id="rId4" Type="http://schemas.openxmlformats.org/officeDocument/2006/relationships/tags" Target="../tags/tag426.xml"/><Relationship Id="rId39" Type="http://schemas.openxmlformats.org/officeDocument/2006/relationships/tags" Target="../tags/tag461.xml"/><Relationship Id="rId38" Type="http://schemas.openxmlformats.org/officeDocument/2006/relationships/tags" Target="../tags/tag460.xml"/><Relationship Id="rId37" Type="http://schemas.openxmlformats.org/officeDocument/2006/relationships/tags" Target="../tags/tag459.xml"/><Relationship Id="rId36" Type="http://schemas.openxmlformats.org/officeDocument/2006/relationships/tags" Target="../tags/tag458.xml"/><Relationship Id="rId35" Type="http://schemas.openxmlformats.org/officeDocument/2006/relationships/tags" Target="../tags/tag457.xml"/><Relationship Id="rId34" Type="http://schemas.openxmlformats.org/officeDocument/2006/relationships/tags" Target="../tags/tag456.xml"/><Relationship Id="rId33" Type="http://schemas.openxmlformats.org/officeDocument/2006/relationships/tags" Target="../tags/tag455.xml"/><Relationship Id="rId32" Type="http://schemas.openxmlformats.org/officeDocument/2006/relationships/tags" Target="../tags/tag454.xml"/><Relationship Id="rId31" Type="http://schemas.openxmlformats.org/officeDocument/2006/relationships/tags" Target="../tags/tag453.xml"/><Relationship Id="rId30" Type="http://schemas.openxmlformats.org/officeDocument/2006/relationships/tags" Target="../tags/tag452.xml"/><Relationship Id="rId3" Type="http://schemas.openxmlformats.org/officeDocument/2006/relationships/tags" Target="../tags/tag425.xml"/><Relationship Id="rId29" Type="http://schemas.openxmlformats.org/officeDocument/2006/relationships/tags" Target="../tags/tag451.xml"/><Relationship Id="rId28" Type="http://schemas.openxmlformats.org/officeDocument/2006/relationships/tags" Target="../tags/tag450.xml"/><Relationship Id="rId27" Type="http://schemas.openxmlformats.org/officeDocument/2006/relationships/tags" Target="../tags/tag449.xml"/><Relationship Id="rId26" Type="http://schemas.openxmlformats.org/officeDocument/2006/relationships/tags" Target="../tags/tag448.xml"/><Relationship Id="rId25" Type="http://schemas.openxmlformats.org/officeDocument/2006/relationships/tags" Target="../tags/tag447.xml"/><Relationship Id="rId24" Type="http://schemas.openxmlformats.org/officeDocument/2006/relationships/tags" Target="../tags/tag446.xml"/><Relationship Id="rId23" Type="http://schemas.openxmlformats.org/officeDocument/2006/relationships/tags" Target="../tags/tag445.xml"/><Relationship Id="rId22" Type="http://schemas.openxmlformats.org/officeDocument/2006/relationships/tags" Target="../tags/tag444.xml"/><Relationship Id="rId21" Type="http://schemas.openxmlformats.org/officeDocument/2006/relationships/tags" Target="../tags/tag443.xml"/><Relationship Id="rId20" Type="http://schemas.openxmlformats.org/officeDocument/2006/relationships/tags" Target="../tags/tag442.xml"/><Relationship Id="rId2" Type="http://schemas.openxmlformats.org/officeDocument/2006/relationships/tags" Target="../tags/tag424.xml"/><Relationship Id="rId19" Type="http://schemas.openxmlformats.org/officeDocument/2006/relationships/tags" Target="../tags/tag441.xml"/><Relationship Id="rId18" Type="http://schemas.openxmlformats.org/officeDocument/2006/relationships/tags" Target="../tags/tag440.xml"/><Relationship Id="rId17" Type="http://schemas.openxmlformats.org/officeDocument/2006/relationships/tags" Target="../tags/tag439.xml"/><Relationship Id="rId16" Type="http://schemas.openxmlformats.org/officeDocument/2006/relationships/tags" Target="../tags/tag438.xml"/><Relationship Id="rId15" Type="http://schemas.openxmlformats.org/officeDocument/2006/relationships/tags" Target="../tags/tag437.xml"/><Relationship Id="rId14" Type="http://schemas.openxmlformats.org/officeDocument/2006/relationships/tags" Target="../tags/tag436.xml"/><Relationship Id="rId13" Type="http://schemas.openxmlformats.org/officeDocument/2006/relationships/tags" Target="../tags/tag435.xml"/><Relationship Id="rId12" Type="http://schemas.openxmlformats.org/officeDocument/2006/relationships/tags" Target="../tags/tag434.xml"/><Relationship Id="rId11" Type="http://schemas.openxmlformats.org/officeDocument/2006/relationships/tags" Target="../tags/tag433.xml"/><Relationship Id="rId10" Type="http://schemas.openxmlformats.org/officeDocument/2006/relationships/tags" Target="../tags/tag432.xml"/><Relationship Id="rId1" Type="http://schemas.openxmlformats.org/officeDocument/2006/relationships/tags" Target="../tags/tag42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image" Target="../media/image64.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9" Type="http://schemas.openxmlformats.org/officeDocument/2006/relationships/tags" Target="../tags/tag473.xml"/><Relationship Id="rId8" Type="http://schemas.openxmlformats.org/officeDocument/2006/relationships/tags" Target="../tags/tag472.xml"/><Relationship Id="rId7" Type="http://schemas.openxmlformats.org/officeDocument/2006/relationships/tags" Target="../tags/tag471.xml"/><Relationship Id="rId6" Type="http://schemas.openxmlformats.org/officeDocument/2006/relationships/tags" Target="../tags/tag470.xml"/><Relationship Id="rId5" Type="http://schemas.openxmlformats.org/officeDocument/2006/relationships/tags" Target="../tags/tag469.xml"/><Relationship Id="rId4" Type="http://schemas.openxmlformats.org/officeDocument/2006/relationships/image" Target="../media/image66.png"/><Relationship Id="rId3" Type="http://schemas.openxmlformats.org/officeDocument/2006/relationships/tags" Target="../tags/tag468.xml"/><Relationship Id="rId27" Type="http://schemas.openxmlformats.org/officeDocument/2006/relationships/slideLayout" Target="../slideLayouts/slideLayout12.xml"/><Relationship Id="rId26" Type="http://schemas.openxmlformats.org/officeDocument/2006/relationships/tags" Target="../tags/tag484.xml"/><Relationship Id="rId25" Type="http://schemas.openxmlformats.org/officeDocument/2006/relationships/tags" Target="../tags/tag483.xml"/><Relationship Id="rId24" Type="http://schemas.openxmlformats.org/officeDocument/2006/relationships/image" Target="../media/image72.png"/><Relationship Id="rId23" Type="http://schemas.openxmlformats.org/officeDocument/2006/relationships/tags" Target="../tags/tag482.xml"/><Relationship Id="rId22" Type="http://schemas.openxmlformats.org/officeDocument/2006/relationships/tags" Target="../tags/tag481.xml"/><Relationship Id="rId21" Type="http://schemas.openxmlformats.org/officeDocument/2006/relationships/image" Target="../media/image71.png"/><Relationship Id="rId20" Type="http://schemas.openxmlformats.org/officeDocument/2006/relationships/tags" Target="../tags/tag480.xml"/><Relationship Id="rId2" Type="http://schemas.openxmlformats.org/officeDocument/2006/relationships/image" Target="../media/image65.png"/><Relationship Id="rId19" Type="http://schemas.openxmlformats.org/officeDocument/2006/relationships/image" Target="../media/image70.png"/><Relationship Id="rId18" Type="http://schemas.openxmlformats.org/officeDocument/2006/relationships/tags" Target="../tags/tag479.xml"/><Relationship Id="rId17" Type="http://schemas.openxmlformats.org/officeDocument/2006/relationships/tags" Target="../tags/tag478.xml"/><Relationship Id="rId16" Type="http://schemas.openxmlformats.org/officeDocument/2006/relationships/tags" Target="../tags/tag477.xml"/><Relationship Id="rId15" Type="http://schemas.openxmlformats.org/officeDocument/2006/relationships/tags" Target="../tags/tag476.xml"/><Relationship Id="rId14" Type="http://schemas.openxmlformats.org/officeDocument/2006/relationships/image" Target="../media/image69.png"/><Relationship Id="rId13" Type="http://schemas.openxmlformats.org/officeDocument/2006/relationships/tags" Target="../tags/tag475.xml"/><Relationship Id="rId12" Type="http://schemas.openxmlformats.org/officeDocument/2006/relationships/image" Target="../media/image68.png"/><Relationship Id="rId11" Type="http://schemas.openxmlformats.org/officeDocument/2006/relationships/tags" Target="../tags/tag474.xml"/><Relationship Id="rId10" Type="http://schemas.openxmlformats.org/officeDocument/2006/relationships/image" Target="../media/image67.png"/><Relationship Id="rId1" Type="http://schemas.openxmlformats.org/officeDocument/2006/relationships/tags" Target="../tags/tag467.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2.png"/><Relationship Id="rId7" Type="http://schemas.openxmlformats.org/officeDocument/2006/relationships/image" Target="../media/image81.png"/><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wmf"/><Relationship Id="rId2" Type="http://schemas.openxmlformats.org/officeDocument/2006/relationships/package" Target="../embeddings/Document1.docx"/><Relationship Id="rId11" Type="http://schemas.openxmlformats.org/officeDocument/2006/relationships/notesSlide" Target="../notesSlides/notesSlide33.xml"/><Relationship Id="rId10" Type="http://schemas.openxmlformats.org/officeDocument/2006/relationships/vmlDrawing" Target="../drawings/vmlDrawing2.vml"/><Relationship Id="rId1" Type="http://schemas.openxmlformats.org/officeDocument/2006/relationships/image" Target="../media/image76.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9" Type="http://schemas.openxmlformats.org/officeDocument/2006/relationships/tags" Target="../tags/tag493.xml"/><Relationship Id="rId8" Type="http://schemas.openxmlformats.org/officeDocument/2006/relationships/tags" Target="../tags/tag492.xml"/><Relationship Id="rId7" Type="http://schemas.openxmlformats.org/officeDocument/2006/relationships/tags" Target="../tags/tag491.xml"/><Relationship Id="rId6" Type="http://schemas.openxmlformats.org/officeDocument/2006/relationships/tags" Target="../tags/tag490.xml"/><Relationship Id="rId5" Type="http://schemas.openxmlformats.org/officeDocument/2006/relationships/tags" Target="../tags/tag489.xml"/><Relationship Id="rId4" Type="http://schemas.openxmlformats.org/officeDocument/2006/relationships/tags" Target="../tags/tag488.xml"/><Relationship Id="rId3" Type="http://schemas.openxmlformats.org/officeDocument/2006/relationships/tags" Target="../tags/tag487.xml"/><Relationship Id="rId20" Type="http://schemas.openxmlformats.org/officeDocument/2006/relationships/notesSlide" Target="../notesSlides/notesSlide35.xml"/><Relationship Id="rId2" Type="http://schemas.openxmlformats.org/officeDocument/2006/relationships/tags" Target="../tags/tag486.xml"/><Relationship Id="rId19" Type="http://schemas.openxmlformats.org/officeDocument/2006/relationships/slideLayout" Target="../slideLayouts/slideLayout12.xml"/><Relationship Id="rId18" Type="http://schemas.openxmlformats.org/officeDocument/2006/relationships/image" Target="../media/image85.png"/><Relationship Id="rId17" Type="http://schemas.openxmlformats.org/officeDocument/2006/relationships/tags" Target="../tags/tag499.xml"/><Relationship Id="rId16" Type="http://schemas.openxmlformats.org/officeDocument/2006/relationships/image" Target="../media/image84.png"/><Relationship Id="rId15" Type="http://schemas.openxmlformats.org/officeDocument/2006/relationships/tags" Target="../tags/tag498.xml"/><Relationship Id="rId14" Type="http://schemas.openxmlformats.org/officeDocument/2006/relationships/image" Target="../media/image83.png"/><Relationship Id="rId13" Type="http://schemas.openxmlformats.org/officeDocument/2006/relationships/tags" Target="../tags/tag497.xml"/><Relationship Id="rId12" Type="http://schemas.openxmlformats.org/officeDocument/2006/relationships/tags" Target="../tags/tag496.xml"/><Relationship Id="rId11" Type="http://schemas.openxmlformats.org/officeDocument/2006/relationships/tags" Target="../tags/tag495.xml"/><Relationship Id="rId10" Type="http://schemas.openxmlformats.org/officeDocument/2006/relationships/tags" Target="../tags/tag494.xml"/><Relationship Id="rId1" Type="http://schemas.openxmlformats.org/officeDocument/2006/relationships/tags" Target="../tags/tag485.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00.xml"/></Relationships>
</file>

<file path=ppt/slides/_rels/slide59.xml.rels><?xml version="1.0" encoding="UTF-8" standalone="yes"?>
<Relationships xmlns="http://schemas.openxmlformats.org/package/2006/relationships"><Relationship Id="rId9" Type="http://schemas.openxmlformats.org/officeDocument/2006/relationships/tags" Target="../tags/tag509.xml"/><Relationship Id="rId8" Type="http://schemas.openxmlformats.org/officeDocument/2006/relationships/tags" Target="../tags/tag508.xml"/><Relationship Id="rId7" Type="http://schemas.openxmlformats.org/officeDocument/2006/relationships/tags" Target="../tags/tag507.xml"/><Relationship Id="rId6" Type="http://schemas.openxmlformats.org/officeDocument/2006/relationships/tags" Target="../tags/tag506.xml"/><Relationship Id="rId5" Type="http://schemas.openxmlformats.org/officeDocument/2006/relationships/tags" Target="../tags/tag505.xml"/><Relationship Id="rId4" Type="http://schemas.openxmlformats.org/officeDocument/2006/relationships/tags" Target="../tags/tag504.xml"/><Relationship Id="rId3" Type="http://schemas.openxmlformats.org/officeDocument/2006/relationships/tags" Target="../tags/tag503.xml"/><Relationship Id="rId2" Type="http://schemas.openxmlformats.org/officeDocument/2006/relationships/tags" Target="../tags/tag502.xml"/><Relationship Id="rId17" Type="http://schemas.openxmlformats.org/officeDocument/2006/relationships/slideLayout" Target="../slideLayouts/slideLayout12.xml"/><Relationship Id="rId16" Type="http://schemas.openxmlformats.org/officeDocument/2006/relationships/tags" Target="../tags/tag516.xml"/><Relationship Id="rId15" Type="http://schemas.openxmlformats.org/officeDocument/2006/relationships/tags" Target="../tags/tag515.xml"/><Relationship Id="rId14" Type="http://schemas.openxmlformats.org/officeDocument/2006/relationships/tags" Target="../tags/tag514.xml"/><Relationship Id="rId13" Type="http://schemas.openxmlformats.org/officeDocument/2006/relationships/tags" Target="../tags/tag513.xml"/><Relationship Id="rId12" Type="http://schemas.openxmlformats.org/officeDocument/2006/relationships/tags" Target="../tags/tag512.xml"/><Relationship Id="rId11" Type="http://schemas.openxmlformats.org/officeDocument/2006/relationships/tags" Target="../tags/tag511.xml"/><Relationship Id="rId10" Type="http://schemas.openxmlformats.org/officeDocument/2006/relationships/tags" Target="../tags/tag510.xml"/><Relationship Id="rId1" Type="http://schemas.openxmlformats.org/officeDocument/2006/relationships/tags" Target="../tags/tag501.xml"/></Relationships>
</file>

<file path=ppt/slides/_rels/slide60.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2.xml"/><Relationship Id="rId3" Type="http://schemas.openxmlformats.org/officeDocument/2006/relationships/image" Target="../media/image88.png"/><Relationship Id="rId2" Type="http://schemas.openxmlformats.org/officeDocument/2006/relationships/image" Target="../media/image87.svg"/><Relationship Id="rId1" Type="http://schemas.openxmlformats.org/officeDocument/2006/relationships/image" Target="../media/image86.png"/></Relationships>
</file>

<file path=ppt/slides/_rels/slide61.xml.rels><?xml version="1.0" encoding="UTF-8" standalone="yes"?>
<Relationships xmlns="http://schemas.openxmlformats.org/package/2006/relationships"><Relationship Id="rId9" Type="http://schemas.openxmlformats.org/officeDocument/2006/relationships/image" Target="../media/image93.png"/><Relationship Id="rId8" Type="http://schemas.openxmlformats.org/officeDocument/2006/relationships/image" Target="../media/image92.png"/><Relationship Id="rId7" Type="http://schemas.openxmlformats.org/officeDocument/2006/relationships/image" Target="../media/image91.png"/><Relationship Id="rId6" Type="http://schemas.openxmlformats.org/officeDocument/2006/relationships/oleObject" Target="../embeddings/oleObject1.bin"/><Relationship Id="rId5" Type="http://schemas.openxmlformats.org/officeDocument/2006/relationships/image" Target="../media/image88.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tags" Target="../tags/tag518.xml"/><Relationship Id="rId12" Type="http://schemas.openxmlformats.org/officeDocument/2006/relationships/notesSlide" Target="../notesSlides/notesSlide37.xml"/><Relationship Id="rId11" Type="http://schemas.openxmlformats.org/officeDocument/2006/relationships/vmlDrawing" Target="../drawings/vmlDrawing3.vml"/><Relationship Id="rId10" Type="http://schemas.openxmlformats.org/officeDocument/2006/relationships/slideLayout" Target="../slideLayouts/slideLayout12.xml"/><Relationship Id="rId1" Type="http://schemas.openxmlformats.org/officeDocument/2006/relationships/tags" Target="../tags/tag517.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image" Target="../media/image9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519.xml"/><Relationship Id="rId2" Type="http://schemas.openxmlformats.org/officeDocument/2006/relationships/image" Target="../media/image98.svg"/><Relationship Id="rId1" Type="http://schemas.openxmlformats.org/officeDocument/2006/relationships/image" Target="../media/image97.png"/></Relationships>
</file>

<file path=ppt/slides/_rels/slide65.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12.xml"/><Relationship Id="rId4" Type="http://schemas.openxmlformats.org/officeDocument/2006/relationships/tags" Target="../tags/tag521.xml"/><Relationship Id="rId3" Type="http://schemas.openxmlformats.org/officeDocument/2006/relationships/image" Target="../media/image100.svg"/><Relationship Id="rId2" Type="http://schemas.openxmlformats.org/officeDocument/2006/relationships/image" Target="../media/image99.png"/><Relationship Id="rId1" Type="http://schemas.openxmlformats.org/officeDocument/2006/relationships/tags" Target="../tags/tag520.xml"/></Relationships>
</file>

<file path=ppt/slides/_rels/slide66.xml.rels><?xml version="1.0" encoding="UTF-8" standalone="yes"?>
<Relationships xmlns="http://schemas.openxmlformats.org/package/2006/relationships"><Relationship Id="rId9" Type="http://schemas.openxmlformats.org/officeDocument/2006/relationships/image" Target="../media/image103.png"/><Relationship Id="rId8" Type="http://schemas.openxmlformats.org/officeDocument/2006/relationships/image" Target="../media/image102.png"/><Relationship Id="rId7" Type="http://schemas.openxmlformats.org/officeDocument/2006/relationships/image" Target="../media/image101.png"/><Relationship Id="rId6" Type="http://schemas.openxmlformats.org/officeDocument/2006/relationships/tags" Target="../tags/tag527.xml"/><Relationship Id="rId5" Type="http://schemas.openxmlformats.org/officeDocument/2006/relationships/tags" Target="../tags/tag526.xml"/><Relationship Id="rId4" Type="http://schemas.openxmlformats.org/officeDocument/2006/relationships/tags" Target="../tags/tag525.xml"/><Relationship Id="rId3" Type="http://schemas.openxmlformats.org/officeDocument/2006/relationships/tags" Target="../tags/tag524.xml"/><Relationship Id="rId2" Type="http://schemas.openxmlformats.org/officeDocument/2006/relationships/tags" Target="../tags/tag523.xml"/><Relationship Id="rId10" Type="http://schemas.openxmlformats.org/officeDocument/2006/relationships/slideLayout" Target="../slideLayouts/slideLayout12.xml"/><Relationship Id="rId1" Type="http://schemas.openxmlformats.org/officeDocument/2006/relationships/tags" Target="../tags/tag522.xm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529.xml"/><Relationship Id="rId3" Type="http://schemas.openxmlformats.org/officeDocument/2006/relationships/tags" Target="../tags/tag528.xml"/><Relationship Id="rId2" Type="http://schemas.openxmlformats.org/officeDocument/2006/relationships/image" Target="../media/image105.svg"/><Relationship Id="rId1" Type="http://schemas.openxmlformats.org/officeDocument/2006/relationships/image" Target="../media/image104.pn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image" Target="../media/image106.png"/></Relationships>
</file>

<file path=ppt/slides/_rels/slide69.xml.rels><?xml version="1.0" encoding="UTF-8" standalone="yes"?>
<Relationships xmlns="http://schemas.openxmlformats.org/package/2006/relationships"><Relationship Id="rId9" Type="http://schemas.openxmlformats.org/officeDocument/2006/relationships/image" Target="../media/image112.svg"/><Relationship Id="rId8" Type="http://schemas.openxmlformats.org/officeDocument/2006/relationships/image" Target="../media/image111.png"/><Relationship Id="rId7" Type="http://schemas.openxmlformats.org/officeDocument/2006/relationships/tags" Target="../tags/tag534.xml"/><Relationship Id="rId6" Type="http://schemas.openxmlformats.org/officeDocument/2006/relationships/tags" Target="../tags/tag533.xml"/><Relationship Id="rId5" Type="http://schemas.openxmlformats.org/officeDocument/2006/relationships/tags" Target="../tags/tag532.xml"/><Relationship Id="rId4" Type="http://schemas.openxmlformats.org/officeDocument/2006/relationships/tags" Target="../tags/tag531.xml"/><Relationship Id="rId3" Type="http://schemas.openxmlformats.org/officeDocument/2006/relationships/image" Target="../media/image110.svg"/><Relationship Id="rId2" Type="http://schemas.openxmlformats.org/officeDocument/2006/relationships/image" Target="../media/image109.png"/><Relationship Id="rId14" Type="http://schemas.openxmlformats.org/officeDocument/2006/relationships/slideLayout" Target="../slideLayouts/slideLayout12.xml"/><Relationship Id="rId13" Type="http://schemas.openxmlformats.org/officeDocument/2006/relationships/tags" Target="../tags/tag538.xml"/><Relationship Id="rId12" Type="http://schemas.openxmlformats.org/officeDocument/2006/relationships/tags" Target="../tags/tag537.xml"/><Relationship Id="rId11" Type="http://schemas.openxmlformats.org/officeDocument/2006/relationships/tags" Target="../tags/tag536.xml"/><Relationship Id="rId10" Type="http://schemas.openxmlformats.org/officeDocument/2006/relationships/tags" Target="../tags/tag535.xml"/><Relationship Id="rId1" Type="http://schemas.openxmlformats.org/officeDocument/2006/relationships/tags" Target="../tags/tag53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12.xml"/><Relationship Id="rId4" Type="http://schemas.openxmlformats.org/officeDocument/2006/relationships/image" Target="../media/image114.png"/><Relationship Id="rId3" Type="http://schemas.openxmlformats.org/officeDocument/2006/relationships/oleObject" Target="../embeddings/oleObject2.bin"/><Relationship Id="rId2" Type="http://schemas.openxmlformats.org/officeDocument/2006/relationships/image" Target="../media/image102.png"/><Relationship Id="rId1" Type="http://schemas.openxmlformats.org/officeDocument/2006/relationships/image" Target="../media/image113.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16.png"/><Relationship Id="rId1" Type="http://schemas.openxmlformats.org/officeDocument/2006/relationships/image" Target="../media/image115.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18.png"/><Relationship Id="rId2" Type="http://schemas.openxmlformats.org/officeDocument/2006/relationships/image" Target="../media/image88.png"/><Relationship Id="rId1" Type="http://schemas.openxmlformats.org/officeDocument/2006/relationships/image" Target="../media/image11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12.xml"/><Relationship Id="rId3" Type="http://schemas.openxmlformats.org/officeDocument/2006/relationships/image" Target="../media/image121.svg"/><Relationship Id="rId2" Type="http://schemas.openxmlformats.org/officeDocument/2006/relationships/image" Target="../media/image120.svg"/><Relationship Id="rId1" Type="http://schemas.openxmlformats.org/officeDocument/2006/relationships/image" Target="../media/image11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9" Type="http://schemas.openxmlformats.org/officeDocument/2006/relationships/tags" Target="../tags/tag547.xml"/><Relationship Id="rId8" Type="http://schemas.openxmlformats.org/officeDocument/2006/relationships/tags" Target="../tags/tag546.xml"/><Relationship Id="rId7" Type="http://schemas.openxmlformats.org/officeDocument/2006/relationships/tags" Target="../tags/tag545.xml"/><Relationship Id="rId6" Type="http://schemas.openxmlformats.org/officeDocument/2006/relationships/tags" Target="../tags/tag544.xml"/><Relationship Id="rId5" Type="http://schemas.openxmlformats.org/officeDocument/2006/relationships/tags" Target="../tags/tag543.xml"/><Relationship Id="rId4" Type="http://schemas.openxmlformats.org/officeDocument/2006/relationships/tags" Target="../tags/tag542.xml"/><Relationship Id="rId3" Type="http://schemas.openxmlformats.org/officeDocument/2006/relationships/tags" Target="../tags/tag541.xml"/><Relationship Id="rId20" Type="http://schemas.openxmlformats.org/officeDocument/2006/relationships/notesSlide" Target="../notesSlides/notesSlide41.xml"/><Relationship Id="rId2" Type="http://schemas.openxmlformats.org/officeDocument/2006/relationships/tags" Target="../tags/tag540.xml"/><Relationship Id="rId19" Type="http://schemas.openxmlformats.org/officeDocument/2006/relationships/slideLayout" Target="../slideLayouts/slideLayout12.xml"/><Relationship Id="rId18" Type="http://schemas.openxmlformats.org/officeDocument/2006/relationships/image" Target="../media/image127.png"/><Relationship Id="rId17" Type="http://schemas.openxmlformats.org/officeDocument/2006/relationships/image" Target="../media/image126.png"/><Relationship Id="rId16" Type="http://schemas.openxmlformats.org/officeDocument/2006/relationships/image" Target="../media/image125.png"/><Relationship Id="rId15" Type="http://schemas.openxmlformats.org/officeDocument/2006/relationships/image" Target="../media/image124.png"/><Relationship Id="rId14" Type="http://schemas.openxmlformats.org/officeDocument/2006/relationships/image" Target="../media/image123.png"/><Relationship Id="rId13" Type="http://schemas.openxmlformats.org/officeDocument/2006/relationships/image" Target="../media/image122.png"/><Relationship Id="rId12" Type="http://schemas.openxmlformats.org/officeDocument/2006/relationships/tags" Target="../tags/tag550.xml"/><Relationship Id="rId11" Type="http://schemas.openxmlformats.org/officeDocument/2006/relationships/tags" Target="../tags/tag549.xml"/><Relationship Id="rId10" Type="http://schemas.openxmlformats.org/officeDocument/2006/relationships/tags" Target="../tags/tag548.xml"/><Relationship Id="rId1" Type="http://schemas.openxmlformats.org/officeDocument/2006/relationships/tags" Target="../tags/tag539.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9.png"/><Relationship Id="rId1" Type="http://schemas.openxmlformats.org/officeDocument/2006/relationships/image" Target="../media/image128.png"/></Relationships>
</file>

<file path=ppt/slides/_rels/slide82.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132.png"/><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tags" Target="../tags/tag554.xml"/><Relationship Id="rId3" Type="http://schemas.openxmlformats.org/officeDocument/2006/relationships/tags" Target="../tags/tag553.xml"/><Relationship Id="rId2" Type="http://schemas.openxmlformats.org/officeDocument/2006/relationships/tags" Target="../tags/tag552.xml"/><Relationship Id="rId1" Type="http://schemas.openxmlformats.org/officeDocument/2006/relationships/tags" Target="../tags/tag55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9" Type="http://schemas.openxmlformats.org/officeDocument/2006/relationships/image" Target="../media/image141.png"/><Relationship Id="rId8" Type="http://schemas.openxmlformats.org/officeDocument/2006/relationships/image" Target="../media/image140.svg"/><Relationship Id="rId7" Type="http://schemas.openxmlformats.org/officeDocument/2006/relationships/image" Target="../media/image139.png"/><Relationship Id="rId6" Type="http://schemas.openxmlformats.org/officeDocument/2006/relationships/image" Target="../media/image138.svg"/><Relationship Id="rId5" Type="http://schemas.openxmlformats.org/officeDocument/2006/relationships/image" Target="../media/image137.png"/><Relationship Id="rId4" Type="http://schemas.openxmlformats.org/officeDocument/2006/relationships/image" Target="../media/image136.svg"/><Relationship Id="rId3" Type="http://schemas.openxmlformats.org/officeDocument/2006/relationships/image" Target="../media/image135.png"/><Relationship Id="rId2" Type="http://schemas.openxmlformats.org/officeDocument/2006/relationships/image" Target="../media/image134.svg"/><Relationship Id="rId14" Type="http://schemas.openxmlformats.org/officeDocument/2006/relationships/notesSlide" Target="../notesSlides/notesSlide43.xml"/><Relationship Id="rId13" Type="http://schemas.openxmlformats.org/officeDocument/2006/relationships/slideLayout" Target="../slideLayouts/slideLayout12.xml"/><Relationship Id="rId12" Type="http://schemas.openxmlformats.org/officeDocument/2006/relationships/image" Target="../media/image144.svg"/><Relationship Id="rId11" Type="http://schemas.openxmlformats.org/officeDocument/2006/relationships/image" Target="../media/image143.png"/><Relationship Id="rId10" Type="http://schemas.openxmlformats.org/officeDocument/2006/relationships/image" Target="../media/image142.svg"/><Relationship Id="rId1" Type="http://schemas.openxmlformats.org/officeDocument/2006/relationships/image" Target="../media/image133.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9" Type="http://schemas.openxmlformats.org/officeDocument/2006/relationships/image" Target="../media/image153.png"/><Relationship Id="rId8" Type="http://schemas.openxmlformats.org/officeDocument/2006/relationships/image" Target="../media/image152.svg"/><Relationship Id="rId7" Type="http://schemas.openxmlformats.org/officeDocument/2006/relationships/image" Target="../media/image151.png"/><Relationship Id="rId6" Type="http://schemas.openxmlformats.org/officeDocument/2006/relationships/image" Target="../media/image150.svg"/><Relationship Id="rId5" Type="http://schemas.openxmlformats.org/officeDocument/2006/relationships/image" Target="../media/image149.png"/><Relationship Id="rId4" Type="http://schemas.openxmlformats.org/officeDocument/2006/relationships/image" Target="../media/image148.svg"/><Relationship Id="rId3" Type="http://schemas.openxmlformats.org/officeDocument/2006/relationships/image" Target="../media/image147.png"/><Relationship Id="rId2" Type="http://schemas.openxmlformats.org/officeDocument/2006/relationships/image" Target="../media/image146.svg"/><Relationship Id="rId15" Type="http://schemas.openxmlformats.org/officeDocument/2006/relationships/slideLayout" Target="../slideLayouts/slideLayout12.xml"/><Relationship Id="rId14" Type="http://schemas.openxmlformats.org/officeDocument/2006/relationships/image" Target="../media/image158.svg"/><Relationship Id="rId13" Type="http://schemas.openxmlformats.org/officeDocument/2006/relationships/image" Target="../media/image157.png"/><Relationship Id="rId12" Type="http://schemas.openxmlformats.org/officeDocument/2006/relationships/image" Target="../media/image156.svg"/><Relationship Id="rId11" Type="http://schemas.openxmlformats.org/officeDocument/2006/relationships/image" Target="../media/image155.png"/><Relationship Id="rId10" Type="http://schemas.openxmlformats.org/officeDocument/2006/relationships/image" Target="../media/image154.svg"/><Relationship Id="rId1" Type="http://schemas.openxmlformats.org/officeDocument/2006/relationships/image" Target="../media/image145.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64.svg"/><Relationship Id="rId5" Type="http://schemas.openxmlformats.org/officeDocument/2006/relationships/image" Target="../media/image163.png"/><Relationship Id="rId4" Type="http://schemas.openxmlformats.org/officeDocument/2006/relationships/image" Target="../media/image162.svg"/><Relationship Id="rId3" Type="http://schemas.openxmlformats.org/officeDocument/2006/relationships/image" Target="../media/image161.png"/><Relationship Id="rId2" Type="http://schemas.openxmlformats.org/officeDocument/2006/relationships/image" Target="../media/image160.svg"/><Relationship Id="rId1" Type="http://schemas.openxmlformats.org/officeDocument/2006/relationships/image" Target="../media/image15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9" Type="http://schemas.openxmlformats.org/officeDocument/2006/relationships/image" Target="../media/image147.png"/><Relationship Id="rId8" Type="http://schemas.openxmlformats.org/officeDocument/2006/relationships/image" Target="../media/image172.svg"/><Relationship Id="rId7" Type="http://schemas.openxmlformats.org/officeDocument/2006/relationships/image" Target="../media/image171.png"/><Relationship Id="rId6" Type="http://schemas.openxmlformats.org/officeDocument/2006/relationships/image" Target="../media/image170.svg"/><Relationship Id="rId5" Type="http://schemas.openxmlformats.org/officeDocument/2006/relationships/image" Target="../media/image169.png"/><Relationship Id="rId4" Type="http://schemas.openxmlformats.org/officeDocument/2006/relationships/image" Target="../media/image168.svg"/><Relationship Id="rId3" Type="http://schemas.openxmlformats.org/officeDocument/2006/relationships/image" Target="../media/image167.png"/><Relationship Id="rId2" Type="http://schemas.openxmlformats.org/officeDocument/2006/relationships/image" Target="../media/image166.svg"/><Relationship Id="rId11" Type="http://schemas.openxmlformats.org/officeDocument/2006/relationships/slideLayout" Target="../slideLayouts/slideLayout12.xml"/><Relationship Id="rId10" Type="http://schemas.openxmlformats.org/officeDocument/2006/relationships/image" Target="../media/image148.svg"/><Relationship Id="rId1" Type="http://schemas.openxmlformats.org/officeDocument/2006/relationships/image" Target="../media/image165.png"/></Relationships>
</file>

<file path=ppt/slides/_rels/slide93.xml.rels><?xml version="1.0" encoding="UTF-8" standalone="yes"?>
<Relationships xmlns="http://schemas.openxmlformats.org/package/2006/relationships"><Relationship Id="rId9" Type="http://schemas.openxmlformats.org/officeDocument/2006/relationships/image" Target="../media/image179.png"/><Relationship Id="rId8" Type="http://schemas.openxmlformats.org/officeDocument/2006/relationships/image" Target="../media/image178.svg"/><Relationship Id="rId7" Type="http://schemas.openxmlformats.org/officeDocument/2006/relationships/image" Target="../media/image177.png"/><Relationship Id="rId6" Type="http://schemas.openxmlformats.org/officeDocument/2006/relationships/image" Target="../media/image176.svg"/><Relationship Id="rId5" Type="http://schemas.openxmlformats.org/officeDocument/2006/relationships/image" Target="../media/image175.png"/><Relationship Id="rId4" Type="http://schemas.openxmlformats.org/officeDocument/2006/relationships/image" Target="../media/image174.svg"/><Relationship Id="rId3" Type="http://schemas.openxmlformats.org/officeDocument/2006/relationships/image" Target="../media/image173.png"/><Relationship Id="rId2" Type="http://schemas.openxmlformats.org/officeDocument/2006/relationships/image" Target="../media/image156.svg"/><Relationship Id="rId15" Type="http://schemas.openxmlformats.org/officeDocument/2006/relationships/slideLayout" Target="../slideLayouts/slideLayout12.xml"/><Relationship Id="rId14" Type="http://schemas.openxmlformats.org/officeDocument/2006/relationships/image" Target="../media/image184.svg"/><Relationship Id="rId13" Type="http://schemas.openxmlformats.org/officeDocument/2006/relationships/image" Target="../media/image183.png"/><Relationship Id="rId12" Type="http://schemas.openxmlformats.org/officeDocument/2006/relationships/image" Target="../media/image182.svg"/><Relationship Id="rId11" Type="http://schemas.openxmlformats.org/officeDocument/2006/relationships/image" Target="../media/image181.png"/><Relationship Id="rId10" Type="http://schemas.openxmlformats.org/officeDocument/2006/relationships/image" Target="../media/image180.svg"/><Relationship Id="rId1" Type="http://schemas.openxmlformats.org/officeDocument/2006/relationships/image" Target="../media/image1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88.svg"/><Relationship Id="rId3" Type="http://schemas.openxmlformats.org/officeDocument/2006/relationships/image" Target="../media/image187.png"/><Relationship Id="rId2" Type="http://schemas.openxmlformats.org/officeDocument/2006/relationships/image" Target="../media/image186.svg"/><Relationship Id="rId1" Type="http://schemas.openxmlformats.org/officeDocument/2006/relationships/image" Target="../media/image185.png"/></Relationships>
</file>

<file path=ppt/slides/_rels/slide98.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2" Type="http://schemas.openxmlformats.org/officeDocument/2006/relationships/notesSlide" Target="../notesSlides/notesSlide47.xml"/><Relationship Id="rId11" Type="http://schemas.openxmlformats.org/officeDocument/2006/relationships/slideLayout" Target="../slideLayouts/slideLayout12.xml"/><Relationship Id="rId10" Type="http://schemas.microsoft.com/office/2007/relationships/diagramDrawing" Target="../diagrams/drawing2.xml"/><Relationship Id="rId1" Type="http://schemas.openxmlformats.org/officeDocument/2006/relationships/diagramData" Target="../diagrams/data1.xml"/></Relationships>
</file>

<file path=ppt/slides/_rels/slide99.xml.rels><?xml version="1.0" encoding="UTF-8" standalone="yes"?>
<Relationships xmlns="http://schemas.openxmlformats.org/package/2006/relationships"><Relationship Id="rId9" Type="http://schemas.openxmlformats.org/officeDocument/2006/relationships/tags" Target="../tags/tag563.xml"/><Relationship Id="rId8" Type="http://schemas.openxmlformats.org/officeDocument/2006/relationships/tags" Target="../tags/tag562.xml"/><Relationship Id="rId7" Type="http://schemas.openxmlformats.org/officeDocument/2006/relationships/tags" Target="../tags/tag561.xml"/><Relationship Id="rId6" Type="http://schemas.openxmlformats.org/officeDocument/2006/relationships/tags" Target="../tags/tag560.xml"/><Relationship Id="rId5" Type="http://schemas.openxmlformats.org/officeDocument/2006/relationships/tags" Target="../tags/tag559.xml"/><Relationship Id="rId47" Type="http://schemas.openxmlformats.org/officeDocument/2006/relationships/slideLayout" Target="../slideLayouts/slideLayout12.xml"/><Relationship Id="rId46" Type="http://schemas.openxmlformats.org/officeDocument/2006/relationships/tags" Target="../tags/tag596.xml"/><Relationship Id="rId45" Type="http://schemas.openxmlformats.org/officeDocument/2006/relationships/tags" Target="../tags/tag595.xml"/><Relationship Id="rId44" Type="http://schemas.openxmlformats.org/officeDocument/2006/relationships/tags" Target="../tags/tag594.xml"/><Relationship Id="rId43" Type="http://schemas.openxmlformats.org/officeDocument/2006/relationships/tags" Target="../tags/tag593.xml"/><Relationship Id="rId42" Type="http://schemas.openxmlformats.org/officeDocument/2006/relationships/tags" Target="../tags/tag592.xml"/><Relationship Id="rId41" Type="http://schemas.openxmlformats.org/officeDocument/2006/relationships/tags" Target="../tags/tag591.xml"/><Relationship Id="rId40" Type="http://schemas.openxmlformats.org/officeDocument/2006/relationships/tags" Target="../tags/tag590.xml"/><Relationship Id="rId4" Type="http://schemas.openxmlformats.org/officeDocument/2006/relationships/tags" Target="../tags/tag558.xml"/><Relationship Id="rId39" Type="http://schemas.openxmlformats.org/officeDocument/2006/relationships/image" Target="../media/image192.png"/><Relationship Id="rId38" Type="http://schemas.openxmlformats.org/officeDocument/2006/relationships/tags" Target="../tags/tag589.xml"/><Relationship Id="rId37" Type="http://schemas.openxmlformats.org/officeDocument/2006/relationships/tags" Target="../tags/tag588.xml"/><Relationship Id="rId36" Type="http://schemas.openxmlformats.org/officeDocument/2006/relationships/tags" Target="../tags/tag587.xml"/><Relationship Id="rId35" Type="http://schemas.openxmlformats.org/officeDocument/2006/relationships/tags" Target="../tags/tag586.xml"/><Relationship Id="rId34" Type="http://schemas.openxmlformats.org/officeDocument/2006/relationships/tags" Target="../tags/tag585.xml"/><Relationship Id="rId33" Type="http://schemas.openxmlformats.org/officeDocument/2006/relationships/tags" Target="../tags/tag584.xml"/><Relationship Id="rId32" Type="http://schemas.openxmlformats.org/officeDocument/2006/relationships/tags" Target="../tags/tag583.xml"/><Relationship Id="rId31" Type="http://schemas.openxmlformats.org/officeDocument/2006/relationships/tags" Target="../tags/tag582.xml"/><Relationship Id="rId30" Type="http://schemas.openxmlformats.org/officeDocument/2006/relationships/image" Target="../media/image191.png"/><Relationship Id="rId3" Type="http://schemas.openxmlformats.org/officeDocument/2006/relationships/tags" Target="../tags/tag557.xml"/><Relationship Id="rId29" Type="http://schemas.openxmlformats.org/officeDocument/2006/relationships/tags" Target="../tags/tag581.xml"/><Relationship Id="rId28" Type="http://schemas.openxmlformats.org/officeDocument/2006/relationships/tags" Target="../tags/tag580.xml"/><Relationship Id="rId27" Type="http://schemas.openxmlformats.org/officeDocument/2006/relationships/tags" Target="../tags/tag579.xml"/><Relationship Id="rId26" Type="http://schemas.openxmlformats.org/officeDocument/2006/relationships/tags" Target="../tags/tag578.xml"/><Relationship Id="rId25" Type="http://schemas.openxmlformats.org/officeDocument/2006/relationships/tags" Target="../tags/tag577.xml"/><Relationship Id="rId24" Type="http://schemas.openxmlformats.org/officeDocument/2006/relationships/tags" Target="../tags/tag576.xml"/><Relationship Id="rId23" Type="http://schemas.openxmlformats.org/officeDocument/2006/relationships/image" Target="../media/image190.png"/><Relationship Id="rId22" Type="http://schemas.openxmlformats.org/officeDocument/2006/relationships/tags" Target="../tags/tag575.xml"/><Relationship Id="rId21" Type="http://schemas.openxmlformats.org/officeDocument/2006/relationships/tags" Target="../tags/tag574.xml"/><Relationship Id="rId20" Type="http://schemas.openxmlformats.org/officeDocument/2006/relationships/tags" Target="../tags/tag573.xml"/><Relationship Id="rId2" Type="http://schemas.openxmlformats.org/officeDocument/2006/relationships/tags" Target="../tags/tag556.xml"/><Relationship Id="rId19" Type="http://schemas.openxmlformats.org/officeDocument/2006/relationships/tags" Target="../tags/tag572.xml"/><Relationship Id="rId18" Type="http://schemas.openxmlformats.org/officeDocument/2006/relationships/tags" Target="../tags/tag571.xml"/><Relationship Id="rId17" Type="http://schemas.openxmlformats.org/officeDocument/2006/relationships/tags" Target="../tags/tag570.xml"/><Relationship Id="rId16" Type="http://schemas.openxmlformats.org/officeDocument/2006/relationships/tags" Target="../tags/tag569.xml"/><Relationship Id="rId15" Type="http://schemas.openxmlformats.org/officeDocument/2006/relationships/tags" Target="../tags/tag568.xml"/><Relationship Id="rId14" Type="http://schemas.openxmlformats.org/officeDocument/2006/relationships/tags" Target="../tags/tag567.xml"/><Relationship Id="rId13" Type="http://schemas.openxmlformats.org/officeDocument/2006/relationships/image" Target="../media/image189.jpeg"/><Relationship Id="rId12" Type="http://schemas.openxmlformats.org/officeDocument/2006/relationships/tags" Target="../tags/tag566.xml"/><Relationship Id="rId11" Type="http://schemas.openxmlformats.org/officeDocument/2006/relationships/tags" Target="../tags/tag565.xml"/><Relationship Id="rId10" Type="http://schemas.openxmlformats.org/officeDocument/2006/relationships/tags" Target="../tags/tag564.xml"/><Relationship Id="rId1" Type="http://schemas.openxmlformats.org/officeDocument/2006/relationships/tags" Target="../tags/tag555.xml"/></Relationships>
</file>

<file path=ppt/slides/_rels/slide100.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599.xml"/><Relationship Id="rId3" Type="http://schemas.openxmlformats.org/officeDocument/2006/relationships/tags" Target="../tags/tag598.xml"/><Relationship Id="rId2" Type="http://schemas.openxmlformats.org/officeDocument/2006/relationships/tags" Target="../tags/tag597.xml"/><Relationship Id="rId1" Type="http://schemas.openxmlformats.org/officeDocument/2006/relationships/image" Target="../media/image193.png"/></Relationships>
</file>

<file path=ppt/slides/_rels/slide101.xml.rels><?xml version="1.0" encoding="UTF-8" standalone="yes"?>
<Relationships xmlns="http://schemas.openxmlformats.org/package/2006/relationships"><Relationship Id="rId6" Type="http://schemas.openxmlformats.org/officeDocument/2006/relationships/notesSlide" Target="../notesSlides/notesSlide48.xml"/><Relationship Id="rId5" Type="http://schemas.openxmlformats.org/officeDocument/2006/relationships/slideLayout" Target="../slideLayouts/slideLayout12.xml"/><Relationship Id="rId4" Type="http://schemas.openxmlformats.org/officeDocument/2006/relationships/tags" Target="../tags/tag603.xml"/><Relationship Id="rId3" Type="http://schemas.openxmlformats.org/officeDocument/2006/relationships/tags" Target="../tags/tag602.xml"/><Relationship Id="rId2" Type="http://schemas.openxmlformats.org/officeDocument/2006/relationships/tags" Target="../tags/tag601.xml"/><Relationship Id="rId1" Type="http://schemas.openxmlformats.org/officeDocument/2006/relationships/tags" Target="../tags/tag600.xml"/></Relationships>
</file>

<file path=ppt/slides/_rels/slide102.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200.png"/><Relationship Id="rId6" Type="http://schemas.openxmlformats.org/officeDocument/2006/relationships/image" Target="../media/image199.png"/><Relationship Id="rId5" Type="http://schemas.openxmlformats.org/officeDocument/2006/relationships/image" Target="../media/image198.png"/><Relationship Id="rId4" Type="http://schemas.openxmlformats.org/officeDocument/2006/relationships/image" Target="../media/image197.png"/><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image" Target="../media/image19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201.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2.xml"/><Relationship Id="rId1" Type="http://schemas.openxmlformats.org/officeDocument/2006/relationships/image" Target="../media/image201.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tags" Target="../tags/tag6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9" Type="http://schemas.openxmlformats.org/officeDocument/2006/relationships/tags" Target="../tags/tag613.xml"/><Relationship Id="rId8" Type="http://schemas.openxmlformats.org/officeDocument/2006/relationships/tags" Target="../tags/tag612.xml"/><Relationship Id="rId7" Type="http://schemas.openxmlformats.org/officeDocument/2006/relationships/tags" Target="../tags/tag611.xml"/><Relationship Id="rId6" Type="http://schemas.openxmlformats.org/officeDocument/2006/relationships/tags" Target="../tags/tag610.xml"/><Relationship Id="rId5" Type="http://schemas.openxmlformats.org/officeDocument/2006/relationships/tags" Target="../tags/tag609.xml"/><Relationship Id="rId4" Type="http://schemas.openxmlformats.org/officeDocument/2006/relationships/tags" Target="../tags/tag608.xml"/><Relationship Id="rId3" Type="http://schemas.openxmlformats.org/officeDocument/2006/relationships/tags" Target="../tags/tag607.xml"/><Relationship Id="rId2" Type="http://schemas.openxmlformats.org/officeDocument/2006/relationships/tags" Target="../tags/tag606.xml"/><Relationship Id="rId16" Type="http://schemas.openxmlformats.org/officeDocument/2006/relationships/notesSlide" Target="../notesSlides/notesSlide52.xml"/><Relationship Id="rId15" Type="http://schemas.openxmlformats.org/officeDocument/2006/relationships/slideLayout" Target="../slideLayouts/slideLayout32.xml"/><Relationship Id="rId14" Type="http://schemas.openxmlformats.org/officeDocument/2006/relationships/tags" Target="../tags/tag618.xml"/><Relationship Id="rId13" Type="http://schemas.openxmlformats.org/officeDocument/2006/relationships/tags" Target="../tags/tag617.xml"/><Relationship Id="rId12" Type="http://schemas.openxmlformats.org/officeDocument/2006/relationships/tags" Target="../tags/tag616.xml"/><Relationship Id="rId11" Type="http://schemas.openxmlformats.org/officeDocument/2006/relationships/tags" Target="../tags/tag615.xml"/><Relationship Id="rId10" Type="http://schemas.openxmlformats.org/officeDocument/2006/relationships/tags" Target="../tags/tag614.xml"/><Relationship Id="rId1" Type="http://schemas.openxmlformats.org/officeDocument/2006/relationships/tags" Target="../tags/tag605.xml"/></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32.xml"/><Relationship Id="rId1" Type="http://schemas.openxmlformats.org/officeDocument/2006/relationships/tags" Target="../tags/tag619.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32.xml"/><Relationship Id="rId1" Type="http://schemas.openxmlformats.org/officeDocument/2006/relationships/tags" Target="../tags/tag620.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32.xml"/><Relationship Id="rId1" Type="http://schemas.openxmlformats.org/officeDocument/2006/relationships/tags" Target="../tags/tag62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0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中信银行知识工程整体建设方案</a:t>
            </a:r>
            <a:endParaRPr lang="zh-CN" altLang="en-US" dirty="0"/>
          </a:p>
        </p:txBody>
      </p:sp>
      <p:sp>
        <p:nvSpPr>
          <p:cNvPr id="8" name="文本占位符 7"/>
          <p:cNvSpPr>
            <a:spLocks noGrp="1"/>
          </p:cNvSpPr>
          <p:nvPr>
            <p:ph type="body" sz="quarter" idx="10"/>
          </p:nvPr>
        </p:nvSpPr>
        <p:spPr/>
        <p:txBody>
          <a:bodyPr/>
          <a:lstStyle/>
          <a:p>
            <a:r>
              <a:rPr lang="zh-CN" altLang="en-US" dirty="0">
                <a:solidFill>
                  <a:srgbClr val="000000"/>
                </a:solidFill>
                <a:latin typeface="Arial" panose="020B0604020202090204" pitchFamily="34" charset="0"/>
                <a:ea typeface="楷体" panose="02010609060101010101" pitchFamily="49" charset="-122"/>
                <a:cs typeface="楷体" panose="02010609060101010101" pitchFamily="49" charset="-122"/>
                <a:sym typeface="Arial" panose="020B0604020202090204" pitchFamily="34" charset="0"/>
              </a:rPr>
              <a:t>人工智能板块</a:t>
            </a:r>
            <a:endParaRPr lang="zh-CN" altLang="en-US" dirty="0">
              <a:solidFill>
                <a:srgbClr val="000000"/>
              </a:solidFill>
              <a:latin typeface="Arial" panose="020B0604020202090204" pitchFamily="34" charset="0"/>
              <a:ea typeface="楷体" panose="02010609060101010101" pitchFamily="49" charset="-122"/>
              <a:cs typeface="楷体" panose="02010609060101010101" pitchFamily="49" charset="-122"/>
              <a:sym typeface="Arial" panose="020B0604020202090204" pitchFamily="34" charset="0"/>
            </a:endParaRPr>
          </a:p>
          <a:p>
            <a:endParaRPr lang="zh-CN" altLang="en-US"/>
          </a:p>
        </p:txBody>
      </p:sp>
      <p:sp>
        <p:nvSpPr>
          <p:cNvPr id="9" name="文本占位符 8"/>
          <p:cNvSpPr>
            <a:spLocks noGrp="1"/>
          </p:cNvSpPr>
          <p:nvPr>
            <p:ph type="body" sz="quarter" idx="11"/>
          </p:nvPr>
        </p:nvSpPr>
        <p:spPr/>
        <p:txBody>
          <a:bodyPr/>
          <a:lstStyle/>
          <a:p>
            <a:pPr algn="l">
              <a:lnSpc>
                <a:spcPct val="120000"/>
              </a:lnSpc>
              <a:spcBef>
                <a:spcPts val="800"/>
              </a:spcBef>
            </a:pPr>
            <a:fld id="{BB962C8B-B14F-4D97-AF65-F5344CB8AC3E}" type="datetime2">
              <a:rPr lang="zh-CN" altLang="en-US" dirty="0">
                <a:solidFill>
                  <a:srgbClr val="000000"/>
                </a:solidFill>
                <a:latin typeface="Arial" panose="020B0604020202090204" pitchFamily="34" charset="0"/>
                <a:ea typeface="楷体" panose="02010609060101010101" pitchFamily="49" charset="-122"/>
                <a:cs typeface="楷体" panose="02010609060101010101" pitchFamily="49" charset="-122"/>
                <a:sym typeface="Arial" panose="020B0604020202090204" pitchFamily="34" charset="0"/>
              </a:rPr>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288353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en-US" altLang="zh-CN"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平行四边形 4"/>
          <p:cNvSpPr/>
          <p:nvPr/>
        </p:nvSpPr>
        <p:spPr>
          <a:xfrm>
            <a:off x="696687" y="1193800"/>
            <a:ext cx="11049188" cy="872849"/>
          </a:xfrm>
          <a:prstGeom prst="parallelogram">
            <a:avLst>
              <a:gd name="adj" fmla="val 110100"/>
            </a:avLst>
          </a:prstGeom>
          <a:solidFill>
            <a:schemeClr val="accent1">
              <a:lumMod val="20000"/>
              <a:lumOff val="80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r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 name="文本框 6"/>
          <p:cNvSpPr txBox="1"/>
          <p:nvPr/>
        </p:nvSpPr>
        <p:spPr>
          <a:xfrm>
            <a:off x="2320755" y="1328145"/>
            <a:ext cx="8739131"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2025</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年</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6</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月中国通信标准化</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协会大数据技术标准推进委员会发布</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人工智能知识工程指南（</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1.0</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，明确定义了什么是知识、什么是知识工程。</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Title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什么是知识工程：知识、知识工程定义</a:t>
            </a:r>
            <a:endPar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pic>
        <p:nvPicPr>
          <p:cNvPr id="4" name="图片 3"/>
          <p:cNvPicPr>
            <a:picLocks noChangeAspect="1"/>
          </p:cNvPicPr>
          <p:nvPr/>
        </p:nvPicPr>
        <p:blipFill>
          <a:blip r:embed="rId1"/>
          <a:stretch>
            <a:fillRect/>
          </a:stretch>
        </p:blipFill>
        <p:spPr>
          <a:xfrm>
            <a:off x="1001487" y="861494"/>
            <a:ext cx="943427" cy="1196241"/>
          </a:xfrm>
          <a:prstGeom prst="rect">
            <a:avLst/>
          </a:prstGeom>
          <a:effectLst>
            <a:outerShdw blurRad="76200" dir="18900000" sy="23000" kx="-1200000" algn="bl" rotWithShape="0">
              <a:prstClr val="black">
                <a:alpha val="20000"/>
              </a:prstClr>
            </a:outerShdw>
          </a:effectLst>
        </p:spPr>
      </p:pic>
      <p:grpSp>
        <p:nvGrpSpPr>
          <p:cNvPr id="38" name="组合 37"/>
          <p:cNvGrpSpPr/>
          <p:nvPr/>
        </p:nvGrpSpPr>
        <p:grpSpPr>
          <a:xfrm>
            <a:off x="564913" y="2777183"/>
            <a:ext cx="3623630" cy="1574919"/>
            <a:chOff x="829141" y="3127303"/>
            <a:chExt cx="4483088" cy="1716386"/>
          </a:xfrm>
        </p:grpSpPr>
        <p:sp>
          <p:nvSpPr>
            <p:cNvPr id="43" name="等腰三角形 42"/>
            <p:cNvSpPr/>
            <p:nvPr/>
          </p:nvSpPr>
          <p:spPr>
            <a:xfrm>
              <a:off x="1716799" y="3127304"/>
              <a:ext cx="3595430" cy="1671751"/>
            </a:xfrm>
            <a:prstGeom prst="triangl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0" name="等腰三角形 49"/>
            <p:cNvSpPr/>
            <p:nvPr/>
          </p:nvSpPr>
          <p:spPr>
            <a:xfrm>
              <a:off x="2128465" y="3127304"/>
              <a:ext cx="2772100" cy="128893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1" name="等腰三角形 50"/>
            <p:cNvSpPr/>
            <p:nvPr/>
          </p:nvSpPr>
          <p:spPr>
            <a:xfrm>
              <a:off x="2475008" y="3127303"/>
              <a:ext cx="2079011" cy="966669"/>
            </a:xfrm>
            <a:prstGeom prst="triangle">
              <a:avLst/>
            </a:prstGeom>
            <a:solidFill>
              <a:srgbClr val="5A8BD1"/>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4" name="等腰三角形 53"/>
            <p:cNvSpPr/>
            <p:nvPr/>
          </p:nvSpPr>
          <p:spPr>
            <a:xfrm>
              <a:off x="2856472" y="3127304"/>
              <a:ext cx="1316084" cy="611935"/>
            </a:xfrm>
            <a:prstGeom prst="triangle">
              <a:avLst/>
            </a:prstGeom>
            <a:solidFill>
              <a:srgbClr val="4775CC"/>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5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6" name="文本框 55"/>
            <p:cNvSpPr txBox="1"/>
            <p:nvPr/>
          </p:nvSpPr>
          <p:spPr>
            <a:xfrm>
              <a:off x="3007625" y="3258591"/>
              <a:ext cx="1013780" cy="5366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智慧</a:t>
              </a:r>
              <a:endParaRPr kumimoji="0" lang="zh-CN" altLang="en-US" sz="1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（启示性、前瞻性的洞见）</a:t>
              </a:r>
              <a:endParaRPr kumimoji="0" lang="zh-CN" altLang="en-US" sz="8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8" name="文本框 57"/>
            <p:cNvSpPr txBox="1"/>
            <p:nvPr/>
          </p:nvSpPr>
          <p:spPr>
            <a:xfrm>
              <a:off x="2495992" y="3713929"/>
              <a:ext cx="2037045"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a:t>
              </a:r>
              <a:endParaRPr kumimoji="0" lang="zh-CN" altLang="en-US" sz="1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（事物变化规律，知其所以然）</a:t>
              </a:r>
              <a:endParaRPr kumimoji="0" lang="zh-CN" altLang="en-US" sz="8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60" name="文本框 59"/>
            <p:cNvSpPr txBox="1"/>
            <p:nvPr/>
          </p:nvSpPr>
          <p:spPr>
            <a:xfrm>
              <a:off x="2345123" y="4059377"/>
              <a:ext cx="233878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信息</a:t>
              </a:r>
              <a:endParaRPr kumimoji="0" lang="zh-CN" altLang="en-US" sz="1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（可理解的事物状态和联系，知其然）</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2" name="文本框 61"/>
            <p:cNvSpPr txBox="1"/>
            <p:nvPr/>
          </p:nvSpPr>
          <p:spPr>
            <a:xfrm>
              <a:off x="2347794" y="4441182"/>
              <a:ext cx="2333441" cy="40250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数据</a:t>
              </a:r>
              <a:endParaRPr kumimoji="0" lang="en-US" altLang="zh-CN" sz="1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（对事实的记录）</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3" name="箭头: 下弧形 62"/>
            <p:cNvSpPr/>
            <p:nvPr/>
          </p:nvSpPr>
          <p:spPr>
            <a:xfrm rot="19124014" flipV="1">
              <a:off x="1675329" y="4288487"/>
              <a:ext cx="537745" cy="162777"/>
            </a:xfrm>
            <a:prstGeom prst="curved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4" name="箭头: 下弧形 63"/>
            <p:cNvSpPr/>
            <p:nvPr/>
          </p:nvSpPr>
          <p:spPr>
            <a:xfrm rot="18999447" flipV="1">
              <a:off x="2119438" y="3879260"/>
              <a:ext cx="523308" cy="162777"/>
            </a:xfrm>
            <a:prstGeom prst="curved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5" name="箭头: 下弧形 64"/>
            <p:cNvSpPr/>
            <p:nvPr/>
          </p:nvSpPr>
          <p:spPr>
            <a:xfrm rot="19244966" flipV="1">
              <a:off x="2528055" y="3482336"/>
              <a:ext cx="592349" cy="162777"/>
            </a:xfrm>
            <a:prstGeom prst="curved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6" name="文本框 65"/>
            <p:cNvSpPr txBox="1"/>
            <p:nvPr/>
          </p:nvSpPr>
          <p:spPr>
            <a:xfrm>
              <a:off x="1728132" y="3411281"/>
              <a:ext cx="104322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总结、洞察</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7" name="文本框 66"/>
            <p:cNvSpPr txBox="1"/>
            <p:nvPr/>
          </p:nvSpPr>
          <p:spPr>
            <a:xfrm>
              <a:off x="1276082" y="3808390"/>
              <a:ext cx="104322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归纳、演绎</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8" name="文本框 67"/>
            <p:cNvSpPr txBox="1"/>
            <p:nvPr/>
          </p:nvSpPr>
          <p:spPr>
            <a:xfrm>
              <a:off x="829141" y="4231008"/>
              <a:ext cx="104322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分析、提炼</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27" name="组合 126"/>
          <p:cNvGrpSpPr/>
          <p:nvPr/>
        </p:nvGrpSpPr>
        <p:grpSpPr>
          <a:xfrm>
            <a:off x="4255712" y="2777181"/>
            <a:ext cx="7371375" cy="1584057"/>
            <a:chOff x="6181607" y="3037114"/>
            <a:chExt cx="5156922" cy="1727826"/>
          </a:xfrm>
        </p:grpSpPr>
        <p:sp>
          <p:nvSpPr>
            <p:cNvPr id="37" name="文本框 36"/>
            <p:cNvSpPr txBox="1"/>
            <p:nvPr/>
          </p:nvSpPr>
          <p:spPr>
            <a:xfrm>
              <a:off x="6181607" y="3037114"/>
              <a:ext cx="5156922" cy="356240"/>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知识与数据</a:t>
              </a: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信息的区分在于知识包含的</a:t>
              </a: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4</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大特性</a:t>
              </a: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nvSpPr>
          <p:spPr>
            <a:xfrm>
              <a:off x="6181607" y="3427279"/>
              <a:ext cx="2480162" cy="625898"/>
            </a:xfrm>
            <a:prstGeom prst="rect">
              <a:avLst/>
            </a:prstGeom>
            <a:pattFill prst="pct25">
              <a:fgClr>
                <a:schemeClr val="accent1">
                  <a:lumMod val="20000"/>
                  <a:lumOff val="80000"/>
                </a:schemeClr>
              </a:fgClr>
              <a:bgClr>
                <a:schemeClr val="bg1"/>
              </a:bgClr>
            </a:pattFill>
            <a:ln w="38100">
              <a:noFill/>
            </a:ln>
            <a:effectLst/>
          </p:spPr>
          <p:txBody>
            <a:bodyPr wrap="square" lIns="0" rIns="0" anchor="ctr" anchorCtr="0">
              <a:noAutofit/>
            </a:bodyPr>
            <a:lstStyle/>
            <a:p>
              <a:pPr marL="144145" marR="0" lvl="0" indent="-144145"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稳定性:</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虽会逐步更新，但仍相对稳定，具备积累的必要性</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0" name="文本框 69"/>
            <p:cNvSpPr txBox="1"/>
            <p:nvPr/>
          </p:nvSpPr>
          <p:spPr>
            <a:xfrm>
              <a:off x="6181607" y="4139042"/>
              <a:ext cx="2480162" cy="625898"/>
            </a:xfrm>
            <a:prstGeom prst="rect">
              <a:avLst/>
            </a:prstGeom>
            <a:pattFill prst="pct25">
              <a:fgClr>
                <a:schemeClr val="accent1">
                  <a:lumMod val="20000"/>
                  <a:lumOff val="80000"/>
                </a:schemeClr>
              </a:fgClr>
              <a:bgClr>
                <a:schemeClr val="bg1"/>
              </a:bgClr>
            </a:pattFill>
            <a:ln w="38100">
              <a:noFill/>
            </a:ln>
            <a:effectLst/>
          </p:spPr>
          <p:txBody>
            <a:bodyPr wrap="square" lIns="0" rIns="0" anchor="ctr" anchorCtr="0">
              <a:noAutofit/>
            </a:bodyPr>
            <a:lstStyle/>
            <a:p>
              <a:pPr marL="144145" marR="0" lvl="0" indent="-144145"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关联性:</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知识通常会相互关联、相互影响，随时间的推移共同演进</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8858367" y="3427279"/>
              <a:ext cx="2480162" cy="625898"/>
            </a:xfrm>
            <a:prstGeom prst="rect">
              <a:avLst/>
            </a:prstGeom>
            <a:pattFill prst="pct25">
              <a:fgClr>
                <a:schemeClr val="accent1">
                  <a:lumMod val="20000"/>
                  <a:lumOff val="80000"/>
                </a:schemeClr>
              </a:fgClr>
              <a:bgClr>
                <a:schemeClr val="bg1"/>
              </a:bgClr>
            </a:pattFill>
            <a:ln w="38100">
              <a:noFill/>
            </a:ln>
            <a:effectLst/>
          </p:spPr>
          <p:txBody>
            <a:bodyPr wrap="square" lIns="0" rIns="0" anchor="ctr" anchorCtr="0">
              <a:noAutofit/>
            </a:bodyPr>
            <a:lstStyle/>
            <a:p>
              <a:pPr marL="144145" marR="0" lvl="0" indent="-144145"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实践性:</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可赋能决策、指导实践，并可通过实践验证。</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8858367" y="4139041"/>
              <a:ext cx="2480162" cy="625897"/>
            </a:xfrm>
            <a:prstGeom prst="rect">
              <a:avLst/>
            </a:prstGeom>
            <a:pattFill prst="pct25">
              <a:fgClr>
                <a:schemeClr val="accent1">
                  <a:lumMod val="20000"/>
                  <a:lumOff val="80000"/>
                </a:schemeClr>
              </a:fgClr>
              <a:bgClr>
                <a:schemeClr val="bg1"/>
              </a:bgClr>
            </a:pattFill>
            <a:ln w="38100">
              <a:noFill/>
            </a:ln>
            <a:effectLst/>
          </p:spPr>
          <p:txBody>
            <a:bodyPr wrap="square" lIns="0" rIns="0" anchor="ctr" anchorCtr="0">
              <a:noAutofit/>
            </a:bodyPr>
            <a:lstStyle/>
            <a:p>
              <a:pPr marL="144145" marR="0" lvl="0" indent="-144145" algn="l" defTabSz="914400" rtl="0" eaLnBrk="1" fontAlgn="auto" latinLnBrk="0" hangingPunct="1">
                <a:lnSpc>
                  <a:spcPct val="100000"/>
                </a:lnSpc>
                <a:spcBef>
                  <a:spcPts val="0"/>
                </a:spcBef>
                <a:spcAft>
                  <a:spcPts val="600"/>
                </a:spcAft>
                <a:buClrTx/>
                <a:buSzTx/>
                <a:buFont typeface="Arial" panose="020B0604020202090204" pitchFamily="34" charset="0"/>
                <a:buChar char="•"/>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价值性:</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知识传播复用的成本较低，具备较高的价值密度。</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73" name="矩形 72"/>
          <p:cNvSpPr/>
          <p:nvPr/>
        </p:nvSpPr>
        <p:spPr>
          <a:xfrm>
            <a:off x="446125" y="2173614"/>
            <a:ext cx="11299750" cy="4490605"/>
          </a:xfrm>
          <a:prstGeom prst="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77" name="文本框 76"/>
          <p:cNvSpPr txBox="1"/>
          <p:nvPr/>
        </p:nvSpPr>
        <p:spPr>
          <a:xfrm>
            <a:off x="610494" y="2289746"/>
            <a:ext cx="11016593" cy="445885"/>
          </a:xfrm>
          <a:prstGeom prst="rect">
            <a:avLst/>
          </a:prstGeom>
          <a:solidFill>
            <a:schemeClr val="bg1">
              <a:lumMod val="9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知识的定义：</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是对信息的解释和理解，是</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经过验证的、可应用</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的</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见解和经验</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，是</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机构无形资产</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的重要组成部分。</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0" name="文本框 79"/>
          <p:cNvSpPr txBox="1"/>
          <p:nvPr/>
        </p:nvSpPr>
        <p:spPr>
          <a:xfrm>
            <a:off x="613148" y="4533582"/>
            <a:ext cx="11013939" cy="530939"/>
          </a:xfrm>
          <a:prstGeom prst="rect">
            <a:avLst/>
          </a:prstGeom>
          <a:solidFill>
            <a:schemeClr val="bg1">
              <a:lumMod val="95000"/>
            </a:schemeClr>
          </a:solidFill>
        </p:spPr>
        <p:txBody>
          <a:bodyPr wrap="square"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知识工程：</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是</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机构知识能力的集合</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，通过整合、存储和管理机构内外的各类</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知识资源</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，实现知识的</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高效共享</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赋能机构的智能决策和大模型应用落地。</a:t>
            </a:r>
            <a:endPar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grpSp>
        <p:nvGrpSpPr>
          <p:cNvPr id="98" name="组合 97"/>
          <p:cNvGrpSpPr/>
          <p:nvPr/>
        </p:nvGrpSpPr>
        <p:grpSpPr>
          <a:xfrm>
            <a:off x="5270500" y="5157430"/>
            <a:ext cx="1791878" cy="1344969"/>
            <a:chOff x="6469467" y="3059939"/>
            <a:chExt cx="2506892" cy="2262223"/>
          </a:xfrm>
        </p:grpSpPr>
        <p:sp>
          <p:nvSpPr>
            <p:cNvPr id="100" name="Flowchart: Decision 12"/>
            <p:cNvSpPr/>
            <p:nvPr/>
          </p:nvSpPr>
          <p:spPr>
            <a:xfrm>
              <a:off x="6469467" y="4395433"/>
              <a:ext cx="2506892" cy="926729"/>
            </a:xfrm>
            <a:prstGeom prst="flowChartDecision">
              <a:avLst/>
            </a:prstGeom>
            <a:solidFill>
              <a:schemeClr val="bg1">
                <a:lumMod val="6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02" name="直接箭头连接符 101"/>
            <p:cNvCxnSpPr/>
            <p:nvPr/>
          </p:nvCxnSpPr>
          <p:spPr>
            <a:xfrm>
              <a:off x="7713814" y="4427202"/>
              <a:ext cx="0" cy="25200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Flowchart: Decision 13"/>
            <p:cNvSpPr/>
            <p:nvPr/>
          </p:nvSpPr>
          <p:spPr>
            <a:xfrm>
              <a:off x="6469467" y="3782348"/>
              <a:ext cx="2506892" cy="926729"/>
            </a:xfrm>
            <a:prstGeom prst="flowChartDecision">
              <a:avLst/>
            </a:prstGeom>
            <a:solidFill>
              <a:schemeClr val="accent1">
                <a:lumMod val="20000"/>
                <a:lumOff val="8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5" name="Rectangle 7"/>
            <p:cNvSpPr/>
            <p:nvPr/>
          </p:nvSpPr>
          <p:spPr>
            <a:xfrm rot="5400000">
              <a:off x="5847686" y="4134490"/>
              <a:ext cx="1402788" cy="156426"/>
            </a:xfrm>
            <a:custGeom>
              <a:avLst/>
              <a:gdLst>
                <a:gd name="connsiteX0" fmla="*/ 0 w 3233143"/>
                <a:gd name="connsiteY0" fmla="*/ 0 h 246241"/>
                <a:gd name="connsiteX1" fmla="*/ 3233143 w 3233143"/>
                <a:gd name="connsiteY1" fmla="*/ 0 h 246241"/>
                <a:gd name="connsiteX2" fmla="*/ 3233143 w 3233143"/>
                <a:gd name="connsiteY2" fmla="*/ 246241 h 246241"/>
                <a:gd name="connsiteX3" fmla="*/ 0 w 3233143"/>
                <a:gd name="connsiteY3" fmla="*/ 246241 h 246241"/>
                <a:gd name="connsiteX4" fmla="*/ 0 w 3233143"/>
                <a:gd name="connsiteY4" fmla="*/ 0 h 246241"/>
                <a:gd name="connsiteX0-1" fmla="*/ 0 w 3233143"/>
                <a:gd name="connsiteY0-2" fmla="*/ 0 h 246241"/>
                <a:gd name="connsiteX1-3" fmla="*/ 3233143 w 3233143"/>
                <a:gd name="connsiteY1-4" fmla="*/ 0 h 246241"/>
                <a:gd name="connsiteX2-5" fmla="*/ 3192200 w 3233143"/>
                <a:gd name="connsiteY2-6" fmla="*/ 246241 h 246241"/>
                <a:gd name="connsiteX3-7" fmla="*/ 0 w 3233143"/>
                <a:gd name="connsiteY3-8" fmla="*/ 246241 h 246241"/>
                <a:gd name="connsiteX4-9" fmla="*/ 0 w 3233143"/>
                <a:gd name="connsiteY4-10" fmla="*/ 0 h 246241"/>
                <a:gd name="connsiteX0-11" fmla="*/ 0 w 3233143"/>
                <a:gd name="connsiteY0-12" fmla="*/ 0 h 253065"/>
                <a:gd name="connsiteX1-13" fmla="*/ 3233143 w 3233143"/>
                <a:gd name="connsiteY1-14" fmla="*/ 0 h 253065"/>
                <a:gd name="connsiteX2-15" fmla="*/ 3192200 w 3233143"/>
                <a:gd name="connsiteY2-16" fmla="*/ 246241 h 253065"/>
                <a:gd name="connsiteX3-17" fmla="*/ 47767 w 3233143"/>
                <a:gd name="connsiteY3-18" fmla="*/ 253065 h 253065"/>
                <a:gd name="connsiteX4-19" fmla="*/ 0 w 3233143"/>
                <a:gd name="connsiteY4-20" fmla="*/ 0 h 25306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33143" h="253065">
                  <a:moveTo>
                    <a:pt x="0" y="0"/>
                  </a:moveTo>
                  <a:lnTo>
                    <a:pt x="3233143" y="0"/>
                  </a:lnTo>
                  <a:lnTo>
                    <a:pt x="3192200" y="246241"/>
                  </a:lnTo>
                  <a:lnTo>
                    <a:pt x="47767" y="253065"/>
                  </a:lnTo>
                  <a:lnTo>
                    <a:pt x="0" y="0"/>
                  </a:lnTo>
                  <a:close/>
                </a:path>
              </a:pathLst>
            </a:custGeom>
            <a:solidFill>
              <a:schemeClr val="accent1">
                <a:lumMod val="40000"/>
                <a:lumOff val="60000"/>
                <a:alpha val="7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Arial" panose="020B0604020202090204" pitchFamily="34" charset="0"/>
              </a:endParaRPr>
            </a:p>
          </p:txBody>
        </p:sp>
        <p:sp>
          <p:nvSpPr>
            <p:cNvPr id="106" name="Rectangle 8"/>
            <p:cNvSpPr/>
            <p:nvPr/>
          </p:nvSpPr>
          <p:spPr>
            <a:xfrm rot="5400000">
              <a:off x="8156745" y="4130898"/>
              <a:ext cx="1417668" cy="156426"/>
            </a:xfrm>
            <a:custGeom>
              <a:avLst/>
              <a:gdLst>
                <a:gd name="connsiteX0" fmla="*/ 0 w 3220989"/>
                <a:gd name="connsiteY0" fmla="*/ 0 h 252000"/>
                <a:gd name="connsiteX1" fmla="*/ 3220989 w 3220989"/>
                <a:gd name="connsiteY1" fmla="*/ 0 h 252000"/>
                <a:gd name="connsiteX2" fmla="*/ 3220989 w 3220989"/>
                <a:gd name="connsiteY2" fmla="*/ 252000 h 252000"/>
                <a:gd name="connsiteX3" fmla="*/ 0 w 3220989"/>
                <a:gd name="connsiteY3" fmla="*/ 252000 h 252000"/>
                <a:gd name="connsiteX4" fmla="*/ 0 w 3220989"/>
                <a:gd name="connsiteY4" fmla="*/ 0 h 252000"/>
                <a:gd name="connsiteX0-1" fmla="*/ 0 w 3220989"/>
                <a:gd name="connsiteY0-2" fmla="*/ 1 h 252001"/>
                <a:gd name="connsiteX1-3" fmla="*/ 3170750 w 3220989"/>
                <a:gd name="connsiteY1-4" fmla="*/ 0 h 252001"/>
                <a:gd name="connsiteX2-5" fmla="*/ 3220989 w 3220989"/>
                <a:gd name="connsiteY2-6" fmla="*/ 252001 h 252001"/>
                <a:gd name="connsiteX3-7" fmla="*/ 0 w 3220989"/>
                <a:gd name="connsiteY3-8" fmla="*/ 252001 h 252001"/>
                <a:gd name="connsiteX4-9" fmla="*/ 0 w 3220989"/>
                <a:gd name="connsiteY4-10" fmla="*/ 1 h 252001"/>
                <a:gd name="connsiteX0-11" fmla="*/ 20096 w 3220989"/>
                <a:gd name="connsiteY0-12" fmla="*/ 1 h 252001"/>
                <a:gd name="connsiteX1-13" fmla="*/ 3170750 w 3220989"/>
                <a:gd name="connsiteY1-14" fmla="*/ 0 h 252001"/>
                <a:gd name="connsiteX2-15" fmla="*/ 3220989 w 3220989"/>
                <a:gd name="connsiteY2-16" fmla="*/ 252001 h 252001"/>
                <a:gd name="connsiteX3-17" fmla="*/ 0 w 3220989"/>
                <a:gd name="connsiteY3-18" fmla="*/ 252001 h 252001"/>
                <a:gd name="connsiteX4-19" fmla="*/ 20096 w 3220989"/>
                <a:gd name="connsiteY4-20" fmla="*/ 1 h 252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20989" h="252001">
                  <a:moveTo>
                    <a:pt x="20096" y="1"/>
                  </a:moveTo>
                  <a:lnTo>
                    <a:pt x="3170750" y="0"/>
                  </a:lnTo>
                  <a:lnTo>
                    <a:pt x="3220989" y="252001"/>
                  </a:lnTo>
                  <a:lnTo>
                    <a:pt x="0" y="252001"/>
                  </a:lnTo>
                  <a:lnTo>
                    <a:pt x="20096" y="1"/>
                  </a:lnTo>
                  <a:close/>
                </a:path>
              </a:pathLst>
            </a:custGeom>
            <a:solidFill>
              <a:schemeClr val="accent1">
                <a:lumMod val="40000"/>
                <a:lumOff val="60000"/>
                <a:alpha val="7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Arial" panose="020B0604020202090204" pitchFamily="34" charset="0"/>
              </a:endParaRPr>
            </a:p>
          </p:txBody>
        </p:sp>
        <p:sp>
          <p:nvSpPr>
            <p:cNvPr id="107" name="文本框 106"/>
            <p:cNvSpPr txBox="1"/>
            <p:nvPr/>
          </p:nvSpPr>
          <p:spPr>
            <a:xfrm>
              <a:off x="6906451" y="4758447"/>
              <a:ext cx="1643190" cy="296437"/>
            </a:xfrm>
            <a:prstGeom prst="rect">
              <a:avLst/>
            </a:prstGeom>
            <a:no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技术能力层面</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8" name="文本框 107"/>
            <p:cNvSpPr txBox="1"/>
            <p:nvPr/>
          </p:nvSpPr>
          <p:spPr>
            <a:xfrm>
              <a:off x="6906451" y="4077510"/>
              <a:ext cx="1643190" cy="296437"/>
            </a:xfrm>
            <a:prstGeom prst="rect">
              <a:avLst/>
            </a:prstGeom>
            <a:no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rPr>
                <a:t>知识管理层面</a:t>
              </a:r>
              <a:endParaRPr kumimoji="0" lang="zh-CN" altLang="en-US" sz="1200" b="1" i="0" u="none" strike="noStrike" kern="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endParaRPr>
            </a:p>
          </p:txBody>
        </p:sp>
        <p:cxnSp>
          <p:nvCxnSpPr>
            <p:cNvPr id="109" name="直接箭头连接符 108"/>
            <p:cNvCxnSpPr/>
            <p:nvPr/>
          </p:nvCxnSpPr>
          <p:spPr>
            <a:xfrm>
              <a:off x="7192329" y="4496776"/>
              <a:ext cx="0" cy="362021"/>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8139859" y="4550051"/>
              <a:ext cx="0" cy="362021"/>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8458346" y="4457077"/>
              <a:ext cx="0" cy="25200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flipV="1">
              <a:off x="7192329" y="3782348"/>
              <a:ext cx="0" cy="29516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flipV="1">
              <a:off x="8458346" y="3711584"/>
              <a:ext cx="0" cy="36592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flipV="1">
              <a:off x="7713814" y="3779029"/>
              <a:ext cx="0" cy="27451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p:nvPr/>
          </p:nvCxnSpPr>
          <p:spPr>
            <a:xfrm flipV="1">
              <a:off x="8139859" y="3810829"/>
              <a:ext cx="0" cy="27451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6" name="Flowchart: Decision 14"/>
            <p:cNvSpPr/>
            <p:nvPr/>
          </p:nvSpPr>
          <p:spPr>
            <a:xfrm>
              <a:off x="6469467" y="3059939"/>
              <a:ext cx="2506892" cy="926729"/>
            </a:xfrm>
            <a:prstGeom prst="flowChartDecision">
              <a:avLst/>
            </a:prstGeom>
            <a:solidFill>
              <a:schemeClr val="accent1">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7" name="文本框 116"/>
            <p:cNvSpPr txBox="1"/>
            <p:nvPr/>
          </p:nvSpPr>
          <p:spPr>
            <a:xfrm>
              <a:off x="6906451" y="3275780"/>
              <a:ext cx="1643190" cy="296437"/>
            </a:xfrm>
            <a:prstGeom prst="rect">
              <a:avLst/>
            </a:prstGeom>
            <a:no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知识服务层面</a:t>
              </a:r>
              <a:endParaRPr kumimoji="0" lang="zh-CN" altLang="en-US" sz="1200" b="1" i="0" u="none" strike="noStrike" kern="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endParaRPr>
            </a:p>
          </p:txBody>
        </p:sp>
      </p:grpSp>
      <p:sp>
        <p:nvSpPr>
          <p:cNvPr id="119" name="文本框 118"/>
          <p:cNvSpPr txBox="1"/>
          <p:nvPr/>
        </p:nvSpPr>
        <p:spPr>
          <a:xfrm>
            <a:off x="8081909" y="5190741"/>
            <a:ext cx="3545178" cy="1260858"/>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txBody>
          <a:bodyPr wrap="square" lIns="14400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通过自然语言处理</a:t>
            </a:r>
            <a:r>
              <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(NLP)</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、机器学习、知识挖掘等手段，提供知识采集、分类、检索、分析、推荐等能力，实现对知识的处理、加工及应用</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610495" y="5754055"/>
            <a:ext cx="3344368" cy="697544"/>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txBody>
          <a:bodyPr wrap="square" lIns="144000" anchor="ctr">
            <a:noAutofit/>
          </a:bodyPr>
          <a:lstStyle>
            <a:defPPr>
              <a:defRPr lang="zh-CN"/>
            </a:defPPr>
            <a:lvl1pPr marL="144145" indent="-144145">
              <a:buFont typeface="Arial" panose="020B0604020202090204" pitchFamily="34" charset="0"/>
              <a:buChar char="•"/>
              <a:defRPr sz="1200"/>
            </a:lvl1p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整合内外部知识资源，依托知识管理体系，实现知识的整合与运营管理，为机构提供丰富的知识供给</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1" name="文本框 120"/>
          <p:cNvSpPr txBox="1"/>
          <p:nvPr/>
        </p:nvSpPr>
        <p:spPr>
          <a:xfrm>
            <a:off x="617452" y="5190741"/>
            <a:ext cx="3344368" cy="438215"/>
          </a:xfrm>
          <a:prstGeom prst="rect">
            <a:avLst/>
          </a:prstGeom>
          <a:solidFill>
            <a:schemeClr val="bg1"/>
          </a:solidFill>
          <a:ln w="3175">
            <a:solidFill>
              <a:schemeClr val="bg1">
                <a:lumMod val="50000"/>
              </a:schemeClr>
            </a:solidFill>
          </a:ln>
          <a:effectLst>
            <a:outerShdw blurRad="50800" dist="38100" dir="2700000" algn="tl" rotWithShape="0">
              <a:prstClr val="black">
                <a:alpha val="40000"/>
              </a:prstClr>
            </a:outerShdw>
          </a:effectLst>
        </p:spPr>
        <p:txBody>
          <a:bodyPr wrap="square" lIns="144000" anchor="ctr">
            <a:noAutofit/>
          </a:bodyPr>
          <a:lstStyle>
            <a:defPPr>
              <a:defRPr lang="zh-CN"/>
            </a:defPPr>
            <a:lvl1pPr marL="144145" indent="-144145">
              <a:buFont typeface="Arial" panose="020B0604020202090204" pitchFamily="34" charset="0"/>
              <a:buChar char="•"/>
              <a:defRPr sz="1200"/>
            </a:lvl1pPr>
          </a:lstStyle>
          <a:p>
            <a:pPr marL="0"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知识工程提供知识共享与协作、知识检索、推荐、问答等能力</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22" name="连接符: 肘形 121"/>
          <p:cNvCxnSpPr>
            <a:stCxn id="117" idx="1"/>
            <a:endCxn id="121" idx="3"/>
          </p:cNvCxnSpPr>
          <p:nvPr/>
        </p:nvCxnSpPr>
        <p:spPr>
          <a:xfrm rot="10800000" flipV="1">
            <a:off x="3961820" y="5373875"/>
            <a:ext cx="1621028" cy="35973"/>
          </a:xfrm>
          <a:prstGeom prst="bentConnector3">
            <a:avLst>
              <a:gd name="adj1" fmla="val 50000"/>
            </a:avLst>
          </a:prstGeom>
          <a:ln>
            <a:solidFill>
              <a:srgbClr val="C0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23" name="连接符: 肘形 122"/>
          <p:cNvCxnSpPr>
            <a:stCxn id="108" idx="1"/>
            <a:endCxn id="120" idx="3"/>
          </p:cNvCxnSpPr>
          <p:nvPr/>
        </p:nvCxnSpPr>
        <p:spPr>
          <a:xfrm rot="10800000" flipV="1">
            <a:off x="3954864" y="5850531"/>
            <a:ext cx="1627985" cy="252295"/>
          </a:xfrm>
          <a:prstGeom prst="bentConnector3">
            <a:avLst>
              <a:gd name="adj1" fmla="val 50000"/>
            </a:avLst>
          </a:prstGeom>
          <a:ln>
            <a:solidFill>
              <a:srgbClr val="C0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124" name="连接符: 肘形 123"/>
          <p:cNvCxnSpPr>
            <a:stCxn id="107" idx="3"/>
            <a:endCxn id="119" idx="1"/>
          </p:cNvCxnSpPr>
          <p:nvPr/>
        </p:nvCxnSpPr>
        <p:spPr>
          <a:xfrm flipV="1">
            <a:off x="6757368" y="5821170"/>
            <a:ext cx="1324541" cy="434202"/>
          </a:xfrm>
          <a:prstGeom prst="bentConnector3">
            <a:avLst>
              <a:gd name="adj1" fmla="val 50000"/>
            </a:avLst>
          </a:prstGeom>
          <a:ln>
            <a:solidFill>
              <a:srgbClr val="C00000"/>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平行四边形 49"/>
          <p:cNvSpPr/>
          <p:nvPr/>
        </p:nvSpPr>
        <p:spPr>
          <a:xfrm>
            <a:off x="684846" y="1193800"/>
            <a:ext cx="11049188" cy="872849"/>
          </a:xfrm>
          <a:prstGeom prst="parallelogram">
            <a:avLst>
              <a:gd name="adj" fmla="val 110100"/>
            </a:avLst>
          </a:prstGeom>
          <a:solidFill>
            <a:schemeClr val="accent1">
              <a:lumMod val="20000"/>
              <a:lumOff val="80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r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 name="Title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什么是知识工程：知识工程建设的宗旨及关键要素</a:t>
            </a:r>
            <a:endPar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1" name="文本框 30"/>
          <p:cNvSpPr txBox="1"/>
          <p:nvPr/>
        </p:nvSpPr>
        <p:spPr>
          <a:xfrm>
            <a:off x="684846" y="4355793"/>
            <a:ext cx="11049188" cy="1967928"/>
          </a:xfrm>
          <a:prstGeom prst="rect">
            <a:avLst/>
          </a:prstGeom>
          <a:solidFill>
            <a:schemeClr val="accent1">
              <a:lumMod val="20000"/>
              <a:lumOff val="80000"/>
              <a:alpha val="56000"/>
            </a:schemeClr>
          </a:solidFill>
          <a:effectLst/>
        </p:spPr>
        <p:txBody>
          <a:bodyPr wrap="square" tIns="1080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知识工程建设宗旨：</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通过</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建设知识工程工具链</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完善知识管理体系</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构筑智能化的知识服务</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等方式助力机构全方位提升知识管理及应用能力，</a:t>
            </a:r>
            <a:r>
              <a:rPr kumimoji="0" lang="zh-CN" altLang="en-US" sz="1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提升组织效率，促进机构落地大模型驱动的创新应用，并实现知识持续运营</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4" name="文本框 33"/>
          <p:cNvSpPr txBox="1"/>
          <p:nvPr/>
        </p:nvSpPr>
        <p:spPr>
          <a:xfrm>
            <a:off x="2320755" y="1286723"/>
            <a:ext cx="873913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指引指出，知识管理及应用过程中普遍存在“知识获取难”、“知识加工难”、“知识服务难”等痛点。</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6" name="Rectangle 3"/>
          <p:cNvSpPr/>
          <p:nvPr/>
        </p:nvSpPr>
        <p:spPr>
          <a:xfrm>
            <a:off x="837245" y="5100096"/>
            <a:ext cx="3498398" cy="111020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知识工程工具链</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7" name="Rectangle 4"/>
          <p:cNvSpPr/>
          <p:nvPr/>
        </p:nvSpPr>
        <p:spPr>
          <a:xfrm>
            <a:off x="4448400" y="5100096"/>
            <a:ext cx="3498398" cy="111020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知识管理体系</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8" name="Rectangle 5"/>
          <p:cNvSpPr/>
          <p:nvPr/>
        </p:nvSpPr>
        <p:spPr>
          <a:xfrm>
            <a:off x="8059555" y="5100096"/>
            <a:ext cx="3498398" cy="1110203"/>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智能化的知识服务</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49" name="组合 48"/>
          <p:cNvGrpSpPr/>
          <p:nvPr/>
        </p:nvGrpSpPr>
        <p:grpSpPr>
          <a:xfrm>
            <a:off x="1722465" y="2299323"/>
            <a:ext cx="8973950" cy="1315495"/>
            <a:chOff x="2197100" y="2426323"/>
            <a:chExt cx="8001000" cy="1542383"/>
          </a:xfrm>
          <a:solidFill>
            <a:schemeClr val="bg1">
              <a:lumMod val="95000"/>
            </a:schemeClr>
          </a:solidFill>
        </p:grpSpPr>
        <p:sp>
          <p:nvSpPr>
            <p:cNvPr id="40" name="矩形: 圆角 39"/>
            <p:cNvSpPr/>
            <p:nvPr/>
          </p:nvSpPr>
          <p:spPr>
            <a:xfrm>
              <a:off x="2197100" y="2426323"/>
              <a:ext cx="2453143" cy="422718"/>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知识获取难</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1" name="矩形: 圆角 40"/>
            <p:cNvSpPr/>
            <p:nvPr/>
          </p:nvSpPr>
          <p:spPr>
            <a:xfrm>
              <a:off x="4971028" y="2426323"/>
              <a:ext cx="2453143" cy="422718"/>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知识加工难</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2" name="矩形: 圆角 41"/>
            <p:cNvSpPr/>
            <p:nvPr/>
          </p:nvSpPr>
          <p:spPr>
            <a:xfrm>
              <a:off x="7744957" y="2426323"/>
              <a:ext cx="2453143" cy="422718"/>
            </a:xfrm>
            <a:prstGeom prst="round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知识服务难</a:t>
              </a:r>
              <a:endParaRPr kumimoji="0" lang="zh-CN" alt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4" name="矩形: 圆角 43"/>
            <p:cNvSpPr/>
            <p:nvPr/>
          </p:nvSpPr>
          <p:spPr>
            <a:xfrm>
              <a:off x="2197100" y="2931351"/>
              <a:ext cx="2453143" cy="103735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36000" rIns="0" rtlCol="0" anchor="ctr"/>
            <a:lstStyle/>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企业隐性知识较多</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知识由资深从业者传授</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知识散落在组织各处</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5" name="矩形: 圆角 44"/>
            <p:cNvSpPr/>
            <p:nvPr/>
          </p:nvSpPr>
          <p:spPr>
            <a:xfrm>
              <a:off x="4971028" y="2931351"/>
              <a:ext cx="2453143" cy="103735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36000" rIns="0" rtlCol="0" anchor="ctr"/>
            <a:lstStyle/>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知识以非结构化为主</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知识质量参差不齐</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知识加工处理门槛高</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6" name="矩形: 圆角 45"/>
            <p:cNvSpPr/>
            <p:nvPr/>
          </p:nvSpPr>
          <p:spPr>
            <a:xfrm>
              <a:off x="7744957" y="2931351"/>
              <a:ext cx="2453143" cy="1037355"/>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36000" rIns="0" rtlCol="0" anchor="ctr"/>
            <a:lstStyle/>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知识的共享协作缺乏机制</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业务与知识脱节</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144145" marR="0" lvl="0" indent="-144145"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缺乏对知识资产的持续运营</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pic>
        <p:nvPicPr>
          <p:cNvPr id="51" name="图片 50"/>
          <p:cNvPicPr>
            <a:picLocks noChangeAspect="1"/>
          </p:cNvPicPr>
          <p:nvPr/>
        </p:nvPicPr>
        <p:blipFill>
          <a:blip r:embed="rId1"/>
          <a:stretch>
            <a:fillRect/>
          </a:stretch>
        </p:blipFill>
        <p:spPr>
          <a:xfrm>
            <a:off x="1001487" y="861494"/>
            <a:ext cx="943427" cy="1196241"/>
          </a:xfrm>
          <a:prstGeom prst="rect">
            <a:avLst/>
          </a:prstGeom>
          <a:effectLst>
            <a:outerShdw blurRad="76200" dir="18900000" sy="23000" kx="-1200000" algn="bl" rotWithShape="0">
              <a:prstClr val="black">
                <a:alpha val="20000"/>
              </a:prstClr>
            </a:outerShdw>
          </a:effectLst>
        </p:spPr>
      </p:pic>
      <p:sp>
        <p:nvSpPr>
          <p:cNvPr id="48" name="Freeform 3"/>
          <p:cNvSpPr/>
          <p:nvPr/>
        </p:nvSpPr>
        <p:spPr bwMode="gray">
          <a:xfrm>
            <a:off x="3319710" y="3614818"/>
            <a:ext cx="5779461" cy="740975"/>
          </a:xfrm>
          <a:custGeom>
            <a:avLst/>
            <a:gdLst>
              <a:gd name="T0" fmla="*/ 0 w 5016"/>
              <a:gd name="T1" fmla="*/ 2147483647 h 2256"/>
              <a:gd name="T2" fmla="*/ 2147483647 w 5016"/>
              <a:gd name="T3" fmla="*/ 2147483647 h 2256"/>
              <a:gd name="T4" fmla="*/ 2147483647 w 5016"/>
              <a:gd name="T5" fmla="*/ 2147483647 h 2256"/>
              <a:gd name="T6" fmla="*/ 2147483647 w 5016"/>
              <a:gd name="T7" fmla="*/ 2147483647 h 2256"/>
              <a:gd name="T8" fmla="*/ 2147483647 w 5016"/>
              <a:gd name="T9" fmla="*/ 2147483647 h 2256"/>
              <a:gd name="T10" fmla="*/ 2147483647 w 5016"/>
              <a:gd name="T11" fmla="*/ 2147483647 h 2256"/>
              <a:gd name="T12" fmla="*/ 2147483647 w 5016"/>
              <a:gd name="T13" fmla="*/ 2147483647 h 2256"/>
              <a:gd name="T14" fmla="*/ 2147483647 w 5016"/>
              <a:gd name="T15" fmla="*/ 2147483647 h 2256"/>
              <a:gd name="T16" fmla="*/ 2147483647 w 5016"/>
              <a:gd name="T17" fmla="*/ 2147483647 h 2256"/>
              <a:gd name="T18" fmla="*/ 2147483647 w 5016"/>
              <a:gd name="T19" fmla="*/ 0 h 2256"/>
              <a:gd name="T20" fmla="*/ 2147483647 w 5016"/>
              <a:gd name="T21" fmla="*/ 2147483647 h 2256"/>
              <a:gd name="T22" fmla="*/ 2147483647 w 5016"/>
              <a:gd name="T23" fmla="*/ 2147483647 h 2256"/>
              <a:gd name="T24" fmla="*/ 2147483647 w 5016"/>
              <a:gd name="T25" fmla="*/ 2147483647 h 2256"/>
              <a:gd name="T26" fmla="*/ 2147483647 w 5016"/>
              <a:gd name="T27" fmla="*/ 2147483647 h 2256"/>
              <a:gd name="T28" fmla="*/ 2147483647 w 5016"/>
              <a:gd name="T29" fmla="*/ 2147483647 h 2256"/>
              <a:gd name="T30" fmla="*/ 2147483647 w 5016"/>
              <a:gd name="T31" fmla="*/ 2147483647 h 2256"/>
              <a:gd name="T32" fmla="*/ 2147483647 w 5016"/>
              <a:gd name="T33" fmla="*/ 2147483647 h 2256"/>
              <a:gd name="T34" fmla="*/ 2147483647 w 5016"/>
              <a:gd name="T35" fmla="*/ 2147483647 h 2256"/>
              <a:gd name="T36" fmla="*/ 2147483647 w 5016"/>
              <a:gd name="T37" fmla="*/ 2147483647 h 2256"/>
              <a:gd name="T38" fmla="*/ 0 w 5016"/>
              <a:gd name="T39" fmla="*/ 2147483647 h 22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016"/>
              <a:gd name="T61" fmla="*/ 0 h 2256"/>
              <a:gd name="T62" fmla="*/ 5016 w 5016"/>
              <a:gd name="T63" fmla="*/ 2256 h 2256"/>
              <a:gd name="connsiteX0" fmla="*/ 0 w 9417"/>
              <a:gd name="connsiteY0" fmla="*/ 9929 h 9953"/>
              <a:gd name="connsiteX1" fmla="*/ 2237 w 9417"/>
              <a:gd name="connsiteY1" fmla="*/ 3112 h 9953"/>
              <a:gd name="connsiteX2" fmla="*/ 1938 w 9417"/>
              <a:gd name="connsiteY2" fmla="*/ 3298 h 9953"/>
              <a:gd name="connsiteX3" fmla="*/ 2273 w 9417"/>
              <a:gd name="connsiteY3" fmla="*/ 1941 h 9953"/>
              <a:gd name="connsiteX4" fmla="*/ 2835 w 9417"/>
              <a:gd name="connsiteY4" fmla="*/ 2846 h 9953"/>
              <a:gd name="connsiteX5" fmla="*/ 2536 w 9417"/>
              <a:gd name="connsiteY5" fmla="*/ 2979 h 9953"/>
              <a:gd name="connsiteX6" fmla="*/ 3923 w 9417"/>
              <a:gd name="connsiteY6" fmla="*/ 5691 h 9953"/>
              <a:gd name="connsiteX7" fmla="*/ 4916 w 9417"/>
              <a:gd name="connsiteY7" fmla="*/ 1410 h 9953"/>
              <a:gd name="connsiteX8" fmla="*/ 4545 w 9417"/>
              <a:gd name="connsiteY8" fmla="*/ 1410 h 9953"/>
              <a:gd name="connsiteX9" fmla="*/ 5179 w 9417"/>
              <a:gd name="connsiteY9" fmla="*/ 0 h 9953"/>
              <a:gd name="connsiteX10" fmla="*/ 5778 w 9417"/>
              <a:gd name="connsiteY10" fmla="*/ 1463 h 9953"/>
              <a:gd name="connsiteX11" fmla="*/ 5431 w 9417"/>
              <a:gd name="connsiteY11" fmla="*/ 1436 h 9953"/>
              <a:gd name="connsiteX12" fmla="*/ 6400 w 9417"/>
              <a:gd name="connsiteY12" fmla="*/ 5771 h 9953"/>
              <a:gd name="connsiteX13" fmla="*/ 7715 w 9417"/>
              <a:gd name="connsiteY13" fmla="*/ 2899 h 9953"/>
              <a:gd name="connsiteX14" fmla="*/ 7380 w 9417"/>
              <a:gd name="connsiteY14" fmla="*/ 2846 h 9953"/>
              <a:gd name="connsiteX15" fmla="*/ 7943 w 9417"/>
              <a:gd name="connsiteY15" fmla="*/ 1862 h 9953"/>
              <a:gd name="connsiteX16" fmla="*/ 8337 w 9417"/>
              <a:gd name="connsiteY16" fmla="*/ 3005 h 9953"/>
              <a:gd name="connsiteX17" fmla="*/ 8026 w 9417"/>
              <a:gd name="connsiteY17" fmla="*/ 2979 h 9953"/>
              <a:gd name="connsiteX18" fmla="*/ 9417 w 9417"/>
              <a:gd name="connsiteY18" fmla="*/ 9863 h 9953"/>
              <a:gd name="connsiteX19" fmla="*/ 0 w 9417"/>
              <a:gd name="connsiteY19" fmla="*/ 9929 h 9953"/>
              <a:gd name="connsiteX0-1" fmla="*/ 0 w 10000"/>
              <a:gd name="connsiteY0-2" fmla="*/ 9976 h 10000"/>
              <a:gd name="connsiteX1-3" fmla="*/ 2375 w 10000"/>
              <a:gd name="connsiteY1-4" fmla="*/ 3127 h 10000"/>
              <a:gd name="connsiteX2-5" fmla="*/ 2058 w 10000"/>
              <a:gd name="connsiteY2-6" fmla="*/ 3314 h 10000"/>
              <a:gd name="connsiteX3-7" fmla="*/ 2414 w 10000"/>
              <a:gd name="connsiteY3-8" fmla="*/ 1950 h 10000"/>
              <a:gd name="connsiteX4-9" fmla="*/ 3011 w 10000"/>
              <a:gd name="connsiteY4-10" fmla="*/ 2859 h 10000"/>
              <a:gd name="connsiteX5-11" fmla="*/ 2693 w 10000"/>
              <a:gd name="connsiteY5-12" fmla="*/ 2993 h 10000"/>
              <a:gd name="connsiteX6-13" fmla="*/ 4166 w 10000"/>
              <a:gd name="connsiteY6-14" fmla="*/ 5718 h 10000"/>
              <a:gd name="connsiteX7-15" fmla="*/ 5220 w 10000"/>
              <a:gd name="connsiteY7-16" fmla="*/ 1417 h 10000"/>
              <a:gd name="connsiteX8-17" fmla="*/ 4826 w 10000"/>
              <a:gd name="connsiteY8-18" fmla="*/ 1417 h 10000"/>
              <a:gd name="connsiteX9-19" fmla="*/ 5500 w 10000"/>
              <a:gd name="connsiteY9-20" fmla="*/ 0 h 10000"/>
              <a:gd name="connsiteX10-21" fmla="*/ 6136 w 10000"/>
              <a:gd name="connsiteY10-22" fmla="*/ 1470 h 10000"/>
              <a:gd name="connsiteX11-23" fmla="*/ 5767 w 10000"/>
              <a:gd name="connsiteY11-24" fmla="*/ 1443 h 10000"/>
              <a:gd name="connsiteX12-25" fmla="*/ 6796 w 10000"/>
              <a:gd name="connsiteY12-26" fmla="*/ 5798 h 10000"/>
              <a:gd name="connsiteX13-27" fmla="*/ 8193 w 10000"/>
              <a:gd name="connsiteY13-28" fmla="*/ 2913 h 10000"/>
              <a:gd name="connsiteX14-29" fmla="*/ 7837 w 10000"/>
              <a:gd name="connsiteY14-30" fmla="*/ 2859 h 10000"/>
              <a:gd name="connsiteX15-31" fmla="*/ 8435 w 10000"/>
              <a:gd name="connsiteY15-32" fmla="*/ 1871 h 10000"/>
              <a:gd name="connsiteX16-33" fmla="*/ 8853 w 10000"/>
              <a:gd name="connsiteY16-34" fmla="*/ 3019 h 10000"/>
              <a:gd name="connsiteX17-35" fmla="*/ 8523 w 10000"/>
              <a:gd name="connsiteY17-36" fmla="*/ 2993 h 10000"/>
              <a:gd name="connsiteX18-37" fmla="*/ 10000 w 10000"/>
              <a:gd name="connsiteY18-38" fmla="*/ 9910 h 10000"/>
              <a:gd name="connsiteX19-39" fmla="*/ 0 w 10000"/>
              <a:gd name="connsiteY19-40" fmla="*/ 9976 h 10000"/>
              <a:gd name="connsiteX0-41" fmla="*/ 0 w 10000"/>
              <a:gd name="connsiteY0-42" fmla="*/ 9976 h 10000"/>
              <a:gd name="connsiteX1-43" fmla="*/ 2375 w 10000"/>
              <a:gd name="connsiteY1-44" fmla="*/ 3127 h 10000"/>
              <a:gd name="connsiteX2-45" fmla="*/ 2058 w 10000"/>
              <a:gd name="connsiteY2-46" fmla="*/ 3314 h 10000"/>
              <a:gd name="connsiteX3-47" fmla="*/ 2414 w 10000"/>
              <a:gd name="connsiteY3-48" fmla="*/ 1950 h 10000"/>
              <a:gd name="connsiteX4-49" fmla="*/ 3011 w 10000"/>
              <a:gd name="connsiteY4-50" fmla="*/ 2859 h 10000"/>
              <a:gd name="connsiteX5-51" fmla="*/ 2693 w 10000"/>
              <a:gd name="connsiteY5-52" fmla="*/ 2993 h 10000"/>
              <a:gd name="connsiteX6-53" fmla="*/ 4166 w 10000"/>
              <a:gd name="connsiteY6-54" fmla="*/ 5718 h 10000"/>
              <a:gd name="connsiteX7-55" fmla="*/ 5220 w 10000"/>
              <a:gd name="connsiteY7-56" fmla="*/ 1417 h 10000"/>
              <a:gd name="connsiteX8-57" fmla="*/ 4826 w 10000"/>
              <a:gd name="connsiteY8-58" fmla="*/ 1417 h 10000"/>
              <a:gd name="connsiteX9-59" fmla="*/ 5500 w 10000"/>
              <a:gd name="connsiteY9-60" fmla="*/ 0 h 10000"/>
              <a:gd name="connsiteX10-61" fmla="*/ 6136 w 10000"/>
              <a:gd name="connsiteY10-62" fmla="*/ 1470 h 10000"/>
              <a:gd name="connsiteX11-63" fmla="*/ 5767 w 10000"/>
              <a:gd name="connsiteY11-64" fmla="*/ 1443 h 10000"/>
              <a:gd name="connsiteX12-65" fmla="*/ 6796 w 10000"/>
              <a:gd name="connsiteY12-66" fmla="*/ 5798 h 10000"/>
              <a:gd name="connsiteX13-67" fmla="*/ 8193 w 10000"/>
              <a:gd name="connsiteY13-68" fmla="*/ 2913 h 10000"/>
              <a:gd name="connsiteX14-69" fmla="*/ 7837 w 10000"/>
              <a:gd name="connsiteY14-70" fmla="*/ 2859 h 10000"/>
              <a:gd name="connsiteX15-71" fmla="*/ 8435 w 10000"/>
              <a:gd name="connsiteY15-72" fmla="*/ 1871 h 10000"/>
              <a:gd name="connsiteX16-73" fmla="*/ 8853 w 10000"/>
              <a:gd name="connsiteY16-74" fmla="*/ 3019 h 10000"/>
              <a:gd name="connsiteX17-75" fmla="*/ 8523 w 10000"/>
              <a:gd name="connsiteY17-76" fmla="*/ 2993 h 10000"/>
              <a:gd name="connsiteX18-77" fmla="*/ 10000 w 10000"/>
              <a:gd name="connsiteY18-78" fmla="*/ 9910 h 10000"/>
              <a:gd name="connsiteX19-79" fmla="*/ 0 w 10000"/>
              <a:gd name="connsiteY19-80" fmla="*/ 9976 h 10000"/>
              <a:gd name="connsiteX0-81" fmla="*/ 0 w 8761"/>
              <a:gd name="connsiteY0-82" fmla="*/ 9946 h 9975"/>
              <a:gd name="connsiteX1-83" fmla="*/ 1136 w 8761"/>
              <a:gd name="connsiteY1-84" fmla="*/ 3127 h 9975"/>
              <a:gd name="connsiteX2-85" fmla="*/ 819 w 8761"/>
              <a:gd name="connsiteY2-86" fmla="*/ 3314 h 9975"/>
              <a:gd name="connsiteX3-87" fmla="*/ 1175 w 8761"/>
              <a:gd name="connsiteY3-88" fmla="*/ 1950 h 9975"/>
              <a:gd name="connsiteX4-89" fmla="*/ 1772 w 8761"/>
              <a:gd name="connsiteY4-90" fmla="*/ 2859 h 9975"/>
              <a:gd name="connsiteX5-91" fmla="*/ 1454 w 8761"/>
              <a:gd name="connsiteY5-92" fmla="*/ 2993 h 9975"/>
              <a:gd name="connsiteX6-93" fmla="*/ 2927 w 8761"/>
              <a:gd name="connsiteY6-94" fmla="*/ 5718 h 9975"/>
              <a:gd name="connsiteX7-95" fmla="*/ 3981 w 8761"/>
              <a:gd name="connsiteY7-96" fmla="*/ 1417 h 9975"/>
              <a:gd name="connsiteX8-97" fmla="*/ 3587 w 8761"/>
              <a:gd name="connsiteY8-98" fmla="*/ 1417 h 9975"/>
              <a:gd name="connsiteX9-99" fmla="*/ 4261 w 8761"/>
              <a:gd name="connsiteY9-100" fmla="*/ 0 h 9975"/>
              <a:gd name="connsiteX10-101" fmla="*/ 4897 w 8761"/>
              <a:gd name="connsiteY10-102" fmla="*/ 1470 h 9975"/>
              <a:gd name="connsiteX11-103" fmla="*/ 4528 w 8761"/>
              <a:gd name="connsiteY11-104" fmla="*/ 1443 h 9975"/>
              <a:gd name="connsiteX12-105" fmla="*/ 5557 w 8761"/>
              <a:gd name="connsiteY12-106" fmla="*/ 5798 h 9975"/>
              <a:gd name="connsiteX13-107" fmla="*/ 6954 w 8761"/>
              <a:gd name="connsiteY13-108" fmla="*/ 2913 h 9975"/>
              <a:gd name="connsiteX14-109" fmla="*/ 6598 w 8761"/>
              <a:gd name="connsiteY14-110" fmla="*/ 2859 h 9975"/>
              <a:gd name="connsiteX15-111" fmla="*/ 7196 w 8761"/>
              <a:gd name="connsiteY15-112" fmla="*/ 1871 h 9975"/>
              <a:gd name="connsiteX16-113" fmla="*/ 7614 w 8761"/>
              <a:gd name="connsiteY16-114" fmla="*/ 3019 h 9975"/>
              <a:gd name="connsiteX17-115" fmla="*/ 7284 w 8761"/>
              <a:gd name="connsiteY17-116" fmla="*/ 2993 h 9975"/>
              <a:gd name="connsiteX18-117" fmla="*/ 8761 w 8761"/>
              <a:gd name="connsiteY18-118" fmla="*/ 9910 h 9975"/>
              <a:gd name="connsiteX19-119" fmla="*/ 0 w 8761"/>
              <a:gd name="connsiteY19-120" fmla="*/ 9946 h 9975"/>
              <a:gd name="connsiteX0-121" fmla="*/ 0 w 10000"/>
              <a:gd name="connsiteY0-122" fmla="*/ 9971 h 10000"/>
              <a:gd name="connsiteX1-123" fmla="*/ 1297 w 10000"/>
              <a:gd name="connsiteY1-124" fmla="*/ 3135 h 10000"/>
              <a:gd name="connsiteX2-125" fmla="*/ 935 w 10000"/>
              <a:gd name="connsiteY2-126" fmla="*/ 3322 h 10000"/>
              <a:gd name="connsiteX3-127" fmla="*/ 1341 w 10000"/>
              <a:gd name="connsiteY3-128" fmla="*/ 1955 h 10000"/>
              <a:gd name="connsiteX4-129" fmla="*/ 2023 w 10000"/>
              <a:gd name="connsiteY4-130" fmla="*/ 2866 h 10000"/>
              <a:gd name="connsiteX5-131" fmla="*/ 1660 w 10000"/>
              <a:gd name="connsiteY5-132" fmla="*/ 3001 h 10000"/>
              <a:gd name="connsiteX6-133" fmla="*/ 3341 w 10000"/>
              <a:gd name="connsiteY6-134" fmla="*/ 5732 h 10000"/>
              <a:gd name="connsiteX7-135" fmla="*/ 4544 w 10000"/>
              <a:gd name="connsiteY7-136" fmla="*/ 1421 h 10000"/>
              <a:gd name="connsiteX8-137" fmla="*/ 4094 w 10000"/>
              <a:gd name="connsiteY8-138" fmla="*/ 1421 h 10000"/>
              <a:gd name="connsiteX9-139" fmla="*/ 4864 w 10000"/>
              <a:gd name="connsiteY9-140" fmla="*/ 0 h 10000"/>
              <a:gd name="connsiteX10-141" fmla="*/ 5590 w 10000"/>
              <a:gd name="connsiteY10-142" fmla="*/ 1474 h 10000"/>
              <a:gd name="connsiteX11-143" fmla="*/ 5168 w 10000"/>
              <a:gd name="connsiteY11-144" fmla="*/ 1447 h 10000"/>
              <a:gd name="connsiteX12-145" fmla="*/ 6343 w 10000"/>
              <a:gd name="connsiteY12-146" fmla="*/ 5813 h 10000"/>
              <a:gd name="connsiteX13-147" fmla="*/ 7937 w 10000"/>
              <a:gd name="connsiteY13-148" fmla="*/ 2920 h 10000"/>
              <a:gd name="connsiteX14-149" fmla="*/ 7531 w 10000"/>
              <a:gd name="connsiteY14-150" fmla="*/ 2866 h 10000"/>
              <a:gd name="connsiteX15-151" fmla="*/ 8214 w 10000"/>
              <a:gd name="connsiteY15-152" fmla="*/ 1876 h 10000"/>
              <a:gd name="connsiteX16-153" fmla="*/ 8691 w 10000"/>
              <a:gd name="connsiteY16-154" fmla="*/ 3027 h 10000"/>
              <a:gd name="connsiteX17-155" fmla="*/ 8314 w 10000"/>
              <a:gd name="connsiteY17-156" fmla="*/ 3001 h 10000"/>
              <a:gd name="connsiteX18-157" fmla="*/ 10000 w 10000"/>
              <a:gd name="connsiteY18-158" fmla="*/ 9935 h 10000"/>
              <a:gd name="connsiteX19-159" fmla="*/ 0 w 10000"/>
              <a:gd name="connsiteY19-160" fmla="*/ 9971 h 10000"/>
              <a:gd name="connsiteX0-161" fmla="*/ 0 w 10000"/>
              <a:gd name="connsiteY0-162" fmla="*/ 9971 h 10000"/>
              <a:gd name="connsiteX1-163" fmla="*/ 1297 w 10000"/>
              <a:gd name="connsiteY1-164" fmla="*/ 3135 h 10000"/>
              <a:gd name="connsiteX2-165" fmla="*/ 935 w 10000"/>
              <a:gd name="connsiteY2-166" fmla="*/ 3322 h 10000"/>
              <a:gd name="connsiteX3-167" fmla="*/ 1341 w 10000"/>
              <a:gd name="connsiteY3-168" fmla="*/ 1955 h 10000"/>
              <a:gd name="connsiteX4-169" fmla="*/ 2023 w 10000"/>
              <a:gd name="connsiteY4-170" fmla="*/ 2866 h 10000"/>
              <a:gd name="connsiteX5-171" fmla="*/ 1660 w 10000"/>
              <a:gd name="connsiteY5-172" fmla="*/ 3001 h 10000"/>
              <a:gd name="connsiteX6-173" fmla="*/ 3164 w 10000"/>
              <a:gd name="connsiteY6-174" fmla="*/ 4664 h 10000"/>
              <a:gd name="connsiteX7-175" fmla="*/ 4544 w 10000"/>
              <a:gd name="connsiteY7-176" fmla="*/ 1421 h 10000"/>
              <a:gd name="connsiteX8-177" fmla="*/ 4094 w 10000"/>
              <a:gd name="connsiteY8-178" fmla="*/ 1421 h 10000"/>
              <a:gd name="connsiteX9-179" fmla="*/ 4864 w 10000"/>
              <a:gd name="connsiteY9-180" fmla="*/ 0 h 10000"/>
              <a:gd name="connsiteX10-181" fmla="*/ 5590 w 10000"/>
              <a:gd name="connsiteY10-182" fmla="*/ 1474 h 10000"/>
              <a:gd name="connsiteX11-183" fmla="*/ 5168 w 10000"/>
              <a:gd name="connsiteY11-184" fmla="*/ 1447 h 10000"/>
              <a:gd name="connsiteX12-185" fmla="*/ 6343 w 10000"/>
              <a:gd name="connsiteY12-186" fmla="*/ 5813 h 10000"/>
              <a:gd name="connsiteX13-187" fmla="*/ 7937 w 10000"/>
              <a:gd name="connsiteY13-188" fmla="*/ 2920 h 10000"/>
              <a:gd name="connsiteX14-189" fmla="*/ 7531 w 10000"/>
              <a:gd name="connsiteY14-190" fmla="*/ 2866 h 10000"/>
              <a:gd name="connsiteX15-191" fmla="*/ 8214 w 10000"/>
              <a:gd name="connsiteY15-192" fmla="*/ 1876 h 10000"/>
              <a:gd name="connsiteX16-193" fmla="*/ 8691 w 10000"/>
              <a:gd name="connsiteY16-194" fmla="*/ 3027 h 10000"/>
              <a:gd name="connsiteX17-195" fmla="*/ 8314 w 10000"/>
              <a:gd name="connsiteY17-196" fmla="*/ 3001 h 10000"/>
              <a:gd name="connsiteX18-197" fmla="*/ 10000 w 10000"/>
              <a:gd name="connsiteY18-198" fmla="*/ 9935 h 10000"/>
              <a:gd name="connsiteX19-199" fmla="*/ 0 w 10000"/>
              <a:gd name="connsiteY19-200" fmla="*/ 9971 h 10000"/>
              <a:gd name="connsiteX0-201" fmla="*/ 0 w 10000"/>
              <a:gd name="connsiteY0-202" fmla="*/ 9971 h 10000"/>
              <a:gd name="connsiteX1-203" fmla="*/ 1297 w 10000"/>
              <a:gd name="connsiteY1-204" fmla="*/ 3135 h 10000"/>
              <a:gd name="connsiteX2-205" fmla="*/ 935 w 10000"/>
              <a:gd name="connsiteY2-206" fmla="*/ 3322 h 10000"/>
              <a:gd name="connsiteX3-207" fmla="*/ 1341 w 10000"/>
              <a:gd name="connsiteY3-208" fmla="*/ 1955 h 10000"/>
              <a:gd name="connsiteX4-209" fmla="*/ 2023 w 10000"/>
              <a:gd name="connsiteY4-210" fmla="*/ 2866 h 10000"/>
              <a:gd name="connsiteX5-211" fmla="*/ 1660 w 10000"/>
              <a:gd name="connsiteY5-212" fmla="*/ 3001 h 10000"/>
              <a:gd name="connsiteX6-213" fmla="*/ 3164 w 10000"/>
              <a:gd name="connsiteY6-214" fmla="*/ 4664 h 10000"/>
              <a:gd name="connsiteX7-215" fmla="*/ 4544 w 10000"/>
              <a:gd name="connsiteY7-216" fmla="*/ 1421 h 10000"/>
              <a:gd name="connsiteX8-217" fmla="*/ 4094 w 10000"/>
              <a:gd name="connsiteY8-218" fmla="*/ 1421 h 10000"/>
              <a:gd name="connsiteX9-219" fmla="*/ 4864 w 10000"/>
              <a:gd name="connsiteY9-220" fmla="*/ 0 h 10000"/>
              <a:gd name="connsiteX10-221" fmla="*/ 5590 w 10000"/>
              <a:gd name="connsiteY10-222" fmla="*/ 1474 h 10000"/>
              <a:gd name="connsiteX11-223" fmla="*/ 5168 w 10000"/>
              <a:gd name="connsiteY11-224" fmla="*/ 1447 h 10000"/>
              <a:gd name="connsiteX12-225" fmla="*/ 6368 w 10000"/>
              <a:gd name="connsiteY12-226" fmla="*/ 4775 h 10000"/>
              <a:gd name="connsiteX13-227" fmla="*/ 7937 w 10000"/>
              <a:gd name="connsiteY13-228" fmla="*/ 2920 h 10000"/>
              <a:gd name="connsiteX14-229" fmla="*/ 7531 w 10000"/>
              <a:gd name="connsiteY14-230" fmla="*/ 2866 h 10000"/>
              <a:gd name="connsiteX15-231" fmla="*/ 8214 w 10000"/>
              <a:gd name="connsiteY15-232" fmla="*/ 1876 h 10000"/>
              <a:gd name="connsiteX16-233" fmla="*/ 8691 w 10000"/>
              <a:gd name="connsiteY16-234" fmla="*/ 3027 h 10000"/>
              <a:gd name="connsiteX17-235" fmla="*/ 8314 w 10000"/>
              <a:gd name="connsiteY17-236" fmla="*/ 3001 h 10000"/>
              <a:gd name="connsiteX18-237" fmla="*/ 10000 w 10000"/>
              <a:gd name="connsiteY18-238" fmla="*/ 9935 h 10000"/>
              <a:gd name="connsiteX19-239" fmla="*/ 0 w 10000"/>
              <a:gd name="connsiteY19-240" fmla="*/ 9971 h 10000"/>
              <a:gd name="connsiteX0-241" fmla="*/ 0 w 9381"/>
              <a:gd name="connsiteY0-242" fmla="*/ 9971 h 9973"/>
              <a:gd name="connsiteX1-243" fmla="*/ 1297 w 9381"/>
              <a:gd name="connsiteY1-244" fmla="*/ 3135 h 9973"/>
              <a:gd name="connsiteX2-245" fmla="*/ 935 w 9381"/>
              <a:gd name="connsiteY2-246" fmla="*/ 3322 h 9973"/>
              <a:gd name="connsiteX3-247" fmla="*/ 1341 w 9381"/>
              <a:gd name="connsiteY3-248" fmla="*/ 1955 h 9973"/>
              <a:gd name="connsiteX4-249" fmla="*/ 2023 w 9381"/>
              <a:gd name="connsiteY4-250" fmla="*/ 2866 h 9973"/>
              <a:gd name="connsiteX5-251" fmla="*/ 1660 w 9381"/>
              <a:gd name="connsiteY5-252" fmla="*/ 3001 h 9973"/>
              <a:gd name="connsiteX6-253" fmla="*/ 3164 w 9381"/>
              <a:gd name="connsiteY6-254" fmla="*/ 4664 h 9973"/>
              <a:gd name="connsiteX7-255" fmla="*/ 4544 w 9381"/>
              <a:gd name="connsiteY7-256" fmla="*/ 1421 h 9973"/>
              <a:gd name="connsiteX8-257" fmla="*/ 4094 w 9381"/>
              <a:gd name="connsiteY8-258" fmla="*/ 1421 h 9973"/>
              <a:gd name="connsiteX9-259" fmla="*/ 4864 w 9381"/>
              <a:gd name="connsiteY9-260" fmla="*/ 0 h 9973"/>
              <a:gd name="connsiteX10-261" fmla="*/ 5590 w 9381"/>
              <a:gd name="connsiteY10-262" fmla="*/ 1474 h 9973"/>
              <a:gd name="connsiteX11-263" fmla="*/ 5168 w 9381"/>
              <a:gd name="connsiteY11-264" fmla="*/ 1447 h 9973"/>
              <a:gd name="connsiteX12-265" fmla="*/ 6368 w 9381"/>
              <a:gd name="connsiteY12-266" fmla="*/ 4775 h 9973"/>
              <a:gd name="connsiteX13-267" fmla="*/ 7937 w 9381"/>
              <a:gd name="connsiteY13-268" fmla="*/ 2920 h 9973"/>
              <a:gd name="connsiteX14-269" fmla="*/ 7531 w 9381"/>
              <a:gd name="connsiteY14-270" fmla="*/ 2866 h 9973"/>
              <a:gd name="connsiteX15-271" fmla="*/ 8214 w 9381"/>
              <a:gd name="connsiteY15-272" fmla="*/ 1876 h 9973"/>
              <a:gd name="connsiteX16-273" fmla="*/ 8691 w 9381"/>
              <a:gd name="connsiteY16-274" fmla="*/ 3027 h 9973"/>
              <a:gd name="connsiteX17-275" fmla="*/ 8314 w 9381"/>
              <a:gd name="connsiteY17-276" fmla="*/ 3001 h 9973"/>
              <a:gd name="connsiteX18-277" fmla="*/ 9381 w 9381"/>
              <a:gd name="connsiteY18-278" fmla="*/ 8597 h 9973"/>
              <a:gd name="connsiteX19-279" fmla="*/ 0 w 9381"/>
              <a:gd name="connsiteY19-280" fmla="*/ 9971 h 9973"/>
              <a:gd name="connsiteX0-281" fmla="*/ 0 w 9690"/>
              <a:gd name="connsiteY0-282" fmla="*/ 8465 h 8620"/>
              <a:gd name="connsiteX1-283" fmla="*/ 1073 w 9690"/>
              <a:gd name="connsiteY1-284" fmla="*/ 3143 h 8620"/>
              <a:gd name="connsiteX2-285" fmla="*/ 687 w 9690"/>
              <a:gd name="connsiteY2-286" fmla="*/ 3331 h 8620"/>
              <a:gd name="connsiteX3-287" fmla="*/ 1119 w 9690"/>
              <a:gd name="connsiteY3-288" fmla="*/ 1960 h 8620"/>
              <a:gd name="connsiteX4-289" fmla="*/ 1846 w 9690"/>
              <a:gd name="connsiteY4-290" fmla="*/ 2874 h 8620"/>
              <a:gd name="connsiteX5-291" fmla="*/ 1460 w 9690"/>
              <a:gd name="connsiteY5-292" fmla="*/ 3009 h 8620"/>
              <a:gd name="connsiteX6-293" fmla="*/ 3063 w 9690"/>
              <a:gd name="connsiteY6-294" fmla="*/ 4677 h 8620"/>
              <a:gd name="connsiteX7-295" fmla="*/ 4534 w 9690"/>
              <a:gd name="connsiteY7-296" fmla="*/ 1425 h 8620"/>
              <a:gd name="connsiteX8-297" fmla="*/ 4054 w 9690"/>
              <a:gd name="connsiteY8-298" fmla="*/ 1425 h 8620"/>
              <a:gd name="connsiteX9-299" fmla="*/ 4875 w 9690"/>
              <a:gd name="connsiteY9-300" fmla="*/ 0 h 8620"/>
              <a:gd name="connsiteX10-301" fmla="*/ 5649 w 9690"/>
              <a:gd name="connsiteY10-302" fmla="*/ 1478 h 8620"/>
              <a:gd name="connsiteX11-303" fmla="*/ 5199 w 9690"/>
              <a:gd name="connsiteY11-304" fmla="*/ 1451 h 8620"/>
              <a:gd name="connsiteX12-305" fmla="*/ 6478 w 9690"/>
              <a:gd name="connsiteY12-306" fmla="*/ 4788 h 8620"/>
              <a:gd name="connsiteX13-307" fmla="*/ 8151 w 9690"/>
              <a:gd name="connsiteY13-308" fmla="*/ 2928 h 8620"/>
              <a:gd name="connsiteX14-309" fmla="*/ 7718 w 9690"/>
              <a:gd name="connsiteY14-310" fmla="*/ 2874 h 8620"/>
              <a:gd name="connsiteX15-311" fmla="*/ 8446 w 9690"/>
              <a:gd name="connsiteY15-312" fmla="*/ 1881 h 8620"/>
              <a:gd name="connsiteX16-313" fmla="*/ 8954 w 9690"/>
              <a:gd name="connsiteY16-314" fmla="*/ 3035 h 8620"/>
              <a:gd name="connsiteX17-315" fmla="*/ 8553 w 9690"/>
              <a:gd name="connsiteY17-316" fmla="*/ 3009 h 8620"/>
              <a:gd name="connsiteX18-317" fmla="*/ 9690 w 9690"/>
              <a:gd name="connsiteY18-318" fmla="*/ 8620 h 8620"/>
              <a:gd name="connsiteX19-319" fmla="*/ 0 w 9690"/>
              <a:gd name="connsiteY19-320" fmla="*/ 8465 h 8620"/>
              <a:gd name="connsiteX0-321" fmla="*/ 0 w 10000"/>
              <a:gd name="connsiteY0-322" fmla="*/ 9820 h 12394"/>
              <a:gd name="connsiteX1-323" fmla="*/ 1107 w 10000"/>
              <a:gd name="connsiteY1-324" fmla="*/ 3646 h 12394"/>
              <a:gd name="connsiteX2-325" fmla="*/ 709 w 10000"/>
              <a:gd name="connsiteY2-326" fmla="*/ 3864 h 12394"/>
              <a:gd name="connsiteX3-327" fmla="*/ 1155 w 10000"/>
              <a:gd name="connsiteY3-328" fmla="*/ 2274 h 12394"/>
              <a:gd name="connsiteX4-329" fmla="*/ 1905 w 10000"/>
              <a:gd name="connsiteY4-330" fmla="*/ 3334 h 12394"/>
              <a:gd name="connsiteX5-331" fmla="*/ 1507 w 10000"/>
              <a:gd name="connsiteY5-332" fmla="*/ 3491 h 12394"/>
              <a:gd name="connsiteX6-333" fmla="*/ 3161 w 10000"/>
              <a:gd name="connsiteY6-334" fmla="*/ 5426 h 12394"/>
              <a:gd name="connsiteX7-335" fmla="*/ 4679 w 10000"/>
              <a:gd name="connsiteY7-336" fmla="*/ 1653 h 12394"/>
              <a:gd name="connsiteX8-337" fmla="*/ 4184 w 10000"/>
              <a:gd name="connsiteY8-338" fmla="*/ 1653 h 12394"/>
              <a:gd name="connsiteX9-339" fmla="*/ 5031 w 10000"/>
              <a:gd name="connsiteY9-340" fmla="*/ 0 h 12394"/>
              <a:gd name="connsiteX10-341" fmla="*/ 5830 w 10000"/>
              <a:gd name="connsiteY10-342" fmla="*/ 1715 h 12394"/>
              <a:gd name="connsiteX11-343" fmla="*/ 5365 w 10000"/>
              <a:gd name="connsiteY11-344" fmla="*/ 1683 h 12394"/>
              <a:gd name="connsiteX12-345" fmla="*/ 6685 w 10000"/>
              <a:gd name="connsiteY12-346" fmla="*/ 5555 h 12394"/>
              <a:gd name="connsiteX13-347" fmla="*/ 8412 w 10000"/>
              <a:gd name="connsiteY13-348" fmla="*/ 3397 h 12394"/>
              <a:gd name="connsiteX14-349" fmla="*/ 7965 w 10000"/>
              <a:gd name="connsiteY14-350" fmla="*/ 3334 h 12394"/>
              <a:gd name="connsiteX15-351" fmla="*/ 8716 w 10000"/>
              <a:gd name="connsiteY15-352" fmla="*/ 2182 h 12394"/>
              <a:gd name="connsiteX16-353" fmla="*/ 9240 w 10000"/>
              <a:gd name="connsiteY16-354" fmla="*/ 3521 h 12394"/>
              <a:gd name="connsiteX17-355" fmla="*/ 8827 w 10000"/>
              <a:gd name="connsiteY17-356" fmla="*/ 3491 h 12394"/>
              <a:gd name="connsiteX18-357" fmla="*/ 10000 w 10000"/>
              <a:gd name="connsiteY18-358" fmla="*/ 10000 h 12394"/>
              <a:gd name="connsiteX19-359" fmla="*/ 5092 w 10000"/>
              <a:gd name="connsiteY19-360" fmla="*/ 12394 h 12394"/>
              <a:gd name="connsiteX20" fmla="*/ 0 w 10000"/>
              <a:gd name="connsiteY20" fmla="*/ 9820 h 12394"/>
              <a:gd name="connsiteX0-361" fmla="*/ 0 w 10000"/>
              <a:gd name="connsiteY0-362" fmla="*/ 9820 h 12446"/>
              <a:gd name="connsiteX1-363" fmla="*/ 1107 w 10000"/>
              <a:gd name="connsiteY1-364" fmla="*/ 3646 h 12446"/>
              <a:gd name="connsiteX2-365" fmla="*/ 709 w 10000"/>
              <a:gd name="connsiteY2-366" fmla="*/ 3864 h 12446"/>
              <a:gd name="connsiteX3-367" fmla="*/ 1155 w 10000"/>
              <a:gd name="connsiteY3-368" fmla="*/ 2274 h 12446"/>
              <a:gd name="connsiteX4-369" fmla="*/ 1905 w 10000"/>
              <a:gd name="connsiteY4-370" fmla="*/ 3334 h 12446"/>
              <a:gd name="connsiteX5-371" fmla="*/ 1507 w 10000"/>
              <a:gd name="connsiteY5-372" fmla="*/ 3491 h 12446"/>
              <a:gd name="connsiteX6-373" fmla="*/ 3161 w 10000"/>
              <a:gd name="connsiteY6-374" fmla="*/ 5426 h 12446"/>
              <a:gd name="connsiteX7-375" fmla="*/ 4679 w 10000"/>
              <a:gd name="connsiteY7-376" fmla="*/ 1653 h 12446"/>
              <a:gd name="connsiteX8-377" fmla="*/ 4184 w 10000"/>
              <a:gd name="connsiteY8-378" fmla="*/ 1653 h 12446"/>
              <a:gd name="connsiteX9-379" fmla="*/ 5031 w 10000"/>
              <a:gd name="connsiteY9-380" fmla="*/ 0 h 12446"/>
              <a:gd name="connsiteX10-381" fmla="*/ 5830 w 10000"/>
              <a:gd name="connsiteY10-382" fmla="*/ 1715 h 12446"/>
              <a:gd name="connsiteX11-383" fmla="*/ 5365 w 10000"/>
              <a:gd name="connsiteY11-384" fmla="*/ 1683 h 12446"/>
              <a:gd name="connsiteX12-385" fmla="*/ 6685 w 10000"/>
              <a:gd name="connsiteY12-386" fmla="*/ 5555 h 12446"/>
              <a:gd name="connsiteX13-387" fmla="*/ 8412 w 10000"/>
              <a:gd name="connsiteY13-388" fmla="*/ 3397 h 12446"/>
              <a:gd name="connsiteX14-389" fmla="*/ 7965 w 10000"/>
              <a:gd name="connsiteY14-390" fmla="*/ 3334 h 12446"/>
              <a:gd name="connsiteX15-391" fmla="*/ 8716 w 10000"/>
              <a:gd name="connsiteY15-392" fmla="*/ 2182 h 12446"/>
              <a:gd name="connsiteX16-393" fmla="*/ 9240 w 10000"/>
              <a:gd name="connsiteY16-394" fmla="*/ 3521 h 12446"/>
              <a:gd name="connsiteX17-395" fmla="*/ 8827 w 10000"/>
              <a:gd name="connsiteY17-396" fmla="*/ 3491 h 12446"/>
              <a:gd name="connsiteX18-397" fmla="*/ 10000 w 10000"/>
              <a:gd name="connsiteY18-398" fmla="*/ 10000 h 12446"/>
              <a:gd name="connsiteX19-399" fmla="*/ 7787 w 10000"/>
              <a:gd name="connsiteY19-400" fmla="*/ 11663 h 12446"/>
              <a:gd name="connsiteX20-401" fmla="*/ 5092 w 10000"/>
              <a:gd name="connsiteY20-402" fmla="*/ 12394 h 12446"/>
              <a:gd name="connsiteX21" fmla="*/ 0 w 10000"/>
              <a:gd name="connsiteY21" fmla="*/ 9820 h 12446"/>
              <a:gd name="connsiteX0-403" fmla="*/ 0 w 10000"/>
              <a:gd name="connsiteY0-404" fmla="*/ 9820 h 12406"/>
              <a:gd name="connsiteX1-405" fmla="*/ 1107 w 10000"/>
              <a:gd name="connsiteY1-406" fmla="*/ 3646 h 12406"/>
              <a:gd name="connsiteX2-407" fmla="*/ 709 w 10000"/>
              <a:gd name="connsiteY2-408" fmla="*/ 3864 h 12406"/>
              <a:gd name="connsiteX3-409" fmla="*/ 1155 w 10000"/>
              <a:gd name="connsiteY3-410" fmla="*/ 2274 h 12406"/>
              <a:gd name="connsiteX4-411" fmla="*/ 1905 w 10000"/>
              <a:gd name="connsiteY4-412" fmla="*/ 3334 h 12406"/>
              <a:gd name="connsiteX5-413" fmla="*/ 1507 w 10000"/>
              <a:gd name="connsiteY5-414" fmla="*/ 3491 h 12406"/>
              <a:gd name="connsiteX6-415" fmla="*/ 3161 w 10000"/>
              <a:gd name="connsiteY6-416" fmla="*/ 5426 h 12406"/>
              <a:gd name="connsiteX7-417" fmla="*/ 4679 w 10000"/>
              <a:gd name="connsiteY7-418" fmla="*/ 1653 h 12406"/>
              <a:gd name="connsiteX8-419" fmla="*/ 4184 w 10000"/>
              <a:gd name="connsiteY8-420" fmla="*/ 1653 h 12406"/>
              <a:gd name="connsiteX9-421" fmla="*/ 5031 w 10000"/>
              <a:gd name="connsiteY9-422" fmla="*/ 0 h 12406"/>
              <a:gd name="connsiteX10-423" fmla="*/ 5830 w 10000"/>
              <a:gd name="connsiteY10-424" fmla="*/ 1715 h 12406"/>
              <a:gd name="connsiteX11-425" fmla="*/ 5365 w 10000"/>
              <a:gd name="connsiteY11-426" fmla="*/ 1683 h 12406"/>
              <a:gd name="connsiteX12-427" fmla="*/ 6685 w 10000"/>
              <a:gd name="connsiteY12-428" fmla="*/ 5555 h 12406"/>
              <a:gd name="connsiteX13-429" fmla="*/ 8412 w 10000"/>
              <a:gd name="connsiteY13-430" fmla="*/ 3397 h 12406"/>
              <a:gd name="connsiteX14-431" fmla="*/ 7965 w 10000"/>
              <a:gd name="connsiteY14-432" fmla="*/ 3334 h 12406"/>
              <a:gd name="connsiteX15-433" fmla="*/ 8716 w 10000"/>
              <a:gd name="connsiteY15-434" fmla="*/ 2182 h 12406"/>
              <a:gd name="connsiteX16-435" fmla="*/ 9240 w 10000"/>
              <a:gd name="connsiteY16-436" fmla="*/ 3521 h 12406"/>
              <a:gd name="connsiteX17-437" fmla="*/ 8827 w 10000"/>
              <a:gd name="connsiteY17-438" fmla="*/ 3491 h 12406"/>
              <a:gd name="connsiteX18-439" fmla="*/ 10000 w 10000"/>
              <a:gd name="connsiteY18-440" fmla="*/ 10000 h 12406"/>
              <a:gd name="connsiteX19-441" fmla="*/ 7787 w 10000"/>
              <a:gd name="connsiteY19-442" fmla="*/ 11663 h 12406"/>
              <a:gd name="connsiteX20-443" fmla="*/ 5092 w 10000"/>
              <a:gd name="connsiteY20-444" fmla="*/ 12394 h 12406"/>
              <a:gd name="connsiteX21-445" fmla="*/ 2287 w 10000"/>
              <a:gd name="connsiteY21-446" fmla="*/ 11886 h 12406"/>
              <a:gd name="connsiteX22" fmla="*/ 0 w 10000"/>
              <a:gd name="connsiteY22" fmla="*/ 9820 h 12406"/>
              <a:gd name="connsiteX0-447" fmla="*/ 0 w 10000"/>
              <a:gd name="connsiteY0-448" fmla="*/ 9820 h 12406"/>
              <a:gd name="connsiteX1-449" fmla="*/ 1107 w 10000"/>
              <a:gd name="connsiteY1-450" fmla="*/ 3646 h 12406"/>
              <a:gd name="connsiteX2-451" fmla="*/ 709 w 10000"/>
              <a:gd name="connsiteY2-452" fmla="*/ 3864 h 12406"/>
              <a:gd name="connsiteX3-453" fmla="*/ 1155 w 10000"/>
              <a:gd name="connsiteY3-454" fmla="*/ 2274 h 12406"/>
              <a:gd name="connsiteX4-455" fmla="*/ 1905 w 10000"/>
              <a:gd name="connsiteY4-456" fmla="*/ 3334 h 12406"/>
              <a:gd name="connsiteX5-457" fmla="*/ 1507 w 10000"/>
              <a:gd name="connsiteY5-458" fmla="*/ 3491 h 12406"/>
              <a:gd name="connsiteX6-459" fmla="*/ 3161 w 10000"/>
              <a:gd name="connsiteY6-460" fmla="*/ 5426 h 12406"/>
              <a:gd name="connsiteX7-461" fmla="*/ 4679 w 10000"/>
              <a:gd name="connsiteY7-462" fmla="*/ 1653 h 12406"/>
              <a:gd name="connsiteX8-463" fmla="*/ 4184 w 10000"/>
              <a:gd name="connsiteY8-464" fmla="*/ 1653 h 12406"/>
              <a:gd name="connsiteX9-465" fmla="*/ 5031 w 10000"/>
              <a:gd name="connsiteY9-466" fmla="*/ 0 h 12406"/>
              <a:gd name="connsiteX10-467" fmla="*/ 5830 w 10000"/>
              <a:gd name="connsiteY10-468" fmla="*/ 1715 h 12406"/>
              <a:gd name="connsiteX11-469" fmla="*/ 5365 w 10000"/>
              <a:gd name="connsiteY11-470" fmla="*/ 1683 h 12406"/>
              <a:gd name="connsiteX12-471" fmla="*/ 6685 w 10000"/>
              <a:gd name="connsiteY12-472" fmla="*/ 5555 h 12406"/>
              <a:gd name="connsiteX13-473" fmla="*/ 8412 w 10000"/>
              <a:gd name="connsiteY13-474" fmla="*/ 3397 h 12406"/>
              <a:gd name="connsiteX14-475" fmla="*/ 7965 w 10000"/>
              <a:gd name="connsiteY14-476" fmla="*/ 3334 h 12406"/>
              <a:gd name="connsiteX15-477" fmla="*/ 8716 w 10000"/>
              <a:gd name="connsiteY15-478" fmla="*/ 2182 h 12406"/>
              <a:gd name="connsiteX16-479" fmla="*/ 9240 w 10000"/>
              <a:gd name="connsiteY16-480" fmla="*/ 3521 h 12406"/>
              <a:gd name="connsiteX17-481" fmla="*/ 8827 w 10000"/>
              <a:gd name="connsiteY17-482" fmla="*/ 3491 h 12406"/>
              <a:gd name="connsiteX18-483" fmla="*/ 10000 w 10000"/>
              <a:gd name="connsiteY18-484" fmla="*/ 10000 h 12406"/>
              <a:gd name="connsiteX19-485" fmla="*/ 7787 w 10000"/>
              <a:gd name="connsiteY19-486" fmla="*/ 11663 h 12406"/>
              <a:gd name="connsiteX20-487" fmla="*/ 5092 w 10000"/>
              <a:gd name="connsiteY20-488" fmla="*/ 12394 h 12406"/>
              <a:gd name="connsiteX21-489" fmla="*/ 2356 w 10000"/>
              <a:gd name="connsiteY21-490" fmla="*/ 11568 h 12406"/>
              <a:gd name="connsiteX22-491" fmla="*/ 0 w 10000"/>
              <a:gd name="connsiteY22-492" fmla="*/ 9820 h 12406"/>
              <a:gd name="connsiteX0-493" fmla="*/ 0 w 9583"/>
              <a:gd name="connsiteY0-494" fmla="*/ 9566 h 12406"/>
              <a:gd name="connsiteX1-495" fmla="*/ 690 w 9583"/>
              <a:gd name="connsiteY1-496" fmla="*/ 3646 h 12406"/>
              <a:gd name="connsiteX2-497" fmla="*/ 292 w 9583"/>
              <a:gd name="connsiteY2-498" fmla="*/ 3864 h 12406"/>
              <a:gd name="connsiteX3-499" fmla="*/ 738 w 9583"/>
              <a:gd name="connsiteY3-500" fmla="*/ 2274 h 12406"/>
              <a:gd name="connsiteX4-501" fmla="*/ 1488 w 9583"/>
              <a:gd name="connsiteY4-502" fmla="*/ 3334 h 12406"/>
              <a:gd name="connsiteX5-503" fmla="*/ 1090 w 9583"/>
              <a:gd name="connsiteY5-504" fmla="*/ 3491 h 12406"/>
              <a:gd name="connsiteX6-505" fmla="*/ 2744 w 9583"/>
              <a:gd name="connsiteY6-506" fmla="*/ 5426 h 12406"/>
              <a:gd name="connsiteX7-507" fmla="*/ 4262 w 9583"/>
              <a:gd name="connsiteY7-508" fmla="*/ 1653 h 12406"/>
              <a:gd name="connsiteX8-509" fmla="*/ 3767 w 9583"/>
              <a:gd name="connsiteY8-510" fmla="*/ 1653 h 12406"/>
              <a:gd name="connsiteX9-511" fmla="*/ 4614 w 9583"/>
              <a:gd name="connsiteY9-512" fmla="*/ 0 h 12406"/>
              <a:gd name="connsiteX10-513" fmla="*/ 5413 w 9583"/>
              <a:gd name="connsiteY10-514" fmla="*/ 1715 h 12406"/>
              <a:gd name="connsiteX11-515" fmla="*/ 4948 w 9583"/>
              <a:gd name="connsiteY11-516" fmla="*/ 1683 h 12406"/>
              <a:gd name="connsiteX12-517" fmla="*/ 6268 w 9583"/>
              <a:gd name="connsiteY12-518" fmla="*/ 5555 h 12406"/>
              <a:gd name="connsiteX13-519" fmla="*/ 7995 w 9583"/>
              <a:gd name="connsiteY13-520" fmla="*/ 3397 h 12406"/>
              <a:gd name="connsiteX14-521" fmla="*/ 7548 w 9583"/>
              <a:gd name="connsiteY14-522" fmla="*/ 3334 h 12406"/>
              <a:gd name="connsiteX15-523" fmla="*/ 8299 w 9583"/>
              <a:gd name="connsiteY15-524" fmla="*/ 2182 h 12406"/>
              <a:gd name="connsiteX16-525" fmla="*/ 8823 w 9583"/>
              <a:gd name="connsiteY16-526" fmla="*/ 3521 h 12406"/>
              <a:gd name="connsiteX17-527" fmla="*/ 8410 w 9583"/>
              <a:gd name="connsiteY17-528" fmla="*/ 3491 h 12406"/>
              <a:gd name="connsiteX18-529" fmla="*/ 9583 w 9583"/>
              <a:gd name="connsiteY18-530" fmla="*/ 10000 h 12406"/>
              <a:gd name="connsiteX19-531" fmla="*/ 7370 w 9583"/>
              <a:gd name="connsiteY19-532" fmla="*/ 11663 h 12406"/>
              <a:gd name="connsiteX20-533" fmla="*/ 4675 w 9583"/>
              <a:gd name="connsiteY20-534" fmla="*/ 12394 h 12406"/>
              <a:gd name="connsiteX21-535" fmla="*/ 1939 w 9583"/>
              <a:gd name="connsiteY21-536" fmla="*/ 11568 h 12406"/>
              <a:gd name="connsiteX22-537" fmla="*/ 0 w 9583"/>
              <a:gd name="connsiteY22-538" fmla="*/ 9566 h 12406"/>
              <a:gd name="connsiteX0-539" fmla="*/ 0 w 10000"/>
              <a:gd name="connsiteY0-540" fmla="*/ 7711 h 9999"/>
              <a:gd name="connsiteX1-541" fmla="*/ 720 w 10000"/>
              <a:gd name="connsiteY1-542" fmla="*/ 2939 h 9999"/>
              <a:gd name="connsiteX2-543" fmla="*/ 305 w 10000"/>
              <a:gd name="connsiteY2-544" fmla="*/ 3115 h 9999"/>
              <a:gd name="connsiteX3-545" fmla="*/ 770 w 10000"/>
              <a:gd name="connsiteY3-546" fmla="*/ 1833 h 9999"/>
              <a:gd name="connsiteX4-547" fmla="*/ 1553 w 10000"/>
              <a:gd name="connsiteY4-548" fmla="*/ 2687 h 9999"/>
              <a:gd name="connsiteX5-549" fmla="*/ 1137 w 10000"/>
              <a:gd name="connsiteY5-550" fmla="*/ 2814 h 9999"/>
              <a:gd name="connsiteX6-551" fmla="*/ 2863 w 10000"/>
              <a:gd name="connsiteY6-552" fmla="*/ 4374 h 9999"/>
              <a:gd name="connsiteX7-553" fmla="*/ 4447 w 10000"/>
              <a:gd name="connsiteY7-554" fmla="*/ 1332 h 9999"/>
              <a:gd name="connsiteX8-555" fmla="*/ 3931 w 10000"/>
              <a:gd name="connsiteY8-556" fmla="*/ 1332 h 9999"/>
              <a:gd name="connsiteX9-557" fmla="*/ 4815 w 10000"/>
              <a:gd name="connsiteY9-558" fmla="*/ 0 h 9999"/>
              <a:gd name="connsiteX10-559" fmla="*/ 5649 w 10000"/>
              <a:gd name="connsiteY10-560" fmla="*/ 1382 h 9999"/>
              <a:gd name="connsiteX11-561" fmla="*/ 5163 w 10000"/>
              <a:gd name="connsiteY11-562" fmla="*/ 1357 h 9999"/>
              <a:gd name="connsiteX12-563" fmla="*/ 6541 w 10000"/>
              <a:gd name="connsiteY12-564" fmla="*/ 4478 h 9999"/>
              <a:gd name="connsiteX13-565" fmla="*/ 8343 w 10000"/>
              <a:gd name="connsiteY13-566" fmla="*/ 2738 h 9999"/>
              <a:gd name="connsiteX14-567" fmla="*/ 7876 w 10000"/>
              <a:gd name="connsiteY14-568" fmla="*/ 2687 h 9999"/>
              <a:gd name="connsiteX15-569" fmla="*/ 8660 w 10000"/>
              <a:gd name="connsiteY15-570" fmla="*/ 1759 h 9999"/>
              <a:gd name="connsiteX16-571" fmla="*/ 9207 w 10000"/>
              <a:gd name="connsiteY16-572" fmla="*/ 2838 h 9999"/>
              <a:gd name="connsiteX17-573" fmla="*/ 8776 w 10000"/>
              <a:gd name="connsiteY17-574" fmla="*/ 2814 h 9999"/>
              <a:gd name="connsiteX18-575" fmla="*/ 10000 w 10000"/>
              <a:gd name="connsiteY18-576" fmla="*/ 8061 h 9999"/>
              <a:gd name="connsiteX19-577" fmla="*/ 7691 w 10000"/>
              <a:gd name="connsiteY19-578" fmla="*/ 9401 h 9999"/>
              <a:gd name="connsiteX20-579" fmla="*/ 4878 w 10000"/>
              <a:gd name="connsiteY20-580" fmla="*/ 9990 h 9999"/>
              <a:gd name="connsiteX21-581" fmla="*/ 2023 w 10000"/>
              <a:gd name="connsiteY21-582" fmla="*/ 9325 h 9999"/>
              <a:gd name="connsiteX22-583" fmla="*/ 0 w 10000"/>
              <a:gd name="connsiteY22-584" fmla="*/ 7711 h 9999"/>
              <a:gd name="connsiteX0-585" fmla="*/ 0 w 10000"/>
              <a:gd name="connsiteY0-586" fmla="*/ 7712 h 10000"/>
              <a:gd name="connsiteX1-587" fmla="*/ 720 w 10000"/>
              <a:gd name="connsiteY1-588" fmla="*/ 2939 h 10000"/>
              <a:gd name="connsiteX2-589" fmla="*/ 305 w 10000"/>
              <a:gd name="connsiteY2-590" fmla="*/ 3115 h 10000"/>
              <a:gd name="connsiteX3-591" fmla="*/ 770 w 10000"/>
              <a:gd name="connsiteY3-592" fmla="*/ 1833 h 10000"/>
              <a:gd name="connsiteX4-593" fmla="*/ 1553 w 10000"/>
              <a:gd name="connsiteY4-594" fmla="*/ 2687 h 10000"/>
              <a:gd name="connsiteX5-595" fmla="*/ 1137 w 10000"/>
              <a:gd name="connsiteY5-596" fmla="*/ 2814 h 10000"/>
              <a:gd name="connsiteX6-597" fmla="*/ 2863 w 10000"/>
              <a:gd name="connsiteY6-598" fmla="*/ 4374 h 10000"/>
              <a:gd name="connsiteX7-599" fmla="*/ 4447 w 10000"/>
              <a:gd name="connsiteY7-600" fmla="*/ 1332 h 10000"/>
              <a:gd name="connsiteX8-601" fmla="*/ 3931 w 10000"/>
              <a:gd name="connsiteY8-602" fmla="*/ 1332 h 10000"/>
              <a:gd name="connsiteX9-603" fmla="*/ 4815 w 10000"/>
              <a:gd name="connsiteY9-604" fmla="*/ 0 h 10000"/>
              <a:gd name="connsiteX10-605" fmla="*/ 5649 w 10000"/>
              <a:gd name="connsiteY10-606" fmla="*/ 1382 h 10000"/>
              <a:gd name="connsiteX11-607" fmla="*/ 5163 w 10000"/>
              <a:gd name="connsiteY11-608" fmla="*/ 1357 h 10000"/>
              <a:gd name="connsiteX12-609" fmla="*/ 6541 w 10000"/>
              <a:gd name="connsiteY12-610" fmla="*/ 4478 h 10000"/>
              <a:gd name="connsiteX13-611" fmla="*/ 8343 w 10000"/>
              <a:gd name="connsiteY13-612" fmla="*/ 2738 h 10000"/>
              <a:gd name="connsiteX14-613" fmla="*/ 7876 w 10000"/>
              <a:gd name="connsiteY14-614" fmla="*/ 2687 h 10000"/>
              <a:gd name="connsiteX15-615" fmla="*/ 8660 w 10000"/>
              <a:gd name="connsiteY15-616" fmla="*/ 1759 h 10000"/>
              <a:gd name="connsiteX16-617" fmla="*/ 9207 w 10000"/>
              <a:gd name="connsiteY16-618" fmla="*/ 2838 h 10000"/>
              <a:gd name="connsiteX17-619" fmla="*/ 8776 w 10000"/>
              <a:gd name="connsiteY17-620" fmla="*/ 2814 h 10000"/>
              <a:gd name="connsiteX18-621" fmla="*/ 10000 w 10000"/>
              <a:gd name="connsiteY18-622" fmla="*/ 8062 h 10000"/>
              <a:gd name="connsiteX19-623" fmla="*/ 7691 w 10000"/>
              <a:gd name="connsiteY19-624" fmla="*/ 9402 h 10000"/>
              <a:gd name="connsiteX20-625" fmla="*/ 4878 w 10000"/>
              <a:gd name="connsiteY20-626" fmla="*/ 9991 h 10000"/>
              <a:gd name="connsiteX21-627" fmla="*/ 2023 w 10000"/>
              <a:gd name="connsiteY21-628" fmla="*/ 9326 h 10000"/>
              <a:gd name="connsiteX22-629" fmla="*/ 0 w 10000"/>
              <a:gd name="connsiteY22-630" fmla="*/ 7712 h 10000"/>
              <a:gd name="connsiteX0-631" fmla="*/ 0 w 9768"/>
              <a:gd name="connsiteY0-632" fmla="*/ 7968 h 10000"/>
              <a:gd name="connsiteX1-633" fmla="*/ 488 w 9768"/>
              <a:gd name="connsiteY1-634" fmla="*/ 2939 h 10000"/>
              <a:gd name="connsiteX2-635" fmla="*/ 73 w 9768"/>
              <a:gd name="connsiteY2-636" fmla="*/ 3115 h 10000"/>
              <a:gd name="connsiteX3-637" fmla="*/ 538 w 9768"/>
              <a:gd name="connsiteY3-638" fmla="*/ 1833 h 10000"/>
              <a:gd name="connsiteX4-639" fmla="*/ 1321 w 9768"/>
              <a:gd name="connsiteY4-640" fmla="*/ 2687 h 10000"/>
              <a:gd name="connsiteX5-641" fmla="*/ 905 w 9768"/>
              <a:gd name="connsiteY5-642" fmla="*/ 2814 h 10000"/>
              <a:gd name="connsiteX6-643" fmla="*/ 2631 w 9768"/>
              <a:gd name="connsiteY6-644" fmla="*/ 4374 h 10000"/>
              <a:gd name="connsiteX7-645" fmla="*/ 4215 w 9768"/>
              <a:gd name="connsiteY7-646" fmla="*/ 1332 h 10000"/>
              <a:gd name="connsiteX8-647" fmla="*/ 3699 w 9768"/>
              <a:gd name="connsiteY8-648" fmla="*/ 1332 h 10000"/>
              <a:gd name="connsiteX9-649" fmla="*/ 4583 w 9768"/>
              <a:gd name="connsiteY9-650" fmla="*/ 0 h 10000"/>
              <a:gd name="connsiteX10-651" fmla="*/ 5417 w 9768"/>
              <a:gd name="connsiteY10-652" fmla="*/ 1382 h 10000"/>
              <a:gd name="connsiteX11-653" fmla="*/ 4931 w 9768"/>
              <a:gd name="connsiteY11-654" fmla="*/ 1357 h 10000"/>
              <a:gd name="connsiteX12-655" fmla="*/ 6309 w 9768"/>
              <a:gd name="connsiteY12-656" fmla="*/ 4478 h 10000"/>
              <a:gd name="connsiteX13-657" fmla="*/ 8111 w 9768"/>
              <a:gd name="connsiteY13-658" fmla="*/ 2738 h 10000"/>
              <a:gd name="connsiteX14-659" fmla="*/ 7644 w 9768"/>
              <a:gd name="connsiteY14-660" fmla="*/ 2687 h 10000"/>
              <a:gd name="connsiteX15-661" fmla="*/ 8428 w 9768"/>
              <a:gd name="connsiteY15-662" fmla="*/ 1759 h 10000"/>
              <a:gd name="connsiteX16-663" fmla="*/ 8975 w 9768"/>
              <a:gd name="connsiteY16-664" fmla="*/ 2838 h 10000"/>
              <a:gd name="connsiteX17-665" fmla="*/ 8544 w 9768"/>
              <a:gd name="connsiteY17-666" fmla="*/ 2814 h 10000"/>
              <a:gd name="connsiteX18-667" fmla="*/ 9768 w 9768"/>
              <a:gd name="connsiteY18-668" fmla="*/ 8062 h 10000"/>
              <a:gd name="connsiteX19-669" fmla="*/ 7459 w 9768"/>
              <a:gd name="connsiteY19-670" fmla="*/ 9402 h 10000"/>
              <a:gd name="connsiteX20-671" fmla="*/ 4646 w 9768"/>
              <a:gd name="connsiteY20-672" fmla="*/ 9991 h 10000"/>
              <a:gd name="connsiteX21-673" fmla="*/ 1791 w 9768"/>
              <a:gd name="connsiteY21-674" fmla="*/ 9326 h 10000"/>
              <a:gd name="connsiteX22-675" fmla="*/ 0 w 9768"/>
              <a:gd name="connsiteY22-676" fmla="*/ 7968 h 10000"/>
              <a:gd name="connsiteX0-677" fmla="*/ 0 w 10000"/>
              <a:gd name="connsiteY0-678" fmla="*/ 7968 h 10000"/>
              <a:gd name="connsiteX1-679" fmla="*/ 500 w 10000"/>
              <a:gd name="connsiteY1-680" fmla="*/ 2939 h 10000"/>
              <a:gd name="connsiteX2-681" fmla="*/ 75 w 10000"/>
              <a:gd name="connsiteY2-682" fmla="*/ 3115 h 10000"/>
              <a:gd name="connsiteX3-683" fmla="*/ 551 w 10000"/>
              <a:gd name="connsiteY3-684" fmla="*/ 1833 h 10000"/>
              <a:gd name="connsiteX4-685" fmla="*/ 1352 w 10000"/>
              <a:gd name="connsiteY4-686" fmla="*/ 2687 h 10000"/>
              <a:gd name="connsiteX5-687" fmla="*/ 926 w 10000"/>
              <a:gd name="connsiteY5-688" fmla="*/ 2814 h 10000"/>
              <a:gd name="connsiteX6-689" fmla="*/ 2693 w 10000"/>
              <a:gd name="connsiteY6-690" fmla="*/ 4374 h 10000"/>
              <a:gd name="connsiteX7-691" fmla="*/ 4315 w 10000"/>
              <a:gd name="connsiteY7-692" fmla="*/ 1332 h 10000"/>
              <a:gd name="connsiteX8-693" fmla="*/ 3787 w 10000"/>
              <a:gd name="connsiteY8-694" fmla="*/ 1332 h 10000"/>
              <a:gd name="connsiteX9-695" fmla="*/ 4692 w 10000"/>
              <a:gd name="connsiteY9-696" fmla="*/ 0 h 10000"/>
              <a:gd name="connsiteX10-697" fmla="*/ 5546 w 10000"/>
              <a:gd name="connsiteY10-698" fmla="*/ 1382 h 10000"/>
              <a:gd name="connsiteX11-699" fmla="*/ 5048 w 10000"/>
              <a:gd name="connsiteY11-700" fmla="*/ 1357 h 10000"/>
              <a:gd name="connsiteX12-701" fmla="*/ 6459 w 10000"/>
              <a:gd name="connsiteY12-702" fmla="*/ 4478 h 10000"/>
              <a:gd name="connsiteX13-703" fmla="*/ 8304 w 10000"/>
              <a:gd name="connsiteY13-704" fmla="*/ 2738 h 10000"/>
              <a:gd name="connsiteX14-705" fmla="*/ 7826 w 10000"/>
              <a:gd name="connsiteY14-706" fmla="*/ 2687 h 10000"/>
              <a:gd name="connsiteX15-707" fmla="*/ 8628 w 10000"/>
              <a:gd name="connsiteY15-708" fmla="*/ 1759 h 10000"/>
              <a:gd name="connsiteX16-709" fmla="*/ 9188 w 10000"/>
              <a:gd name="connsiteY16-710" fmla="*/ 2838 h 10000"/>
              <a:gd name="connsiteX17-711" fmla="*/ 8747 w 10000"/>
              <a:gd name="connsiteY17-712" fmla="*/ 2814 h 10000"/>
              <a:gd name="connsiteX18-713" fmla="*/ 10000 w 10000"/>
              <a:gd name="connsiteY18-714" fmla="*/ 8062 h 10000"/>
              <a:gd name="connsiteX19-715" fmla="*/ 7636 w 10000"/>
              <a:gd name="connsiteY19-716" fmla="*/ 9402 h 10000"/>
              <a:gd name="connsiteX20-717" fmla="*/ 4756 w 10000"/>
              <a:gd name="connsiteY20-718" fmla="*/ 9991 h 10000"/>
              <a:gd name="connsiteX21-719" fmla="*/ 1834 w 10000"/>
              <a:gd name="connsiteY21-720" fmla="*/ 9326 h 10000"/>
              <a:gd name="connsiteX22-721" fmla="*/ 0 w 10000"/>
              <a:gd name="connsiteY22-722" fmla="*/ 7968 h 10000"/>
              <a:gd name="connsiteX0-723" fmla="*/ 652 w 9925"/>
              <a:gd name="connsiteY0-724" fmla="*/ 8659 h 10000"/>
              <a:gd name="connsiteX1-725" fmla="*/ 425 w 9925"/>
              <a:gd name="connsiteY1-726" fmla="*/ 2939 h 10000"/>
              <a:gd name="connsiteX2-727" fmla="*/ 0 w 9925"/>
              <a:gd name="connsiteY2-728" fmla="*/ 3115 h 10000"/>
              <a:gd name="connsiteX3-729" fmla="*/ 476 w 9925"/>
              <a:gd name="connsiteY3-730" fmla="*/ 1833 h 10000"/>
              <a:gd name="connsiteX4-731" fmla="*/ 1277 w 9925"/>
              <a:gd name="connsiteY4-732" fmla="*/ 2687 h 10000"/>
              <a:gd name="connsiteX5-733" fmla="*/ 851 w 9925"/>
              <a:gd name="connsiteY5-734" fmla="*/ 2814 h 10000"/>
              <a:gd name="connsiteX6-735" fmla="*/ 2618 w 9925"/>
              <a:gd name="connsiteY6-736" fmla="*/ 4374 h 10000"/>
              <a:gd name="connsiteX7-737" fmla="*/ 4240 w 9925"/>
              <a:gd name="connsiteY7-738" fmla="*/ 1332 h 10000"/>
              <a:gd name="connsiteX8-739" fmla="*/ 3712 w 9925"/>
              <a:gd name="connsiteY8-740" fmla="*/ 1332 h 10000"/>
              <a:gd name="connsiteX9-741" fmla="*/ 4617 w 9925"/>
              <a:gd name="connsiteY9-742" fmla="*/ 0 h 10000"/>
              <a:gd name="connsiteX10-743" fmla="*/ 5471 w 9925"/>
              <a:gd name="connsiteY10-744" fmla="*/ 1382 h 10000"/>
              <a:gd name="connsiteX11-745" fmla="*/ 4973 w 9925"/>
              <a:gd name="connsiteY11-746" fmla="*/ 1357 h 10000"/>
              <a:gd name="connsiteX12-747" fmla="*/ 6384 w 9925"/>
              <a:gd name="connsiteY12-748" fmla="*/ 4478 h 10000"/>
              <a:gd name="connsiteX13-749" fmla="*/ 8229 w 9925"/>
              <a:gd name="connsiteY13-750" fmla="*/ 2738 h 10000"/>
              <a:gd name="connsiteX14-751" fmla="*/ 7751 w 9925"/>
              <a:gd name="connsiteY14-752" fmla="*/ 2687 h 10000"/>
              <a:gd name="connsiteX15-753" fmla="*/ 8553 w 9925"/>
              <a:gd name="connsiteY15-754" fmla="*/ 1759 h 10000"/>
              <a:gd name="connsiteX16-755" fmla="*/ 9113 w 9925"/>
              <a:gd name="connsiteY16-756" fmla="*/ 2838 h 10000"/>
              <a:gd name="connsiteX17-757" fmla="*/ 8672 w 9925"/>
              <a:gd name="connsiteY17-758" fmla="*/ 2814 h 10000"/>
              <a:gd name="connsiteX18-759" fmla="*/ 9925 w 9925"/>
              <a:gd name="connsiteY18-760" fmla="*/ 8062 h 10000"/>
              <a:gd name="connsiteX19-761" fmla="*/ 7561 w 9925"/>
              <a:gd name="connsiteY19-762" fmla="*/ 9402 h 10000"/>
              <a:gd name="connsiteX20-763" fmla="*/ 4681 w 9925"/>
              <a:gd name="connsiteY20-764" fmla="*/ 9991 h 10000"/>
              <a:gd name="connsiteX21-765" fmla="*/ 1759 w 9925"/>
              <a:gd name="connsiteY21-766" fmla="*/ 9326 h 10000"/>
              <a:gd name="connsiteX22-767" fmla="*/ 652 w 9925"/>
              <a:gd name="connsiteY22-768" fmla="*/ 8659 h 10000"/>
              <a:gd name="connsiteX0-769" fmla="*/ 657 w 10000"/>
              <a:gd name="connsiteY0-770" fmla="*/ 8659 h 10000"/>
              <a:gd name="connsiteX1-771" fmla="*/ 995 w 10000"/>
              <a:gd name="connsiteY1-772" fmla="*/ 8224 h 10000"/>
              <a:gd name="connsiteX2-773" fmla="*/ 428 w 10000"/>
              <a:gd name="connsiteY2-774" fmla="*/ 2939 h 10000"/>
              <a:gd name="connsiteX3-775" fmla="*/ 0 w 10000"/>
              <a:gd name="connsiteY3-776" fmla="*/ 3115 h 10000"/>
              <a:gd name="connsiteX4-777" fmla="*/ 480 w 10000"/>
              <a:gd name="connsiteY4-778" fmla="*/ 1833 h 10000"/>
              <a:gd name="connsiteX5-779" fmla="*/ 1287 w 10000"/>
              <a:gd name="connsiteY5-780" fmla="*/ 2687 h 10000"/>
              <a:gd name="connsiteX6-781" fmla="*/ 857 w 10000"/>
              <a:gd name="connsiteY6-782" fmla="*/ 2814 h 10000"/>
              <a:gd name="connsiteX7-783" fmla="*/ 2638 w 10000"/>
              <a:gd name="connsiteY7-784" fmla="*/ 4374 h 10000"/>
              <a:gd name="connsiteX8-785" fmla="*/ 4272 w 10000"/>
              <a:gd name="connsiteY8-786" fmla="*/ 1332 h 10000"/>
              <a:gd name="connsiteX9-787" fmla="*/ 3740 w 10000"/>
              <a:gd name="connsiteY9-788" fmla="*/ 1332 h 10000"/>
              <a:gd name="connsiteX10-789" fmla="*/ 4652 w 10000"/>
              <a:gd name="connsiteY10-790" fmla="*/ 0 h 10000"/>
              <a:gd name="connsiteX11-791" fmla="*/ 5512 w 10000"/>
              <a:gd name="connsiteY11-792" fmla="*/ 1382 h 10000"/>
              <a:gd name="connsiteX12-793" fmla="*/ 5011 w 10000"/>
              <a:gd name="connsiteY12-794" fmla="*/ 1357 h 10000"/>
              <a:gd name="connsiteX13-795" fmla="*/ 6432 w 10000"/>
              <a:gd name="connsiteY13-796" fmla="*/ 4478 h 10000"/>
              <a:gd name="connsiteX14-797" fmla="*/ 8291 w 10000"/>
              <a:gd name="connsiteY14-798" fmla="*/ 2738 h 10000"/>
              <a:gd name="connsiteX15-799" fmla="*/ 7810 w 10000"/>
              <a:gd name="connsiteY15-800" fmla="*/ 2687 h 10000"/>
              <a:gd name="connsiteX16-801" fmla="*/ 8618 w 10000"/>
              <a:gd name="connsiteY16-802" fmla="*/ 1759 h 10000"/>
              <a:gd name="connsiteX17-803" fmla="*/ 9182 w 10000"/>
              <a:gd name="connsiteY17-804" fmla="*/ 2838 h 10000"/>
              <a:gd name="connsiteX18-805" fmla="*/ 8738 w 10000"/>
              <a:gd name="connsiteY18-806" fmla="*/ 2814 h 10000"/>
              <a:gd name="connsiteX19-807" fmla="*/ 10000 w 10000"/>
              <a:gd name="connsiteY19-808" fmla="*/ 8062 h 10000"/>
              <a:gd name="connsiteX20-809" fmla="*/ 7618 w 10000"/>
              <a:gd name="connsiteY20-810" fmla="*/ 9402 h 10000"/>
              <a:gd name="connsiteX21-811" fmla="*/ 4716 w 10000"/>
              <a:gd name="connsiteY21-812" fmla="*/ 9991 h 10000"/>
              <a:gd name="connsiteX22-813" fmla="*/ 1772 w 10000"/>
              <a:gd name="connsiteY22-814" fmla="*/ 9326 h 10000"/>
              <a:gd name="connsiteX23" fmla="*/ 657 w 10000"/>
              <a:gd name="connsiteY23" fmla="*/ 8659 h 10000"/>
              <a:gd name="connsiteX0-815" fmla="*/ 657 w 9182"/>
              <a:gd name="connsiteY0-816" fmla="*/ 8659 h 10000"/>
              <a:gd name="connsiteX1-817" fmla="*/ 995 w 9182"/>
              <a:gd name="connsiteY1-818" fmla="*/ 8224 h 10000"/>
              <a:gd name="connsiteX2-819" fmla="*/ 428 w 9182"/>
              <a:gd name="connsiteY2-820" fmla="*/ 2939 h 10000"/>
              <a:gd name="connsiteX3-821" fmla="*/ 0 w 9182"/>
              <a:gd name="connsiteY3-822" fmla="*/ 3115 h 10000"/>
              <a:gd name="connsiteX4-823" fmla="*/ 480 w 9182"/>
              <a:gd name="connsiteY4-824" fmla="*/ 1833 h 10000"/>
              <a:gd name="connsiteX5-825" fmla="*/ 1287 w 9182"/>
              <a:gd name="connsiteY5-826" fmla="*/ 2687 h 10000"/>
              <a:gd name="connsiteX6-827" fmla="*/ 857 w 9182"/>
              <a:gd name="connsiteY6-828" fmla="*/ 2814 h 10000"/>
              <a:gd name="connsiteX7-829" fmla="*/ 2638 w 9182"/>
              <a:gd name="connsiteY7-830" fmla="*/ 4374 h 10000"/>
              <a:gd name="connsiteX8-831" fmla="*/ 4272 w 9182"/>
              <a:gd name="connsiteY8-832" fmla="*/ 1332 h 10000"/>
              <a:gd name="connsiteX9-833" fmla="*/ 3740 w 9182"/>
              <a:gd name="connsiteY9-834" fmla="*/ 1332 h 10000"/>
              <a:gd name="connsiteX10-835" fmla="*/ 4652 w 9182"/>
              <a:gd name="connsiteY10-836" fmla="*/ 0 h 10000"/>
              <a:gd name="connsiteX11-837" fmla="*/ 5512 w 9182"/>
              <a:gd name="connsiteY11-838" fmla="*/ 1382 h 10000"/>
              <a:gd name="connsiteX12-839" fmla="*/ 5011 w 9182"/>
              <a:gd name="connsiteY12-840" fmla="*/ 1357 h 10000"/>
              <a:gd name="connsiteX13-841" fmla="*/ 6432 w 9182"/>
              <a:gd name="connsiteY13-842" fmla="*/ 4478 h 10000"/>
              <a:gd name="connsiteX14-843" fmla="*/ 8291 w 9182"/>
              <a:gd name="connsiteY14-844" fmla="*/ 2738 h 10000"/>
              <a:gd name="connsiteX15-845" fmla="*/ 7810 w 9182"/>
              <a:gd name="connsiteY15-846" fmla="*/ 2687 h 10000"/>
              <a:gd name="connsiteX16-847" fmla="*/ 8618 w 9182"/>
              <a:gd name="connsiteY16-848" fmla="*/ 1759 h 10000"/>
              <a:gd name="connsiteX17-849" fmla="*/ 9182 w 9182"/>
              <a:gd name="connsiteY17-850" fmla="*/ 2838 h 10000"/>
              <a:gd name="connsiteX18-851" fmla="*/ 8738 w 9182"/>
              <a:gd name="connsiteY18-852" fmla="*/ 2814 h 10000"/>
              <a:gd name="connsiteX19-853" fmla="*/ 8640 w 9182"/>
              <a:gd name="connsiteY19-854" fmla="*/ 8548 h 10000"/>
              <a:gd name="connsiteX20-855" fmla="*/ 7618 w 9182"/>
              <a:gd name="connsiteY20-856" fmla="*/ 9402 h 10000"/>
              <a:gd name="connsiteX21-857" fmla="*/ 4716 w 9182"/>
              <a:gd name="connsiteY21-858" fmla="*/ 9991 h 10000"/>
              <a:gd name="connsiteX22-859" fmla="*/ 1772 w 9182"/>
              <a:gd name="connsiteY22-860" fmla="*/ 9326 h 10000"/>
              <a:gd name="connsiteX23-861" fmla="*/ 657 w 9182"/>
              <a:gd name="connsiteY23-862" fmla="*/ 8659 h 10000"/>
              <a:gd name="connsiteX0-863" fmla="*/ 716 w 10000"/>
              <a:gd name="connsiteY0-864" fmla="*/ 8659 h 10000"/>
              <a:gd name="connsiteX1-865" fmla="*/ 1084 w 10000"/>
              <a:gd name="connsiteY1-866" fmla="*/ 8224 h 10000"/>
              <a:gd name="connsiteX2-867" fmla="*/ 466 w 10000"/>
              <a:gd name="connsiteY2-868" fmla="*/ 2939 h 10000"/>
              <a:gd name="connsiteX3-869" fmla="*/ 0 w 10000"/>
              <a:gd name="connsiteY3-870" fmla="*/ 3115 h 10000"/>
              <a:gd name="connsiteX4-871" fmla="*/ 523 w 10000"/>
              <a:gd name="connsiteY4-872" fmla="*/ 1833 h 10000"/>
              <a:gd name="connsiteX5-873" fmla="*/ 1402 w 10000"/>
              <a:gd name="connsiteY5-874" fmla="*/ 2687 h 10000"/>
              <a:gd name="connsiteX6-875" fmla="*/ 933 w 10000"/>
              <a:gd name="connsiteY6-876" fmla="*/ 2814 h 10000"/>
              <a:gd name="connsiteX7-877" fmla="*/ 2873 w 10000"/>
              <a:gd name="connsiteY7-878" fmla="*/ 4374 h 10000"/>
              <a:gd name="connsiteX8-879" fmla="*/ 4653 w 10000"/>
              <a:gd name="connsiteY8-880" fmla="*/ 1332 h 10000"/>
              <a:gd name="connsiteX9-881" fmla="*/ 4073 w 10000"/>
              <a:gd name="connsiteY9-882" fmla="*/ 1332 h 10000"/>
              <a:gd name="connsiteX10-883" fmla="*/ 5066 w 10000"/>
              <a:gd name="connsiteY10-884" fmla="*/ 0 h 10000"/>
              <a:gd name="connsiteX11-885" fmla="*/ 6003 w 10000"/>
              <a:gd name="connsiteY11-886" fmla="*/ 1382 h 10000"/>
              <a:gd name="connsiteX12-887" fmla="*/ 5457 w 10000"/>
              <a:gd name="connsiteY12-888" fmla="*/ 1357 h 10000"/>
              <a:gd name="connsiteX13-889" fmla="*/ 7005 w 10000"/>
              <a:gd name="connsiteY13-890" fmla="*/ 4478 h 10000"/>
              <a:gd name="connsiteX14-891" fmla="*/ 9030 w 10000"/>
              <a:gd name="connsiteY14-892" fmla="*/ 2738 h 10000"/>
              <a:gd name="connsiteX15-893" fmla="*/ 8506 w 10000"/>
              <a:gd name="connsiteY15-894" fmla="*/ 2687 h 10000"/>
              <a:gd name="connsiteX16-895" fmla="*/ 9386 w 10000"/>
              <a:gd name="connsiteY16-896" fmla="*/ 1759 h 10000"/>
              <a:gd name="connsiteX17-897" fmla="*/ 10000 w 10000"/>
              <a:gd name="connsiteY17-898" fmla="*/ 2838 h 10000"/>
              <a:gd name="connsiteX18-899" fmla="*/ 9516 w 10000"/>
              <a:gd name="connsiteY18-900" fmla="*/ 2814 h 10000"/>
              <a:gd name="connsiteX19-901" fmla="*/ 9094 w 10000"/>
              <a:gd name="connsiteY19-902" fmla="*/ 7124 h 10000"/>
              <a:gd name="connsiteX20-903" fmla="*/ 9410 w 10000"/>
              <a:gd name="connsiteY20-904" fmla="*/ 8548 h 10000"/>
              <a:gd name="connsiteX21-905" fmla="*/ 8297 w 10000"/>
              <a:gd name="connsiteY21-906" fmla="*/ 9402 h 10000"/>
              <a:gd name="connsiteX22-907" fmla="*/ 5136 w 10000"/>
              <a:gd name="connsiteY22-908" fmla="*/ 9991 h 10000"/>
              <a:gd name="connsiteX23-909" fmla="*/ 1930 w 10000"/>
              <a:gd name="connsiteY23-910" fmla="*/ 9326 h 10000"/>
              <a:gd name="connsiteX24" fmla="*/ 716 w 10000"/>
              <a:gd name="connsiteY24" fmla="*/ 8659 h 10000"/>
              <a:gd name="connsiteX0-911" fmla="*/ 716 w 10000"/>
              <a:gd name="connsiteY0-912" fmla="*/ 8659 h 10000"/>
              <a:gd name="connsiteX1-913" fmla="*/ 1084 w 10000"/>
              <a:gd name="connsiteY1-914" fmla="*/ 8224 h 10000"/>
              <a:gd name="connsiteX2-915" fmla="*/ 466 w 10000"/>
              <a:gd name="connsiteY2-916" fmla="*/ 2939 h 10000"/>
              <a:gd name="connsiteX3-917" fmla="*/ 0 w 10000"/>
              <a:gd name="connsiteY3-918" fmla="*/ 3115 h 10000"/>
              <a:gd name="connsiteX4-919" fmla="*/ 523 w 10000"/>
              <a:gd name="connsiteY4-920" fmla="*/ 1833 h 10000"/>
              <a:gd name="connsiteX5-921" fmla="*/ 1402 w 10000"/>
              <a:gd name="connsiteY5-922" fmla="*/ 2687 h 10000"/>
              <a:gd name="connsiteX6-923" fmla="*/ 933 w 10000"/>
              <a:gd name="connsiteY6-924" fmla="*/ 2814 h 10000"/>
              <a:gd name="connsiteX7-925" fmla="*/ 2873 w 10000"/>
              <a:gd name="connsiteY7-926" fmla="*/ 4374 h 10000"/>
              <a:gd name="connsiteX8-927" fmla="*/ 4653 w 10000"/>
              <a:gd name="connsiteY8-928" fmla="*/ 1332 h 10000"/>
              <a:gd name="connsiteX9-929" fmla="*/ 4073 w 10000"/>
              <a:gd name="connsiteY9-930" fmla="*/ 1332 h 10000"/>
              <a:gd name="connsiteX10-931" fmla="*/ 5066 w 10000"/>
              <a:gd name="connsiteY10-932" fmla="*/ 0 h 10000"/>
              <a:gd name="connsiteX11-933" fmla="*/ 6003 w 10000"/>
              <a:gd name="connsiteY11-934" fmla="*/ 1382 h 10000"/>
              <a:gd name="connsiteX12-935" fmla="*/ 5457 w 10000"/>
              <a:gd name="connsiteY12-936" fmla="*/ 1357 h 10000"/>
              <a:gd name="connsiteX13-937" fmla="*/ 7005 w 10000"/>
              <a:gd name="connsiteY13-938" fmla="*/ 4478 h 10000"/>
              <a:gd name="connsiteX14-939" fmla="*/ 9030 w 10000"/>
              <a:gd name="connsiteY14-940" fmla="*/ 2738 h 10000"/>
              <a:gd name="connsiteX15-941" fmla="*/ 8506 w 10000"/>
              <a:gd name="connsiteY15-942" fmla="*/ 2687 h 10000"/>
              <a:gd name="connsiteX16-943" fmla="*/ 9386 w 10000"/>
              <a:gd name="connsiteY16-944" fmla="*/ 1759 h 10000"/>
              <a:gd name="connsiteX17-945" fmla="*/ 10000 w 10000"/>
              <a:gd name="connsiteY17-946" fmla="*/ 2838 h 10000"/>
              <a:gd name="connsiteX18-947" fmla="*/ 9516 w 10000"/>
              <a:gd name="connsiteY18-948" fmla="*/ 2814 h 10000"/>
              <a:gd name="connsiteX19-949" fmla="*/ 9094 w 10000"/>
              <a:gd name="connsiteY19-950" fmla="*/ 7124 h 10000"/>
              <a:gd name="connsiteX20-951" fmla="*/ 9508 w 10000"/>
              <a:gd name="connsiteY20-952" fmla="*/ 8702 h 10000"/>
              <a:gd name="connsiteX21-953" fmla="*/ 8297 w 10000"/>
              <a:gd name="connsiteY21-954" fmla="*/ 9402 h 10000"/>
              <a:gd name="connsiteX22-955" fmla="*/ 5136 w 10000"/>
              <a:gd name="connsiteY22-956" fmla="*/ 9991 h 10000"/>
              <a:gd name="connsiteX23-957" fmla="*/ 1930 w 10000"/>
              <a:gd name="connsiteY23-958" fmla="*/ 9326 h 10000"/>
              <a:gd name="connsiteX24-959" fmla="*/ 716 w 10000"/>
              <a:gd name="connsiteY24-960" fmla="*/ 8659 h 10000"/>
              <a:gd name="connsiteX0-961" fmla="*/ 716 w 10000"/>
              <a:gd name="connsiteY0-962" fmla="*/ 8659 h 10000"/>
              <a:gd name="connsiteX1-963" fmla="*/ 1084 w 10000"/>
              <a:gd name="connsiteY1-964" fmla="*/ 8224 h 10000"/>
              <a:gd name="connsiteX2-965" fmla="*/ 466 w 10000"/>
              <a:gd name="connsiteY2-966" fmla="*/ 2939 h 10000"/>
              <a:gd name="connsiteX3-967" fmla="*/ 0 w 10000"/>
              <a:gd name="connsiteY3-968" fmla="*/ 3115 h 10000"/>
              <a:gd name="connsiteX4-969" fmla="*/ 523 w 10000"/>
              <a:gd name="connsiteY4-970" fmla="*/ 1833 h 10000"/>
              <a:gd name="connsiteX5-971" fmla="*/ 1402 w 10000"/>
              <a:gd name="connsiteY5-972" fmla="*/ 2687 h 10000"/>
              <a:gd name="connsiteX6-973" fmla="*/ 933 w 10000"/>
              <a:gd name="connsiteY6-974" fmla="*/ 2814 h 10000"/>
              <a:gd name="connsiteX7-975" fmla="*/ 2873 w 10000"/>
              <a:gd name="connsiteY7-976" fmla="*/ 4374 h 10000"/>
              <a:gd name="connsiteX8-977" fmla="*/ 4653 w 10000"/>
              <a:gd name="connsiteY8-978" fmla="*/ 1332 h 10000"/>
              <a:gd name="connsiteX9-979" fmla="*/ 4073 w 10000"/>
              <a:gd name="connsiteY9-980" fmla="*/ 1332 h 10000"/>
              <a:gd name="connsiteX10-981" fmla="*/ 5066 w 10000"/>
              <a:gd name="connsiteY10-982" fmla="*/ 0 h 10000"/>
              <a:gd name="connsiteX11-983" fmla="*/ 6003 w 10000"/>
              <a:gd name="connsiteY11-984" fmla="*/ 1382 h 10000"/>
              <a:gd name="connsiteX12-985" fmla="*/ 5457 w 10000"/>
              <a:gd name="connsiteY12-986" fmla="*/ 1357 h 10000"/>
              <a:gd name="connsiteX13-987" fmla="*/ 7005 w 10000"/>
              <a:gd name="connsiteY13-988" fmla="*/ 4478 h 10000"/>
              <a:gd name="connsiteX14-989" fmla="*/ 9030 w 10000"/>
              <a:gd name="connsiteY14-990" fmla="*/ 2738 h 10000"/>
              <a:gd name="connsiteX15-991" fmla="*/ 8506 w 10000"/>
              <a:gd name="connsiteY15-992" fmla="*/ 2687 h 10000"/>
              <a:gd name="connsiteX16-993" fmla="*/ 9386 w 10000"/>
              <a:gd name="connsiteY16-994" fmla="*/ 1759 h 10000"/>
              <a:gd name="connsiteX17-995" fmla="*/ 10000 w 10000"/>
              <a:gd name="connsiteY17-996" fmla="*/ 2838 h 10000"/>
              <a:gd name="connsiteX18-997" fmla="*/ 9516 w 10000"/>
              <a:gd name="connsiteY18-998" fmla="*/ 2814 h 10000"/>
              <a:gd name="connsiteX19-999" fmla="*/ 9094 w 10000"/>
              <a:gd name="connsiteY19-1000" fmla="*/ 7124 h 10000"/>
              <a:gd name="connsiteX20-1001" fmla="*/ 9117 w 10000"/>
              <a:gd name="connsiteY20-1002" fmla="*/ 8804 h 10000"/>
              <a:gd name="connsiteX21-1003" fmla="*/ 8297 w 10000"/>
              <a:gd name="connsiteY21-1004" fmla="*/ 9402 h 10000"/>
              <a:gd name="connsiteX22-1005" fmla="*/ 5136 w 10000"/>
              <a:gd name="connsiteY22-1006" fmla="*/ 9991 h 10000"/>
              <a:gd name="connsiteX23-1007" fmla="*/ 1930 w 10000"/>
              <a:gd name="connsiteY23-1008" fmla="*/ 9326 h 10000"/>
              <a:gd name="connsiteX24-1009" fmla="*/ 716 w 10000"/>
              <a:gd name="connsiteY24-1010" fmla="*/ 8659 h 10000"/>
              <a:gd name="connsiteX0-1011" fmla="*/ 716 w 10000"/>
              <a:gd name="connsiteY0-1012" fmla="*/ 8659 h 9997"/>
              <a:gd name="connsiteX1-1013" fmla="*/ 1084 w 10000"/>
              <a:gd name="connsiteY1-1014" fmla="*/ 8224 h 9997"/>
              <a:gd name="connsiteX2-1015" fmla="*/ 466 w 10000"/>
              <a:gd name="connsiteY2-1016" fmla="*/ 2939 h 9997"/>
              <a:gd name="connsiteX3-1017" fmla="*/ 0 w 10000"/>
              <a:gd name="connsiteY3-1018" fmla="*/ 3115 h 9997"/>
              <a:gd name="connsiteX4-1019" fmla="*/ 523 w 10000"/>
              <a:gd name="connsiteY4-1020" fmla="*/ 1833 h 9997"/>
              <a:gd name="connsiteX5-1021" fmla="*/ 1402 w 10000"/>
              <a:gd name="connsiteY5-1022" fmla="*/ 2687 h 9997"/>
              <a:gd name="connsiteX6-1023" fmla="*/ 933 w 10000"/>
              <a:gd name="connsiteY6-1024" fmla="*/ 2814 h 9997"/>
              <a:gd name="connsiteX7-1025" fmla="*/ 2873 w 10000"/>
              <a:gd name="connsiteY7-1026" fmla="*/ 4374 h 9997"/>
              <a:gd name="connsiteX8-1027" fmla="*/ 4653 w 10000"/>
              <a:gd name="connsiteY8-1028" fmla="*/ 1332 h 9997"/>
              <a:gd name="connsiteX9-1029" fmla="*/ 4073 w 10000"/>
              <a:gd name="connsiteY9-1030" fmla="*/ 1332 h 9997"/>
              <a:gd name="connsiteX10-1031" fmla="*/ 5066 w 10000"/>
              <a:gd name="connsiteY10-1032" fmla="*/ 0 h 9997"/>
              <a:gd name="connsiteX11-1033" fmla="*/ 6003 w 10000"/>
              <a:gd name="connsiteY11-1034" fmla="*/ 1382 h 9997"/>
              <a:gd name="connsiteX12-1035" fmla="*/ 5457 w 10000"/>
              <a:gd name="connsiteY12-1036" fmla="*/ 1357 h 9997"/>
              <a:gd name="connsiteX13-1037" fmla="*/ 7005 w 10000"/>
              <a:gd name="connsiteY13-1038" fmla="*/ 4478 h 9997"/>
              <a:gd name="connsiteX14-1039" fmla="*/ 9030 w 10000"/>
              <a:gd name="connsiteY14-1040" fmla="*/ 2738 h 9997"/>
              <a:gd name="connsiteX15-1041" fmla="*/ 8506 w 10000"/>
              <a:gd name="connsiteY15-1042" fmla="*/ 2687 h 9997"/>
              <a:gd name="connsiteX16-1043" fmla="*/ 9386 w 10000"/>
              <a:gd name="connsiteY16-1044" fmla="*/ 1759 h 9997"/>
              <a:gd name="connsiteX17-1045" fmla="*/ 10000 w 10000"/>
              <a:gd name="connsiteY17-1046" fmla="*/ 2838 h 9997"/>
              <a:gd name="connsiteX18-1047" fmla="*/ 9516 w 10000"/>
              <a:gd name="connsiteY18-1048" fmla="*/ 2814 h 9997"/>
              <a:gd name="connsiteX19-1049" fmla="*/ 9094 w 10000"/>
              <a:gd name="connsiteY19-1050" fmla="*/ 7124 h 9997"/>
              <a:gd name="connsiteX20-1051" fmla="*/ 9117 w 10000"/>
              <a:gd name="connsiteY20-1052" fmla="*/ 8804 h 9997"/>
              <a:gd name="connsiteX21-1053" fmla="*/ 8818 w 10000"/>
              <a:gd name="connsiteY21-1054" fmla="*/ 9095 h 9997"/>
              <a:gd name="connsiteX22-1055" fmla="*/ 8297 w 10000"/>
              <a:gd name="connsiteY22-1056" fmla="*/ 9402 h 9997"/>
              <a:gd name="connsiteX23-1057" fmla="*/ 5136 w 10000"/>
              <a:gd name="connsiteY23-1058" fmla="*/ 9991 h 9997"/>
              <a:gd name="connsiteX24-1059" fmla="*/ 1930 w 10000"/>
              <a:gd name="connsiteY24-1060" fmla="*/ 9326 h 9997"/>
              <a:gd name="connsiteX25" fmla="*/ 716 w 10000"/>
              <a:gd name="connsiteY25" fmla="*/ 8659 h 9997"/>
              <a:gd name="connsiteX0-1061" fmla="*/ 716 w 10000"/>
              <a:gd name="connsiteY0-1062" fmla="*/ 8662 h 9974"/>
              <a:gd name="connsiteX1-1063" fmla="*/ 1084 w 10000"/>
              <a:gd name="connsiteY1-1064" fmla="*/ 8226 h 9974"/>
              <a:gd name="connsiteX2-1065" fmla="*/ 466 w 10000"/>
              <a:gd name="connsiteY2-1066" fmla="*/ 2940 h 9974"/>
              <a:gd name="connsiteX3-1067" fmla="*/ 0 w 10000"/>
              <a:gd name="connsiteY3-1068" fmla="*/ 3116 h 9974"/>
              <a:gd name="connsiteX4-1069" fmla="*/ 523 w 10000"/>
              <a:gd name="connsiteY4-1070" fmla="*/ 1834 h 9974"/>
              <a:gd name="connsiteX5-1071" fmla="*/ 1402 w 10000"/>
              <a:gd name="connsiteY5-1072" fmla="*/ 2688 h 9974"/>
              <a:gd name="connsiteX6-1073" fmla="*/ 933 w 10000"/>
              <a:gd name="connsiteY6-1074" fmla="*/ 2815 h 9974"/>
              <a:gd name="connsiteX7-1075" fmla="*/ 2873 w 10000"/>
              <a:gd name="connsiteY7-1076" fmla="*/ 4375 h 9974"/>
              <a:gd name="connsiteX8-1077" fmla="*/ 4653 w 10000"/>
              <a:gd name="connsiteY8-1078" fmla="*/ 1332 h 9974"/>
              <a:gd name="connsiteX9-1079" fmla="*/ 4073 w 10000"/>
              <a:gd name="connsiteY9-1080" fmla="*/ 1332 h 9974"/>
              <a:gd name="connsiteX10-1081" fmla="*/ 5066 w 10000"/>
              <a:gd name="connsiteY10-1082" fmla="*/ 0 h 9974"/>
              <a:gd name="connsiteX11-1083" fmla="*/ 6003 w 10000"/>
              <a:gd name="connsiteY11-1084" fmla="*/ 1382 h 9974"/>
              <a:gd name="connsiteX12-1085" fmla="*/ 5457 w 10000"/>
              <a:gd name="connsiteY12-1086" fmla="*/ 1357 h 9974"/>
              <a:gd name="connsiteX13-1087" fmla="*/ 7005 w 10000"/>
              <a:gd name="connsiteY13-1088" fmla="*/ 4479 h 9974"/>
              <a:gd name="connsiteX14-1089" fmla="*/ 9030 w 10000"/>
              <a:gd name="connsiteY14-1090" fmla="*/ 2739 h 9974"/>
              <a:gd name="connsiteX15-1091" fmla="*/ 8506 w 10000"/>
              <a:gd name="connsiteY15-1092" fmla="*/ 2688 h 9974"/>
              <a:gd name="connsiteX16-1093" fmla="*/ 9386 w 10000"/>
              <a:gd name="connsiteY16-1094" fmla="*/ 1760 h 9974"/>
              <a:gd name="connsiteX17-1095" fmla="*/ 10000 w 10000"/>
              <a:gd name="connsiteY17-1096" fmla="*/ 2839 h 9974"/>
              <a:gd name="connsiteX18-1097" fmla="*/ 9516 w 10000"/>
              <a:gd name="connsiteY18-1098" fmla="*/ 2815 h 9974"/>
              <a:gd name="connsiteX19-1099" fmla="*/ 9094 w 10000"/>
              <a:gd name="connsiteY19-1100" fmla="*/ 7126 h 9974"/>
              <a:gd name="connsiteX20-1101" fmla="*/ 9117 w 10000"/>
              <a:gd name="connsiteY20-1102" fmla="*/ 8807 h 9974"/>
              <a:gd name="connsiteX21-1103" fmla="*/ 8818 w 10000"/>
              <a:gd name="connsiteY21-1104" fmla="*/ 9098 h 9974"/>
              <a:gd name="connsiteX22-1105" fmla="*/ 8297 w 10000"/>
              <a:gd name="connsiteY22-1106" fmla="*/ 9405 h 9974"/>
              <a:gd name="connsiteX23-1107" fmla="*/ 5087 w 10000"/>
              <a:gd name="connsiteY23-1108" fmla="*/ 9968 h 9974"/>
              <a:gd name="connsiteX24-1109" fmla="*/ 1930 w 10000"/>
              <a:gd name="connsiteY24-1110" fmla="*/ 9329 h 9974"/>
              <a:gd name="connsiteX25-1111" fmla="*/ 716 w 10000"/>
              <a:gd name="connsiteY25-1112" fmla="*/ 8662 h 9974"/>
              <a:gd name="connsiteX0-1113" fmla="*/ 716 w 10000"/>
              <a:gd name="connsiteY0-1114" fmla="*/ 8685 h 10000"/>
              <a:gd name="connsiteX1-1115" fmla="*/ 1084 w 10000"/>
              <a:gd name="connsiteY1-1116" fmla="*/ 8247 h 10000"/>
              <a:gd name="connsiteX2-1117" fmla="*/ 466 w 10000"/>
              <a:gd name="connsiteY2-1118" fmla="*/ 2948 h 10000"/>
              <a:gd name="connsiteX3-1119" fmla="*/ 0 w 10000"/>
              <a:gd name="connsiteY3-1120" fmla="*/ 3124 h 10000"/>
              <a:gd name="connsiteX4-1121" fmla="*/ 523 w 10000"/>
              <a:gd name="connsiteY4-1122" fmla="*/ 1839 h 10000"/>
              <a:gd name="connsiteX5-1123" fmla="*/ 1402 w 10000"/>
              <a:gd name="connsiteY5-1124" fmla="*/ 2695 h 10000"/>
              <a:gd name="connsiteX6-1125" fmla="*/ 933 w 10000"/>
              <a:gd name="connsiteY6-1126" fmla="*/ 2822 h 10000"/>
              <a:gd name="connsiteX7-1127" fmla="*/ 2873 w 10000"/>
              <a:gd name="connsiteY7-1128" fmla="*/ 4386 h 10000"/>
              <a:gd name="connsiteX8-1129" fmla="*/ 4653 w 10000"/>
              <a:gd name="connsiteY8-1130" fmla="*/ 1335 h 10000"/>
              <a:gd name="connsiteX9-1131" fmla="*/ 4073 w 10000"/>
              <a:gd name="connsiteY9-1132" fmla="*/ 1335 h 10000"/>
              <a:gd name="connsiteX10-1133" fmla="*/ 5066 w 10000"/>
              <a:gd name="connsiteY10-1134" fmla="*/ 0 h 10000"/>
              <a:gd name="connsiteX11-1135" fmla="*/ 6003 w 10000"/>
              <a:gd name="connsiteY11-1136" fmla="*/ 1386 h 10000"/>
              <a:gd name="connsiteX12-1137" fmla="*/ 5457 w 10000"/>
              <a:gd name="connsiteY12-1138" fmla="*/ 1361 h 10000"/>
              <a:gd name="connsiteX13-1139" fmla="*/ 7005 w 10000"/>
              <a:gd name="connsiteY13-1140" fmla="*/ 4491 h 10000"/>
              <a:gd name="connsiteX14-1141" fmla="*/ 9030 w 10000"/>
              <a:gd name="connsiteY14-1142" fmla="*/ 2746 h 10000"/>
              <a:gd name="connsiteX15-1143" fmla="*/ 8506 w 10000"/>
              <a:gd name="connsiteY15-1144" fmla="*/ 2695 h 10000"/>
              <a:gd name="connsiteX16-1145" fmla="*/ 9386 w 10000"/>
              <a:gd name="connsiteY16-1146" fmla="*/ 1765 h 10000"/>
              <a:gd name="connsiteX17-1147" fmla="*/ 10000 w 10000"/>
              <a:gd name="connsiteY17-1148" fmla="*/ 2846 h 10000"/>
              <a:gd name="connsiteX18-1149" fmla="*/ 9516 w 10000"/>
              <a:gd name="connsiteY18-1150" fmla="*/ 2822 h 10000"/>
              <a:gd name="connsiteX19-1151" fmla="*/ 9094 w 10000"/>
              <a:gd name="connsiteY19-1152" fmla="*/ 7145 h 10000"/>
              <a:gd name="connsiteX20-1153" fmla="*/ 9117 w 10000"/>
              <a:gd name="connsiteY20-1154" fmla="*/ 8830 h 10000"/>
              <a:gd name="connsiteX21-1155" fmla="*/ 8818 w 10000"/>
              <a:gd name="connsiteY21-1156" fmla="*/ 9122 h 10000"/>
              <a:gd name="connsiteX22-1157" fmla="*/ 8346 w 10000"/>
              <a:gd name="connsiteY22-1158" fmla="*/ 9430 h 10000"/>
              <a:gd name="connsiteX23-1159" fmla="*/ 5087 w 10000"/>
              <a:gd name="connsiteY23-1160" fmla="*/ 9994 h 10000"/>
              <a:gd name="connsiteX24-1161" fmla="*/ 1930 w 10000"/>
              <a:gd name="connsiteY24-1162" fmla="*/ 9353 h 10000"/>
              <a:gd name="connsiteX25-1163" fmla="*/ 716 w 10000"/>
              <a:gd name="connsiteY25-1164" fmla="*/ 8685 h 10000"/>
              <a:gd name="connsiteX0-1165" fmla="*/ 1122 w 10000"/>
              <a:gd name="connsiteY0-1166" fmla="*/ 9108 h 10000"/>
              <a:gd name="connsiteX1-1167" fmla="*/ 1084 w 10000"/>
              <a:gd name="connsiteY1-1168" fmla="*/ 8247 h 10000"/>
              <a:gd name="connsiteX2-1169" fmla="*/ 466 w 10000"/>
              <a:gd name="connsiteY2-1170" fmla="*/ 2948 h 10000"/>
              <a:gd name="connsiteX3-1171" fmla="*/ 0 w 10000"/>
              <a:gd name="connsiteY3-1172" fmla="*/ 3124 h 10000"/>
              <a:gd name="connsiteX4-1173" fmla="*/ 523 w 10000"/>
              <a:gd name="connsiteY4-1174" fmla="*/ 1839 h 10000"/>
              <a:gd name="connsiteX5-1175" fmla="*/ 1402 w 10000"/>
              <a:gd name="connsiteY5-1176" fmla="*/ 2695 h 10000"/>
              <a:gd name="connsiteX6-1177" fmla="*/ 933 w 10000"/>
              <a:gd name="connsiteY6-1178" fmla="*/ 2822 h 10000"/>
              <a:gd name="connsiteX7-1179" fmla="*/ 2873 w 10000"/>
              <a:gd name="connsiteY7-1180" fmla="*/ 4386 h 10000"/>
              <a:gd name="connsiteX8-1181" fmla="*/ 4653 w 10000"/>
              <a:gd name="connsiteY8-1182" fmla="*/ 1335 h 10000"/>
              <a:gd name="connsiteX9-1183" fmla="*/ 4073 w 10000"/>
              <a:gd name="connsiteY9-1184" fmla="*/ 1335 h 10000"/>
              <a:gd name="connsiteX10-1185" fmla="*/ 5066 w 10000"/>
              <a:gd name="connsiteY10-1186" fmla="*/ 0 h 10000"/>
              <a:gd name="connsiteX11-1187" fmla="*/ 6003 w 10000"/>
              <a:gd name="connsiteY11-1188" fmla="*/ 1386 h 10000"/>
              <a:gd name="connsiteX12-1189" fmla="*/ 5457 w 10000"/>
              <a:gd name="connsiteY12-1190" fmla="*/ 1361 h 10000"/>
              <a:gd name="connsiteX13-1191" fmla="*/ 7005 w 10000"/>
              <a:gd name="connsiteY13-1192" fmla="*/ 4491 h 10000"/>
              <a:gd name="connsiteX14-1193" fmla="*/ 9030 w 10000"/>
              <a:gd name="connsiteY14-1194" fmla="*/ 2746 h 10000"/>
              <a:gd name="connsiteX15-1195" fmla="*/ 8506 w 10000"/>
              <a:gd name="connsiteY15-1196" fmla="*/ 2695 h 10000"/>
              <a:gd name="connsiteX16-1197" fmla="*/ 9386 w 10000"/>
              <a:gd name="connsiteY16-1198" fmla="*/ 1765 h 10000"/>
              <a:gd name="connsiteX17-1199" fmla="*/ 10000 w 10000"/>
              <a:gd name="connsiteY17-1200" fmla="*/ 2846 h 10000"/>
              <a:gd name="connsiteX18-1201" fmla="*/ 9516 w 10000"/>
              <a:gd name="connsiteY18-1202" fmla="*/ 2822 h 10000"/>
              <a:gd name="connsiteX19-1203" fmla="*/ 9094 w 10000"/>
              <a:gd name="connsiteY19-1204" fmla="*/ 7145 h 10000"/>
              <a:gd name="connsiteX20-1205" fmla="*/ 9117 w 10000"/>
              <a:gd name="connsiteY20-1206" fmla="*/ 8830 h 10000"/>
              <a:gd name="connsiteX21-1207" fmla="*/ 8818 w 10000"/>
              <a:gd name="connsiteY21-1208" fmla="*/ 9122 h 10000"/>
              <a:gd name="connsiteX22-1209" fmla="*/ 8346 w 10000"/>
              <a:gd name="connsiteY22-1210" fmla="*/ 9430 h 10000"/>
              <a:gd name="connsiteX23-1211" fmla="*/ 5087 w 10000"/>
              <a:gd name="connsiteY23-1212" fmla="*/ 9994 h 10000"/>
              <a:gd name="connsiteX24-1213" fmla="*/ 1930 w 10000"/>
              <a:gd name="connsiteY24-1214" fmla="*/ 9353 h 10000"/>
              <a:gd name="connsiteX25-1215" fmla="*/ 1122 w 10000"/>
              <a:gd name="connsiteY25-1216" fmla="*/ 9108 h 10000"/>
              <a:gd name="connsiteX0-1217" fmla="*/ 1122 w 10000"/>
              <a:gd name="connsiteY0-1218" fmla="*/ 9108 h 10000"/>
              <a:gd name="connsiteX1-1219" fmla="*/ 1084 w 10000"/>
              <a:gd name="connsiteY1-1220" fmla="*/ 8247 h 10000"/>
              <a:gd name="connsiteX2-1221" fmla="*/ 466 w 10000"/>
              <a:gd name="connsiteY2-1222" fmla="*/ 2948 h 10000"/>
              <a:gd name="connsiteX3-1223" fmla="*/ 0 w 10000"/>
              <a:gd name="connsiteY3-1224" fmla="*/ 3124 h 10000"/>
              <a:gd name="connsiteX4-1225" fmla="*/ 523 w 10000"/>
              <a:gd name="connsiteY4-1226" fmla="*/ 1839 h 10000"/>
              <a:gd name="connsiteX5-1227" fmla="*/ 1402 w 10000"/>
              <a:gd name="connsiteY5-1228" fmla="*/ 2695 h 10000"/>
              <a:gd name="connsiteX6-1229" fmla="*/ 933 w 10000"/>
              <a:gd name="connsiteY6-1230" fmla="*/ 2822 h 10000"/>
              <a:gd name="connsiteX7-1231" fmla="*/ 2873 w 10000"/>
              <a:gd name="connsiteY7-1232" fmla="*/ 4386 h 10000"/>
              <a:gd name="connsiteX8-1233" fmla="*/ 4653 w 10000"/>
              <a:gd name="connsiteY8-1234" fmla="*/ 1335 h 10000"/>
              <a:gd name="connsiteX9-1235" fmla="*/ 4073 w 10000"/>
              <a:gd name="connsiteY9-1236" fmla="*/ 1335 h 10000"/>
              <a:gd name="connsiteX10-1237" fmla="*/ 5066 w 10000"/>
              <a:gd name="connsiteY10-1238" fmla="*/ 0 h 10000"/>
              <a:gd name="connsiteX11-1239" fmla="*/ 6003 w 10000"/>
              <a:gd name="connsiteY11-1240" fmla="*/ 1386 h 10000"/>
              <a:gd name="connsiteX12-1241" fmla="*/ 5457 w 10000"/>
              <a:gd name="connsiteY12-1242" fmla="*/ 1361 h 10000"/>
              <a:gd name="connsiteX13-1243" fmla="*/ 7005 w 10000"/>
              <a:gd name="connsiteY13-1244" fmla="*/ 4491 h 10000"/>
              <a:gd name="connsiteX14-1245" fmla="*/ 9030 w 10000"/>
              <a:gd name="connsiteY14-1246" fmla="*/ 2746 h 10000"/>
              <a:gd name="connsiteX15-1247" fmla="*/ 8506 w 10000"/>
              <a:gd name="connsiteY15-1248" fmla="*/ 2695 h 10000"/>
              <a:gd name="connsiteX16-1249" fmla="*/ 9386 w 10000"/>
              <a:gd name="connsiteY16-1250" fmla="*/ 1765 h 10000"/>
              <a:gd name="connsiteX17-1251" fmla="*/ 10000 w 10000"/>
              <a:gd name="connsiteY17-1252" fmla="*/ 2846 h 10000"/>
              <a:gd name="connsiteX18-1253" fmla="*/ 9516 w 10000"/>
              <a:gd name="connsiteY18-1254" fmla="*/ 2822 h 10000"/>
              <a:gd name="connsiteX19-1255" fmla="*/ 9094 w 10000"/>
              <a:gd name="connsiteY19-1256" fmla="*/ 7145 h 10000"/>
              <a:gd name="connsiteX20-1257" fmla="*/ 9117 w 10000"/>
              <a:gd name="connsiteY20-1258" fmla="*/ 8830 h 10000"/>
              <a:gd name="connsiteX21-1259" fmla="*/ 8818 w 10000"/>
              <a:gd name="connsiteY21-1260" fmla="*/ 9122 h 10000"/>
              <a:gd name="connsiteX22-1261" fmla="*/ 8346 w 10000"/>
              <a:gd name="connsiteY22-1262" fmla="*/ 9430 h 10000"/>
              <a:gd name="connsiteX23-1263" fmla="*/ 5087 w 10000"/>
              <a:gd name="connsiteY23-1264" fmla="*/ 9994 h 10000"/>
              <a:gd name="connsiteX24-1265" fmla="*/ 1930 w 10000"/>
              <a:gd name="connsiteY24-1266" fmla="*/ 9353 h 10000"/>
              <a:gd name="connsiteX25-1267" fmla="*/ 1449 w 10000"/>
              <a:gd name="connsiteY25-1268" fmla="*/ 9194 h 10000"/>
              <a:gd name="connsiteX26" fmla="*/ 1122 w 10000"/>
              <a:gd name="connsiteY26" fmla="*/ 9108 h 10000"/>
              <a:gd name="connsiteX0-1269" fmla="*/ 1122 w 10000"/>
              <a:gd name="connsiteY0-1270" fmla="*/ 9108 h 10000"/>
              <a:gd name="connsiteX1-1271" fmla="*/ 1084 w 10000"/>
              <a:gd name="connsiteY1-1272" fmla="*/ 8247 h 10000"/>
              <a:gd name="connsiteX2-1273" fmla="*/ 466 w 10000"/>
              <a:gd name="connsiteY2-1274" fmla="*/ 2948 h 10000"/>
              <a:gd name="connsiteX3-1275" fmla="*/ 0 w 10000"/>
              <a:gd name="connsiteY3-1276" fmla="*/ 3124 h 10000"/>
              <a:gd name="connsiteX4-1277" fmla="*/ 523 w 10000"/>
              <a:gd name="connsiteY4-1278" fmla="*/ 1839 h 10000"/>
              <a:gd name="connsiteX5-1279" fmla="*/ 1402 w 10000"/>
              <a:gd name="connsiteY5-1280" fmla="*/ 2695 h 10000"/>
              <a:gd name="connsiteX6-1281" fmla="*/ 933 w 10000"/>
              <a:gd name="connsiteY6-1282" fmla="*/ 2822 h 10000"/>
              <a:gd name="connsiteX7-1283" fmla="*/ 2873 w 10000"/>
              <a:gd name="connsiteY7-1284" fmla="*/ 4386 h 10000"/>
              <a:gd name="connsiteX8-1285" fmla="*/ 4653 w 10000"/>
              <a:gd name="connsiteY8-1286" fmla="*/ 1335 h 10000"/>
              <a:gd name="connsiteX9-1287" fmla="*/ 4073 w 10000"/>
              <a:gd name="connsiteY9-1288" fmla="*/ 1335 h 10000"/>
              <a:gd name="connsiteX10-1289" fmla="*/ 5066 w 10000"/>
              <a:gd name="connsiteY10-1290" fmla="*/ 0 h 10000"/>
              <a:gd name="connsiteX11-1291" fmla="*/ 6003 w 10000"/>
              <a:gd name="connsiteY11-1292" fmla="*/ 1386 h 10000"/>
              <a:gd name="connsiteX12-1293" fmla="*/ 5457 w 10000"/>
              <a:gd name="connsiteY12-1294" fmla="*/ 1361 h 10000"/>
              <a:gd name="connsiteX13-1295" fmla="*/ 7005 w 10000"/>
              <a:gd name="connsiteY13-1296" fmla="*/ 4491 h 10000"/>
              <a:gd name="connsiteX14-1297" fmla="*/ 9030 w 10000"/>
              <a:gd name="connsiteY14-1298" fmla="*/ 2746 h 10000"/>
              <a:gd name="connsiteX15-1299" fmla="*/ 8506 w 10000"/>
              <a:gd name="connsiteY15-1300" fmla="*/ 2695 h 10000"/>
              <a:gd name="connsiteX16-1301" fmla="*/ 9386 w 10000"/>
              <a:gd name="connsiteY16-1302" fmla="*/ 1765 h 10000"/>
              <a:gd name="connsiteX17-1303" fmla="*/ 10000 w 10000"/>
              <a:gd name="connsiteY17-1304" fmla="*/ 2846 h 10000"/>
              <a:gd name="connsiteX18-1305" fmla="*/ 9516 w 10000"/>
              <a:gd name="connsiteY18-1306" fmla="*/ 2822 h 10000"/>
              <a:gd name="connsiteX19-1307" fmla="*/ 9094 w 10000"/>
              <a:gd name="connsiteY19-1308" fmla="*/ 7145 h 10000"/>
              <a:gd name="connsiteX20-1309" fmla="*/ 9117 w 10000"/>
              <a:gd name="connsiteY20-1310" fmla="*/ 8830 h 10000"/>
              <a:gd name="connsiteX21-1311" fmla="*/ 9052 w 10000"/>
              <a:gd name="connsiteY21-1312" fmla="*/ 9319 h 10000"/>
              <a:gd name="connsiteX22-1313" fmla="*/ 8346 w 10000"/>
              <a:gd name="connsiteY22-1314" fmla="*/ 9430 h 10000"/>
              <a:gd name="connsiteX23-1315" fmla="*/ 5087 w 10000"/>
              <a:gd name="connsiteY23-1316" fmla="*/ 9994 h 10000"/>
              <a:gd name="connsiteX24-1317" fmla="*/ 1930 w 10000"/>
              <a:gd name="connsiteY24-1318" fmla="*/ 9353 h 10000"/>
              <a:gd name="connsiteX25-1319" fmla="*/ 1449 w 10000"/>
              <a:gd name="connsiteY25-1320" fmla="*/ 9194 h 10000"/>
              <a:gd name="connsiteX26-1321" fmla="*/ 1122 w 10000"/>
              <a:gd name="connsiteY26-1322" fmla="*/ 9108 h 10000"/>
              <a:gd name="connsiteX0-1323" fmla="*/ 1122 w 10000"/>
              <a:gd name="connsiteY0-1324" fmla="*/ 9108 h 10000"/>
              <a:gd name="connsiteX1-1325" fmla="*/ 1084 w 10000"/>
              <a:gd name="connsiteY1-1326" fmla="*/ 8247 h 10000"/>
              <a:gd name="connsiteX2-1327" fmla="*/ 466 w 10000"/>
              <a:gd name="connsiteY2-1328" fmla="*/ 2948 h 10000"/>
              <a:gd name="connsiteX3-1329" fmla="*/ 0 w 10000"/>
              <a:gd name="connsiteY3-1330" fmla="*/ 3124 h 10000"/>
              <a:gd name="connsiteX4-1331" fmla="*/ 523 w 10000"/>
              <a:gd name="connsiteY4-1332" fmla="*/ 1839 h 10000"/>
              <a:gd name="connsiteX5-1333" fmla="*/ 1402 w 10000"/>
              <a:gd name="connsiteY5-1334" fmla="*/ 2695 h 10000"/>
              <a:gd name="connsiteX6-1335" fmla="*/ 933 w 10000"/>
              <a:gd name="connsiteY6-1336" fmla="*/ 2822 h 10000"/>
              <a:gd name="connsiteX7-1337" fmla="*/ 2873 w 10000"/>
              <a:gd name="connsiteY7-1338" fmla="*/ 4386 h 10000"/>
              <a:gd name="connsiteX8-1339" fmla="*/ 4653 w 10000"/>
              <a:gd name="connsiteY8-1340" fmla="*/ 1335 h 10000"/>
              <a:gd name="connsiteX9-1341" fmla="*/ 4073 w 10000"/>
              <a:gd name="connsiteY9-1342" fmla="*/ 1335 h 10000"/>
              <a:gd name="connsiteX10-1343" fmla="*/ 5066 w 10000"/>
              <a:gd name="connsiteY10-1344" fmla="*/ 0 h 10000"/>
              <a:gd name="connsiteX11-1345" fmla="*/ 6003 w 10000"/>
              <a:gd name="connsiteY11-1346" fmla="*/ 1386 h 10000"/>
              <a:gd name="connsiteX12-1347" fmla="*/ 5457 w 10000"/>
              <a:gd name="connsiteY12-1348" fmla="*/ 1361 h 10000"/>
              <a:gd name="connsiteX13-1349" fmla="*/ 7005 w 10000"/>
              <a:gd name="connsiteY13-1350" fmla="*/ 4491 h 10000"/>
              <a:gd name="connsiteX14-1351" fmla="*/ 9030 w 10000"/>
              <a:gd name="connsiteY14-1352" fmla="*/ 2746 h 10000"/>
              <a:gd name="connsiteX15-1353" fmla="*/ 8506 w 10000"/>
              <a:gd name="connsiteY15-1354" fmla="*/ 2695 h 10000"/>
              <a:gd name="connsiteX16-1355" fmla="*/ 9386 w 10000"/>
              <a:gd name="connsiteY16-1356" fmla="*/ 1765 h 10000"/>
              <a:gd name="connsiteX17-1357" fmla="*/ 10000 w 10000"/>
              <a:gd name="connsiteY17-1358" fmla="*/ 2846 h 10000"/>
              <a:gd name="connsiteX18-1359" fmla="*/ 9516 w 10000"/>
              <a:gd name="connsiteY18-1360" fmla="*/ 2822 h 10000"/>
              <a:gd name="connsiteX19-1361" fmla="*/ 9094 w 10000"/>
              <a:gd name="connsiteY19-1362" fmla="*/ 7145 h 10000"/>
              <a:gd name="connsiteX20-1363" fmla="*/ 9117 w 10000"/>
              <a:gd name="connsiteY20-1364" fmla="*/ 8830 h 10000"/>
              <a:gd name="connsiteX21-1365" fmla="*/ 9083 w 10000"/>
              <a:gd name="connsiteY21-1366" fmla="*/ 9206 h 10000"/>
              <a:gd name="connsiteX22-1367" fmla="*/ 8346 w 10000"/>
              <a:gd name="connsiteY22-1368" fmla="*/ 9430 h 10000"/>
              <a:gd name="connsiteX23-1369" fmla="*/ 5087 w 10000"/>
              <a:gd name="connsiteY23-1370" fmla="*/ 9994 h 10000"/>
              <a:gd name="connsiteX24-1371" fmla="*/ 1930 w 10000"/>
              <a:gd name="connsiteY24-1372" fmla="*/ 9353 h 10000"/>
              <a:gd name="connsiteX25-1373" fmla="*/ 1449 w 10000"/>
              <a:gd name="connsiteY25-1374" fmla="*/ 9194 h 10000"/>
              <a:gd name="connsiteX26-1375" fmla="*/ 1122 w 10000"/>
              <a:gd name="connsiteY26-1376" fmla="*/ 9108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01" y="connsiteY20-402"/>
              </a:cxn>
              <a:cxn ang="0">
                <a:pos x="connsiteX21-445" y="connsiteY21-446"/>
              </a:cxn>
              <a:cxn ang="0">
                <a:pos x="connsiteX22-491" y="connsiteY22-492"/>
              </a:cxn>
              <a:cxn ang="0">
                <a:pos x="connsiteX23-861" y="connsiteY23-862"/>
              </a:cxn>
              <a:cxn ang="0">
                <a:pos x="connsiteX24-959" y="connsiteY24-960"/>
              </a:cxn>
              <a:cxn ang="0">
                <a:pos x="connsiteX25-1111" y="connsiteY25-1112"/>
              </a:cxn>
              <a:cxn ang="0">
                <a:pos x="connsiteX26-1321" y="connsiteY26-1322"/>
              </a:cxn>
            </a:cxnLst>
            <a:rect l="l" t="t" r="r" b="b"/>
            <a:pathLst>
              <a:path w="10000" h="10000">
                <a:moveTo>
                  <a:pt x="1122" y="9108"/>
                </a:moveTo>
                <a:cubicBezTo>
                  <a:pt x="1059" y="8898"/>
                  <a:pt x="1125" y="9204"/>
                  <a:pt x="1084" y="8247"/>
                </a:cubicBezTo>
                <a:cubicBezTo>
                  <a:pt x="1042" y="7292"/>
                  <a:pt x="725" y="3776"/>
                  <a:pt x="466" y="2948"/>
                </a:cubicBezTo>
                <a:lnTo>
                  <a:pt x="0" y="3124"/>
                </a:lnTo>
                <a:cubicBezTo>
                  <a:pt x="49" y="2948"/>
                  <a:pt x="523" y="1832"/>
                  <a:pt x="523" y="1839"/>
                </a:cubicBezTo>
                <a:lnTo>
                  <a:pt x="1402" y="2695"/>
                </a:lnTo>
                <a:cubicBezTo>
                  <a:pt x="1402" y="2695"/>
                  <a:pt x="897" y="2822"/>
                  <a:pt x="933" y="2822"/>
                </a:cubicBezTo>
                <a:cubicBezTo>
                  <a:pt x="1419" y="4231"/>
                  <a:pt x="1789" y="4662"/>
                  <a:pt x="2873" y="4386"/>
                </a:cubicBezTo>
                <a:cubicBezTo>
                  <a:pt x="3958" y="4110"/>
                  <a:pt x="4636" y="2418"/>
                  <a:pt x="4653" y="1335"/>
                </a:cubicBezTo>
                <a:lnTo>
                  <a:pt x="4073" y="1335"/>
                </a:lnTo>
                <a:lnTo>
                  <a:pt x="5066" y="0"/>
                </a:lnTo>
                <a:lnTo>
                  <a:pt x="6003" y="1386"/>
                </a:lnTo>
                <a:lnTo>
                  <a:pt x="5457" y="1361"/>
                </a:lnTo>
                <a:cubicBezTo>
                  <a:pt x="5457" y="1365"/>
                  <a:pt x="5602" y="4414"/>
                  <a:pt x="7005" y="4491"/>
                </a:cubicBezTo>
                <a:cubicBezTo>
                  <a:pt x="8409" y="4566"/>
                  <a:pt x="8861" y="3829"/>
                  <a:pt x="9030" y="2746"/>
                </a:cubicBezTo>
                <a:lnTo>
                  <a:pt x="8506" y="2695"/>
                </a:lnTo>
                <a:lnTo>
                  <a:pt x="9386" y="1765"/>
                </a:lnTo>
                <a:lnTo>
                  <a:pt x="10000" y="2846"/>
                </a:lnTo>
                <a:lnTo>
                  <a:pt x="9516" y="2822"/>
                </a:lnTo>
                <a:cubicBezTo>
                  <a:pt x="9294" y="3436"/>
                  <a:pt x="9112" y="6186"/>
                  <a:pt x="9094" y="7145"/>
                </a:cubicBezTo>
                <a:cubicBezTo>
                  <a:pt x="9076" y="8103"/>
                  <a:pt x="9136" y="8458"/>
                  <a:pt x="9117" y="8830"/>
                </a:cubicBezTo>
                <a:cubicBezTo>
                  <a:pt x="9098" y="9202"/>
                  <a:pt x="9220" y="9105"/>
                  <a:pt x="9083" y="9206"/>
                </a:cubicBezTo>
                <a:cubicBezTo>
                  <a:pt x="8946" y="9306"/>
                  <a:pt x="8987" y="9322"/>
                  <a:pt x="8346" y="9430"/>
                </a:cubicBezTo>
                <a:cubicBezTo>
                  <a:pt x="7705" y="9537"/>
                  <a:pt x="6120" y="10067"/>
                  <a:pt x="5087" y="9994"/>
                </a:cubicBezTo>
                <a:cubicBezTo>
                  <a:pt x="4079" y="9652"/>
                  <a:pt x="2939" y="9695"/>
                  <a:pt x="1930" y="9353"/>
                </a:cubicBezTo>
                <a:cubicBezTo>
                  <a:pt x="1321" y="9248"/>
                  <a:pt x="1584" y="9235"/>
                  <a:pt x="1449" y="9194"/>
                </a:cubicBezTo>
                <a:cubicBezTo>
                  <a:pt x="1314" y="9153"/>
                  <a:pt x="1180" y="9294"/>
                  <a:pt x="1122" y="9108"/>
                </a:cubicBezTo>
                <a:close/>
              </a:path>
            </a:pathLst>
          </a:custGeom>
          <a:gradFill rotWithShape="1">
            <a:gsLst>
              <a:gs pos="0">
                <a:schemeClr val="accent1"/>
              </a:gs>
              <a:gs pos="100000">
                <a:schemeClr val="bg1"/>
              </a:gs>
            </a:gsLst>
            <a:lin ang="5400000" scaled="1"/>
          </a:gradFill>
          <a:ln>
            <a:noFill/>
          </a:ln>
        </p:spPr>
        <p:txBody>
          <a:bodyPr wrap="none" anchor="ctr"/>
          <a:lstStyle/>
          <a:p>
            <a:pPr marL="0" marR="0" lvl="0" indent="0" algn="l" defTabSz="685800" rtl="0" eaLnBrk="1" fontAlgn="base" latinLnBrk="0" hangingPunct="1">
              <a:lnSpc>
                <a:spcPct val="100000"/>
              </a:lnSpc>
              <a:spcBef>
                <a:spcPct val="0"/>
              </a:spcBef>
              <a:spcAft>
                <a:spcPct val="0"/>
              </a:spcAft>
              <a:buClrTx/>
              <a:buSzTx/>
              <a:buFontTx/>
              <a:buNone/>
              <a:defRPr/>
            </a:pPr>
            <a:endParaRPr kumimoji="0" lang="zh-CN" altLang="en-US" sz="135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66" name="矩形: 圆角 65"/>
          <p:cNvSpPr/>
          <p:nvPr/>
        </p:nvSpPr>
        <p:spPr>
          <a:xfrm>
            <a:off x="8141160" y="5526559"/>
            <a:ext cx="10800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面向机构员工</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的知识服务</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7" name="矩形: 圆角 66"/>
          <p:cNvSpPr/>
          <p:nvPr/>
        </p:nvSpPr>
        <p:spPr>
          <a:xfrm>
            <a:off x="9268755" y="5526559"/>
            <a:ext cx="10800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面向大模型</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的知识供给</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8" name="矩形: 圆角 67"/>
          <p:cNvSpPr/>
          <p:nvPr/>
        </p:nvSpPr>
        <p:spPr>
          <a:xfrm>
            <a:off x="10396349" y="5526559"/>
            <a:ext cx="10800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面向行业场景</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的创新应用</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2" name="矩形: 圆角 71"/>
          <p:cNvSpPr/>
          <p:nvPr/>
        </p:nvSpPr>
        <p:spPr>
          <a:xfrm>
            <a:off x="918850" y="5526559"/>
            <a:ext cx="10800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采集与抽取</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3" name="矩形: 圆角 72"/>
          <p:cNvSpPr/>
          <p:nvPr/>
        </p:nvSpPr>
        <p:spPr>
          <a:xfrm>
            <a:off x="2046445" y="5526559"/>
            <a:ext cx="10800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处理与加工</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4" name="矩形: 圆角 73"/>
          <p:cNvSpPr/>
          <p:nvPr/>
        </p:nvSpPr>
        <p:spPr>
          <a:xfrm>
            <a:off x="3174039" y="5526559"/>
            <a:ext cx="10800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储存与计算</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6" name="矩形: 圆角 75"/>
          <p:cNvSpPr/>
          <p:nvPr/>
        </p:nvSpPr>
        <p:spPr>
          <a:xfrm>
            <a:off x="4499884" y="5526559"/>
            <a:ext cx="8217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知识资产</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管理战略</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7" name="矩形: 圆角 76"/>
          <p:cNvSpPr/>
          <p:nvPr/>
        </p:nvSpPr>
        <p:spPr>
          <a:xfrm>
            <a:off x="5357795" y="5526559"/>
            <a:ext cx="8217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知识资产</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管理制度</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8" name="矩形: 圆角 77"/>
          <p:cNvSpPr/>
          <p:nvPr/>
        </p:nvSpPr>
        <p:spPr>
          <a:xfrm>
            <a:off x="6215705" y="5526559"/>
            <a:ext cx="8217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知识资产</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盘点</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9" name="矩形: 圆角 78"/>
          <p:cNvSpPr/>
          <p:nvPr/>
        </p:nvSpPr>
        <p:spPr>
          <a:xfrm>
            <a:off x="7073616" y="5526559"/>
            <a:ext cx="821700" cy="576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知识资产</a:t>
            </a:r>
            <a:endPar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运营</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什么是知识工程：从知识接入到知识发布的业界通用范式</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7" name="Isosceles Triangle 5"/>
          <p:cNvSpPr/>
          <p:nvPr/>
        </p:nvSpPr>
        <p:spPr bwMode="gray">
          <a:xfrm>
            <a:off x="2015246" y="1304991"/>
            <a:ext cx="8161507" cy="412536"/>
          </a:xfrm>
          <a:prstGeom prst="triangle">
            <a:avLst/>
          </a:prstGeom>
          <a:gradFill flip="none" rotWithShape="1">
            <a:gsLst>
              <a:gs pos="0">
                <a:srgbClr val="0068B7"/>
              </a:gs>
              <a:gs pos="100000">
                <a:srgbClr val="FFFFFF"/>
              </a:gs>
            </a:gsLst>
            <a:lin ang="5400000" scaled="1"/>
            <a:tileRect/>
          </a:grad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endParaRPr kumimoji="0" lang="en-US" sz="1600" b="1" i="0" u="none" strike="noStrike" kern="0" cap="none" spc="0" normalizeH="0" baseline="0" noProof="0" dirty="0">
              <a:ln>
                <a:noFill/>
              </a:ln>
              <a:solidFill>
                <a:srgbClr val="2E2E38"/>
              </a:solidFill>
              <a:effectLst/>
              <a:uLnTx/>
              <a:uFillTx/>
              <a:latin typeface="Calibri" panose="020F0502020204030204"/>
              <a:ea typeface="微软雅黑" panose="020B0503020204020204" charset="-122"/>
              <a:cs typeface="+mn-ea"/>
              <a:sym typeface="+mn-lt"/>
            </a:endParaRPr>
          </a:p>
        </p:txBody>
      </p:sp>
      <p:sp>
        <p:nvSpPr>
          <p:cNvPr id="29" name="Oval 53"/>
          <p:cNvSpPr/>
          <p:nvPr/>
        </p:nvSpPr>
        <p:spPr bwMode="gray">
          <a:xfrm>
            <a:off x="3441259" y="935342"/>
            <a:ext cx="5309480" cy="493408"/>
          </a:xfrm>
          <a:prstGeom prst="roundRect">
            <a:avLst/>
          </a:prstGeom>
          <a:solidFill>
            <a:srgbClr val="0068B7"/>
          </a:solidFill>
          <a:ln w="19050" algn="ctr">
            <a:noFill/>
            <a:miter lim="800000"/>
          </a:ln>
          <a:effectLst>
            <a:outerShdw blurRad="50800" dist="38100" dir="2700000" algn="tl" rotWithShape="0">
              <a:prstClr val="black">
                <a:alpha val="40000"/>
              </a:prstClr>
            </a:outerShdw>
          </a:effectLst>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r>
              <a:rPr kumimoji="0" lang="zh-CN" altLang="en-US" sz="1800" b="1"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ea"/>
                <a:sym typeface="+mn-lt"/>
              </a:rPr>
              <a:t>数据信息 ≠ </a:t>
            </a:r>
            <a:r>
              <a:rPr kumimoji="0" lang="en-US" altLang="zh-CN" sz="1800" b="1"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ea"/>
                <a:sym typeface="+mn-lt"/>
              </a:rPr>
              <a:t>AI </a:t>
            </a:r>
            <a:r>
              <a:rPr kumimoji="0" lang="zh-CN" altLang="en-US" sz="1800" b="1"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ea"/>
                <a:sym typeface="+mn-lt"/>
              </a:rPr>
              <a:t>可理解的知识</a:t>
            </a:r>
            <a:r>
              <a:rPr kumimoji="0" lang="en-US" altLang="zh-CN" sz="1800" b="1"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ea"/>
                <a:sym typeface="+mn-lt"/>
              </a:rPr>
              <a:t>——</a:t>
            </a:r>
            <a:r>
              <a:rPr kumimoji="0" lang="zh-CN" altLang="en-US" sz="1800" b="1"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ea"/>
                <a:sym typeface="+mn-lt"/>
              </a:rPr>
              <a:t>加工是必经之路</a:t>
            </a:r>
            <a:endParaRPr kumimoji="0" lang="zh-CN" altLang="en-US" sz="1800" b="1" i="0" u="none" strike="noStrike" kern="0" cap="none" spc="0" normalizeH="0" baseline="0" noProof="0" dirty="0">
              <a:ln>
                <a:noFill/>
              </a:ln>
              <a:solidFill>
                <a:prstClr val="white"/>
              </a:solidFill>
              <a:effectLst/>
              <a:uLnTx/>
              <a:uFillTx/>
              <a:latin typeface="Calibri" panose="020F0502020204030204"/>
              <a:ea typeface="微软雅黑" panose="020B0503020204020204" charset="-122"/>
              <a:cs typeface="+mn-ea"/>
              <a:sym typeface="+mn-lt"/>
            </a:endParaRPr>
          </a:p>
        </p:txBody>
      </p:sp>
      <p:grpSp>
        <p:nvGrpSpPr>
          <p:cNvPr id="3" name="Group 2"/>
          <p:cNvGrpSpPr/>
          <p:nvPr/>
        </p:nvGrpSpPr>
        <p:grpSpPr>
          <a:xfrm>
            <a:off x="520214" y="1634017"/>
            <a:ext cx="11275695" cy="571568"/>
            <a:chOff x="520214" y="1634016"/>
            <a:chExt cx="11275695" cy="802843"/>
          </a:xfrm>
        </p:grpSpPr>
        <p:sp>
          <p:nvSpPr>
            <p:cNvPr id="46" name="Rectangle 51"/>
            <p:cNvSpPr/>
            <p:nvPr/>
          </p:nvSpPr>
          <p:spPr bwMode="auto">
            <a:xfrm>
              <a:off x="6289526" y="1717527"/>
              <a:ext cx="5501304" cy="719332"/>
            </a:xfrm>
            <a:prstGeom prst="rect">
              <a:avLst/>
            </a:prstGeom>
            <a:solidFill>
              <a:schemeClr val="accent1">
                <a:lumMod val="20000"/>
                <a:lumOff val="80000"/>
                <a:alpha val="29000"/>
              </a:schemeClr>
            </a:solidFill>
            <a:ln w="12700">
              <a:solidFill>
                <a:srgbClr val="DAE3F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5" name="Rectangle 51"/>
            <p:cNvSpPr/>
            <p:nvPr/>
          </p:nvSpPr>
          <p:spPr bwMode="auto">
            <a:xfrm>
              <a:off x="520214" y="1634016"/>
              <a:ext cx="5575785" cy="782186"/>
            </a:xfrm>
            <a:prstGeom prst="rect">
              <a:avLst/>
            </a:prstGeom>
            <a:solidFill>
              <a:schemeClr val="accent1">
                <a:lumMod val="20000"/>
                <a:lumOff val="80000"/>
                <a:alpha val="29000"/>
              </a:schemeClr>
            </a:solidFill>
            <a:ln w="12700">
              <a:solidFill>
                <a:srgbClr val="DAE3F3"/>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2" name="Text 172"/>
            <p:cNvSpPr/>
            <p:nvPr/>
          </p:nvSpPr>
          <p:spPr>
            <a:xfrm>
              <a:off x="699526" y="1803855"/>
              <a:ext cx="5217160" cy="515717"/>
            </a:xfrm>
            <a:prstGeom prst="rect">
              <a:avLst/>
            </a:prstGeom>
            <a:noFill/>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数据信息 </a:t>
              </a:r>
              <a:r>
                <a:rPr kumimoji="0" 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不是</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人工智能可以理解的知识 —— </a:t>
              </a:r>
              <a:r>
                <a:rPr kumimoji="0" lang="en-US" sz="14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知识应经过</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清洗加工</a:t>
              </a:r>
              <a:r>
                <a:rPr kumimoji="0" 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 挖掘萃取</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的复杂流程，才能被 AI 计算与推理</a:t>
              </a:r>
              <a:endPar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3" name="Text 176"/>
            <p:cNvSpPr/>
            <p:nvPr/>
          </p:nvSpPr>
          <p:spPr>
            <a:xfrm>
              <a:off x="6305064" y="1815246"/>
              <a:ext cx="5480683" cy="419479"/>
            </a:xfrm>
            <a:prstGeom prst="rect">
              <a:avLst/>
            </a:prstGeom>
            <a:noFill/>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知识加工存储是 </a:t>
              </a:r>
              <a:r>
                <a:rPr kumimoji="0" 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业务场景价值导向</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的 —— 应对不同业务场景，知识存储形态多种，当前技术可归纳为 </a:t>
              </a:r>
              <a:r>
                <a:rPr kumimoji="0" 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结构 / 向量 / 图谱</a:t>
              </a:r>
              <a:r>
                <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三种</a:t>
              </a:r>
              <a:endParaRPr kumimoji="0" 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 name="Shape 1"/>
            <p:cNvSpPr/>
            <p:nvPr/>
          </p:nvSpPr>
          <p:spPr>
            <a:xfrm>
              <a:off x="520214" y="2400991"/>
              <a:ext cx="11275695" cy="0"/>
            </a:xfrm>
            <a:prstGeom prst="line">
              <a:avLst/>
            </a:prstGeom>
            <a:noFill/>
            <a:ln w="7144">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53" name="Text 5"/>
          <p:cNvSpPr/>
          <p:nvPr/>
        </p:nvSpPr>
        <p:spPr>
          <a:xfrm>
            <a:off x="520214" y="2262546"/>
            <a:ext cx="11304474" cy="330551"/>
          </a:xfrm>
          <a:prstGeom prst="rect">
            <a:avLst/>
          </a:prstGeom>
          <a:solidFill>
            <a:schemeClr val="accent1">
              <a:lumMod val="20000"/>
              <a:lumOff val="80000"/>
            </a:schemeClr>
          </a:solidFill>
          <a:ln>
            <a:noFill/>
          </a:ln>
        </p:spPr>
        <p:txBody>
          <a:bodyPr wrap="square" lIns="114300" tIns="47625" rIns="0" bIns="47625" rtlCol="0" anchor="t"/>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数据信息经</a:t>
            </a:r>
            <a:r>
              <a:rPr kumimoji="0" 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a:t>
            </a:r>
            <a:r>
              <a:rPr kumimoji="0" 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「清</a:t>
            </a: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洗</a:t>
            </a:r>
            <a:r>
              <a:rPr kumimoji="0" 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 挖掘萃取 → 多形态存储」</a:t>
            </a:r>
            <a:r>
              <a:rPr kumimoji="0" 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系列加工，以 </a:t>
            </a:r>
            <a:r>
              <a:rPr kumimoji="0" 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AI 可理解的形态</a:t>
            </a:r>
            <a:r>
              <a:rPr kumimoji="0" 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a:t>
            </a:r>
            <a:r>
              <a:rPr kumimoji="0" lang="en-US" sz="1600" b="0" i="0" u="none" strike="noStrike" kern="1200" cap="none" spc="0" normalizeH="0" baseline="0" noProof="0" dirty="0" err="1">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存储后，知识服务效果方可最大化</a:t>
            </a:r>
            <a:r>
              <a:rPr kumimoji="0" 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a:t>
            </a:r>
            <a:endParaRPr kumimoji="0" 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 name="Arrow: Chevron 3"/>
          <p:cNvSpPr/>
          <p:nvPr/>
        </p:nvSpPr>
        <p:spPr>
          <a:xfrm>
            <a:off x="520065" y="2684780"/>
            <a:ext cx="2212975" cy="2578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知识源数据</a:t>
            </a:r>
            <a:endPar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 name="Arrow: Chevron 4"/>
          <p:cNvSpPr/>
          <p:nvPr/>
        </p:nvSpPr>
        <p:spPr>
          <a:xfrm>
            <a:off x="2913380" y="2684780"/>
            <a:ext cx="2212975" cy="2578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知识采集与抽取</a:t>
            </a:r>
            <a:endPar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6" name="Arrow: Chevron 5"/>
          <p:cNvSpPr/>
          <p:nvPr/>
        </p:nvSpPr>
        <p:spPr>
          <a:xfrm>
            <a:off x="5306060" y="2684780"/>
            <a:ext cx="2212975" cy="2578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知识处理与加工</a:t>
            </a:r>
            <a:endPar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7" name="Arrow: Chevron 6"/>
          <p:cNvSpPr/>
          <p:nvPr/>
        </p:nvSpPr>
        <p:spPr>
          <a:xfrm>
            <a:off x="7699375" y="2684780"/>
            <a:ext cx="2212975" cy="25781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知识存储与检索</a:t>
            </a:r>
            <a:endParaRPr kumimoji="0" lang="zh-CN" alt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Rectangle 7"/>
          <p:cNvSpPr/>
          <p:nvPr/>
        </p:nvSpPr>
        <p:spPr>
          <a:xfrm>
            <a:off x="520065" y="3037205"/>
            <a:ext cx="2087245" cy="5149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企业内外部数据，包括结构化数据、非结构化数据以及半结构化数据</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9" name="Rectangle 8"/>
          <p:cNvSpPr/>
          <p:nvPr/>
        </p:nvSpPr>
        <p:spPr>
          <a:xfrm>
            <a:off x="2928620" y="3037205"/>
            <a:ext cx="2087245" cy="5149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通过</a:t>
            </a: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API</a:t>
            </a: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接口进行数据接入，并通过</a:t>
            </a: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NLP</a:t>
            </a: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OCR</a:t>
            </a: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、机器学习等算法形成知识资源</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Rectangle 9"/>
          <p:cNvSpPr/>
          <p:nvPr/>
        </p:nvSpPr>
        <p:spPr>
          <a:xfrm>
            <a:off x="5368925" y="3037205"/>
            <a:ext cx="2087245" cy="5149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对知识资源进行清洗、转换、解析处理，再进行融合、补全、切分、关联，最终形成知识资产</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 name="Rectangle 10"/>
          <p:cNvSpPr/>
          <p:nvPr/>
        </p:nvSpPr>
        <p:spPr>
          <a:xfrm>
            <a:off x="7734300" y="3037205"/>
            <a:ext cx="2087245" cy="5149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知识资产存储为向量知识、结构知识、图知识，通过多路召回、本体推理向前端智能应用提供知识能力。</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nvGrpSpPr>
          <p:cNvPr id="20" name="Group 19"/>
          <p:cNvGrpSpPr/>
          <p:nvPr/>
        </p:nvGrpSpPr>
        <p:grpSpPr>
          <a:xfrm>
            <a:off x="11176346" y="3429000"/>
            <a:ext cx="564887" cy="2868807"/>
            <a:chOff x="11063588" y="3064183"/>
            <a:chExt cx="775686" cy="5008048"/>
          </a:xfrm>
        </p:grpSpPr>
        <p:sp>
          <p:nvSpPr>
            <p:cNvPr id="180" name="Shape 135"/>
            <p:cNvSpPr/>
            <p:nvPr/>
          </p:nvSpPr>
          <p:spPr>
            <a:xfrm>
              <a:off x="11451431" y="5646688"/>
              <a:ext cx="0" cy="515176"/>
            </a:xfrm>
            <a:prstGeom prst="line">
              <a:avLst/>
            </a:prstGeom>
            <a:noFill/>
            <a:ln w="7144">
              <a:solidFill>
                <a:srgbClr val="E5E7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3" name="Rectangle 12"/>
            <p:cNvSpPr/>
            <p:nvPr/>
          </p:nvSpPr>
          <p:spPr>
            <a:xfrm>
              <a:off x="11063588" y="3064183"/>
              <a:ext cx="775686" cy="8190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查询检索</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4" name="Rectangle 13"/>
            <p:cNvSpPr/>
            <p:nvPr/>
          </p:nvSpPr>
          <p:spPr>
            <a:xfrm>
              <a:off x="11063588" y="3997882"/>
              <a:ext cx="775686" cy="8190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知识协作</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5" name="Rectangle 14"/>
            <p:cNvSpPr/>
            <p:nvPr/>
          </p:nvSpPr>
          <p:spPr>
            <a:xfrm>
              <a:off x="11063588" y="4923147"/>
              <a:ext cx="775686" cy="8190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内容生成</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6" name="Rectangle 15"/>
            <p:cNvSpPr/>
            <p:nvPr/>
          </p:nvSpPr>
          <p:spPr>
            <a:xfrm>
              <a:off x="11063588" y="5861936"/>
              <a:ext cx="775686" cy="8190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RAG</a:t>
              </a:r>
              <a:endPar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服务</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Rectangle 17"/>
            <p:cNvSpPr/>
            <p:nvPr/>
          </p:nvSpPr>
          <p:spPr>
            <a:xfrm>
              <a:off x="11063588" y="6830776"/>
              <a:ext cx="775686" cy="8190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Agent</a:t>
              </a:r>
              <a:endPar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服务</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 name="Rectangle 18"/>
            <p:cNvSpPr/>
            <p:nvPr/>
          </p:nvSpPr>
          <p:spPr>
            <a:xfrm>
              <a:off x="11063588" y="7731263"/>
              <a:ext cx="775686" cy="3409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a:t>
              </a:r>
              <a:endPar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grpSp>
        <p:nvGrpSpPr>
          <p:cNvPr id="21" name="Group 381"/>
          <p:cNvGrpSpPr/>
          <p:nvPr/>
        </p:nvGrpSpPr>
        <p:grpSpPr>
          <a:xfrm>
            <a:off x="940305" y="3774167"/>
            <a:ext cx="560000" cy="445918"/>
            <a:chOff x="0" y="0"/>
            <a:chExt cx="1342228" cy="1068794"/>
          </a:xfrm>
          <a:solidFill>
            <a:schemeClr val="accent1"/>
          </a:solidFill>
        </p:grpSpPr>
        <p:sp>
          <p:nvSpPr>
            <p:cNvPr id="22" name="Shape 372"/>
            <p:cNvSpPr/>
            <p:nvPr/>
          </p:nvSpPr>
          <p:spPr>
            <a:xfrm>
              <a:off x="0" y="-1"/>
              <a:ext cx="1342229" cy="1068796"/>
            </a:xfrm>
            <a:custGeom>
              <a:avLst/>
              <a:gdLst/>
              <a:ahLst/>
              <a:cxnLst>
                <a:cxn ang="0">
                  <a:pos x="wd2" y="hd2"/>
                </a:cxn>
                <a:cxn ang="5400000">
                  <a:pos x="wd2" y="hd2"/>
                </a:cxn>
                <a:cxn ang="10800000">
                  <a:pos x="wd2" y="hd2"/>
                </a:cxn>
                <a:cxn ang="16200000">
                  <a:pos x="wd2" y="hd2"/>
                </a:cxn>
              </a:cxnLst>
              <a:rect l="0" t="0" r="r" b="b"/>
              <a:pathLst>
                <a:path w="21600" h="20527" extrusionOk="0">
                  <a:moveTo>
                    <a:pt x="10239" y="20402"/>
                  </a:moveTo>
                  <a:cubicBezTo>
                    <a:pt x="10519" y="20569"/>
                    <a:pt x="11081" y="20569"/>
                    <a:pt x="11361" y="20402"/>
                  </a:cubicBezTo>
                  <a:cubicBezTo>
                    <a:pt x="12343" y="19397"/>
                    <a:pt x="15288" y="17555"/>
                    <a:pt x="20478" y="19062"/>
                  </a:cubicBezTo>
                  <a:cubicBezTo>
                    <a:pt x="20758" y="19229"/>
                    <a:pt x="21039" y="19062"/>
                    <a:pt x="21319" y="18895"/>
                  </a:cubicBezTo>
                  <a:cubicBezTo>
                    <a:pt x="21460" y="18727"/>
                    <a:pt x="21600" y="18392"/>
                    <a:pt x="21600" y="18057"/>
                  </a:cubicBezTo>
                  <a:cubicBezTo>
                    <a:pt x="21600" y="1816"/>
                    <a:pt x="21600" y="1816"/>
                    <a:pt x="21600" y="1816"/>
                  </a:cubicBezTo>
                  <a:cubicBezTo>
                    <a:pt x="21600" y="1313"/>
                    <a:pt x="21319" y="811"/>
                    <a:pt x="20899" y="643"/>
                  </a:cubicBezTo>
                  <a:cubicBezTo>
                    <a:pt x="15429" y="-1031"/>
                    <a:pt x="12062" y="978"/>
                    <a:pt x="10800" y="1983"/>
                  </a:cubicBezTo>
                  <a:cubicBezTo>
                    <a:pt x="9538" y="978"/>
                    <a:pt x="6312" y="-1031"/>
                    <a:pt x="701" y="643"/>
                  </a:cubicBezTo>
                  <a:cubicBezTo>
                    <a:pt x="281" y="811"/>
                    <a:pt x="0" y="1313"/>
                    <a:pt x="0" y="1816"/>
                  </a:cubicBezTo>
                  <a:cubicBezTo>
                    <a:pt x="0" y="18057"/>
                    <a:pt x="0" y="18057"/>
                    <a:pt x="0" y="18057"/>
                  </a:cubicBezTo>
                  <a:cubicBezTo>
                    <a:pt x="0" y="18392"/>
                    <a:pt x="140" y="18727"/>
                    <a:pt x="421" y="18895"/>
                  </a:cubicBezTo>
                  <a:cubicBezTo>
                    <a:pt x="561" y="19229"/>
                    <a:pt x="842" y="19229"/>
                    <a:pt x="1122" y="19062"/>
                  </a:cubicBezTo>
                  <a:cubicBezTo>
                    <a:pt x="6312" y="17555"/>
                    <a:pt x="9257" y="19397"/>
                    <a:pt x="10239" y="20402"/>
                  </a:cubicBezTo>
                  <a:close/>
                  <a:moveTo>
                    <a:pt x="11221" y="3322"/>
                  </a:moveTo>
                  <a:cubicBezTo>
                    <a:pt x="12062" y="2485"/>
                    <a:pt x="15008" y="309"/>
                    <a:pt x="20478" y="1983"/>
                  </a:cubicBezTo>
                  <a:cubicBezTo>
                    <a:pt x="20478" y="17722"/>
                    <a:pt x="20478" y="17722"/>
                    <a:pt x="20478" y="17722"/>
                  </a:cubicBezTo>
                  <a:cubicBezTo>
                    <a:pt x="15709" y="16383"/>
                    <a:pt x="12623" y="17890"/>
                    <a:pt x="11221" y="18895"/>
                  </a:cubicBezTo>
                  <a:lnTo>
                    <a:pt x="11221" y="3322"/>
                  </a:lnTo>
                  <a:close/>
                  <a:moveTo>
                    <a:pt x="1122" y="17722"/>
                  </a:moveTo>
                  <a:cubicBezTo>
                    <a:pt x="1122" y="1983"/>
                    <a:pt x="1122" y="1983"/>
                    <a:pt x="1122" y="1983"/>
                  </a:cubicBezTo>
                  <a:cubicBezTo>
                    <a:pt x="6592" y="309"/>
                    <a:pt x="9538" y="2485"/>
                    <a:pt x="10379" y="3322"/>
                  </a:cubicBezTo>
                  <a:cubicBezTo>
                    <a:pt x="10379" y="18895"/>
                    <a:pt x="10379" y="18895"/>
                    <a:pt x="10379" y="18895"/>
                  </a:cubicBezTo>
                  <a:cubicBezTo>
                    <a:pt x="8977" y="17890"/>
                    <a:pt x="5891" y="16383"/>
                    <a:pt x="1122" y="17722"/>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3" name="Shape 373"/>
            <p:cNvSpPr/>
            <p:nvPr/>
          </p:nvSpPr>
          <p:spPr>
            <a:xfrm>
              <a:off x="202808" y="241752"/>
              <a:ext cx="320809" cy="69610"/>
            </a:xfrm>
            <a:custGeom>
              <a:avLst/>
              <a:gdLst/>
              <a:ahLst/>
              <a:cxnLst>
                <a:cxn ang="0">
                  <a:pos x="wd2" y="hd2"/>
                </a:cxn>
                <a:cxn ang="5400000">
                  <a:pos x="wd2" y="hd2"/>
                </a:cxn>
                <a:cxn ang="10800000">
                  <a:pos x="wd2" y="hd2"/>
                </a:cxn>
                <a:cxn ang="16200000">
                  <a:pos x="wd2" y="hd2"/>
                </a:cxn>
              </a:cxnLst>
              <a:rect l="0" t="0" r="r" b="b"/>
              <a:pathLst>
                <a:path w="21600" h="19416" extrusionOk="0">
                  <a:moveTo>
                    <a:pt x="1168" y="2616"/>
                  </a:moveTo>
                  <a:cubicBezTo>
                    <a:pt x="584" y="2616"/>
                    <a:pt x="0" y="5016"/>
                    <a:pt x="0" y="5016"/>
                  </a:cubicBezTo>
                  <a:cubicBezTo>
                    <a:pt x="0" y="12216"/>
                    <a:pt x="0" y="12216"/>
                    <a:pt x="0" y="12216"/>
                  </a:cubicBezTo>
                  <a:cubicBezTo>
                    <a:pt x="0" y="12216"/>
                    <a:pt x="0" y="14616"/>
                    <a:pt x="584" y="14616"/>
                  </a:cubicBezTo>
                  <a:cubicBezTo>
                    <a:pt x="584" y="17016"/>
                    <a:pt x="1168" y="17016"/>
                    <a:pt x="1168" y="17016"/>
                  </a:cubicBezTo>
                  <a:cubicBezTo>
                    <a:pt x="8173" y="12216"/>
                    <a:pt x="14595" y="14616"/>
                    <a:pt x="20432" y="19416"/>
                  </a:cubicBezTo>
                  <a:cubicBezTo>
                    <a:pt x="20432" y="19416"/>
                    <a:pt x="21016" y="19416"/>
                    <a:pt x="21016" y="19416"/>
                  </a:cubicBezTo>
                  <a:cubicBezTo>
                    <a:pt x="21600" y="19416"/>
                    <a:pt x="21600" y="17016"/>
                    <a:pt x="21600" y="17016"/>
                  </a:cubicBezTo>
                  <a:cubicBezTo>
                    <a:pt x="21600" y="9816"/>
                    <a:pt x="21600" y="9816"/>
                    <a:pt x="21600" y="9816"/>
                  </a:cubicBezTo>
                  <a:cubicBezTo>
                    <a:pt x="21600" y="7416"/>
                    <a:pt x="21016" y="7416"/>
                    <a:pt x="20432" y="5016"/>
                  </a:cubicBezTo>
                  <a:cubicBezTo>
                    <a:pt x="14595" y="216"/>
                    <a:pt x="8173" y="-2184"/>
                    <a:pt x="1168" y="2616"/>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Shape 374"/>
            <p:cNvSpPr/>
            <p:nvPr/>
          </p:nvSpPr>
          <p:spPr>
            <a:xfrm>
              <a:off x="202808" y="384880"/>
              <a:ext cx="320809" cy="73980"/>
            </a:xfrm>
            <a:custGeom>
              <a:avLst/>
              <a:gdLst/>
              <a:ahLst/>
              <a:cxnLst>
                <a:cxn ang="0">
                  <a:pos x="wd2" y="hd2"/>
                </a:cxn>
                <a:cxn ang="5400000">
                  <a:pos x="wd2" y="hd2"/>
                </a:cxn>
                <a:cxn ang="10800000">
                  <a:pos x="wd2" y="hd2"/>
                </a:cxn>
                <a:cxn ang="16200000">
                  <a:pos x="wd2" y="hd2"/>
                </a:cxn>
              </a:cxnLst>
              <a:rect l="0" t="0" r="r" b="b"/>
              <a:pathLst>
                <a:path w="21600" h="20635" extrusionOk="0">
                  <a:moveTo>
                    <a:pt x="1168" y="1435"/>
                  </a:moveTo>
                  <a:cubicBezTo>
                    <a:pt x="584" y="1435"/>
                    <a:pt x="0" y="3835"/>
                    <a:pt x="0" y="6235"/>
                  </a:cubicBezTo>
                  <a:cubicBezTo>
                    <a:pt x="0" y="11035"/>
                    <a:pt x="0" y="11035"/>
                    <a:pt x="0" y="11035"/>
                  </a:cubicBezTo>
                  <a:cubicBezTo>
                    <a:pt x="0" y="13435"/>
                    <a:pt x="0" y="13435"/>
                    <a:pt x="584" y="15835"/>
                  </a:cubicBezTo>
                  <a:cubicBezTo>
                    <a:pt x="584" y="15835"/>
                    <a:pt x="1168" y="15835"/>
                    <a:pt x="1168" y="15835"/>
                  </a:cubicBezTo>
                  <a:cubicBezTo>
                    <a:pt x="8173" y="13435"/>
                    <a:pt x="14595" y="13435"/>
                    <a:pt x="20432" y="20635"/>
                  </a:cubicBezTo>
                  <a:cubicBezTo>
                    <a:pt x="20432" y="20635"/>
                    <a:pt x="21016" y="20635"/>
                    <a:pt x="21016" y="18235"/>
                  </a:cubicBezTo>
                  <a:cubicBezTo>
                    <a:pt x="21600" y="18235"/>
                    <a:pt x="21600" y="18235"/>
                    <a:pt x="21600" y="15835"/>
                  </a:cubicBezTo>
                  <a:cubicBezTo>
                    <a:pt x="21600" y="11035"/>
                    <a:pt x="21600" y="11035"/>
                    <a:pt x="21600" y="11035"/>
                  </a:cubicBezTo>
                  <a:cubicBezTo>
                    <a:pt x="21600" y="8635"/>
                    <a:pt x="21016" y="6235"/>
                    <a:pt x="20432" y="6235"/>
                  </a:cubicBezTo>
                  <a:cubicBezTo>
                    <a:pt x="14595" y="-965"/>
                    <a:pt x="8173" y="-965"/>
                    <a:pt x="1168" y="1435"/>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5" name="Shape 375"/>
            <p:cNvSpPr/>
            <p:nvPr/>
          </p:nvSpPr>
          <p:spPr>
            <a:xfrm>
              <a:off x="202808" y="529373"/>
              <a:ext cx="320809" cy="69610"/>
            </a:xfrm>
            <a:custGeom>
              <a:avLst/>
              <a:gdLst/>
              <a:ahLst/>
              <a:cxnLst>
                <a:cxn ang="0">
                  <a:pos x="wd2" y="hd2"/>
                </a:cxn>
                <a:cxn ang="5400000">
                  <a:pos x="wd2" y="hd2"/>
                </a:cxn>
                <a:cxn ang="10800000">
                  <a:pos x="wd2" y="hd2"/>
                </a:cxn>
                <a:cxn ang="16200000">
                  <a:pos x="wd2" y="hd2"/>
                </a:cxn>
              </a:cxnLst>
              <a:rect l="0" t="0" r="r" b="b"/>
              <a:pathLst>
                <a:path w="21600" h="19416" extrusionOk="0">
                  <a:moveTo>
                    <a:pt x="1168" y="2616"/>
                  </a:moveTo>
                  <a:cubicBezTo>
                    <a:pt x="584" y="2616"/>
                    <a:pt x="0" y="5016"/>
                    <a:pt x="0" y="7416"/>
                  </a:cubicBezTo>
                  <a:cubicBezTo>
                    <a:pt x="0" y="12216"/>
                    <a:pt x="0" y="12216"/>
                    <a:pt x="0" y="12216"/>
                  </a:cubicBezTo>
                  <a:cubicBezTo>
                    <a:pt x="0" y="12216"/>
                    <a:pt x="0" y="14616"/>
                    <a:pt x="584" y="14616"/>
                  </a:cubicBezTo>
                  <a:cubicBezTo>
                    <a:pt x="584" y="17016"/>
                    <a:pt x="1168" y="17016"/>
                    <a:pt x="1168" y="17016"/>
                  </a:cubicBezTo>
                  <a:cubicBezTo>
                    <a:pt x="8173" y="12216"/>
                    <a:pt x="14595" y="14616"/>
                    <a:pt x="20432" y="19416"/>
                  </a:cubicBezTo>
                  <a:cubicBezTo>
                    <a:pt x="20432" y="19416"/>
                    <a:pt x="21016" y="19416"/>
                    <a:pt x="21016" y="19416"/>
                  </a:cubicBezTo>
                  <a:cubicBezTo>
                    <a:pt x="21600" y="19416"/>
                    <a:pt x="21600" y="17016"/>
                    <a:pt x="21600" y="17016"/>
                  </a:cubicBezTo>
                  <a:cubicBezTo>
                    <a:pt x="21600" y="9816"/>
                    <a:pt x="21600" y="9816"/>
                    <a:pt x="21600" y="9816"/>
                  </a:cubicBezTo>
                  <a:cubicBezTo>
                    <a:pt x="21600" y="7416"/>
                    <a:pt x="21016" y="7416"/>
                    <a:pt x="20432" y="5016"/>
                  </a:cubicBezTo>
                  <a:cubicBezTo>
                    <a:pt x="14595" y="216"/>
                    <a:pt x="8173" y="-2184"/>
                    <a:pt x="1168" y="2616"/>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Shape 376"/>
            <p:cNvSpPr/>
            <p:nvPr/>
          </p:nvSpPr>
          <p:spPr>
            <a:xfrm>
              <a:off x="202808" y="672500"/>
              <a:ext cx="320809" cy="73980"/>
            </a:xfrm>
            <a:custGeom>
              <a:avLst/>
              <a:gdLst/>
              <a:ahLst/>
              <a:cxnLst>
                <a:cxn ang="0">
                  <a:pos x="wd2" y="hd2"/>
                </a:cxn>
                <a:cxn ang="5400000">
                  <a:pos x="wd2" y="hd2"/>
                </a:cxn>
                <a:cxn ang="10800000">
                  <a:pos x="wd2" y="hd2"/>
                </a:cxn>
                <a:cxn ang="16200000">
                  <a:pos x="wd2" y="hd2"/>
                </a:cxn>
              </a:cxnLst>
              <a:rect l="0" t="0" r="r" b="b"/>
              <a:pathLst>
                <a:path w="21600" h="20635" extrusionOk="0">
                  <a:moveTo>
                    <a:pt x="1168" y="1435"/>
                  </a:moveTo>
                  <a:cubicBezTo>
                    <a:pt x="584" y="1435"/>
                    <a:pt x="0" y="3835"/>
                    <a:pt x="0" y="6235"/>
                  </a:cubicBezTo>
                  <a:cubicBezTo>
                    <a:pt x="0" y="11035"/>
                    <a:pt x="0" y="11035"/>
                    <a:pt x="0" y="11035"/>
                  </a:cubicBezTo>
                  <a:cubicBezTo>
                    <a:pt x="0" y="13435"/>
                    <a:pt x="0" y="13435"/>
                    <a:pt x="584" y="15835"/>
                  </a:cubicBezTo>
                  <a:cubicBezTo>
                    <a:pt x="584" y="15835"/>
                    <a:pt x="1168" y="15835"/>
                    <a:pt x="1168" y="15835"/>
                  </a:cubicBezTo>
                  <a:cubicBezTo>
                    <a:pt x="8173" y="13435"/>
                    <a:pt x="14595" y="13435"/>
                    <a:pt x="20432" y="20635"/>
                  </a:cubicBezTo>
                  <a:cubicBezTo>
                    <a:pt x="20432" y="20635"/>
                    <a:pt x="21016" y="20635"/>
                    <a:pt x="21016" y="18235"/>
                  </a:cubicBezTo>
                  <a:cubicBezTo>
                    <a:pt x="21600" y="18235"/>
                    <a:pt x="21600" y="18235"/>
                    <a:pt x="21600" y="15835"/>
                  </a:cubicBezTo>
                  <a:cubicBezTo>
                    <a:pt x="21600" y="11035"/>
                    <a:pt x="21600" y="11035"/>
                    <a:pt x="21600" y="11035"/>
                  </a:cubicBezTo>
                  <a:cubicBezTo>
                    <a:pt x="21600" y="8635"/>
                    <a:pt x="21016" y="6235"/>
                    <a:pt x="20432" y="6235"/>
                  </a:cubicBezTo>
                  <a:cubicBezTo>
                    <a:pt x="14595" y="-965"/>
                    <a:pt x="8173" y="-965"/>
                    <a:pt x="1168" y="1435"/>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7" name="Shape 377"/>
            <p:cNvSpPr/>
            <p:nvPr/>
          </p:nvSpPr>
          <p:spPr>
            <a:xfrm>
              <a:off x="822297" y="241752"/>
              <a:ext cx="320810" cy="69610"/>
            </a:xfrm>
            <a:custGeom>
              <a:avLst/>
              <a:gdLst/>
              <a:ahLst/>
              <a:cxnLst>
                <a:cxn ang="0">
                  <a:pos x="wd2" y="hd2"/>
                </a:cxn>
                <a:cxn ang="5400000">
                  <a:pos x="wd2" y="hd2"/>
                </a:cxn>
                <a:cxn ang="10800000">
                  <a:pos x="wd2" y="hd2"/>
                </a:cxn>
                <a:cxn ang="16200000">
                  <a:pos x="wd2" y="hd2"/>
                </a:cxn>
              </a:cxnLst>
              <a:rect l="0" t="0" r="r" b="b"/>
              <a:pathLst>
                <a:path w="21600" h="19416" extrusionOk="0">
                  <a:moveTo>
                    <a:pt x="1168" y="5016"/>
                  </a:moveTo>
                  <a:cubicBezTo>
                    <a:pt x="584" y="7416"/>
                    <a:pt x="0" y="7416"/>
                    <a:pt x="0" y="9816"/>
                  </a:cubicBezTo>
                  <a:cubicBezTo>
                    <a:pt x="0" y="17016"/>
                    <a:pt x="0" y="17016"/>
                    <a:pt x="0" y="17016"/>
                  </a:cubicBezTo>
                  <a:cubicBezTo>
                    <a:pt x="0" y="17016"/>
                    <a:pt x="584" y="19416"/>
                    <a:pt x="584" y="19416"/>
                  </a:cubicBezTo>
                  <a:cubicBezTo>
                    <a:pt x="584" y="19416"/>
                    <a:pt x="1168" y="19416"/>
                    <a:pt x="1751" y="19416"/>
                  </a:cubicBezTo>
                  <a:cubicBezTo>
                    <a:pt x="7005" y="14616"/>
                    <a:pt x="13427" y="12216"/>
                    <a:pt x="20432" y="17016"/>
                  </a:cubicBezTo>
                  <a:cubicBezTo>
                    <a:pt x="21016" y="17016"/>
                    <a:pt x="21016" y="17016"/>
                    <a:pt x="21016" y="14616"/>
                  </a:cubicBezTo>
                  <a:cubicBezTo>
                    <a:pt x="21600" y="14616"/>
                    <a:pt x="21600" y="12216"/>
                    <a:pt x="21600" y="12216"/>
                  </a:cubicBezTo>
                  <a:cubicBezTo>
                    <a:pt x="21600" y="5016"/>
                    <a:pt x="21600" y="5016"/>
                    <a:pt x="21600" y="5016"/>
                  </a:cubicBezTo>
                  <a:cubicBezTo>
                    <a:pt x="21600" y="5016"/>
                    <a:pt x="21016" y="2616"/>
                    <a:pt x="21016" y="2616"/>
                  </a:cubicBezTo>
                  <a:cubicBezTo>
                    <a:pt x="13427" y="-2184"/>
                    <a:pt x="7005" y="216"/>
                    <a:pt x="1168" y="5016"/>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8" name="Shape 378"/>
            <p:cNvSpPr/>
            <p:nvPr/>
          </p:nvSpPr>
          <p:spPr>
            <a:xfrm>
              <a:off x="822297" y="384880"/>
              <a:ext cx="320810" cy="73980"/>
            </a:xfrm>
            <a:custGeom>
              <a:avLst/>
              <a:gdLst/>
              <a:ahLst/>
              <a:cxnLst>
                <a:cxn ang="0">
                  <a:pos x="wd2" y="hd2"/>
                </a:cxn>
                <a:cxn ang="5400000">
                  <a:pos x="wd2" y="hd2"/>
                </a:cxn>
                <a:cxn ang="10800000">
                  <a:pos x="wd2" y="hd2"/>
                </a:cxn>
                <a:cxn ang="16200000">
                  <a:pos x="wd2" y="hd2"/>
                </a:cxn>
              </a:cxnLst>
              <a:rect l="0" t="0" r="r" b="b"/>
              <a:pathLst>
                <a:path w="21600" h="20635" extrusionOk="0">
                  <a:moveTo>
                    <a:pt x="1168" y="6235"/>
                  </a:moveTo>
                  <a:cubicBezTo>
                    <a:pt x="584" y="6235"/>
                    <a:pt x="0" y="8635"/>
                    <a:pt x="0" y="11035"/>
                  </a:cubicBezTo>
                  <a:cubicBezTo>
                    <a:pt x="0" y="15835"/>
                    <a:pt x="0" y="15835"/>
                    <a:pt x="0" y="15835"/>
                  </a:cubicBezTo>
                  <a:cubicBezTo>
                    <a:pt x="0" y="18235"/>
                    <a:pt x="584" y="18235"/>
                    <a:pt x="584" y="18235"/>
                  </a:cubicBezTo>
                  <a:cubicBezTo>
                    <a:pt x="584" y="20635"/>
                    <a:pt x="1168" y="20635"/>
                    <a:pt x="1751" y="20635"/>
                  </a:cubicBezTo>
                  <a:cubicBezTo>
                    <a:pt x="7005" y="13435"/>
                    <a:pt x="13427" y="13435"/>
                    <a:pt x="20432" y="15835"/>
                  </a:cubicBezTo>
                  <a:cubicBezTo>
                    <a:pt x="21016" y="15835"/>
                    <a:pt x="21016" y="15835"/>
                    <a:pt x="21016" y="15835"/>
                  </a:cubicBezTo>
                  <a:cubicBezTo>
                    <a:pt x="21600" y="13435"/>
                    <a:pt x="21600" y="13435"/>
                    <a:pt x="21600" y="11035"/>
                  </a:cubicBezTo>
                  <a:cubicBezTo>
                    <a:pt x="21600" y="6235"/>
                    <a:pt x="21600" y="6235"/>
                    <a:pt x="21600" y="6235"/>
                  </a:cubicBezTo>
                  <a:cubicBezTo>
                    <a:pt x="21600" y="3835"/>
                    <a:pt x="21016" y="1435"/>
                    <a:pt x="21016" y="1435"/>
                  </a:cubicBezTo>
                  <a:cubicBezTo>
                    <a:pt x="13427" y="-965"/>
                    <a:pt x="7005" y="-965"/>
                    <a:pt x="1168" y="6235"/>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0" name="Shape 379"/>
            <p:cNvSpPr/>
            <p:nvPr/>
          </p:nvSpPr>
          <p:spPr>
            <a:xfrm>
              <a:off x="822297" y="529373"/>
              <a:ext cx="320810" cy="69610"/>
            </a:xfrm>
            <a:custGeom>
              <a:avLst/>
              <a:gdLst/>
              <a:ahLst/>
              <a:cxnLst>
                <a:cxn ang="0">
                  <a:pos x="wd2" y="hd2"/>
                </a:cxn>
                <a:cxn ang="5400000">
                  <a:pos x="wd2" y="hd2"/>
                </a:cxn>
                <a:cxn ang="10800000">
                  <a:pos x="wd2" y="hd2"/>
                </a:cxn>
                <a:cxn ang="16200000">
                  <a:pos x="wd2" y="hd2"/>
                </a:cxn>
              </a:cxnLst>
              <a:rect l="0" t="0" r="r" b="b"/>
              <a:pathLst>
                <a:path w="21600" h="19416" extrusionOk="0">
                  <a:moveTo>
                    <a:pt x="1168" y="5016"/>
                  </a:moveTo>
                  <a:cubicBezTo>
                    <a:pt x="584" y="7416"/>
                    <a:pt x="0" y="7416"/>
                    <a:pt x="0" y="9816"/>
                  </a:cubicBezTo>
                  <a:cubicBezTo>
                    <a:pt x="0" y="17016"/>
                    <a:pt x="0" y="17016"/>
                    <a:pt x="0" y="17016"/>
                  </a:cubicBezTo>
                  <a:cubicBezTo>
                    <a:pt x="0" y="17016"/>
                    <a:pt x="584" y="19416"/>
                    <a:pt x="584" y="19416"/>
                  </a:cubicBezTo>
                  <a:cubicBezTo>
                    <a:pt x="584" y="19416"/>
                    <a:pt x="1168" y="19416"/>
                    <a:pt x="1751" y="19416"/>
                  </a:cubicBezTo>
                  <a:cubicBezTo>
                    <a:pt x="7005" y="14616"/>
                    <a:pt x="13427" y="12216"/>
                    <a:pt x="20432" y="17016"/>
                  </a:cubicBezTo>
                  <a:cubicBezTo>
                    <a:pt x="21016" y="17016"/>
                    <a:pt x="21016" y="17016"/>
                    <a:pt x="21016" y="14616"/>
                  </a:cubicBezTo>
                  <a:cubicBezTo>
                    <a:pt x="21600" y="14616"/>
                    <a:pt x="21600" y="12216"/>
                    <a:pt x="21600" y="12216"/>
                  </a:cubicBezTo>
                  <a:cubicBezTo>
                    <a:pt x="21600" y="7416"/>
                    <a:pt x="21600" y="7416"/>
                    <a:pt x="21600" y="7416"/>
                  </a:cubicBezTo>
                  <a:cubicBezTo>
                    <a:pt x="21600" y="5016"/>
                    <a:pt x="21016" y="2616"/>
                    <a:pt x="21016" y="2616"/>
                  </a:cubicBezTo>
                  <a:cubicBezTo>
                    <a:pt x="13427" y="-2184"/>
                    <a:pt x="7005" y="216"/>
                    <a:pt x="1168" y="5016"/>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1" name="Shape 380"/>
            <p:cNvSpPr/>
            <p:nvPr/>
          </p:nvSpPr>
          <p:spPr>
            <a:xfrm>
              <a:off x="822297" y="672500"/>
              <a:ext cx="320810" cy="73980"/>
            </a:xfrm>
            <a:custGeom>
              <a:avLst/>
              <a:gdLst/>
              <a:ahLst/>
              <a:cxnLst>
                <a:cxn ang="0">
                  <a:pos x="wd2" y="hd2"/>
                </a:cxn>
                <a:cxn ang="5400000">
                  <a:pos x="wd2" y="hd2"/>
                </a:cxn>
                <a:cxn ang="10800000">
                  <a:pos x="wd2" y="hd2"/>
                </a:cxn>
                <a:cxn ang="16200000">
                  <a:pos x="wd2" y="hd2"/>
                </a:cxn>
              </a:cxnLst>
              <a:rect l="0" t="0" r="r" b="b"/>
              <a:pathLst>
                <a:path w="21600" h="20635" extrusionOk="0">
                  <a:moveTo>
                    <a:pt x="1168" y="6235"/>
                  </a:moveTo>
                  <a:cubicBezTo>
                    <a:pt x="584" y="6235"/>
                    <a:pt x="0" y="8635"/>
                    <a:pt x="0" y="11035"/>
                  </a:cubicBezTo>
                  <a:cubicBezTo>
                    <a:pt x="0" y="15835"/>
                    <a:pt x="0" y="15835"/>
                    <a:pt x="0" y="15835"/>
                  </a:cubicBezTo>
                  <a:cubicBezTo>
                    <a:pt x="0" y="18235"/>
                    <a:pt x="584" y="18235"/>
                    <a:pt x="584" y="18235"/>
                  </a:cubicBezTo>
                  <a:cubicBezTo>
                    <a:pt x="584" y="20635"/>
                    <a:pt x="1168" y="20635"/>
                    <a:pt x="1751" y="20635"/>
                  </a:cubicBezTo>
                  <a:cubicBezTo>
                    <a:pt x="7005" y="13435"/>
                    <a:pt x="13427" y="13435"/>
                    <a:pt x="20432" y="15835"/>
                  </a:cubicBezTo>
                  <a:cubicBezTo>
                    <a:pt x="21016" y="15835"/>
                    <a:pt x="21016" y="15835"/>
                    <a:pt x="21016" y="15835"/>
                  </a:cubicBezTo>
                  <a:cubicBezTo>
                    <a:pt x="21600" y="13435"/>
                    <a:pt x="21600" y="13435"/>
                    <a:pt x="21600" y="11035"/>
                  </a:cubicBezTo>
                  <a:cubicBezTo>
                    <a:pt x="21600" y="6235"/>
                    <a:pt x="21600" y="6235"/>
                    <a:pt x="21600" y="6235"/>
                  </a:cubicBezTo>
                  <a:cubicBezTo>
                    <a:pt x="21600" y="3835"/>
                    <a:pt x="21016" y="1435"/>
                    <a:pt x="21016" y="1435"/>
                  </a:cubicBezTo>
                  <a:cubicBezTo>
                    <a:pt x="13427" y="-965"/>
                    <a:pt x="7005" y="-965"/>
                    <a:pt x="1168" y="6235"/>
                  </a:cubicBezTo>
                  <a:close/>
                </a:path>
              </a:pathLst>
            </a:custGeom>
            <a:grpFill/>
            <a:ln w="12700" cap="flat">
              <a:noFill/>
              <a:miter lim="400000"/>
            </a:ln>
            <a:effectLst/>
          </p:spPr>
          <p:txBody>
            <a:bodyPr wrap="square" lIns="91439" tIns="91439" rIns="91439" bIns="9143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226" name="Rectangle 225"/>
          <p:cNvSpPr/>
          <p:nvPr/>
        </p:nvSpPr>
        <p:spPr>
          <a:xfrm>
            <a:off x="488665" y="4249505"/>
            <a:ext cx="1463279" cy="345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审计标准手册</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27" name="Freeform 39"/>
          <p:cNvSpPr>
            <a:spLocks noChangeArrowheads="1"/>
          </p:cNvSpPr>
          <p:nvPr/>
        </p:nvSpPr>
        <p:spPr bwMode="auto">
          <a:xfrm>
            <a:off x="1014546" y="4991553"/>
            <a:ext cx="366182" cy="357717"/>
          </a:xfrm>
          <a:custGeom>
            <a:avLst/>
            <a:gdLst>
              <a:gd name="T0" fmla="*/ 201915 w 634"/>
              <a:gd name="T1" fmla="*/ 0 h 619"/>
              <a:gd name="T2" fmla="*/ 201915 w 634"/>
              <a:gd name="T3" fmla="*/ 0 h 619"/>
              <a:gd name="T4" fmla="*/ 32090 w 634"/>
              <a:gd name="T5" fmla="*/ 0 h 619"/>
              <a:gd name="T6" fmla="*/ 0 w 634"/>
              <a:gd name="T7" fmla="*/ 26691 h 619"/>
              <a:gd name="T8" fmla="*/ 0 w 634"/>
              <a:gd name="T9" fmla="*/ 196575 h 619"/>
              <a:gd name="T10" fmla="*/ 32090 w 634"/>
              <a:gd name="T11" fmla="*/ 222905 h 619"/>
              <a:gd name="T12" fmla="*/ 201915 w 634"/>
              <a:gd name="T13" fmla="*/ 222905 h 619"/>
              <a:gd name="T14" fmla="*/ 228236 w 634"/>
              <a:gd name="T15" fmla="*/ 196575 h 619"/>
              <a:gd name="T16" fmla="*/ 228236 w 634"/>
              <a:gd name="T17" fmla="*/ 26691 h 619"/>
              <a:gd name="T18" fmla="*/ 201915 w 634"/>
              <a:gd name="T19" fmla="*/ 0 h 619"/>
              <a:gd name="T20" fmla="*/ 212372 w 634"/>
              <a:gd name="T21" fmla="*/ 196575 h 619"/>
              <a:gd name="T22" fmla="*/ 212372 w 634"/>
              <a:gd name="T23" fmla="*/ 196575 h 619"/>
              <a:gd name="T24" fmla="*/ 201915 w 634"/>
              <a:gd name="T25" fmla="*/ 212445 h 619"/>
              <a:gd name="T26" fmla="*/ 32090 w 634"/>
              <a:gd name="T27" fmla="*/ 212445 h 619"/>
              <a:gd name="T28" fmla="*/ 15865 w 634"/>
              <a:gd name="T29" fmla="*/ 196575 h 619"/>
              <a:gd name="T30" fmla="*/ 15865 w 634"/>
              <a:gd name="T31" fmla="*/ 26691 h 619"/>
              <a:gd name="T32" fmla="*/ 32090 w 634"/>
              <a:gd name="T33" fmla="*/ 10460 h 619"/>
              <a:gd name="T34" fmla="*/ 201915 w 634"/>
              <a:gd name="T35" fmla="*/ 10460 h 619"/>
              <a:gd name="T36" fmla="*/ 212372 w 634"/>
              <a:gd name="T37" fmla="*/ 26691 h 619"/>
              <a:gd name="T38" fmla="*/ 212372 w 634"/>
              <a:gd name="T39" fmla="*/ 196575 h 619"/>
              <a:gd name="T40" fmla="*/ 148552 w 634"/>
              <a:gd name="T41" fmla="*/ 74302 h 619"/>
              <a:gd name="T42" fmla="*/ 148552 w 634"/>
              <a:gd name="T43" fmla="*/ 74302 h 619"/>
              <a:gd name="T44" fmla="*/ 138096 w 634"/>
              <a:gd name="T45" fmla="*/ 74302 h 619"/>
              <a:gd name="T46" fmla="*/ 116822 w 634"/>
              <a:gd name="T47" fmla="*/ 100993 h 619"/>
              <a:gd name="T48" fmla="*/ 90501 w 634"/>
              <a:gd name="T49" fmla="*/ 74302 h 619"/>
              <a:gd name="T50" fmla="*/ 79684 w 634"/>
              <a:gd name="T51" fmla="*/ 74302 h 619"/>
              <a:gd name="T52" fmla="*/ 79684 w 634"/>
              <a:gd name="T53" fmla="*/ 85122 h 619"/>
              <a:gd name="T54" fmla="*/ 106366 w 634"/>
              <a:gd name="T55" fmla="*/ 111453 h 619"/>
              <a:gd name="T56" fmla="*/ 79684 w 634"/>
              <a:gd name="T57" fmla="*/ 138144 h 619"/>
              <a:gd name="T58" fmla="*/ 79684 w 634"/>
              <a:gd name="T59" fmla="*/ 148604 h 619"/>
              <a:gd name="T60" fmla="*/ 90501 w 634"/>
              <a:gd name="T61" fmla="*/ 148604 h 619"/>
              <a:gd name="T62" fmla="*/ 116822 w 634"/>
              <a:gd name="T63" fmla="*/ 122273 h 619"/>
              <a:gd name="T64" fmla="*/ 138096 w 634"/>
              <a:gd name="T65" fmla="*/ 148604 h 619"/>
              <a:gd name="T66" fmla="*/ 148552 w 634"/>
              <a:gd name="T67" fmla="*/ 148604 h 619"/>
              <a:gd name="T68" fmla="*/ 148552 w 634"/>
              <a:gd name="T69" fmla="*/ 138144 h 619"/>
              <a:gd name="T70" fmla="*/ 127639 w 634"/>
              <a:gd name="T71" fmla="*/ 111453 h 619"/>
              <a:gd name="T72" fmla="*/ 148552 w 634"/>
              <a:gd name="T73" fmla="*/ 85122 h 619"/>
              <a:gd name="T74" fmla="*/ 148552 w 634"/>
              <a:gd name="T75" fmla="*/ 74302 h 61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34" h="619">
                <a:moveTo>
                  <a:pt x="560" y="0"/>
                </a:moveTo>
                <a:lnTo>
                  <a:pt x="560" y="0"/>
                </a:lnTo>
                <a:cubicBezTo>
                  <a:pt x="89" y="0"/>
                  <a:pt x="89" y="0"/>
                  <a:pt x="89" y="0"/>
                </a:cubicBezTo>
                <a:cubicBezTo>
                  <a:pt x="44" y="0"/>
                  <a:pt x="0" y="29"/>
                  <a:pt x="0" y="74"/>
                </a:cubicBezTo>
                <a:cubicBezTo>
                  <a:pt x="0" y="545"/>
                  <a:pt x="0" y="545"/>
                  <a:pt x="0" y="545"/>
                </a:cubicBezTo>
                <a:cubicBezTo>
                  <a:pt x="0" y="589"/>
                  <a:pt x="44" y="618"/>
                  <a:pt x="89" y="618"/>
                </a:cubicBezTo>
                <a:cubicBezTo>
                  <a:pt x="560" y="618"/>
                  <a:pt x="560" y="618"/>
                  <a:pt x="560" y="618"/>
                </a:cubicBezTo>
                <a:cubicBezTo>
                  <a:pt x="604" y="618"/>
                  <a:pt x="633" y="589"/>
                  <a:pt x="633" y="545"/>
                </a:cubicBezTo>
                <a:cubicBezTo>
                  <a:pt x="633" y="74"/>
                  <a:pt x="633" y="74"/>
                  <a:pt x="633" y="74"/>
                </a:cubicBezTo>
                <a:cubicBezTo>
                  <a:pt x="633" y="29"/>
                  <a:pt x="604" y="0"/>
                  <a:pt x="560" y="0"/>
                </a:cubicBezTo>
                <a:close/>
                <a:moveTo>
                  <a:pt x="589" y="545"/>
                </a:moveTo>
                <a:lnTo>
                  <a:pt x="589" y="545"/>
                </a:lnTo>
                <a:cubicBezTo>
                  <a:pt x="589" y="559"/>
                  <a:pt x="574" y="589"/>
                  <a:pt x="560" y="589"/>
                </a:cubicBezTo>
                <a:cubicBezTo>
                  <a:pt x="89" y="589"/>
                  <a:pt x="89" y="589"/>
                  <a:pt x="89" y="589"/>
                </a:cubicBezTo>
                <a:cubicBezTo>
                  <a:pt x="59" y="589"/>
                  <a:pt x="44" y="559"/>
                  <a:pt x="44" y="545"/>
                </a:cubicBezTo>
                <a:cubicBezTo>
                  <a:pt x="44" y="74"/>
                  <a:pt x="44" y="74"/>
                  <a:pt x="44" y="74"/>
                </a:cubicBezTo>
                <a:cubicBezTo>
                  <a:pt x="44" y="59"/>
                  <a:pt x="59" y="29"/>
                  <a:pt x="89" y="29"/>
                </a:cubicBezTo>
                <a:cubicBezTo>
                  <a:pt x="560" y="29"/>
                  <a:pt x="560" y="29"/>
                  <a:pt x="560" y="29"/>
                </a:cubicBezTo>
                <a:cubicBezTo>
                  <a:pt x="574" y="29"/>
                  <a:pt x="589" y="59"/>
                  <a:pt x="589" y="74"/>
                </a:cubicBezTo>
                <a:lnTo>
                  <a:pt x="589" y="545"/>
                </a:lnTo>
                <a:close/>
                <a:moveTo>
                  <a:pt x="412" y="206"/>
                </a:moveTo>
                <a:lnTo>
                  <a:pt x="412" y="206"/>
                </a:lnTo>
                <a:cubicBezTo>
                  <a:pt x="412" y="206"/>
                  <a:pt x="398" y="206"/>
                  <a:pt x="383" y="206"/>
                </a:cubicBezTo>
                <a:cubicBezTo>
                  <a:pt x="324" y="280"/>
                  <a:pt x="324" y="280"/>
                  <a:pt x="324" y="280"/>
                </a:cubicBezTo>
                <a:cubicBezTo>
                  <a:pt x="251" y="206"/>
                  <a:pt x="251" y="206"/>
                  <a:pt x="251" y="206"/>
                </a:cubicBezTo>
                <a:cubicBezTo>
                  <a:pt x="236" y="206"/>
                  <a:pt x="236" y="206"/>
                  <a:pt x="221" y="206"/>
                </a:cubicBezTo>
                <a:cubicBezTo>
                  <a:pt x="221" y="221"/>
                  <a:pt x="221" y="236"/>
                  <a:pt x="221" y="236"/>
                </a:cubicBezTo>
                <a:cubicBezTo>
                  <a:pt x="295" y="309"/>
                  <a:pt x="295" y="309"/>
                  <a:pt x="295" y="309"/>
                </a:cubicBezTo>
                <a:cubicBezTo>
                  <a:pt x="221" y="383"/>
                  <a:pt x="221" y="383"/>
                  <a:pt x="221" y="383"/>
                </a:cubicBezTo>
                <a:cubicBezTo>
                  <a:pt x="221" y="383"/>
                  <a:pt x="221" y="398"/>
                  <a:pt x="221" y="412"/>
                </a:cubicBezTo>
                <a:cubicBezTo>
                  <a:pt x="236" y="412"/>
                  <a:pt x="236" y="412"/>
                  <a:pt x="251" y="412"/>
                </a:cubicBezTo>
                <a:cubicBezTo>
                  <a:pt x="324" y="339"/>
                  <a:pt x="324" y="339"/>
                  <a:pt x="324" y="339"/>
                </a:cubicBezTo>
                <a:cubicBezTo>
                  <a:pt x="383" y="412"/>
                  <a:pt x="383" y="412"/>
                  <a:pt x="383" y="412"/>
                </a:cubicBezTo>
                <a:cubicBezTo>
                  <a:pt x="398" y="412"/>
                  <a:pt x="412" y="412"/>
                  <a:pt x="412" y="412"/>
                </a:cubicBezTo>
                <a:cubicBezTo>
                  <a:pt x="427" y="398"/>
                  <a:pt x="427" y="383"/>
                  <a:pt x="412" y="383"/>
                </a:cubicBezTo>
                <a:cubicBezTo>
                  <a:pt x="354" y="309"/>
                  <a:pt x="354" y="309"/>
                  <a:pt x="354" y="309"/>
                </a:cubicBezTo>
                <a:cubicBezTo>
                  <a:pt x="412" y="236"/>
                  <a:pt x="412" y="236"/>
                  <a:pt x="412" y="236"/>
                </a:cubicBezTo>
                <a:cubicBezTo>
                  <a:pt x="427" y="236"/>
                  <a:pt x="427" y="221"/>
                  <a:pt x="412" y="206"/>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28" name="Rectangle 227"/>
          <p:cNvSpPr/>
          <p:nvPr/>
        </p:nvSpPr>
        <p:spPr>
          <a:xfrm>
            <a:off x="427127" y="5446958"/>
            <a:ext cx="1463279" cy="345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审计问题清单</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29" name="Rectangle 228"/>
          <p:cNvSpPr/>
          <p:nvPr/>
        </p:nvSpPr>
        <p:spPr>
          <a:xfrm>
            <a:off x="3025077" y="4731711"/>
            <a:ext cx="1818212" cy="400309"/>
          </a:xfrm>
          <a:prstGeom prst="rect">
            <a:avLst/>
          </a:prstGeom>
          <a:solidFill>
            <a:schemeClr val="bg1"/>
          </a:solidFill>
          <a:ln w="31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实体抽取、关系抽取</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30" name="Rectangle 229"/>
          <p:cNvSpPr/>
          <p:nvPr/>
        </p:nvSpPr>
        <p:spPr>
          <a:xfrm>
            <a:off x="3025077" y="3819777"/>
            <a:ext cx="1818212" cy="400309"/>
          </a:xfrm>
          <a:prstGeom prst="rect">
            <a:avLst/>
          </a:prstGeom>
          <a:solidFill>
            <a:schemeClr val="bg1"/>
          </a:solidFill>
          <a:ln w="31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文本切块、语义分块</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234" name="Connector: Curved 233"/>
          <p:cNvCxnSpPr>
            <a:stCxn id="226" idx="3"/>
            <a:endCxn id="230" idx="1"/>
          </p:cNvCxnSpPr>
          <p:nvPr/>
        </p:nvCxnSpPr>
        <p:spPr>
          <a:xfrm flipV="1">
            <a:off x="1951944" y="4019932"/>
            <a:ext cx="1073133" cy="40236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8" name="Connector: Curved 247"/>
          <p:cNvCxnSpPr>
            <a:stCxn id="226" idx="3"/>
            <a:endCxn id="229" idx="1"/>
          </p:cNvCxnSpPr>
          <p:nvPr/>
        </p:nvCxnSpPr>
        <p:spPr>
          <a:xfrm>
            <a:off x="1951944" y="4422301"/>
            <a:ext cx="1073133" cy="50956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nector: Curved 32"/>
          <p:cNvCxnSpPr>
            <a:stCxn id="228" idx="3"/>
            <a:endCxn id="229" idx="1"/>
          </p:cNvCxnSpPr>
          <p:nvPr/>
        </p:nvCxnSpPr>
        <p:spPr>
          <a:xfrm flipV="1">
            <a:off x="1890406" y="4931866"/>
            <a:ext cx="1134671" cy="687888"/>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5292376" y="3819777"/>
            <a:ext cx="1609030" cy="400309"/>
          </a:xfrm>
          <a:prstGeom prst="rect">
            <a:avLst/>
          </a:prstGeom>
          <a:solidFill>
            <a:schemeClr val="bg1"/>
          </a:solidFill>
          <a:ln w="31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向量化处理</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36" name="Straight Arrow Connector 35"/>
          <p:cNvCxnSpPr>
            <a:stCxn id="230" idx="3"/>
            <a:endCxn id="34" idx="1"/>
          </p:cNvCxnSpPr>
          <p:nvPr/>
        </p:nvCxnSpPr>
        <p:spPr>
          <a:xfrm>
            <a:off x="4843289" y="4019932"/>
            <a:ext cx="4490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5292376" y="4731711"/>
            <a:ext cx="1609030" cy="400309"/>
          </a:xfrm>
          <a:prstGeom prst="rect">
            <a:avLst/>
          </a:prstGeom>
          <a:solidFill>
            <a:schemeClr val="bg1"/>
          </a:solidFill>
          <a:ln w="31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实体对齐、实体消歧</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关系挖掘等</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8" name="Rectangle 37"/>
          <p:cNvSpPr/>
          <p:nvPr/>
        </p:nvSpPr>
        <p:spPr>
          <a:xfrm>
            <a:off x="3025077" y="5648310"/>
            <a:ext cx="1818212" cy="400309"/>
          </a:xfrm>
          <a:prstGeom prst="rect">
            <a:avLst/>
          </a:prstGeom>
          <a:solidFill>
            <a:schemeClr val="bg1"/>
          </a:solidFill>
          <a:ln w="31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抽取审计要点</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40" name="Connector: Curved 39"/>
          <p:cNvCxnSpPr>
            <a:stCxn id="228" idx="3"/>
            <a:endCxn id="38" idx="1"/>
          </p:cNvCxnSpPr>
          <p:nvPr/>
        </p:nvCxnSpPr>
        <p:spPr>
          <a:xfrm>
            <a:off x="1890406" y="5619754"/>
            <a:ext cx="1134671" cy="22871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229" idx="3"/>
            <a:endCxn id="37" idx="1"/>
          </p:cNvCxnSpPr>
          <p:nvPr/>
        </p:nvCxnSpPr>
        <p:spPr>
          <a:xfrm>
            <a:off x="4843289" y="4931866"/>
            <a:ext cx="4490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5292376" y="5329245"/>
            <a:ext cx="1609030" cy="400309"/>
          </a:xfrm>
          <a:prstGeom prst="rect">
            <a:avLst/>
          </a:prstGeom>
          <a:solidFill>
            <a:schemeClr val="bg1"/>
          </a:solidFill>
          <a:ln w="31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知识融合</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9" name="Rectangle 48"/>
          <p:cNvSpPr/>
          <p:nvPr/>
        </p:nvSpPr>
        <p:spPr>
          <a:xfrm>
            <a:off x="5298327" y="5888417"/>
            <a:ext cx="1609030" cy="400309"/>
          </a:xfrm>
          <a:prstGeom prst="rect">
            <a:avLst/>
          </a:prstGeom>
          <a:solidFill>
            <a:schemeClr val="bg1"/>
          </a:solidFill>
          <a:ln w="3175">
            <a:solidFill>
              <a:schemeClr val="accent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关系构建</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52" name="Connector: Curved 51"/>
          <p:cNvCxnSpPr>
            <a:stCxn id="228" idx="3"/>
            <a:endCxn id="230" idx="1"/>
          </p:cNvCxnSpPr>
          <p:nvPr/>
        </p:nvCxnSpPr>
        <p:spPr>
          <a:xfrm flipV="1">
            <a:off x="1890406" y="4019932"/>
            <a:ext cx="1134671" cy="159982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p:cNvCxnSpPr>
            <a:stCxn id="34" idx="3"/>
            <a:endCxn id="49" idx="3"/>
          </p:cNvCxnSpPr>
          <p:nvPr/>
        </p:nvCxnSpPr>
        <p:spPr>
          <a:xfrm>
            <a:off x="6901406" y="4019932"/>
            <a:ext cx="5951" cy="2068640"/>
          </a:xfrm>
          <a:prstGeom prst="bentConnector3">
            <a:avLst>
              <a:gd name="adj1" fmla="val 394137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Curved 62"/>
          <p:cNvCxnSpPr>
            <a:stCxn id="38" idx="3"/>
            <a:endCxn id="37" idx="1"/>
          </p:cNvCxnSpPr>
          <p:nvPr/>
        </p:nvCxnSpPr>
        <p:spPr>
          <a:xfrm flipV="1">
            <a:off x="4843289" y="4931866"/>
            <a:ext cx="449087" cy="91659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8" name="Straight Arrow Connector 267"/>
          <p:cNvCxnSpPr>
            <a:stCxn id="37" idx="2"/>
            <a:endCxn id="48" idx="0"/>
          </p:cNvCxnSpPr>
          <p:nvPr/>
        </p:nvCxnSpPr>
        <p:spPr>
          <a:xfrm>
            <a:off x="6096891" y="5132020"/>
            <a:ext cx="0" cy="197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0" name="Straight Arrow Connector 269"/>
          <p:cNvCxnSpPr>
            <a:stCxn id="48" idx="2"/>
            <a:endCxn id="49" idx="0"/>
          </p:cNvCxnSpPr>
          <p:nvPr/>
        </p:nvCxnSpPr>
        <p:spPr>
          <a:xfrm>
            <a:off x="6096891" y="5729554"/>
            <a:ext cx="5951" cy="1588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7" name="Isosceles Triangle 286"/>
          <p:cNvSpPr/>
          <p:nvPr/>
        </p:nvSpPr>
        <p:spPr>
          <a:xfrm rot="5400000">
            <a:off x="6748162" y="4875203"/>
            <a:ext cx="1091808" cy="154250"/>
          </a:xfrm>
          <a:prstGeom prst="triangle">
            <a:avLst/>
          </a:prstGeom>
          <a:gradFill>
            <a:gsLst>
              <a:gs pos="0">
                <a:schemeClr val="accent1"/>
              </a:gs>
              <a:gs pos="10000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97" name="Picture 96"/>
          <p:cNvPicPr>
            <a:picLocks noChangeAspect="1"/>
          </p:cNvPicPr>
          <p:nvPr/>
        </p:nvPicPr>
        <p:blipFill>
          <a:blip r:embed="rId1"/>
          <a:stretch>
            <a:fillRect/>
          </a:stretch>
        </p:blipFill>
        <p:spPr>
          <a:xfrm>
            <a:off x="7722621" y="4855671"/>
            <a:ext cx="1301938" cy="992794"/>
          </a:xfrm>
          <a:prstGeom prst="rect">
            <a:avLst/>
          </a:prstGeom>
          <a:effectLst>
            <a:outerShdw blurRad="50800" dist="38100" dir="2700000" algn="tl" rotWithShape="0">
              <a:prstClr val="black">
                <a:alpha val="40000"/>
              </a:prstClr>
            </a:outerShdw>
          </a:effectLst>
        </p:spPr>
      </p:pic>
      <p:sp>
        <p:nvSpPr>
          <p:cNvPr id="98" name="Rectangle 97"/>
          <p:cNvSpPr/>
          <p:nvPr/>
        </p:nvSpPr>
        <p:spPr>
          <a:xfrm>
            <a:off x="7679238" y="6025687"/>
            <a:ext cx="1408176" cy="195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知识图谱</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117" name="Picture 116"/>
          <p:cNvPicPr>
            <a:picLocks noChangeAspect="1"/>
          </p:cNvPicPr>
          <p:nvPr/>
        </p:nvPicPr>
        <p:blipFill>
          <a:blip r:embed="rId2"/>
          <a:stretch>
            <a:fillRect/>
          </a:stretch>
        </p:blipFill>
        <p:spPr>
          <a:xfrm>
            <a:off x="7763397" y="3875030"/>
            <a:ext cx="1408176" cy="135728"/>
          </a:xfrm>
          <a:prstGeom prst="rect">
            <a:avLst/>
          </a:prstGeom>
        </p:spPr>
      </p:pic>
      <p:sp>
        <p:nvSpPr>
          <p:cNvPr id="118" name="Rectangle 117"/>
          <p:cNvSpPr/>
          <p:nvPr/>
        </p:nvSpPr>
        <p:spPr>
          <a:xfrm>
            <a:off x="7722621" y="4179002"/>
            <a:ext cx="1408176" cy="195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RAG</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（切块 </a:t>
            </a:r>
            <a:r>
              <a:rPr kumimoji="0" lang="en-US" altLang="zh-CN"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向量）</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25" name="Group 124"/>
          <p:cNvGrpSpPr/>
          <p:nvPr/>
        </p:nvGrpSpPr>
        <p:grpSpPr>
          <a:xfrm>
            <a:off x="10025743" y="3519288"/>
            <a:ext cx="882876" cy="569306"/>
            <a:chOff x="10025743" y="3519288"/>
            <a:chExt cx="882876" cy="569306"/>
          </a:xfrm>
        </p:grpSpPr>
        <p:sp>
          <p:nvSpPr>
            <p:cNvPr id="119" name="Freeform 143"/>
            <p:cNvSpPr>
              <a:spLocks noChangeArrowheads="1"/>
            </p:cNvSpPr>
            <p:nvPr/>
          </p:nvSpPr>
          <p:spPr bwMode="auto">
            <a:xfrm>
              <a:off x="10353072" y="3519288"/>
              <a:ext cx="292100" cy="268817"/>
            </a:xfrm>
            <a:custGeom>
              <a:avLst/>
              <a:gdLst>
                <a:gd name="T0" fmla="*/ 114390 w 609"/>
                <a:gd name="T1" fmla="*/ 165546 h 559"/>
                <a:gd name="T2" fmla="*/ 114390 w 609"/>
                <a:gd name="T3" fmla="*/ 165546 h 559"/>
                <a:gd name="T4" fmla="*/ 91368 w 609"/>
                <a:gd name="T5" fmla="*/ 163022 h 559"/>
                <a:gd name="T6" fmla="*/ 15468 w 609"/>
                <a:gd name="T7" fmla="*/ 193678 h 559"/>
                <a:gd name="T8" fmla="*/ 43166 w 609"/>
                <a:gd name="T9" fmla="*/ 147874 h 559"/>
                <a:gd name="T10" fmla="*/ 0 w 609"/>
                <a:gd name="T11" fmla="*/ 84035 h 559"/>
                <a:gd name="T12" fmla="*/ 114390 w 609"/>
                <a:gd name="T13" fmla="*/ 0 h 559"/>
                <a:gd name="T14" fmla="*/ 218707 w 609"/>
                <a:gd name="T15" fmla="*/ 84035 h 559"/>
                <a:gd name="T16" fmla="*/ 114390 w 609"/>
                <a:gd name="T17" fmla="*/ 165546 h 559"/>
                <a:gd name="T18" fmla="*/ 58634 w 609"/>
                <a:gd name="T19" fmla="*/ 63477 h 559"/>
                <a:gd name="T20" fmla="*/ 58634 w 609"/>
                <a:gd name="T21" fmla="*/ 63477 h 559"/>
                <a:gd name="T22" fmla="*/ 38130 w 609"/>
                <a:gd name="T23" fmla="*/ 84035 h 559"/>
                <a:gd name="T24" fmla="*/ 58634 w 609"/>
                <a:gd name="T25" fmla="*/ 104233 h 559"/>
                <a:gd name="T26" fmla="*/ 78778 w 609"/>
                <a:gd name="T27" fmla="*/ 84035 h 559"/>
                <a:gd name="T28" fmla="*/ 58634 w 609"/>
                <a:gd name="T29" fmla="*/ 63477 h 559"/>
                <a:gd name="T30" fmla="*/ 109354 w 609"/>
                <a:gd name="T31" fmla="*/ 63477 h 559"/>
                <a:gd name="T32" fmla="*/ 109354 w 609"/>
                <a:gd name="T33" fmla="*/ 63477 h 559"/>
                <a:gd name="T34" fmla="*/ 88850 w 609"/>
                <a:gd name="T35" fmla="*/ 84035 h 559"/>
                <a:gd name="T36" fmla="*/ 109354 w 609"/>
                <a:gd name="T37" fmla="*/ 104233 h 559"/>
                <a:gd name="T38" fmla="*/ 129857 w 609"/>
                <a:gd name="T39" fmla="*/ 84035 h 559"/>
                <a:gd name="T40" fmla="*/ 109354 w 609"/>
                <a:gd name="T41" fmla="*/ 63477 h 559"/>
                <a:gd name="T42" fmla="*/ 160074 w 609"/>
                <a:gd name="T43" fmla="*/ 63477 h 559"/>
                <a:gd name="T44" fmla="*/ 160074 w 609"/>
                <a:gd name="T45" fmla="*/ 63477 h 559"/>
                <a:gd name="T46" fmla="*/ 139929 w 609"/>
                <a:gd name="T47" fmla="*/ 84035 h 559"/>
                <a:gd name="T48" fmla="*/ 160074 w 609"/>
                <a:gd name="T49" fmla="*/ 104233 h 559"/>
                <a:gd name="T50" fmla="*/ 180577 w 609"/>
                <a:gd name="T51" fmla="*/ 84035 h 559"/>
                <a:gd name="T52" fmla="*/ 160074 w 609"/>
                <a:gd name="T53" fmla="*/ 63477 h 55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609" h="559">
                  <a:moveTo>
                    <a:pt x="318" y="459"/>
                  </a:moveTo>
                  <a:lnTo>
                    <a:pt x="318" y="459"/>
                  </a:lnTo>
                  <a:cubicBezTo>
                    <a:pt x="297" y="459"/>
                    <a:pt x="276" y="452"/>
                    <a:pt x="254" y="452"/>
                  </a:cubicBezTo>
                  <a:cubicBezTo>
                    <a:pt x="177" y="558"/>
                    <a:pt x="43" y="537"/>
                    <a:pt x="43" y="537"/>
                  </a:cubicBezTo>
                  <a:cubicBezTo>
                    <a:pt x="134" y="494"/>
                    <a:pt x="134" y="417"/>
                    <a:pt x="120" y="410"/>
                  </a:cubicBezTo>
                  <a:cubicBezTo>
                    <a:pt x="43" y="367"/>
                    <a:pt x="0" y="303"/>
                    <a:pt x="0" y="233"/>
                  </a:cubicBezTo>
                  <a:cubicBezTo>
                    <a:pt x="0" y="106"/>
                    <a:pt x="141" y="0"/>
                    <a:pt x="318" y="0"/>
                  </a:cubicBezTo>
                  <a:cubicBezTo>
                    <a:pt x="495" y="0"/>
                    <a:pt x="608" y="106"/>
                    <a:pt x="608" y="233"/>
                  </a:cubicBezTo>
                  <a:cubicBezTo>
                    <a:pt x="608" y="360"/>
                    <a:pt x="495" y="459"/>
                    <a:pt x="318" y="459"/>
                  </a:cubicBezTo>
                  <a:close/>
                  <a:moveTo>
                    <a:pt x="163" y="176"/>
                  </a:moveTo>
                  <a:lnTo>
                    <a:pt x="163" y="176"/>
                  </a:lnTo>
                  <a:cubicBezTo>
                    <a:pt x="134" y="176"/>
                    <a:pt x="106" y="204"/>
                    <a:pt x="106" y="233"/>
                  </a:cubicBezTo>
                  <a:cubicBezTo>
                    <a:pt x="106" y="268"/>
                    <a:pt x="134" y="289"/>
                    <a:pt x="163" y="289"/>
                  </a:cubicBezTo>
                  <a:cubicBezTo>
                    <a:pt x="191" y="289"/>
                    <a:pt x="219" y="268"/>
                    <a:pt x="219" y="233"/>
                  </a:cubicBezTo>
                  <a:cubicBezTo>
                    <a:pt x="219" y="204"/>
                    <a:pt x="191" y="176"/>
                    <a:pt x="163" y="176"/>
                  </a:cubicBezTo>
                  <a:close/>
                  <a:moveTo>
                    <a:pt x="304" y="176"/>
                  </a:moveTo>
                  <a:lnTo>
                    <a:pt x="304" y="176"/>
                  </a:lnTo>
                  <a:cubicBezTo>
                    <a:pt x="276" y="176"/>
                    <a:pt x="247" y="204"/>
                    <a:pt x="247" y="233"/>
                  </a:cubicBezTo>
                  <a:cubicBezTo>
                    <a:pt x="247" y="268"/>
                    <a:pt x="276" y="289"/>
                    <a:pt x="304" y="289"/>
                  </a:cubicBezTo>
                  <a:cubicBezTo>
                    <a:pt x="332" y="289"/>
                    <a:pt x="361" y="268"/>
                    <a:pt x="361" y="233"/>
                  </a:cubicBezTo>
                  <a:cubicBezTo>
                    <a:pt x="361" y="204"/>
                    <a:pt x="332" y="176"/>
                    <a:pt x="304" y="176"/>
                  </a:cubicBezTo>
                  <a:close/>
                  <a:moveTo>
                    <a:pt x="445" y="176"/>
                  </a:moveTo>
                  <a:lnTo>
                    <a:pt x="445" y="176"/>
                  </a:lnTo>
                  <a:cubicBezTo>
                    <a:pt x="417" y="176"/>
                    <a:pt x="389" y="204"/>
                    <a:pt x="389" y="233"/>
                  </a:cubicBezTo>
                  <a:cubicBezTo>
                    <a:pt x="389" y="268"/>
                    <a:pt x="417" y="289"/>
                    <a:pt x="445" y="289"/>
                  </a:cubicBezTo>
                  <a:cubicBezTo>
                    <a:pt x="474" y="289"/>
                    <a:pt x="502" y="268"/>
                    <a:pt x="502" y="233"/>
                  </a:cubicBezTo>
                  <a:cubicBezTo>
                    <a:pt x="502" y="204"/>
                    <a:pt x="474" y="176"/>
                    <a:pt x="445" y="176"/>
                  </a:cubicBezTo>
                  <a:close/>
                </a:path>
              </a:pathLst>
            </a:custGeom>
            <a:solidFill>
              <a:schemeClr val="accent1"/>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0" name="Rectangle 119"/>
            <p:cNvSpPr/>
            <p:nvPr/>
          </p:nvSpPr>
          <p:spPr>
            <a:xfrm>
              <a:off x="10025743" y="3819777"/>
              <a:ext cx="882876" cy="2688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政策解读</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26" name="Group 125"/>
          <p:cNvGrpSpPr/>
          <p:nvPr/>
        </p:nvGrpSpPr>
        <p:grpSpPr>
          <a:xfrm>
            <a:off x="10057684" y="4367946"/>
            <a:ext cx="882876" cy="529800"/>
            <a:chOff x="10057684" y="4367946"/>
            <a:chExt cx="882876" cy="529800"/>
          </a:xfrm>
        </p:grpSpPr>
        <p:sp>
          <p:nvSpPr>
            <p:cNvPr id="121" name="Freeform 109"/>
            <p:cNvSpPr>
              <a:spLocks noEditPoints="1"/>
            </p:cNvSpPr>
            <p:nvPr/>
          </p:nvSpPr>
          <p:spPr bwMode="auto">
            <a:xfrm>
              <a:off x="10341239" y="4367946"/>
              <a:ext cx="251883" cy="251883"/>
            </a:xfrm>
            <a:custGeom>
              <a:avLst/>
              <a:gdLst>
                <a:gd name="T0" fmla="*/ 2147483646 w 55"/>
                <a:gd name="T1" fmla="*/ 2147483646 h 55"/>
                <a:gd name="T2" fmla="*/ 0 w 55"/>
                <a:gd name="T3" fmla="*/ 2147483646 h 55"/>
                <a:gd name="T4" fmla="*/ 2147483646 w 55"/>
                <a:gd name="T5" fmla="*/ 0 h 55"/>
                <a:gd name="T6" fmla="*/ 2147483646 w 55"/>
                <a:gd name="T7" fmla="*/ 2147483646 h 55"/>
                <a:gd name="T8" fmla="*/ 2147483646 w 55"/>
                <a:gd name="T9" fmla="*/ 2147483646 h 55"/>
                <a:gd name="T10" fmla="*/ 2147483646 w 55"/>
                <a:gd name="T11" fmla="*/ 2147483646 h 55"/>
                <a:gd name="T12" fmla="*/ 2147483646 w 55"/>
                <a:gd name="T13" fmla="*/ 2147483646 h 55"/>
                <a:gd name="T14" fmla="*/ 2147483646 w 55"/>
                <a:gd name="T15" fmla="*/ 2147483646 h 55"/>
                <a:gd name="T16" fmla="*/ 2147483646 w 55"/>
                <a:gd name="T17" fmla="*/ 2147483646 h 55"/>
                <a:gd name="T18" fmla="*/ 2147483646 w 55"/>
                <a:gd name="T19" fmla="*/ 2147483646 h 55"/>
                <a:gd name="T20" fmla="*/ 2147483646 w 55"/>
                <a:gd name="T21" fmla="*/ 2147483646 h 55"/>
                <a:gd name="T22" fmla="*/ 2147483646 w 55"/>
                <a:gd name="T23" fmla="*/ 2147483646 h 55"/>
                <a:gd name="T24" fmla="*/ 2147483646 w 55"/>
                <a:gd name="T25" fmla="*/ 2147483646 h 55"/>
                <a:gd name="T26" fmla="*/ 2147483646 w 55"/>
                <a:gd name="T27" fmla="*/ 2147483646 h 55"/>
                <a:gd name="T28" fmla="*/ 2147483646 w 55"/>
                <a:gd name="T29" fmla="*/ 2147483646 h 55"/>
                <a:gd name="T30" fmla="*/ 2147483646 w 55"/>
                <a:gd name="T31" fmla="*/ 2147483646 h 55"/>
                <a:gd name="T32" fmla="*/ 2147483646 w 55"/>
                <a:gd name="T33" fmla="*/ 2147483646 h 55"/>
                <a:gd name="T34" fmla="*/ 2147483646 w 55"/>
                <a:gd name="T35" fmla="*/ 2147483646 h 55"/>
                <a:gd name="T36" fmla="*/ 2147483646 w 55"/>
                <a:gd name="T37" fmla="*/ 2147483646 h 55"/>
                <a:gd name="T38" fmla="*/ 2147483646 w 55"/>
                <a:gd name="T39" fmla="*/ 2147483646 h 55"/>
                <a:gd name="T40" fmla="*/ 2147483646 w 55"/>
                <a:gd name="T41" fmla="*/ 2147483646 h 55"/>
                <a:gd name="T42" fmla="*/ 2147483646 w 55"/>
                <a:gd name="T43" fmla="*/ 2147483646 h 55"/>
                <a:gd name="T44" fmla="*/ 2147483646 w 55"/>
                <a:gd name="T45" fmla="*/ 2147483646 h 55"/>
                <a:gd name="T46" fmla="*/ 2147483646 w 55"/>
                <a:gd name="T47" fmla="*/ 2147483646 h 55"/>
                <a:gd name="T48" fmla="*/ 2147483646 w 55"/>
                <a:gd name="T49" fmla="*/ 2147483646 h 55"/>
                <a:gd name="T50" fmla="*/ 2147483646 w 55"/>
                <a:gd name="T51" fmla="*/ 2147483646 h 55"/>
                <a:gd name="T52" fmla="*/ 2147483646 w 55"/>
                <a:gd name="T53" fmla="*/ 2147483646 h 55"/>
                <a:gd name="T54" fmla="*/ 2147483646 w 55"/>
                <a:gd name="T55" fmla="*/ 2147483646 h 55"/>
                <a:gd name="T56" fmla="*/ 2147483646 w 55"/>
                <a:gd name="T57" fmla="*/ 2147483646 h 55"/>
                <a:gd name="T58" fmla="*/ 2147483646 w 55"/>
                <a:gd name="T59" fmla="*/ 2147483646 h 55"/>
                <a:gd name="T60" fmla="*/ 2147483646 w 55"/>
                <a:gd name="T61" fmla="*/ 2147483646 h 55"/>
                <a:gd name="T62" fmla="*/ 2147483646 w 55"/>
                <a:gd name="T63" fmla="*/ 2147483646 h 5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36" y="39"/>
                  </a:moveTo>
                  <a:cubicBezTo>
                    <a:pt x="36" y="38"/>
                    <a:pt x="36" y="37"/>
                    <a:pt x="35" y="37"/>
                  </a:cubicBezTo>
                  <a:cubicBezTo>
                    <a:pt x="32" y="37"/>
                    <a:pt x="32" y="37"/>
                    <a:pt x="32" y="37"/>
                  </a:cubicBezTo>
                  <a:cubicBezTo>
                    <a:pt x="32" y="19"/>
                    <a:pt x="32" y="19"/>
                    <a:pt x="32" y="19"/>
                  </a:cubicBezTo>
                  <a:cubicBezTo>
                    <a:pt x="32" y="19"/>
                    <a:pt x="31" y="18"/>
                    <a:pt x="31" y="18"/>
                  </a:cubicBezTo>
                  <a:cubicBezTo>
                    <a:pt x="19" y="18"/>
                    <a:pt x="19" y="18"/>
                    <a:pt x="19" y="18"/>
                  </a:cubicBezTo>
                  <a:cubicBezTo>
                    <a:pt x="19" y="18"/>
                    <a:pt x="18" y="19"/>
                    <a:pt x="18" y="19"/>
                  </a:cubicBezTo>
                  <a:cubicBezTo>
                    <a:pt x="18" y="25"/>
                    <a:pt x="18" y="25"/>
                    <a:pt x="18" y="25"/>
                  </a:cubicBezTo>
                  <a:cubicBezTo>
                    <a:pt x="18" y="26"/>
                    <a:pt x="19" y="26"/>
                    <a:pt x="19" y="26"/>
                  </a:cubicBezTo>
                  <a:cubicBezTo>
                    <a:pt x="23" y="26"/>
                    <a:pt x="23" y="26"/>
                    <a:pt x="23" y="26"/>
                  </a:cubicBezTo>
                  <a:cubicBezTo>
                    <a:pt x="23" y="37"/>
                    <a:pt x="23" y="37"/>
                    <a:pt x="23" y="37"/>
                  </a:cubicBezTo>
                  <a:cubicBezTo>
                    <a:pt x="19" y="37"/>
                    <a:pt x="19" y="37"/>
                    <a:pt x="19" y="37"/>
                  </a:cubicBezTo>
                  <a:cubicBezTo>
                    <a:pt x="19" y="37"/>
                    <a:pt x="18" y="38"/>
                    <a:pt x="18" y="39"/>
                  </a:cubicBezTo>
                  <a:cubicBezTo>
                    <a:pt x="18" y="44"/>
                    <a:pt x="18" y="44"/>
                    <a:pt x="18" y="44"/>
                  </a:cubicBezTo>
                  <a:cubicBezTo>
                    <a:pt x="18" y="45"/>
                    <a:pt x="19" y="45"/>
                    <a:pt x="19" y="45"/>
                  </a:cubicBezTo>
                  <a:cubicBezTo>
                    <a:pt x="35" y="45"/>
                    <a:pt x="35" y="45"/>
                    <a:pt x="35" y="45"/>
                  </a:cubicBezTo>
                  <a:cubicBezTo>
                    <a:pt x="36" y="45"/>
                    <a:pt x="36" y="45"/>
                    <a:pt x="36" y="44"/>
                  </a:cubicBezTo>
                  <a:lnTo>
                    <a:pt x="36" y="39"/>
                  </a:lnTo>
                  <a:close/>
                  <a:moveTo>
                    <a:pt x="32" y="7"/>
                  </a:moveTo>
                  <a:cubicBezTo>
                    <a:pt x="32" y="6"/>
                    <a:pt x="31" y="5"/>
                    <a:pt x="31" y="5"/>
                  </a:cubicBezTo>
                  <a:cubicBezTo>
                    <a:pt x="24" y="5"/>
                    <a:pt x="24" y="5"/>
                    <a:pt x="24" y="5"/>
                  </a:cubicBezTo>
                  <a:cubicBezTo>
                    <a:pt x="23" y="5"/>
                    <a:pt x="23" y="6"/>
                    <a:pt x="23" y="7"/>
                  </a:cubicBezTo>
                  <a:cubicBezTo>
                    <a:pt x="23" y="12"/>
                    <a:pt x="23" y="12"/>
                    <a:pt x="23" y="12"/>
                  </a:cubicBezTo>
                  <a:cubicBezTo>
                    <a:pt x="23" y="13"/>
                    <a:pt x="23" y="13"/>
                    <a:pt x="24" y="13"/>
                  </a:cubicBezTo>
                  <a:cubicBezTo>
                    <a:pt x="31" y="13"/>
                    <a:pt x="31" y="13"/>
                    <a:pt x="31" y="13"/>
                  </a:cubicBezTo>
                  <a:cubicBezTo>
                    <a:pt x="31" y="13"/>
                    <a:pt x="32" y="13"/>
                    <a:pt x="32" y="12"/>
                  </a:cubicBezTo>
                  <a:lnTo>
                    <a:pt x="32" y="7"/>
                  </a:ln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2" name="Rectangle 121"/>
            <p:cNvSpPr/>
            <p:nvPr/>
          </p:nvSpPr>
          <p:spPr>
            <a:xfrm>
              <a:off x="10057684" y="4628929"/>
              <a:ext cx="882876" cy="2688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关联检索</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27" name="Group 126"/>
          <p:cNvGrpSpPr/>
          <p:nvPr/>
        </p:nvGrpSpPr>
        <p:grpSpPr>
          <a:xfrm>
            <a:off x="10058817" y="5128666"/>
            <a:ext cx="882876" cy="537965"/>
            <a:chOff x="10058817" y="5128666"/>
            <a:chExt cx="882876" cy="537965"/>
          </a:xfrm>
        </p:grpSpPr>
        <p:sp>
          <p:nvSpPr>
            <p:cNvPr id="123" name="Freeform 44"/>
            <p:cNvSpPr>
              <a:spLocks noEditPoints="1"/>
            </p:cNvSpPr>
            <p:nvPr/>
          </p:nvSpPr>
          <p:spPr bwMode="auto">
            <a:xfrm>
              <a:off x="10341239" y="5128666"/>
              <a:ext cx="268817" cy="275167"/>
            </a:xfrm>
            <a:custGeom>
              <a:avLst/>
              <a:gdLst>
                <a:gd name="T0" fmla="*/ 2147483646 w 59"/>
                <a:gd name="T1" fmla="*/ 2147483646 h 60"/>
                <a:gd name="T2" fmla="*/ 2147483646 w 59"/>
                <a:gd name="T3" fmla="*/ 2147483646 h 60"/>
                <a:gd name="T4" fmla="*/ 2147483646 w 59"/>
                <a:gd name="T5" fmla="*/ 2147483646 h 60"/>
                <a:gd name="T6" fmla="*/ 2147483646 w 59"/>
                <a:gd name="T7" fmla="*/ 2147483646 h 60"/>
                <a:gd name="T8" fmla="*/ 2147483646 w 59"/>
                <a:gd name="T9" fmla="*/ 2147483646 h 60"/>
                <a:gd name="T10" fmla="*/ 2147483646 w 59"/>
                <a:gd name="T11" fmla="*/ 2147483646 h 60"/>
                <a:gd name="T12" fmla="*/ 2147483646 w 59"/>
                <a:gd name="T13" fmla="*/ 2147483646 h 60"/>
                <a:gd name="T14" fmla="*/ 2147483646 w 59"/>
                <a:gd name="T15" fmla="*/ 2147483646 h 60"/>
                <a:gd name="T16" fmla="*/ 2147483646 w 59"/>
                <a:gd name="T17" fmla="*/ 2147483646 h 60"/>
                <a:gd name="T18" fmla="*/ 2147483646 w 59"/>
                <a:gd name="T19" fmla="*/ 2147483646 h 60"/>
                <a:gd name="T20" fmla="*/ 2147483646 w 59"/>
                <a:gd name="T21" fmla="*/ 2147483646 h 60"/>
                <a:gd name="T22" fmla="*/ 2147483646 w 59"/>
                <a:gd name="T23" fmla="*/ 2147483646 h 60"/>
                <a:gd name="T24" fmla="*/ 2147483646 w 59"/>
                <a:gd name="T25" fmla="*/ 2147483646 h 60"/>
                <a:gd name="T26" fmla="*/ 2147483646 w 59"/>
                <a:gd name="T27" fmla="*/ 2147483646 h 60"/>
                <a:gd name="T28" fmla="*/ 2147483646 w 59"/>
                <a:gd name="T29" fmla="*/ 2147483646 h 60"/>
                <a:gd name="T30" fmla="*/ 2147483646 w 59"/>
                <a:gd name="T31" fmla="*/ 2147483646 h 60"/>
                <a:gd name="T32" fmla="*/ 2147483646 w 59"/>
                <a:gd name="T33" fmla="*/ 2147483646 h 60"/>
                <a:gd name="T34" fmla="*/ 2147483646 w 59"/>
                <a:gd name="T35" fmla="*/ 2147483646 h 60"/>
                <a:gd name="T36" fmla="*/ 2147483646 w 59"/>
                <a:gd name="T37" fmla="*/ 2147483646 h 60"/>
                <a:gd name="T38" fmla="*/ 2147483646 w 59"/>
                <a:gd name="T39" fmla="*/ 2147483646 h 60"/>
                <a:gd name="T40" fmla="*/ 2147483646 w 59"/>
                <a:gd name="T41" fmla="*/ 2147483646 h 60"/>
                <a:gd name="T42" fmla="*/ 2147483646 w 59"/>
                <a:gd name="T43" fmla="*/ 2147483646 h 60"/>
                <a:gd name="T44" fmla="*/ 2147483646 w 59"/>
                <a:gd name="T45" fmla="*/ 2147483646 h 60"/>
                <a:gd name="T46" fmla="*/ 2147483646 w 59"/>
                <a:gd name="T47" fmla="*/ 2147483646 h 60"/>
                <a:gd name="T48" fmla="*/ 2147483646 w 59"/>
                <a:gd name="T49" fmla="*/ 2147483646 h 60"/>
                <a:gd name="T50" fmla="*/ 2147483646 w 59"/>
                <a:gd name="T51" fmla="*/ 2147483646 h 60"/>
                <a:gd name="T52" fmla="*/ 2147483646 w 59"/>
                <a:gd name="T53" fmla="*/ 2147483646 h 60"/>
                <a:gd name="T54" fmla="*/ 2147483646 w 59"/>
                <a:gd name="T55" fmla="*/ 2147483646 h 60"/>
                <a:gd name="T56" fmla="*/ 2147483646 w 59"/>
                <a:gd name="T57" fmla="*/ 2147483646 h 60"/>
                <a:gd name="T58" fmla="*/ 2147483646 w 59"/>
                <a:gd name="T59" fmla="*/ 2147483646 h 60"/>
                <a:gd name="T60" fmla="*/ 2147483646 w 59"/>
                <a:gd name="T61" fmla="*/ 2147483646 h 60"/>
                <a:gd name="T62" fmla="*/ 2147483646 w 59"/>
                <a:gd name="T63" fmla="*/ 0 h 60"/>
                <a:gd name="T64" fmla="*/ 2147483646 w 59"/>
                <a:gd name="T65" fmla="*/ 2147483646 h 60"/>
                <a:gd name="T66" fmla="*/ 2147483646 w 59"/>
                <a:gd name="T67" fmla="*/ 2147483646 h 60"/>
                <a:gd name="T68" fmla="*/ 2147483646 w 59"/>
                <a:gd name="T69" fmla="*/ 2147483646 h 60"/>
                <a:gd name="T70" fmla="*/ 2147483646 w 59"/>
                <a:gd name="T71" fmla="*/ 2147483646 h 60"/>
                <a:gd name="T72" fmla="*/ 2147483646 w 59"/>
                <a:gd name="T73" fmla="*/ 2147483646 h 60"/>
                <a:gd name="T74" fmla="*/ 2147483646 w 59"/>
                <a:gd name="T75" fmla="*/ 2147483646 h 60"/>
                <a:gd name="T76" fmla="*/ 2147483646 w 59"/>
                <a:gd name="T77" fmla="*/ 2147483646 h 60"/>
                <a:gd name="T78" fmla="*/ 2147483646 w 59"/>
                <a:gd name="T79" fmla="*/ 2147483646 h 6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9" h="60">
                  <a:moveTo>
                    <a:pt x="12" y="40"/>
                  </a:moveTo>
                  <a:cubicBezTo>
                    <a:pt x="1" y="40"/>
                    <a:pt x="1" y="40"/>
                    <a:pt x="1" y="40"/>
                  </a:cubicBezTo>
                  <a:cubicBezTo>
                    <a:pt x="0" y="40"/>
                    <a:pt x="0" y="40"/>
                    <a:pt x="0" y="39"/>
                  </a:cubicBezTo>
                  <a:cubicBezTo>
                    <a:pt x="0" y="39"/>
                    <a:pt x="0" y="38"/>
                    <a:pt x="1" y="38"/>
                  </a:cubicBezTo>
                  <a:cubicBezTo>
                    <a:pt x="12" y="38"/>
                    <a:pt x="12" y="38"/>
                    <a:pt x="12" y="38"/>
                  </a:cubicBezTo>
                  <a:cubicBezTo>
                    <a:pt x="13" y="38"/>
                    <a:pt x="13" y="39"/>
                    <a:pt x="13" y="39"/>
                  </a:cubicBezTo>
                  <a:cubicBezTo>
                    <a:pt x="13" y="40"/>
                    <a:pt x="13" y="40"/>
                    <a:pt x="12" y="40"/>
                  </a:cubicBezTo>
                  <a:close/>
                  <a:moveTo>
                    <a:pt x="28" y="19"/>
                  </a:moveTo>
                  <a:cubicBezTo>
                    <a:pt x="18" y="9"/>
                    <a:pt x="18" y="9"/>
                    <a:pt x="18" y="9"/>
                  </a:cubicBezTo>
                  <a:cubicBezTo>
                    <a:pt x="18" y="8"/>
                    <a:pt x="17" y="8"/>
                    <a:pt x="16" y="8"/>
                  </a:cubicBezTo>
                  <a:cubicBezTo>
                    <a:pt x="15" y="8"/>
                    <a:pt x="14" y="8"/>
                    <a:pt x="13" y="9"/>
                  </a:cubicBezTo>
                  <a:cubicBezTo>
                    <a:pt x="8" y="14"/>
                    <a:pt x="8" y="14"/>
                    <a:pt x="8" y="14"/>
                  </a:cubicBezTo>
                  <a:cubicBezTo>
                    <a:pt x="8" y="15"/>
                    <a:pt x="7" y="15"/>
                    <a:pt x="7" y="16"/>
                  </a:cubicBezTo>
                  <a:cubicBezTo>
                    <a:pt x="7" y="17"/>
                    <a:pt x="8" y="18"/>
                    <a:pt x="8" y="19"/>
                  </a:cubicBezTo>
                  <a:cubicBezTo>
                    <a:pt x="18" y="29"/>
                    <a:pt x="18" y="29"/>
                    <a:pt x="18" y="29"/>
                  </a:cubicBezTo>
                  <a:cubicBezTo>
                    <a:pt x="17" y="37"/>
                    <a:pt x="17" y="37"/>
                    <a:pt x="17" y="37"/>
                  </a:cubicBezTo>
                  <a:cubicBezTo>
                    <a:pt x="17" y="37"/>
                    <a:pt x="16" y="36"/>
                    <a:pt x="15" y="36"/>
                  </a:cubicBezTo>
                  <a:cubicBezTo>
                    <a:pt x="3" y="24"/>
                    <a:pt x="3" y="24"/>
                    <a:pt x="3" y="24"/>
                  </a:cubicBezTo>
                  <a:cubicBezTo>
                    <a:pt x="1" y="22"/>
                    <a:pt x="0" y="19"/>
                    <a:pt x="0" y="16"/>
                  </a:cubicBezTo>
                  <a:cubicBezTo>
                    <a:pt x="0" y="14"/>
                    <a:pt x="1" y="11"/>
                    <a:pt x="3" y="9"/>
                  </a:cubicBezTo>
                  <a:cubicBezTo>
                    <a:pt x="9" y="4"/>
                    <a:pt x="9" y="4"/>
                    <a:pt x="9" y="4"/>
                  </a:cubicBezTo>
                  <a:cubicBezTo>
                    <a:pt x="11" y="2"/>
                    <a:pt x="13" y="1"/>
                    <a:pt x="16" y="1"/>
                  </a:cubicBezTo>
                  <a:cubicBezTo>
                    <a:pt x="19" y="1"/>
                    <a:pt x="21" y="2"/>
                    <a:pt x="23" y="4"/>
                  </a:cubicBezTo>
                  <a:cubicBezTo>
                    <a:pt x="35" y="16"/>
                    <a:pt x="35" y="16"/>
                    <a:pt x="35" y="16"/>
                  </a:cubicBezTo>
                  <a:cubicBezTo>
                    <a:pt x="36" y="17"/>
                    <a:pt x="36" y="17"/>
                    <a:pt x="37" y="18"/>
                  </a:cubicBezTo>
                  <a:lnTo>
                    <a:pt x="28" y="19"/>
                  </a:lnTo>
                  <a:close/>
                  <a:moveTo>
                    <a:pt x="6" y="55"/>
                  </a:moveTo>
                  <a:cubicBezTo>
                    <a:pt x="6" y="55"/>
                    <a:pt x="6" y="55"/>
                    <a:pt x="5" y="55"/>
                  </a:cubicBezTo>
                  <a:cubicBezTo>
                    <a:pt x="5" y="55"/>
                    <a:pt x="5" y="55"/>
                    <a:pt x="5" y="55"/>
                  </a:cubicBezTo>
                  <a:cubicBezTo>
                    <a:pt x="4" y="54"/>
                    <a:pt x="4" y="54"/>
                    <a:pt x="5" y="53"/>
                  </a:cubicBezTo>
                  <a:cubicBezTo>
                    <a:pt x="14" y="44"/>
                    <a:pt x="14" y="44"/>
                    <a:pt x="14" y="44"/>
                  </a:cubicBezTo>
                  <a:cubicBezTo>
                    <a:pt x="14" y="44"/>
                    <a:pt x="15" y="44"/>
                    <a:pt x="15" y="44"/>
                  </a:cubicBezTo>
                  <a:cubicBezTo>
                    <a:pt x="16" y="45"/>
                    <a:pt x="16" y="45"/>
                    <a:pt x="15" y="46"/>
                  </a:cubicBezTo>
                  <a:lnTo>
                    <a:pt x="6" y="55"/>
                  </a:lnTo>
                  <a:close/>
                  <a:moveTo>
                    <a:pt x="21" y="59"/>
                  </a:moveTo>
                  <a:cubicBezTo>
                    <a:pt x="21" y="59"/>
                    <a:pt x="21" y="60"/>
                    <a:pt x="20" y="60"/>
                  </a:cubicBezTo>
                  <a:cubicBezTo>
                    <a:pt x="20" y="60"/>
                    <a:pt x="19" y="59"/>
                    <a:pt x="19" y="59"/>
                  </a:cubicBezTo>
                  <a:cubicBezTo>
                    <a:pt x="19" y="47"/>
                    <a:pt x="19" y="47"/>
                    <a:pt x="19" y="47"/>
                  </a:cubicBezTo>
                  <a:cubicBezTo>
                    <a:pt x="19" y="47"/>
                    <a:pt x="20" y="46"/>
                    <a:pt x="20" y="46"/>
                  </a:cubicBezTo>
                  <a:cubicBezTo>
                    <a:pt x="21" y="46"/>
                    <a:pt x="21" y="47"/>
                    <a:pt x="21" y="47"/>
                  </a:cubicBezTo>
                  <a:lnTo>
                    <a:pt x="21" y="59"/>
                  </a:lnTo>
                  <a:close/>
                  <a:moveTo>
                    <a:pt x="56" y="51"/>
                  </a:moveTo>
                  <a:cubicBezTo>
                    <a:pt x="50" y="56"/>
                    <a:pt x="50" y="56"/>
                    <a:pt x="50" y="56"/>
                  </a:cubicBezTo>
                  <a:cubicBezTo>
                    <a:pt x="48" y="58"/>
                    <a:pt x="46" y="59"/>
                    <a:pt x="43" y="59"/>
                  </a:cubicBezTo>
                  <a:cubicBezTo>
                    <a:pt x="40" y="59"/>
                    <a:pt x="38" y="58"/>
                    <a:pt x="36" y="56"/>
                  </a:cubicBezTo>
                  <a:cubicBezTo>
                    <a:pt x="24" y="44"/>
                    <a:pt x="24" y="44"/>
                    <a:pt x="24" y="44"/>
                  </a:cubicBezTo>
                  <a:cubicBezTo>
                    <a:pt x="23" y="44"/>
                    <a:pt x="23" y="43"/>
                    <a:pt x="22" y="42"/>
                  </a:cubicBezTo>
                  <a:cubicBezTo>
                    <a:pt x="31" y="42"/>
                    <a:pt x="31" y="42"/>
                    <a:pt x="31" y="42"/>
                  </a:cubicBezTo>
                  <a:cubicBezTo>
                    <a:pt x="41" y="51"/>
                    <a:pt x="41" y="51"/>
                    <a:pt x="41" y="51"/>
                  </a:cubicBezTo>
                  <a:cubicBezTo>
                    <a:pt x="42" y="53"/>
                    <a:pt x="44" y="53"/>
                    <a:pt x="45" y="51"/>
                  </a:cubicBezTo>
                  <a:cubicBezTo>
                    <a:pt x="51" y="46"/>
                    <a:pt x="51" y="46"/>
                    <a:pt x="51" y="46"/>
                  </a:cubicBezTo>
                  <a:cubicBezTo>
                    <a:pt x="51" y="46"/>
                    <a:pt x="52" y="45"/>
                    <a:pt x="52" y="44"/>
                  </a:cubicBezTo>
                  <a:cubicBezTo>
                    <a:pt x="52" y="43"/>
                    <a:pt x="51" y="42"/>
                    <a:pt x="51" y="41"/>
                  </a:cubicBezTo>
                  <a:cubicBezTo>
                    <a:pt x="41" y="32"/>
                    <a:pt x="41" y="32"/>
                    <a:pt x="41" y="32"/>
                  </a:cubicBezTo>
                  <a:cubicBezTo>
                    <a:pt x="42" y="23"/>
                    <a:pt x="42" y="23"/>
                    <a:pt x="42" y="23"/>
                  </a:cubicBezTo>
                  <a:cubicBezTo>
                    <a:pt x="42" y="23"/>
                    <a:pt x="43" y="24"/>
                    <a:pt x="44" y="24"/>
                  </a:cubicBezTo>
                  <a:cubicBezTo>
                    <a:pt x="56" y="36"/>
                    <a:pt x="56" y="36"/>
                    <a:pt x="56" y="36"/>
                  </a:cubicBezTo>
                  <a:cubicBezTo>
                    <a:pt x="58" y="38"/>
                    <a:pt x="59" y="41"/>
                    <a:pt x="59" y="44"/>
                  </a:cubicBezTo>
                  <a:cubicBezTo>
                    <a:pt x="59" y="47"/>
                    <a:pt x="58" y="49"/>
                    <a:pt x="56" y="51"/>
                  </a:cubicBezTo>
                  <a:close/>
                  <a:moveTo>
                    <a:pt x="40" y="13"/>
                  </a:moveTo>
                  <a:cubicBezTo>
                    <a:pt x="40" y="14"/>
                    <a:pt x="39" y="14"/>
                    <a:pt x="39" y="14"/>
                  </a:cubicBezTo>
                  <a:cubicBezTo>
                    <a:pt x="38" y="14"/>
                    <a:pt x="37" y="14"/>
                    <a:pt x="37" y="13"/>
                  </a:cubicBezTo>
                  <a:cubicBezTo>
                    <a:pt x="37" y="1"/>
                    <a:pt x="37" y="1"/>
                    <a:pt x="37" y="1"/>
                  </a:cubicBezTo>
                  <a:cubicBezTo>
                    <a:pt x="37" y="1"/>
                    <a:pt x="38" y="0"/>
                    <a:pt x="39" y="0"/>
                  </a:cubicBezTo>
                  <a:cubicBezTo>
                    <a:pt x="39" y="0"/>
                    <a:pt x="40" y="1"/>
                    <a:pt x="40" y="1"/>
                  </a:cubicBezTo>
                  <a:lnTo>
                    <a:pt x="40" y="13"/>
                  </a:lnTo>
                  <a:close/>
                  <a:moveTo>
                    <a:pt x="45" y="16"/>
                  </a:moveTo>
                  <a:cubicBezTo>
                    <a:pt x="45" y="16"/>
                    <a:pt x="45" y="16"/>
                    <a:pt x="44" y="16"/>
                  </a:cubicBezTo>
                  <a:cubicBezTo>
                    <a:pt x="44" y="16"/>
                    <a:pt x="44" y="16"/>
                    <a:pt x="43" y="16"/>
                  </a:cubicBezTo>
                  <a:cubicBezTo>
                    <a:pt x="43" y="16"/>
                    <a:pt x="43" y="15"/>
                    <a:pt x="43" y="14"/>
                  </a:cubicBezTo>
                  <a:cubicBezTo>
                    <a:pt x="53" y="5"/>
                    <a:pt x="53" y="5"/>
                    <a:pt x="53" y="5"/>
                  </a:cubicBezTo>
                  <a:cubicBezTo>
                    <a:pt x="53" y="5"/>
                    <a:pt x="54" y="5"/>
                    <a:pt x="54" y="5"/>
                  </a:cubicBezTo>
                  <a:cubicBezTo>
                    <a:pt x="55" y="6"/>
                    <a:pt x="55" y="6"/>
                    <a:pt x="54" y="7"/>
                  </a:cubicBezTo>
                  <a:lnTo>
                    <a:pt x="45" y="16"/>
                  </a:lnTo>
                  <a:close/>
                  <a:moveTo>
                    <a:pt x="58" y="22"/>
                  </a:moveTo>
                  <a:cubicBezTo>
                    <a:pt x="47" y="22"/>
                    <a:pt x="47" y="22"/>
                    <a:pt x="47" y="22"/>
                  </a:cubicBezTo>
                  <a:cubicBezTo>
                    <a:pt x="46" y="22"/>
                    <a:pt x="45" y="22"/>
                    <a:pt x="45" y="21"/>
                  </a:cubicBezTo>
                  <a:cubicBezTo>
                    <a:pt x="45" y="20"/>
                    <a:pt x="46" y="20"/>
                    <a:pt x="47" y="20"/>
                  </a:cubicBezTo>
                  <a:cubicBezTo>
                    <a:pt x="58" y="20"/>
                    <a:pt x="58" y="20"/>
                    <a:pt x="58" y="20"/>
                  </a:cubicBezTo>
                  <a:cubicBezTo>
                    <a:pt x="59" y="20"/>
                    <a:pt x="59" y="20"/>
                    <a:pt x="59" y="21"/>
                  </a:cubicBezTo>
                  <a:cubicBezTo>
                    <a:pt x="59" y="22"/>
                    <a:pt x="59" y="22"/>
                    <a:pt x="58" y="22"/>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4" name="Rectangle 123"/>
            <p:cNvSpPr/>
            <p:nvPr/>
          </p:nvSpPr>
          <p:spPr>
            <a:xfrm>
              <a:off x="10058817" y="5397814"/>
              <a:ext cx="882876" cy="2688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风险传导</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28" name="Rectangle 127"/>
          <p:cNvSpPr/>
          <p:nvPr/>
        </p:nvSpPr>
        <p:spPr>
          <a:xfrm>
            <a:off x="10057684" y="5923144"/>
            <a:ext cx="882876" cy="2688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43" name="Connector: Curved 142"/>
          <p:cNvCxnSpPr>
            <a:stCxn id="118" idx="3"/>
            <a:endCxn id="122" idx="1"/>
          </p:cNvCxnSpPr>
          <p:nvPr/>
        </p:nvCxnSpPr>
        <p:spPr>
          <a:xfrm>
            <a:off x="9131300" y="4276725"/>
            <a:ext cx="926465" cy="487045"/>
          </a:xfrm>
          <a:prstGeom prst="curvedConnector3">
            <a:avLst>
              <a:gd name="adj1" fmla="val 500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Connector: Curved 144"/>
          <p:cNvCxnSpPr>
            <a:stCxn id="118" idx="3"/>
            <a:endCxn id="120" idx="1"/>
          </p:cNvCxnSpPr>
          <p:nvPr/>
        </p:nvCxnSpPr>
        <p:spPr>
          <a:xfrm flipV="1">
            <a:off x="9131300" y="3954145"/>
            <a:ext cx="894715" cy="322580"/>
          </a:xfrm>
          <a:prstGeom prst="curvedConnector3">
            <a:avLst>
              <a:gd name="adj1" fmla="val 5003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Connector: Curved 146"/>
          <p:cNvCxnSpPr>
            <a:stCxn id="118" idx="3"/>
            <a:endCxn id="124" idx="1"/>
          </p:cNvCxnSpPr>
          <p:nvPr/>
        </p:nvCxnSpPr>
        <p:spPr>
          <a:xfrm>
            <a:off x="9131300" y="4276725"/>
            <a:ext cx="927735" cy="1255395"/>
          </a:xfrm>
          <a:prstGeom prst="curvedConnector3">
            <a:avLst>
              <a:gd name="adj1" fmla="val 500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Connector: Curved 152"/>
          <p:cNvCxnSpPr>
            <a:stCxn id="97" idx="3"/>
            <a:endCxn id="120" idx="1"/>
          </p:cNvCxnSpPr>
          <p:nvPr/>
        </p:nvCxnSpPr>
        <p:spPr>
          <a:xfrm flipV="1">
            <a:off x="9024559" y="3954186"/>
            <a:ext cx="1001184" cy="139788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Connector: Curved 154"/>
          <p:cNvCxnSpPr>
            <a:stCxn id="97" idx="3"/>
            <a:endCxn id="122" idx="1"/>
          </p:cNvCxnSpPr>
          <p:nvPr/>
        </p:nvCxnSpPr>
        <p:spPr>
          <a:xfrm flipV="1">
            <a:off x="9024559" y="4763338"/>
            <a:ext cx="1033125" cy="58873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7" name="Connector: Curved 156"/>
          <p:cNvCxnSpPr>
            <a:stCxn id="97" idx="3"/>
            <a:endCxn id="124" idx="1"/>
          </p:cNvCxnSpPr>
          <p:nvPr/>
        </p:nvCxnSpPr>
        <p:spPr>
          <a:xfrm>
            <a:off x="9024559" y="5352068"/>
            <a:ext cx="1034258" cy="18015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31" name="Group 130"/>
          <p:cNvGrpSpPr/>
          <p:nvPr/>
        </p:nvGrpSpPr>
        <p:grpSpPr>
          <a:xfrm>
            <a:off x="9267268" y="5066726"/>
            <a:ext cx="564887" cy="739080"/>
            <a:chOff x="9345747" y="5109385"/>
            <a:chExt cx="564887" cy="739080"/>
          </a:xfrm>
        </p:grpSpPr>
        <p:sp>
          <p:nvSpPr>
            <p:cNvPr id="130" name="Rectangle 129"/>
            <p:cNvSpPr/>
            <p:nvPr/>
          </p:nvSpPr>
          <p:spPr>
            <a:xfrm>
              <a:off x="9345747" y="5109385"/>
              <a:ext cx="564887" cy="7390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推理</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9" name="Freeform 105"/>
            <p:cNvSpPr>
              <a:spLocks noEditPoints="1"/>
            </p:cNvSpPr>
            <p:nvPr/>
          </p:nvSpPr>
          <p:spPr bwMode="auto">
            <a:xfrm>
              <a:off x="9469145" y="5131876"/>
              <a:ext cx="292100" cy="287867"/>
            </a:xfrm>
            <a:custGeom>
              <a:avLst/>
              <a:gdLst>
                <a:gd name="T0" fmla="*/ 2147483646 w 64"/>
                <a:gd name="T1" fmla="*/ 2147483646 h 63"/>
                <a:gd name="T2" fmla="*/ 2147483646 w 64"/>
                <a:gd name="T3" fmla="*/ 2147483646 h 63"/>
                <a:gd name="T4" fmla="*/ 2147483646 w 64"/>
                <a:gd name="T5" fmla="*/ 2147483646 h 63"/>
                <a:gd name="T6" fmla="*/ 2147483646 w 64"/>
                <a:gd name="T7" fmla="*/ 2147483646 h 63"/>
                <a:gd name="T8" fmla="*/ 0 w 64"/>
                <a:gd name="T9" fmla="*/ 2147483646 h 63"/>
                <a:gd name="T10" fmla="*/ 2147483646 w 64"/>
                <a:gd name="T11" fmla="*/ 0 h 63"/>
                <a:gd name="T12" fmla="*/ 2147483646 w 64"/>
                <a:gd name="T13" fmla="*/ 2147483646 h 63"/>
                <a:gd name="T14" fmla="*/ 2147483646 w 64"/>
                <a:gd name="T15" fmla="*/ 2147483646 h 63"/>
                <a:gd name="T16" fmla="*/ 2147483646 w 64"/>
                <a:gd name="T17" fmla="*/ 2147483646 h 63"/>
                <a:gd name="T18" fmla="*/ 2147483646 w 64"/>
                <a:gd name="T19" fmla="*/ 2147483646 h 63"/>
                <a:gd name="T20" fmla="*/ 2147483646 w 64"/>
                <a:gd name="T21" fmla="*/ 2147483646 h 63"/>
                <a:gd name="T22" fmla="*/ 2147483646 w 64"/>
                <a:gd name="T23" fmla="*/ 2147483646 h 63"/>
                <a:gd name="T24" fmla="*/ 2147483646 w 64"/>
                <a:gd name="T25" fmla="*/ 2147483646 h 63"/>
                <a:gd name="T26" fmla="*/ 2147483646 w 64"/>
                <a:gd name="T27" fmla="*/ 2147483646 h 63"/>
                <a:gd name="T28" fmla="*/ 2147483646 w 64"/>
                <a:gd name="T29" fmla="*/ 2147483646 h 63"/>
                <a:gd name="T30" fmla="*/ 2147483646 w 64"/>
                <a:gd name="T31" fmla="*/ 2147483646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chemeClr val="accent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58" name="Group 157"/>
          <p:cNvGrpSpPr/>
          <p:nvPr/>
        </p:nvGrpSpPr>
        <p:grpSpPr>
          <a:xfrm>
            <a:off x="9297737" y="3527426"/>
            <a:ext cx="503949" cy="885403"/>
            <a:chOff x="9368370" y="3502438"/>
            <a:chExt cx="503949" cy="885403"/>
          </a:xfrm>
        </p:grpSpPr>
        <p:sp>
          <p:nvSpPr>
            <p:cNvPr id="132" name="Rectangle 131"/>
            <p:cNvSpPr/>
            <p:nvPr/>
          </p:nvSpPr>
          <p:spPr>
            <a:xfrm>
              <a:off x="9368370" y="3502438"/>
              <a:ext cx="503949" cy="885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多路</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召回</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34" name="Freeform 90"/>
            <p:cNvSpPr>
              <a:spLocks noEditPoints="1"/>
            </p:cNvSpPr>
            <p:nvPr/>
          </p:nvSpPr>
          <p:spPr bwMode="auto">
            <a:xfrm>
              <a:off x="9386344" y="3576167"/>
              <a:ext cx="468000" cy="396000"/>
            </a:xfrm>
            <a:custGeom>
              <a:avLst/>
              <a:gdLst>
                <a:gd name="T0" fmla="*/ 162 w 192"/>
                <a:gd name="T1" fmla="*/ 21 h 173"/>
                <a:gd name="T2" fmla="*/ 161 w 192"/>
                <a:gd name="T3" fmla="*/ 32 h 173"/>
                <a:gd name="T4" fmla="*/ 96 w 192"/>
                <a:gd name="T5" fmla="*/ 0 h 173"/>
                <a:gd name="T6" fmla="*/ 30 w 192"/>
                <a:gd name="T7" fmla="*/ 32 h 173"/>
                <a:gd name="T8" fmla="*/ 30 w 192"/>
                <a:gd name="T9" fmla="*/ 22 h 173"/>
                <a:gd name="T10" fmla="*/ 1 w 192"/>
                <a:gd name="T11" fmla="*/ 21 h 173"/>
                <a:gd name="T12" fmla="*/ 0 w 192"/>
                <a:gd name="T13" fmla="*/ 51 h 173"/>
                <a:gd name="T14" fmla="*/ 29 w 192"/>
                <a:gd name="T15" fmla="*/ 52 h 173"/>
                <a:gd name="T16" fmla="*/ 30 w 192"/>
                <a:gd name="T17" fmla="*/ 41 h 173"/>
                <a:gd name="T18" fmla="*/ 60 w 192"/>
                <a:gd name="T19" fmla="*/ 41 h 173"/>
                <a:gd name="T20" fmla="*/ 63 w 192"/>
                <a:gd name="T21" fmla="*/ 55 h 173"/>
                <a:gd name="T22" fmla="*/ 32 w 192"/>
                <a:gd name="T23" fmla="*/ 108 h 173"/>
                <a:gd name="T24" fmla="*/ 21 w 192"/>
                <a:gd name="T25" fmla="*/ 109 h 173"/>
                <a:gd name="T26" fmla="*/ 22 w 192"/>
                <a:gd name="T27" fmla="*/ 138 h 173"/>
                <a:gd name="T28" fmla="*/ 52 w 192"/>
                <a:gd name="T29" fmla="*/ 137 h 173"/>
                <a:gd name="T30" fmla="*/ 51 w 192"/>
                <a:gd name="T31" fmla="*/ 108 h 173"/>
                <a:gd name="T32" fmla="*/ 69 w 192"/>
                <a:gd name="T33" fmla="*/ 61 h 173"/>
                <a:gd name="T34" fmla="*/ 91 w 192"/>
                <a:gd name="T35" fmla="*/ 143 h 173"/>
                <a:gd name="T36" fmla="*/ 80 w 192"/>
                <a:gd name="T37" fmla="*/ 144 h 173"/>
                <a:gd name="T38" fmla="*/ 81 w 192"/>
                <a:gd name="T39" fmla="*/ 173 h 173"/>
                <a:gd name="T40" fmla="*/ 111 w 192"/>
                <a:gd name="T41" fmla="*/ 172 h 173"/>
                <a:gd name="T42" fmla="*/ 110 w 192"/>
                <a:gd name="T43" fmla="*/ 143 h 173"/>
                <a:gd name="T44" fmla="*/ 100 w 192"/>
                <a:gd name="T45" fmla="*/ 72 h 173"/>
                <a:gd name="T46" fmla="*/ 150 w 192"/>
                <a:gd name="T47" fmla="*/ 108 h 173"/>
                <a:gd name="T48" fmla="*/ 139 w 192"/>
                <a:gd name="T49" fmla="*/ 109 h 173"/>
                <a:gd name="T50" fmla="*/ 140 w 192"/>
                <a:gd name="T51" fmla="*/ 138 h 173"/>
                <a:gd name="T52" fmla="*/ 170 w 192"/>
                <a:gd name="T53" fmla="*/ 137 h 173"/>
                <a:gd name="T54" fmla="*/ 169 w 192"/>
                <a:gd name="T55" fmla="*/ 108 h 173"/>
                <a:gd name="T56" fmla="*/ 159 w 192"/>
                <a:gd name="T57" fmla="*/ 105 h 173"/>
                <a:gd name="T58" fmla="*/ 127 w 192"/>
                <a:gd name="T59" fmla="*/ 54 h 173"/>
                <a:gd name="T60" fmla="*/ 161 w 192"/>
                <a:gd name="T61" fmla="*/ 41 h 173"/>
                <a:gd name="T62" fmla="*/ 162 w 192"/>
                <a:gd name="T63" fmla="*/ 52 h 173"/>
                <a:gd name="T64" fmla="*/ 192 w 192"/>
                <a:gd name="T65" fmla="*/ 51 h 173"/>
                <a:gd name="T66" fmla="*/ 191 w 192"/>
                <a:gd name="T67" fmla="*/ 21 h 173"/>
                <a:gd name="T68" fmla="*/ 97 w 192"/>
                <a:gd name="T69" fmla="*/ 60 h 173"/>
                <a:gd name="T70" fmla="*/ 94 w 192"/>
                <a:gd name="T71" fmla="*/ 54 h 173"/>
                <a:gd name="T72" fmla="*/ 86 w 192"/>
                <a:gd name="T73" fmla="*/ 48 h 173"/>
                <a:gd name="T74" fmla="*/ 101 w 192"/>
                <a:gd name="T75" fmla="*/ 45 h 173"/>
                <a:gd name="T76" fmla="*/ 86 w 192"/>
                <a:gd name="T77" fmla="*/ 28 h 173"/>
                <a:gd name="T78" fmla="*/ 94 w 192"/>
                <a:gd name="T79" fmla="*/ 14 h 173"/>
                <a:gd name="T80" fmla="*/ 98 w 192"/>
                <a:gd name="T81" fmla="*/ 19 h 173"/>
                <a:gd name="T82" fmla="*/ 103 w 192"/>
                <a:gd name="T83" fmla="*/ 25 h 173"/>
                <a:gd name="T84" fmla="*/ 90 w 192"/>
                <a:gd name="T85" fmla="*/ 28 h 173"/>
                <a:gd name="T86" fmla="*/ 106 w 192"/>
                <a:gd name="T87" fmla="*/ 44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2" h="173">
                  <a:moveTo>
                    <a:pt x="191" y="21"/>
                  </a:moveTo>
                  <a:cubicBezTo>
                    <a:pt x="162" y="21"/>
                    <a:pt x="162" y="21"/>
                    <a:pt x="162" y="21"/>
                  </a:cubicBezTo>
                  <a:cubicBezTo>
                    <a:pt x="162" y="21"/>
                    <a:pt x="161" y="22"/>
                    <a:pt x="161" y="22"/>
                  </a:cubicBezTo>
                  <a:cubicBezTo>
                    <a:pt x="161" y="32"/>
                    <a:pt x="161" y="32"/>
                    <a:pt x="161" y="32"/>
                  </a:cubicBezTo>
                  <a:cubicBezTo>
                    <a:pt x="131" y="32"/>
                    <a:pt x="131" y="32"/>
                    <a:pt x="131" y="32"/>
                  </a:cubicBezTo>
                  <a:cubicBezTo>
                    <a:pt x="129" y="15"/>
                    <a:pt x="114" y="0"/>
                    <a:pt x="96" y="0"/>
                  </a:cubicBezTo>
                  <a:cubicBezTo>
                    <a:pt x="77" y="0"/>
                    <a:pt x="62" y="15"/>
                    <a:pt x="60" y="32"/>
                  </a:cubicBezTo>
                  <a:cubicBezTo>
                    <a:pt x="30" y="32"/>
                    <a:pt x="30" y="32"/>
                    <a:pt x="30" y="32"/>
                  </a:cubicBezTo>
                  <a:cubicBezTo>
                    <a:pt x="30" y="32"/>
                    <a:pt x="30" y="33"/>
                    <a:pt x="30" y="33"/>
                  </a:cubicBezTo>
                  <a:cubicBezTo>
                    <a:pt x="30" y="22"/>
                    <a:pt x="30" y="22"/>
                    <a:pt x="30" y="22"/>
                  </a:cubicBezTo>
                  <a:cubicBezTo>
                    <a:pt x="30" y="22"/>
                    <a:pt x="29" y="21"/>
                    <a:pt x="29" y="21"/>
                  </a:cubicBezTo>
                  <a:cubicBezTo>
                    <a:pt x="1" y="21"/>
                    <a:pt x="1" y="21"/>
                    <a:pt x="1" y="21"/>
                  </a:cubicBezTo>
                  <a:cubicBezTo>
                    <a:pt x="0" y="21"/>
                    <a:pt x="0" y="22"/>
                    <a:pt x="0" y="22"/>
                  </a:cubicBezTo>
                  <a:cubicBezTo>
                    <a:pt x="0" y="51"/>
                    <a:pt x="0" y="51"/>
                    <a:pt x="0" y="51"/>
                  </a:cubicBezTo>
                  <a:cubicBezTo>
                    <a:pt x="0" y="51"/>
                    <a:pt x="0" y="52"/>
                    <a:pt x="1" y="52"/>
                  </a:cubicBezTo>
                  <a:cubicBezTo>
                    <a:pt x="29" y="52"/>
                    <a:pt x="29" y="52"/>
                    <a:pt x="29" y="52"/>
                  </a:cubicBezTo>
                  <a:cubicBezTo>
                    <a:pt x="29" y="52"/>
                    <a:pt x="30" y="51"/>
                    <a:pt x="30" y="51"/>
                  </a:cubicBezTo>
                  <a:cubicBezTo>
                    <a:pt x="30" y="41"/>
                    <a:pt x="30" y="41"/>
                    <a:pt x="30" y="41"/>
                  </a:cubicBezTo>
                  <a:cubicBezTo>
                    <a:pt x="30" y="41"/>
                    <a:pt x="30" y="41"/>
                    <a:pt x="30" y="41"/>
                  </a:cubicBezTo>
                  <a:cubicBezTo>
                    <a:pt x="60" y="41"/>
                    <a:pt x="60" y="41"/>
                    <a:pt x="60" y="41"/>
                  </a:cubicBezTo>
                  <a:cubicBezTo>
                    <a:pt x="60" y="45"/>
                    <a:pt x="62" y="50"/>
                    <a:pt x="64" y="54"/>
                  </a:cubicBezTo>
                  <a:cubicBezTo>
                    <a:pt x="63" y="54"/>
                    <a:pt x="63" y="54"/>
                    <a:pt x="63" y="55"/>
                  </a:cubicBezTo>
                  <a:cubicBezTo>
                    <a:pt x="33" y="105"/>
                    <a:pt x="33" y="105"/>
                    <a:pt x="33" y="105"/>
                  </a:cubicBezTo>
                  <a:cubicBezTo>
                    <a:pt x="32" y="106"/>
                    <a:pt x="32" y="107"/>
                    <a:pt x="32" y="108"/>
                  </a:cubicBezTo>
                  <a:cubicBezTo>
                    <a:pt x="22" y="108"/>
                    <a:pt x="22" y="108"/>
                    <a:pt x="22" y="108"/>
                  </a:cubicBezTo>
                  <a:cubicBezTo>
                    <a:pt x="22" y="108"/>
                    <a:pt x="21" y="108"/>
                    <a:pt x="21" y="109"/>
                  </a:cubicBezTo>
                  <a:cubicBezTo>
                    <a:pt x="21" y="137"/>
                    <a:pt x="21" y="137"/>
                    <a:pt x="21" y="137"/>
                  </a:cubicBezTo>
                  <a:cubicBezTo>
                    <a:pt x="21" y="138"/>
                    <a:pt x="22" y="138"/>
                    <a:pt x="22" y="138"/>
                  </a:cubicBezTo>
                  <a:cubicBezTo>
                    <a:pt x="51" y="138"/>
                    <a:pt x="51" y="138"/>
                    <a:pt x="51" y="138"/>
                  </a:cubicBezTo>
                  <a:cubicBezTo>
                    <a:pt x="51" y="138"/>
                    <a:pt x="52" y="138"/>
                    <a:pt x="52" y="137"/>
                  </a:cubicBezTo>
                  <a:cubicBezTo>
                    <a:pt x="52" y="109"/>
                    <a:pt x="52" y="109"/>
                    <a:pt x="52" y="109"/>
                  </a:cubicBezTo>
                  <a:cubicBezTo>
                    <a:pt x="52" y="108"/>
                    <a:pt x="51" y="108"/>
                    <a:pt x="51" y="108"/>
                  </a:cubicBezTo>
                  <a:cubicBezTo>
                    <a:pt x="41" y="108"/>
                    <a:pt x="41" y="108"/>
                    <a:pt x="41" y="108"/>
                  </a:cubicBezTo>
                  <a:cubicBezTo>
                    <a:pt x="69" y="61"/>
                    <a:pt x="69" y="61"/>
                    <a:pt x="69" y="61"/>
                  </a:cubicBezTo>
                  <a:cubicBezTo>
                    <a:pt x="75" y="67"/>
                    <a:pt x="82" y="71"/>
                    <a:pt x="91" y="72"/>
                  </a:cubicBezTo>
                  <a:cubicBezTo>
                    <a:pt x="91" y="143"/>
                    <a:pt x="91" y="143"/>
                    <a:pt x="91" y="143"/>
                  </a:cubicBezTo>
                  <a:cubicBezTo>
                    <a:pt x="81" y="143"/>
                    <a:pt x="81" y="143"/>
                    <a:pt x="81" y="143"/>
                  </a:cubicBezTo>
                  <a:cubicBezTo>
                    <a:pt x="81" y="143"/>
                    <a:pt x="80" y="144"/>
                    <a:pt x="80" y="144"/>
                  </a:cubicBezTo>
                  <a:cubicBezTo>
                    <a:pt x="80" y="172"/>
                    <a:pt x="80" y="172"/>
                    <a:pt x="80" y="172"/>
                  </a:cubicBezTo>
                  <a:cubicBezTo>
                    <a:pt x="80" y="173"/>
                    <a:pt x="81" y="173"/>
                    <a:pt x="81" y="173"/>
                  </a:cubicBezTo>
                  <a:cubicBezTo>
                    <a:pt x="110" y="173"/>
                    <a:pt x="110" y="173"/>
                    <a:pt x="110" y="173"/>
                  </a:cubicBezTo>
                  <a:cubicBezTo>
                    <a:pt x="110" y="173"/>
                    <a:pt x="111" y="173"/>
                    <a:pt x="111" y="172"/>
                  </a:cubicBezTo>
                  <a:cubicBezTo>
                    <a:pt x="111" y="144"/>
                    <a:pt x="111" y="144"/>
                    <a:pt x="111" y="144"/>
                  </a:cubicBezTo>
                  <a:cubicBezTo>
                    <a:pt x="111" y="144"/>
                    <a:pt x="110" y="143"/>
                    <a:pt x="110" y="143"/>
                  </a:cubicBezTo>
                  <a:cubicBezTo>
                    <a:pt x="100" y="143"/>
                    <a:pt x="100" y="143"/>
                    <a:pt x="100" y="143"/>
                  </a:cubicBezTo>
                  <a:cubicBezTo>
                    <a:pt x="100" y="72"/>
                    <a:pt x="100" y="72"/>
                    <a:pt x="100" y="72"/>
                  </a:cubicBezTo>
                  <a:cubicBezTo>
                    <a:pt x="109" y="71"/>
                    <a:pt x="117" y="67"/>
                    <a:pt x="122" y="61"/>
                  </a:cubicBezTo>
                  <a:cubicBezTo>
                    <a:pt x="150" y="108"/>
                    <a:pt x="150" y="108"/>
                    <a:pt x="150" y="108"/>
                  </a:cubicBezTo>
                  <a:cubicBezTo>
                    <a:pt x="140" y="108"/>
                    <a:pt x="140" y="108"/>
                    <a:pt x="140" y="108"/>
                  </a:cubicBezTo>
                  <a:cubicBezTo>
                    <a:pt x="140" y="108"/>
                    <a:pt x="139" y="108"/>
                    <a:pt x="139" y="109"/>
                  </a:cubicBezTo>
                  <a:cubicBezTo>
                    <a:pt x="139" y="137"/>
                    <a:pt x="139" y="137"/>
                    <a:pt x="139" y="137"/>
                  </a:cubicBezTo>
                  <a:cubicBezTo>
                    <a:pt x="139" y="138"/>
                    <a:pt x="140" y="138"/>
                    <a:pt x="140" y="138"/>
                  </a:cubicBezTo>
                  <a:cubicBezTo>
                    <a:pt x="169" y="138"/>
                    <a:pt x="169" y="138"/>
                    <a:pt x="169" y="138"/>
                  </a:cubicBezTo>
                  <a:cubicBezTo>
                    <a:pt x="169" y="138"/>
                    <a:pt x="170" y="138"/>
                    <a:pt x="170" y="137"/>
                  </a:cubicBezTo>
                  <a:cubicBezTo>
                    <a:pt x="170" y="109"/>
                    <a:pt x="170" y="109"/>
                    <a:pt x="170" y="109"/>
                  </a:cubicBezTo>
                  <a:cubicBezTo>
                    <a:pt x="170" y="108"/>
                    <a:pt x="169" y="108"/>
                    <a:pt x="169" y="108"/>
                  </a:cubicBezTo>
                  <a:cubicBezTo>
                    <a:pt x="159" y="108"/>
                    <a:pt x="159" y="108"/>
                    <a:pt x="159" y="108"/>
                  </a:cubicBezTo>
                  <a:cubicBezTo>
                    <a:pt x="159" y="107"/>
                    <a:pt x="159" y="106"/>
                    <a:pt x="159" y="105"/>
                  </a:cubicBezTo>
                  <a:cubicBezTo>
                    <a:pt x="128" y="55"/>
                    <a:pt x="128" y="55"/>
                    <a:pt x="128" y="55"/>
                  </a:cubicBezTo>
                  <a:cubicBezTo>
                    <a:pt x="128" y="54"/>
                    <a:pt x="128" y="54"/>
                    <a:pt x="127" y="54"/>
                  </a:cubicBezTo>
                  <a:cubicBezTo>
                    <a:pt x="129" y="50"/>
                    <a:pt x="131" y="45"/>
                    <a:pt x="131" y="41"/>
                  </a:cubicBezTo>
                  <a:cubicBezTo>
                    <a:pt x="161" y="41"/>
                    <a:pt x="161" y="41"/>
                    <a:pt x="161" y="41"/>
                  </a:cubicBezTo>
                  <a:cubicBezTo>
                    <a:pt x="161" y="51"/>
                    <a:pt x="161" y="51"/>
                    <a:pt x="161" y="51"/>
                  </a:cubicBezTo>
                  <a:cubicBezTo>
                    <a:pt x="161" y="51"/>
                    <a:pt x="162" y="52"/>
                    <a:pt x="162" y="52"/>
                  </a:cubicBezTo>
                  <a:cubicBezTo>
                    <a:pt x="191" y="52"/>
                    <a:pt x="191" y="52"/>
                    <a:pt x="191" y="52"/>
                  </a:cubicBezTo>
                  <a:cubicBezTo>
                    <a:pt x="191" y="52"/>
                    <a:pt x="192" y="51"/>
                    <a:pt x="192" y="51"/>
                  </a:cubicBezTo>
                  <a:cubicBezTo>
                    <a:pt x="192" y="22"/>
                    <a:pt x="192" y="22"/>
                    <a:pt x="192" y="22"/>
                  </a:cubicBezTo>
                  <a:cubicBezTo>
                    <a:pt x="192" y="22"/>
                    <a:pt x="191" y="21"/>
                    <a:pt x="191" y="21"/>
                  </a:cubicBezTo>
                  <a:close/>
                  <a:moveTo>
                    <a:pt x="97" y="54"/>
                  </a:moveTo>
                  <a:cubicBezTo>
                    <a:pt x="97" y="60"/>
                    <a:pt x="97" y="60"/>
                    <a:pt x="97" y="60"/>
                  </a:cubicBezTo>
                  <a:cubicBezTo>
                    <a:pt x="94" y="60"/>
                    <a:pt x="94" y="60"/>
                    <a:pt x="94" y="60"/>
                  </a:cubicBezTo>
                  <a:cubicBezTo>
                    <a:pt x="94" y="54"/>
                    <a:pt x="94" y="54"/>
                    <a:pt x="94" y="54"/>
                  </a:cubicBezTo>
                  <a:cubicBezTo>
                    <a:pt x="90" y="54"/>
                    <a:pt x="87" y="53"/>
                    <a:pt x="85" y="51"/>
                  </a:cubicBezTo>
                  <a:cubicBezTo>
                    <a:pt x="86" y="48"/>
                    <a:pt x="86" y="48"/>
                    <a:pt x="86" y="48"/>
                  </a:cubicBezTo>
                  <a:cubicBezTo>
                    <a:pt x="88" y="49"/>
                    <a:pt x="91" y="50"/>
                    <a:pt x="94" y="50"/>
                  </a:cubicBezTo>
                  <a:cubicBezTo>
                    <a:pt x="98" y="50"/>
                    <a:pt x="101" y="48"/>
                    <a:pt x="101" y="45"/>
                  </a:cubicBezTo>
                  <a:cubicBezTo>
                    <a:pt x="101" y="42"/>
                    <a:pt x="99" y="40"/>
                    <a:pt x="95" y="38"/>
                  </a:cubicBezTo>
                  <a:cubicBezTo>
                    <a:pt x="89" y="36"/>
                    <a:pt x="86" y="33"/>
                    <a:pt x="86" y="28"/>
                  </a:cubicBezTo>
                  <a:cubicBezTo>
                    <a:pt x="86" y="24"/>
                    <a:pt x="89" y="20"/>
                    <a:pt x="94" y="19"/>
                  </a:cubicBezTo>
                  <a:cubicBezTo>
                    <a:pt x="94" y="14"/>
                    <a:pt x="94" y="14"/>
                    <a:pt x="94" y="14"/>
                  </a:cubicBezTo>
                  <a:cubicBezTo>
                    <a:pt x="98" y="14"/>
                    <a:pt x="98" y="14"/>
                    <a:pt x="98" y="14"/>
                  </a:cubicBezTo>
                  <a:cubicBezTo>
                    <a:pt x="98" y="19"/>
                    <a:pt x="98" y="19"/>
                    <a:pt x="98" y="19"/>
                  </a:cubicBezTo>
                  <a:cubicBezTo>
                    <a:pt x="101" y="19"/>
                    <a:pt x="103" y="20"/>
                    <a:pt x="105" y="21"/>
                  </a:cubicBezTo>
                  <a:cubicBezTo>
                    <a:pt x="103" y="25"/>
                    <a:pt x="103" y="25"/>
                    <a:pt x="103" y="25"/>
                  </a:cubicBezTo>
                  <a:cubicBezTo>
                    <a:pt x="102" y="24"/>
                    <a:pt x="100" y="23"/>
                    <a:pt x="96" y="23"/>
                  </a:cubicBezTo>
                  <a:cubicBezTo>
                    <a:pt x="92" y="23"/>
                    <a:pt x="90" y="25"/>
                    <a:pt x="90" y="28"/>
                  </a:cubicBezTo>
                  <a:cubicBezTo>
                    <a:pt x="90" y="30"/>
                    <a:pt x="92" y="32"/>
                    <a:pt x="97" y="34"/>
                  </a:cubicBezTo>
                  <a:cubicBezTo>
                    <a:pt x="103" y="36"/>
                    <a:pt x="106" y="39"/>
                    <a:pt x="106" y="44"/>
                  </a:cubicBezTo>
                  <a:cubicBezTo>
                    <a:pt x="106" y="49"/>
                    <a:pt x="103" y="53"/>
                    <a:pt x="97" y="54"/>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59" name="Rectangle 158"/>
          <p:cNvSpPr/>
          <p:nvPr/>
        </p:nvSpPr>
        <p:spPr>
          <a:xfrm>
            <a:off x="10176753" y="2685018"/>
            <a:ext cx="1608994" cy="464630"/>
          </a:xfrm>
          <a:prstGeom prst="rect">
            <a:avLst/>
          </a:prstGeom>
          <a:solidFill>
            <a:schemeClr val="bg1"/>
          </a:solidFill>
          <a:ln w="25400" cmpd="thickThi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以银行审计场景为例</a:t>
            </a:r>
            <a:endParaRPr kumimoji="0" lang="zh-CN" altLang="en-US" sz="1200" b="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大模型时代为什么需要知识工程：大模型的“能”与“不能”</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6" name="圆角矩形 5"/>
          <p:cNvSpPr/>
          <p:nvPr>
            <p:custDataLst>
              <p:tags r:id="rId1"/>
            </p:custDataLst>
          </p:nvPr>
        </p:nvSpPr>
        <p:spPr>
          <a:xfrm>
            <a:off x="581025" y="971550"/>
            <a:ext cx="11125200" cy="584200"/>
          </a:xfrm>
          <a:prstGeom prst="roundRect">
            <a:avLst>
              <a:gd name="adj" fmla="val 8696"/>
            </a:avLst>
          </a:prstGeom>
          <a:solidFill>
            <a:srgbClr val="FFFFFF"/>
          </a:solidFill>
          <a:effectLst>
            <a:outerShdw blurRad="76200" dist="19050" dir="5400000">
              <a:srgbClr val="0F1F3A">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7" name="任意多边形 6"/>
          <p:cNvSpPr/>
          <p:nvPr>
            <p:custDataLst>
              <p:tags r:id="rId2"/>
            </p:custDataLst>
          </p:nvPr>
        </p:nvSpPr>
        <p:spPr>
          <a:xfrm>
            <a:off x="581025" y="971550"/>
            <a:ext cx="11125200" cy="584200"/>
          </a:xfrm>
          <a:custGeom>
            <a:avLst/>
            <a:gdLst/>
            <a:ahLst/>
            <a:cxnLst/>
            <a:rect l="0" t="0" r="0" b="0"/>
            <a:pathLst>
              <a:path w="1168" h="92">
                <a:moveTo>
                  <a:pt x="8" y="0"/>
                </a:moveTo>
                <a:cubicBezTo>
                  <a:pt x="6" y="0"/>
                  <a:pt x="5" y="1"/>
                  <a:pt x="5" y="3"/>
                </a:cubicBezTo>
                <a:lnTo>
                  <a:pt x="5" y="89"/>
                </a:lnTo>
                <a:cubicBezTo>
                  <a:pt x="5" y="91"/>
                  <a:pt x="6" y="92"/>
                  <a:pt x="8" y="92"/>
                </a:cubicBezTo>
                <a:cubicBezTo>
                  <a:pt x="3" y="92"/>
                  <a:pt x="0" y="88"/>
                  <a:pt x="0" y="84"/>
                </a:cubicBezTo>
                <a:lnTo>
                  <a:pt x="0" y="8"/>
                </a:lnTo>
                <a:cubicBezTo>
                  <a:pt x="0" y="4"/>
                  <a:pt x="3" y="0"/>
                  <a:pt x="8" y="0"/>
                </a:cubicBezTo>
                <a:close/>
              </a:path>
            </a:pathLst>
          </a:custGeom>
          <a:solidFill>
            <a:schemeClr val="accent1">
              <a:lumMod val="75000"/>
            </a:scheme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9" name="文本框 8" descr="{&quot;isTemplate&quot;:true,&quot;type&quot;:&quot;text&quot;}"/>
          <p:cNvSpPr txBox="1"/>
          <p:nvPr>
            <p:custDataLst>
              <p:tags r:id="rId3"/>
            </p:custDataLst>
          </p:nvPr>
        </p:nvSpPr>
        <p:spPr>
          <a:xfrm>
            <a:off x="710565" y="1113790"/>
            <a:ext cx="10658475" cy="299085"/>
          </a:xfrm>
          <a:prstGeom prst="rect">
            <a:avLst/>
          </a:prstGeom>
        </p:spPr>
        <p:txBody>
          <a:bodyPr wrap="square" lIns="0" tIns="0" rIns="0" bIns="0">
            <a:no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3A4250"/>
                </a:solidFill>
                <a:effectLst/>
                <a:uLnTx/>
                <a:uFillTx/>
                <a:latin typeface="微软雅黑" panose="020B0503020204020204" charset="-122"/>
                <a:ea typeface="微软雅黑" panose="020B0503020204020204" charset="-122"/>
                <a:cs typeface="+mn-cs"/>
              </a:rPr>
              <a:t>大模型本质是概率预测引擎，银行业务则要求强结构、强规则、强约束的确定性，两者存在本质冲突</a:t>
            </a:r>
            <a:endParaRPr kumimoji="0" lang="zh-CN" altLang="en-US" sz="1600" b="0" i="0" u="none" strike="noStrike" kern="1200" cap="none" spc="0" normalizeH="0" baseline="0" noProof="0">
              <a:ln>
                <a:noFill/>
              </a:ln>
              <a:solidFill>
                <a:srgbClr val="3A4250"/>
              </a:solidFill>
              <a:effectLst/>
              <a:uLnTx/>
              <a:uFillTx/>
              <a:latin typeface="微软雅黑" panose="020B0503020204020204" charset="-122"/>
              <a:ea typeface="微软雅黑" panose="020B0503020204020204" charset="-122"/>
              <a:cs typeface="+mn-cs"/>
            </a:endParaRPr>
          </a:p>
        </p:txBody>
      </p:sp>
      <p:grpSp>
        <p:nvGrpSpPr>
          <p:cNvPr id="25" name="组合 24"/>
          <p:cNvGrpSpPr/>
          <p:nvPr/>
        </p:nvGrpSpPr>
        <p:grpSpPr>
          <a:xfrm>
            <a:off x="640080" y="2240280"/>
            <a:ext cx="10911840" cy="1616075"/>
            <a:chOff x="1008" y="3528"/>
            <a:chExt cx="17184" cy="3772"/>
          </a:xfrm>
        </p:grpSpPr>
        <p:sp>
          <p:nvSpPr>
            <p:cNvPr id="11" name="Shape 3"/>
            <p:cNvSpPr/>
            <p:nvPr>
              <p:custDataLst>
                <p:tags r:id="rId4"/>
              </p:custDataLst>
            </p:nvPr>
          </p:nvSpPr>
          <p:spPr>
            <a:xfrm>
              <a:off x="1008" y="3528"/>
              <a:ext cx="7632" cy="2448"/>
            </a:xfrm>
            <a:prstGeom prst="roundRect">
              <a:avLst>
                <a:gd name="adj" fmla="val 5882"/>
              </a:avLst>
            </a:prstGeom>
            <a:solidFill>
              <a:srgbClr val="EAF1FB"/>
            </a:solidFill>
            <a:ln w="12700">
              <a:solidFill>
                <a:srgbClr val="CBE0F6"/>
              </a:solidFill>
              <a:prstDash val="solid"/>
            </a:ln>
          </p:spPr>
        </p:sp>
        <p:sp>
          <p:nvSpPr>
            <p:cNvPr id="12" name="Shape 4"/>
            <p:cNvSpPr/>
            <p:nvPr>
              <p:custDataLst>
                <p:tags r:id="rId5"/>
              </p:custDataLst>
            </p:nvPr>
          </p:nvSpPr>
          <p:spPr>
            <a:xfrm>
              <a:off x="1008" y="3528"/>
              <a:ext cx="130" cy="2448"/>
            </a:xfrm>
            <a:prstGeom prst="rect">
              <a:avLst/>
            </a:prstGeom>
            <a:solidFill>
              <a:srgbClr val="0B4F9E"/>
            </a:solidFill>
          </p:spPr>
        </p:sp>
        <p:sp>
          <p:nvSpPr>
            <p:cNvPr id="13" name="Text 5"/>
            <p:cNvSpPr/>
            <p:nvPr>
              <p:custDataLst>
                <p:tags r:id="rId6"/>
              </p:custDataLst>
            </p:nvPr>
          </p:nvSpPr>
          <p:spPr>
            <a:xfrm>
              <a:off x="1512" y="3845"/>
              <a:ext cx="6840" cy="504"/>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0B4F9E"/>
                  </a:solidFill>
                  <a:effectLst/>
                  <a:uLnTx/>
                  <a:uFillTx/>
                  <a:latin typeface="微软雅黑" panose="020B0503020204020204" charset="-122"/>
                  <a:ea typeface="微软雅黑" panose="020B0503020204020204" charset="-122"/>
                  <a:cs typeface="微软雅黑" panose="020B0503020204020204" charset="-122"/>
                </a:rPr>
                <a:t>大模型 / 智能体</a:t>
              </a:r>
              <a:endParaRPr kumimoji="0" lang="en-US" sz="1400" b="1" i="0" u="none" strike="noStrike" kern="1200" cap="none" spc="0" normalizeH="0" baseline="0" noProof="0" dirty="0">
                <a:ln>
                  <a:noFill/>
                </a:ln>
                <a:solidFill>
                  <a:srgbClr val="0B4F9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 name="Text 6"/>
            <p:cNvSpPr/>
            <p:nvPr>
              <p:custDataLst>
                <p:tags r:id="rId7"/>
              </p:custDataLst>
            </p:nvPr>
          </p:nvSpPr>
          <p:spPr>
            <a:xfrm>
              <a:off x="1512" y="4363"/>
              <a:ext cx="6840" cy="7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pitchFamily="34" charset="-120"/>
                </a:rPr>
                <a:t>概率预测引擎</a:t>
              </a:r>
              <a:endParaRPr kumimoji="0" lang="en-US" sz="18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15" name="Text 7"/>
            <p:cNvSpPr/>
            <p:nvPr>
              <p:custDataLst>
                <p:tags r:id="rId8"/>
              </p:custDataLst>
            </p:nvPr>
          </p:nvSpPr>
          <p:spPr>
            <a:xfrm>
              <a:off x="1512" y="5141"/>
              <a:ext cx="6840" cy="7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charset="-122"/>
                </a:rPr>
                <a:t>强项：通用性 · 语言理解 —— 在企业场景恰成短板，『博学但凭感觉』</a:t>
              </a:r>
              <a:endParaRPr kumimoji="0" lang="en-US" sz="12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 name="Text 8"/>
            <p:cNvSpPr/>
            <p:nvPr>
              <p:custDataLst>
                <p:tags r:id="rId9"/>
              </p:custDataLst>
            </p:nvPr>
          </p:nvSpPr>
          <p:spPr>
            <a:xfrm>
              <a:off x="8640" y="3528"/>
              <a:ext cx="1920" cy="2448"/>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D14343"/>
                  </a:solidFill>
                  <a:effectLst/>
                  <a:uLnTx/>
                  <a:uFillTx/>
                  <a:latin typeface="微软雅黑" panose="020B0503020204020204" charset="-122"/>
                  <a:ea typeface="微软雅黑" panose="020B0503020204020204" charset="-122"/>
                  <a:cs typeface="微软雅黑" panose="020B0503020204020204" pitchFamily="34" charset="-120"/>
                </a:rPr>
                <a:t>×</a:t>
              </a:r>
              <a:endParaRPr kumimoji="0" lang="en-US" sz="3600" b="1" i="0" u="none" strike="noStrike" kern="1200" cap="none" spc="0" normalizeH="0" baseline="0" noProof="0" dirty="0">
                <a:ln>
                  <a:noFill/>
                </a:ln>
                <a:solidFill>
                  <a:srgbClr val="D14343"/>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17" name="Shape 9"/>
            <p:cNvSpPr/>
            <p:nvPr>
              <p:custDataLst>
                <p:tags r:id="rId10"/>
              </p:custDataLst>
            </p:nvPr>
          </p:nvSpPr>
          <p:spPr>
            <a:xfrm>
              <a:off x="10560" y="3528"/>
              <a:ext cx="7632" cy="2448"/>
            </a:xfrm>
            <a:prstGeom prst="roundRect">
              <a:avLst>
                <a:gd name="adj" fmla="val 5882"/>
              </a:avLst>
            </a:prstGeom>
            <a:solidFill>
              <a:srgbClr val="F1F4F8"/>
            </a:solidFill>
            <a:ln w="12700">
              <a:solidFill>
                <a:srgbClr val="DCDCED"/>
              </a:solidFill>
              <a:prstDash val="solid"/>
            </a:ln>
          </p:spPr>
        </p:sp>
        <p:sp>
          <p:nvSpPr>
            <p:cNvPr id="19" name="Shape 10"/>
            <p:cNvSpPr/>
            <p:nvPr>
              <p:custDataLst>
                <p:tags r:id="rId11"/>
              </p:custDataLst>
            </p:nvPr>
          </p:nvSpPr>
          <p:spPr>
            <a:xfrm>
              <a:off x="10560" y="3528"/>
              <a:ext cx="130" cy="2448"/>
            </a:xfrm>
            <a:prstGeom prst="rect">
              <a:avLst/>
            </a:prstGeom>
            <a:solidFill>
              <a:srgbClr val="0F1B2D"/>
            </a:solidFill>
          </p:spPr>
        </p:sp>
        <p:sp>
          <p:nvSpPr>
            <p:cNvPr id="20" name="Text 11"/>
            <p:cNvSpPr/>
            <p:nvPr>
              <p:custDataLst>
                <p:tags r:id="rId12"/>
              </p:custDataLst>
            </p:nvPr>
          </p:nvSpPr>
          <p:spPr>
            <a:xfrm>
              <a:off x="11064" y="3845"/>
              <a:ext cx="6840" cy="504"/>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pitchFamily="34" charset="-120"/>
                </a:rPr>
                <a:t>企业业务系统</a:t>
              </a:r>
              <a:endParaRPr kumimoji="0" lang="en-US" sz="14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21" name="Text 12"/>
            <p:cNvSpPr/>
            <p:nvPr>
              <p:custDataLst>
                <p:tags r:id="rId13"/>
              </p:custDataLst>
            </p:nvPr>
          </p:nvSpPr>
          <p:spPr>
            <a:xfrm>
              <a:off x="11064" y="4363"/>
              <a:ext cx="6840" cy="7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charset="-122"/>
                </a:rPr>
                <a:t>强结构 · 强规则 · 强约束</a:t>
              </a:r>
              <a:endParaRPr kumimoji="0" lang="en-US" sz="16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 name="Text 13"/>
            <p:cNvSpPr/>
            <p:nvPr>
              <p:custDataLst>
                <p:tags r:id="rId14"/>
              </p:custDataLst>
            </p:nvPr>
          </p:nvSpPr>
          <p:spPr>
            <a:xfrm>
              <a:off x="11064" y="5141"/>
              <a:ext cx="6840" cy="7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charset="-122"/>
                </a:rPr>
                <a:t>确定性系统 —— 不容出错</a:t>
              </a:r>
              <a:endParaRPr kumimoji="0" lang="en-US" sz="12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Shape 14"/>
            <p:cNvSpPr/>
            <p:nvPr>
              <p:custDataLst>
                <p:tags r:id="rId15"/>
              </p:custDataLst>
            </p:nvPr>
          </p:nvSpPr>
          <p:spPr>
            <a:xfrm>
              <a:off x="1008" y="6264"/>
              <a:ext cx="17184" cy="1037"/>
            </a:xfrm>
            <a:prstGeom prst="roundRect">
              <a:avLst>
                <a:gd name="adj" fmla="val 11111"/>
              </a:avLst>
            </a:prstGeom>
            <a:solidFill>
              <a:srgbClr val="FEF3E8"/>
            </a:solidFill>
          </p:spPr>
        </p:sp>
        <p:sp>
          <p:nvSpPr>
            <p:cNvPr id="24" name="Text 15"/>
            <p:cNvSpPr/>
            <p:nvPr>
              <p:custDataLst>
                <p:tags r:id="rId16"/>
              </p:custDataLst>
            </p:nvPr>
          </p:nvSpPr>
          <p:spPr>
            <a:xfrm>
              <a:off x="2131" y="6264"/>
              <a:ext cx="15672" cy="1037"/>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B54708"/>
                  </a:solidFill>
                  <a:effectLst/>
                  <a:uLnTx/>
                  <a:uFillTx/>
                  <a:latin typeface="微软雅黑" panose="020B0503020204020204" charset="-122"/>
                  <a:ea typeface="微软雅黑" panose="020B0503020204020204" charset="-122"/>
                  <a:cs typeface="微软雅黑" panose="020B0503020204020204" charset="-122"/>
                </a:rPr>
                <a:t>让一个博学但凭感觉的实习生，去负责银行核心</a:t>
              </a:r>
              <a:r>
                <a:rPr kumimoji="0" lang="zh-CN" altLang="en-US" sz="1400" b="1" i="0" u="none" strike="noStrike" kern="1200" cap="none" spc="0" normalizeH="0" baseline="0" noProof="0" dirty="0">
                  <a:ln>
                    <a:noFill/>
                  </a:ln>
                  <a:solidFill>
                    <a:srgbClr val="B54708"/>
                  </a:solidFill>
                  <a:effectLst/>
                  <a:uLnTx/>
                  <a:uFillTx/>
                  <a:latin typeface="微软雅黑" panose="020B0503020204020204" charset="-122"/>
                  <a:ea typeface="微软雅黑" panose="020B0503020204020204" charset="-122"/>
                  <a:cs typeface="微软雅黑" panose="020B0503020204020204" charset="-122"/>
                </a:rPr>
                <a:t>业务</a:t>
              </a:r>
              <a:r>
                <a:rPr kumimoji="0" lang="en-US" sz="1400" b="1" i="0" u="none" strike="noStrike" kern="1200" cap="none" spc="0" normalizeH="0" baseline="0" noProof="0" dirty="0">
                  <a:ln>
                    <a:noFill/>
                  </a:ln>
                  <a:solidFill>
                    <a:srgbClr val="B54708"/>
                  </a:solidFill>
                  <a:effectLst/>
                  <a:uLnTx/>
                  <a:uFillTx/>
                  <a:latin typeface="微软雅黑" panose="020B0503020204020204" charset="-122"/>
                  <a:ea typeface="微软雅黑" panose="020B0503020204020204" charset="-122"/>
                  <a:cs typeface="微软雅黑" panose="020B0503020204020204" charset="-122"/>
                </a:rPr>
                <a:t> —— 风险不言而喻</a:t>
              </a:r>
              <a:endParaRPr kumimoji="0" lang="en-US" sz="1400" b="1" i="0" u="none" strike="noStrike" kern="1200" cap="none" spc="0" normalizeH="0" baseline="0" noProof="0" dirty="0">
                <a:ln>
                  <a:noFill/>
                </a:ln>
                <a:solidFill>
                  <a:srgbClr val="B54708"/>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4" name="组合 3"/>
          <p:cNvGrpSpPr/>
          <p:nvPr/>
        </p:nvGrpSpPr>
        <p:grpSpPr>
          <a:xfrm>
            <a:off x="6321425" y="4229100"/>
            <a:ext cx="5486400" cy="1976120"/>
            <a:chOff x="915" y="6345"/>
            <a:chExt cx="8640" cy="3112"/>
          </a:xfrm>
        </p:grpSpPr>
        <p:sp>
          <p:nvSpPr>
            <p:cNvPr id="26" name="圆角矩形 25"/>
            <p:cNvSpPr/>
            <p:nvPr>
              <p:custDataLst>
                <p:tags r:id="rId17"/>
              </p:custDataLst>
            </p:nvPr>
          </p:nvSpPr>
          <p:spPr>
            <a:xfrm>
              <a:off x="915" y="6345"/>
              <a:ext cx="4200" cy="3112"/>
            </a:xfrm>
            <a:prstGeom prst="roundRect">
              <a:avLst>
                <a:gd name="adj" fmla="val 2857"/>
              </a:avLst>
            </a:prstGeom>
            <a:solidFill>
              <a:srgbClr val="FFFFFF"/>
            </a:solidFill>
            <a:effectLst>
              <a:outerShdw blurRad="76200" dist="19050" dir="5400000">
                <a:srgbClr val="0F1F3A">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7" name="任意多边形 26"/>
            <p:cNvSpPr/>
            <p:nvPr>
              <p:custDataLst>
                <p:tags r:id="rId18"/>
              </p:custDataLst>
            </p:nvPr>
          </p:nvSpPr>
          <p:spPr>
            <a:xfrm>
              <a:off x="915" y="6345"/>
              <a:ext cx="4200" cy="2662"/>
            </a:xfrm>
            <a:custGeom>
              <a:avLst/>
              <a:gdLst/>
              <a:ahLst/>
              <a:cxnLst/>
              <a:rect l="0" t="0" r="0" b="0"/>
              <a:pathLst>
                <a:path w="280" h="396">
                  <a:moveTo>
                    <a:pt x="272" y="0"/>
                  </a:moveTo>
                  <a:cubicBezTo>
                    <a:pt x="276" y="0"/>
                    <a:pt x="279" y="3"/>
                    <a:pt x="280" y="7"/>
                  </a:cubicBezTo>
                  <a:cubicBezTo>
                    <a:pt x="279" y="6"/>
                    <a:pt x="278" y="5"/>
                    <a:pt x="277" y="5"/>
                  </a:cubicBezTo>
                  <a:lnTo>
                    <a:pt x="3" y="5"/>
                  </a:lnTo>
                  <a:cubicBezTo>
                    <a:pt x="1" y="5"/>
                    <a:pt x="0" y="6"/>
                    <a:pt x="0" y="8"/>
                  </a:cubicBezTo>
                  <a:cubicBezTo>
                    <a:pt x="0" y="3"/>
                    <a:pt x="4" y="0"/>
                    <a:pt x="8" y="0"/>
                  </a:cubicBezTo>
                  <a:lnTo>
                    <a:pt x="272" y="0"/>
                  </a:lnTo>
                  <a:close/>
                </a:path>
              </a:pathLst>
            </a:custGeom>
            <a:solidFill>
              <a:srgbClr val="C7000B"/>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8" name="任意多边形 27"/>
            <p:cNvSpPr/>
            <p:nvPr>
              <p:custDataLst>
                <p:tags r:id="rId19"/>
              </p:custDataLst>
            </p:nvPr>
          </p:nvSpPr>
          <p:spPr>
            <a:xfrm>
              <a:off x="1155" y="6585"/>
              <a:ext cx="420" cy="420"/>
            </a:xfrm>
            <a:custGeom>
              <a:avLst/>
              <a:gdLst/>
              <a:ahLst/>
              <a:cxnLst/>
              <a:rect l="0" t="0" r="0" b="0"/>
              <a:pathLst>
                <a:path w="28" h="28">
                  <a:moveTo>
                    <a:pt x="14" y="0"/>
                  </a:moveTo>
                  <a:lnTo>
                    <a:pt x="14" y="0"/>
                  </a:lnTo>
                  <a:cubicBezTo>
                    <a:pt x="22" y="0"/>
                    <a:pt x="28" y="6"/>
                    <a:pt x="28" y="14"/>
                  </a:cubicBezTo>
                  <a:lnTo>
                    <a:pt x="28" y="14"/>
                  </a:lnTo>
                  <a:cubicBezTo>
                    <a:pt x="28" y="22"/>
                    <a:pt x="22" y="28"/>
                    <a:pt x="14" y="28"/>
                  </a:cubicBezTo>
                  <a:lnTo>
                    <a:pt x="14" y="28"/>
                  </a:lnTo>
                  <a:cubicBezTo>
                    <a:pt x="6" y="28"/>
                    <a:pt x="0" y="22"/>
                    <a:pt x="0" y="14"/>
                  </a:cubicBezTo>
                  <a:lnTo>
                    <a:pt x="0" y="14"/>
                  </a:lnTo>
                  <a:cubicBezTo>
                    <a:pt x="0" y="6"/>
                    <a:pt x="6" y="0"/>
                    <a:pt x="14" y="0"/>
                  </a:cubicBezTo>
                  <a:close/>
                </a:path>
              </a:pathLst>
            </a:custGeom>
            <a:solidFill>
              <a:srgbClr val="C7000B"/>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9" name="文本框 28" descr="{&quot;isTemplate&quot;:true,&quot;type&quot;:&quot;text&quot;}"/>
            <p:cNvSpPr txBox="1"/>
            <p:nvPr>
              <p:custDataLst>
                <p:tags r:id="rId20"/>
              </p:custDataLst>
            </p:nvPr>
          </p:nvSpPr>
          <p:spPr>
            <a:xfrm>
              <a:off x="1290" y="6660"/>
              <a:ext cx="150" cy="270"/>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a:t>
              </a:r>
              <a:endPar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0" name="文本框 29" descr="{&quot;isTemplate&quot;:true,&quot;type&quot;:&quot;text&quot;}"/>
            <p:cNvSpPr txBox="1"/>
            <p:nvPr>
              <p:custDataLst>
                <p:tags r:id="rId21"/>
              </p:custDataLst>
            </p:nvPr>
          </p:nvSpPr>
          <p:spPr>
            <a:xfrm>
              <a:off x="1725" y="6630"/>
              <a:ext cx="1575" cy="345"/>
            </a:xfrm>
            <a:prstGeom prst="rect">
              <a:avLst/>
            </a:prstGeom>
          </p:spPr>
          <p:txBody>
            <a:bodyPr wrap="none" lIns="0" tIns="0" rIns="0" bIns="0"/>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不懂业务</a:t>
              </a:r>
              <a:r>
                <a:rPr kumimoji="0" 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行话</a:t>
              </a:r>
              <a:r>
                <a:rPr kumimoji="0" 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a:t>
              </a:r>
              <a:endParaRPr kumimoji="0" 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 name="文本框 30" descr="{&quot;isTemplate&quot;:true,&quot;type&quot;:&quot;text&quot;}"/>
            <p:cNvSpPr txBox="1"/>
            <p:nvPr>
              <p:custDataLst>
                <p:tags r:id="rId22"/>
              </p:custDataLst>
            </p:nvPr>
          </p:nvSpPr>
          <p:spPr>
            <a:xfrm>
              <a:off x="1155" y="7185"/>
              <a:ext cx="3720" cy="1350"/>
            </a:xfrm>
            <a:prstGeom prst="rect">
              <a:avLst/>
            </a:prstGeom>
          </p:spPr>
          <p:txBody>
            <a:bodyPr wrap="square" lIns="0" tIns="0" rIns="0" bIns="0">
              <a:noAutofit/>
            </a:bodyPr>
            <a:lstStyle/>
            <a:p>
              <a:pPr marL="0" marR="0" lvl="0" indent="0" algn="l" defTabSz="914400" rtl="0" eaLnBrk="1" fontAlgn="auto" latinLnBrk="0" hangingPunct="1">
                <a:lnSpc>
                  <a:spcPct val="155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能理解</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利润</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这个词，却不懂你问的究竟是毛利润还是净利润、分摊规则是什么。在银行，一个</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风险</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就分信用、市场、操作等几十种细分定义。</a:t>
              </a:r>
              <a:endPar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2" name="圆角矩形 31"/>
            <p:cNvSpPr/>
            <p:nvPr>
              <p:custDataLst>
                <p:tags r:id="rId23"/>
              </p:custDataLst>
            </p:nvPr>
          </p:nvSpPr>
          <p:spPr>
            <a:xfrm>
              <a:off x="5355" y="6345"/>
              <a:ext cx="4200" cy="3112"/>
            </a:xfrm>
            <a:prstGeom prst="roundRect">
              <a:avLst>
                <a:gd name="adj" fmla="val 2857"/>
              </a:avLst>
            </a:prstGeom>
            <a:solidFill>
              <a:srgbClr val="FFFFFF"/>
            </a:solidFill>
            <a:effectLst>
              <a:outerShdw blurRad="76200" dist="19050" dir="5400000">
                <a:srgbClr val="0F1F3A">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3" name="任意多边形 32"/>
            <p:cNvSpPr/>
            <p:nvPr>
              <p:custDataLst>
                <p:tags r:id="rId24"/>
              </p:custDataLst>
            </p:nvPr>
          </p:nvSpPr>
          <p:spPr>
            <a:xfrm>
              <a:off x="5355" y="6345"/>
              <a:ext cx="4200" cy="2662"/>
            </a:xfrm>
            <a:custGeom>
              <a:avLst/>
              <a:gdLst/>
              <a:ahLst/>
              <a:cxnLst/>
              <a:rect l="0" t="0" r="0" b="0"/>
              <a:pathLst>
                <a:path w="280" h="396">
                  <a:moveTo>
                    <a:pt x="272" y="0"/>
                  </a:moveTo>
                  <a:cubicBezTo>
                    <a:pt x="276" y="0"/>
                    <a:pt x="279" y="3"/>
                    <a:pt x="280" y="7"/>
                  </a:cubicBezTo>
                  <a:cubicBezTo>
                    <a:pt x="279" y="6"/>
                    <a:pt x="278" y="5"/>
                    <a:pt x="277" y="5"/>
                  </a:cubicBezTo>
                  <a:lnTo>
                    <a:pt x="3" y="5"/>
                  </a:lnTo>
                  <a:cubicBezTo>
                    <a:pt x="1" y="5"/>
                    <a:pt x="0" y="6"/>
                    <a:pt x="0" y="8"/>
                  </a:cubicBezTo>
                  <a:cubicBezTo>
                    <a:pt x="0" y="3"/>
                    <a:pt x="4" y="0"/>
                    <a:pt x="8" y="0"/>
                  </a:cubicBezTo>
                  <a:lnTo>
                    <a:pt x="272" y="0"/>
                  </a:lnTo>
                  <a:close/>
                </a:path>
              </a:pathLst>
            </a:custGeom>
            <a:solidFill>
              <a:srgbClr val="B8893A"/>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4" name="任意多边形 33"/>
            <p:cNvSpPr/>
            <p:nvPr>
              <p:custDataLst>
                <p:tags r:id="rId25"/>
              </p:custDataLst>
            </p:nvPr>
          </p:nvSpPr>
          <p:spPr>
            <a:xfrm>
              <a:off x="5595" y="6585"/>
              <a:ext cx="420" cy="420"/>
            </a:xfrm>
            <a:custGeom>
              <a:avLst/>
              <a:gdLst/>
              <a:ahLst/>
              <a:cxnLst/>
              <a:rect l="0" t="0" r="0" b="0"/>
              <a:pathLst>
                <a:path w="28" h="28">
                  <a:moveTo>
                    <a:pt x="14" y="0"/>
                  </a:moveTo>
                  <a:lnTo>
                    <a:pt x="14" y="0"/>
                  </a:lnTo>
                  <a:cubicBezTo>
                    <a:pt x="22" y="0"/>
                    <a:pt x="28" y="6"/>
                    <a:pt x="28" y="14"/>
                  </a:cubicBezTo>
                  <a:lnTo>
                    <a:pt x="28" y="14"/>
                  </a:lnTo>
                  <a:cubicBezTo>
                    <a:pt x="28" y="22"/>
                    <a:pt x="22" y="28"/>
                    <a:pt x="14" y="28"/>
                  </a:cubicBezTo>
                  <a:lnTo>
                    <a:pt x="14" y="28"/>
                  </a:lnTo>
                  <a:cubicBezTo>
                    <a:pt x="6" y="28"/>
                    <a:pt x="0" y="22"/>
                    <a:pt x="0" y="14"/>
                  </a:cubicBezTo>
                  <a:lnTo>
                    <a:pt x="0" y="14"/>
                  </a:lnTo>
                  <a:cubicBezTo>
                    <a:pt x="0" y="6"/>
                    <a:pt x="6" y="0"/>
                    <a:pt x="14" y="0"/>
                  </a:cubicBezTo>
                  <a:close/>
                </a:path>
              </a:pathLst>
            </a:custGeom>
            <a:solidFill>
              <a:srgbClr val="B8893A"/>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5" name="文本框 34" descr="{&quot;isTemplate&quot;:true,&quot;type&quot;:&quot;text&quot;}"/>
            <p:cNvSpPr txBox="1"/>
            <p:nvPr>
              <p:custDataLst>
                <p:tags r:id="rId26"/>
              </p:custDataLst>
            </p:nvPr>
          </p:nvSpPr>
          <p:spPr>
            <a:xfrm>
              <a:off x="5730" y="6660"/>
              <a:ext cx="150" cy="270"/>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a:t>
              </a:r>
              <a:endPar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6" name="文本框 35" descr="{&quot;isTemplate&quot;:true,&quot;type&quot;:&quot;text&quot;}"/>
            <p:cNvSpPr txBox="1"/>
            <p:nvPr>
              <p:custDataLst>
                <p:tags r:id="rId27"/>
              </p:custDataLst>
            </p:nvPr>
          </p:nvSpPr>
          <p:spPr>
            <a:xfrm>
              <a:off x="6165" y="6630"/>
              <a:ext cx="1575" cy="345"/>
            </a:xfrm>
            <a:prstGeom prst="rect">
              <a:avLst/>
            </a:prstGeom>
          </p:spPr>
          <p:txBody>
            <a:bodyPr wrap="none" lIns="0" tIns="0" rIns="0" bIns="0"/>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rPr>
                <a:t>难以长链条推理</a:t>
              </a:r>
              <a:endPar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endParaRPr>
            </a:p>
          </p:txBody>
        </p:sp>
        <p:sp>
          <p:nvSpPr>
            <p:cNvPr id="37" name="文本框 36" descr="{&quot;isTemplate&quot;:true,&quot;type&quot;:&quot;text&quot;}"/>
            <p:cNvSpPr txBox="1"/>
            <p:nvPr>
              <p:custDataLst>
                <p:tags r:id="rId28"/>
              </p:custDataLst>
            </p:nvPr>
          </p:nvSpPr>
          <p:spPr>
            <a:xfrm>
              <a:off x="5595" y="7185"/>
              <a:ext cx="3720" cy="1005"/>
            </a:xfrm>
            <a:prstGeom prst="rect">
              <a:avLst/>
            </a:prstGeom>
          </p:spPr>
          <p:txBody>
            <a:bodyPr wrap="square" lIns="0" tIns="0" rIns="0" bIns="0">
              <a:noAutofit/>
            </a:bodyPr>
            <a:lstStyle/>
            <a:p>
              <a:pPr marL="0" marR="0" lvl="0" indent="0" algn="l" defTabSz="914400" rtl="0" eaLnBrk="1" fontAlgn="auto" latinLnBrk="0" hangingPunct="1">
                <a:lnSpc>
                  <a:spcPct val="155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擅长短平快的问答，却难应对需要跨越</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 5 </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跳、</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10 </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跳甚至</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 20 </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跳数据源的复杂业务推理（如信贷审批、反欺诈），往往力不从心。</a:t>
              </a:r>
              <a:endPar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3" name="组合 2"/>
          <p:cNvGrpSpPr/>
          <p:nvPr/>
        </p:nvGrpSpPr>
        <p:grpSpPr>
          <a:xfrm>
            <a:off x="581025" y="4229100"/>
            <a:ext cx="5486400" cy="1976120"/>
            <a:chOff x="9795" y="6345"/>
            <a:chExt cx="8640" cy="3112"/>
          </a:xfrm>
        </p:grpSpPr>
        <p:sp>
          <p:nvSpPr>
            <p:cNvPr id="38" name="圆角矩形 37"/>
            <p:cNvSpPr/>
            <p:nvPr>
              <p:custDataLst>
                <p:tags r:id="rId29"/>
              </p:custDataLst>
            </p:nvPr>
          </p:nvSpPr>
          <p:spPr>
            <a:xfrm>
              <a:off x="9795" y="6345"/>
              <a:ext cx="4200" cy="3112"/>
            </a:xfrm>
            <a:prstGeom prst="roundRect">
              <a:avLst>
                <a:gd name="adj" fmla="val 2857"/>
              </a:avLst>
            </a:prstGeom>
            <a:solidFill>
              <a:srgbClr val="FFFFFF"/>
            </a:solidFill>
            <a:effectLst>
              <a:outerShdw blurRad="76200" dist="19050" dir="5400000">
                <a:srgbClr val="0F1F3A">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9" name="任意多边形 38"/>
            <p:cNvSpPr/>
            <p:nvPr>
              <p:custDataLst>
                <p:tags r:id="rId30"/>
              </p:custDataLst>
            </p:nvPr>
          </p:nvSpPr>
          <p:spPr>
            <a:xfrm>
              <a:off x="9795" y="6345"/>
              <a:ext cx="4200" cy="2662"/>
            </a:xfrm>
            <a:custGeom>
              <a:avLst/>
              <a:gdLst/>
              <a:ahLst/>
              <a:cxnLst/>
              <a:rect l="0" t="0" r="0" b="0"/>
              <a:pathLst>
                <a:path w="280" h="396">
                  <a:moveTo>
                    <a:pt x="272" y="0"/>
                  </a:moveTo>
                  <a:cubicBezTo>
                    <a:pt x="276" y="0"/>
                    <a:pt x="279" y="3"/>
                    <a:pt x="280" y="7"/>
                  </a:cubicBezTo>
                  <a:cubicBezTo>
                    <a:pt x="279" y="6"/>
                    <a:pt x="278" y="5"/>
                    <a:pt x="277" y="5"/>
                  </a:cubicBezTo>
                  <a:lnTo>
                    <a:pt x="3" y="5"/>
                  </a:lnTo>
                  <a:cubicBezTo>
                    <a:pt x="1" y="5"/>
                    <a:pt x="0" y="6"/>
                    <a:pt x="0" y="8"/>
                  </a:cubicBezTo>
                  <a:cubicBezTo>
                    <a:pt x="0" y="3"/>
                    <a:pt x="4" y="0"/>
                    <a:pt x="8" y="0"/>
                  </a:cubicBezTo>
                  <a:lnTo>
                    <a:pt x="272" y="0"/>
                  </a:lnTo>
                  <a:close/>
                </a:path>
              </a:pathLst>
            </a:custGeom>
            <a:solidFill>
              <a:srgbClr val="C7000B"/>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0" name="任意多边形 39"/>
            <p:cNvSpPr/>
            <p:nvPr>
              <p:custDataLst>
                <p:tags r:id="rId31"/>
              </p:custDataLst>
            </p:nvPr>
          </p:nvSpPr>
          <p:spPr>
            <a:xfrm>
              <a:off x="10035" y="6585"/>
              <a:ext cx="420" cy="420"/>
            </a:xfrm>
            <a:custGeom>
              <a:avLst/>
              <a:gdLst/>
              <a:ahLst/>
              <a:cxnLst/>
              <a:rect l="0" t="0" r="0" b="0"/>
              <a:pathLst>
                <a:path w="28" h="28">
                  <a:moveTo>
                    <a:pt x="14" y="0"/>
                  </a:moveTo>
                  <a:lnTo>
                    <a:pt x="14" y="0"/>
                  </a:lnTo>
                  <a:cubicBezTo>
                    <a:pt x="22" y="0"/>
                    <a:pt x="28" y="6"/>
                    <a:pt x="28" y="14"/>
                  </a:cubicBezTo>
                  <a:lnTo>
                    <a:pt x="28" y="14"/>
                  </a:lnTo>
                  <a:cubicBezTo>
                    <a:pt x="28" y="22"/>
                    <a:pt x="22" y="28"/>
                    <a:pt x="14" y="28"/>
                  </a:cubicBezTo>
                  <a:lnTo>
                    <a:pt x="14" y="28"/>
                  </a:lnTo>
                  <a:cubicBezTo>
                    <a:pt x="6" y="28"/>
                    <a:pt x="0" y="22"/>
                    <a:pt x="0" y="14"/>
                  </a:cubicBezTo>
                  <a:lnTo>
                    <a:pt x="0" y="14"/>
                  </a:lnTo>
                  <a:cubicBezTo>
                    <a:pt x="0" y="6"/>
                    <a:pt x="6" y="0"/>
                    <a:pt x="14" y="0"/>
                  </a:cubicBezTo>
                  <a:close/>
                </a:path>
              </a:pathLst>
            </a:custGeom>
            <a:solidFill>
              <a:srgbClr val="C7000B"/>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1" name="文本框 40" descr="{&quot;isTemplate&quot;:true,&quot;type&quot;:&quot;text&quot;}"/>
            <p:cNvSpPr txBox="1"/>
            <p:nvPr>
              <p:custDataLst>
                <p:tags r:id="rId32"/>
              </p:custDataLst>
            </p:nvPr>
          </p:nvSpPr>
          <p:spPr>
            <a:xfrm>
              <a:off x="10170" y="6660"/>
              <a:ext cx="150" cy="270"/>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a:t>
              </a:r>
              <a:endPar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2" name="文本框 41" descr="{&quot;isTemplate&quot;:true,&quot;type&quot;:&quot;text&quot;}"/>
            <p:cNvSpPr txBox="1"/>
            <p:nvPr>
              <p:custDataLst>
                <p:tags r:id="rId33"/>
              </p:custDataLst>
            </p:nvPr>
          </p:nvSpPr>
          <p:spPr>
            <a:xfrm>
              <a:off x="10605" y="6630"/>
              <a:ext cx="1800" cy="345"/>
            </a:xfrm>
            <a:prstGeom prst="rect">
              <a:avLst/>
            </a:prstGeom>
          </p:spPr>
          <p:txBody>
            <a:bodyPr wrap="none" lIns="0" tIns="0" rIns="0" bIns="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幻觉</a:t>
              </a:r>
              <a:r>
                <a:rPr kumimoji="0" 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rPr>
                <a:t>是内生缺陷</a:t>
              </a:r>
              <a:endPar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3" name="文本框 42" descr="{&quot;isTemplate&quot;:true,&quot;type&quot;:&quot;text&quot;}"/>
            <p:cNvSpPr txBox="1"/>
            <p:nvPr>
              <p:custDataLst>
                <p:tags r:id="rId34"/>
              </p:custDataLst>
            </p:nvPr>
          </p:nvSpPr>
          <p:spPr>
            <a:xfrm>
              <a:off x="10035" y="7185"/>
              <a:ext cx="3720" cy="1005"/>
            </a:xfrm>
            <a:prstGeom prst="rect">
              <a:avLst/>
            </a:prstGeom>
          </p:spPr>
          <p:txBody>
            <a:bodyPr wrap="square" lIns="0" tIns="0" rIns="0" bIns="0">
              <a:noAutofit/>
            </a:bodyPr>
            <a:lstStyle/>
            <a:p>
              <a:pPr marL="0" marR="0" lvl="0" indent="0" algn="l" defTabSz="914400" rtl="0" eaLnBrk="1" fontAlgn="auto" latinLnBrk="0" hangingPunct="1">
                <a:lnSpc>
                  <a:spcPct val="155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信息不足时，大模型会</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创造性</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地填补空白。在银行，这种</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一本正经的胡说八道</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可能导致错误的信贷决策或合规判断，后果严重。</a:t>
              </a:r>
              <a:endPar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4" name="圆角矩形 43"/>
            <p:cNvSpPr/>
            <p:nvPr>
              <p:custDataLst>
                <p:tags r:id="rId35"/>
              </p:custDataLst>
            </p:nvPr>
          </p:nvSpPr>
          <p:spPr>
            <a:xfrm>
              <a:off x="14235" y="6345"/>
              <a:ext cx="4200" cy="3112"/>
            </a:xfrm>
            <a:prstGeom prst="roundRect">
              <a:avLst>
                <a:gd name="adj" fmla="val 2857"/>
              </a:avLst>
            </a:prstGeom>
            <a:solidFill>
              <a:srgbClr val="FFFFFF"/>
            </a:solidFill>
            <a:effectLst>
              <a:outerShdw blurRad="76200" dist="19050" dir="5400000">
                <a:srgbClr val="0F1F3A">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5" name="任意多边形 44"/>
            <p:cNvSpPr/>
            <p:nvPr>
              <p:custDataLst>
                <p:tags r:id="rId36"/>
              </p:custDataLst>
            </p:nvPr>
          </p:nvSpPr>
          <p:spPr>
            <a:xfrm>
              <a:off x="14235" y="6345"/>
              <a:ext cx="4200" cy="2662"/>
            </a:xfrm>
            <a:custGeom>
              <a:avLst/>
              <a:gdLst/>
              <a:ahLst/>
              <a:cxnLst/>
              <a:rect l="0" t="0" r="0" b="0"/>
              <a:pathLst>
                <a:path w="280" h="396">
                  <a:moveTo>
                    <a:pt x="272" y="0"/>
                  </a:moveTo>
                  <a:cubicBezTo>
                    <a:pt x="276" y="0"/>
                    <a:pt x="279" y="3"/>
                    <a:pt x="280" y="7"/>
                  </a:cubicBezTo>
                  <a:cubicBezTo>
                    <a:pt x="279" y="6"/>
                    <a:pt x="278" y="5"/>
                    <a:pt x="277" y="5"/>
                  </a:cubicBezTo>
                  <a:lnTo>
                    <a:pt x="3" y="5"/>
                  </a:lnTo>
                  <a:cubicBezTo>
                    <a:pt x="1" y="5"/>
                    <a:pt x="0" y="6"/>
                    <a:pt x="0" y="8"/>
                  </a:cubicBezTo>
                  <a:cubicBezTo>
                    <a:pt x="0" y="3"/>
                    <a:pt x="4" y="0"/>
                    <a:pt x="8" y="0"/>
                  </a:cubicBezTo>
                  <a:lnTo>
                    <a:pt x="272" y="0"/>
                  </a:lnTo>
                  <a:close/>
                </a:path>
              </a:pathLst>
            </a:custGeom>
            <a:solidFill>
              <a:srgbClr val="B8893A"/>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6" name="任意多边形 45"/>
            <p:cNvSpPr/>
            <p:nvPr>
              <p:custDataLst>
                <p:tags r:id="rId37"/>
              </p:custDataLst>
            </p:nvPr>
          </p:nvSpPr>
          <p:spPr>
            <a:xfrm>
              <a:off x="14475" y="6585"/>
              <a:ext cx="420" cy="420"/>
            </a:xfrm>
            <a:custGeom>
              <a:avLst/>
              <a:gdLst/>
              <a:ahLst/>
              <a:cxnLst/>
              <a:rect l="0" t="0" r="0" b="0"/>
              <a:pathLst>
                <a:path w="28" h="28">
                  <a:moveTo>
                    <a:pt x="14" y="0"/>
                  </a:moveTo>
                  <a:lnTo>
                    <a:pt x="14" y="0"/>
                  </a:lnTo>
                  <a:cubicBezTo>
                    <a:pt x="22" y="0"/>
                    <a:pt x="28" y="6"/>
                    <a:pt x="28" y="14"/>
                  </a:cubicBezTo>
                  <a:lnTo>
                    <a:pt x="28" y="14"/>
                  </a:lnTo>
                  <a:cubicBezTo>
                    <a:pt x="28" y="22"/>
                    <a:pt x="22" y="28"/>
                    <a:pt x="14" y="28"/>
                  </a:cubicBezTo>
                  <a:lnTo>
                    <a:pt x="14" y="28"/>
                  </a:lnTo>
                  <a:cubicBezTo>
                    <a:pt x="6" y="28"/>
                    <a:pt x="0" y="22"/>
                    <a:pt x="0" y="14"/>
                  </a:cubicBezTo>
                  <a:lnTo>
                    <a:pt x="0" y="14"/>
                  </a:lnTo>
                  <a:cubicBezTo>
                    <a:pt x="0" y="6"/>
                    <a:pt x="6" y="0"/>
                    <a:pt x="14" y="0"/>
                  </a:cubicBezTo>
                  <a:close/>
                </a:path>
              </a:pathLst>
            </a:custGeom>
            <a:solidFill>
              <a:srgbClr val="B8893A"/>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7" name="文本框 46" descr="{&quot;isTemplate&quot;:true,&quot;type&quot;:&quot;text&quot;}"/>
            <p:cNvSpPr txBox="1"/>
            <p:nvPr>
              <p:custDataLst>
                <p:tags r:id="rId38"/>
              </p:custDataLst>
            </p:nvPr>
          </p:nvSpPr>
          <p:spPr>
            <a:xfrm>
              <a:off x="14610" y="6660"/>
              <a:ext cx="150" cy="270"/>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a:t>
              </a:r>
              <a:endParaRPr kumimoji="0" sz="14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8" name="文本框 47" descr="{&quot;isTemplate&quot;:true,&quot;type&quot;:&quot;text&quot;}"/>
            <p:cNvSpPr txBox="1"/>
            <p:nvPr>
              <p:custDataLst>
                <p:tags r:id="rId39"/>
              </p:custDataLst>
            </p:nvPr>
          </p:nvSpPr>
          <p:spPr>
            <a:xfrm>
              <a:off x="15045" y="6630"/>
              <a:ext cx="1575" cy="345"/>
            </a:xfrm>
            <a:prstGeom prst="rect">
              <a:avLst/>
            </a:prstGeom>
          </p:spPr>
          <p:txBody>
            <a:bodyPr wrap="none" lIns="0" tIns="0" rIns="0" bIns="0"/>
            <a:lstStyle/>
            <a:p>
              <a:pPr marL="0" marR="0" lvl="0" indent="0" algn="l" defTabSz="914400" rtl="0" eaLnBrk="1" fontAlgn="auto" latinLnBrk="0" hangingPunct="1">
                <a:lnSpc>
                  <a:spcPct val="125000"/>
                </a:lnSpc>
                <a:spcBef>
                  <a:spcPts val="0"/>
                </a:spcBef>
                <a:spcAft>
                  <a:spcPts val="0"/>
                </a:spcAft>
                <a:buClrTx/>
                <a:buSzTx/>
                <a:buFontTx/>
                <a:buNone/>
                <a:defRPr/>
              </a:pPr>
              <a:r>
                <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rPr>
                <a:t>操作存在不确定性</a:t>
              </a:r>
              <a:endParaRPr kumimoji="0" lang="zh-CN" altLang="en-US" sz="1400" b="1"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endParaRPr>
            </a:p>
          </p:txBody>
        </p:sp>
        <p:sp>
          <p:nvSpPr>
            <p:cNvPr id="49" name="文本框 48" descr="{&quot;isTemplate&quot;:true,&quot;type&quot;:&quot;text&quot;}"/>
            <p:cNvSpPr txBox="1"/>
            <p:nvPr>
              <p:custDataLst>
                <p:tags r:id="rId40"/>
              </p:custDataLst>
            </p:nvPr>
          </p:nvSpPr>
          <p:spPr>
            <a:xfrm>
              <a:off x="14475" y="7185"/>
              <a:ext cx="3720" cy="1005"/>
            </a:xfrm>
            <a:prstGeom prst="rect">
              <a:avLst/>
            </a:prstGeom>
          </p:spPr>
          <p:txBody>
            <a:bodyPr wrap="square" lIns="0" tIns="0" rIns="0" bIns="0">
              <a:noAutofit/>
            </a:bodyPr>
            <a:lstStyle/>
            <a:p>
              <a:pPr marL="0" marR="0" lvl="0" indent="0" algn="l" defTabSz="914400" rtl="0" eaLnBrk="1" fontAlgn="auto" latinLnBrk="0" hangingPunct="1">
                <a:lnSpc>
                  <a:spcPct val="155000"/>
                </a:lnSpc>
                <a:spcBef>
                  <a:spcPts val="0"/>
                </a:spcBef>
                <a:spcAft>
                  <a:spcPts val="0"/>
                </a:spcAft>
                <a:buClrTx/>
                <a:buSzTx/>
                <a:buFontTx/>
                <a:buNone/>
                <a:defRPr/>
              </a:pP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直接操作系统，它可能调用错误的</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 API</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、传错参数，甚至无法区分</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 unit_id </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与</a:t>
              </a:r>
              <a:r>
                <a:rPr kumimoji="0" 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 dept_id </a:t>
              </a:r>
              <a:r>
                <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rPr>
                <a:t>是不是同一回事。</a:t>
              </a:r>
              <a:endParaRPr kumimoji="0" lang="zh-CN" altLang="en-US" sz="1200" b="0" i="0" u="none" strike="noStrike" kern="1200" cap="none" spc="0" normalizeH="0" baseline="0" noProof="0">
                <a:ln>
                  <a:noFill/>
                </a:ln>
                <a:solidFill>
                  <a:srgbClr val="555B68"/>
                </a:solidFill>
                <a:effectLst/>
                <a:uLnTx/>
                <a:uFillTx/>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800100"/>
          </a:xfrm>
          <a:prstGeom prst="rect">
            <a:avLst/>
          </a:prstGeom>
          <a:noFill/>
          <a:ln w="25400" cap="flat" cmpd="sng">
            <a:noFill/>
            <a:prstDash val="solid"/>
            <a:round/>
          </a:ln>
        </p:spPr>
      </p:pic>
      <p:sp>
        <p:nvSpPr>
          <p:cNvPr id="3" name="AutoShape 3"/>
          <p:cNvSpPr/>
          <p:nvPr/>
        </p:nvSpPr>
        <p:spPr bwMode="auto">
          <a:xfrm>
            <a:off x="317500" y="203200"/>
            <a:ext cx="10934700" cy="381000"/>
          </a:xfrm>
          <a:prstGeom prst="rect">
            <a:avLst/>
          </a:prstGeom>
        </p:spPr>
        <p:txBody>
          <a:bodyPr vert="horz" wrap="square" lIns="91440" tIns="45720" rIns="91440" bIns="45720" rtlCol="0" anchor="ctr" anchorCtr="0">
            <a:noAutofit/>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lnSpc>
                <a:spcPct val="90000"/>
              </a:lnSpc>
              <a:buClrTx/>
              <a:buSzTx/>
              <a:buFontTx/>
            </a:pPr>
            <a:r>
              <a:rPr kumimoji="0" lang="zh-CN" altLang="en-US"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引入RAG为代表的知识工程技术，AI幻觉问题仍然存在</a:t>
            </a:r>
            <a:endParaRPr kumimoji="0" lang="zh-CN" altLang="en-US"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4" name="组合 3"/>
          <p:cNvGrpSpPr/>
          <p:nvPr/>
        </p:nvGrpSpPr>
        <p:grpSpPr>
          <a:xfrm>
            <a:off x="606000" y="1649595"/>
            <a:ext cx="10980000" cy="5040001"/>
            <a:chOff x="606000" y="1271224"/>
            <a:chExt cx="10919860" cy="4848776"/>
          </a:xfrm>
        </p:grpSpPr>
        <p:sp>
          <p:nvSpPr>
            <p:cNvPr id="5" name="矩形: 圆角 102"/>
            <p:cNvSpPr/>
            <p:nvPr>
              <p:custDataLst>
                <p:tags r:id="rId2"/>
              </p:custDataLst>
            </p:nvPr>
          </p:nvSpPr>
          <p:spPr>
            <a:xfrm>
              <a:off x="606000" y="1272290"/>
              <a:ext cx="6172185" cy="4847709"/>
            </a:xfrm>
            <a:prstGeom prst="roundRect">
              <a:avLst>
                <a:gd name="adj" fmla="val 2989"/>
              </a:avLst>
            </a:prstGeom>
            <a:solidFill>
              <a:srgbClr val="FFFFFF"/>
            </a:solidFill>
            <a:ln w="12700" cap="flat" cmpd="sng" algn="ctr">
              <a:solidFill>
                <a:srgbClr val="FFFFFF">
                  <a:lumMod val="85000"/>
                </a:srgbClr>
              </a:solidFill>
              <a:prstDash val="solid"/>
              <a:miter lim="800000"/>
            </a:ln>
            <a:effectLst>
              <a:outerShdw blurRad="63500" algn="ctr" rotWithShape="0">
                <a:srgbClr val="FFFFFF">
                  <a:lumMod val="65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666666"/>
                </a:solidFill>
                <a:effectLst/>
                <a:uLnTx/>
                <a:uFillTx/>
                <a:latin typeface="微软雅黑" panose="020B0503020204020204" charset="-122"/>
                <a:ea typeface="微软雅黑" panose="020B0503020204020204" charset="-122"/>
                <a:cs typeface="+mn-ea"/>
                <a:sym typeface="+mn-lt"/>
              </a:endParaRPr>
            </a:p>
          </p:txBody>
        </p:sp>
        <p:grpSp>
          <p:nvGrpSpPr>
            <p:cNvPr id="17" name="组合 16"/>
            <p:cNvGrpSpPr/>
            <p:nvPr/>
          </p:nvGrpSpPr>
          <p:grpSpPr>
            <a:xfrm>
              <a:off x="1013256" y="4042251"/>
              <a:ext cx="2026844" cy="1747642"/>
              <a:chOff x="575147" y="3829500"/>
              <a:chExt cx="2828878" cy="1815990"/>
            </a:xfrm>
          </p:grpSpPr>
          <p:sp>
            <p:nvSpPr>
              <p:cNvPr id="18" name="矩形 17"/>
              <p:cNvSpPr/>
              <p:nvPr>
                <p:custDataLst>
                  <p:tags r:id="rId3"/>
                </p:custDataLst>
              </p:nvPr>
            </p:nvSpPr>
            <p:spPr>
              <a:xfrm>
                <a:off x="575147" y="3983252"/>
                <a:ext cx="2828878" cy="1662238"/>
              </a:xfrm>
              <a:prstGeom prst="rect">
                <a:avLst/>
              </a:prstGeom>
              <a:solidFill>
                <a:srgbClr val="FFFFFF"/>
              </a:solidFill>
              <a:ln w="19050" cap="flat" cmpd="sng" algn="ctr">
                <a:solidFill>
                  <a:srgbClr val="DDDDDD"/>
                </a:solidFill>
                <a:prstDash val="lgDashDot"/>
                <a:miter lim="800000"/>
              </a:ln>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srgbClr val="666666"/>
                  </a:solidFill>
                  <a:effectLst/>
                  <a:uLnTx/>
                  <a:uFillTx/>
                  <a:latin typeface="微软雅黑" panose="020B0503020204020204" charset="-122"/>
                  <a:ea typeface="微软雅黑" panose="020B0503020204020204" charset="-122"/>
                  <a:cs typeface="+mn-ea"/>
                  <a:sym typeface="+mn-lt"/>
                </a:endParaRPr>
              </a:p>
            </p:txBody>
          </p:sp>
          <p:sp>
            <p:nvSpPr>
              <p:cNvPr id="19" name="矩形 18"/>
              <p:cNvSpPr/>
              <p:nvPr>
                <p:custDataLst>
                  <p:tags r:id="rId4"/>
                </p:custDataLst>
              </p:nvPr>
            </p:nvSpPr>
            <p:spPr>
              <a:xfrm>
                <a:off x="1611586" y="3829500"/>
                <a:ext cx="756000" cy="288000"/>
              </a:xfrm>
              <a:prstGeom prst="rect">
                <a:avLst/>
              </a:prstGeom>
              <a:solidFill>
                <a:srgbClr val="FFFFFF"/>
              </a:solidFill>
              <a:ln w="9525"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文档入库</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grpSp>
        <p:sp>
          <p:nvSpPr>
            <p:cNvPr id="20" name="矩形 19"/>
            <p:cNvSpPr/>
            <p:nvPr>
              <p:custDataLst>
                <p:tags r:id="rId5"/>
              </p:custDataLst>
            </p:nvPr>
          </p:nvSpPr>
          <p:spPr>
            <a:xfrm>
              <a:off x="950096" y="2025472"/>
              <a:ext cx="678043" cy="333778"/>
            </a:xfrm>
            <a:prstGeom prst="rect">
              <a:avLst/>
            </a:prstGeom>
            <a:solidFill>
              <a:srgbClr val="FFFFFF">
                <a:lumMod val="95000"/>
              </a:srgbClr>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用户问题</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21" name="流程图: 多文档 20"/>
            <p:cNvSpPr/>
            <p:nvPr>
              <p:custDataLst>
                <p:tags r:id="rId6"/>
              </p:custDataLst>
            </p:nvPr>
          </p:nvSpPr>
          <p:spPr>
            <a:xfrm>
              <a:off x="4449720" y="2031685"/>
              <a:ext cx="311351" cy="627172"/>
            </a:xfrm>
            <a:prstGeom prst="flowChartMultidocument">
              <a:avLst/>
            </a:prstGeom>
            <a:solidFill>
              <a:srgbClr val="FFFFFF">
                <a:lumMod val="75000"/>
              </a:srgbClr>
            </a:solidFill>
            <a:ln w="9525" cap="flat" cmpd="sng" algn="ctr">
              <a:solidFill>
                <a:srgbClr val="FFFFFF"/>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p:txBody>
        </p:sp>
        <p:sp>
          <p:nvSpPr>
            <p:cNvPr id="22" name="流程图: 多文档 21"/>
            <p:cNvSpPr/>
            <p:nvPr>
              <p:custDataLst>
                <p:tags r:id="rId7"/>
              </p:custDataLst>
            </p:nvPr>
          </p:nvSpPr>
          <p:spPr>
            <a:xfrm>
              <a:off x="5910627" y="2031685"/>
              <a:ext cx="311351" cy="627172"/>
            </a:xfrm>
            <a:prstGeom prst="flowChartMultidocument">
              <a:avLst/>
            </a:prstGeom>
            <a:solidFill>
              <a:srgbClr val="FFFFFF">
                <a:lumMod val="75000"/>
              </a:srgbClr>
            </a:solidFill>
            <a:ln w="9525" cap="flat" cmpd="sng" algn="ctr">
              <a:solidFill>
                <a:srgbClr val="FFFFFF"/>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p:txBody>
        </p:sp>
        <p:cxnSp>
          <p:nvCxnSpPr>
            <p:cNvPr id="23" name="直接箭头连接符 22"/>
            <p:cNvCxnSpPr>
              <a:stCxn id="21" idx="3"/>
              <a:endCxn id="54" idx="1"/>
            </p:cNvCxnSpPr>
            <p:nvPr>
              <p:custDataLst>
                <p:tags r:id="rId8"/>
              </p:custDataLst>
            </p:nvPr>
          </p:nvCxnSpPr>
          <p:spPr>
            <a:xfrm flipV="1">
              <a:off x="4761072" y="2330226"/>
              <a:ext cx="152931" cy="15045"/>
            </a:xfrm>
            <a:prstGeom prst="straightConnector1">
              <a:avLst/>
            </a:prstGeom>
            <a:noFill/>
            <a:ln w="9525" cap="flat" cmpd="sng" algn="ctr">
              <a:solidFill>
                <a:srgbClr val="1D1D1A"/>
              </a:solidFill>
              <a:prstDash val="solid"/>
              <a:miter lim="800000"/>
              <a:tailEnd type="triangle"/>
            </a:ln>
            <a:effectLst/>
          </p:spPr>
        </p:cxnSp>
        <p:cxnSp>
          <p:nvCxnSpPr>
            <p:cNvPr id="24" name="直接箭头连接符 23"/>
            <p:cNvCxnSpPr>
              <a:stCxn id="54" idx="3"/>
              <a:endCxn id="22" idx="1"/>
            </p:cNvCxnSpPr>
            <p:nvPr>
              <p:custDataLst>
                <p:tags r:id="rId9"/>
              </p:custDataLst>
            </p:nvPr>
          </p:nvCxnSpPr>
          <p:spPr>
            <a:xfrm>
              <a:off x="5708161" y="2330226"/>
              <a:ext cx="202468" cy="15045"/>
            </a:xfrm>
            <a:prstGeom prst="straightConnector1">
              <a:avLst/>
            </a:prstGeom>
            <a:noFill/>
            <a:ln w="9525" cap="flat" cmpd="sng" algn="ctr">
              <a:solidFill>
                <a:srgbClr val="1D1D1A"/>
              </a:solidFill>
              <a:prstDash val="solid"/>
              <a:miter lim="800000"/>
              <a:tailEnd type="triangle"/>
            </a:ln>
            <a:effectLst/>
          </p:spPr>
        </p:cxnSp>
        <p:sp>
          <p:nvSpPr>
            <p:cNvPr id="25" name="文本框 24"/>
            <p:cNvSpPr txBox="1"/>
            <p:nvPr>
              <p:custDataLst>
                <p:tags r:id="rId10"/>
              </p:custDataLst>
            </p:nvPr>
          </p:nvSpPr>
          <p:spPr>
            <a:xfrm>
              <a:off x="4361951" y="2899713"/>
              <a:ext cx="1000950" cy="302978"/>
            </a:xfrm>
            <a:prstGeom prst="rect">
              <a:avLst/>
            </a:prstGeom>
            <a:noFill/>
          </p:spPr>
          <p:txBody>
            <a:bodyPr wrap="square" lIns="0" tIns="0" rIns="0" bIns="0" rtlCol="0">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一阶段召回文档</a:t>
              </a:r>
              <a:endParaRPr kumimoji="1" lang="en-US" altLang="zh-CN"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a:p>
              <a:pPr marL="0" marR="0" lvl="0" indent="0" algn="l" defTabSz="913765" rtl="0" eaLnBrk="1" fontAlgn="auto" latinLnBrk="0" hangingPunct="1">
                <a:lnSpc>
                  <a:spcPct val="100000"/>
                </a:lnSpc>
                <a:spcBef>
                  <a:spcPts val="0"/>
                </a:spcBef>
                <a:spcAft>
                  <a:spcPts val="0"/>
                </a:spcAft>
                <a:buClrTx/>
                <a:buSzTx/>
                <a:buFontTx/>
                <a:buNone/>
                <a:defRPr/>
              </a:pPr>
              <a:r>
                <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a:t>
              </a:r>
              <a:r>
                <a:rPr kumimoji="1" lang="en-US" altLang="zh-CN"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50-100</a:t>
              </a:r>
              <a:r>
                <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个文档）</a:t>
              </a:r>
              <a:endPar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26" name="文本框 25"/>
            <p:cNvSpPr txBox="1"/>
            <p:nvPr>
              <p:custDataLst>
                <p:tags r:id="rId11"/>
              </p:custDataLst>
            </p:nvPr>
          </p:nvSpPr>
          <p:spPr>
            <a:xfrm>
              <a:off x="6280103" y="2154765"/>
              <a:ext cx="469601" cy="302978"/>
            </a:xfrm>
            <a:prstGeom prst="rect">
              <a:avLst/>
            </a:prstGeom>
            <a:noFill/>
          </p:spPr>
          <p:txBody>
            <a:bodyPr wrap="square" lIns="0" tIns="0" rIns="0" bIns="0" rtlCol="0">
              <a:sp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文档搜索结果</a:t>
              </a:r>
              <a:endPar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27" name="矩形 26"/>
            <p:cNvSpPr/>
            <p:nvPr>
              <p:custDataLst>
                <p:tags r:id="rId12"/>
              </p:custDataLst>
            </p:nvPr>
          </p:nvSpPr>
          <p:spPr>
            <a:xfrm>
              <a:off x="3381971" y="5137172"/>
              <a:ext cx="851702" cy="615212"/>
            </a:xfrm>
            <a:prstGeom prst="rect">
              <a:avLst/>
            </a:prstGeom>
            <a:solidFill>
              <a:schemeClr val="accent1">
                <a:lumMod val="75000"/>
                <a:alpha val="63922"/>
              </a:schemeClr>
            </a:solidFill>
            <a:ln w="6350" cap="flat" cmpd="sng" algn="ctr">
              <a:solidFill>
                <a:srgbClr val="FFFFFF">
                  <a:lumMod val="95000"/>
                </a:srgbClr>
              </a:solidFill>
              <a:prstDash val="solid"/>
              <a:miter lim="800000"/>
            </a:ln>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lang="en-US" sz="1000" kern="0" noProof="0" dirty="0">
                  <a:ln>
                    <a:noFill/>
                  </a:ln>
                  <a:solidFill>
                    <a:prstClr val="black"/>
                  </a:solidFill>
                  <a:effectLst/>
                  <a:uLnTx/>
                  <a:uFillTx/>
                  <a:latin typeface="微软雅黑" panose="020B0503020204020204" charset="-122"/>
                  <a:ea typeface="微软雅黑" panose="020B0503020204020204" charset="-122"/>
                  <a:cs typeface="+mn-ea"/>
                  <a:sym typeface="+mn-lt"/>
                </a:rPr>
                <a:t>Embedding</a:t>
              </a:r>
              <a:endParaRPr kumimoji="0" 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3765" rtl="0" eaLnBrk="1" fontAlgn="auto" latinLnBrk="0" hangingPunct="1">
                <a:lnSpc>
                  <a:spcPct val="100000"/>
                </a:lnSpc>
                <a:spcBef>
                  <a:spcPts val="0"/>
                </a:spcBef>
                <a:spcAft>
                  <a:spcPts val="0"/>
                </a:spcAft>
                <a:buClrTx/>
                <a:buSzTx/>
                <a:buFontTx/>
                <a:buNone/>
                <a:defRPr/>
              </a:pPr>
              <a:r>
                <a:rPr lang="zh-CN" altLang="en-US" sz="1000" kern="0" noProof="0" dirty="0">
                  <a:ln>
                    <a:noFill/>
                  </a:ln>
                  <a:solidFill>
                    <a:prstClr val="black"/>
                  </a:solidFill>
                  <a:effectLst/>
                  <a:uLnTx/>
                  <a:uFillTx/>
                  <a:latin typeface="微软雅黑" panose="020B0503020204020204" charset="-122"/>
                  <a:ea typeface="微软雅黑" panose="020B0503020204020204" charset="-122"/>
                  <a:cs typeface="+mn-ea"/>
                  <a:sym typeface="+mn-lt"/>
                </a:rPr>
                <a:t>模型</a:t>
              </a:r>
              <a:endPar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sp>
          <p:nvSpPr>
            <p:cNvPr id="28" name="矩形 27"/>
            <p:cNvSpPr/>
            <p:nvPr>
              <p:custDataLst>
                <p:tags r:id="rId13"/>
              </p:custDataLst>
            </p:nvPr>
          </p:nvSpPr>
          <p:spPr>
            <a:xfrm>
              <a:off x="3381971" y="4157464"/>
              <a:ext cx="851702" cy="646026"/>
            </a:xfrm>
            <a:prstGeom prst="rect">
              <a:avLst/>
            </a:prstGeom>
            <a:solidFill>
              <a:schemeClr val="accent1">
                <a:lumMod val="75000"/>
                <a:alpha val="63922"/>
              </a:schemeClr>
            </a:solidFill>
            <a:ln w="6350" cap="flat" cmpd="sng" algn="ctr">
              <a:solidFill>
                <a:srgbClr val="FFFFFF">
                  <a:lumMod val="95000"/>
                </a:srgbClr>
              </a:solidFill>
              <a:prstDash val="solid"/>
              <a:miter lim="800000"/>
            </a:ln>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向量数据库</a:t>
              </a:r>
              <a:endParaRPr kumimoji="0" lang="en-US" altLang="zh-CN"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rPr>
                <a:t>（千万级文档）</a:t>
              </a:r>
              <a:endParaRPr kumimoji="0" lang="zh-CN" altLang="en-US" sz="10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cxnSp>
          <p:nvCxnSpPr>
            <p:cNvPr id="29" name="直接箭头连接符 28"/>
            <p:cNvCxnSpPr>
              <a:stCxn id="28" idx="2"/>
              <a:endCxn id="27" idx="0"/>
            </p:cNvCxnSpPr>
            <p:nvPr>
              <p:custDataLst>
                <p:tags r:id="rId14"/>
              </p:custDataLst>
            </p:nvPr>
          </p:nvCxnSpPr>
          <p:spPr>
            <a:xfrm>
              <a:off x="3807822" y="4803485"/>
              <a:ext cx="0" cy="333661"/>
            </a:xfrm>
            <a:prstGeom prst="straightConnector1">
              <a:avLst/>
            </a:prstGeom>
            <a:noFill/>
            <a:ln w="6350" cap="flat" cmpd="sng" algn="ctr">
              <a:solidFill>
                <a:srgbClr val="1D1D1A"/>
              </a:solidFill>
              <a:prstDash val="solid"/>
              <a:miter lim="800000"/>
              <a:headEnd type="triangle"/>
              <a:tailEnd type="triangle"/>
            </a:ln>
            <a:effectLst/>
          </p:spPr>
        </p:cxnSp>
        <p:sp>
          <p:nvSpPr>
            <p:cNvPr id="30" name="文本框 29"/>
            <p:cNvSpPr txBox="1"/>
            <p:nvPr>
              <p:custDataLst>
                <p:tags r:id="rId15"/>
              </p:custDataLst>
            </p:nvPr>
          </p:nvSpPr>
          <p:spPr>
            <a:xfrm>
              <a:off x="3721166" y="4840895"/>
              <a:ext cx="735941" cy="151489"/>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出：向量</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31" name="矩形 30"/>
            <p:cNvSpPr/>
            <p:nvPr>
              <p:custDataLst>
                <p:tags r:id="rId16"/>
              </p:custDataLst>
            </p:nvPr>
          </p:nvSpPr>
          <p:spPr>
            <a:xfrm>
              <a:off x="3375529" y="1901740"/>
              <a:ext cx="851701" cy="581242"/>
            </a:xfrm>
            <a:prstGeom prst="rect">
              <a:avLst/>
            </a:prstGeom>
            <a:solidFill>
              <a:srgbClr val="FFFFFF">
                <a:lumMod val="95000"/>
              </a:srgbClr>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Embedding</a:t>
              </a:r>
              <a:endParaRPr kumimoji="0" 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模型</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32" name="矩形: 圆角 67"/>
            <p:cNvSpPr/>
            <p:nvPr>
              <p:custDataLst>
                <p:tags r:id="rId17"/>
              </p:custDataLst>
            </p:nvPr>
          </p:nvSpPr>
          <p:spPr>
            <a:xfrm>
              <a:off x="3380719" y="2757605"/>
              <a:ext cx="841315" cy="316689"/>
            </a:xfrm>
            <a:prstGeom prst="roundRect">
              <a:avLst/>
            </a:prstGeom>
            <a:solidFill>
              <a:srgbClr val="FFFFFF">
                <a:lumMod val="95000"/>
              </a:srgbClr>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query</a:t>
              </a: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向量</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cxnSp>
          <p:nvCxnSpPr>
            <p:cNvPr id="33" name="直接箭头连接符 32"/>
            <p:cNvCxnSpPr>
              <a:stCxn id="31" idx="2"/>
              <a:endCxn id="32" idx="0"/>
            </p:cNvCxnSpPr>
            <p:nvPr>
              <p:custDataLst>
                <p:tags r:id="rId18"/>
              </p:custDataLst>
            </p:nvPr>
          </p:nvCxnSpPr>
          <p:spPr>
            <a:xfrm flipH="1">
              <a:off x="3801377" y="2482983"/>
              <a:ext cx="3" cy="274622"/>
            </a:xfrm>
            <a:prstGeom prst="straightConnector1">
              <a:avLst/>
            </a:prstGeom>
            <a:noFill/>
            <a:ln w="12700" cap="flat" cmpd="sng" algn="ctr">
              <a:solidFill>
                <a:sysClr val="windowText" lastClr="000000"/>
              </a:solidFill>
              <a:prstDash val="solid"/>
              <a:miter lim="800000"/>
              <a:tailEnd type="triangle"/>
            </a:ln>
            <a:effectLst/>
          </p:spPr>
        </p:cxnSp>
        <p:sp>
          <p:nvSpPr>
            <p:cNvPr id="34" name="矩形: 圆角 69"/>
            <p:cNvSpPr/>
            <p:nvPr>
              <p:custDataLst>
                <p:tags r:id="rId19"/>
              </p:custDataLst>
            </p:nvPr>
          </p:nvSpPr>
          <p:spPr>
            <a:xfrm>
              <a:off x="3385916" y="3423248"/>
              <a:ext cx="841314" cy="439973"/>
            </a:xfrm>
            <a:prstGeom prst="roundRect">
              <a:avLst/>
            </a:prstGeom>
            <a:solidFill>
              <a:srgbClr val="FFFFFF">
                <a:lumMod val="95000"/>
              </a:srgbClr>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向量检索</a:t>
              </a:r>
              <a:endParaRPr kumimoji="0" lang="en-US" altLang="zh-CN"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cxnSp>
          <p:nvCxnSpPr>
            <p:cNvPr id="35" name="直接箭头连接符 34"/>
            <p:cNvCxnSpPr/>
            <p:nvPr>
              <p:custDataLst>
                <p:tags r:id="rId20"/>
              </p:custDataLst>
            </p:nvPr>
          </p:nvCxnSpPr>
          <p:spPr>
            <a:xfrm flipH="1">
              <a:off x="3801378" y="3089111"/>
              <a:ext cx="1" cy="341947"/>
            </a:xfrm>
            <a:prstGeom prst="straightConnector1">
              <a:avLst/>
            </a:prstGeom>
            <a:noFill/>
            <a:ln w="6350" cap="flat" cmpd="sng" algn="ctr">
              <a:solidFill>
                <a:srgbClr val="1D1D1A"/>
              </a:solidFill>
              <a:prstDash val="solid"/>
              <a:miter lim="800000"/>
              <a:tailEnd type="triangle"/>
            </a:ln>
            <a:effectLst/>
          </p:spPr>
        </p:cxnSp>
        <p:cxnSp>
          <p:nvCxnSpPr>
            <p:cNvPr id="36" name="直接箭头连接符 35"/>
            <p:cNvCxnSpPr>
              <a:stCxn id="28" idx="0"/>
              <a:endCxn id="34" idx="2"/>
            </p:cNvCxnSpPr>
            <p:nvPr>
              <p:custDataLst>
                <p:tags r:id="rId21"/>
              </p:custDataLst>
            </p:nvPr>
          </p:nvCxnSpPr>
          <p:spPr>
            <a:xfrm flipH="1" flipV="1">
              <a:off x="3806912" y="3862911"/>
              <a:ext cx="910" cy="294550"/>
            </a:xfrm>
            <a:prstGeom prst="straightConnector1">
              <a:avLst/>
            </a:prstGeom>
            <a:noFill/>
            <a:ln w="6350" cap="flat" cmpd="sng" algn="ctr">
              <a:solidFill>
                <a:srgbClr val="1D1D1A"/>
              </a:solidFill>
              <a:prstDash val="solid"/>
              <a:miter lim="800000"/>
              <a:tailEnd type="triangle"/>
            </a:ln>
            <a:effectLst/>
          </p:spPr>
        </p:cxnSp>
        <p:cxnSp>
          <p:nvCxnSpPr>
            <p:cNvPr id="37" name="连接符: 肘形 72"/>
            <p:cNvCxnSpPr>
              <a:stCxn id="34" idx="3"/>
              <a:endCxn id="21" idx="1"/>
            </p:cNvCxnSpPr>
            <p:nvPr>
              <p:custDataLst>
                <p:tags r:id="rId22"/>
              </p:custDataLst>
            </p:nvPr>
          </p:nvCxnSpPr>
          <p:spPr>
            <a:xfrm flipV="1">
              <a:off x="4227230" y="2345271"/>
              <a:ext cx="222490" cy="1297963"/>
            </a:xfrm>
            <a:prstGeom prst="bentConnector3">
              <a:avLst>
                <a:gd name="adj1" fmla="val 50000"/>
              </a:avLst>
            </a:prstGeom>
            <a:noFill/>
            <a:ln w="6350" cap="flat" cmpd="sng" algn="ctr">
              <a:solidFill>
                <a:srgbClr val="1D1D1A"/>
              </a:solidFill>
              <a:prstDash val="solid"/>
              <a:miter lim="800000"/>
              <a:tailEnd type="triangle"/>
            </a:ln>
            <a:effectLst/>
          </p:spPr>
        </p:cxnSp>
        <p:sp>
          <p:nvSpPr>
            <p:cNvPr id="38" name="文本框 37"/>
            <p:cNvSpPr txBox="1"/>
            <p:nvPr>
              <p:custDataLst>
                <p:tags r:id="rId23"/>
              </p:custDataLst>
            </p:nvPr>
          </p:nvSpPr>
          <p:spPr>
            <a:xfrm>
              <a:off x="3127659" y="4848556"/>
              <a:ext cx="739217" cy="151489"/>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入：文本</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39" name="文本框 38"/>
            <p:cNvSpPr txBox="1"/>
            <p:nvPr>
              <p:custDataLst>
                <p:tags r:id="rId24"/>
              </p:custDataLst>
            </p:nvPr>
          </p:nvSpPr>
          <p:spPr>
            <a:xfrm>
              <a:off x="2749055" y="1939149"/>
              <a:ext cx="698321" cy="151489"/>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入：文本</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40" name="文本框 39"/>
            <p:cNvSpPr txBox="1"/>
            <p:nvPr>
              <p:custDataLst>
                <p:tags r:id="rId25"/>
              </p:custDataLst>
            </p:nvPr>
          </p:nvSpPr>
          <p:spPr>
            <a:xfrm>
              <a:off x="2773186" y="2215639"/>
              <a:ext cx="707740" cy="151489"/>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出：向量</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41" name="矩形 40"/>
            <p:cNvSpPr/>
            <p:nvPr>
              <p:custDataLst>
                <p:tags r:id="rId26"/>
              </p:custDataLst>
            </p:nvPr>
          </p:nvSpPr>
          <p:spPr>
            <a:xfrm>
              <a:off x="1204788" y="5076149"/>
              <a:ext cx="605383" cy="309395"/>
            </a:xfrm>
            <a:prstGeom prst="rect">
              <a:avLst/>
            </a:prstGeom>
            <a:solidFill>
              <a:srgbClr val="FFFFFF"/>
            </a:solidFill>
            <a:ln w="6350"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新增数据</a:t>
              </a:r>
              <a:endParaRPr kumimoji="0" lang="zh-CN" altLang="en-US" sz="10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sp>
          <p:nvSpPr>
            <p:cNvPr id="42" name="矩形 41"/>
            <p:cNvSpPr/>
            <p:nvPr>
              <p:custDataLst>
                <p:tags r:id="rId27"/>
              </p:custDataLst>
            </p:nvPr>
          </p:nvSpPr>
          <p:spPr>
            <a:xfrm>
              <a:off x="1204788" y="4601196"/>
              <a:ext cx="605383" cy="309395"/>
            </a:xfrm>
            <a:prstGeom prst="rect">
              <a:avLst/>
            </a:prstGeom>
            <a:solidFill>
              <a:srgbClr val="FFFFFF"/>
            </a:solidFill>
            <a:ln w="6350"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已有数据</a:t>
              </a:r>
              <a:endParaRPr kumimoji="0" lang="zh-CN" altLang="en-US" sz="10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sp>
          <p:nvSpPr>
            <p:cNvPr id="43" name="矩形 42"/>
            <p:cNvSpPr/>
            <p:nvPr>
              <p:custDataLst>
                <p:tags r:id="rId28"/>
              </p:custDataLst>
            </p:nvPr>
          </p:nvSpPr>
          <p:spPr>
            <a:xfrm>
              <a:off x="2253776" y="4760959"/>
              <a:ext cx="646739" cy="471418"/>
            </a:xfrm>
            <a:prstGeom prst="rect">
              <a:avLst/>
            </a:prstGeom>
            <a:solidFill>
              <a:srgbClr val="FFFFFF"/>
            </a:solidFill>
            <a:ln w="6350"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文档拆分</a:t>
              </a:r>
              <a:endParaRPr kumimoji="0" lang="en-US" altLang="zh-CN" sz="10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cxnSp>
          <p:nvCxnSpPr>
            <p:cNvPr id="44" name="连接符: 肘形 82"/>
            <p:cNvCxnSpPr>
              <a:stCxn id="42" idx="3"/>
              <a:endCxn id="43" idx="1"/>
            </p:cNvCxnSpPr>
            <p:nvPr>
              <p:custDataLst>
                <p:tags r:id="rId29"/>
              </p:custDataLst>
            </p:nvPr>
          </p:nvCxnSpPr>
          <p:spPr>
            <a:xfrm>
              <a:off x="1810235" y="4755842"/>
              <a:ext cx="443593" cy="240774"/>
            </a:xfrm>
            <a:prstGeom prst="bentConnector3">
              <a:avLst>
                <a:gd name="adj1" fmla="val 50051"/>
              </a:avLst>
            </a:prstGeom>
            <a:noFill/>
            <a:ln w="6350" cap="flat" cmpd="sng" algn="ctr">
              <a:solidFill>
                <a:srgbClr val="1D1D1A"/>
              </a:solidFill>
              <a:prstDash val="solid"/>
              <a:miter lim="800000"/>
              <a:tailEnd type="triangle"/>
            </a:ln>
            <a:effectLst/>
          </p:spPr>
        </p:cxnSp>
        <p:cxnSp>
          <p:nvCxnSpPr>
            <p:cNvPr id="45" name="连接符: 肘形 83"/>
            <p:cNvCxnSpPr>
              <a:stCxn id="41" idx="3"/>
              <a:endCxn id="43" idx="1"/>
            </p:cNvCxnSpPr>
            <p:nvPr>
              <p:custDataLst>
                <p:tags r:id="rId30"/>
              </p:custDataLst>
            </p:nvPr>
          </p:nvCxnSpPr>
          <p:spPr>
            <a:xfrm flipV="1">
              <a:off x="1810235" y="4996616"/>
              <a:ext cx="443593" cy="234052"/>
            </a:xfrm>
            <a:prstGeom prst="bentConnector3">
              <a:avLst>
                <a:gd name="adj1" fmla="val 50051"/>
              </a:avLst>
            </a:prstGeom>
            <a:noFill/>
            <a:ln w="6350" cap="flat" cmpd="sng" algn="ctr">
              <a:solidFill>
                <a:srgbClr val="1D1D1A"/>
              </a:solidFill>
              <a:prstDash val="solid"/>
              <a:miter lim="800000"/>
              <a:tailEnd type="triangle"/>
            </a:ln>
            <a:effectLst/>
          </p:spPr>
        </p:cxnSp>
        <p:cxnSp>
          <p:nvCxnSpPr>
            <p:cNvPr id="46" name="连接符: 肘形 84"/>
            <p:cNvCxnSpPr>
              <a:stCxn id="43" idx="2"/>
              <a:endCxn id="27" idx="1"/>
            </p:cNvCxnSpPr>
            <p:nvPr>
              <p:custDataLst>
                <p:tags r:id="rId31"/>
              </p:custDataLst>
            </p:nvPr>
          </p:nvCxnSpPr>
          <p:spPr>
            <a:xfrm rot="16200000" flipH="1">
              <a:off x="2873359" y="4936164"/>
              <a:ext cx="212398" cy="804825"/>
            </a:xfrm>
            <a:prstGeom prst="bentConnector2">
              <a:avLst/>
            </a:prstGeom>
            <a:noFill/>
            <a:ln w="19050" cap="flat" cmpd="sng" algn="ctr">
              <a:solidFill>
                <a:srgbClr val="1D1D1A"/>
              </a:solidFill>
              <a:prstDash val="solid"/>
              <a:miter lim="800000"/>
              <a:tailEnd type="triangle"/>
            </a:ln>
            <a:effectLst/>
          </p:spPr>
        </p:cxnSp>
        <p:sp>
          <p:nvSpPr>
            <p:cNvPr id="47" name="矩形: 圆角 85"/>
            <p:cNvSpPr/>
            <p:nvPr>
              <p:custDataLst>
                <p:tags r:id="rId32"/>
              </p:custDataLst>
            </p:nvPr>
          </p:nvSpPr>
          <p:spPr>
            <a:xfrm>
              <a:off x="4688016" y="3469975"/>
              <a:ext cx="1191735" cy="1333512"/>
            </a:xfrm>
            <a:prstGeom prst="roundRect">
              <a:avLst/>
            </a:prstGeom>
            <a:solidFill>
              <a:srgbClr val="FFF8EB"/>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根据以下参考资料：</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搜索结果</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1</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搜索结果</a:t>
              </a: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k</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a:p>
              <a:pPr marL="0" marR="0" lvl="0" indent="0" algn="l" defTabSz="913765" rtl="0" eaLnBrk="1" fontAlgn="auto" latinLnBrk="0" hangingPunct="1">
                <a:lnSpc>
                  <a:spcPct val="100000"/>
                </a:lnSpc>
                <a:spcBef>
                  <a:spcPts val="0"/>
                </a:spcBef>
                <a:spcAft>
                  <a:spcPts val="0"/>
                </a:spcAft>
                <a:buClrTx/>
                <a:buSzTx/>
                <a:buFontTx/>
                <a:buNone/>
                <a:defRPr/>
              </a:pPr>
              <a:r>
                <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query</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p:txBody>
        </p:sp>
        <p:sp>
          <p:nvSpPr>
            <p:cNvPr id="48" name="矩形 47"/>
            <p:cNvSpPr/>
            <p:nvPr>
              <p:custDataLst>
                <p:tags r:id="rId33"/>
              </p:custDataLst>
            </p:nvPr>
          </p:nvSpPr>
          <p:spPr>
            <a:xfrm>
              <a:off x="4766850" y="5137172"/>
              <a:ext cx="1038788" cy="615211"/>
            </a:xfrm>
            <a:prstGeom prst="rect">
              <a:avLst/>
            </a:prstGeom>
            <a:solidFill>
              <a:srgbClr val="FFF8EB"/>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生成式</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大模型</a:t>
              </a:r>
              <a:endParaRPr kumimoji="0" lang="en-US" altLang="zh-CN"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p:txBody>
        </p:sp>
        <p:cxnSp>
          <p:nvCxnSpPr>
            <p:cNvPr id="49" name="直接箭头连接符 48"/>
            <p:cNvCxnSpPr>
              <a:stCxn id="47" idx="2"/>
              <a:endCxn id="48" idx="0"/>
            </p:cNvCxnSpPr>
            <p:nvPr>
              <p:custDataLst>
                <p:tags r:id="rId34"/>
              </p:custDataLst>
            </p:nvPr>
          </p:nvCxnSpPr>
          <p:spPr>
            <a:xfrm>
              <a:off x="5283882" y="4803486"/>
              <a:ext cx="2275" cy="333661"/>
            </a:xfrm>
            <a:prstGeom prst="straightConnector1">
              <a:avLst/>
            </a:prstGeom>
            <a:noFill/>
            <a:ln w="9525" cap="flat" cmpd="sng" algn="ctr">
              <a:solidFill>
                <a:srgbClr val="F4A100">
                  <a:lumMod val="75000"/>
                </a:srgbClr>
              </a:solidFill>
              <a:prstDash val="solid"/>
              <a:miter lim="800000"/>
              <a:tailEnd type="triangle"/>
            </a:ln>
            <a:effectLst/>
          </p:spPr>
        </p:cxnSp>
        <p:sp>
          <p:nvSpPr>
            <p:cNvPr id="50" name="文本框 49"/>
            <p:cNvSpPr txBox="1"/>
            <p:nvPr>
              <p:custDataLst>
                <p:tags r:id="rId35"/>
              </p:custDataLst>
            </p:nvPr>
          </p:nvSpPr>
          <p:spPr>
            <a:xfrm>
              <a:off x="5942497" y="4002158"/>
              <a:ext cx="807207" cy="30297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提示词</a:t>
              </a:r>
              <a:r>
                <a:rPr kumimoji="1" lang="en-US" altLang="zh-CN"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(Prompt)</a:t>
              </a:r>
              <a:r>
                <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构建</a:t>
              </a:r>
              <a:endParaRPr kumimoji="1" lang="zh-CN" altLang="en-US" sz="10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cxnSp>
          <p:nvCxnSpPr>
            <p:cNvPr id="51" name="连接符: 肘形 89"/>
            <p:cNvCxnSpPr>
              <a:stCxn id="22" idx="2"/>
              <a:endCxn id="47" idx="0"/>
            </p:cNvCxnSpPr>
            <p:nvPr>
              <p:custDataLst>
                <p:tags r:id="rId36"/>
              </p:custDataLst>
            </p:nvPr>
          </p:nvCxnSpPr>
          <p:spPr>
            <a:xfrm rot="5400000">
              <a:off x="5246833" y="2672155"/>
              <a:ext cx="834869" cy="760770"/>
            </a:xfrm>
            <a:prstGeom prst="bentConnector3">
              <a:avLst>
                <a:gd name="adj1" fmla="val 50000"/>
              </a:avLst>
            </a:prstGeom>
            <a:noFill/>
            <a:ln w="9525" cap="flat" cmpd="sng" algn="ctr">
              <a:solidFill>
                <a:srgbClr val="F4A100">
                  <a:lumMod val="75000"/>
                </a:srgbClr>
              </a:solidFill>
              <a:prstDash val="solid"/>
              <a:miter lim="800000"/>
              <a:tailEnd type="triangle"/>
            </a:ln>
            <a:effectLst/>
          </p:spPr>
        </p:cxnSp>
        <p:sp>
          <p:nvSpPr>
            <p:cNvPr id="52" name="矩形 51"/>
            <p:cNvSpPr/>
            <p:nvPr>
              <p:custDataLst>
                <p:tags r:id="rId37"/>
              </p:custDataLst>
            </p:nvPr>
          </p:nvSpPr>
          <p:spPr>
            <a:xfrm>
              <a:off x="6009064" y="5277888"/>
              <a:ext cx="618554" cy="333778"/>
            </a:xfrm>
            <a:prstGeom prst="rect">
              <a:avLst/>
            </a:prstGeom>
            <a:solidFill>
              <a:srgbClr val="FFF8EB"/>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rPr>
                <a:t>生成答案</a:t>
              </a:r>
              <a:endParaRPr kumimoji="0" lang="zh-CN" altLang="en-US" sz="1000" b="0" i="0" u="none" strike="noStrike" kern="0" cap="none" spc="0" normalizeH="0" baseline="0" noProof="0" dirty="0">
                <a:ln>
                  <a:noFill/>
                </a:ln>
                <a:solidFill>
                  <a:sysClr val="windowText" lastClr="000000"/>
                </a:solidFill>
                <a:effectLst/>
                <a:uLnTx/>
                <a:uFillTx/>
                <a:latin typeface="微软雅黑" panose="020B0503020204020204" charset="-122"/>
                <a:ea typeface="微软雅黑" panose="020B0503020204020204" charset="-122"/>
                <a:cs typeface="+mn-ea"/>
                <a:sym typeface="+mn-lt"/>
              </a:endParaRPr>
            </a:p>
          </p:txBody>
        </p:sp>
        <p:cxnSp>
          <p:nvCxnSpPr>
            <p:cNvPr id="53" name="直接箭头连接符 52"/>
            <p:cNvCxnSpPr>
              <a:stCxn id="48" idx="3"/>
              <a:endCxn id="52" idx="1"/>
            </p:cNvCxnSpPr>
            <p:nvPr>
              <p:custDataLst>
                <p:tags r:id="rId38"/>
              </p:custDataLst>
            </p:nvPr>
          </p:nvCxnSpPr>
          <p:spPr>
            <a:xfrm flipV="1">
              <a:off x="5805638" y="5444776"/>
              <a:ext cx="203369" cy="611"/>
            </a:xfrm>
            <a:prstGeom prst="straightConnector1">
              <a:avLst/>
            </a:prstGeom>
            <a:noFill/>
            <a:ln w="9525" cap="flat" cmpd="sng" algn="ctr">
              <a:solidFill>
                <a:srgbClr val="F4A100">
                  <a:lumMod val="75000"/>
                </a:srgbClr>
              </a:solidFill>
              <a:prstDash val="solid"/>
              <a:miter lim="800000"/>
              <a:tailEnd type="triangle"/>
            </a:ln>
            <a:effectLst/>
          </p:spPr>
        </p:cxnSp>
        <p:sp>
          <p:nvSpPr>
            <p:cNvPr id="54" name="矩形 53"/>
            <p:cNvSpPr/>
            <p:nvPr>
              <p:custDataLst>
                <p:tags r:id="rId39"/>
              </p:custDataLst>
            </p:nvPr>
          </p:nvSpPr>
          <p:spPr>
            <a:xfrm>
              <a:off x="4914003" y="2039605"/>
              <a:ext cx="794159" cy="581242"/>
            </a:xfrm>
            <a:prstGeom prst="rect">
              <a:avLst/>
            </a:prstGeom>
            <a:solidFill>
              <a:srgbClr val="FFFFFF">
                <a:lumMod val="95000"/>
              </a:srgbClr>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搜索重排序</a:t>
              </a:r>
              <a:endParaRPr kumimoji="0" lang="en-US" altLang="zh-CN"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模型</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55" name="矩形 54"/>
            <p:cNvSpPr/>
            <p:nvPr>
              <p:custDataLst>
                <p:tags r:id="rId40"/>
              </p:custDataLst>
            </p:nvPr>
          </p:nvSpPr>
          <p:spPr>
            <a:xfrm>
              <a:off x="1986187" y="2809767"/>
              <a:ext cx="1038788" cy="615211"/>
            </a:xfrm>
            <a:prstGeom prst="rect">
              <a:avLst/>
            </a:prstGeom>
            <a:solidFill>
              <a:srgbClr val="FFFFFF">
                <a:lumMod val="95000"/>
              </a:srgbClr>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生成式</a:t>
              </a:r>
              <a:endParaRPr kumimoji="0" lang="en-US" altLang="zh-CN"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大模型</a:t>
              </a:r>
              <a:endParaRPr kumimoji="0" lang="en-US" altLang="zh-CN"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56" name="矩形 55"/>
            <p:cNvSpPr/>
            <p:nvPr>
              <p:custDataLst>
                <p:tags r:id="rId41"/>
              </p:custDataLst>
            </p:nvPr>
          </p:nvSpPr>
          <p:spPr>
            <a:xfrm>
              <a:off x="2162813" y="2025472"/>
              <a:ext cx="678043" cy="333778"/>
            </a:xfrm>
            <a:prstGeom prst="rect">
              <a:avLst/>
            </a:prstGeom>
            <a:solidFill>
              <a:srgbClr val="FFFFFF">
                <a:lumMod val="95000"/>
              </a:srgbClr>
            </a:solidFill>
            <a:ln w="9525" cap="flat" cmpd="sng" algn="ctr">
              <a:solidFill>
                <a:srgbClr val="FFFFFF">
                  <a:lumMod val="85000"/>
                </a:srgbClr>
              </a:solidFill>
              <a:prstDash val="solid"/>
              <a:miter lim="800000"/>
            </a:ln>
            <a:effectLst>
              <a:outerShdw blurRad="50800" dist="38100" dir="5400000" algn="t" rotWithShape="0">
                <a:srgbClr val="FFFFFF">
                  <a:lumMod val="50000"/>
                  <a:alpha val="40000"/>
                </a:srgbClr>
              </a:outerShdw>
            </a:effectLst>
          </p:spPr>
          <p:txBody>
            <a:bodyPr rot="0" spcFirstLastPara="0" vertOverflow="overflow" horzOverflow="overflow" vert="horz" wrap="square" lIns="0" tIns="0" rIns="0" bIns="0"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问题拆分</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cxnSp>
          <p:nvCxnSpPr>
            <p:cNvPr id="57" name="直接箭头连接符 56"/>
            <p:cNvCxnSpPr>
              <a:stCxn id="56" idx="2"/>
              <a:endCxn id="55" idx="0"/>
            </p:cNvCxnSpPr>
            <p:nvPr>
              <p:custDataLst>
                <p:tags r:id="rId42"/>
              </p:custDataLst>
            </p:nvPr>
          </p:nvCxnSpPr>
          <p:spPr>
            <a:xfrm>
              <a:off x="2501835" y="2359250"/>
              <a:ext cx="3747" cy="450516"/>
            </a:xfrm>
            <a:prstGeom prst="straightConnector1">
              <a:avLst/>
            </a:prstGeom>
            <a:noFill/>
            <a:ln w="6350" cap="flat" cmpd="sng" algn="ctr">
              <a:solidFill>
                <a:srgbClr val="1D1D1A"/>
              </a:solidFill>
              <a:prstDash val="solid"/>
              <a:miter lim="800000"/>
              <a:tailEnd type="triangle"/>
            </a:ln>
            <a:effectLst/>
          </p:spPr>
        </p:cxnSp>
        <p:cxnSp>
          <p:nvCxnSpPr>
            <p:cNvPr id="58" name="直接箭头连接符 57"/>
            <p:cNvCxnSpPr>
              <a:stCxn id="20" idx="3"/>
              <a:endCxn id="56" idx="1"/>
            </p:cNvCxnSpPr>
            <p:nvPr>
              <p:custDataLst>
                <p:tags r:id="rId43"/>
              </p:custDataLst>
            </p:nvPr>
          </p:nvCxnSpPr>
          <p:spPr>
            <a:xfrm>
              <a:off x="1628138" y="2192360"/>
              <a:ext cx="534674" cy="0"/>
            </a:xfrm>
            <a:prstGeom prst="straightConnector1">
              <a:avLst/>
            </a:prstGeom>
            <a:noFill/>
            <a:ln w="6350" cap="flat" cmpd="sng" algn="ctr">
              <a:solidFill>
                <a:srgbClr val="1D1D1A"/>
              </a:solidFill>
              <a:prstDash val="solid"/>
              <a:miter lim="800000"/>
              <a:tailEnd type="triangle"/>
            </a:ln>
            <a:effectLst/>
          </p:spPr>
        </p:cxnSp>
        <p:cxnSp>
          <p:nvCxnSpPr>
            <p:cNvPr id="59" name="直接箭头连接符 58"/>
            <p:cNvCxnSpPr>
              <a:stCxn id="56" idx="3"/>
              <a:endCxn id="31" idx="1"/>
            </p:cNvCxnSpPr>
            <p:nvPr>
              <p:custDataLst>
                <p:tags r:id="rId44"/>
              </p:custDataLst>
            </p:nvPr>
          </p:nvCxnSpPr>
          <p:spPr>
            <a:xfrm>
              <a:off x="2840855" y="2192360"/>
              <a:ext cx="534674" cy="1"/>
            </a:xfrm>
            <a:prstGeom prst="straightConnector1">
              <a:avLst/>
            </a:prstGeom>
            <a:noFill/>
            <a:ln w="6350" cap="flat" cmpd="sng" algn="ctr">
              <a:solidFill>
                <a:srgbClr val="1D1D1A"/>
              </a:solidFill>
              <a:prstDash val="solid"/>
              <a:miter lim="800000"/>
              <a:tailEnd type="triangle"/>
            </a:ln>
            <a:effectLst/>
          </p:spPr>
        </p:cxnSp>
        <p:sp>
          <p:nvSpPr>
            <p:cNvPr id="60" name="文本框 59"/>
            <p:cNvSpPr txBox="1"/>
            <p:nvPr>
              <p:custDataLst>
                <p:tags r:id="rId45"/>
              </p:custDataLst>
            </p:nvPr>
          </p:nvSpPr>
          <p:spPr>
            <a:xfrm>
              <a:off x="1628139" y="2456534"/>
              <a:ext cx="918450" cy="151489"/>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入：长文本</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61" name="文本框 60"/>
            <p:cNvSpPr txBox="1"/>
            <p:nvPr>
              <p:custDataLst>
                <p:tags r:id="rId46"/>
              </p:custDataLst>
            </p:nvPr>
          </p:nvSpPr>
          <p:spPr>
            <a:xfrm>
              <a:off x="2468342" y="2456534"/>
              <a:ext cx="788851" cy="151489"/>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rPr>
                <a:t>出：短文本</a:t>
              </a:r>
              <a:endParaRPr kumimoji="0" lang="zh-CN" altLang="en-US" sz="1000" b="0" i="0" u="none" strike="noStrike" kern="0" cap="none" spc="0" normalizeH="0" baseline="0" noProof="0" dirty="0">
                <a:ln>
                  <a:noFill/>
                </a:ln>
                <a:solidFill>
                  <a:prstClr val="black"/>
                </a:solidFill>
                <a:effectLst/>
                <a:uLnTx/>
                <a:uFillTx/>
                <a:latin typeface="微软雅黑" panose="020B0503020204020204" charset="-122"/>
                <a:ea typeface="微软雅黑" panose="020B0503020204020204" charset="-122"/>
                <a:cs typeface="+mn-ea"/>
                <a:sym typeface="+mn-lt"/>
              </a:endParaRPr>
            </a:p>
          </p:txBody>
        </p:sp>
        <p:sp>
          <p:nvSpPr>
            <p:cNvPr id="62" name="矩形: 圆角 196"/>
            <p:cNvSpPr/>
            <p:nvPr>
              <p:custDataLst>
                <p:tags r:id="rId47"/>
              </p:custDataLst>
            </p:nvPr>
          </p:nvSpPr>
          <p:spPr>
            <a:xfrm>
              <a:off x="7036940" y="1272290"/>
              <a:ext cx="1411948" cy="4847710"/>
            </a:xfrm>
            <a:prstGeom prst="roundRect">
              <a:avLst>
                <a:gd name="adj" fmla="val 5682"/>
              </a:avLst>
            </a:prstGeom>
            <a:solidFill>
              <a:schemeClr val="accent3">
                <a:lumMod val="20000"/>
                <a:lumOff val="80000"/>
                <a:alpha val="62000"/>
              </a:schemeClr>
            </a:solidFill>
            <a:ln w="12700" cap="flat" cmpd="sng" algn="ctr">
              <a:solidFill>
                <a:schemeClr val="tx2">
                  <a:lumMod val="65000"/>
                </a:schemeClr>
              </a:solid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noAutofit/>
            </a:bodyP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cxnSp>
          <p:nvCxnSpPr>
            <p:cNvPr id="63" name="直接箭头连接符 62"/>
            <p:cNvCxnSpPr>
              <a:stCxn id="52" idx="3"/>
            </p:cNvCxnSpPr>
            <p:nvPr>
              <p:custDataLst>
                <p:tags r:id="rId48"/>
              </p:custDataLst>
            </p:nvPr>
          </p:nvCxnSpPr>
          <p:spPr>
            <a:xfrm>
              <a:off x="6627618" y="5444775"/>
              <a:ext cx="404264" cy="613"/>
            </a:xfrm>
            <a:prstGeom prst="straightConnector1">
              <a:avLst/>
            </a:prstGeom>
            <a:noFill/>
            <a:ln w="9525" cap="flat" cmpd="sng" algn="ctr">
              <a:solidFill>
                <a:srgbClr val="F4A100">
                  <a:lumMod val="75000"/>
                </a:srgbClr>
              </a:solidFill>
              <a:prstDash val="solid"/>
              <a:miter lim="800000"/>
              <a:tailEnd type="triangle"/>
            </a:ln>
            <a:effectLst/>
          </p:spPr>
        </p:cxnSp>
        <p:sp>
          <p:nvSpPr>
            <p:cNvPr id="64" name="文本框 63"/>
            <p:cNvSpPr txBox="1"/>
            <p:nvPr>
              <p:custDataLst>
                <p:tags r:id="rId49"/>
              </p:custDataLst>
            </p:nvPr>
          </p:nvSpPr>
          <p:spPr>
            <a:xfrm>
              <a:off x="7250729" y="2743125"/>
              <a:ext cx="993490" cy="16663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工会知识问答</a:t>
              </a:r>
              <a:endParaRPr kumimoji="1"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65" name="文本框 64"/>
            <p:cNvSpPr txBox="1"/>
            <p:nvPr>
              <p:custDataLst>
                <p:tags r:id="rId50"/>
              </p:custDataLst>
            </p:nvPr>
          </p:nvSpPr>
          <p:spPr>
            <a:xfrm>
              <a:off x="7250729" y="3324489"/>
              <a:ext cx="993490" cy="16663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人力资源问答</a:t>
              </a:r>
              <a:endParaRPr kumimoji="1"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66" name="文本框 65"/>
            <p:cNvSpPr txBox="1"/>
            <p:nvPr>
              <p:custDataLst>
                <p:tags r:id="rId51"/>
              </p:custDataLst>
            </p:nvPr>
          </p:nvSpPr>
          <p:spPr>
            <a:xfrm>
              <a:off x="7250729" y="2161762"/>
              <a:ext cx="993490" cy="16663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信贷授信指引</a:t>
              </a:r>
              <a:endPar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67" name="文本框 66"/>
            <p:cNvSpPr txBox="1"/>
            <p:nvPr>
              <p:custDataLst>
                <p:tags r:id="rId52"/>
              </p:custDataLst>
            </p:nvPr>
          </p:nvSpPr>
          <p:spPr>
            <a:xfrm>
              <a:off x="7250729" y="3905853"/>
              <a:ext cx="993490" cy="16663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对公业务问答</a:t>
              </a:r>
              <a:endParaRPr kumimoji="1"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68" name="文本框 67"/>
            <p:cNvSpPr txBox="1"/>
            <p:nvPr>
              <p:custDataLst>
                <p:tags r:id="rId53"/>
              </p:custDataLst>
            </p:nvPr>
          </p:nvSpPr>
          <p:spPr>
            <a:xfrm>
              <a:off x="2417743" y="1402217"/>
              <a:ext cx="2548698" cy="246221"/>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600" b="1" i="0" u="none" strike="noStrike" kern="0" cap="none" spc="0" normalizeH="0" baseline="0" noProof="0" dirty="0">
                  <a:ln>
                    <a:noFill/>
                  </a:ln>
                  <a:solidFill>
                    <a:srgbClr val="1D1D1A">
                      <a:lumMod val="75000"/>
                      <a:lumOff val="25000"/>
                    </a:srgbClr>
                  </a:solidFill>
                  <a:effectLst/>
                  <a:uLnTx/>
                  <a:uFillTx/>
                  <a:latin typeface="微软雅黑" panose="020B0503020204020204" charset="-122"/>
                  <a:ea typeface="微软雅黑" panose="020B0503020204020204" charset="-122"/>
                  <a:cs typeface="+mn-ea"/>
                  <a:sym typeface="+mn-lt"/>
                </a:rPr>
                <a:t>现状大模型</a:t>
              </a:r>
              <a:r>
                <a:rPr kumimoji="1" lang="en-US" altLang="zh-CN" sz="1600" b="1" i="0" u="none" strike="noStrike" kern="0" cap="none" spc="0" normalizeH="0" baseline="0" noProof="0" dirty="0">
                  <a:ln>
                    <a:noFill/>
                  </a:ln>
                  <a:solidFill>
                    <a:srgbClr val="1D1D1A">
                      <a:lumMod val="75000"/>
                      <a:lumOff val="25000"/>
                    </a:srgbClr>
                  </a:solidFill>
                  <a:effectLst/>
                  <a:uLnTx/>
                  <a:uFillTx/>
                  <a:latin typeface="微软雅黑" panose="020B0503020204020204" charset="-122"/>
                  <a:ea typeface="微软雅黑" panose="020B0503020204020204" charset="-122"/>
                  <a:cs typeface="+mn-ea"/>
                  <a:sym typeface="+mn-lt"/>
                </a:rPr>
                <a:t>RAG</a:t>
              </a:r>
              <a:r>
                <a:rPr kumimoji="1" lang="zh-CN" altLang="en-US" sz="1600" b="1" i="0" u="none" strike="noStrike" kern="0" cap="none" spc="0" normalizeH="0" baseline="0" noProof="0" dirty="0">
                  <a:ln>
                    <a:noFill/>
                  </a:ln>
                  <a:solidFill>
                    <a:srgbClr val="1D1D1A">
                      <a:lumMod val="75000"/>
                      <a:lumOff val="25000"/>
                    </a:srgbClr>
                  </a:solidFill>
                  <a:effectLst/>
                  <a:uLnTx/>
                  <a:uFillTx/>
                  <a:latin typeface="微软雅黑" panose="020B0503020204020204" charset="-122"/>
                  <a:ea typeface="微软雅黑" panose="020B0503020204020204" charset="-122"/>
                  <a:cs typeface="+mn-ea"/>
                  <a:sym typeface="+mn-lt"/>
                </a:rPr>
                <a:t>问答范式</a:t>
              </a:r>
              <a:endParaRPr kumimoji="1" lang="zh-CN" altLang="en-US" sz="1600" b="1" i="0" u="none" strike="noStrike" kern="0" cap="none" spc="0" normalizeH="0" baseline="0" noProof="0" dirty="0">
                <a:ln>
                  <a:noFill/>
                </a:ln>
                <a:solidFill>
                  <a:srgbClr val="1D1D1A">
                    <a:lumMod val="75000"/>
                    <a:lumOff val="25000"/>
                  </a:srgbClr>
                </a:solidFill>
                <a:effectLst/>
                <a:uLnTx/>
                <a:uFillTx/>
                <a:latin typeface="微软雅黑" panose="020B0503020204020204" charset="-122"/>
                <a:ea typeface="微软雅黑" panose="020B0503020204020204" charset="-122"/>
                <a:cs typeface="+mn-ea"/>
                <a:sym typeface="+mn-lt"/>
              </a:endParaRPr>
            </a:p>
          </p:txBody>
        </p:sp>
        <p:sp>
          <p:nvSpPr>
            <p:cNvPr id="69" name="文本框 68"/>
            <p:cNvSpPr txBox="1"/>
            <p:nvPr>
              <p:custDataLst>
                <p:tags r:id="rId54"/>
              </p:custDataLst>
            </p:nvPr>
          </p:nvSpPr>
          <p:spPr>
            <a:xfrm>
              <a:off x="7250729" y="4487217"/>
              <a:ext cx="993490" cy="16663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零售业务问答</a:t>
              </a:r>
              <a:endParaRPr kumimoji="1"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70" name="文本框 69"/>
            <p:cNvSpPr txBox="1"/>
            <p:nvPr>
              <p:custDataLst>
                <p:tags r:id="rId55"/>
              </p:custDataLst>
            </p:nvPr>
          </p:nvSpPr>
          <p:spPr>
            <a:xfrm>
              <a:off x="7136960" y="5068580"/>
              <a:ext cx="1221028" cy="16663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柜员操作问答</a:t>
              </a:r>
              <a:endParaRPr kumimoji="1"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71" name="文本框 70"/>
            <p:cNvSpPr txBox="1"/>
            <p:nvPr>
              <p:custDataLst>
                <p:tags r:id="rId56"/>
              </p:custDataLst>
            </p:nvPr>
          </p:nvSpPr>
          <p:spPr>
            <a:xfrm>
              <a:off x="7081915" y="1590907"/>
              <a:ext cx="1331118" cy="21195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金融问答场景</a:t>
              </a:r>
              <a:endParaRPr kumimoji="1" lang="zh-CN" altLang="en-US" sz="14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endParaRPr>
            </a:p>
          </p:txBody>
        </p:sp>
        <p:sp>
          <p:nvSpPr>
            <p:cNvPr id="72" name="文本框 71"/>
            <p:cNvSpPr txBox="1"/>
            <p:nvPr>
              <p:custDataLst>
                <p:tags r:id="rId57"/>
              </p:custDataLst>
            </p:nvPr>
          </p:nvSpPr>
          <p:spPr>
            <a:xfrm>
              <a:off x="7136960" y="5649946"/>
              <a:ext cx="1221028" cy="166638"/>
            </a:xfrm>
            <a:prstGeom prst="rect">
              <a:avLst/>
            </a:prstGeom>
            <a:noFill/>
          </p:spPr>
          <p:txBody>
            <a:bodyPr wrap="square" lIns="0" tIns="0" rIns="0" bIns="0" rtlCol="0">
              <a:spAutoFit/>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1" lang="zh-CN" altLang="en-US"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rPr>
                <a:t>数据管理问答</a:t>
              </a:r>
              <a:endParaRPr kumimoji="1" lang="en-US" altLang="zh-CN" sz="1100" b="0"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sym typeface="+mn-lt"/>
              </a:endParaRPr>
            </a:p>
          </p:txBody>
        </p:sp>
        <p:sp>
          <p:nvSpPr>
            <p:cNvPr id="73" name="椭圆 72"/>
            <p:cNvSpPr/>
            <p:nvPr>
              <p:custDataLst>
                <p:tags r:id="rId58"/>
              </p:custDataLst>
            </p:nvPr>
          </p:nvSpPr>
          <p:spPr>
            <a:xfrm>
              <a:off x="2093974" y="4698579"/>
              <a:ext cx="986628" cy="662993"/>
            </a:xfrm>
            <a:prstGeom prst="ellipse">
              <a:avLst/>
            </a:prstGeom>
            <a:noFill/>
            <a:ln w="19050" cap="flat" cmpd="sng" algn="ctr">
              <a:solidFill>
                <a:srgbClr val="C7000A"/>
              </a:solidFill>
              <a:prstDash val="dash"/>
              <a:miter lim="800000"/>
            </a:ln>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charset="-122"/>
                <a:ea typeface="微软雅黑" panose="020B0503020204020204" charset="-122"/>
                <a:cs typeface="+mn-ea"/>
                <a:sym typeface="+mn-lt"/>
              </a:endParaRPr>
            </a:p>
          </p:txBody>
        </p:sp>
        <p:sp>
          <p:nvSpPr>
            <p:cNvPr id="74" name="椭圆 73"/>
            <p:cNvSpPr/>
            <p:nvPr>
              <p:custDataLst>
                <p:tags r:id="rId59"/>
              </p:custDataLst>
            </p:nvPr>
          </p:nvSpPr>
          <p:spPr>
            <a:xfrm>
              <a:off x="4757109" y="1905598"/>
              <a:ext cx="1115379" cy="834871"/>
            </a:xfrm>
            <a:prstGeom prst="ellipse">
              <a:avLst/>
            </a:prstGeom>
            <a:noFill/>
            <a:ln w="19050" cap="flat" cmpd="sng" algn="ctr">
              <a:solidFill>
                <a:srgbClr val="C7000A"/>
              </a:solidFill>
              <a:prstDash val="dash"/>
              <a:miter lim="800000"/>
            </a:ln>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charset="-122"/>
                <a:ea typeface="微软雅黑" panose="020B0503020204020204" charset="-122"/>
                <a:cs typeface="+mn-ea"/>
                <a:sym typeface="+mn-lt"/>
              </a:endParaRPr>
            </a:p>
          </p:txBody>
        </p:sp>
        <p:sp>
          <p:nvSpPr>
            <p:cNvPr id="75" name="椭圆 74"/>
            <p:cNvSpPr/>
            <p:nvPr>
              <p:custDataLst>
                <p:tags r:id="rId60"/>
              </p:custDataLst>
            </p:nvPr>
          </p:nvSpPr>
          <p:spPr>
            <a:xfrm>
              <a:off x="5820751" y="5097391"/>
              <a:ext cx="984646" cy="712030"/>
            </a:xfrm>
            <a:prstGeom prst="ellipse">
              <a:avLst/>
            </a:prstGeom>
            <a:noFill/>
            <a:ln w="19050" cap="flat" cmpd="sng" algn="ctr">
              <a:solidFill>
                <a:srgbClr val="C7000A"/>
              </a:solidFill>
              <a:prstDash val="dash"/>
              <a:miter lim="800000"/>
            </a:ln>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666666"/>
                </a:solidFill>
                <a:effectLst/>
                <a:uLnTx/>
                <a:uFillTx/>
                <a:latin typeface="微软雅黑" panose="020B0503020204020204" charset="-122"/>
                <a:ea typeface="微软雅黑" panose="020B0503020204020204" charset="-122"/>
                <a:cs typeface="+mn-ea"/>
                <a:sym typeface="+mn-lt"/>
              </a:endParaRPr>
            </a:p>
          </p:txBody>
        </p:sp>
        <p:sp>
          <p:nvSpPr>
            <p:cNvPr id="76" name="矩形 75"/>
            <p:cNvSpPr/>
            <p:nvPr>
              <p:custDataLst>
                <p:tags r:id="rId61"/>
              </p:custDataLst>
            </p:nvPr>
          </p:nvSpPr>
          <p:spPr>
            <a:xfrm>
              <a:off x="8743416" y="1271224"/>
              <a:ext cx="2782444" cy="357782"/>
            </a:xfrm>
            <a:prstGeom prst="rect">
              <a:avLst/>
            </a:prstGeom>
            <a:noFill/>
            <a:ln w="9525" cap="flat" cmpd="sng" algn="ctr">
              <a:noFill/>
              <a:prstDash val="solid"/>
              <a:miter lim="800000"/>
              <a:headEnd type="none" w="med" len="med"/>
              <a:tailEnd type="none" w="med" len="med"/>
            </a:ln>
            <a:effectLst/>
          </p:spPr>
          <p:txBody>
            <a:bodyPr wrap="square" lIns="0" tIns="0" rIns="0" bIns="0" anchor="ctr" anchorCtr="1"/>
            <a:lstStyle/>
            <a:p>
              <a:pPr marL="0" marR="0" lvl="0" indent="0" algn="l" defTabSz="913765"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基于</a:t>
              </a:r>
              <a:r>
                <a:rPr kumimoji="0" lang="en-US" altLang="zh-CN"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RAG</a:t>
              </a:r>
              <a:r>
                <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的知识问答存在的问题</a:t>
              </a:r>
              <a:endPar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sp>
          <p:nvSpPr>
            <p:cNvPr id="77" name="椭圆 76"/>
            <p:cNvSpPr/>
            <p:nvPr>
              <p:custDataLst>
                <p:tags r:id="rId62"/>
              </p:custDataLst>
            </p:nvPr>
          </p:nvSpPr>
          <p:spPr>
            <a:xfrm>
              <a:off x="8599573" y="1983576"/>
              <a:ext cx="214899" cy="207805"/>
            </a:xfrm>
            <a:prstGeom prst="ellipse">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1</a:t>
              </a:r>
              <a:endPar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78" name="文本框 77"/>
            <p:cNvSpPr txBox="1"/>
            <p:nvPr>
              <p:custDataLst>
                <p:tags r:id="rId63"/>
              </p:custDataLst>
            </p:nvPr>
          </p:nvSpPr>
          <p:spPr>
            <a:xfrm>
              <a:off x="8913826" y="1869270"/>
              <a:ext cx="2441622" cy="463601"/>
            </a:xfrm>
            <a:prstGeom prst="roundRect">
              <a:avLst/>
            </a:prstGeom>
            <a:solidFill>
              <a:srgbClr val="FFFFFF"/>
            </a:solidFill>
            <a:ln w="19050" cap="flat" cmpd="sng" algn="ctr">
              <a:gradFill>
                <a:gsLst>
                  <a:gs pos="0">
                    <a:srgbClr val="C7000A">
                      <a:lumMod val="5000"/>
                      <a:lumOff val="95000"/>
                      <a:alpha val="0"/>
                    </a:srgbClr>
                  </a:gs>
                  <a:gs pos="100000">
                    <a:srgbClr val="EBEBEB">
                      <a:lumMod val="75000"/>
                    </a:srgbClr>
                  </a:gs>
                </a:gsLst>
                <a:lin ang="5400000" scaled="1"/>
              </a:gradFill>
              <a:prstDash val="sysDash"/>
              <a:miter lim="800000"/>
            </a:ln>
            <a:effectLst>
              <a:outerShdw blurRad="63500" sx="102000" sy="102000" algn="ctr" rotWithShape="0">
                <a:srgbClr val="FFFFFF">
                  <a:lumMod val="65000"/>
                  <a:alpha val="40000"/>
                </a:srgbClr>
              </a:outerShdw>
            </a:effectLst>
          </p:spPr>
          <p:txBody>
            <a:bodyPr rot="0" spcFirstLastPara="0" vertOverflow="overflow" horzOverflow="overflow" vert="horz" wrap="square" lIns="91404" tIns="45702" rIns="91404" bIns="45702" numCol="1" spcCol="0" rtlCol="0" fromWordArt="0" anchor="ctr" anchorCtr="0" forceAA="0" compatLnSpc="1">
              <a:noAutofit/>
            </a:bodyPr>
            <a:lstStyle>
              <a:defPPr>
                <a:defRPr lang="zh-CN"/>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25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知识的准备只是对文档的简单汇总，并</a:t>
              </a:r>
              <a:r>
                <a:rPr kumimoji="0" lang="zh-CN" altLang="en-US" sz="12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没有结构化整理</a:t>
              </a:r>
              <a:endParaRPr kumimoji="0" lang="zh-CN" altLang="en-US" sz="12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endParaRPr>
            </a:p>
          </p:txBody>
        </p:sp>
        <p:sp>
          <p:nvSpPr>
            <p:cNvPr id="79" name="椭圆 78"/>
            <p:cNvSpPr/>
            <p:nvPr>
              <p:custDataLst>
                <p:tags r:id="rId64"/>
              </p:custDataLst>
            </p:nvPr>
          </p:nvSpPr>
          <p:spPr>
            <a:xfrm>
              <a:off x="8599573" y="3579345"/>
              <a:ext cx="214899" cy="207805"/>
            </a:xfrm>
            <a:prstGeom prst="ellipse">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2</a:t>
              </a:r>
              <a:endPar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80" name="文本框 79"/>
            <p:cNvSpPr txBox="1"/>
            <p:nvPr>
              <p:custDataLst>
                <p:tags r:id="rId65"/>
              </p:custDataLst>
            </p:nvPr>
          </p:nvSpPr>
          <p:spPr>
            <a:xfrm>
              <a:off x="8913826" y="3442789"/>
              <a:ext cx="2441622" cy="463601"/>
            </a:xfrm>
            <a:prstGeom prst="roundRect">
              <a:avLst/>
            </a:prstGeom>
            <a:solidFill>
              <a:srgbClr val="FFFFFF"/>
            </a:solidFill>
            <a:ln w="19050" cap="flat" cmpd="sng" algn="ctr">
              <a:gradFill>
                <a:gsLst>
                  <a:gs pos="0">
                    <a:srgbClr val="C7000A">
                      <a:lumMod val="5000"/>
                      <a:lumOff val="95000"/>
                      <a:alpha val="0"/>
                    </a:srgbClr>
                  </a:gs>
                  <a:gs pos="100000">
                    <a:srgbClr val="EBEBEB">
                      <a:lumMod val="75000"/>
                    </a:srgbClr>
                  </a:gs>
                </a:gsLst>
                <a:lin ang="5400000" scaled="1"/>
              </a:gradFill>
              <a:prstDash val="sysDash"/>
              <a:miter lim="800000"/>
            </a:ln>
            <a:effectLst>
              <a:outerShdw blurRad="63500" sx="102000" sy="102000" algn="ctr" rotWithShape="0">
                <a:srgbClr val="FFFFFF">
                  <a:lumMod val="65000"/>
                  <a:alpha val="40000"/>
                </a:srgbClr>
              </a:outerShdw>
            </a:effectLst>
          </p:spPr>
          <p:txBody>
            <a:bodyPr rot="0" spcFirstLastPara="0" vertOverflow="overflow" horzOverflow="overflow" vert="horz" wrap="square" lIns="91404" tIns="45702" rIns="91404" bIns="45702" numCol="1" spcCol="0" rtlCol="0" fromWordArt="0" anchor="ctr" anchorCtr="0" forceAA="0" compatLnSpc="1">
              <a:noAutofit/>
            </a:bodyPr>
            <a:lstStyle>
              <a:defPPr>
                <a:defRPr lang="zh-CN"/>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25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知识的提取按照向量相似度召回，</a:t>
              </a:r>
              <a:r>
                <a:rPr kumimoji="0" lang="zh-CN" altLang="en-US" sz="12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关联信息无法识别</a:t>
              </a:r>
              <a:endParaRPr kumimoji="0" lang="zh-CN" altLang="en-US" sz="12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endParaRPr>
            </a:p>
          </p:txBody>
        </p:sp>
        <p:sp>
          <p:nvSpPr>
            <p:cNvPr id="81" name="椭圆 80"/>
            <p:cNvSpPr/>
            <p:nvPr>
              <p:custDataLst>
                <p:tags r:id="rId66"/>
              </p:custDataLst>
            </p:nvPr>
          </p:nvSpPr>
          <p:spPr>
            <a:xfrm>
              <a:off x="8599573" y="5104634"/>
              <a:ext cx="214899" cy="207805"/>
            </a:xfrm>
            <a:prstGeom prst="ellipse">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3</a:t>
              </a:r>
              <a:endParaRPr kumimoji="0" lang="zh-CN" altLang="en-US" sz="12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82" name="文本框 81"/>
            <p:cNvSpPr txBox="1"/>
            <p:nvPr>
              <p:custDataLst>
                <p:tags r:id="rId67"/>
              </p:custDataLst>
            </p:nvPr>
          </p:nvSpPr>
          <p:spPr>
            <a:xfrm>
              <a:off x="8913826" y="4965958"/>
              <a:ext cx="2441622" cy="463601"/>
            </a:xfrm>
            <a:prstGeom prst="roundRect">
              <a:avLst>
                <a:gd name="adj" fmla="val 10406"/>
              </a:avLst>
            </a:prstGeom>
            <a:solidFill>
              <a:srgbClr val="FFFFFF"/>
            </a:solidFill>
            <a:ln w="19050" cap="flat" cmpd="sng" algn="ctr">
              <a:gradFill>
                <a:gsLst>
                  <a:gs pos="0">
                    <a:srgbClr val="C7000A">
                      <a:lumMod val="5000"/>
                      <a:lumOff val="95000"/>
                      <a:alpha val="0"/>
                    </a:srgbClr>
                  </a:gs>
                  <a:gs pos="100000">
                    <a:srgbClr val="EBEBEB">
                      <a:lumMod val="75000"/>
                    </a:srgbClr>
                  </a:gs>
                </a:gsLst>
                <a:lin ang="5400000" scaled="1"/>
              </a:gradFill>
              <a:prstDash val="sysDash"/>
              <a:miter lim="800000"/>
            </a:ln>
            <a:effectLst>
              <a:outerShdw blurRad="63500" sx="102000" sy="102000" algn="ctr" rotWithShape="0">
                <a:srgbClr val="FFFFFF">
                  <a:lumMod val="65000"/>
                  <a:alpha val="40000"/>
                </a:srgbClr>
              </a:outerShdw>
            </a:effectLst>
          </p:spPr>
          <p:txBody>
            <a:bodyPr rot="0" spcFirstLastPara="0" vertOverflow="overflow" horzOverflow="overflow" vert="horz" wrap="square" lIns="91404" tIns="45702" rIns="91404" bIns="45702" numCol="1" spcCol="0" rtlCol="0" fromWordArt="0" anchor="ctr" anchorCtr="0" forceAA="0" compatLnSpc="1">
              <a:noAutofit/>
            </a:bodyPr>
            <a:lstStyle>
              <a:defPPr>
                <a:defRPr lang="zh-CN"/>
              </a:defPPr>
              <a:lvl1pPr algn="ct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rtl="0" eaLnBrk="1" fontAlgn="auto" latinLnBrk="0" hangingPunct="1">
                <a:lnSpc>
                  <a:spcPct val="125000"/>
                </a:lnSpc>
                <a:spcBef>
                  <a:spcPts val="0"/>
                </a:spcBef>
                <a:spcAft>
                  <a:spcPts val="0"/>
                </a:spcAft>
                <a:buClrTx/>
                <a:buSzTx/>
                <a:buFontTx/>
                <a:buNone/>
                <a:defRPr/>
              </a:pPr>
              <a:r>
                <a:rPr kumimoji="0" lang="zh-CN" altLang="en-US" sz="12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大模型按检索内容组织语言，</a:t>
              </a:r>
              <a:r>
                <a:rPr kumimoji="0" lang="zh-CN" altLang="en-US" sz="12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rPr>
                <a:t>无法给出决策建议和思考过程</a:t>
              </a:r>
              <a:endParaRPr kumimoji="0" lang="zh-CN" altLang="en-US" sz="120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ea"/>
                <a:sym typeface="+mn-lt"/>
              </a:endParaRPr>
            </a:p>
          </p:txBody>
        </p:sp>
        <p:sp>
          <p:nvSpPr>
            <p:cNvPr id="83" name="椭圆 82"/>
            <p:cNvSpPr/>
            <p:nvPr>
              <p:custDataLst>
                <p:tags r:id="rId68"/>
              </p:custDataLst>
            </p:nvPr>
          </p:nvSpPr>
          <p:spPr>
            <a:xfrm>
              <a:off x="2170554" y="4601196"/>
              <a:ext cx="288000" cy="277073"/>
            </a:xfrm>
            <a:prstGeom prst="ellipse">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1</a:t>
              </a:r>
              <a:endPar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84" name="椭圆 83"/>
            <p:cNvSpPr/>
            <p:nvPr>
              <p:custDataLst>
                <p:tags r:id="rId69"/>
              </p:custDataLst>
            </p:nvPr>
          </p:nvSpPr>
          <p:spPr>
            <a:xfrm>
              <a:off x="4839562" y="1828023"/>
              <a:ext cx="288000" cy="277073"/>
            </a:xfrm>
            <a:prstGeom prst="ellipse">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2</a:t>
              </a:r>
              <a:endPar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85" name="椭圆 84"/>
            <p:cNvSpPr/>
            <p:nvPr>
              <p:custDataLst>
                <p:tags r:id="rId70"/>
              </p:custDataLst>
            </p:nvPr>
          </p:nvSpPr>
          <p:spPr>
            <a:xfrm>
              <a:off x="5861620" y="4972556"/>
              <a:ext cx="288000" cy="277073"/>
            </a:xfrm>
            <a:prstGeom prst="ellipse">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rPr>
                <a:t>3</a:t>
              </a:r>
              <a:endParaRPr kumimoji="0" lang="zh-CN" altLang="en-US" sz="14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sym typeface="+mn-lt"/>
              </a:endParaRPr>
            </a:p>
          </p:txBody>
        </p:sp>
        <p:sp>
          <p:nvSpPr>
            <p:cNvPr id="86" name="文本框 85"/>
            <p:cNvSpPr txBox="1"/>
            <p:nvPr>
              <p:custDataLst>
                <p:tags r:id="rId71"/>
              </p:custDataLst>
            </p:nvPr>
          </p:nvSpPr>
          <p:spPr>
            <a:xfrm>
              <a:off x="8771410" y="3996417"/>
              <a:ext cx="2657496" cy="759557"/>
            </a:xfrm>
            <a:prstGeom prst="rect">
              <a:avLst/>
            </a:prstGeom>
            <a:noFill/>
          </p:spPr>
          <p:txBody>
            <a:bodyPr wrap="square" lIns="0" tIns="0" rIns="0" bIns="0" rtlCol="0" anchor="ctr">
              <a:spAutoFit/>
            </a:bodyPr>
            <a:lstStyle/>
            <a:p>
              <a:pPr marL="171450" marR="0" lvl="0" indent="-171450" algn="l" defTabSz="913765" rtl="0" eaLnBrk="1" fontAlgn="auto" latinLnBrk="0" hangingPunct="1">
                <a:lnSpc>
                  <a:spcPct val="125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ea"/>
                  <a:sym typeface="+mn-lt"/>
                </a:rPr>
                <a:t>仅做浅层语义匹配</a:t>
              </a:r>
              <a:r>
                <a:rPr kumimoji="0" lang="zh-CN" altLang="en-US" sz="105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，缺乏深层语义关联与多跳逻辑推理，难以处理因果、对比等复杂语义关系，无法支撑复杂问答与深度分析</a:t>
              </a:r>
              <a:endParaRPr kumimoji="0" lang="en-US" altLang="zh-CN" sz="105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sp>
          <p:nvSpPr>
            <p:cNvPr id="87" name="文本框 86"/>
            <p:cNvSpPr txBox="1"/>
            <p:nvPr>
              <p:custDataLst>
                <p:tags r:id="rId72"/>
              </p:custDataLst>
            </p:nvPr>
          </p:nvSpPr>
          <p:spPr>
            <a:xfrm>
              <a:off x="8771410" y="2441201"/>
              <a:ext cx="2657496" cy="759557"/>
            </a:xfrm>
            <a:prstGeom prst="rect">
              <a:avLst/>
            </a:prstGeom>
            <a:noFill/>
          </p:spPr>
          <p:txBody>
            <a:bodyPr wrap="square" lIns="0" tIns="0" rIns="0" bIns="0" rtlCol="0" anchor="ctr">
              <a:spAutoFit/>
            </a:bodyPr>
            <a:lstStyle/>
            <a:p>
              <a:pPr marL="171450" marR="0" lvl="0" indent="-171450" algn="l" defTabSz="913765" rtl="0" eaLnBrk="1" fontAlgn="auto" latinLnBrk="0" hangingPunct="1">
                <a:lnSpc>
                  <a:spcPct val="125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ea"/>
                  <a:sym typeface="+mn-lt"/>
                </a:rPr>
                <a:t>简单文本切分</a:t>
              </a:r>
              <a:r>
                <a:rPr kumimoji="0" lang="zh-CN" altLang="en-US" sz="105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仅做碎片化段落拆分，无法构建含实体、关系与逻辑关联的结构化知识网络，易产生知识冗余与噪声，降低检索与生成质量</a:t>
              </a:r>
              <a:endParaRPr kumimoji="0" lang="en-US" altLang="zh-CN" sz="105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sp>
          <p:nvSpPr>
            <p:cNvPr id="88" name="文本框 87"/>
            <p:cNvSpPr txBox="1"/>
            <p:nvPr>
              <p:custDataLst>
                <p:tags r:id="rId73"/>
              </p:custDataLst>
            </p:nvPr>
          </p:nvSpPr>
          <p:spPr>
            <a:xfrm>
              <a:off x="8840370" y="5511861"/>
              <a:ext cx="2588535" cy="565241"/>
            </a:xfrm>
            <a:prstGeom prst="rect">
              <a:avLst/>
            </a:prstGeom>
            <a:noFill/>
          </p:spPr>
          <p:txBody>
            <a:bodyPr wrap="square" lIns="0" tIns="0" rIns="0" bIns="0" rtlCol="0" anchor="ctr">
              <a:spAutoFit/>
            </a:bodyPr>
            <a:lstStyle/>
            <a:p>
              <a:pPr marL="171450" marR="0" lvl="0" indent="-171450" algn="l" defTabSz="913765" rtl="0" eaLnBrk="1" fontAlgn="auto" latinLnBrk="0" hangingPunct="1">
                <a:lnSpc>
                  <a:spcPct val="125000"/>
                </a:lnSpc>
                <a:spcBef>
                  <a:spcPts val="0"/>
                </a:spcBef>
                <a:spcAft>
                  <a:spcPts val="0"/>
                </a:spcAft>
                <a:buClrTx/>
                <a:buSzTx/>
                <a:buFont typeface="Arial" panose="020B0604020202090204" pitchFamily="34" charset="0"/>
                <a:buChar char="•"/>
                <a:defRPr/>
              </a:pPr>
              <a:r>
                <a:rPr kumimoji="0" lang="zh-CN" altLang="en-US" sz="105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生成过程</a:t>
              </a:r>
              <a:r>
                <a:rPr kumimoji="0" lang="zh-CN" altLang="en-US" sz="1050" b="0" i="0" u="none" strike="noStrike" kern="0" cap="none" spc="0" normalizeH="0" baseline="0" noProof="0" dirty="0">
                  <a:ln>
                    <a:noFill/>
                  </a:ln>
                  <a:solidFill>
                    <a:srgbClr val="0070C0"/>
                  </a:solidFill>
                  <a:effectLst/>
                  <a:uLnTx/>
                  <a:uFillTx/>
                  <a:latin typeface="微软雅黑" panose="020B0503020204020204" charset="-122"/>
                  <a:ea typeface="微软雅黑" panose="020B0503020204020204" charset="-122"/>
                  <a:cs typeface="+mn-ea"/>
                  <a:sym typeface="+mn-lt"/>
                </a:rPr>
                <a:t>存在黑箱风险</a:t>
              </a:r>
              <a:r>
                <a:rPr kumimoji="0" lang="zh-CN" altLang="en-US" sz="105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rPr>
                <a:t>，可解释性不足，易出现逻辑断层，模型仅机械拼接检索片段，难以保证回答的准确性</a:t>
              </a:r>
              <a:endParaRPr kumimoji="0" lang="zh-CN" altLang="en-US" sz="105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ea"/>
                <a:sym typeface="+mn-lt"/>
              </a:endParaRPr>
            </a:p>
          </p:txBody>
        </p:sp>
        <p:grpSp>
          <p:nvGrpSpPr>
            <p:cNvPr id="89" name="组合 88"/>
            <p:cNvGrpSpPr/>
            <p:nvPr/>
          </p:nvGrpSpPr>
          <p:grpSpPr>
            <a:xfrm>
              <a:off x="8887675" y="1574868"/>
              <a:ext cx="2485619" cy="190396"/>
              <a:chOff x="3385343" y="6098706"/>
              <a:chExt cx="10559257" cy="817798"/>
            </a:xfrm>
          </p:grpSpPr>
          <p:sp>
            <p:nvSpPr>
              <p:cNvPr id="90" name="梯形 89"/>
              <p:cNvSpPr/>
              <p:nvPr>
                <p:custDataLst>
                  <p:tags r:id="rId74"/>
                </p:custDataLst>
              </p:nvPr>
            </p:nvSpPr>
            <p:spPr>
              <a:xfrm>
                <a:off x="3385343" y="6098706"/>
                <a:ext cx="10559257" cy="550468"/>
              </a:xfrm>
              <a:prstGeom prst="trapezoid">
                <a:avLst>
                  <a:gd name="adj" fmla="val 86165"/>
                </a:avLst>
              </a:prstGeom>
              <a:gradFill>
                <a:gsLst>
                  <a:gs pos="0">
                    <a:sysClr val="window" lastClr="FFFFFF">
                      <a:alpha val="0"/>
                    </a:sysClr>
                  </a:gs>
                  <a:gs pos="100000">
                    <a:sysClr val="window" lastClr="FFFFFF">
                      <a:alpha val="5000"/>
                    </a:sysClr>
                  </a:gs>
                </a:gsLst>
                <a:lin ang="5400000" scaled="0"/>
              </a:gradFill>
              <a:ln w="3175" cap="flat" cmpd="sng" algn="ctr">
                <a:gradFill>
                  <a:gsLst>
                    <a:gs pos="100000">
                      <a:sysClr val="window" lastClr="FFFFFF">
                        <a:alpha val="30000"/>
                      </a:sysClr>
                    </a:gs>
                    <a:gs pos="0">
                      <a:sysClr val="window" lastClr="FFFFFF">
                        <a:alpha val="0"/>
                      </a:sysClr>
                    </a:gs>
                  </a:gsLst>
                  <a:lin ang="5400000" scaled="0"/>
                </a:gradFill>
                <a:prstDash val="solid"/>
                <a:miter lim="800000"/>
              </a:ln>
              <a:effectLst/>
            </p:spPr>
            <p:txBody>
              <a:bodyPr lIns="0" tIns="0" rIns="0" bIns="0" rtlCol="0" anchor="ctr"/>
              <a:lstStyle/>
              <a:p>
                <a:pPr marL="0" marR="0" lvl="0" indent="0" algn="ctr" defTabSz="913765" rtl="0" eaLnBrk="1" fontAlgn="auto" latinLnBrk="0" hangingPunct="1">
                  <a:lnSpc>
                    <a:spcPct val="100000"/>
                  </a:lnSpc>
                  <a:spcBef>
                    <a:spcPts val="0"/>
                  </a:spcBef>
                  <a:spcAft>
                    <a:spcPts val="0"/>
                  </a:spcAft>
                  <a:buClrTx/>
                  <a:buSzTx/>
                  <a:buFontTx/>
                  <a:buNone/>
                  <a:defRPr/>
                </a:pPr>
                <a:endParaRPr kumimoji="0" lang="zh-CN" altLang="en-US" sz="2800" b="0" i="0" u="none" strike="noStrike" kern="0" cap="none" spc="0" normalizeH="0" baseline="0" noProof="0">
                  <a:ln>
                    <a:noFill/>
                  </a:ln>
                  <a:solidFill>
                    <a:srgbClr val="1D1D1A"/>
                  </a:solidFill>
                  <a:effectLst/>
                  <a:uLnTx/>
                  <a:uFillTx/>
                  <a:latin typeface="微软雅黑" panose="020B0503020204020204" charset="-122"/>
                  <a:ea typeface="微软雅黑" panose="020B0503020204020204" charset="-122"/>
                  <a:cs typeface="+mn-ea"/>
                  <a:sym typeface="+mn-lt"/>
                </a:endParaRPr>
              </a:p>
            </p:txBody>
          </p:sp>
          <p:pic>
            <p:nvPicPr>
              <p:cNvPr id="91" name="Picture 26" descr="C:\Users\nelsone-pc01\Desktop\手环\4.png"/>
              <p:cNvPicPr>
                <a:picLocks noChangeAspect="1" noChangeArrowheads="1"/>
              </p:cNvPicPr>
              <p:nvPr>
                <p:custDataLst>
                  <p:tags r:id="rId75"/>
                </p:custDataLst>
              </p:nvPr>
            </p:nvPicPr>
            <p:blipFill>
              <a:blip r:embed="rId76" cstate="print">
                <a:grayscl/>
              </a:blip>
              <a:srcRect/>
              <a:stretch>
                <a:fillRect/>
              </a:stretch>
            </p:blipFill>
            <p:spPr bwMode="auto">
              <a:xfrm rot="10800000" flipV="1">
                <a:off x="3596265" y="6288971"/>
                <a:ext cx="10172699" cy="62753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92" name="圆角矩形 91"/>
          <p:cNvSpPr/>
          <p:nvPr>
            <p:custDataLst>
              <p:tags r:id="rId77"/>
            </p:custDataLst>
          </p:nvPr>
        </p:nvSpPr>
        <p:spPr>
          <a:xfrm>
            <a:off x="581025" y="923925"/>
            <a:ext cx="11229975" cy="595630"/>
          </a:xfrm>
          <a:prstGeom prst="roundRect">
            <a:avLst>
              <a:gd name="adj" fmla="val 8696"/>
            </a:avLst>
          </a:prstGeom>
          <a:solidFill>
            <a:srgbClr val="FFFFFF"/>
          </a:solidFill>
          <a:effectLst>
            <a:outerShdw blurRad="76200" dist="19050" dir="5400000">
              <a:srgbClr val="0F1F3A">
                <a:alpha val="6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等线" panose="02010600030101010101" charset="-122"/>
              <a:ea typeface="+mn-ea"/>
              <a:cs typeface="+mn-cs"/>
            </a:endParaRPr>
          </a:p>
        </p:txBody>
      </p:sp>
      <p:sp>
        <p:nvSpPr>
          <p:cNvPr id="93" name="任意多边形 92"/>
          <p:cNvSpPr/>
          <p:nvPr>
            <p:custDataLst>
              <p:tags r:id="rId78"/>
            </p:custDataLst>
          </p:nvPr>
        </p:nvSpPr>
        <p:spPr>
          <a:xfrm>
            <a:off x="581025" y="923925"/>
            <a:ext cx="11125200" cy="595630"/>
          </a:xfrm>
          <a:custGeom>
            <a:avLst/>
            <a:gdLst/>
            <a:ahLst/>
            <a:cxnLst/>
            <a:rect l="0" t="0" r="0" b="0"/>
            <a:pathLst>
              <a:path w="1168" h="92">
                <a:moveTo>
                  <a:pt x="8" y="0"/>
                </a:moveTo>
                <a:cubicBezTo>
                  <a:pt x="6" y="0"/>
                  <a:pt x="5" y="1"/>
                  <a:pt x="5" y="3"/>
                </a:cubicBezTo>
                <a:lnTo>
                  <a:pt x="5" y="89"/>
                </a:lnTo>
                <a:cubicBezTo>
                  <a:pt x="5" y="91"/>
                  <a:pt x="6" y="92"/>
                  <a:pt x="8" y="92"/>
                </a:cubicBezTo>
                <a:cubicBezTo>
                  <a:pt x="3" y="92"/>
                  <a:pt x="0" y="88"/>
                  <a:pt x="0" y="84"/>
                </a:cubicBezTo>
                <a:lnTo>
                  <a:pt x="0" y="8"/>
                </a:lnTo>
                <a:cubicBezTo>
                  <a:pt x="0" y="4"/>
                  <a:pt x="3" y="0"/>
                  <a:pt x="8" y="0"/>
                </a:cubicBezTo>
                <a:close/>
              </a:path>
            </a:pathLst>
          </a:custGeom>
          <a:solidFill>
            <a:schemeClr val="accent1">
              <a:lumMod val="75000"/>
            </a:schemeClr>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等线" panose="02010600030101010101" charset="-122"/>
              <a:ea typeface="+mn-ea"/>
              <a:cs typeface="+mn-cs"/>
            </a:endParaRPr>
          </a:p>
        </p:txBody>
      </p:sp>
      <p:sp>
        <p:nvSpPr>
          <p:cNvPr id="94" name="文本框 93" descr="{&quot;isTemplate&quot;:true,&quot;type&quot;:&quot;text&quot;}"/>
          <p:cNvSpPr txBox="1"/>
          <p:nvPr>
            <p:custDataLst>
              <p:tags r:id="rId79"/>
            </p:custDataLst>
          </p:nvPr>
        </p:nvSpPr>
        <p:spPr>
          <a:xfrm>
            <a:off x="790574" y="923925"/>
            <a:ext cx="11125199" cy="514350"/>
          </a:xfrm>
          <a:prstGeom prst="rect">
            <a:avLst/>
          </a:prstGeom>
        </p:spPr>
        <p:txBody>
          <a:bodyPr wrap="square" lIns="0" tIns="0" rIns="0" bIns="0" anchor="ctr" anchorCtr="0"/>
          <a:lstStyle/>
          <a:p>
            <a:pPr lvl="0">
              <a:lnSpc>
                <a:spcPct val="120000"/>
              </a:lnSpc>
            </a:pPr>
            <a:r>
              <a:rPr kumimoji="0" 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sym typeface="+mn-ea"/>
              </a:rPr>
              <a:t>LLM</a:t>
            </a:r>
            <a:r>
              <a:rPr kumimoji="0" lang="zh-CN" alt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sym typeface="+mn-ea"/>
              </a:rPr>
              <a:t>应用落地时</a:t>
            </a:r>
            <a:r>
              <a:rPr kumimoji="0" 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sym typeface="+mn-ea"/>
              </a:rPr>
              <a:t>，RAG技术已成为解决模型幻觉、提升垂直领域专业性的重要手段。然而，传统的RAG系统</a:t>
            </a:r>
            <a:r>
              <a:rPr kumimoji="0" lang="zh-CN" alt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sym typeface="+mn-ea"/>
              </a:rPr>
              <a:t>仍存在较多幻觉，且</a:t>
            </a:r>
            <a:r>
              <a:rPr kumimoji="0" 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sym typeface="+mn-ea"/>
              </a:rPr>
              <a:t>在以下场景会表现出明显的局限性: </a:t>
            </a:r>
            <a:r>
              <a:rPr kumimoji="0" lang="en-US"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pitchFamily="34" charset="-120"/>
                <a:sym typeface="+mn-ea"/>
              </a:rPr>
              <a:t>①</a:t>
            </a:r>
            <a:r>
              <a:rPr lang="zh-CN" altLang="en-US" sz="1600" b="1" kern="0" dirty="0">
                <a:latin typeface="微软雅黑" panose="020B0503020204020204" charset="-122"/>
                <a:ea typeface="微软雅黑" panose="020B0503020204020204" charset="-122"/>
                <a:cs typeface="+mn-ea"/>
                <a:sym typeface="+mn-lt"/>
              </a:rPr>
              <a:t>没有结构化整理</a:t>
            </a:r>
            <a:r>
              <a:rPr kumimoji="0" lang="en-US"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pitchFamily="34" charset="-120"/>
                <a:sym typeface="+mn-ea"/>
              </a:rPr>
              <a:t>; ②</a:t>
            </a:r>
            <a:r>
              <a:rPr lang="zh-CN" altLang="en-US" sz="1600" b="1" kern="0" dirty="0">
                <a:latin typeface="微软雅黑" panose="020B0503020204020204" charset="-122"/>
                <a:ea typeface="微软雅黑" panose="020B0503020204020204" charset="-122"/>
                <a:cs typeface="+mn-ea"/>
                <a:sym typeface="+mn-lt"/>
              </a:rPr>
              <a:t>关联信息无法识别</a:t>
            </a:r>
            <a:r>
              <a:rPr kumimoji="0" lang="en-US"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pitchFamily="34" charset="-120"/>
                <a:sym typeface="+mn-ea"/>
              </a:rPr>
              <a:t>; ③</a:t>
            </a:r>
            <a:r>
              <a:rPr lang="zh-CN" altLang="en-US" sz="1600" b="1" kern="0" dirty="0">
                <a:latin typeface="微软雅黑" panose="020B0503020204020204" charset="-122"/>
                <a:ea typeface="微软雅黑" panose="020B0503020204020204" charset="-122"/>
                <a:cs typeface="+mn-ea"/>
                <a:sym typeface="+mn-lt"/>
              </a:rPr>
              <a:t>无法给出决策建议和思考过程</a:t>
            </a:r>
            <a:endParaRPr kumimoji="0" lang="en-US"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pitchFamily="34" charset="-12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800100"/>
          </a:xfrm>
          <a:prstGeom prst="rect">
            <a:avLst/>
          </a:prstGeom>
          <a:noFill/>
          <a:ln w="25400" cap="flat" cmpd="sng">
            <a:noFill/>
            <a:prstDash val="solid"/>
            <a:round/>
          </a:ln>
        </p:spPr>
      </p:pic>
      <p:sp>
        <p:nvSpPr>
          <p:cNvPr id="3" name="AutoShape 3"/>
          <p:cNvSpPr/>
          <p:nvPr/>
        </p:nvSpPr>
        <p:spPr bwMode="auto">
          <a:xfrm>
            <a:off x="317500" y="203200"/>
            <a:ext cx="10934700" cy="381000"/>
          </a:xfrm>
          <a:prstGeom prst="rect">
            <a:avLst/>
          </a:prstGeom>
        </p:spPr>
        <p:txBody>
          <a:bodyPr vert="horz" wrap="square" lIns="91440" tIns="45720" rIns="91440" bIns="45720" rtlCol="0" anchor="ctr" anchorCtr="0">
            <a:noAutofit/>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lnSpc>
                <a:spcPct val="90000"/>
              </a:lnSpc>
              <a:buClrTx/>
              <a:buSzTx/>
              <a:buFontTx/>
            </a:pPr>
            <a:r>
              <a:rPr kumimoji="0" lang="zh-CN" altLang="en-US" sz="21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知识工程技术进阶：本体让大模型从『能用』到『可信 · 可控 · 可用』</a:t>
            </a:r>
            <a:endParaRPr kumimoji="0" lang="zh-CN" altLang="en-US" sz="16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Text 1"/>
          <p:cNvSpPr/>
          <p:nvPr>
            <p:custDataLst>
              <p:tags r:id="rId2"/>
            </p:custDataLst>
          </p:nvPr>
        </p:nvSpPr>
        <p:spPr>
          <a:xfrm>
            <a:off x="640080" y="749808"/>
            <a:ext cx="10911535" cy="7315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3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5" name="Text 2"/>
          <p:cNvSpPr/>
          <p:nvPr>
            <p:custDataLst>
              <p:tags r:id="rId3"/>
            </p:custDataLst>
          </p:nvPr>
        </p:nvSpPr>
        <p:spPr>
          <a:xfrm>
            <a:off x="640080" y="1196340"/>
            <a:ext cx="10911535" cy="45720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rPr>
              <a:t>本体</a:t>
            </a:r>
            <a:r>
              <a:rPr kumimoji="0" lang="en-US" altLang="zh-CN"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rPr>
              <a:t>(Ontology) </a:t>
            </a:r>
            <a:r>
              <a:rPr kumimoji="0" lang="zh-CN" alt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rPr>
              <a:t>是</a:t>
            </a:r>
            <a:r>
              <a:rPr kumimoji="0" lang="en-US" sz="1600" b="0" i="0" u="none" strike="noStrike" kern="1200" cap="none" spc="0" normalizeH="0" baseline="0" noProof="0" dirty="0">
                <a:ln>
                  <a:noFill/>
                </a:ln>
                <a:solidFill>
                  <a:srgbClr val="3A4453"/>
                </a:solidFill>
                <a:effectLst/>
                <a:uLnTx/>
                <a:uFillTx/>
                <a:latin typeface="微软雅黑" panose="020B0503020204020204" charset="-122"/>
                <a:ea typeface="微软雅黑" panose="020B0503020204020204" charset="-122"/>
                <a:cs typeface="微软雅黑" panose="020B0503020204020204" pitchFamily="34" charset="-120"/>
              </a:rPr>
              <a:t>一种结构化的、机器可读的『业务知识模型』—— 业务的认知地图 + 操作手册</a:t>
            </a:r>
            <a:endParaRPr kumimoji="0" lang="en-US" sz="16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6" name="Shape 3"/>
          <p:cNvSpPr/>
          <p:nvPr>
            <p:custDataLst>
              <p:tags r:id="rId4"/>
            </p:custDataLst>
          </p:nvPr>
        </p:nvSpPr>
        <p:spPr>
          <a:xfrm>
            <a:off x="640080" y="1973580"/>
            <a:ext cx="3393338" cy="2057400"/>
          </a:xfrm>
          <a:prstGeom prst="roundRect">
            <a:avLst>
              <a:gd name="adj" fmla="val 3556"/>
            </a:avLst>
          </a:prstGeom>
          <a:solidFill>
            <a:srgbClr val="FFFFFF"/>
          </a:solidFill>
          <a:ln w="12700">
            <a:solidFill>
              <a:srgbClr val="E4E9F0"/>
            </a:solidFill>
            <a:prstDash val="solid"/>
          </a:ln>
          <a:effectLst>
            <a:outerShdw blurRad="76200" dist="25400" dir="8100000" algn="bl" rotWithShape="0">
              <a:srgbClr val="000000">
                <a:alpha val="10000"/>
              </a:srgbClr>
            </a:outerShdw>
          </a:effectLst>
        </p:spPr>
      </p:sp>
      <p:sp>
        <p:nvSpPr>
          <p:cNvPr id="7" name="Shape 4"/>
          <p:cNvSpPr/>
          <p:nvPr>
            <p:custDataLst>
              <p:tags r:id="rId5"/>
            </p:custDataLst>
          </p:nvPr>
        </p:nvSpPr>
        <p:spPr>
          <a:xfrm>
            <a:off x="914400" y="2247900"/>
            <a:ext cx="658368" cy="658368"/>
          </a:xfrm>
          <a:prstGeom prst="ellipse">
            <a:avLst/>
          </a:prstGeom>
          <a:solidFill>
            <a:srgbClr val="E6F4F1"/>
          </a:solidFill>
        </p:spPr>
      </p:sp>
      <p:pic>
        <p:nvPicPr>
          <p:cNvPr id="8" name="Image 0" descr="preencoded.png"/>
          <p:cNvPicPr>
            <a:picLocks noChangeAspect="1"/>
          </p:cNvPicPr>
          <p:nvPr>
            <p:custDataLst>
              <p:tags r:id="rId6"/>
            </p:custDataLst>
          </p:nvPr>
        </p:nvPicPr>
        <p:blipFill>
          <a:blip r:embed="rId7"/>
          <a:stretch>
            <a:fillRect/>
          </a:stretch>
        </p:blipFill>
        <p:spPr>
          <a:xfrm>
            <a:off x="1069848" y="2403348"/>
            <a:ext cx="347472" cy="347472"/>
          </a:xfrm>
          <a:prstGeom prst="rect">
            <a:avLst/>
          </a:prstGeom>
        </p:spPr>
      </p:pic>
      <p:sp>
        <p:nvSpPr>
          <p:cNvPr id="9" name="Text 5"/>
          <p:cNvSpPr/>
          <p:nvPr>
            <p:custDataLst>
              <p:tags r:id="rId8"/>
            </p:custDataLst>
          </p:nvPr>
        </p:nvSpPr>
        <p:spPr>
          <a:xfrm>
            <a:off x="914400" y="3015996"/>
            <a:ext cx="2844698" cy="36576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pitchFamily="34" charset="-120"/>
              </a:rPr>
              <a:t>共享业务语言</a:t>
            </a:r>
            <a:endParaRPr kumimoji="0" lang="en-US" sz="18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10" name="Text 6"/>
          <p:cNvSpPr/>
          <p:nvPr>
            <p:custDataLst>
              <p:tags r:id="rId9"/>
            </p:custDataLst>
          </p:nvPr>
        </p:nvSpPr>
        <p:spPr>
          <a:xfrm>
            <a:off x="914400" y="3400044"/>
            <a:ext cx="2844698" cy="54864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pitchFamily="34" charset="-120"/>
              </a:rPr>
              <a:t>为『利润 / 风险 / 客户 / </a:t>
            </a:r>
            <a:r>
              <a:rPr kumimoji="0" lang="zh-CN" altLang="en-US" sz="13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pitchFamily="34" charset="-120"/>
              </a:rPr>
              <a:t>中收</a:t>
            </a:r>
            <a:r>
              <a:rPr kumimoji="0" lang="en-US" sz="13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pitchFamily="34" charset="-120"/>
              </a:rPr>
              <a:t>』建立唯一明确的定义，彻底消除歧义</a:t>
            </a:r>
            <a:endParaRPr kumimoji="0" lang="en-US" sz="13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11" name="Shape 7"/>
          <p:cNvSpPr/>
          <p:nvPr>
            <p:custDataLst>
              <p:tags r:id="rId10"/>
            </p:custDataLst>
          </p:nvPr>
        </p:nvSpPr>
        <p:spPr>
          <a:xfrm>
            <a:off x="4399178" y="1973580"/>
            <a:ext cx="3393338" cy="2057400"/>
          </a:xfrm>
          <a:prstGeom prst="roundRect">
            <a:avLst>
              <a:gd name="adj" fmla="val 3556"/>
            </a:avLst>
          </a:prstGeom>
          <a:solidFill>
            <a:srgbClr val="FFFFFF"/>
          </a:solidFill>
          <a:ln w="12700">
            <a:solidFill>
              <a:srgbClr val="E4E9F0"/>
            </a:solidFill>
            <a:prstDash val="solid"/>
          </a:ln>
          <a:effectLst>
            <a:outerShdw blurRad="76200" dist="25400" dir="8100000" algn="bl" rotWithShape="0">
              <a:srgbClr val="000000">
                <a:alpha val="10000"/>
              </a:srgbClr>
            </a:outerShdw>
          </a:effectLst>
        </p:spPr>
      </p:sp>
      <p:sp>
        <p:nvSpPr>
          <p:cNvPr id="12" name="Shape 8"/>
          <p:cNvSpPr/>
          <p:nvPr>
            <p:custDataLst>
              <p:tags r:id="rId11"/>
            </p:custDataLst>
          </p:nvPr>
        </p:nvSpPr>
        <p:spPr>
          <a:xfrm>
            <a:off x="4673498" y="2247900"/>
            <a:ext cx="658368" cy="658368"/>
          </a:xfrm>
          <a:prstGeom prst="ellipse">
            <a:avLst/>
          </a:prstGeom>
          <a:solidFill>
            <a:srgbClr val="E6F4F1"/>
          </a:solidFill>
        </p:spPr>
      </p:sp>
      <p:pic>
        <p:nvPicPr>
          <p:cNvPr id="13" name="Image 1" descr="preencoded.png"/>
          <p:cNvPicPr>
            <a:picLocks noChangeAspect="1"/>
          </p:cNvPicPr>
          <p:nvPr>
            <p:custDataLst>
              <p:tags r:id="rId12"/>
            </p:custDataLst>
          </p:nvPr>
        </p:nvPicPr>
        <p:blipFill>
          <a:blip r:embed="rId13"/>
          <a:stretch>
            <a:fillRect/>
          </a:stretch>
        </p:blipFill>
        <p:spPr>
          <a:xfrm>
            <a:off x="4828946" y="2403348"/>
            <a:ext cx="347472" cy="347472"/>
          </a:xfrm>
          <a:prstGeom prst="rect">
            <a:avLst/>
          </a:prstGeom>
        </p:spPr>
      </p:pic>
      <p:sp>
        <p:nvSpPr>
          <p:cNvPr id="14" name="Text 9"/>
          <p:cNvSpPr/>
          <p:nvPr>
            <p:custDataLst>
              <p:tags r:id="rId14"/>
            </p:custDataLst>
          </p:nvPr>
        </p:nvSpPr>
        <p:spPr>
          <a:xfrm>
            <a:off x="4673498" y="3015996"/>
            <a:ext cx="2844698" cy="36576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pitchFamily="34" charset="-120"/>
              </a:rPr>
              <a:t>精准操作能力</a:t>
            </a:r>
            <a:endParaRPr kumimoji="0" lang="en-US" sz="18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15" name="Text 10"/>
          <p:cNvSpPr/>
          <p:nvPr>
            <p:custDataLst>
              <p:tags r:id="rId15"/>
            </p:custDataLst>
          </p:nvPr>
        </p:nvSpPr>
        <p:spPr>
          <a:xfrm>
            <a:off x="4673498" y="3400044"/>
            <a:ext cx="2844698" cy="54864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pitchFamily="34" charset="-120"/>
              </a:rPr>
              <a:t>规定可调用的接口、参数含义与格式、行为边界</a:t>
            </a:r>
            <a:endParaRPr kumimoji="0" lang="en-US" sz="13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16" name="Shape 11"/>
          <p:cNvSpPr/>
          <p:nvPr>
            <p:custDataLst>
              <p:tags r:id="rId16"/>
            </p:custDataLst>
          </p:nvPr>
        </p:nvSpPr>
        <p:spPr>
          <a:xfrm>
            <a:off x="8158277" y="1973580"/>
            <a:ext cx="3393338" cy="2057400"/>
          </a:xfrm>
          <a:prstGeom prst="roundRect">
            <a:avLst>
              <a:gd name="adj" fmla="val 3556"/>
            </a:avLst>
          </a:prstGeom>
          <a:solidFill>
            <a:srgbClr val="FFFFFF"/>
          </a:solidFill>
          <a:ln w="12700">
            <a:solidFill>
              <a:srgbClr val="E4E9F0"/>
            </a:solidFill>
            <a:prstDash val="solid"/>
          </a:ln>
          <a:effectLst>
            <a:outerShdw blurRad="76200" dist="25400" dir="8100000" algn="bl" rotWithShape="0">
              <a:srgbClr val="000000">
                <a:alpha val="10000"/>
              </a:srgbClr>
            </a:outerShdw>
          </a:effectLst>
        </p:spPr>
      </p:sp>
      <p:sp>
        <p:nvSpPr>
          <p:cNvPr id="17" name="Shape 12"/>
          <p:cNvSpPr/>
          <p:nvPr>
            <p:custDataLst>
              <p:tags r:id="rId17"/>
            </p:custDataLst>
          </p:nvPr>
        </p:nvSpPr>
        <p:spPr>
          <a:xfrm>
            <a:off x="8432597" y="2247900"/>
            <a:ext cx="658368" cy="658368"/>
          </a:xfrm>
          <a:prstGeom prst="ellipse">
            <a:avLst/>
          </a:prstGeom>
          <a:solidFill>
            <a:srgbClr val="E6F4F1"/>
          </a:solidFill>
        </p:spPr>
      </p:sp>
      <p:pic>
        <p:nvPicPr>
          <p:cNvPr id="18" name="Image 2" descr="preencoded.png"/>
          <p:cNvPicPr>
            <a:picLocks noChangeAspect="1"/>
          </p:cNvPicPr>
          <p:nvPr>
            <p:custDataLst>
              <p:tags r:id="rId18"/>
            </p:custDataLst>
          </p:nvPr>
        </p:nvPicPr>
        <p:blipFill>
          <a:blip r:embed="rId19"/>
          <a:stretch>
            <a:fillRect/>
          </a:stretch>
        </p:blipFill>
        <p:spPr>
          <a:xfrm>
            <a:off x="8588045" y="2403348"/>
            <a:ext cx="347472" cy="347472"/>
          </a:xfrm>
          <a:prstGeom prst="rect">
            <a:avLst/>
          </a:prstGeom>
        </p:spPr>
      </p:pic>
      <p:sp>
        <p:nvSpPr>
          <p:cNvPr id="19" name="Text 13"/>
          <p:cNvSpPr/>
          <p:nvPr>
            <p:custDataLst>
              <p:tags r:id="rId20"/>
            </p:custDataLst>
          </p:nvPr>
        </p:nvSpPr>
        <p:spPr>
          <a:xfrm>
            <a:off x="8432597" y="3015996"/>
            <a:ext cx="2844698" cy="36576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srgbClr val="0F1B2D"/>
                </a:solidFill>
                <a:effectLst/>
                <a:uLnTx/>
                <a:uFillTx/>
                <a:latin typeface="微软雅黑" panose="020B0503020204020204" charset="-122"/>
                <a:ea typeface="微软雅黑" panose="020B0503020204020204" charset="-122"/>
                <a:cs typeface="微软雅黑" panose="020B0503020204020204" pitchFamily="34" charset="-120"/>
              </a:rPr>
              <a:t>可解释推理</a:t>
            </a:r>
            <a:endParaRPr kumimoji="0" lang="en-US" sz="18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20" name="Text 14"/>
          <p:cNvSpPr/>
          <p:nvPr>
            <p:custDataLst>
              <p:tags r:id="rId21"/>
            </p:custDataLst>
          </p:nvPr>
        </p:nvSpPr>
        <p:spPr>
          <a:xfrm>
            <a:off x="8432597" y="3400044"/>
            <a:ext cx="2844698" cy="54864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300" b="0" i="0" u="none" strike="noStrike" kern="1200" cap="none" spc="0" normalizeH="0" baseline="0" noProof="0" dirty="0">
                <a:ln>
                  <a:noFill/>
                </a:ln>
                <a:solidFill>
                  <a:srgbClr val="5A6478"/>
                </a:solidFill>
                <a:effectLst/>
                <a:uLnTx/>
                <a:uFillTx/>
                <a:latin typeface="微软雅黑" panose="020B0503020204020204" charset="-122"/>
                <a:ea typeface="微软雅黑" panose="020B0503020204020204" charset="-122"/>
                <a:cs typeface="微软雅黑" panose="020B0503020204020204" pitchFamily="34" charset="-120"/>
              </a:rPr>
              <a:t>白盒推理，每步决策在图谱中可溯源，满足监管审计</a:t>
            </a:r>
            <a:endParaRPr kumimoji="0" lang="en-US" sz="13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21" name="Shape 15"/>
          <p:cNvSpPr/>
          <p:nvPr>
            <p:custDataLst>
              <p:tags r:id="rId22"/>
            </p:custDataLst>
          </p:nvPr>
        </p:nvSpPr>
        <p:spPr>
          <a:xfrm>
            <a:off x="640080" y="4305300"/>
            <a:ext cx="10911535" cy="1143000"/>
          </a:xfrm>
          <a:prstGeom prst="roundRect">
            <a:avLst>
              <a:gd name="adj" fmla="val 8000"/>
            </a:avLst>
          </a:prstGeom>
          <a:solidFill>
            <a:srgbClr val="0B4F9E"/>
          </a:solidFill>
        </p:spPr>
      </p:sp>
      <p:sp>
        <p:nvSpPr>
          <p:cNvPr id="22" name="Text 16"/>
          <p:cNvSpPr/>
          <p:nvPr>
            <p:custDataLst>
              <p:tags r:id="rId23"/>
            </p:custDataLst>
          </p:nvPr>
        </p:nvSpPr>
        <p:spPr>
          <a:xfrm>
            <a:off x="1005840" y="4506468"/>
            <a:ext cx="2926080" cy="2743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C9DCF0"/>
                </a:solidFill>
                <a:effectLst/>
                <a:uLnTx/>
                <a:uFillTx/>
                <a:latin typeface="微软雅黑" panose="020B0503020204020204" charset="-122"/>
                <a:ea typeface="微软雅黑" panose="020B0503020204020204" charset="-122"/>
                <a:cs typeface="微软雅黑" panose="020B0503020204020204" pitchFamily="34" charset="-120"/>
              </a:rPr>
              <a:t>对银行而言</a:t>
            </a:r>
            <a:endParaRPr kumimoji="0" lang="en-US" sz="14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33" name="Text 17"/>
          <p:cNvSpPr/>
          <p:nvPr>
            <p:custDataLst>
              <p:tags r:id="rId24"/>
            </p:custDataLst>
          </p:nvPr>
        </p:nvSpPr>
        <p:spPr>
          <a:xfrm>
            <a:off x="1005840" y="4762500"/>
            <a:ext cx="3017520" cy="54864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pitchFamily="34" charset="-120"/>
              </a:rPr>
              <a:t>从『能用』到『可信 · 可控 · 可用』</a:t>
            </a:r>
            <a:endParaRPr kumimoji="0" lang="en-US" sz="18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34" name="Text 18"/>
          <p:cNvSpPr/>
          <p:nvPr>
            <p:custDataLst>
              <p:tags r:id="rId25"/>
            </p:custDataLst>
          </p:nvPr>
        </p:nvSpPr>
        <p:spPr>
          <a:xfrm>
            <a:off x="4361688" y="4533900"/>
            <a:ext cx="2052218" cy="36576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pitchFamily="34" charset="-120"/>
              </a:rPr>
              <a:t>精准执行者</a:t>
            </a:r>
            <a:endParaRPr kumimoji="0" lang="en-US" sz="16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35" name="Text 19"/>
          <p:cNvSpPr/>
          <p:nvPr>
            <p:custDataLst>
              <p:tags r:id="rId26"/>
            </p:custDataLst>
          </p:nvPr>
        </p:nvSpPr>
        <p:spPr>
          <a:xfrm>
            <a:off x="4361688" y="4927092"/>
            <a:ext cx="2052218" cy="45720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150" b="0" i="0" u="none" strike="noStrike" kern="1200" cap="none" spc="0" normalizeH="0" baseline="0" noProof="0" dirty="0">
                <a:ln>
                  <a:noFill/>
                </a:ln>
                <a:solidFill>
                  <a:srgbClr val="C9DCF0"/>
                </a:solidFill>
                <a:effectLst/>
                <a:uLnTx/>
                <a:uFillTx/>
                <a:latin typeface="微软雅黑" panose="020B0503020204020204" charset="-122"/>
                <a:ea typeface="微软雅黑" panose="020B0503020204020204" charset="-122"/>
                <a:cs typeface="微软雅黑" panose="020B0503020204020204" pitchFamily="34" charset="-120"/>
              </a:rPr>
              <a:t>从『不可靠助手』升级为可靠数字员工</a:t>
            </a:r>
            <a:endParaRPr kumimoji="0" lang="en-US" sz="115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36" name="Shape 20"/>
          <p:cNvSpPr/>
          <p:nvPr>
            <p:custDataLst>
              <p:tags r:id="rId27"/>
            </p:custDataLst>
          </p:nvPr>
        </p:nvSpPr>
        <p:spPr>
          <a:xfrm>
            <a:off x="6368186" y="4533900"/>
            <a:ext cx="0" cy="685800"/>
          </a:xfrm>
          <a:prstGeom prst="line">
            <a:avLst/>
          </a:prstGeom>
          <a:noFill/>
          <a:ln w="12700">
            <a:solidFill>
              <a:srgbClr val="3A72B0"/>
            </a:solidFill>
            <a:prstDash val="solid"/>
          </a:ln>
        </p:spPr>
      </p:sp>
      <p:sp>
        <p:nvSpPr>
          <p:cNvPr id="37" name="Text 21"/>
          <p:cNvSpPr/>
          <p:nvPr>
            <p:custDataLst>
              <p:tags r:id="rId28"/>
            </p:custDataLst>
          </p:nvPr>
        </p:nvSpPr>
        <p:spPr>
          <a:xfrm>
            <a:off x="6642506" y="4533900"/>
            <a:ext cx="2052218" cy="36576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pitchFamily="34" charset="-120"/>
              </a:rPr>
              <a:t>价值中心</a:t>
            </a:r>
            <a:endParaRPr kumimoji="0" lang="en-US" sz="16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38" name="Text 22"/>
          <p:cNvSpPr/>
          <p:nvPr>
            <p:custDataLst>
              <p:tags r:id="rId29"/>
            </p:custDataLst>
          </p:nvPr>
        </p:nvSpPr>
        <p:spPr>
          <a:xfrm>
            <a:off x="6642506" y="4927092"/>
            <a:ext cx="2052218" cy="45720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150" b="0" i="0" u="none" strike="noStrike" kern="1200" cap="none" spc="0" normalizeH="0" baseline="0" noProof="0" dirty="0">
                <a:ln>
                  <a:noFill/>
                </a:ln>
                <a:solidFill>
                  <a:srgbClr val="C9DCF0"/>
                </a:solidFill>
                <a:effectLst/>
                <a:uLnTx/>
                <a:uFillTx/>
                <a:latin typeface="微软雅黑" panose="020B0503020204020204" charset="-122"/>
                <a:ea typeface="微软雅黑" panose="020B0503020204020204" charset="-122"/>
                <a:cs typeface="微软雅黑" panose="020B0503020204020204" pitchFamily="34" charset="-120"/>
              </a:rPr>
              <a:t>仅 33% AI 项目达预期 ROI，本体是关键</a:t>
            </a:r>
            <a:endParaRPr kumimoji="0" lang="en-US" sz="115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39" name="Shape 23"/>
          <p:cNvSpPr/>
          <p:nvPr>
            <p:custDataLst>
              <p:tags r:id="rId30"/>
            </p:custDataLst>
          </p:nvPr>
        </p:nvSpPr>
        <p:spPr>
          <a:xfrm>
            <a:off x="8649005" y="4533900"/>
            <a:ext cx="0" cy="685800"/>
          </a:xfrm>
          <a:prstGeom prst="line">
            <a:avLst/>
          </a:prstGeom>
          <a:noFill/>
          <a:ln w="12700">
            <a:solidFill>
              <a:srgbClr val="3A72B0"/>
            </a:solidFill>
            <a:prstDash val="solid"/>
          </a:ln>
        </p:spPr>
      </p:sp>
      <p:sp>
        <p:nvSpPr>
          <p:cNvPr id="40" name="Text 24"/>
          <p:cNvSpPr/>
          <p:nvPr>
            <p:custDataLst>
              <p:tags r:id="rId31"/>
            </p:custDataLst>
          </p:nvPr>
        </p:nvSpPr>
        <p:spPr>
          <a:xfrm>
            <a:off x="8923325" y="4533900"/>
            <a:ext cx="2052218" cy="36576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pitchFamily="34" charset="-120"/>
              </a:rPr>
              <a:t>满足监管</a:t>
            </a:r>
            <a:endParaRPr kumimoji="0" lang="en-US" sz="16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41" name="Text 25"/>
          <p:cNvSpPr/>
          <p:nvPr>
            <p:custDataLst>
              <p:tags r:id="rId32"/>
            </p:custDataLst>
          </p:nvPr>
        </p:nvSpPr>
        <p:spPr>
          <a:xfrm>
            <a:off x="8923325" y="4927092"/>
            <a:ext cx="2052218" cy="45720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150" b="0" i="0" u="none" strike="noStrike" kern="1200" cap="none" spc="0" normalizeH="0" baseline="0" noProof="0" dirty="0">
                <a:ln>
                  <a:noFill/>
                </a:ln>
                <a:solidFill>
                  <a:srgbClr val="C9DCF0"/>
                </a:solidFill>
                <a:effectLst/>
                <a:uLnTx/>
                <a:uFillTx/>
                <a:latin typeface="微软雅黑" panose="020B0503020204020204" charset="-122"/>
                <a:ea typeface="微软雅黑" panose="020B0503020204020204" charset="-122"/>
                <a:cs typeface="微软雅黑" panose="020B0503020204020204" pitchFamily="34" charset="-120"/>
              </a:rPr>
              <a:t>可解释 · 审计追踪，放心用于核心业务</a:t>
            </a:r>
            <a:endParaRPr kumimoji="0" lang="en-US" sz="115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
        <p:nvSpPr>
          <p:cNvPr id="42" name="Shape 26"/>
          <p:cNvSpPr/>
          <p:nvPr>
            <p:custDataLst>
              <p:tags r:id="rId33"/>
            </p:custDataLst>
          </p:nvPr>
        </p:nvSpPr>
        <p:spPr>
          <a:xfrm>
            <a:off x="640080" y="5631180"/>
            <a:ext cx="10911535" cy="640080"/>
          </a:xfrm>
          <a:prstGeom prst="roundRect">
            <a:avLst>
              <a:gd name="adj" fmla="val 11429"/>
            </a:avLst>
          </a:prstGeom>
          <a:solidFill>
            <a:srgbClr val="0A2A52"/>
          </a:solidFill>
        </p:spPr>
      </p:sp>
      <p:sp>
        <p:nvSpPr>
          <p:cNvPr id="43" name="Text 27"/>
          <p:cNvSpPr/>
          <p:nvPr>
            <p:custDataLst>
              <p:tags r:id="rId34"/>
            </p:custDataLst>
          </p:nvPr>
        </p:nvSpPr>
        <p:spPr>
          <a:xfrm>
            <a:off x="1005840" y="5631180"/>
            <a:ext cx="10180015" cy="64008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pitchFamily="34" charset="-120"/>
              </a:rPr>
              <a:t>大模型（大脑）+ 本体 / 知识图谱（骨架）+ RAG / Function Calling（神经）= 完整、健壮、可信的企业级 AI</a:t>
            </a:r>
            <a:endParaRPr kumimoji="0" lang="en-US" sz="1400" b="0" i="0" u="none" strike="noStrike" kern="1200" cap="none" spc="0" normalizeH="0" baseline="0" noProof="0" dirty="0">
              <a:ln>
                <a:noFill/>
              </a:ln>
              <a:solidFill>
                <a:prstClr val="black"/>
              </a:solidFill>
              <a:effectLst/>
              <a:uLnTx/>
              <a:uFillTx/>
              <a:latin typeface="等线" panose="02010600030101010101" charset="-122"/>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矩形: 圆角 155"/>
          <p:cNvSpPr/>
          <p:nvPr>
            <p:custDataLst>
              <p:tags r:id="rId1"/>
            </p:custDataLst>
          </p:nvPr>
        </p:nvSpPr>
        <p:spPr>
          <a:xfrm>
            <a:off x="4981611" y="5823073"/>
            <a:ext cx="2043203" cy="494180"/>
          </a:xfrm>
          <a:prstGeom prst="roundRect">
            <a:avLst>
              <a:gd name="adj" fmla="val 5841"/>
            </a:avLst>
          </a:prstGeom>
          <a:gradFill flip="none" rotWithShape="1">
            <a:gsLst>
              <a:gs pos="100000">
                <a:srgbClr val="1D1D1A">
                  <a:lumMod val="85000"/>
                  <a:alpha val="10000"/>
                </a:srgbClr>
              </a:gs>
              <a:gs pos="50000">
                <a:srgbClr val="DDDDDD">
                  <a:alpha val="0"/>
                </a:srgbClr>
              </a:gs>
            </a:gsLst>
            <a:path path="shape">
              <a:fillToRect l="50000" t="50000" r="50000" b="50000"/>
            </a:path>
            <a:tileRect/>
          </a:gradFill>
          <a:ln w="3175">
            <a:miter lim="400000"/>
          </a:ln>
        </p:spPr>
        <p:txBody>
          <a:bodyPr lIns="20170" tIns="20170" rIns="20170" bIns="20170" anchor="ctr"/>
          <a:lstStyle/>
          <a:p>
            <a:pPr marL="0" marR="0" lvl="0" indent="0" algn="ctr" defTabSz="911860" rtl="0" eaLnBrk="1" fontAlgn="auto" latinLnBrk="0" hangingPunct="1">
              <a:lnSpc>
                <a:spcPct val="100000"/>
              </a:lnSpc>
              <a:spcBef>
                <a:spcPts val="0"/>
              </a:spcBef>
              <a:spcAft>
                <a:spcPts val="0"/>
              </a:spcAft>
              <a:buClrTx/>
              <a:buSzTx/>
              <a:buFontTx/>
              <a:buNone/>
              <a:defRPr/>
            </a:pPr>
            <a:endParaRPr kumimoji="0" lang="zh-CN" altLang="en-US" sz="900" b="1" i="0" u="none" strike="noStrike" kern="0" cap="none" spc="0" normalizeH="0" baseline="0" noProof="0">
              <a:ln>
                <a:noFill/>
              </a:ln>
              <a:solidFill>
                <a:srgbClr val="1D1D1A"/>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5" name="矩形: 圆角 154"/>
          <p:cNvSpPr/>
          <p:nvPr>
            <p:custDataLst>
              <p:tags r:id="rId2"/>
            </p:custDataLst>
          </p:nvPr>
        </p:nvSpPr>
        <p:spPr>
          <a:xfrm>
            <a:off x="1463604" y="5823073"/>
            <a:ext cx="2043203" cy="494180"/>
          </a:xfrm>
          <a:prstGeom prst="roundRect">
            <a:avLst>
              <a:gd name="adj" fmla="val 5841"/>
            </a:avLst>
          </a:prstGeom>
          <a:gradFill flip="none" rotWithShape="1">
            <a:gsLst>
              <a:gs pos="100000">
                <a:srgbClr val="1D1D1A">
                  <a:lumMod val="85000"/>
                  <a:alpha val="10000"/>
                </a:srgbClr>
              </a:gs>
              <a:gs pos="50000">
                <a:srgbClr val="DDDDDD">
                  <a:alpha val="0"/>
                </a:srgbClr>
              </a:gs>
            </a:gsLst>
            <a:path path="shape">
              <a:fillToRect l="50000" t="50000" r="50000" b="50000"/>
            </a:path>
            <a:tileRect/>
          </a:gradFill>
          <a:ln w="3175">
            <a:miter lim="400000"/>
          </a:ln>
        </p:spPr>
        <p:txBody>
          <a:bodyPr lIns="20170" tIns="20170" rIns="20170" bIns="20170" anchor="ctr"/>
          <a:lstStyle/>
          <a:p>
            <a:pPr marL="0" marR="0" lvl="0" indent="0" algn="ctr" defTabSz="911860" rtl="0" eaLnBrk="1" fontAlgn="auto" latinLnBrk="0" hangingPunct="1">
              <a:lnSpc>
                <a:spcPct val="100000"/>
              </a:lnSpc>
              <a:spcBef>
                <a:spcPts val="0"/>
              </a:spcBef>
              <a:spcAft>
                <a:spcPts val="0"/>
              </a:spcAft>
              <a:buClrTx/>
              <a:buSzTx/>
              <a:buFontTx/>
              <a:buNone/>
              <a:defRPr/>
            </a:pPr>
            <a:endParaRPr kumimoji="0" lang="zh-CN" altLang="en-US" sz="900" b="1" i="0" u="none" strike="noStrike" kern="0" cap="none" spc="0" normalizeH="0" baseline="0" noProof="0">
              <a:ln>
                <a:noFill/>
              </a:ln>
              <a:solidFill>
                <a:srgbClr val="1D1D1A"/>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custDataLst>
              <p:tags r:id="rId3"/>
            </p:custDataLst>
          </p:nvPr>
        </p:nvSpPr>
        <p:spPr>
          <a:xfrm>
            <a:off x="5276213" y="5931309"/>
            <a:ext cx="1153411" cy="27681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具体的实例</a:t>
            </a:r>
            <a:endParaRPr kumimoji="1"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30" name="文本框 129"/>
          <p:cNvSpPr txBox="1"/>
          <p:nvPr>
            <p:custDataLst>
              <p:tags r:id="rId4"/>
            </p:custDataLst>
          </p:nvPr>
        </p:nvSpPr>
        <p:spPr>
          <a:xfrm>
            <a:off x="1847726" y="5931309"/>
            <a:ext cx="1153411" cy="27681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rPr>
              <a:t>蓝图和规则</a:t>
            </a:r>
            <a:endParaRPr kumimoji="1"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57" name="矩形: 圆角 156"/>
          <p:cNvSpPr/>
          <p:nvPr>
            <p:custDataLst>
              <p:tags r:id="rId5"/>
            </p:custDataLst>
          </p:nvPr>
        </p:nvSpPr>
        <p:spPr>
          <a:xfrm>
            <a:off x="7888130" y="5823073"/>
            <a:ext cx="3463387" cy="494180"/>
          </a:xfrm>
          <a:prstGeom prst="roundRect">
            <a:avLst>
              <a:gd name="adj" fmla="val 5841"/>
            </a:avLst>
          </a:prstGeom>
          <a:gradFill flip="none" rotWithShape="1">
            <a:gsLst>
              <a:gs pos="100000">
                <a:srgbClr val="1D1D1A">
                  <a:lumMod val="85000"/>
                  <a:alpha val="10000"/>
                </a:srgbClr>
              </a:gs>
              <a:gs pos="50000">
                <a:srgbClr val="DDDDDD">
                  <a:alpha val="0"/>
                </a:srgbClr>
              </a:gs>
            </a:gsLst>
            <a:path path="shape">
              <a:fillToRect l="50000" t="50000" r="50000" b="50000"/>
            </a:path>
            <a:tileRect/>
          </a:gradFill>
          <a:ln w="3175">
            <a:miter lim="400000"/>
          </a:ln>
        </p:spPr>
        <p:txBody>
          <a:bodyPr lIns="20170" tIns="20170" rIns="20170" bIns="20170" anchor="ctr"/>
          <a:lstStyle/>
          <a:p>
            <a:pPr marL="0" marR="0" lvl="0" indent="0" algn="ctr" defTabSz="911860" rtl="0" eaLnBrk="1" fontAlgn="auto" latinLnBrk="0" hangingPunct="1">
              <a:lnSpc>
                <a:spcPct val="100000"/>
              </a:lnSpc>
              <a:spcBef>
                <a:spcPts val="0"/>
              </a:spcBef>
              <a:spcAft>
                <a:spcPts val="0"/>
              </a:spcAft>
              <a:buClrTx/>
              <a:buSzTx/>
              <a:buFontTx/>
              <a:buNone/>
              <a:defRPr/>
            </a:pPr>
            <a:endParaRPr kumimoji="0" lang="zh-CN" altLang="en-US" sz="900" b="1" i="0" u="none" strike="noStrike" kern="0" cap="none" spc="0" normalizeH="0" baseline="0" noProof="0">
              <a:ln>
                <a:noFill/>
              </a:ln>
              <a:solidFill>
                <a:srgbClr val="1D1D1A"/>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4" name="PA-圆角矩形 17"/>
          <p:cNvSpPr/>
          <p:nvPr>
            <p:custDataLst>
              <p:tags r:id="rId6"/>
            </p:custDataLst>
          </p:nvPr>
        </p:nvSpPr>
        <p:spPr>
          <a:xfrm>
            <a:off x="4476951" y="3203687"/>
            <a:ext cx="3057457" cy="2065020"/>
          </a:xfrm>
          <a:prstGeom prst="roundRect">
            <a:avLst>
              <a:gd name="adj" fmla="val 0"/>
            </a:avLst>
          </a:prstGeom>
          <a:gradFill>
            <a:gsLst>
              <a:gs pos="0">
                <a:schemeClr val="tx1">
                  <a:lumMod val="50000"/>
                  <a:lumOff val="50000"/>
                  <a:alpha val="10000"/>
                </a:schemeClr>
              </a:gs>
              <a:gs pos="100000">
                <a:schemeClr val="bg1">
                  <a:lumMod val="85000"/>
                  <a:alpha val="0"/>
                </a:schemeClr>
              </a:gs>
            </a:gsLst>
            <a:lin ang="5400000" scaled="0"/>
          </a:gradFill>
          <a:ln w="6350" cap="flat" cmpd="sng" algn="ctr">
            <a:gradFill>
              <a:gsLst>
                <a:gs pos="0">
                  <a:schemeClr val="bg1">
                    <a:lumMod val="20000"/>
                    <a:lumOff val="80000"/>
                  </a:schemeClr>
                </a:gs>
                <a:gs pos="100000">
                  <a:schemeClr val="bg1">
                    <a:lumMod val="95000"/>
                    <a:alpha val="0"/>
                  </a:schemeClr>
                </a:gs>
              </a:gsLst>
              <a:lin ang="5400000" scaled="1"/>
            </a:gradFill>
            <a:prstDash val="solid"/>
            <a:miter lim="800000"/>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666666"/>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sp>
        <p:nvSpPr>
          <p:cNvPr id="151" name="PA-圆角矩形 17"/>
          <p:cNvSpPr/>
          <p:nvPr>
            <p:custDataLst>
              <p:tags r:id="rId7"/>
            </p:custDataLst>
          </p:nvPr>
        </p:nvSpPr>
        <p:spPr>
          <a:xfrm>
            <a:off x="651550" y="3203687"/>
            <a:ext cx="3702454" cy="2065021"/>
          </a:xfrm>
          <a:prstGeom prst="roundRect">
            <a:avLst>
              <a:gd name="adj" fmla="val 0"/>
            </a:avLst>
          </a:prstGeom>
          <a:gradFill>
            <a:gsLst>
              <a:gs pos="0">
                <a:schemeClr val="tx1">
                  <a:lumMod val="50000"/>
                  <a:lumOff val="50000"/>
                  <a:alpha val="10000"/>
                </a:schemeClr>
              </a:gs>
              <a:gs pos="100000">
                <a:schemeClr val="bg1">
                  <a:lumMod val="85000"/>
                  <a:alpha val="0"/>
                </a:schemeClr>
              </a:gs>
            </a:gsLst>
            <a:lin ang="5400000" scaled="0"/>
          </a:gradFill>
          <a:ln w="6350" cap="flat" cmpd="sng" algn="ctr">
            <a:gradFill>
              <a:gsLst>
                <a:gs pos="0">
                  <a:schemeClr val="bg1">
                    <a:lumMod val="20000"/>
                    <a:lumOff val="80000"/>
                  </a:schemeClr>
                </a:gs>
                <a:gs pos="100000">
                  <a:schemeClr val="bg1">
                    <a:lumMod val="95000"/>
                    <a:alpha val="0"/>
                  </a:schemeClr>
                </a:gs>
              </a:gsLst>
              <a:lin ang="5400000" scaled="1"/>
            </a:gradFill>
            <a:prstDash val="solid"/>
            <a:miter lim="800000"/>
          </a:ln>
          <a:effectLst/>
        </p:spPr>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666666"/>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sp>
        <p:nvSpPr>
          <p:cNvPr id="148" name="矩形: 圆角 147"/>
          <p:cNvSpPr/>
          <p:nvPr>
            <p:custDataLst>
              <p:tags r:id="rId8"/>
            </p:custDataLst>
          </p:nvPr>
        </p:nvSpPr>
        <p:spPr>
          <a:xfrm>
            <a:off x="651550" y="1457278"/>
            <a:ext cx="3610549" cy="913197"/>
          </a:xfrm>
          <a:prstGeom prst="roundRect">
            <a:avLst/>
          </a:prstGeom>
          <a:gradFill>
            <a:gsLst>
              <a:gs pos="0">
                <a:srgbClr val="666666">
                  <a:lumMod val="60000"/>
                  <a:lumOff val="40000"/>
                  <a:alpha val="10000"/>
                </a:srgbClr>
              </a:gs>
              <a:gs pos="100000">
                <a:srgbClr val="666666">
                  <a:lumMod val="60000"/>
                  <a:lumOff val="40000"/>
                  <a:alpha val="10000"/>
                </a:srgbClr>
              </a:gs>
            </a:gsLst>
            <a:lin ang="16200000" scaled="1"/>
          </a:gradFill>
          <a:ln w="6350" cap="flat" cmpd="sng" algn="ctr">
            <a:gradFill>
              <a:gsLst>
                <a:gs pos="6000">
                  <a:srgbClr val="666666">
                    <a:lumMod val="75000"/>
                    <a:alpha val="0"/>
                  </a:srgbClr>
                </a:gs>
                <a:gs pos="100000">
                  <a:srgbClr val="666666">
                    <a:lumMod val="75000"/>
                    <a:alpha val="25000"/>
                  </a:srgbClr>
                </a:gs>
              </a:gsLst>
              <a:lin ang="5400000" scaled="1"/>
            </a:gradFill>
            <a:prstDash val="solid"/>
            <a:miter lim="800000"/>
          </a:ln>
          <a:effectLst>
            <a:outerShdw blurRad="50800" dist="38100" dir="5400000" sx="99000" sy="99000" algn="ctr" rotWithShape="0">
              <a:srgbClr val="000000">
                <a:alpha val="10000"/>
              </a:srgbClr>
            </a:outerShdw>
          </a:effectLst>
        </p:spPr>
        <p:txBody>
          <a:bodyPr lIns="107846" anchor="ctr">
            <a:noAutofit/>
          </a:bodyPr>
          <a:lstStyle/>
          <a:p>
            <a:pPr marL="0" marR="0" lvl="0" indent="0" algn="ctr" defTabSz="1217930" rtl="0" eaLnBrk="1" fontAlgn="ctr"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Arial" panose="020B0604020202090204" pitchFamily="34" charset="0"/>
              <a:sym typeface="Arial" panose="020B0604020202090204" pitchFamily="34" charset="0"/>
            </a:endParaRPr>
          </a:p>
        </p:txBody>
      </p:sp>
      <p:sp>
        <p:nvSpPr>
          <p:cNvPr id="149" name="矩形: 圆角 148"/>
          <p:cNvSpPr/>
          <p:nvPr>
            <p:custDataLst>
              <p:tags r:id="rId9"/>
            </p:custDataLst>
          </p:nvPr>
        </p:nvSpPr>
        <p:spPr>
          <a:xfrm>
            <a:off x="4476950" y="1457278"/>
            <a:ext cx="3057457" cy="913197"/>
          </a:xfrm>
          <a:prstGeom prst="roundRect">
            <a:avLst/>
          </a:prstGeom>
          <a:gradFill>
            <a:gsLst>
              <a:gs pos="0">
                <a:srgbClr val="666666">
                  <a:lumMod val="60000"/>
                  <a:lumOff val="40000"/>
                  <a:alpha val="10000"/>
                </a:srgbClr>
              </a:gs>
              <a:gs pos="100000">
                <a:srgbClr val="666666">
                  <a:lumMod val="60000"/>
                  <a:lumOff val="40000"/>
                  <a:alpha val="10000"/>
                </a:srgbClr>
              </a:gs>
            </a:gsLst>
            <a:lin ang="16200000" scaled="1"/>
          </a:gradFill>
          <a:ln w="6350" cap="flat" cmpd="sng" algn="ctr">
            <a:gradFill>
              <a:gsLst>
                <a:gs pos="6000">
                  <a:srgbClr val="666666">
                    <a:lumMod val="75000"/>
                    <a:alpha val="0"/>
                  </a:srgbClr>
                </a:gs>
                <a:gs pos="100000">
                  <a:srgbClr val="666666">
                    <a:lumMod val="75000"/>
                    <a:alpha val="25000"/>
                  </a:srgbClr>
                </a:gs>
              </a:gsLst>
              <a:lin ang="5400000" scaled="1"/>
            </a:gradFill>
            <a:prstDash val="solid"/>
            <a:miter lim="800000"/>
          </a:ln>
          <a:effectLst>
            <a:outerShdw blurRad="50800" dist="38100" dir="5400000" sx="99000" sy="99000" algn="ctr" rotWithShape="0">
              <a:srgbClr val="000000">
                <a:alpha val="10000"/>
              </a:srgbClr>
            </a:outerShdw>
          </a:effectLst>
        </p:spPr>
        <p:txBody>
          <a:bodyPr lIns="107846" anchor="ctr">
            <a:noAutofit/>
          </a:bodyPr>
          <a:lstStyle/>
          <a:p>
            <a:pPr marL="0" marR="0" lvl="0" indent="0" algn="ctr" defTabSz="1217930" rtl="0" eaLnBrk="1" fontAlgn="ctr"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Arial" panose="020B0604020202090204" pitchFamily="34" charset="0"/>
              <a:sym typeface="Arial" panose="020B0604020202090204" pitchFamily="34" charset="0"/>
            </a:endParaRPr>
          </a:p>
        </p:txBody>
      </p:sp>
      <p:sp>
        <p:nvSpPr>
          <p:cNvPr id="150" name="矩形: 圆角 149"/>
          <p:cNvSpPr/>
          <p:nvPr>
            <p:custDataLst>
              <p:tags r:id="rId10"/>
            </p:custDataLst>
          </p:nvPr>
        </p:nvSpPr>
        <p:spPr>
          <a:xfrm>
            <a:off x="7715055" y="1457278"/>
            <a:ext cx="3825399" cy="913197"/>
          </a:xfrm>
          <a:prstGeom prst="roundRect">
            <a:avLst/>
          </a:prstGeom>
          <a:gradFill>
            <a:gsLst>
              <a:gs pos="0">
                <a:srgbClr val="666666">
                  <a:lumMod val="60000"/>
                  <a:lumOff val="40000"/>
                  <a:alpha val="10000"/>
                </a:srgbClr>
              </a:gs>
              <a:gs pos="100000">
                <a:srgbClr val="666666">
                  <a:lumMod val="60000"/>
                  <a:lumOff val="40000"/>
                  <a:alpha val="10000"/>
                </a:srgbClr>
              </a:gs>
            </a:gsLst>
            <a:lin ang="16200000" scaled="1"/>
          </a:gradFill>
          <a:ln w="6350" cap="flat" cmpd="sng" algn="ctr">
            <a:gradFill>
              <a:gsLst>
                <a:gs pos="6000">
                  <a:srgbClr val="666666">
                    <a:lumMod val="75000"/>
                    <a:alpha val="0"/>
                  </a:srgbClr>
                </a:gs>
                <a:gs pos="100000">
                  <a:srgbClr val="666666">
                    <a:lumMod val="75000"/>
                    <a:alpha val="25000"/>
                  </a:srgbClr>
                </a:gs>
              </a:gsLst>
              <a:lin ang="5400000" scaled="1"/>
            </a:gradFill>
            <a:prstDash val="solid"/>
            <a:miter lim="800000"/>
          </a:ln>
          <a:effectLst>
            <a:outerShdw blurRad="50800" dist="38100" dir="5400000" sx="99000" sy="99000" algn="ctr" rotWithShape="0">
              <a:srgbClr val="000000">
                <a:alpha val="10000"/>
              </a:srgbClr>
            </a:outerShdw>
          </a:effectLst>
        </p:spPr>
        <p:txBody>
          <a:bodyPr lIns="107846" anchor="ctr">
            <a:noAutofit/>
          </a:bodyPr>
          <a:lstStyle/>
          <a:p>
            <a:pPr marL="0" marR="0" lvl="0" indent="0" algn="ctr" defTabSz="1217930" rtl="0" eaLnBrk="1" fontAlgn="ctr" latinLnBrk="0" hangingPunct="1">
              <a:lnSpc>
                <a:spcPct val="100000"/>
              </a:lnSpc>
              <a:spcBef>
                <a:spcPts val="0"/>
              </a:spcBef>
              <a:spcAft>
                <a:spcPts val="0"/>
              </a:spcAft>
              <a:buClrTx/>
              <a:buSzTx/>
              <a:buFontTx/>
              <a:buNone/>
              <a:defRPr/>
            </a:pPr>
            <a:endPar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Arial" panose="020B0604020202090204" pitchFamily="34" charset="0"/>
              <a:sym typeface="Arial" panose="020B0604020202090204" pitchFamily="34" charset="0"/>
            </a:endParaRPr>
          </a:p>
        </p:txBody>
      </p:sp>
      <p:sp>
        <p:nvSpPr>
          <p:cNvPr id="131" name="文本框 130"/>
          <p:cNvSpPr txBox="1"/>
          <p:nvPr>
            <p:custDataLst>
              <p:tags r:id="rId11"/>
            </p:custDataLst>
          </p:nvPr>
        </p:nvSpPr>
        <p:spPr>
          <a:xfrm>
            <a:off x="8009826" y="5931309"/>
            <a:ext cx="3341688" cy="27681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本体</a:t>
            </a:r>
            <a:r>
              <a:rPr kumimoji="1" lang="en-US" altLang="zh-CN"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r>
              <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实体</a:t>
            </a:r>
            <a:r>
              <a:rPr kumimoji="1" lang="en-US" altLang="zh-CN"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r>
              <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关系构成的智能网络</a:t>
            </a:r>
            <a:endParaRPr kumimoji="1"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12"/>
            </p:custDataLst>
          </p:nvPr>
        </p:nvSpPr>
        <p:spPr>
          <a:xfrm>
            <a:off x="731524" y="2539963"/>
            <a:ext cx="8741893" cy="21530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假设客户 张三 在 </a:t>
            </a:r>
            <a:r>
              <a:rPr kumimoji="1" lang="en-US" altLang="zh-CN"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2026</a:t>
            </a:r>
            <a:r>
              <a:rPr kumimoji="1" lang="zh-CN" altLang="en-US"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年</a:t>
            </a:r>
            <a:r>
              <a:rPr kumimoji="1" lang="en-US" altLang="zh-CN"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2</a:t>
            </a:r>
            <a:r>
              <a:rPr kumimoji="1" lang="zh-CN" altLang="en-US"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月</a:t>
            </a:r>
            <a:r>
              <a:rPr kumimoji="1" lang="en-US" altLang="zh-CN"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1</a:t>
            </a:r>
            <a:r>
              <a:rPr kumimoji="1" lang="zh-CN" altLang="en-US"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日 通过 手机银行</a:t>
            </a:r>
            <a:r>
              <a:rPr kumimoji="1" lang="en-US" altLang="zh-CN"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APP </a:t>
            </a:r>
            <a:r>
              <a:rPr kumimoji="1" lang="zh-CN" altLang="en-US"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购买了 </a:t>
            </a:r>
            <a:r>
              <a:rPr kumimoji="1" lang="en-US" altLang="zh-CN"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10</a:t>
            </a:r>
            <a:r>
              <a:rPr kumimoji="1" lang="zh-CN" altLang="en-US"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万元 的理财产品 “稳盈添利</a:t>
            </a:r>
            <a:r>
              <a:rPr kumimoji="1" lang="en-US" altLang="zh-CN"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2026</a:t>
            </a:r>
            <a:r>
              <a:rPr kumimoji="1" lang="zh-CN" altLang="en-US" sz="1400" b="0" i="1" u="sng"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期”。</a:t>
            </a:r>
            <a:endParaRPr kumimoji="1" lang="zh-CN" altLang="en-US" sz="1400" b="0" i="1" u="sng"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2" name="文本框 131"/>
          <p:cNvSpPr txBox="1"/>
          <p:nvPr>
            <p:custDataLst>
              <p:tags r:id="rId13"/>
            </p:custDataLst>
          </p:nvPr>
        </p:nvSpPr>
        <p:spPr>
          <a:xfrm>
            <a:off x="769715" y="3259525"/>
            <a:ext cx="3616707" cy="270827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核心概念（类）</a:t>
            </a:r>
            <a:endParaRPr kumimoji="1" lang="en-US" altLang="zh-CN"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客户： 在银行开户的自然人或机构；</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理财产品： 银行发行的可供购买的投资产品；</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渠道</a:t>
            </a:r>
            <a:r>
              <a:rPr kumimoji="1" lang="en-US" altLang="zh-CN" sz="11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11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银行面向客户开展营销、业务受理的通路载体</a:t>
            </a:r>
            <a:r>
              <a:rPr kumimoji="1" lang="en-US" altLang="zh-CN" sz="11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概念属性（数据字段）</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客户：姓名、年龄、风险承受能力</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理财产品：名称、预期收益率、所属风险等级；</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概念间关系</a:t>
            </a:r>
            <a:endPar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客户 </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购买 </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--&gt; </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理财产品 （谁买了什么）</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业务规则（约束）</a:t>
            </a:r>
            <a:endParaRPr kumimoji="1" lang="en-US" altLang="zh-CN"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规则：客户的风险承受能力必须 大于或等于 理财产品的所属风险等级，才能购买</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custDataLst>
              <p:tags r:id="rId14"/>
            </p:custDataLst>
          </p:nvPr>
        </p:nvSpPr>
        <p:spPr>
          <a:xfrm>
            <a:off x="4711931" y="3259525"/>
            <a:ext cx="2677609" cy="280035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客户</a:t>
            </a:r>
            <a:endParaRPr kumimoji="1" lang="en-US" altLang="zh-CN"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类型： 客户；</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属性：姓名</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张三”，年龄</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=“30”,</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风险承受能力</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=“R3</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平衡型”；</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理财产品</a:t>
            </a:r>
            <a:endParaRPr kumimoji="1" lang="en-US" altLang="zh-CN"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类型： 理财产品；</a:t>
            </a:r>
            <a:endPar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属性：名称</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稳盈添利</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2026</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期”， 预期收益率</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=3.8%</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起购金额</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=10000</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风险等级</a:t>
            </a:r>
            <a:r>
              <a:rPr kumimoji="1" lang="en-US" altLang="zh-CN"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=“R2</a:t>
            </a:r>
            <a:r>
              <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稳健型”；</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endParaRPr kumimoji="1"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R="0" lvl="0" algn="l" defTabSz="914400" rtl="0" eaLnBrk="1" fontAlgn="auto" latinLnBrk="0" hangingPunct="1">
              <a:lnSpc>
                <a:spcPct val="100000"/>
              </a:lnSpc>
              <a:spcBef>
                <a:spcPts val="0"/>
              </a:spcBef>
              <a:spcAft>
                <a:spcPts val="0"/>
              </a:spcAft>
              <a:buClrTx/>
              <a:buSzTx/>
              <a:buFontTx/>
              <a:buNone/>
              <a:defRPr/>
            </a:pPr>
            <a:r>
              <a:rPr kumimoji="1" lang="zh-CN" altLang="en-US" sz="1100" b="1"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楷体" panose="02010609060101010101" pitchFamily="49" charset="-122"/>
              </a:rPr>
              <a:t>渠道实体</a:t>
            </a:r>
            <a:endParaRPr kumimoji="1" lang="zh-CN" altLang="en-US" sz="11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楷体" panose="02010609060101010101" pitchFamily="49" charset="-122"/>
              </a:rPr>
              <a:t>类型： 渠道Y；</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90204" pitchFamily="34" charset="0"/>
              <a:buChar char="•"/>
              <a:defRPr/>
            </a:pPr>
            <a:r>
              <a:rPr kumimoji="1" lang="zh-CN" altLang="en-US" sz="11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楷体" panose="02010609060101010101" pitchFamily="49" charset="-122"/>
              </a:rPr>
              <a:t>属性： 名称=“手机银行APP”，</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R="0" lvl="0" indent="0" algn="l" defTabSz="914400" rtl="0" eaLnBrk="1" fontAlgn="auto" latinLnBrk="0" hangingPunct="1">
              <a:lnSpc>
                <a:spcPct val="100000"/>
              </a:lnSpc>
              <a:spcBef>
                <a:spcPts val="0"/>
              </a:spcBef>
              <a:spcAft>
                <a:spcPts val="0"/>
              </a:spcAft>
              <a:buClrTx/>
              <a:buSzTx/>
              <a:buFontTx/>
              <a:buNone/>
              <a:defRPr/>
            </a:pPr>
            <a:r>
              <a:rPr kumimoji="1" lang="zh-CN" altLang="en-US" sz="11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楷体" panose="02010609060101010101" pitchFamily="49" charset="-122"/>
              </a:rPr>
              <a:t>…</a:t>
            </a:r>
            <a:endParaRPr kumimoji="1" lang="zh-CN" alt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R="0" lvl="0" indent="0" algn="l" defTabSz="914400" rtl="0" eaLnBrk="1" fontAlgn="auto" latinLnBrk="0" hangingPunct="1">
              <a:lnSpc>
                <a:spcPct val="100000"/>
              </a:lnSpc>
              <a:spcBef>
                <a:spcPts val="0"/>
              </a:spcBef>
              <a:spcAft>
                <a:spcPts val="0"/>
              </a:spcAft>
              <a:buClrTx/>
              <a:buSzTx/>
              <a:buFont typeface="Arial" panose="020B0604020202090204" pitchFamily="34" charset="0"/>
              <a:buNone/>
              <a:defRPr/>
            </a:pPr>
            <a:endParaRPr kumimoji="1" lang="zh-CN" altLang="en-US" sz="14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7" name="文本框 136"/>
          <p:cNvSpPr txBox="1"/>
          <p:nvPr>
            <p:custDataLst>
              <p:tags r:id="rId15"/>
            </p:custDataLst>
          </p:nvPr>
        </p:nvSpPr>
        <p:spPr>
          <a:xfrm>
            <a:off x="947034" y="1504700"/>
            <a:ext cx="2974646" cy="6459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描述业务领域内概念、属性及关系的“抽象规则框架”，不包含具体的实例数据</a:t>
            </a:r>
            <a:endPar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custDataLst>
              <p:tags r:id="rId16"/>
            </p:custDataLst>
          </p:nvPr>
        </p:nvSpPr>
        <p:spPr>
          <a:xfrm>
            <a:off x="1663779" y="1060972"/>
            <a:ext cx="166071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本体（</a:t>
            </a:r>
            <a:r>
              <a:rPr kumimoji="1"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Ontology</a:t>
            </a:r>
            <a:r>
              <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a:t>
            </a:r>
            <a:endPar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39" name="直接连接符 138"/>
          <p:cNvCxnSpPr/>
          <p:nvPr>
            <p:custDataLst>
              <p:tags r:id="rId17"/>
            </p:custDataLst>
          </p:nvPr>
        </p:nvCxnSpPr>
        <p:spPr>
          <a:xfrm>
            <a:off x="1663778" y="1343934"/>
            <a:ext cx="1622211" cy="0"/>
          </a:xfrm>
          <a:prstGeom prst="line">
            <a:avLst/>
          </a:prstGeom>
          <a:noFill/>
          <a:ln w="6350" cap="flat" cmpd="sng" algn="ctr">
            <a:gradFill>
              <a:gsLst>
                <a:gs pos="0">
                  <a:srgbClr val="C00000">
                    <a:alpha val="0"/>
                  </a:srgbClr>
                </a:gs>
                <a:gs pos="53000">
                  <a:srgbClr val="C00000"/>
                </a:gs>
                <a:gs pos="100000">
                  <a:srgbClr val="C00000">
                    <a:alpha val="0"/>
                  </a:srgbClr>
                </a:gs>
              </a:gsLst>
              <a:lin ang="0" scaled="0"/>
            </a:gradFill>
            <a:prstDash val="solid"/>
            <a:miter lim="800000"/>
          </a:ln>
          <a:effectLst/>
        </p:spPr>
      </p:cxnSp>
      <p:sp>
        <p:nvSpPr>
          <p:cNvPr id="140" name="文本框 139"/>
          <p:cNvSpPr txBox="1"/>
          <p:nvPr>
            <p:custDataLst>
              <p:tags r:id="rId18"/>
            </p:custDataLst>
          </p:nvPr>
        </p:nvSpPr>
        <p:spPr>
          <a:xfrm>
            <a:off x="4801147" y="1548516"/>
            <a:ext cx="2223666" cy="43060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rPr>
              <a:t>符合本体规则的具体实例对象</a:t>
            </a:r>
            <a:endPar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1" name="文本框 140"/>
          <p:cNvSpPr txBox="1"/>
          <p:nvPr>
            <p:custDataLst>
              <p:tags r:id="rId19"/>
            </p:custDataLst>
          </p:nvPr>
        </p:nvSpPr>
        <p:spPr>
          <a:xfrm>
            <a:off x="5232959" y="1060972"/>
            <a:ext cx="145232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实体（</a:t>
            </a:r>
            <a:r>
              <a:rPr kumimoji="1"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Entity</a:t>
            </a:r>
            <a:r>
              <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a:t>
            </a:r>
            <a:endPar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42" name="直接连接符 141"/>
          <p:cNvCxnSpPr/>
          <p:nvPr>
            <p:custDataLst>
              <p:tags r:id="rId20"/>
            </p:custDataLst>
          </p:nvPr>
        </p:nvCxnSpPr>
        <p:spPr>
          <a:xfrm>
            <a:off x="5213276" y="1343934"/>
            <a:ext cx="1279283" cy="0"/>
          </a:xfrm>
          <a:prstGeom prst="line">
            <a:avLst/>
          </a:prstGeom>
          <a:noFill/>
          <a:ln w="6350" cap="flat" cmpd="sng" algn="ctr">
            <a:gradFill>
              <a:gsLst>
                <a:gs pos="0">
                  <a:srgbClr val="C00000">
                    <a:alpha val="0"/>
                  </a:srgbClr>
                </a:gs>
                <a:gs pos="53000">
                  <a:srgbClr val="C00000"/>
                </a:gs>
                <a:gs pos="100000">
                  <a:srgbClr val="C00000">
                    <a:alpha val="0"/>
                  </a:srgbClr>
                </a:gs>
              </a:gsLst>
              <a:lin ang="0" scaled="0"/>
            </a:gradFill>
            <a:prstDash val="solid"/>
            <a:miter lim="800000"/>
          </a:ln>
          <a:effectLst/>
        </p:spPr>
      </p:cxnSp>
      <p:sp>
        <p:nvSpPr>
          <p:cNvPr id="143" name="文本框 142"/>
          <p:cNvSpPr txBox="1"/>
          <p:nvPr>
            <p:custDataLst>
              <p:tags r:id="rId21"/>
            </p:custDataLst>
          </p:nvPr>
        </p:nvSpPr>
        <p:spPr>
          <a:xfrm>
            <a:off x="7822480" y="1510174"/>
            <a:ext cx="3610549" cy="86121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基于本体定义的概念框架，填充具体实体和实例关系后形成的大规模语义网络，本质是 “实例化的关联知识库”，既包含抽象概念，也包含真实的业务数据</a:t>
            </a:r>
            <a:endParaRPr kumimoji="0" lang="zh-CN" altLang="en-US" sz="1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4" name="文本框 143"/>
          <p:cNvSpPr txBox="1"/>
          <p:nvPr>
            <p:custDataLst>
              <p:tags r:id="rId22"/>
            </p:custDataLst>
          </p:nvPr>
        </p:nvSpPr>
        <p:spPr>
          <a:xfrm>
            <a:off x="8286708" y="1060972"/>
            <a:ext cx="2803653"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知识图谱（</a:t>
            </a:r>
            <a:r>
              <a:rPr kumimoji="1"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Knowledge Graph</a:t>
            </a:r>
            <a:r>
              <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rPr>
              <a:t>）</a:t>
            </a:r>
            <a:endPar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45" name="直接连接符 144"/>
          <p:cNvCxnSpPr/>
          <p:nvPr>
            <p:custDataLst>
              <p:tags r:id="rId23"/>
            </p:custDataLst>
          </p:nvPr>
        </p:nvCxnSpPr>
        <p:spPr>
          <a:xfrm>
            <a:off x="8286708" y="1343934"/>
            <a:ext cx="2899059" cy="0"/>
          </a:xfrm>
          <a:prstGeom prst="line">
            <a:avLst/>
          </a:prstGeom>
          <a:noFill/>
          <a:ln w="6350" cap="flat" cmpd="sng" algn="ctr">
            <a:gradFill>
              <a:gsLst>
                <a:gs pos="0">
                  <a:srgbClr val="C00000">
                    <a:alpha val="0"/>
                  </a:srgbClr>
                </a:gs>
                <a:gs pos="53000">
                  <a:srgbClr val="C00000"/>
                </a:gs>
                <a:gs pos="100000">
                  <a:srgbClr val="C00000">
                    <a:alpha val="0"/>
                  </a:srgbClr>
                </a:gs>
              </a:gsLst>
              <a:lin ang="0" scaled="0"/>
            </a:gradFill>
            <a:prstDash val="solid"/>
            <a:miter lim="800000"/>
          </a:ln>
          <a:effectLst/>
        </p:spPr>
      </p:cxnSp>
      <p:sp>
        <p:nvSpPr>
          <p:cNvPr id="158" name="右箭头 60"/>
          <p:cNvSpPr/>
          <p:nvPr>
            <p:custDataLst>
              <p:tags r:id="rId24"/>
            </p:custDataLst>
          </p:nvPr>
        </p:nvSpPr>
        <p:spPr>
          <a:xfrm>
            <a:off x="4121929" y="5989117"/>
            <a:ext cx="285389" cy="161196"/>
          </a:xfrm>
          <a:prstGeom prst="rightArrow">
            <a:avLst>
              <a:gd name="adj1" fmla="val 46385"/>
              <a:gd name="adj2" fmla="val 67343"/>
            </a:avLst>
          </a:prstGeom>
          <a:gradFill flip="none" rotWithShape="1">
            <a:gsLst>
              <a:gs pos="0">
                <a:srgbClr val="C7000B">
                  <a:alpha val="80000"/>
                </a:srgbClr>
              </a:gs>
              <a:gs pos="100000">
                <a:srgbClr val="C7000B">
                  <a:alpha val="10000"/>
                </a:srgbClr>
              </a:gs>
            </a:gsLst>
            <a:lin ang="10800000" scaled="1"/>
            <a:tileRect/>
          </a:gradFill>
          <a:ln w="6350">
            <a:noFill/>
            <a:miter lim="400000"/>
          </a:ln>
        </p:spPr>
        <p:txBody>
          <a:bodyPr lIns="45653" tIns="27627" rIns="45653" bIns="27627"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500" b="0" i="0" u="none" strike="noStrike" kern="0" cap="none" spc="0" normalizeH="0" baseline="0" noProof="0">
              <a:ln>
                <a:noFill/>
              </a:ln>
              <a:solidFill>
                <a:srgbClr val="002060"/>
              </a:solidFill>
              <a:effectLst/>
              <a:uLnTx/>
              <a:uFillTx/>
              <a:latin typeface="微软雅黑" panose="020B0503020204020204" charset="-122"/>
              <a:ea typeface="微软雅黑" panose="020B0503020204020204" charset="-122"/>
              <a:cs typeface="等线" panose="02010600030101010101" charset="-122"/>
              <a:sym typeface="Arial" panose="020B0604020202090204" pitchFamily="34" charset="0"/>
            </a:endParaRPr>
          </a:p>
        </p:txBody>
      </p:sp>
      <p:sp>
        <p:nvSpPr>
          <p:cNvPr id="159" name="右箭头 60"/>
          <p:cNvSpPr/>
          <p:nvPr>
            <p:custDataLst>
              <p:tags r:id="rId25"/>
            </p:custDataLst>
          </p:nvPr>
        </p:nvSpPr>
        <p:spPr>
          <a:xfrm>
            <a:off x="7348897" y="5989117"/>
            <a:ext cx="285389" cy="161196"/>
          </a:xfrm>
          <a:prstGeom prst="rightArrow">
            <a:avLst>
              <a:gd name="adj1" fmla="val 46385"/>
              <a:gd name="adj2" fmla="val 67343"/>
            </a:avLst>
          </a:prstGeom>
          <a:gradFill flip="none" rotWithShape="1">
            <a:gsLst>
              <a:gs pos="0">
                <a:srgbClr val="C7000B">
                  <a:alpha val="80000"/>
                </a:srgbClr>
              </a:gs>
              <a:gs pos="100000">
                <a:srgbClr val="C7000B">
                  <a:alpha val="10000"/>
                </a:srgbClr>
              </a:gs>
            </a:gsLst>
            <a:lin ang="10800000" scaled="1"/>
            <a:tileRect/>
          </a:gradFill>
          <a:ln w="6350">
            <a:noFill/>
            <a:miter lim="400000"/>
          </a:ln>
        </p:spPr>
        <p:txBody>
          <a:bodyPr lIns="45653" tIns="27627" rIns="45653" bIns="27627"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500" b="0" i="0" u="none" strike="noStrike" kern="0" cap="none" spc="0" normalizeH="0" baseline="0" noProof="0">
              <a:ln>
                <a:noFill/>
              </a:ln>
              <a:solidFill>
                <a:srgbClr val="002060"/>
              </a:solidFill>
              <a:effectLst/>
              <a:uLnTx/>
              <a:uFillTx/>
              <a:latin typeface="微软雅黑" panose="020B0503020204020204" charset="-122"/>
              <a:ea typeface="微软雅黑" panose="020B0503020204020204" charset="-122"/>
              <a:cs typeface="等线" panose="02010600030101010101" charset="-122"/>
              <a:sym typeface="Arial" panose="020B0604020202090204" pitchFamily="34" charset="0"/>
            </a:endParaRPr>
          </a:p>
        </p:txBody>
      </p:sp>
      <p:grpSp>
        <p:nvGrpSpPr>
          <p:cNvPr id="160" name="组合 159"/>
          <p:cNvGrpSpPr/>
          <p:nvPr/>
        </p:nvGrpSpPr>
        <p:grpSpPr>
          <a:xfrm rot="5400000">
            <a:off x="2288930" y="2640493"/>
            <a:ext cx="320037" cy="539269"/>
            <a:chOff x="3210474" y="2583359"/>
            <a:chExt cx="220477" cy="521298"/>
          </a:xfrm>
        </p:grpSpPr>
        <p:sp>
          <p:nvSpPr>
            <p:cNvPr id="161" name="等腰三角形 160"/>
            <p:cNvSpPr/>
            <p:nvPr>
              <p:custDataLst>
                <p:tags r:id="rId26"/>
              </p:custDataLst>
            </p:nvPr>
          </p:nvSpPr>
          <p:spPr>
            <a:xfrm rot="5400000">
              <a:off x="3079019" y="2752725"/>
              <a:ext cx="521298" cy="182566"/>
            </a:xfrm>
            <a:prstGeom prst="triangle">
              <a:avLst/>
            </a:prstGeom>
            <a:gradFill flip="none" rotWithShape="1">
              <a:gsLst>
                <a:gs pos="100000">
                  <a:srgbClr val="C00000">
                    <a:alpha val="0"/>
                  </a:srgbClr>
                </a:gs>
                <a:gs pos="0">
                  <a:srgbClr val="C00000">
                    <a:alpha val="32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sp>
          <p:nvSpPr>
            <p:cNvPr id="162" name="等腰三角形 161"/>
            <p:cNvSpPr/>
            <p:nvPr>
              <p:custDataLst>
                <p:tags r:id="rId27"/>
              </p:custDataLst>
            </p:nvPr>
          </p:nvSpPr>
          <p:spPr>
            <a:xfrm rot="5400000">
              <a:off x="3090622" y="2779412"/>
              <a:ext cx="368898" cy="129193"/>
            </a:xfrm>
            <a:prstGeom prst="triangle">
              <a:avLst/>
            </a:prstGeom>
            <a:gradFill flip="none" rotWithShape="1">
              <a:gsLst>
                <a:gs pos="100000">
                  <a:srgbClr val="C00000">
                    <a:alpha val="0"/>
                  </a:srgbClr>
                </a:gs>
                <a:gs pos="0">
                  <a:srgbClr val="C000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grpSp>
      <p:grpSp>
        <p:nvGrpSpPr>
          <p:cNvPr id="163" name="组合 162"/>
          <p:cNvGrpSpPr/>
          <p:nvPr/>
        </p:nvGrpSpPr>
        <p:grpSpPr>
          <a:xfrm rot="5400000">
            <a:off x="9583036" y="2640493"/>
            <a:ext cx="320037" cy="539269"/>
            <a:chOff x="3210474" y="2583359"/>
            <a:chExt cx="220477" cy="521298"/>
          </a:xfrm>
        </p:grpSpPr>
        <p:sp>
          <p:nvSpPr>
            <p:cNvPr id="164" name="等腰三角形 163"/>
            <p:cNvSpPr/>
            <p:nvPr>
              <p:custDataLst>
                <p:tags r:id="rId28"/>
              </p:custDataLst>
            </p:nvPr>
          </p:nvSpPr>
          <p:spPr>
            <a:xfrm rot="5400000">
              <a:off x="3079019" y="2752725"/>
              <a:ext cx="521298" cy="182566"/>
            </a:xfrm>
            <a:prstGeom prst="triangle">
              <a:avLst/>
            </a:prstGeom>
            <a:gradFill flip="none" rotWithShape="1">
              <a:gsLst>
                <a:gs pos="100000">
                  <a:srgbClr val="C00000">
                    <a:alpha val="0"/>
                  </a:srgbClr>
                </a:gs>
                <a:gs pos="0">
                  <a:srgbClr val="C00000">
                    <a:alpha val="32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sp>
          <p:nvSpPr>
            <p:cNvPr id="165" name="等腰三角形 164"/>
            <p:cNvSpPr/>
            <p:nvPr>
              <p:custDataLst>
                <p:tags r:id="rId29"/>
              </p:custDataLst>
            </p:nvPr>
          </p:nvSpPr>
          <p:spPr>
            <a:xfrm rot="5400000">
              <a:off x="3090622" y="2779412"/>
              <a:ext cx="368898" cy="129193"/>
            </a:xfrm>
            <a:prstGeom prst="triangle">
              <a:avLst/>
            </a:prstGeom>
            <a:gradFill flip="none" rotWithShape="1">
              <a:gsLst>
                <a:gs pos="100000">
                  <a:srgbClr val="C00000">
                    <a:alpha val="0"/>
                  </a:srgbClr>
                </a:gs>
                <a:gs pos="0">
                  <a:srgbClr val="C000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grpSp>
      <p:grpSp>
        <p:nvGrpSpPr>
          <p:cNvPr id="166" name="组合 165"/>
          <p:cNvGrpSpPr/>
          <p:nvPr/>
        </p:nvGrpSpPr>
        <p:grpSpPr>
          <a:xfrm rot="5400000">
            <a:off x="5912532" y="2640493"/>
            <a:ext cx="320037" cy="539269"/>
            <a:chOff x="3210474" y="2583359"/>
            <a:chExt cx="220477" cy="521298"/>
          </a:xfrm>
        </p:grpSpPr>
        <p:sp>
          <p:nvSpPr>
            <p:cNvPr id="167" name="等腰三角形 166"/>
            <p:cNvSpPr/>
            <p:nvPr>
              <p:custDataLst>
                <p:tags r:id="rId30"/>
              </p:custDataLst>
            </p:nvPr>
          </p:nvSpPr>
          <p:spPr>
            <a:xfrm rot="5400000">
              <a:off x="3079019" y="2752725"/>
              <a:ext cx="521298" cy="182566"/>
            </a:xfrm>
            <a:prstGeom prst="triangle">
              <a:avLst/>
            </a:prstGeom>
            <a:gradFill flip="none" rotWithShape="1">
              <a:gsLst>
                <a:gs pos="100000">
                  <a:srgbClr val="C00000">
                    <a:alpha val="0"/>
                  </a:srgbClr>
                </a:gs>
                <a:gs pos="0">
                  <a:srgbClr val="C00000">
                    <a:alpha val="32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sp>
          <p:nvSpPr>
            <p:cNvPr id="168" name="等腰三角形 167"/>
            <p:cNvSpPr/>
            <p:nvPr>
              <p:custDataLst>
                <p:tags r:id="rId31"/>
              </p:custDataLst>
            </p:nvPr>
          </p:nvSpPr>
          <p:spPr>
            <a:xfrm rot="5400000">
              <a:off x="3090622" y="2779412"/>
              <a:ext cx="368898" cy="129193"/>
            </a:xfrm>
            <a:prstGeom prst="triangle">
              <a:avLst/>
            </a:prstGeom>
            <a:gradFill flip="none" rotWithShape="1">
              <a:gsLst>
                <a:gs pos="100000">
                  <a:srgbClr val="C00000">
                    <a:alpha val="0"/>
                  </a:srgbClr>
                </a:gs>
                <a:gs pos="0">
                  <a:srgbClr val="C000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13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sym typeface="Arial" panose="020B0604020202090204" pitchFamily="34" charset="0"/>
              </a:endParaRPr>
            </a:p>
          </p:txBody>
        </p:sp>
      </p:grpSp>
      <p:sp>
        <p:nvSpPr>
          <p:cNvPr id="3" name="AutoShape 3"/>
          <p:cNvSpPr/>
          <p:nvPr>
            <p:custDataLst>
              <p:tags r:id="rId32"/>
            </p:custDataLst>
          </p:nvPr>
        </p:nvSpPr>
        <p:spPr bwMode="auto">
          <a:xfrm>
            <a:off x="317500" y="203200"/>
            <a:ext cx="10934700" cy="381000"/>
          </a:xfrm>
          <a:prstGeom prst="rect">
            <a:avLst/>
          </a:prstGeom>
        </p:spPr>
        <p:txBody>
          <a:bodyPr vert="horz" wrap="square" lIns="91440" tIns="45720" rIns="91440" bIns="45720" rtlCol="0" anchor="ctr" anchorCtr="0">
            <a:noAutofit/>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lnSpc>
                <a:spcPct val="90000"/>
              </a:lnSpc>
              <a:buClrTx/>
              <a:buSzTx/>
              <a:buFontTx/>
            </a:pPr>
            <a:r>
              <a:rPr kumimoji="0" lang="zh-CN" altLang="en-US" sz="21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知识工程技术进阶：本体、实体、知识图谱关系</a:t>
            </a:r>
            <a:endParaRPr kumimoji="0" lang="zh-CN" altLang="en-US" sz="16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pic>
        <p:nvPicPr>
          <p:cNvPr id="5" name="图片 4"/>
          <p:cNvPicPr>
            <a:picLocks noChangeAspect="1"/>
          </p:cNvPicPr>
          <p:nvPr/>
        </p:nvPicPr>
        <p:blipFill>
          <a:blip r:embed="rId33"/>
          <a:srcRect l="15348" r="7309"/>
          <a:stretch>
            <a:fillRect/>
          </a:stretch>
        </p:blipFill>
        <p:spPr>
          <a:xfrm>
            <a:off x="7764145" y="3251835"/>
            <a:ext cx="3928110" cy="25450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custDataLst>
              <p:tags r:id="rId1"/>
            </p:custDataLst>
          </p:nvPr>
        </p:nvSpPr>
        <p:spPr>
          <a:xfrm>
            <a:off x="317500" y="203200"/>
            <a:ext cx="10934700" cy="381000"/>
          </a:xfrm>
          <a:prstGeom prst="rect">
            <a:avLst/>
          </a:prstGeom>
          <a:noFill/>
          <a:ln w="12700" cap="flat" cmpd="sng">
            <a:noFill/>
            <a:prstDash val="solid"/>
            <a:round/>
          </a:ln>
        </p:spPr>
        <p:txBody>
          <a:bodyPr vert="horz" wrap="square" lIns="88900" tIns="0" rIns="88900" bIns="0" rtlCol="0" anchor="b"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000000">
                    <a:alpha val="100000"/>
                  </a:srgbClr>
                </a:solidFill>
                <a:effectLst/>
                <a:uLnTx/>
                <a:uFillTx/>
                <a:latin typeface="楷体" panose="02010609060101010101" pitchFamily="49" charset="-122"/>
                <a:ea typeface="楷体" panose="02010609060101010101" pitchFamily="49" charset="-122"/>
                <a:cs typeface="楷体" panose="02010609060101010101" pitchFamily="49" charset="-122"/>
                <a:sym typeface="+mn-ea"/>
              </a:rPr>
              <a:t>知识工程技术进阶：</a:t>
            </a:r>
            <a:r>
              <a:rPr kumimoji="0" altLang="zh-CN" sz="2200" b="0" i="0" u="none" strike="noStrike" kern="1200" cap="none" spc="0" normalizeH="0" baseline="0" noProof="0" dirty="0" err="1">
                <a:ln>
                  <a:noFill/>
                </a:ln>
                <a:solidFill>
                  <a:srgbClr val="000000">
                    <a:alpha val="100000"/>
                  </a:srgbClr>
                </a:solidFill>
                <a:effectLst/>
                <a:uLnTx/>
                <a:uFillTx/>
                <a:latin typeface="楷体" panose="02010609060101010101" pitchFamily="49" charset="-122"/>
                <a:ea typeface="楷体" panose="02010609060101010101" pitchFamily="49" charset="-122"/>
                <a:cs typeface="楷体" panose="02010609060101010101" pitchFamily="49" charset="-122"/>
                <a:sym typeface="+mn-ea"/>
              </a:rPr>
              <a:t>本体、实体、知识图谱关系</a:t>
            </a:r>
            <a:endParaRPr kumimoji="0" lang="zh-CN" altLang="en-US" sz="2200" b="0" i="0" u="none" strike="noStrike" kern="1200" cap="none" spc="0" normalizeH="0" baseline="0" noProof="0" dirty="0">
              <a:ln>
                <a:noFill/>
              </a:ln>
              <a:solidFill>
                <a:srgbClr val="000000">
                  <a:alpha val="100000"/>
                </a:srgbClr>
              </a:solidFill>
              <a:effectLst/>
              <a:uLnTx/>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26" name="椭圆 25"/>
          <p:cNvSpPr/>
          <p:nvPr/>
        </p:nvSpPr>
        <p:spPr>
          <a:xfrm>
            <a:off x="4380865" y="4090035"/>
            <a:ext cx="721360" cy="72199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tx1"/>
                </a:solidFill>
                <a:latin typeface="微软雅黑" panose="020B0503020204020204" charset="-122"/>
                <a:ea typeface="微软雅黑" panose="020B0503020204020204" charset="-122"/>
              </a:rPr>
              <a:t>理财产品</a:t>
            </a:r>
            <a:endParaRPr lang="zh-CN" altLang="en-US" sz="1200" b="1">
              <a:solidFill>
                <a:schemeClr val="tx1"/>
              </a:solidFill>
              <a:latin typeface="微软雅黑" panose="020B0503020204020204" charset="-122"/>
              <a:ea typeface="微软雅黑" panose="020B0503020204020204" charset="-122"/>
            </a:endParaRPr>
          </a:p>
        </p:txBody>
      </p:sp>
      <p:sp>
        <p:nvSpPr>
          <p:cNvPr id="27" name="椭圆 26"/>
          <p:cNvSpPr/>
          <p:nvPr/>
        </p:nvSpPr>
        <p:spPr>
          <a:xfrm>
            <a:off x="3294380" y="2166620"/>
            <a:ext cx="721360" cy="721995"/>
          </a:xfrm>
          <a:prstGeom prst="ellipse">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tx1"/>
                </a:solidFill>
                <a:latin typeface="微软雅黑" panose="020B0503020204020204" charset="-122"/>
                <a:ea typeface="微软雅黑" panose="020B0503020204020204" charset="-122"/>
              </a:rPr>
              <a:t>客户</a:t>
            </a:r>
            <a:endParaRPr lang="zh-CN" altLang="en-US" sz="1200" b="1">
              <a:solidFill>
                <a:schemeClr val="tx1"/>
              </a:solidFill>
              <a:latin typeface="微软雅黑" panose="020B0503020204020204" charset="-122"/>
              <a:ea typeface="微软雅黑" panose="020B0503020204020204" charset="-122"/>
            </a:endParaRPr>
          </a:p>
        </p:txBody>
      </p:sp>
      <p:sp>
        <p:nvSpPr>
          <p:cNvPr id="28" name="椭圆 27"/>
          <p:cNvSpPr/>
          <p:nvPr/>
        </p:nvSpPr>
        <p:spPr>
          <a:xfrm>
            <a:off x="1615440" y="4090035"/>
            <a:ext cx="721360" cy="721995"/>
          </a:xfrm>
          <a:prstGeom prst="ellipse">
            <a:avLst/>
          </a:prstGeom>
          <a:solidFill>
            <a:schemeClr val="accent6">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tx1"/>
                </a:solidFill>
                <a:latin typeface="微软雅黑" panose="020B0503020204020204" charset="-122"/>
                <a:ea typeface="微软雅黑" panose="020B0503020204020204" charset="-122"/>
              </a:rPr>
              <a:t>渠道</a:t>
            </a:r>
            <a:endParaRPr lang="zh-CN" altLang="en-US" sz="1200" b="1">
              <a:solidFill>
                <a:schemeClr val="tx1"/>
              </a:solidFill>
              <a:latin typeface="微软雅黑" panose="020B0503020204020204" charset="-122"/>
              <a:ea typeface="微软雅黑" panose="020B0503020204020204" charset="-122"/>
            </a:endParaRPr>
          </a:p>
        </p:txBody>
      </p:sp>
      <p:sp>
        <p:nvSpPr>
          <p:cNvPr id="34" name="文本框 33"/>
          <p:cNvSpPr txBox="1"/>
          <p:nvPr/>
        </p:nvSpPr>
        <p:spPr>
          <a:xfrm>
            <a:off x="3829050" y="3274695"/>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购买</a:t>
            </a:r>
            <a:endParaRPr lang="zh-CN" altLang="en-US" sz="1000" b="1">
              <a:solidFill>
                <a:schemeClr val="tx1"/>
              </a:solidFill>
              <a:latin typeface="微软雅黑" panose="020B0503020204020204" charset="-122"/>
              <a:ea typeface="微软雅黑" panose="020B0503020204020204" charset="-122"/>
            </a:endParaRPr>
          </a:p>
        </p:txBody>
      </p:sp>
      <p:sp>
        <p:nvSpPr>
          <p:cNvPr id="46" name="椭圆 45"/>
          <p:cNvSpPr/>
          <p:nvPr/>
        </p:nvSpPr>
        <p:spPr>
          <a:xfrm>
            <a:off x="4351020" y="5640070"/>
            <a:ext cx="721360" cy="721995"/>
          </a:xfrm>
          <a:prstGeom prst="ellipse">
            <a:avLst/>
          </a:prstGeom>
          <a:solidFill>
            <a:schemeClr val="accent4">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solidFill>
                  <a:schemeClr val="tx1"/>
                </a:solidFill>
                <a:latin typeface="微软雅黑" panose="020B0503020204020204" charset="-122"/>
                <a:ea typeface="微软雅黑" panose="020B0503020204020204" charset="-122"/>
              </a:rPr>
              <a:t>规则</a:t>
            </a:r>
            <a:endParaRPr lang="zh-CN" altLang="en-US" sz="1000">
              <a:solidFill>
                <a:schemeClr val="tx1"/>
              </a:solidFill>
              <a:latin typeface="微软雅黑" panose="020B0503020204020204" charset="-122"/>
              <a:ea typeface="微软雅黑" panose="020B0503020204020204" charset="-122"/>
            </a:endParaRPr>
          </a:p>
        </p:txBody>
      </p:sp>
      <p:grpSp>
        <p:nvGrpSpPr>
          <p:cNvPr id="48" name="组合 47"/>
          <p:cNvGrpSpPr/>
          <p:nvPr/>
        </p:nvGrpSpPr>
        <p:grpSpPr>
          <a:xfrm rot="0">
            <a:off x="3141345" y="3609975"/>
            <a:ext cx="1265555" cy="814070"/>
            <a:chOff x="8826" y="5080"/>
            <a:chExt cx="2486" cy="1282"/>
          </a:xfrm>
        </p:grpSpPr>
        <p:sp>
          <p:nvSpPr>
            <p:cNvPr id="37" name="文本框 36"/>
            <p:cNvSpPr txBox="1"/>
            <p:nvPr/>
          </p:nvSpPr>
          <p:spPr>
            <a:xfrm>
              <a:off x="8826" y="5367"/>
              <a:ext cx="2486" cy="995"/>
            </a:xfrm>
            <a:prstGeom prst="rect">
              <a:avLst/>
            </a:prstGeom>
            <a:noFill/>
            <a:ln>
              <a:solidFill>
                <a:schemeClr val="bg1">
                  <a:lumMod val="85000"/>
                </a:schemeClr>
              </a:solidFill>
            </a:ln>
          </p:spPr>
          <p:txBody>
            <a:bodyPr wrap="square" rtlCol="0">
              <a:noAutofit/>
            </a:bodyPr>
            <a:p>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名称</a:t>
              </a:r>
              <a:r>
                <a:rPr kumimoji="1" 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预期收益率</a:t>
              </a:r>
              <a:r>
                <a:rPr kumimoji="1" 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起购金额</a:t>
              </a:r>
              <a:r>
                <a:rPr kumimoji="1" 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风险等级</a:t>
              </a:r>
              <a:r>
                <a:rPr kumimoji="1" lang="en-US" altLang="zh-CN" sz="10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1" lang="en-US" altLang="zh-CN" sz="10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7" name="矩形 46"/>
            <p:cNvSpPr/>
            <p:nvPr/>
          </p:nvSpPr>
          <p:spPr>
            <a:xfrm>
              <a:off x="8826" y="5080"/>
              <a:ext cx="2486"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理财产品实体属性</a:t>
              </a:r>
              <a:endParaRPr lang="zh-CN" altLang="en-US" sz="1000">
                <a:solidFill>
                  <a:schemeClr val="tx1"/>
                </a:solidFill>
                <a:latin typeface="微软雅黑" panose="020B0503020204020204" charset="-122"/>
                <a:ea typeface="微软雅黑" panose="020B0503020204020204" charset="-122"/>
              </a:endParaRPr>
            </a:p>
          </p:txBody>
        </p:sp>
      </p:grpSp>
      <p:grpSp>
        <p:nvGrpSpPr>
          <p:cNvPr id="52" name="组合 51"/>
          <p:cNvGrpSpPr/>
          <p:nvPr/>
        </p:nvGrpSpPr>
        <p:grpSpPr>
          <a:xfrm rot="0">
            <a:off x="2291080" y="2077085"/>
            <a:ext cx="963295" cy="728980"/>
            <a:chOff x="8826" y="5080"/>
            <a:chExt cx="2309" cy="1148"/>
          </a:xfrm>
        </p:grpSpPr>
        <p:sp>
          <p:nvSpPr>
            <p:cNvPr id="53" name="文本框 52"/>
            <p:cNvSpPr txBox="1"/>
            <p:nvPr/>
          </p:nvSpPr>
          <p:spPr>
            <a:xfrm>
              <a:off x="8826" y="5367"/>
              <a:ext cx="2309" cy="861"/>
            </a:xfrm>
            <a:prstGeom prst="rect">
              <a:avLst/>
            </a:prstGeom>
            <a:noFill/>
            <a:ln>
              <a:solidFill>
                <a:schemeClr val="bg1">
                  <a:lumMod val="85000"/>
                </a:schemeClr>
              </a:solidFill>
            </a:ln>
          </p:spPr>
          <p:txBody>
            <a:bodyPr wrap="square" rtlCol="0">
              <a:noAutofit/>
            </a:bodyPr>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姓名、年龄、风险承受能力、</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4" name="矩形 53"/>
            <p:cNvSpPr/>
            <p:nvPr/>
          </p:nvSpPr>
          <p:spPr>
            <a:xfrm>
              <a:off x="8826" y="5080"/>
              <a:ext cx="2309"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客户实体属性</a:t>
              </a:r>
              <a:endParaRPr lang="zh-CN" altLang="en-US" sz="1000">
                <a:solidFill>
                  <a:schemeClr val="tx1"/>
                </a:solidFill>
                <a:latin typeface="微软雅黑" panose="020B0503020204020204" charset="-122"/>
                <a:ea typeface="微软雅黑" panose="020B0503020204020204" charset="-122"/>
              </a:endParaRPr>
            </a:p>
          </p:txBody>
        </p:sp>
      </p:grpSp>
      <p:grpSp>
        <p:nvGrpSpPr>
          <p:cNvPr id="55" name="组合 54"/>
          <p:cNvGrpSpPr/>
          <p:nvPr/>
        </p:nvGrpSpPr>
        <p:grpSpPr>
          <a:xfrm rot="0">
            <a:off x="1003935" y="4981575"/>
            <a:ext cx="972185" cy="497205"/>
            <a:chOff x="8826" y="5080"/>
            <a:chExt cx="2309" cy="783"/>
          </a:xfrm>
        </p:grpSpPr>
        <p:sp>
          <p:nvSpPr>
            <p:cNvPr id="56" name="文本框 55"/>
            <p:cNvSpPr txBox="1"/>
            <p:nvPr/>
          </p:nvSpPr>
          <p:spPr>
            <a:xfrm>
              <a:off x="8826" y="5367"/>
              <a:ext cx="2309" cy="496"/>
            </a:xfrm>
            <a:prstGeom prst="rect">
              <a:avLst/>
            </a:prstGeom>
            <a:noFill/>
            <a:ln>
              <a:solidFill>
                <a:schemeClr val="bg1">
                  <a:lumMod val="85000"/>
                </a:schemeClr>
              </a:solidFill>
            </a:ln>
          </p:spPr>
          <p:txBody>
            <a:bodyPr wrap="square" rtlCol="0">
              <a:noAutofit/>
            </a:bodyPr>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类型</a:t>
              </a:r>
              <a:r>
                <a:rPr kumimoji="1" 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名称</a:t>
              </a:r>
              <a:r>
                <a:rPr kumimoji="1" 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endParaRPr lang="en-US" sz="1200">
                <a:latin typeface="微软雅黑" panose="020B0503020204020204" charset="-122"/>
                <a:ea typeface="微软雅黑" panose="020B0503020204020204" charset="-122"/>
              </a:endParaRPr>
            </a:p>
          </p:txBody>
        </p:sp>
        <p:sp>
          <p:nvSpPr>
            <p:cNvPr id="57" name="矩形 56"/>
            <p:cNvSpPr/>
            <p:nvPr/>
          </p:nvSpPr>
          <p:spPr>
            <a:xfrm>
              <a:off x="8826" y="5080"/>
              <a:ext cx="2309"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渠道实体属性</a:t>
              </a:r>
              <a:endParaRPr lang="zh-CN" altLang="en-US" sz="1000">
                <a:solidFill>
                  <a:schemeClr val="tx1"/>
                </a:solidFill>
                <a:latin typeface="微软雅黑" panose="020B0503020204020204" charset="-122"/>
                <a:ea typeface="微软雅黑" panose="020B0503020204020204" charset="-122"/>
              </a:endParaRPr>
            </a:p>
          </p:txBody>
        </p:sp>
      </p:grpSp>
      <p:grpSp>
        <p:nvGrpSpPr>
          <p:cNvPr id="58" name="组合 57"/>
          <p:cNvGrpSpPr/>
          <p:nvPr/>
        </p:nvGrpSpPr>
        <p:grpSpPr>
          <a:xfrm rot="0">
            <a:off x="2762885" y="5703570"/>
            <a:ext cx="1578610" cy="814070"/>
            <a:chOff x="8826" y="5080"/>
            <a:chExt cx="2486" cy="1282"/>
          </a:xfrm>
        </p:grpSpPr>
        <p:sp>
          <p:nvSpPr>
            <p:cNvPr id="59" name="文本框 58"/>
            <p:cNvSpPr txBox="1"/>
            <p:nvPr/>
          </p:nvSpPr>
          <p:spPr>
            <a:xfrm>
              <a:off x="8826" y="5367"/>
              <a:ext cx="2486" cy="995"/>
            </a:xfrm>
            <a:prstGeom prst="rect">
              <a:avLst/>
            </a:prstGeom>
            <a:noFill/>
            <a:ln>
              <a:solidFill>
                <a:schemeClr val="bg1">
                  <a:lumMod val="85000"/>
                </a:schemeClr>
              </a:solidFill>
            </a:ln>
          </p:spPr>
          <p:txBody>
            <a:bodyPr wrap="square" rtlCol="0">
              <a:noAutofit/>
            </a:bodyPr>
            <a:p>
              <a:pPr marR="0" lvl="0" indent="0" algn="l" defTabSz="914400" rtl="0" eaLnBrk="1" fontAlgn="auto" latinLnBrk="0" hangingPunct="1">
                <a:lnSpc>
                  <a:spcPct val="100000"/>
                </a:lnSpc>
                <a:spcBef>
                  <a:spcPts val="0"/>
                </a:spcBef>
                <a:spcAft>
                  <a:spcPts val="0"/>
                </a:spcAft>
                <a:buClrTx/>
                <a:buSzTx/>
                <a:buNone/>
                <a:defRPr/>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规则</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1=“</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【客户】的【风险承受能力】必须 大于或等于 【理财产品】的【所属风险等级】，才能购买</a:t>
              </a:r>
              <a:r>
                <a:rPr kumimoji="1" 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1" 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0" name="矩形 59"/>
            <p:cNvSpPr/>
            <p:nvPr/>
          </p:nvSpPr>
          <p:spPr>
            <a:xfrm>
              <a:off x="8826" y="5080"/>
              <a:ext cx="2486"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约束实体属性</a:t>
              </a:r>
              <a:endParaRPr lang="zh-CN" altLang="en-US" sz="1000">
                <a:solidFill>
                  <a:schemeClr val="tx1"/>
                </a:solidFill>
                <a:latin typeface="微软雅黑" panose="020B0503020204020204" charset="-122"/>
                <a:ea typeface="微软雅黑" panose="020B0503020204020204" charset="-122"/>
              </a:endParaRPr>
            </a:p>
          </p:txBody>
        </p:sp>
      </p:grpSp>
      <p:cxnSp>
        <p:nvCxnSpPr>
          <p:cNvPr id="61" name="曲线连接符 60"/>
          <p:cNvCxnSpPr/>
          <p:nvPr/>
        </p:nvCxnSpPr>
        <p:spPr>
          <a:xfrm rot="5400000" flipV="1">
            <a:off x="3672205" y="3020060"/>
            <a:ext cx="1307465" cy="831215"/>
          </a:xfrm>
          <a:prstGeom prst="curvedConnector3">
            <a:avLst>
              <a:gd name="adj1" fmla="val 54055"/>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cxnSp>
        <p:nvCxnSpPr>
          <p:cNvPr id="62" name="曲线连接符 61"/>
          <p:cNvCxnSpPr>
            <a:stCxn id="46" idx="0"/>
            <a:endCxn id="26" idx="4"/>
          </p:cNvCxnSpPr>
          <p:nvPr/>
        </p:nvCxnSpPr>
        <p:spPr>
          <a:xfrm rot="16200000">
            <a:off x="4312603" y="5211128"/>
            <a:ext cx="828040" cy="29845"/>
          </a:xfrm>
          <a:prstGeom prst="curvedConnector3">
            <a:avLst>
              <a:gd name="adj1" fmla="val 50038"/>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64" name="文本框 63"/>
          <p:cNvSpPr txBox="1"/>
          <p:nvPr/>
        </p:nvSpPr>
        <p:spPr>
          <a:xfrm>
            <a:off x="4579620" y="5135245"/>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约束</a:t>
            </a:r>
            <a:endParaRPr lang="zh-CN" altLang="en-US" sz="1000" b="1">
              <a:solidFill>
                <a:schemeClr val="tx1"/>
              </a:solidFill>
              <a:latin typeface="微软雅黑" panose="020B0503020204020204" charset="-122"/>
              <a:ea typeface="微软雅黑" panose="020B0503020204020204" charset="-122"/>
            </a:endParaRPr>
          </a:p>
        </p:txBody>
      </p:sp>
      <p:cxnSp>
        <p:nvCxnSpPr>
          <p:cNvPr id="65" name="曲线连接符 64"/>
          <p:cNvCxnSpPr>
            <a:stCxn id="27" idx="2"/>
            <a:endCxn id="28" idx="0"/>
          </p:cNvCxnSpPr>
          <p:nvPr/>
        </p:nvCxnSpPr>
        <p:spPr>
          <a:xfrm rot="10800000" flipV="1">
            <a:off x="1976120" y="2527935"/>
            <a:ext cx="1318260" cy="1562100"/>
          </a:xfrm>
          <a:prstGeom prst="curvedConnector2">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66" name="文本框 65"/>
          <p:cNvSpPr txBox="1"/>
          <p:nvPr/>
        </p:nvSpPr>
        <p:spPr>
          <a:xfrm>
            <a:off x="1909445" y="3255645"/>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使用</a:t>
            </a:r>
            <a:endParaRPr lang="zh-CN" altLang="en-US" sz="1000" b="1">
              <a:solidFill>
                <a:schemeClr val="tx1"/>
              </a:solidFill>
              <a:latin typeface="微软雅黑" panose="020B0503020204020204" charset="-122"/>
              <a:ea typeface="微软雅黑" panose="020B0503020204020204" charset="-122"/>
            </a:endParaRPr>
          </a:p>
        </p:txBody>
      </p:sp>
      <p:cxnSp>
        <p:nvCxnSpPr>
          <p:cNvPr id="67" name="曲线连接符 66"/>
          <p:cNvCxnSpPr>
            <a:stCxn id="28" idx="5"/>
            <a:endCxn id="26" idx="2"/>
          </p:cNvCxnSpPr>
          <p:nvPr/>
        </p:nvCxnSpPr>
        <p:spPr>
          <a:xfrm rot="5400000" flipH="1" flipV="1">
            <a:off x="3178810" y="3503295"/>
            <a:ext cx="254635" cy="2149475"/>
          </a:xfrm>
          <a:prstGeom prst="curvedConnector4">
            <a:avLst>
              <a:gd name="adj1" fmla="val -135162"/>
              <a:gd name="adj2" fmla="val 52467"/>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68" name="文本框 67"/>
          <p:cNvSpPr txBox="1"/>
          <p:nvPr/>
        </p:nvSpPr>
        <p:spPr>
          <a:xfrm>
            <a:off x="3121025" y="4567555"/>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承载</a:t>
            </a:r>
            <a:endParaRPr lang="zh-CN" altLang="en-US" sz="1000" b="1">
              <a:solidFill>
                <a:schemeClr val="tx1"/>
              </a:solidFill>
              <a:latin typeface="微软雅黑" panose="020B0503020204020204" charset="-122"/>
              <a:ea typeface="微软雅黑" panose="020B0503020204020204" charset="-122"/>
            </a:endParaRPr>
          </a:p>
        </p:txBody>
      </p:sp>
      <p:sp>
        <p:nvSpPr>
          <p:cNvPr id="2" name="椭圆 1"/>
          <p:cNvSpPr/>
          <p:nvPr/>
        </p:nvSpPr>
        <p:spPr>
          <a:xfrm>
            <a:off x="7934325" y="3006725"/>
            <a:ext cx="721360" cy="721995"/>
          </a:xfrm>
          <a:prstGeom prst="ellipse">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tx1"/>
                </a:solidFill>
                <a:latin typeface="微软雅黑" panose="020B0503020204020204" charset="-122"/>
                <a:ea typeface="微软雅黑" panose="020B0503020204020204" charset="-122"/>
              </a:rPr>
              <a:t>张三</a:t>
            </a:r>
            <a:endParaRPr lang="zh-CN" altLang="en-US" sz="1200" b="1">
              <a:solidFill>
                <a:schemeClr val="tx1"/>
              </a:solidFill>
              <a:latin typeface="微软雅黑" panose="020B0503020204020204" charset="-122"/>
              <a:ea typeface="微软雅黑" panose="020B0503020204020204" charset="-122"/>
            </a:endParaRPr>
          </a:p>
        </p:txBody>
      </p:sp>
      <p:sp>
        <p:nvSpPr>
          <p:cNvPr id="8" name="椭圆 7"/>
          <p:cNvSpPr/>
          <p:nvPr/>
        </p:nvSpPr>
        <p:spPr>
          <a:xfrm>
            <a:off x="7695565" y="4615815"/>
            <a:ext cx="721360" cy="72199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buNone/>
            </a:pPr>
            <a:r>
              <a:rPr kumimoji="1" lang="zh-CN" altLang="en-US"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稳盈添利</a:t>
            </a:r>
            <a:r>
              <a:rPr kumimoji="1" lang="en-US" altLang="zh-CN"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2026</a:t>
            </a:r>
            <a:r>
              <a:rPr kumimoji="1" lang="zh-CN" altLang="en-US"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期</a:t>
            </a:r>
            <a:endParaRPr lang="zh-CN" altLang="en-US" sz="1200" b="1">
              <a:solidFill>
                <a:schemeClr val="tx1"/>
              </a:solidFill>
              <a:latin typeface="微软雅黑" panose="020B0503020204020204" charset="-122"/>
              <a:ea typeface="微软雅黑" panose="020B0503020204020204" charset="-122"/>
            </a:endParaRPr>
          </a:p>
        </p:txBody>
      </p:sp>
      <p:sp>
        <p:nvSpPr>
          <p:cNvPr id="4" name="文本框 3"/>
          <p:cNvSpPr txBox="1"/>
          <p:nvPr/>
        </p:nvSpPr>
        <p:spPr>
          <a:xfrm>
            <a:off x="692150" y="941070"/>
            <a:ext cx="11271250" cy="583565"/>
          </a:xfrm>
          <a:prstGeom prst="rect">
            <a:avLst/>
          </a:prstGeom>
          <a:noFill/>
        </p:spPr>
        <p:txBody>
          <a:bodyPr wrap="square" rtlCol="0" anchor="t">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基于本体定义的概念框架，填充具体实体和实例关系后形成的大规模语义网络，本质是 “实例化的关联知识库”，既包含抽象概念，也包含真实的业务数据</a:t>
            </a:r>
            <a:endParaRPr lang="zh-CN" altLang="en-US" sz="16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3" name="矩形 12"/>
          <p:cNvSpPr/>
          <p:nvPr/>
        </p:nvSpPr>
        <p:spPr>
          <a:xfrm>
            <a:off x="800735" y="1592580"/>
            <a:ext cx="4464050" cy="5118735"/>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文本框 14"/>
          <p:cNvSpPr txBox="1"/>
          <p:nvPr/>
        </p:nvSpPr>
        <p:spPr>
          <a:xfrm>
            <a:off x="1950720" y="1621790"/>
            <a:ext cx="1915160" cy="337185"/>
          </a:xfrm>
          <a:prstGeom prst="rect">
            <a:avLst/>
          </a:prstGeom>
          <a:noFill/>
        </p:spPr>
        <p:txBody>
          <a:bodyPr wrap="square" rtlCol="0" anchor="t">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sym typeface="+mn-ea"/>
              </a:rPr>
              <a:t>本体（</a:t>
            </a:r>
            <a:r>
              <a:rPr kumimoji="1" lang="en-US" altLang="zh-CN" sz="1600" b="1"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sym typeface="+mn-ea"/>
              </a:rPr>
              <a:t>Ontology</a:t>
            </a:r>
            <a:r>
              <a:rPr kumimoji="1" lang="zh-CN" altLang="en-US" sz="1600" b="1"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1" lang="zh-CN" altLang="en-US" sz="1600" b="1"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8" name="矩形 17"/>
          <p:cNvSpPr/>
          <p:nvPr/>
        </p:nvSpPr>
        <p:spPr>
          <a:xfrm>
            <a:off x="5730240" y="1592580"/>
            <a:ext cx="5500370" cy="5118735"/>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1" name="文本框 140"/>
          <p:cNvSpPr txBox="1"/>
          <p:nvPr>
            <p:custDataLst>
              <p:tags r:id="rId2"/>
            </p:custDataLst>
          </p:nvPr>
        </p:nvSpPr>
        <p:spPr>
          <a:xfrm>
            <a:off x="7110692" y="1626122"/>
            <a:ext cx="2980055" cy="245745"/>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sym typeface="+mn-ea"/>
              </a:rPr>
              <a:t>知识图谱（</a:t>
            </a:r>
            <a:r>
              <a:rPr kumimoji="1" lang="en-US" altLang="zh-CN" sz="1600" b="1"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sym typeface="+mn-ea"/>
              </a:rPr>
              <a:t>Knowledge Graph</a:t>
            </a:r>
            <a:r>
              <a:rPr kumimoji="1" lang="zh-CN" altLang="en-US" sz="1600" b="1"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1"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 name="椭圆 18"/>
          <p:cNvSpPr/>
          <p:nvPr/>
        </p:nvSpPr>
        <p:spPr>
          <a:xfrm>
            <a:off x="8810625" y="3274695"/>
            <a:ext cx="721360" cy="721995"/>
          </a:xfrm>
          <a:prstGeom prst="ellipse">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tx1"/>
                </a:solidFill>
                <a:latin typeface="微软雅黑" panose="020B0503020204020204" charset="-122"/>
                <a:ea typeface="微软雅黑" panose="020B0503020204020204" charset="-122"/>
              </a:rPr>
              <a:t>李四</a:t>
            </a:r>
            <a:endParaRPr lang="zh-CN" altLang="en-US" sz="1200" b="1">
              <a:solidFill>
                <a:schemeClr val="tx1"/>
              </a:solidFill>
              <a:latin typeface="微软雅黑" panose="020B0503020204020204" charset="-122"/>
              <a:ea typeface="微软雅黑" panose="020B0503020204020204" charset="-122"/>
            </a:endParaRPr>
          </a:p>
        </p:txBody>
      </p:sp>
      <p:sp>
        <p:nvSpPr>
          <p:cNvPr id="20" name="椭圆 19"/>
          <p:cNvSpPr/>
          <p:nvPr/>
        </p:nvSpPr>
        <p:spPr>
          <a:xfrm>
            <a:off x="6584315" y="3500755"/>
            <a:ext cx="721360" cy="721995"/>
          </a:xfrm>
          <a:prstGeom prst="ellipse">
            <a:avLst/>
          </a:prstGeom>
          <a:solidFill>
            <a:schemeClr val="accent6">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tx1"/>
                </a:solidFill>
                <a:latin typeface="微软雅黑" panose="020B0503020204020204" charset="-122"/>
                <a:ea typeface="微软雅黑" panose="020B0503020204020204" charset="-122"/>
              </a:rPr>
              <a:t>手机</a:t>
            </a:r>
            <a:r>
              <a:rPr lang="zh-CN" altLang="en-US" sz="1200" b="1">
                <a:solidFill>
                  <a:schemeClr val="tx1"/>
                </a:solidFill>
                <a:latin typeface="微软雅黑" panose="020B0503020204020204" charset="-122"/>
                <a:ea typeface="微软雅黑" panose="020B0503020204020204" charset="-122"/>
              </a:rPr>
              <a:t>银行</a:t>
            </a:r>
            <a:endParaRPr lang="zh-CN" altLang="en-US" sz="1200" b="1">
              <a:solidFill>
                <a:schemeClr val="tx1"/>
              </a:solidFill>
              <a:latin typeface="微软雅黑" panose="020B0503020204020204" charset="-122"/>
              <a:ea typeface="微软雅黑" panose="020B0503020204020204" charset="-122"/>
            </a:endParaRPr>
          </a:p>
        </p:txBody>
      </p:sp>
      <p:cxnSp>
        <p:nvCxnSpPr>
          <p:cNvPr id="21" name="曲线连接符 20"/>
          <p:cNvCxnSpPr>
            <a:stCxn id="2" idx="4"/>
            <a:endCxn id="8" idx="0"/>
          </p:cNvCxnSpPr>
          <p:nvPr/>
        </p:nvCxnSpPr>
        <p:spPr>
          <a:xfrm rot="5400000">
            <a:off x="7732078" y="4052888"/>
            <a:ext cx="887095" cy="238760"/>
          </a:xfrm>
          <a:prstGeom prst="curvedConnector3">
            <a:avLst>
              <a:gd name="adj1" fmla="val 50000"/>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8056245" y="4089400"/>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购买</a:t>
            </a:r>
            <a:endParaRPr lang="zh-CN" altLang="en-US" sz="1000" b="1">
              <a:solidFill>
                <a:schemeClr val="tx1"/>
              </a:solidFill>
              <a:latin typeface="微软雅黑" panose="020B0503020204020204" charset="-122"/>
              <a:ea typeface="微软雅黑" panose="020B0503020204020204" charset="-122"/>
            </a:endParaRPr>
          </a:p>
        </p:txBody>
      </p:sp>
      <p:cxnSp>
        <p:nvCxnSpPr>
          <p:cNvPr id="23" name="曲线连接符 22"/>
          <p:cNvCxnSpPr>
            <a:stCxn id="19" idx="4"/>
            <a:endCxn id="8" idx="6"/>
          </p:cNvCxnSpPr>
          <p:nvPr/>
        </p:nvCxnSpPr>
        <p:spPr>
          <a:xfrm rot="5400000">
            <a:off x="8303895" y="4109720"/>
            <a:ext cx="980440" cy="754380"/>
          </a:xfrm>
          <a:prstGeom prst="curvedConnector2">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8810625" y="4404995"/>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购买</a:t>
            </a:r>
            <a:endParaRPr lang="zh-CN" altLang="en-US" sz="1000" b="1">
              <a:solidFill>
                <a:schemeClr val="tx1"/>
              </a:solidFill>
              <a:latin typeface="微软雅黑" panose="020B0503020204020204" charset="-122"/>
              <a:ea typeface="微软雅黑" panose="020B0503020204020204" charset="-122"/>
            </a:endParaRPr>
          </a:p>
        </p:txBody>
      </p:sp>
      <p:cxnSp>
        <p:nvCxnSpPr>
          <p:cNvPr id="25" name="曲线连接符 24"/>
          <p:cNvCxnSpPr>
            <a:stCxn id="20" idx="4"/>
            <a:endCxn id="8" idx="2"/>
          </p:cNvCxnSpPr>
          <p:nvPr/>
        </p:nvCxnSpPr>
        <p:spPr>
          <a:xfrm rot="5400000" flipV="1">
            <a:off x="6943090" y="4224655"/>
            <a:ext cx="754380" cy="750570"/>
          </a:xfrm>
          <a:prstGeom prst="curvedConnector2">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6884670" y="4567555"/>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承载</a:t>
            </a:r>
            <a:endParaRPr lang="zh-CN" altLang="en-US" sz="1000" b="1">
              <a:solidFill>
                <a:schemeClr val="tx1"/>
              </a:solidFill>
              <a:latin typeface="微软雅黑" panose="020B0503020204020204" charset="-122"/>
              <a:ea typeface="微软雅黑" panose="020B0503020204020204" charset="-122"/>
            </a:endParaRPr>
          </a:p>
        </p:txBody>
      </p:sp>
      <p:cxnSp>
        <p:nvCxnSpPr>
          <p:cNvPr id="30" name="曲线连接符 29"/>
          <p:cNvCxnSpPr>
            <a:stCxn id="2" idx="2"/>
            <a:endCxn id="20" idx="6"/>
          </p:cNvCxnSpPr>
          <p:nvPr/>
        </p:nvCxnSpPr>
        <p:spPr>
          <a:xfrm rot="10800000" flipV="1">
            <a:off x="7305675" y="3368040"/>
            <a:ext cx="628650" cy="494030"/>
          </a:xfrm>
          <a:prstGeom prst="curvedConnector3">
            <a:avLst>
              <a:gd name="adj1" fmla="val 50000"/>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31" name="文本框 30"/>
          <p:cNvSpPr txBox="1"/>
          <p:nvPr/>
        </p:nvSpPr>
        <p:spPr>
          <a:xfrm>
            <a:off x="7695565" y="2410460"/>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使用</a:t>
            </a:r>
            <a:endParaRPr lang="zh-CN" altLang="en-US" sz="1000" b="1">
              <a:solidFill>
                <a:schemeClr val="tx1"/>
              </a:solidFill>
              <a:latin typeface="微软雅黑" panose="020B0503020204020204" charset="-122"/>
              <a:ea typeface="微软雅黑" panose="020B0503020204020204" charset="-122"/>
            </a:endParaRPr>
          </a:p>
        </p:txBody>
      </p:sp>
      <p:cxnSp>
        <p:nvCxnSpPr>
          <p:cNvPr id="36" name="曲线连接符 35"/>
          <p:cNvCxnSpPr>
            <a:stCxn id="73" idx="6"/>
            <a:endCxn id="8" idx="4"/>
          </p:cNvCxnSpPr>
          <p:nvPr/>
        </p:nvCxnSpPr>
        <p:spPr>
          <a:xfrm flipV="1">
            <a:off x="6992620" y="5337810"/>
            <a:ext cx="1063625" cy="403860"/>
          </a:xfrm>
          <a:prstGeom prst="curvedConnector2">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grpSp>
        <p:nvGrpSpPr>
          <p:cNvPr id="38" name="组合 37"/>
          <p:cNvGrpSpPr/>
          <p:nvPr/>
        </p:nvGrpSpPr>
        <p:grpSpPr>
          <a:xfrm>
            <a:off x="8952865" y="2022475"/>
            <a:ext cx="1578865" cy="728980"/>
            <a:chOff x="8826" y="5080"/>
            <a:chExt cx="2309" cy="1148"/>
          </a:xfrm>
        </p:grpSpPr>
        <p:sp>
          <p:nvSpPr>
            <p:cNvPr id="39" name="文本框 38"/>
            <p:cNvSpPr txBox="1"/>
            <p:nvPr/>
          </p:nvSpPr>
          <p:spPr>
            <a:xfrm>
              <a:off x="8826" y="5367"/>
              <a:ext cx="2309" cy="861"/>
            </a:xfrm>
            <a:prstGeom prst="rect">
              <a:avLst/>
            </a:prstGeom>
            <a:noFill/>
            <a:ln>
              <a:solidFill>
                <a:schemeClr val="bg1">
                  <a:lumMod val="85000"/>
                </a:schemeClr>
              </a:solidFill>
            </a:ln>
          </p:spPr>
          <p:txBody>
            <a:bodyPr wrap="square" rtlCol="0">
              <a:noAutofit/>
            </a:bodyPr>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姓名</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张三”</a:t>
              </a:r>
              <a:endPar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年龄</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=“30”</a:t>
              </a:r>
              <a:endPar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风险承受能力</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=“R3</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平衡型”</a:t>
              </a:r>
              <a:endParaRPr lang="zh-CN" altLang="en-US" sz="1200">
                <a:latin typeface="微软雅黑" panose="020B0503020204020204" charset="-122"/>
                <a:ea typeface="微软雅黑" panose="020B0503020204020204" charset="-122"/>
              </a:endParaRPr>
            </a:p>
          </p:txBody>
        </p:sp>
        <p:sp>
          <p:nvSpPr>
            <p:cNvPr id="40" name="矩形 39"/>
            <p:cNvSpPr/>
            <p:nvPr/>
          </p:nvSpPr>
          <p:spPr>
            <a:xfrm>
              <a:off x="8826" y="5080"/>
              <a:ext cx="2309"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客户实体属性</a:t>
              </a:r>
              <a:endParaRPr lang="zh-CN" altLang="en-US" sz="1000">
                <a:solidFill>
                  <a:schemeClr val="tx1"/>
                </a:solidFill>
                <a:latin typeface="微软雅黑" panose="020B0503020204020204" charset="-122"/>
                <a:ea typeface="微软雅黑" panose="020B0503020204020204" charset="-122"/>
              </a:endParaRPr>
            </a:p>
          </p:txBody>
        </p:sp>
      </p:grpSp>
      <p:grpSp>
        <p:nvGrpSpPr>
          <p:cNvPr id="41" name="组合 40"/>
          <p:cNvGrpSpPr/>
          <p:nvPr/>
        </p:nvGrpSpPr>
        <p:grpSpPr>
          <a:xfrm>
            <a:off x="9607550" y="3676015"/>
            <a:ext cx="1578865" cy="728980"/>
            <a:chOff x="8826" y="5080"/>
            <a:chExt cx="2309" cy="1148"/>
          </a:xfrm>
        </p:grpSpPr>
        <p:sp>
          <p:nvSpPr>
            <p:cNvPr id="42" name="文本框 41"/>
            <p:cNvSpPr txBox="1"/>
            <p:nvPr/>
          </p:nvSpPr>
          <p:spPr>
            <a:xfrm>
              <a:off x="8826" y="5367"/>
              <a:ext cx="2309" cy="861"/>
            </a:xfrm>
            <a:prstGeom prst="rect">
              <a:avLst/>
            </a:prstGeom>
            <a:noFill/>
            <a:ln>
              <a:solidFill>
                <a:schemeClr val="bg1">
                  <a:lumMod val="85000"/>
                </a:schemeClr>
              </a:solidFill>
            </a:ln>
          </p:spPr>
          <p:txBody>
            <a:bodyPr wrap="square" rtlCol="0">
              <a:noAutofit/>
            </a:bodyPr>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姓名</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李四”</a:t>
              </a:r>
              <a:endPar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年龄</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=“35”</a:t>
              </a:r>
              <a:endPar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风险承受能力</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=“R</a:t>
              </a:r>
              <a:r>
                <a:rPr kumimoji="1" 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2</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稳健</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型”</a:t>
              </a:r>
              <a:endParaRPr lang="zh-CN" altLang="en-US" sz="1200">
                <a:latin typeface="微软雅黑" panose="020B0503020204020204" charset="-122"/>
                <a:ea typeface="微软雅黑" panose="020B0503020204020204" charset="-122"/>
              </a:endParaRPr>
            </a:p>
          </p:txBody>
        </p:sp>
        <p:sp>
          <p:nvSpPr>
            <p:cNvPr id="43" name="矩形 42"/>
            <p:cNvSpPr/>
            <p:nvPr/>
          </p:nvSpPr>
          <p:spPr>
            <a:xfrm>
              <a:off x="8826" y="5080"/>
              <a:ext cx="2309"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客户实体属性</a:t>
              </a:r>
              <a:endParaRPr lang="zh-CN" altLang="en-US" sz="1000">
                <a:solidFill>
                  <a:schemeClr val="tx1"/>
                </a:solidFill>
                <a:latin typeface="微软雅黑" panose="020B0503020204020204" charset="-122"/>
                <a:ea typeface="微软雅黑" panose="020B0503020204020204" charset="-122"/>
              </a:endParaRPr>
            </a:p>
          </p:txBody>
        </p:sp>
      </p:grpSp>
      <p:grpSp>
        <p:nvGrpSpPr>
          <p:cNvPr id="44" name="组合 43"/>
          <p:cNvGrpSpPr/>
          <p:nvPr/>
        </p:nvGrpSpPr>
        <p:grpSpPr>
          <a:xfrm>
            <a:off x="8449945" y="5071745"/>
            <a:ext cx="1578610" cy="814070"/>
            <a:chOff x="8826" y="5080"/>
            <a:chExt cx="2486" cy="1282"/>
          </a:xfrm>
        </p:grpSpPr>
        <p:sp>
          <p:nvSpPr>
            <p:cNvPr id="45" name="文本框 44"/>
            <p:cNvSpPr txBox="1"/>
            <p:nvPr/>
          </p:nvSpPr>
          <p:spPr>
            <a:xfrm>
              <a:off x="8826" y="5367"/>
              <a:ext cx="2486" cy="995"/>
            </a:xfrm>
            <a:prstGeom prst="rect">
              <a:avLst/>
            </a:prstGeom>
            <a:noFill/>
            <a:ln>
              <a:solidFill>
                <a:schemeClr val="bg1">
                  <a:lumMod val="85000"/>
                </a:schemeClr>
              </a:solidFill>
            </a:ln>
          </p:spPr>
          <p:txBody>
            <a:bodyPr wrap="square" rtlCol="0">
              <a:noAutofit/>
            </a:bodyPr>
            <a:p>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名称</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稳盈添利</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2026</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期”</a:t>
              </a:r>
              <a:endPar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预期收益率</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=3.8%</a:t>
              </a:r>
              <a:endPar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起购金额</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=10000</a:t>
              </a:r>
              <a:endPar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风险等级</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=“R2</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稳健型</a:t>
              </a:r>
              <a:r>
                <a:rPr kumimoji="1" lang="zh-CN" altLang="en-US" sz="10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endParaRPr lang="zh-CN" altLang="en-US" sz="1200">
                <a:latin typeface="微软雅黑" panose="020B0503020204020204" charset="-122"/>
                <a:ea typeface="微软雅黑" panose="020B0503020204020204" charset="-122"/>
              </a:endParaRPr>
            </a:p>
          </p:txBody>
        </p:sp>
        <p:sp>
          <p:nvSpPr>
            <p:cNvPr id="49" name="矩形 48"/>
            <p:cNvSpPr/>
            <p:nvPr/>
          </p:nvSpPr>
          <p:spPr>
            <a:xfrm>
              <a:off x="8826" y="5080"/>
              <a:ext cx="2486"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理财产品实体属性</a:t>
              </a:r>
              <a:endParaRPr lang="zh-CN" altLang="en-US" sz="1000">
                <a:solidFill>
                  <a:schemeClr val="tx1"/>
                </a:solidFill>
                <a:latin typeface="微软雅黑" panose="020B0503020204020204" charset="-122"/>
                <a:ea typeface="微软雅黑" panose="020B0503020204020204" charset="-122"/>
              </a:endParaRPr>
            </a:p>
          </p:txBody>
        </p:sp>
      </p:grpSp>
      <p:grpSp>
        <p:nvGrpSpPr>
          <p:cNvPr id="63" name="组合 62"/>
          <p:cNvGrpSpPr/>
          <p:nvPr/>
        </p:nvGrpSpPr>
        <p:grpSpPr>
          <a:xfrm>
            <a:off x="5825490" y="2891155"/>
            <a:ext cx="1318260" cy="497205"/>
            <a:chOff x="8826" y="5080"/>
            <a:chExt cx="2309" cy="783"/>
          </a:xfrm>
        </p:grpSpPr>
        <p:sp>
          <p:nvSpPr>
            <p:cNvPr id="69" name="文本框 68"/>
            <p:cNvSpPr txBox="1"/>
            <p:nvPr/>
          </p:nvSpPr>
          <p:spPr>
            <a:xfrm>
              <a:off x="8826" y="5367"/>
              <a:ext cx="2309" cy="496"/>
            </a:xfrm>
            <a:prstGeom prst="rect">
              <a:avLst/>
            </a:prstGeom>
            <a:noFill/>
            <a:ln>
              <a:solidFill>
                <a:schemeClr val="bg1">
                  <a:lumMod val="85000"/>
                </a:schemeClr>
              </a:solidFill>
            </a:ln>
          </p:spPr>
          <p:txBody>
            <a:bodyPr wrap="square" rtlCol="0">
              <a:noAutofit/>
            </a:bodyPr>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类型</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电子渠道</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endPar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名称</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手机银行</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APP”</a:t>
              </a:r>
              <a:endParaRPr lang="zh-CN" altLang="en-US" sz="1200">
                <a:latin typeface="微软雅黑" panose="020B0503020204020204" charset="-122"/>
                <a:ea typeface="微软雅黑" panose="020B0503020204020204" charset="-122"/>
              </a:endParaRPr>
            </a:p>
          </p:txBody>
        </p:sp>
        <p:sp>
          <p:nvSpPr>
            <p:cNvPr id="70" name="矩形 69"/>
            <p:cNvSpPr/>
            <p:nvPr/>
          </p:nvSpPr>
          <p:spPr>
            <a:xfrm>
              <a:off x="8826" y="5080"/>
              <a:ext cx="2309"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渠道实体属性</a:t>
              </a:r>
              <a:endParaRPr lang="zh-CN" altLang="en-US" sz="1000">
                <a:solidFill>
                  <a:schemeClr val="tx1"/>
                </a:solidFill>
                <a:latin typeface="微软雅黑" panose="020B0503020204020204" charset="-122"/>
                <a:ea typeface="微软雅黑" panose="020B0503020204020204" charset="-122"/>
              </a:endParaRPr>
            </a:p>
          </p:txBody>
        </p:sp>
      </p:grpSp>
      <p:cxnSp>
        <p:nvCxnSpPr>
          <p:cNvPr id="71" name="曲线连接符 70"/>
          <p:cNvCxnSpPr>
            <a:stCxn id="19" idx="0"/>
            <a:endCxn id="20" idx="0"/>
          </p:cNvCxnSpPr>
          <p:nvPr/>
        </p:nvCxnSpPr>
        <p:spPr>
          <a:xfrm rot="16200000" flipH="1" flipV="1">
            <a:off x="7945120" y="2274570"/>
            <a:ext cx="226060" cy="2226310"/>
          </a:xfrm>
          <a:prstGeom prst="curvedConnector3">
            <a:avLst>
              <a:gd name="adj1" fmla="val -350842"/>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72" name="文本框 71"/>
          <p:cNvSpPr txBox="1"/>
          <p:nvPr/>
        </p:nvSpPr>
        <p:spPr>
          <a:xfrm>
            <a:off x="7305675" y="3483610"/>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使用</a:t>
            </a:r>
            <a:endParaRPr lang="zh-CN" altLang="en-US" sz="1000" b="1">
              <a:solidFill>
                <a:schemeClr val="tx1"/>
              </a:solidFill>
              <a:latin typeface="微软雅黑" panose="020B0503020204020204" charset="-122"/>
              <a:ea typeface="微软雅黑" panose="020B0503020204020204" charset="-122"/>
            </a:endParaRPr>
          </a:p>
        </p:txBody>
      </p:sp>
      <p:sp>
        <p:nvSpPr>
          <p:cNvPr id="73" name="椭圆 72"/>
          <p:cNvSpPr/>
          <p:nvPr/>
        </p:nvSpPr>
        <p:spPr>
          <a:xfrm>
            <a:off x="6271260" y="5380355"/>
            <a:ext cx="721360" cy="721995"/>
          </a:xfrm>
          <a:prstGeom prst="ellipse">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tx1"/>
                </a:solidFill>
                <a:latin typeface="微软雅黑" panose="020B0503020204020204" charset="-122"/>
                <a:ea typeface="微软雅黑" panose="020B0503020204020204" charset="-122"/>
              </a:rPr>
              <a:t>王五</a:t>
            </a:r>
            <a:endParaRPr lang="zh-CN" altLang="en-US" sz="1200" b="1">
              <a:solidFill>
                <a:schemeClr val="tx1"/>
              </a:solidFill>
              <a:latin typeface="微软雅黑" panose="020B0503020204020204" charset="-122"/>
              <a:ea typeface="微软雅黑" panose="020B0503020204020204" charset="-122"/>
            </a:endParaRPr>
          </a:p>
        </p:txBody>
      </p:sp>
      <p:grpSp>
        <p:nvGrpSpPr>
          <p:cNvPr id="74" name="组合 73"/>
          <p:cNvGrpSpPr/>
          <p:nvPr/>
        </p:nvGrpSpPr>
        <p:grpSpPr>
          <a:xfrm>
            <a:off x="6729095" y="5934075"/>
            <a:ext cx="1578865" cy="728980"/>
            <a:chOff x="8826" y="5080"/>
            <a:chExt cx="2309" cy="1148"/>
          </a:xfrm>
        </p:grpSpPr>
        <p:sp>
          <p:nvSpPr>
            <p:cNvPr id="75" name="文本框 74"/>
            <p:cNvSpPr txBox="1"/>
            <p:nvPr/>
          </p:nvSpPr>
          <p:spPr>
            <a:xfrm>
              <a:off x="8826" y="5367"/>
              <a:ext cx="2309" cy="861"/>
            </a:xfrm>
            <a:prstGeom prst="rect">
              <a:avLst/>
            </a:prstGeom>
            <a:noFill/>
            <a:ln>
              <a:solidFill>
                <a:schemeClr val="bg1">
                  <a:lumMod val="85000"/>
                </a:schemeClr>
              </a:solidFill>
            </a:ln>
          </p:spPr>
          <p:txBody>
            <a:bodyPr wrap="square" rtlCol="0">
              <a:noAutofit/>
            </a:bodyPr>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姓名</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王</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五”</a:t>
              </a:r>
              <a:endPar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年龄</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=“50”</a:t>
              </a:r>
              <a:endPar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indent="0">
                <a:buNone/>
              </a:pP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风险承受能力</a:t>
              </a:r>
              <a:r>
                <a:rPr kumimoji="1" lang="en-US" altLang="zh-CN"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=“R2</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稳健</a:t>
              </a:r>
              <a:r>
                <a:rPr kumimoji="1" lang="zh-CN" altLang="en-US" sz="9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型”</a:t>
              </a:r>
              <a:endParaRPr lang="zh-CN" altLang="en-US" sz="1200">
                <a:latin typeface="微软雅黑" panose="020B0503020204020204" charset="-122"/>
                <a:ea typeface="微软雅黑" panose="020B0503020204020204" charset="-122"/>
              </a:endParaRPr>
            </a:p>
          </p:txBody>
        </p:sp>
        <p:sp>
          <p:nvSpPr>
            <p:cNvPr id="76" name="矩形 75"/>
            <p:cNvSpPr/>
            <p:nvPr/>
          </p:nvSpPr>
          <p:spPr>
            <a:xfrm>
              <a:off x="8826" y="5080"/>
              <a:ext cx="2309" cy="287"/>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latin typeface="微软雅黑" panose="020B0503020204020204" charset="-122"/>
                  <a:ea typeface="微软雅黑" panose="020B0503020204020204" charset="-122"/>
                  <a:sym typeface="+mn-ea"/>
                </a:rPr>
                <a:t>客户实体属性</a:t>
              </a:r>
              <a:endParaRPr lang="zh-CN" altLang="en-US" sz="1000">
                <a:solidFill>
                  <a:schemeClr val="tx1"/>
                </a:solidFill>
                <a:latin typeface="微软雅黑" panose="020B0503020204020204" charset="-122"/>
                <a:ea typeface="微软雅黑" panose="020B0503020204020204" charset="-122"/>
              </a:endParaRPr>
            </a:p>
          </p:txBody>
        </p:sp>
      </p:grpSp>
      <p:cxnSp>
        <p:nvCxnSpPr>
          <p:cNvPr id="77" name="曲线连接符 76"/>
          <p:cNvCxnSpPr>
            <a:stCxn id="73" idx="0"/>
            <a:endCxn id="20" idx="3"/>
          </p:cNvCxnSpPr>
          <p:nvPr/>
        </p:nvCxnSpPr>
        <p:spPr>
          <a:xfrm rot="16200000">
            <a:off x="6028690" y="4719955"/>
            <a:ext cx="1263650" cy="57785"/>
          </a:xfrm>
          <a:prstGeom prst="curvedConnector3">
            <a:avLst>
              <a:gd name="adj1" fmla="val 45804"/>
            </a:avLst>
          </a:prstGeom>
          <a:ln>
            <a:solidFill>
              <a:schemeClr val="bg1">
                <a:lumMod val="65000"/>
              </a:schemeClr>
            </a:solidFill>
            <a:tailEnd type="arrow"/>
          </a:ln>
        </p:spPr>
        <p:style>
          <a:lnRef idx="2">
            <a:schemeClr val="accent1"/>
          </a:lnRef>
          <a:fillRef idx="0">
            <a:srgbClr val="FFFFFF"/>
          </a:fillRef>
          <a:effectRef idx="0">
            <a:srgbClr val="FFFFFF"/>
          </a:effectRef>
          <a:fontRef idx="minor">
            <a:schemeClr val="tx1"/>
          </a:fontRef>
        </p:style>
      </p:cxnSp>
      <p:sp>
        <p:nvSpPr>
          <p:cNvPr id="78" name="文本框 77"/>
          <p:cNvSpPr txBox="1"/>
          <p:nvPr/>
        </p:nvSpPr>
        <p:spPr>
          <a:xfrm>
            <a:off x="6307455" y="4698365"/>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使用</a:t>
            </a:r>
            <a:endParaRPr lang="zh-CN" altLang="en-US" sz="1000" b="1">
              <a:solidFill>
                <a:schemeClr val="tx1"/>
              </a:solidFill>
              <a:latin typeface="微软雅黑" panose="020B0503020204020204" charset="-122"/>
              <a:ea typeface="微软雅黑" panose="020B0503020204020204" charset="-122"/>
            </a:endParaRPr>
          </a:p>
        </p:txBody>
      </p:sp>
      <p:sp>
        <p:nvSpPr>
          <p:cNvPr id="79" name="文本框 78"/>
          <p:cNvSpPr txBox="1"/>
          <p:nvPr/>
        </p:nvSpPr>
        <p:spPr>
          <a:xfrm>
            <a:off x="7382510" y="5496560"/>
            <a:ext cx="551815" cy="245110"/>
          </a:xfrm>
          <a:prstGeom prst="rect">
            <a:avLst/>
          </a:prstGeom>
          <a:solidFill>
            <a:schemeClr val="bg1">
              <a:lumMod val="95000"/>
            </a:schemeClr>
          </a:solidFill>
        </p:spPr>
        <p:txBody>
          <a:bodyPr wrap="square" rtlCol="0">
            <a:spAutoFit/>
          </a:bodyPr>
          <a:p>
            <a:pPr algn="ctr"/>
            <a:r>
              <a:rPr lang="zh-CN" altLang="en-US" sz="1000" b="1">
                <a:solidFill>
                  <a:schemeClr val="tx1"/>
                </a:solidFill>
                <a:latin typeface="微软雅黑" panose="020B0503020204020204" charset="-122"/>
                <a:ea typeface="微软雅黑" panose="020B0503020204020204" charset="-122"/>
              </a:rPr>
              <a:t>购买</a:t>
            </a:r>
            <a:endParaRPr lang="zh-CN" altLang="en-US" sz="1000" b="1">
              <a:solidFill>
                <a:schemeClr val="tx1"/>
              </a:solidFill>
              <a:latin typeface="微软雅黑" panose="020B0503020204020204" charset="-122"/>
              <a:ea typeface="微软雅黑" panose="020B0503020204020204" charset="-122"/>
            </a:endParaRPr>
          </a:p>
        </p:txBody>
      </p:sp>
      <p:sp>
        <p:nvSpPr>
          <p:cNvPr id="5" name="等腰三角形 4"/>
          <p:cNvSpPr/>
          <p:nvPr/>
        </p:nvSpPr>
        <p:spPr>
          <a:xfrm rot="5400000">
            <a:off x="3898900" y="4284980"/>
            <a:ext cx="3310255" cy="351790"/>
          </a:xfrm>
          <a:prstGeom prst="triangle">
            <a:avLst/>
          </a:prstGeom>
        </p:spPr>
        <p:style>
          <a:lnRef idx="0">
            <a:srgbClr val="FFFFFF"/>
          </a:lnRef>
          <a:fillRef idx="2">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5323205" y="3463290"/>
            <a:ext cx="340360" cy="2091690"/>
          </a:xfrm>
          <a:prstGeom prst="rect">
            <a:avLst/>
          </a:prstGeom>
          <a:noFill/>
        </p:spPr>
        <p:txBody>
          <a:bodyPr wrap="square" rtlCol="0">
            <a:spAutoFit/>
          </a:bodyPr>
          <a:p>
            <a:r>
              <a:rPr lang="zh-CN" altLang="en-US" sz="1000" noProof="0">
                <a:ln>
                  <a:noFill/>
                </a:ln>
                <a:solidFill>
                  <a:schemeClr val="tx1"/>
                </a:solidFill>
                <a:effectLst/>
                <a:uLnTx/>
                <a:uFillTx/>
                <a:latin typeface="微软雅黑" panose="020B0503020204020204" charset="-122"/>
                <a:ea typeface="微软雅黑" panose="020B0503020204020204" charset="-122"/>
                <a:sym typeface="+mn-ea"/>
              </a:rPr>
              <a:t>符合本体规则的具体实例对象</a:t>
            </a:r>
            <a:endParaRPr lang="zh-CN" altLang="en-US" sz="1000" noProof="0">
              <a:ln>
                <a:noFill/>
              </a:ln>
              <a:solidFill>
                <a:schemeClr val="tx1"/>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矩形: 圆角 101"/>
          <p:cNvSpPr/>
          <p:nvPr/>
        </p:nvSpPr>
        <p:spPr>
          <a:xfrm>
            <a:off x="6154022" y="2330477"/>
            <a:ext cx="5674023" cy="4133822"/>
          </a:xfrm>
          <a:prstGeom prst="roundRect">
            <a:avLst>
              <a:gd name="adj" fmla="val 11343"/>
            </a:avLst>
          </a:prstGeom>
          <a:ln w="12700">
            <a:solidFill>
              <a:schemeClr val="bg1">
                <a:lumMod val="75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defTabSz="914400"/>
            <a:endParaRPr lang="zh-CN" altLang="en-US" sz="1600" b="1" dirty="0">
              <a:solidFill>
                <a:prstClr val="black"/>
              </a:solidFill>
              <a:latin typeface="微软雅黑" panose="020B0503020204020204" charset="-122"/>
              <a:ea typeface="微软雅黑" panose="020B0503020204020204" charset="-122"/>
            </a:endParaRPr>
          </a:p>
        </p:txBody>
      </p:sp>
      <p:sp>
        <p:nvSpPr>
          <p:cNvPr id="2" name="Title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看大势：全面步入人工智能阶段知识工程面临的新形势——国家政策及监管要求</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矩形 31"/>
          <p:cNvSpPr/>
          <p:nvPr/>
        </p:nvSpPr>
        <p:spPr>
          <a:xfrm>
            <a:off x="522960" y="1142621"/>
            <a:ext cx="5515015" cy="9799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微软雅黑" panose="020B0503020204020204" charset="-122"/>
              <a:ea typeface="微软雅黑" panose="020B0503020204020204" charset="-122"/>
            </a:endParaRPr>
          </a:p>
        </p:txBody>
      </p:sp>
      <p:sp>
        <p:nvSpPr>
          <p:cNvPr id="5" name="矩形 9"/>
          <p:cNvSpPr/>
          <p:nvPr/>
        </p:nvSpPr>
        <p:spPr bwMode="gray">
          <a:xfrm>
            <a:off x="363954" y="1053204"/>
            <a:ext cx="5515015" cy="977052"/>
          </a:xfrm>
          <a:prstGeom prst="rect">
            <a:avLst/>
          </a:prstGeom>
          <a:solidFill>
            <a:schemeClr val="accent1">
              <a:lumMod val="20000"/>
              <a:lumOff val="80000"/>
              <a:alpha val="78000"/>
            </a:schemeClr>
          </a:solidFill>
          <a:ln w="19050" algn="ctr">
            <a:noFill/>
            <a:miter lim="800000"/>
          </a:ln>
        </p:spPr>
        <p:txBody>
          <a:bodyPr wrap="square" lIns="88888" tIns="88888" rIns="88888" bIns="88888" rtlCol="0" anchor="ctr"/>
          <a:lstStyle/>
          <a:p>
            <a:pPr algn="ctr" defTabSz="914400">
              <a:lnSpc>
                <a:spcPct val="106000"/>
              </a:lnSpc>
              <a:defRPr/>
            </a:pPr>
            <a:endParaRPr lang="zh-CN" altLang="en-US" sz="1600" b="1" kern="0" dirty="0">
              <a:solidFill>
                <a:prstClr val="white"/>
              </a:solidFill>
              <a:latin typeface="微软雅黑" panose="020B0503020204020204" charset="-122"/>
              <a:ea typeface="微软雅黑" panose="020B0503020204020204" charset="-122"/>
            </a:endParaRPr>
          </a:p>
        </p:txBody>
      </p:sp>
      <p:sp>
        <p:nvSpPr>
          <p:cNvPr id="6" name="Rectangle 91"/>
          <p:cNvSpPr/>
          <p:nvPr/>
        </p:nvSpPr>
        <p:spPr>
          <a:xfrm>
            <a:off x="730627" y="1570150"/>
            <a:ext cx="4940674" cy="307777"/>
          </a:xfrm>
          <a:prstGeom prst="rect">
            <a:avLst/>
          </a:prstGeom>
        </p:spPr>
        <p:txBody>
          <a:bodyPr wrap="square">
            <a:spAutoFit/>
          </a:bodyPr>
          <a:lstStyle/>
          <a:p>
            <a:pPr algn="ctr">
              <a:spcAft>
                <a:spcPts val="300"/>
              </a:spcAft>
            </a:pPr>
            <a:r>
              <a:rPr lang="zh-CN" altLang="en-US" sz="1400" b="1" i="1" u="sng" dirty="0">
                <a:solidFill>
                  <a:schemeClr val="accent1">
                    <a:lumMod val="75000"/>
                  </a:schemeClr>
                </a:solidFill>
                <a:latin typeface="微软雅黑" panose="020B0503020204020204" charset="-122"/>
                <a:ea typeface="微软雅黑" panose="020B0503020204020204" charset="-122"/>
              </a:rPr>
              <a:t>高度重视人工智能基础支撑建设</a:t>
            </a:r>
            <a:endParaRPr lang="zh-CN" altLang="en-US" sz="1400" b="1" i="1" u="sng" dirty="0">
              <a:solidFill>
                <a:schemeClr val="accent1">
                  <a:lumMod val="75000"/>
                </a:schemeClr>
              </a:solidFill>
              <a:latin typeface="微软雅黑" panose="020B0503020204020204" charset="-122"/>
              <a:ea typeface="微软雅黑" panose="020B0503020204020204" charset="-122"/>
            </a:endParaRPr>
          </a:p>
        </p:txBody>
      </p:sp>
      <p:sp>
        <p:nvSpPr>
          <p:cNvPr id="7" name="TextBox 98"/>
          <p:cNvSpPr txBox="1"/>
          <p:nvPr/>
        </p:nvSpPr>
        <p:spPr>
          <a:xfrm>
            <a:off x="2493697" y="1238799"/>
            <a:ext cx="1414535" cy="276999"/>
          </a:xfrm>
          <a:prstGeom prst="rect">
            <a:avLst/>
          </a:prstGeom>
          <a:noFill/>
        </p:spPr>
        <p:txBody>
          <a:bodyPr wrap="square" lIns="0" tIns="0" rIns="0" bIns="0" rtlCol="0">
            <a:spAutoFit/>
          </a:bodyPr>
          <a:lstStyle/>
          <a:p>
            <a:pPr lvl="0" algn="ctr">
              <a:defRPr/>
            </a:pPr>
            <a:r>
              <a:rPr lang="zh-CN" altLang="en-US" b="1" dirty="0">
                <a:latin typeface="微软雅黑" panose="020B0503020204020204" charset="-122"/>
                <a:ea typeface="微软雅黑" panose="020B0503020204020204" charset="-122"/>
                <a:cs typeface="+mn-ea"/>
                <a:sym typeface="+mn-lt"/>
              </a:rPr>
              <a:t>国家层面</a:t>
            </a:r>
            <a:endParaRPr lang="zh-CN" altLang="en-US" b="1" dirty="0">
              <a:latin typeface="微软雅黑" panose="020B0503020204020204" charset="-122"/>
              <a:ea typeface="微软雅黑" panose="020B0503020204020204" charset="-122"/>
              <a:cs typeface="+mn-ea"/>
              <a:sym typeface="+mn-lt"/>
            </a:endParaRPr>
          </a:p>
        </p:txBody>
      </p:sp>
      <p:sp>
        <p:nvSpPr>
          <p:cNvPr id="8" name="Shape 728"/>
          <p:cNvSpPr/>
          <p:nvPr/>
        </p:nvSpPr>
        <p:spPr>
          <a:xfrm>
            <a:off x="993547" y="1260297"/>
            <a:ext cx="477109" cy="507057"/>
          </a:xfrm>
          <a:custGeom>
            <a:avLst/>
            <a:gdLst/>
            <a:ahLst/>
            <a:cxnLst>
              <a:cxn ang="0">
                <a:pos x="wd2" y="hd2"/>
              </a:cxn>
              <a:cxn ang="5400000">
                <a:pos x="wd2" y="hd2"/>
              </a:cxn>
              <a:cxn ang="10800000">
                <a:pos x="wd2" y="hd2"/>
              </a:cxn>
              <a:cxn ang="16200000">
                <a:pos x="wd2" y="hd2"/>
              </a:cxn>
            </a:cxnLst>
            <a:rect l="0" t="0" r="r" b="b"/>
            <a:pathLst>
              <a:path w="21600" h="21517" extrusionOk="0">
                <a:moveTo>
                  <a:pt x="1716" y="15951"/>
                </a:moveTo>
                <a:cubicBezTo>
                  <a:pt x="2807" y="15868"/>
                  <a:pt x="3821" y="15785"/>
                  <a:pt x="4913" y="15702"/>
                </a:cubicBezTo>
                <a:cubicBezTo>
                  <a:pt x="4289" y="15702"/>
                  <a:pt x="3587" y="15619"/>
                  <a:pt x="2963" y="15535"/>
                </a:cubicBezTo>
                <a:cubicBezTo>
                  <a:pt x="2417" y="15452"/>
                  <a:pt x="1949" y="15037"/>
                  <a:pt x="1949" y="14455"/>
                </a:cubicBezTo>
                <a:cubicBezTo>
                  <a:pt x="1949" y="13625"/>
                  <a:pt x="1949" y="12794"/>
                  <a:pt x="1949" y="11880"/>
                </a:cubicBezTo>
                <a:cubicBezTo>
                  <a:pt x="1949" y="11299"/>
                  <a:pt x="2417" y="10883"/>
                  <a:pt x="2963" y="10800"/>
                </a:cubicBezTo>
                <a:cubicBezTo>
                  <a:pt x="4991" y="10634"/>
                  <a:pt x="6940" y="10551"/>
                  <a:pt x="8968" y="10634"/>
                </a:cubicBezTo>
                <a:cubicBezTo>
                  <a:pt x="8266" y="11797"/>
                  <a:pt x="7798" y="13292"/>
                  <a:pt x="7798" y="14871"/>
                </a:cubicBezTo>
                <a:cubicBezTo>
                  <a:pt x="7798" y="17031"/>
                  <a:pt x="8656" y="19108"/>
                  <a:pt x="10059" y="20520"/>
                </a:cubicBezTo>
                <a:cubicBezTo>
                  <a:pt x="10137" y="20603"/>
                  <a:pt x="10215" y="20686"/>
                  <a:pt x="10293" y="20769"/>
                </a:cubicBezTo>
                <a:cubicBezTo>
                  <a:pt x="7408" y="21019"/>
                  <a:pt x="4601" y="21019"/>
                  <a:pt x="1716" y="20686"/>
                </a:cubicBezTo>
                <a:cubicBezTo>
                  <a:pt x="1170" y="20603"/>
                  <a:pt x="702" y="20188"/>
                  <a:pt x="702" y="19606"/>
                </a:cubicBezTo>
                <a:cubicBezTo>
                  <a:pt x="702" y="18692"/>
                  <a:pt x="702" y="17862"/>
                  <a:pt x="702" y="17031"/>
                </a:cubicBezTo>
                <a:cubicBezTo>
                  <a:pt x="702" y="16449"/>
                  <a:pt x="1170" y="16034"/>
                  <a:pt x="1716" y="15951"/>
                </a:cubicBezTo>
                <a:close/>
                <a:moveTo>
                  <a:pt x="14816" y="9388"/>
                </a:moveTo>
                <a:cubicBezTo>
                  <a:pt x="15284" y="9305"/>
                  <a:pt x="15674" y="9305"/>
                  <a:pt x="16064" y="9388"/>
                </a:cubicBezTo>
                <a:cubicBezTo>
                  <a:pt x="16064" y="9637"/>
                  <a:pt x="16064" y="9886"/>
                  <a:pt x="16064" y="10052"/>
                </a:cubicBezTo>
                <a:cubicBezTo>
                  <a:pt x="15674" y="10052"/>
                  <a:pt x="15284" y="10052"/>
                  <a:pt x="14894" y="10052"/>
                </a:cubicBezTo>
                <a:cubicBezTo>
                  <a:pt x="14894" y="9886"/>
                  <a:pt x="14894" y="9637"/>
                  <a:pt x="14816" y="9388"/>
                </a:cubicBezTo>
                <a:close/>
                <a:moveTo>
                  <a:pt x="17155" y="13708"/>
                </a:moveTo>
                <a:cubicBezTo>
                  <a:pt x="15674" y="13708"/>
                  <a:pt x="15674" y="13708"/>
                  <a:pt x="15674" y="13708"/>
                </a:cubicBezTo>
                <a:cubicBezTo>
                  <a:pt x="15674" y="13375"/>
                  <a:pt x="15674" y="13375"/>
                  <a:pt x="15674" y="13375"/>
                </a:cubicBezTo>
                <a:cubicBezTo>
                  <a:pt x="15674" y="13126"/>
                  <a:pt x="15674" y="12960"/>
                  <a:pt x="15596" y="12877"/>
                </a:cubicBezTo>
                <a:cubicBezTo>
                  <a:pt x="15596" y="12794"/>
                  <a:pt x="15518" y="12711"/>
                  <a:pt x="15440" y="12711"/>
                </a:cubicBezTo>
                <a:cubicBezTo>
                  <a:pt x="15362" y="12711"/>
                  <a:pt x="15284" y="12794"/>
                  <a:pt x="15206" y="12877"/>
                </a:cubicBezTo>
                <a:cubicBezTo>
                  <a:pt x="15206" y="12960"/>
                  <a:pt x="15128" y="13043"/>
                  <a:pt x="15128" y="13209"/>
                </a:cubicBezTo>
                <a:cubicBezTo>
                  <a:pt x="15128" y="13459"/>
                  <a:pt x="15206" y="13625"/>
                  <a:pt x="15284" y="13708"/>
                </a:cubicBezTo>
                <a:cubicBezTo>
                  <a:pt x="15362" y="13791"/>
                  <a:pt x="15674" y="13957"/>
                  <a:pt x="16064" y="14289"/>
                </a:cubicBezTo>
                <a:cubicBezTo>
                  <a:pt x="16453" y="14539"/>
                  <a:pt x="16687" y="14705"/>
                  <a:pt x="16843" y="14788"/>
                </a:cubicBezTo>
                <a:cubicBezTo>
                  <a:pt x="16999" y="14954"/>
                  <a:pt x="17077" y="15120"/>
                  <a:pt x="17155" y="15369"/>
                </a:cubicBezTo>
                <a:cubicBezTo>
                  <a:pt x="17233" y="15619"/>
                  <a:pt x="17311" y="15868"/>
                  <a:pt x="17311" y="16200"/>
                </a:cubicBezTo>
                <a:cubicBezTo>
                  <a:pt x="17311" y="16782"/>
                  <a:pt x="17155" y="17197"/>
                  <a:pt x="16921" y="17529"/>
                </a:cubicBezTo>
                <a:cubicBezTo>
                  <a:pt x="16687" y="17862"/>
                  <a:pt x="16297" y="18028"/>
                  <a:pt x="15830" y="18111"/>
                </a:cubicBezTo>
                <a:cubicBezTo>
                  <a:pt x="15830" y="18692"/>
                  <a:pt x="15830" y="18692"/>
                  <a:pt x="15830" y="18692"/>
                </a:cubicBezTo>
                <a:cubicBezTo>
                  <a:pt x="15128" y="18692"/>
                  <a:pt x="15128" y="18692"/>
                  <a:pt x="15128" y="18692"/>
                </a:cubicBezTo>
                <a:cubicBezTo>
                  <a:pt x="15128" y="18111"/>
                  <a:pt x="15128" y="18111"/>
                  <a:pt x="15128" y="18111"/>
                </a:cubicBezTo>
                <a:cubicBezTo>
                  <a:pt x="14738" y="18028"/>
                  <a:pt x="14426" y="17862"/>
                  <a:pt x="14114" y="17612"/>
                </a:cubicBezTo>
                <a:cubicBezTo>
                  <a:pt x="13802" y="17363"/>
                  <a:pt x="13646" y="16865"/>
                  <a:pt x="13646" y="16117"/>
                </a:cubicBezTo>
                <a:cubicBezTo>
                  <a:pt x="13646" y="15868"/>
                  <a:pt x="13646" y="15868"/>
                  <a:pt x="13646" y="15868"/>
                </a:cubicBezTo>
                <a:cubicBezTo>
                  <a:pt x="15128" y="15868"/>
                  <a:pt x="15128" y="15868"/>
                  <a:pt x="15128" y="15868"/>
                </a:cubicBezTo>
                <a:cubicBezTo>
                  <a:pt x="15128" y="16200"/>
                  <a:pt x="15128" y="16200"/>
                  <a:pt x="15128" y="16200"/>
                </a:cubicBezTo>
                <a:cubicBezTo>
                  <a:pt x="15128" y="16615"/>
                  <a:pt x="15128" y="16865"/>
                  <a:pt x="15206" y="17031"/>
                </a:cubicBezTo>
                <a:cubicBezTo>
                  <a:pt x="15206" y="17114"/>
                  <a:pt x="15284" y="17114"/>
                  <a:pt x="15362" y="17114"/>
                </a:cubicBezTo>
                <a:cubicBezTo>
                  <a:pt x="15518" y="17114"/>
                  <a:pt x="15596" y="17114"/>
                  <a:pt x="15596" y="17031"/>
                </a:cubicBezTo>
                <a:cubicBezTo>
                  <a:pt x="15674" y="16948"/>
                  <a:pt x="15674" y="16865"/>
                  <a:pt x="15674" y="16699"/>
                </a:cubicBezTo>
                <a:cubicBezTo>
                  <a:pt x="15674" y="16366"/>
                  <a:pt x="15674" y="16117"/>
                  <a:pt x="15596" y="15951"/>
                </a:cubicBezTo>
                <a:cubicBezTo>
                  <a:pt x="15596" y="15868"/>
                  <a:pt x="15440" y="15702"/>
                  <a:pt x="15128" y="15535"/>
                </a:cubicBezTo>
                <a:cubicBezTo>
                  <a:pt x="14738" y="15203"/>
                  <a:pt x="14426" y="14954"/>
                  <a:pt x="14270" y="14871"/>
                </a:cubicBezTo>
                <a:cubicBezTo>
                  <a:pt x="14114" y="14705"/>
                  <a:pt x="13958" y="14539"/>
                  <a:pt x="13802" y="14289"/>
                </a:cubicBezTo>
                <a:cubicBezTo>
                  <a:pt x="13724" y="14040"/>
                  <a:pt x="13646" y="13708"/>
                  <a:pt x="13646" y="13375"/>
                </a:cubicBezTo>
                <a:cubicBezTo>
                  <a:pt x="13646" y="12960"/>
                  <a:pt x="13802" y="12545"/>
                  <a:pt x="14036" y="12295"/>
                </a:cubicBezTo>
                <a:cubicBezTo>
                  <a:pt x="14270" y="12046"/>
                  <a:pt x="14660" y="11880"/>
                  <a:pt x="15128" y="11797"/>
                </a:cubicBezTo>
                <a:cubicBezTo>
                  <a:pt x="15128" y="11299"/>
                  <a:pt x="15128" y="11299"/>
                  <a:pt x="15128" y="11299"/>
                </a:cubicBezTo>
                <a:cubicBezTo>
                  <a:pt x="15830" y="11299"/>
                  <a:pt x="15830" y="11299"/>
                  <a:pt x="15830" y="11299"/>
                </a:cubicBezTo>
                <a:cubicBezTo>
                  <a:pt x="15830" y="11797"/>
                  <a:pt x="15830" y="11797"/>
                  <a:pt x="15830" y="11797"/>
                </a:cubicBezTo>
                <a:cubicBezTo>
                  <a:pt x="16297" y="11880"/>
                  <a:pt x="16609" y="12046"/>
                  <a:pt x="16843" y="12295"/>
                </a:cubicBezTo>
                <a:cubicBezTo>
                  <a:pt x="17077" y="12545"/>
                  <a:pt x="17155" y="12960"/>
                  <a:pt x="17155" y="13375"/>
                </a:cubicBezTo>
                <a:cubicBezTo>
                  <a:pt x="17155" y="13459"/>
                  <a:pt x="17155" y="13542"/>
                  <a:pt x="17155" y="13708"/>
                </a:cubicBezTo>
                <a:close/>
                <a:moveTo>
                  <a:pt x="13802" y="9637"/>
                </a:moveTo>
                <a:cubicBezTo>
                  <a:pt x="13802" y="9637"/>
                  <a:pt x="13802" y="9637"/>
                  <a:pt x="13802" y="9637"/>
                </a:cubicBezTo>
                <a:cubicBezTo>
                  <a:pt x="13724" y="9637"/>
                  <a:pt x="13724" y="9637"/>
                  <a:pt x="13724" y="9637"/>
                </a:cubicBezTo>
                <a:cubicBezTo>
                  <a:pt x="13724" y="9637"/>
                  <a:pt x="13724" y="9637"/>
                  <a:pt x="13724" y="9637"/>
                </a:cubicBezTo>
                <a:cubicBezTo>
                  <a:pt x="13646" y="9637"/>
                  <a:pt x="13646" y="9637"/>
                  <a:pt x="13646" y="9637"/>
                </a:cubicBezTo>
                <a:cubicBezTo>
                  <a:pt x="13646" y="9637"/>
                  <a:pt x="13646" y="9637"/>
                  <a:pt x="13646" y="9637"/>
                </a:cubicBezTo>
                <a:cubicBezTo>
                  <a:pt x="13646" y="9637"/>
                  <a:pt x="13646" y="9637"/>
                  <a:pt x="13646" y="9637"/>
                </a:cubicBezTo>
                <a:cubicBezTo>
                  <a:pt x="13568" y="9720"/>
                  <a:pt x="13568" y="9720"/>
                  <a:pt x="13568" y="9720"/>
                </a:cubicBezTo>
                <a:cubicBezTo>
                  <a:pt x="13568" y="9720"/>
                  <a:pt x="13568" y="9720"/>
                  <a:pt x="13568" y="9720"/>
                </a:cubicBezTo>
                <a:cubicBezTo>
                  <a:pt x="13490" y="9720"/>
                  <a:pt x="13490" y="9720"/>
                  <a:pt x="13490" y="9720"/>
                </a:cubicBezTo>
                <a:cubicBezTo>
                  <a:pt x="13490" y="9720"/>
                  <a:pt x="13490" y="9720"/>
                  <a:pt x="13490" y="9720"/>
                </a:cubicBezTo>
                <a:cubicBezTo>
                  <a:pt x="13490" y="9720"/>
                  <a:pt x="13490" y="9720"/>
                  <a:pt x="13490" y="9720"/>
                </a:cubicBezTo>
                <a:cubicBezTo>
                  <a:pt x="13412" y="9720"/>
                  <a:pt x="13412" y="9720"/>
                  <a:pt x="13412" y="9720"/>
                </a:cubicBezTo>
                <a:cubicBezTo>
                  <a:pt x="13412" y="9720"/>
                  <a:pt x="13412" y="9720"/>
                  <a:pt x="13412" y="9720"/>
                </a:cubicBezTo>
                <a:cubicBezTo>
                  <a:pt x="13412" y="9803"/>
                  <a:pt x="13412" y="9803"/>
                  <a:pt x="13412" y="9803"/>
                </a:cubicBezTo>
                <a:cubicBezTo>
                  <a:pt x="13334" y="9803"/>
                  <a:pt x="13334" y="9803"/>
                  <a:pt x="13334" y="9803"/>
                </a:cubicBezTo>
                <a:cubicBezTo>
                  <a:pt x="13334" y="9803"/>
                  <a:pt x="13334" y="9803"/>
                  <a:pt x="13334" y="9803"/>
                </a:cubicBezTo>
                <a:cubicBezTo>
                  <a:pt x="13256" y="9803"/>
                  <a:pt x="13256" y="9803"/>
                  <a:pt x="13256" y="9803"/>
                </a:cubicBezTo>
                <a:cubicBezTo>
                  <a:pt x="13256" y="9803"/>
                  <a:pt x="13256" y="9803"/>
                  <a:pt x="13256" y="9803"/>
                </a:cubicBezTo>
                <a:cubicBezTo>
                  <a:pt x="13256" y="9803"/>
                  <a:pt x="13256" y="9803"/>
                  <a:pt x="13256" y="9803"/>
                </a:cubicBezTo>
                <a:cubicBezTo>
                  <a:pt x="13178" y="9886"/>
                  <a:pt x="13178" y="9886"/>
                  <a:pt x="13178" y="9886"/>
                </a:cubicBezTo>
                <a:cubicBezTo>
                  <a:pt x="13178" y="9886"/>
                  <a:pt x="13178" y="9886"/>
                  <a:pt x="13178" y="9886"/>
                </a:cubicBezTo>
                <a:cubicBezTo>
                  <a:pt x="13490" y="10385"/>
                  <a:pt x="13490" y="10385"/>
                  <a:pt x="13490" y="10385"/>
                </a:cubicBezTo>
                <a:cubicBezTo>
                  <a:pt x="13490" y="10385"/>
                  <a:pt x="13490" y="10385"/>
                  <a:pt x="13490" y="10385"/>
                </a:cubicBezTo>
                <a:cubicBezTo>
                  <a:pt x="13490" y="10385"/>
                  <a:pt x="13490" y="10385"/>
                  <a:pt x="13490" y="10385"/>
                </a:cubicBezTo>
                <a:cubicBezTo>
                  <a:pt x="13490" y="10385"/>
                  <a:pt x="13490" y="10385"/>
                  <a:pt x="13490" y="10385"/>
                </a:cubicBezTo>
                <a:cubicBezTo>
                  <a:pt x="13568" y="10385"/>
                  <a:pt x="13568" y="10385"/>
                  <a:pt x="13568" y="10385"/>
                </a:cubicBezTo>
                <a:cubicBezTo>
                  <a:pt x="13568" y="10385"/>
                  <a:pt x="13568" y="10385"/>
                  <a:pt x="13568" y="10385"/>
                </a:cubicBezTo>
                <a:cubicBezTo>
                  <a:pt x="13568" y="10385"/>
                  <a:pt x="13568" y="10385"/>
                  <a:pt x="13568" y="10385"/>
                </a:cubicBezTo>
                <a:cubicBezTo>
                  <a:pt x="13646" y="10385"/>
                  <a:pt x="13646" y="10385"/>
                  <a:pt x="13646" y="10385"/>
                </a:cubicBezTo>
                <a:cubicBezTo>
                  <a:pt x="13646" y="10302"/>
                  <a:pt x="13646" y="10302"/>
                  <a:pt x="13646" y="10302"/>
                </a:cubicBezTo>
                <a:cubicBezTo>
                  <a:pt x="13646" y="10302"/>
                  <a:pt x="13646" y="10302"/>
                  <a:pt x="13646" y="10302"/>
                </a:cubicBezTo>
                <a:cubicBezTo>
                  <a:pt x="13724" y="10302"/>
                  <a:pt x="13724" y="10302"/>
                  <a:pt x="13724" y="10302"/>
                </a:cubicBezTo>
                <a:cubicBezTo>
                  <a:pt x="13724" y="10302"/>
                  <a:pt x="13724" y="10302"/>
                  <a:pt x="13724" y="10302"/>
                </a:cubicBezTo>
                <a:cubicBezTo>
                  <a:pt x="13724" y="10302"/>
                  <a:pt x="13724" y="10302"/>
                  <a:pt x="13724" y="10302"/>
                </a:cubicBezTo>
                <a:cubicBezTo>
                  <a:pt x="13802" y="10302"/>
                  <a:pt x="13802" y="10302"/>
                  <a:pt x="13802" y="10302"/>
                </a:cubicBezTo>
                <a:cubicBezTo>
                  <a:pt x="13802" y="10302"/>
                  <a:pt x="13802" y="10302"/>
                  <a:pt x="13802" y="10302"/>
                </a:cubicBezTo>
                <a:cubicBezTo>
                  <a:pt x="13802" y="10302"/>
                  <a:pt x="13802" y="10302"/>
                  <a:pt x="13802" y="10302"/>
                </a:cubicBezTo>
                <a:cubicBezTo>
                  <a:pt x="13880" y="10219"/>
                  <a:pt x="13880" y="10219"/>
                  <a:pt x="13880" y="10219"/>
                </a:cubicBezTo>
                <a:cubicBezTo>
                  <a:pt x="13880" y="10219"/>
                  <a:pt x="13880" y="10219"/>
                  <a:pt x="13880" y="10219"/>
                </a:cubicBezTo>
                <a:cubicBezTo>
                  <a:pt x="13880" y="10219"/>
                  <a:pt x="13880" y="10219"/>
                  <a:pt x="13880" y="10219"/>
                </a:cubicBezTo>
                <a:cubicBezTo>
                  <a:pt x="13958" y="10219"/>
                  <a:pt x="13958" y="10219"/>
                  <a:pt x="13958" y="10219"/>
                </a:cubicBezTo>
                <a:cubicBezTo>
                  <a:pt x="13958" y="10219"/>
                  <a:pt x="13958" y="10219"/>
                  <a:pt x="13958" y="10219"/>
                </a:cubicBezTo>
                <a:cubicBezTo>
                  <a:pt x="13958" y="10219"/>
                  <a:pt x="13958" y="10219"/>
                  <a:pt x="13958" y="10219"/>
                </a:cubicBezTo>
                <a:cubicBezTo>
                  <a:pt x="13802" y="9637"/>
                  <a:pt x="13802" y="9637"/>
                  <a:pt x="13802" y="9637"/>
                </a:cubicBezTo>
                <a:close/>
                <a:moveTo>
                  <a:pt x="12165" y="10551"/>
                </a:moveTo>
                <a:cubicBezTo>
                  <a:pt x="12165" y="10551"/>
                  <a:pt x="12165" y="10551"/>
                  <a:pt x="12165" y="10551"/>
                </a:cubicBezTo>
                <a:cubicBezTo>
                  <a:pt x="12087" y="10551"/>
                  <a:pt x="12087" y="10551"/>
                  <a:pt x="12087" y="10551"/>
                </a:cubicBezTo>
                <a:cubicBezTo>
                  <a:pt x="12087" y="10634"/>
                  <a:pt x="12087" y="10634"/>
                  <a:pt x="12087" y="10634"/>
                </a:cubicBezTo>
                <a:cubicBezTo>
                  <a:pt x="12087" y="10634"/>
                  <a:pt x="12087" y="10634"/>
                  <a:pt x="12087" y="10634"/>
                </a:cubicBezTo>
                <a:cubicBezTo>
                  <a:pt x="12009" y="10634"/>
                  <a:pt x="12009" y="10634"/>
                  <a:pt x="12009" y="10634"/>
                </a:cubicBezTo>
                <a:cubicBezTo>
                  <a:pt x="12009" y="10634"/>
                  <a:pt x="12009" y="10634"/>
                  <a:pt x="12009" y="10634"/>
                </a:cubicBezTo>
                <a:cubicBezTo>
                  <a:pt x="12009" y="10717"/>
                  <a:pt x="12009" y="10717"/>
                  <a:pt x="12009" y="10717"/>
                </a:cubicBezTo>
                <a:cubicBezTo>
                  <a:pt x="11931" y="10717"/>
                  <a:pt x="11931" y="10717"/>
                  <a:pt x="11931" y="10717"/>
                </a:cubicBezTo>
                <a:cubicBezTo>
                  <a:pt x="11931" y="10717"/>
                  <a:pt x="11931" y="10717"/>
                  <a:pt x="11931" y="10717"/>
                </a:cubicBezTo>
                <a:cubicBezTo>
                  <a:pt x="11931" y="10717"/>
                  <a:pt x="11931" y="10717"/>
                  <a:pt x="11931" y="10717"/>
                </a:cubicBezTo>
                <a:cubicBezTo>
                  <a:pt x="11931" y="10800"/>
                  <a:pt x="11931" y="10800"/>
                  <a:pt x="11931" y="10800"/>
                </a:cubicBezTo>
                <a:cubicBezTo>
                  <a:pt x="11853" y="10800"/>
                  <a:pt x="11853" y="10800"/>
                  <a:pt x="11853" y="10800"/>
                </a:cubicBezTo>
                <a:cubicBezTo>
                  <a:pt x="11853" y="10800"/>
                  <a:pt x="11853" y="10800"/>
                  <a:pt x="11853" y="10800"/>
                </a:cubicBezTo>
                <a:cubicBezTo>
                  <a:pt x="11853" y="10883"/>
                  <a:pt x="11853" y="10883"/>
                  <a:pt x="11853" y="10883"/>
                </a:cubicBezTo>
                <a:cubicBezTo>
                  <a:pt x="11775" y="10883"/>
                  <a:pt x="11775" y="10883"/>
                  <a:pt x="11775" y="10883"/>
                </a:cubicBezTo>
                <a:cubicBezTo>
                  <a:pt x="11775" y="10883"/>
                  <a:pt x="11775" y="10883"/>
                  <a:pt x="11775" y="10883"/>
                </a:cubicBezTo>
                <a:cubicBezTo>
                  <a:pt x="11775" y="10883"/>
                  <a:pt x="11775" y="10883"/>
                  <a:pt x="11775" y="10883"/>
                </a:cubicBezTo>
                <a:cubicBezTo>
                  <a:pt x="11775" y="10966"/>
                  <a:pt x="11775" y="10966"/>
                  <a:pt x="11775" y="10966"/>
                </a:cubicBezTo>
                <a:cubicBezTo>
                  <a:pt x="11697" y="10966"/>
                  <a:pt x="11697" y="10966"/>
                  <a:pt x="11697" y="10966"/>
                </a:cubicBezTo>
                <a:cubicBezTo>
                  <a:pt x="11697" y="10966"/>
                  <a:pt x="11697" y="10966"/>
                  <a:pt x="11697" y="10966"/>
                </a:cubicBezTo>
                <a:cubicBezTo>
                  <a:pt x="11697" y="10966"/>
                  <a:pt x="11697" y="10966"/>
                  <a:pt x="11697" y="10966"/>
                </a:cubicBezTo>
                <a:cubicBezTo>
                  <a:pt x="12087" y="11465"/>
                  <a:pt x="12087" y="11465"/>
                  <a:pt x="12087" y="11465"/>
                </a:cubicBezTo>
                <a:cubicBezTo>
                  <a:pt x="12087" y="11465"/>
                  <a:pt x="12087" y="11465"/>
                  <a:pt x="12087" y="11465"/>
                </a:cubicBezTo>
                <a:cubicBezTo>
                  <a:pt x="12165" y="11382"/>
                  <a:pt x="12165" y="11382"/>
                  <a:pt x="12165" y="11382"/>
                </a:cubicBezTo>
                <a:cubicBezTo>
                  <a:pt x="12165" y="11382"/>
                  <a:pt x="12165" y="11382"/>
                  <a:pt x="12165" y="11382"/>
                </a:cubicBezTo>
                <a:cubicBezTo>
                  <a:pt x="12165" y="11382"/>
                  <a:pt x="12165" y="11382"/>
                  <a:pt x="12165" y="11382"/>
                </a:cubicBezTo>
                <a:cubicBezTo>
                  <a:pt x="12165" y="11382"/>
                  <a:pt x="12165" y="11382"/>
                  <a:pt x="12165" y="11382"/>
                </a:cubicBezTo>
                <a:cubicBezTo>
                  <a:pt x="12243" y="11299"/>
                  <a:pt x="12243" y="11299"/>
                  <a:pt x="12243" y="11299"/>
                </a:cubicBezTo>
                <a:cubicBezTo>
                  <a:pt x="12243" y="11299"/>
                  <a:pt x="12243" y="11299"/>
                  <a:pt x="12243" y="11299"/>
                </a:cubicBezTo>
                <a:cubicBezTo>
                  <a:pt x="12243" y="11299"/>
                  <a:pt x="12243" y="11299"/>
                  <a:pt x="12243" y="11299"/>
                </a:cubicBezTo>
                <a:cubicBezTo>
                  <a:pt x="12243" y="11299"/>
                  <a:pt x="12243" y="11299"/>
                  <a:pt x="12243" y="11299"/>
                </a:cubicBezTo>
                <a:cubicBezTo>
                  <a:pt x="12321" y="11215"/>
                  <a:pt x="12321" y="11215"/>
                  <a:pt x="12321" y="11215"/>
                </a:cubicBezTo>
                <a:cubicBezTo>
                  <a:pt x="12321" y="11215"/>
                  <a:pt x="12321" y="11215"/>
                  <a:pt x="12321" y="11215"/>
                </a:cubicBezTo>
                <a:cubicBezTo>
                  <a:pt x="12321" y="11215"/>
                  <a:pt x="12321" y="11215"/>
                  <a:pt x="12321" y="11215"/>
                </a:cubicBezTo>
                <a:cubicBezTo>
                  <a:pt x="12321" y="11215"/>
                  <a:pt x="12321" y="11215"/>
                  <a:pt x="12321" y="11215"/>
                </a:cubicBezTo>
                <a:cubicBezTo>
                  <a:pt x="12399" y="11132"/>
                  <a:pt x="12399" y="11132"/>
                  <a:pt x="12399" y="11132"/>
                </a:cubicBezTo>
                <a:cubicBezTo>
                  <a:pt x="12399" y="11132"/>
                  <a:pt x="12399" y="11132"/>
                  <a:pt x="12399" y="11132"/>
                </a:cubicBezTo>
                <a:cubicBezTo>
                  <a:pt x="12399" y="11132"/>
                  <a:pt x="12399" y="11132"/>
                  <a:pt x="12399" y="11132"/>
                </a:cubicBezTo>
                <a:cubicBezTo>
                  <a:pt x="12399" y="11132"/>
                  <a:pt x="12399" y="11132"/>
                  <a:pt x="12399" y="11132"/>
                </a:cubicBezTo>
                <a:cubicBezTo>
                  <a:pt x="12477" y="11132"/>
                  <a:pt x="12477" y="11132"/>
                  <a:pt x="12477" y="11132"/>
                </a:cubicBezTo>
                <a:cubicBezTo>
                  <a:pt x="12477" y="11049"/>
                  <a:pt x="12477" y="11049"/>
                  <a:pt x="12477" y="11049"/>
                </a:cubicBezTo>
                <a:cubicBezTo>
                  <a:pt x="12477" y="11049"/>
                  <a:pt x="12477" y="11049"/>
                  <a:pt x="12477" y="11049"/>
                </a:cubicBezTo>
                <a:cubicBezTo>
                  <a:pt x="12477" y="11049"/>
                  <a:pt x="12477" y="11049"/>
                  <a:pt x="12477" y="11049"/>
                </a:cubicBezTo>
                <a:cubicBezTo>
                  <a:pt x="12165" y="10551"/>
                  <a:pt x="12165" y="10551"/>
                  <a:pt x="12165" y="10551"/>
                </a:cubicBezTo>
                <a:close/>
                <a:moveTo>
                  <a:pt x="10917" y="12046"/>
                </a:moveTo>
                <a:cubicBezTo>
                  <a:pt x="10917" y="12046"/>
                  <a:pt x="10917" y="12046"/>
                  <a:pt x="10917" y="12046"/>
                </a:cubicBezTo>
                <a:cubicBezTo>
                  <a:pt x="10917" y="12129"/>
                  <a:pt x="10917" y="12129"/>
                  <a:pt x="10917" y="12129"/>
                </a:cubicBezTo>
                <a:cubicBezTo>
                  <a:pt x="10839" y="12129"/>
                  <a:pt x="10839" y="12129"/>
                  <a:pt x="10839" y="12129"/>
                </a:cubicBezTo>
                <a:cubicBezTo>
                  <a:pt x="10839" y="12129"/>
                  <a:pt x="10839" y="12129"/>
                  <a:pt x="10839" y="12129"/>
                </a:cubicBezTo>
                <a:cubicBezTo>
                  <a:pt x="10839" y="12212"/>
                  <a:pt x="10839" y="12212"/>
                  <a:pt x="10839" y="12212"/>
                </a:cubicBezTo>
                <a:cubicBezTo>
                  <a:pt x="10839" y="12212"/>
                  <a:pt x="10839" y="12212"/>
                  <a:pt x="10839" y="12212"/>
                </a:cubicBezTo>
                <a:cubicBezTo>
                  <a:pt x="10839" y="12212"/>
                  <a:pt x="10839" y="12212"/>
                  <a:pt x="10839" y="12212"/>
                </a:cubicBezTo>
                <a:cubicBezTo>
                  <a:pt x="10839" y="12295"/>
                  <a:pt x="10839" y="12295"/>
                  <a:pt x="10839" y="12295"/>
                </a:cubicBezTo>
                <a:cubicBezTo>
                  <a:pt x="10761" y="12295"/>
                  <a:pt x="10761" y="12295"/>
                  <a:pt x="10761" y="12295"/>
                </a:cubicBezTo>
                <a:cubicBezTo>
                  <a:pt x="10761" y="12379"/>
                  <a:pt x="10761" y="12379"/>
                  <a:pt x="10761" y="12379"/>
                </a:cubicBezTo>
                <a:cubicBezTo>
                  <a:pt x="10761" y="12379"/>
                  <a:pt x="10761" y="12379"/>
                  <a:pt x="10761" y="12379"/>
                </a:cubicBezTo>
                <a:cubicBezTo>
                  <a:pt x="10761" y="12379"/>
                  <a:pt x="10761" y="12379"/>
                  <a:pt x="10761" y="12379"/>
                </a:cubicBezTo>
                <a:cubicBezTo>
                  <a:pt x="10761" y="12462"/>
                  <a:pt x="10761" y="12462"/>
                  <a:pt x="10761" y="12462"/>
                </a:cubicBezTo>
                <a:cubicBezTo>
                  <a:pt x="10683" y="12462"/>
                  <a:pt x="10683" y="12462"/>
                  <a:pt x="10683" y="12462"/>
                </a:cubicBezTo>
                <a:cubicBezTo>
                  <a:pt x="10683" y="12462"/>
                  <a:pt x="10683" y="12462"/>
                  <a:pt x="10683" y="12462"/>
                </a:cubicBezTo>
                <a:cubicBezTo>
                  <a:pt x="10683" y="12545"/>
                  <a:pt x="10683" y="12545"/>
                  <a:pt x="10683" y="12545"/>
                </a:cubicBezTo>
                <a:cubicBezTo>
                  <a:pt x="10683" y="12545"/>
                  <a:pt x="10683" y="12545"/>
                  <a:pt x="10683" y="12545"/>
                </a:cubicBezTo>
                <a:cubicBezTo>
                  <a:pt x="10683" y="12545"/>
                  <a:pt x="10683" y="12545"/>
                  <a:pt x="10683" y="12545"/>
                </a:cubicBezTo>
                <a:cubicBezTo>
                  <a:pt x="10683" y="12628"/>
                  <a:pt x="10683" y="12628"/>
                  <a:pt x="10683" y="12628"/>
                </a:cubicBezTo>
                <a:cubicBezTo>
                  <a:pt x="10605" y="12628"/>
                  <a:pt x="10605" y="12628"/>
                  <a:pt x="10605" y="12628"/>
                </a:cubicBezTo>
                <a:cubicBezTo>
                  <a:pt x="10605" y="12628"/>
                  <a:pt x="10605" y="12628"/>
                  <a:pt x="10605" y="12628"/>
                </a:cubicBezTo>
                <a:cubicBezTo>
                  <a:pt x="11151" y="12877"/>
                  <a:pt x="11151" y="12877"/>
                  <a:pt x="11151" y="12877"/>
                </a:cubicBezTo>
                <a:cubicBezTo>
                  <a:pt x="11151" y="12877"/>
                  <a:pt x="11151" y="12877"/>
                  <a:pt x="11151" y="12877"/>
                </a:cubicBezTo>
                <a:cubicBezTo>
                  <a:pt x="11229" y="12877"/>
                  <a:pt x="11229" y="12877"/>
                  <a:pt x="11229" y="12877"/>
                </a:cubicBezTo>
                <a:cubicBezTo>
                  <a:pt x="11229" y="12877"/>
                  <a:pt x="11229" y="12877"/>
                  <a:pt x="11229" y="12877"/>
                </a:cubicBezTo>
                <a:cubicBezTo>
                  <a:pt x="11229" y="12794"/>
                  <a:pt x="11229" y="12794"/>
                  <a:pt x="11229" y="12794"/>
                </a:cubicBezTo>
                <a:cubicBezTo>
                  <a:pt x="11229" y="12794"/>
                  <a:pt x="11229" y="12794"/>
                  <a:pt x="11229" y="12794"/>
                </a:cubicBezTo>
                <a:cubicBezTo>
                  <a:pt x="11229" y="12794"/>
                  <a:pt x="11229" y="12794"/>
                  <a:pt x="11229" y="12794"/>
                </a:cubicBezTo>
                <a:cubicBezTo>
                  <a:pt x="11229" y="12711"/>
                  <a:pt x="11229" y="12711"/>
                  <a:pt x="11229" y="12711"/>
                </a:cubicBezTo>
                <a:cubicBezTo>
                  <a:pt x="11229" y="12711"/>
                  <a:pt x="11229" y="12711"/>
                  <a:pt x="11229" y="12711"/>
                </a:cubicBezTo>
                <a:cubicBezTo>
                  <a:pt x="11307" y="12711"/>
                  <a:pt x="11307" y="12711"/>
                  <a:pt x="11307" y="12711"/>
                </a:cubicBezTo>
                <a:cubicBezTo>
                  <a:pt x="11307" y="12628"/>
                  <a:pt x="11307" y="12628"/>
                  <a:pt x="11307" y="12628"/>
                </a:cubicBezTo>
                <a:cubicBezTo>
                  <a:pt x="11307" y="12628"/>
                  <a:pt x="11307" y="12628"/>
                  <a:pt x="11307" y="12628"/>
                </a:cubicBezTo>
                <a:cubicBezTo>
                  <a:pt x="11307" y="12628"/>
                  <a:pt x="11307" y="12628"/>
                  <a:pt x="11307" y="12628"/>
                </a:cubicBezTo>
                <a:cubicBezTo>
                  <a:pt x="11307" y="12545"/>
                  <a:pt x="11307" y="12545"/>
                  <a:pt x="11307" y="12545"/>
                </a:cubicBezTo>
                <a:cubicBezTo>
                  <a:pt x="11307" y="12545"/>
                  <a:pt x="11307" y="12545"/>
                  <a:pt x="11307" y="12545"/>
                </a:cubicBezTo>
                <a:cubicBezTo>
                  <a:pt x="11385" y="12545"/>
                  <a:pt x="11385" y="12545"/>
                  <a:pt x="11385" y="12545"/>
                </a:cubicBezTo>
                <a:cubicBezTo>
                  <a:pt x="11385" y="12462"/>
                  <a:pt x="11385" y="12462"/>
                  <a:pt x="11385" y="12462"/>
                </a:cubicBezTo>
                <a:cubicBezTo>
                  <a:pt x="11385" y="12462"/>
                  <a:pt x="11385" y="12462"/>
                  <a:pt x="11385" y="12462"/>
                </a:cubicBezTo>
                <a:cubicBezTo>
                  <a:pt x="11385" y="12462"/>
                  <a:pt x="11385" y="12462"/>
                  <a:pt x="11385" y="12462"/>
                </a:cubicBezTo>
                <a:cubicBezTo>
                  <a:pt x="11385" y="12462"/>
                  <a:pt x="11385" y="12462"/>
                  <a:pt x="11385" y="12462"/>
                </a:cubicBezTo>
                <a:cubicBezTo>
                  <a:pt x="11385" y="12379"/>
                  <a:pt x="11385" y="12379"/>
                  <a:pt x="11385" y="12379"/>
                </a:cubicBezTo>
                <a:cubicBezTo>
                  <a:pt x="11463" y="12379"/>
                  <a:pt x="11463" y="12379"/>
                  <a:pt x="11463" y="12379"/>
                </a:cubicBezTo>
                <a:cubicBezTo>
                  <a:pt x="10917" y="12046"/>
                  <a:pt x="10917" y="12046"/>
                  <a:pt x="10917" y="12046"/>
                </a:cubicBezTo>
                <a:close/>
                <a:moveTo>
                  <a:pt x="10293" y="13957"/>
                </a:moveTo>
                <a:cubicBezTo>
                  <a:pt x="10293" y="13957"/>
                  <a:pt x="10293" y="13957"/>
                  <a:pt x="10293" y="13957"/>
                </a:cubicBezTo>
                <a:cubicBezTo>
                  <a:pt x="10293" y="14040"/>
                  <a:pt x="10293" y="14040"/>
                  <a:pt x="10293" y="14040"/>
                </a:cubicBezTo>
                <a:cubicBezTo>
                  <a:pt x="10293" y="14040"/>
                  <a:pt x="10293" y="14040"/>
                  <a:pt x="10293" y="14040"/>
                </a:cubicBezTo>
                <a:cubicBezTo>
                  <a:pt x="10293" y="14040"/>
                  <a:pt x="10293" y="14040"/>
                  <a:pt x="10293" y="14040"/>
                </a:cubicBezTo>
                <a:cubicBezTo>
                  <a:pt x="10215" y="14123"/>
                  <a:pt x="10215" y="14123"/>
                  <a:pt x="10215" y="14123"/>
                </a:cubicBezTo>
                <a:cubicBezTo>
                  <a:pt x="10215" y="14123"/>
                  <a:pt x="10215" y="14123"/>
                  <a:pt x="10215" y="14123"/>
                </a:cubicBezTo>
                <a:cubicBezTo>
                  <a:pt x="10215" y="14206"/>
                  <a:pt x="10215" y="14206"/>
                  <a:pt x="10215" y="14206"/>
                </a:cubicBezTo>
                <a:cubicBezTo>
                  <a:pt x="10215" y="14206"/>
                  <a:pt x="10215" y="14206"/>
                  <a:pt x="10215" y="14206"/>
                </a:cubicBezTo>
                <a:cubicBezTo>
                  <a:pt x="10215" y="14206"/>
                  <a:pt x="10215" y="14206"/>
                  <a:pt x="10215" y="14206"/>
                </a:cubicBezTo>
                <a:cubicBezTo>
                  <a:pt x="10215" y="14289"/>
                  <a:pt x="10215" y="14289"/>
                  <a:pt x="10215" y="14289"/>
                </a:cubicBezTo>
                <a:cubicBezTo>
                  <a:pt x="10215" y="14289"/>
                  <a:pt x="10215" y="14289"/>
                  <a:pt x="10215" y="14289"/>
                </a:cubicBezTo>
                <a:cubicBezTo>
                  <a:pt x="10215" y="14372"/>
                  <a:pt x="10215" y="14372"/>
                  <a:pt x="10215" y="14372"/>
                </a:cubicBezTo>
                <a:cubicBezTo>
                  <a:pt x="10215" y="14372"/>
                  <a:pt x="10215" y="14372"/>
                  <a:pt x="10215" y="14372"/>
                </a:cubicBezTo>
                <a:cubicBezTo>
                  <a:pt x="10215" y="14455"/>
                  <a:pt x="10215" y="14455"/>
                  <a:pt x="10215" y="14455"/>
                </a:cubicBezTo>
                <a:cubicBezTo>
                  <a:pt x="10215" y="14455"/>
                  <a:pt x="10215" y="14455"/>
                  <a:pt x="10215" y="14455"/>
                </a:cubicBezTo>
                <a:cubicBezTo>
                  <a:pt x="10215" y="14455"/>
                  <a:pt x="10215" y="14455"/>
                  <a:pt x="10215" y="14455"/>
                </a:cubicBezTo>
                <a:cubicBezTo>
                  <a:pt x="10215" y="14539"/>
                  <a:pt x="10215" y="14539"/>
                  <a:pt x="10215" y="14539"/>
                </a:cubicBezTo>
                <a:cubicBezTo>
                  <a:pt x="10215" y="14539"/>
                  <a:pt x="10215" y="14539"/>
                  <a:pt x="10215" y="14539"/>
                </a:cubicBezTo>
                <a:cubicBezTo>
                  <a:pt x="10215" y="14622"/>
                  <a:pt x="10215" y="14622"/>
                  <a:pt x="10215" y="14622"/>
                </a:cubicBezTo>
                <a:cubicBezTo>
                  <a:pt x="10215" y="14622"/>
                  <a:pt x="10215" y="14622"/>
                  <a:pt x="10215" y="14622"/>
                </a:cubicBezTo>
                <a:cubicBezTo>
                  <a:pt x="10839" y="14622"/>
                  <a:pt x="10839" y="14622"/>
                  <a:pt x="10839" y="14622"/>
                </a:cubicBezTo>
                <a:cubicBezTo>
                  <a:pt x="10839" y="14622"/>
                  <a:pt x="10839" y="14622"/>
                  <a:pt x="10839" y="14622"/>
                </a:cubicBezTo>
                <a:cubicBezTo>
                  <a:pt x="10839" y="14622"/>
                  <a:pt x="10839" y="14622"/>
                  <a:pt x="10839" y="14622"/>
                </a:cubicBezTo>
                <a:cubicBezTo>
                  <a:pt x="10839" y="14539"/>
                  <a:pt x="10839" y="14539"/>
                  <a:pt x="10839" y="14539"/>
                </a:cubicBezTo>
                <a:cubicBezTo>
                  <a:pt x="10839" y="14539"/>
                  <a:pt x="10839" y="14539"/>
                  <a:pt x="10839" y="14539"/>
                </a:cubicBezTo>
                <a:cubicBezTo>
                  <a:pt x="10839" y="14455"/>
                  <a:pt x="10839" y="14455"/>
                  <a:pt x="10839" y="14455"/>
                </a:cubicBezTo>
                <a:cubicBezTo>
                  <a:pt x="10839" y="14455"/>
                  <a:pt x="10839" y="14455"/>
                  <a:pt x="10839" y="14455"/>
                </a:cubicBezTo>
                <a:cubicBezTo>
                  <a:pt x="10839" y="14455"/>
                  <a:pt x="10839" y="14455"/>
                  <a:pt x="10839" y="14455"/>
                </a:cubicBezTo>
                <a:cubicBezTo>
                  <a:pt x="10839" y="14372"/>
                  <a:pt x="10839" y="14372"/>
                  <a:pt x="10839" y="14372"/>
                </a:cubicBezTo>
                <a:cubicBezTo>
                  <a:pt x="10839" y="14372"/>
                  <a:pt x="10839" y="14372"/>
                  <a:pt x="10839" y="14372"/>
                </a:cubicBezTo>
                <a:cubicBezTo>
                  <a:pt x="10839" y="14372"/>
                  <a:pt x="10839" y="14372"/>
                  <a:pt x="10839" y="14372"/>
                </a:cubicBezTo>
                <a:cubicBezTo>
                  <a:pt x="10839" y="14289"/>
                  <a:pt x="10839" y="14289"/>
                  <a:pt x="10839" y="14289"/>
                </a:cubicBezTo>
                <a:cubicBezTo>
                  <a:pt x="10839" y="14289"/>
                  <a:pt x="10839" y="14289"/>
                  <a:pt x="10839" y="14289"/>
                </a:cubicBezTo>
                <a:cubicBezTo>
                  <a:pt x="10839" y="14289"/>
                  <a:pt x="10839" y="14289"/>
                  <a:pt x="10839" y="14289"/>
                </a:cubicBezTo>
                <a:cubicBezTo>
                  <a:pt x="10839" y="14206"/>
                  <a:pt x="10839" y="14206"/>
                  <a:pt x="10839" y="14206"/>
                </a:cubicBezTo>
                <a:cubicBezTo>
                  <a:pt x="10839" y="14206"/>
                  <a:pt x="10839" y="14206"/>
                  <a:pt x="10839" y="14206"/>
                </a:cubicBezTo>
                <a:cubicBezTo>
                  <a:pt x="10839" y="14123"/>
                  <a:pt x="10839" y="14123"/>
                  <a:pt x="10839" y="14123"/>
                </a:cubicBezTo>
                <a:cubicBezTo>
                  <a:pt x="10839" y="14123"/>
                  <a:pt x="10839" y="14123"/>
                  <a:pt x="10839" y="14123"/>
                </a:cubicBezTo>
                <a:cubicBezTo>
                  <a:pt x="10839" y="14123"/>
                  <a:pt x="10839" y="14123"/>
                  <a:pt x="10839" y="14123"/>
                </a:cubicBezTo>
                <a:cubicBezTo>
                  <a:pt x="10839" y="14040"/>
                  <a:pt x="10839" y="14040"/>
                  <a:pt x="10839" y="14040"/>
                </a:cubicBezTo>
                <a:cubicBezTo>
                  <a:pt x="10839" y="14040"/>
                  <a:pt x="10839" y="14040"/>
                  <a:pt x="10839" y="14040"/>
                </a:cubicBezTo>
                <a:cubicBezTo>
                  <a:pt x="10293" y="13957"/>
                  <a:pt x="10293" y="13957"/>
                  <a:pt x="10293" y="13957"/>
                </a:cubicBezTo>
                <a:close/>
                <a:moveTo>
                  <a:pt x="10293" y="15951"/>
                </a:moveTo>
                <a:cubicBezTo>
                  <a:pt x="10293" y="15951"/>
                  <a:pt x="10293" y="15951"/>
                  <a:pt x="10293" y="15951"/>
                </a:cubicBezTo>
                <a:cubicBezTo>
                  <a:pt x="10293" y="15951"/>
                  <a:pt x="10293" y="15951"/>
                  <a:pt x="10293" y="15951"/>
                </a:cubicBezTo>
                <a:cubicBezTo>
                  <a:pt x="10293" y="16034"/>
                  <a:pt x="10293" y="16034"/>
                  <a:pt x="10293" y="16034"/>
                </a:cubicBezTo>
                <a:cubicBezTo>
                  <a:pt x="10293" y="16034"/>
                  <a:pt x="10293" y="16034"/>
                  <a:pt x="10293" y="16034"/>
                </a:cubicBezTo>
                <a:cubicBezTo>
                  <a:pt x="10371" y="16117"/>
                  <a:pt x="10371" y="16117"/>
                  <a:pt x="10371" y="16117"/>
                </a:cubicBezTo>
                <a:cubicBezTo>
                  <a:pt x="10371" y="16117"/>
                  <a:pt x="10371" y="16117"/>
                  <a:pt x="10371" y="16117"/>
                </a:cubicBezTo>
                <a:cubicBezTo>
                  <a:pt x="10371" y="16117"/>
                  <a:pt x="10371" y="16117"/>
                  <a:pt x="10371" y="16117"/>
                </a:cubicBezTo>
                <a:cubicBezTo>
                  <a:pt x="10371" y="16200"/>
                  <a:pt x="10371" y="16200"/>
                  <a:pt x="10371" y="16200"/>
                </a:cubicBezTo>
                <a:cubicBezTo>
                  <a:pt x="10371" y="16200"/>
                  <a:pt x="10371" y="16200"/>
                  <a:pt x="10371" y="16200"/>
                </a:cubicBezTo>
                <a:cubicBezTo>
                  <a:pt x="10371" y="16283"/>
                  <a:pt x="10371" y="16283"/>
                  <a:pt x="10371" y="16283"/>
                </a:cubicBezTo>
                <a:cubicBezTo>
                  <a:pt x="10371" y="16283"/>
                  <a:pt x="10371" y="16283"/>
                  <a:pt x="10371" y="16283"/>
                </a:cubicBezTo>
                <a:cubicBezTo>
                  <a:pt x="10371" y="16283"/>
                  <a:pt x="10371" y="16283"/>
                  <a:pt x="10371" y="16283"/>
                </a:cubicBezTo>
                <a:cubicBezTo>
                  <a:pt x="10371" y="16366"/>
                  <a:pt x="10371" y="16366"/>
                  <a:pt x="10371" y="16366"/>
                </a:cubicBezTo>
                <a:cubicBezTo>
                  <a:pt x="10449" y="16366"/>
                  <a:pt x="10449" y="16366"/>
                  <a:pt x="10449" y="16366"/>
                </a:cubicBezTo>
                <a:cubicBezTo>
                  <a:pt x="10449" y="16366"/>
                  <a:pt x="10449" y="16366"/>
                  <a:pt x="10449" y="16366"/>
                </a:cubicBezTo>
                <a:cubicBezTo>
                  <a:pt x="10449" y="16449"/>
                  <a:pt x="10449" y="16449"/>
                  <a:pt x="10449" y="16449"/>
                </a:cubicBezTo>
                <a:cubicBezTo>
                  <a:pt x="10449" y="16449"/>
                  <a:pt x="10449" y="16449"/>
                  <a:pt x="10449" y="16449"/>
                </a:cubicBezTo>
                <a:cubicBezTo>
                  <a:pt x="10449" y="16532"/>
                  <a:pt x="10449" y="16532"/>
                  <a:pt x="10449" y="16532"/>
                </a:cubicBezTo>
                <a:cubicBezTo>
                  <a:pt x="10449" y="16532"/>
                  <a:pt x="10449" y="16532"/>
                  <a:pt x="10449" y="16532"/>
                </a:cubicBezTo>
                <a:cubicBezTo>
                  <a:pt x="10449" y="16532"/>
                  <a:pt x="10449" y="16532"/>
                  <a:pt x="10449" y="16532"/>
                </a:cubicBezTo>
                <a:cubicBezTo>
                  <a:pt x="10449" y="16615"/>
                  <a:pt x="10449" y="16615"/>
                  <a:pt x="10449" y="16615"/>
                </a:cubicBezTo>
                <a:cubicBezTo>
                  <a:pt x="11073" y="16366"/>
                  <a:pt x="11073" y="16366"/>
                  <a:pt x="11073" y="16366"/>
                </a:cubicBezTo>
                <a:cubicBezTo>
                  <a:pt x="10995" y="16366"/>
                  <a:pt x="10995" y="16366"/>
                  <a:pt x="10995" y="16366"/>
                </a:cubicBezTo>
                <a:cubicBezTo>
                  <a:pt x="10995" y="16366"/>
                  <a:pt x="10995" y="16366"/>
                  <a:pt x="10995" y="16366"/>
                </a:cubicBezTo>
                <a:cubicBezTo>
                  <a:pt x="10995" y="16283"/>
                  <a:pt x="10995" y="16283"/>
                  <a:pt x="10995" y="16283"/>
                </a:cubicBezTo>
                <a:cubicBezTo>
                  <a:pt x="10995" y="16283"/>
                  <a:pt x="10995" y="16283"/>
                  <a:pt x="10995" y="16283"/>
                </a:cubicBezTo>
                <a:cubicBezTo>
                  <a:pt x="10995" y="16283"/>
                  <a:pt x="10995" y="16283"/>
                  <a:pt x="10995" y="16283"/>
                </a:cubicBezTo>
                <a:cubicBezTo>
                  <a:pt x="10995" y="16200"/>
                  <a:pt x="10995" y="16200"/>
                  <a:pt x="10995" y="16200"/>
                </a:cubicBezTo>
                <a:cubicBezTo>
                  <a:pt x="10995" y="16200"/>
                  <a:pt x="10995" y="16200"/>
                  <a:pt x="10995" y="16200"/>
                </a:cubicBezTo>
                <a:cubicBezTo>
                  <a:pt x="10995" y="16200"/>
                  <a:pt x="10995" y="16200"/>
                  <a:pt x="10995" y="16200"/>
                </a:cubicBezTo>
                <a:cubicBezTo>
                  <a:pt x="10995" y="16117"/>
                  <a:pt x="10995" y="16117"/>
                  <a:pt x="10995" y="16117"/>
                </a:cubicBezTo>
                <a:cubicBezTo>
                  <a:pt x="10995" y="16117"/>
                  <a:pt x="10995" y="16117"/>
                  <a:pt x="10995" y="16117"/>
                </a:cubicBezTo>
                <a:cubicBezTo>
                  <a:pt x="10917" y="16117"/>
                  <a:pt x="10917" y="16117"/>
                  <a:pt x="10917" y="16117"/>
                </a:cubicBezTo>
                <a:cubicBezTo>
                  <a:pt x="10917" y="16034"/>
                  <a:pt x="10917" y="16034"/>
                  <a:pt x="10917" y="16034"/>
                </a:cubicBezTo>
                <a:cubicBezTo>
                  <a:pt x="10917" y="16034"/>
                  <a:pt x="10917" y="16034"/>
                  <a:pt x="10917" y="16034"/>
                </a:cubicBezTo>
                <a:cubicBezTo>
                  <a:pt x="10917" y="16034"/>
                  <a:pt x="10917" y="16034"/>
                  <a:pt x="10917" y="16034"/>
                </a:cubicBezTo>
                <a:cubicBezTo>
                  <a:pt x="10917" y="15951"/>
                  <a:pt x="10917" y="15951"/>
                  <a:pt x="10917" y="15951"/>
                </a:cubicBezTo>
                <a:cubicBezTo>
                  <a:pt x="10917" y="15951"/>
                  <a:pt x="10917" y="15951"/>
                  <a:pt x="10917" y="15951"/>
                </a:cubicBezTo>
                <a:cubicBezTo>
                  <a:pt x="10917" y="15868"/>
                  <a:pt x="10917" y="15868"/>
                  <a:pt x="10917" y="15868"/>
                </a:cubicBezTo>
                <a:cubicBezTo>
                  <a:pt x="10917" y="15868"/>
                  <a:pt x="10917" y="15868"/>
                  <a:pt x="10917" y="15868"/>
                </a:cubicBezTo>
                <a:cubicBezTo>
                  <a:pt x="10917" y="15868"/>
                  <a:pt x="10917" y="15868"/>
                  <a:pt x="10917" y="15868"/>
                </a:cubicBezTo>
                <a:cubicBezTo>
                  <a:pt x="10917" y="15785"/>
                  <a:pt x="10917" y="15785"/>
                  <a:pt x="10917" y="15785"/>
                </a:cubicBezTo>
                <a:cubicBezTo>
                  <a:pt x="10917" y="15785"/>
                  <a:pt x="10917" y="15785"/>
                  <a:pt x="10917" y="15785"/>
                </a:cubicBezTo>
                <a:cubicBezTo>
                  <a:pt x="10293" y="15951"/>
                  <a:pt x="10293" y="15951"/>
                  <a:pt x="10293" y="15951"/>
                </a:cubicBezTo>
                <a:close/>
                <a:moveTo>
                  <a:pt x="10995" y="17779"/>
                </a:moveTo>
                <a:cubicBezTo>
                  <a:pt x="10995" y="17779"/>
                  <a:pt x="10995" y="17779"/>
                  <a:pt x="10995" y="17779"/>
                </a:cubicBezTo>
                <a:cubicBezTo>
                  <a:pt x="11073" y="17862"/>
                  <a:pt x="11073" y="17862"/>
                  <a:pt x="11073" y="17862"/>
                </a:cubicBezTo>
                <a:cubicBezTo>
                  <a:pt x="11073" y="17862"/>
                  <a:pt x="11073" y="17862"/>
                  <a:pt x="11073" y="17862"/>
                </a:cubicBezTo>
                <a:cubicBezTo>
                  <a:pt x="11073" y="17862"/>
                  <a:pt x="11073" y="17862"/>
                  <a:pt x="11073" y="17862"/>
                </a:cubicBezTo>
                <a:cubicBezTo>
                  <a:pt x="11073" y="17945"/>
                  <a:pt x="11073" y="17945"/>
                  <a:pt x="11073" y="17945"/>
                </a:cubicBezTo>
                <a:cubicBezTo>
                  <a:pt x="11073" y="17945"/>
                  <a:pt x="11073" y="17945"/>
                  <a:pt x="11073" y="17945"/>
                </a:cubicBezTo>
                <a:cubicBezTo>
                  <a:pt x="11151" y="17945"/>
                  <a:pt x="11151" y="17945"/>
                  <a:pt x="11151" y="17945"/>
                </a:cubicBezTo>
                <a:cubicBezTo>
                  <a:pt x="11151" y="18028"/>
                  <a:pt x="11151" y="18028"/>
                  <a:pt x="11151" y="18028"/>
                </a:cubicBezTo>
                <a:cubicBezTo>
                  <a:pt x="11151" y="18028"/>
                  <a:pt x="11151" y="18028"/>
                  <a:pt x="11151" y="18028"/>
                </a:cubicBezTo>
                <a:cubicBezTo>
                  <a:pt x="11151" y="18028"/>
                  <a:pt x="11151" y="18028"/>
                  <a:pt x="11151" y="18028"/>
                </a:cubicBezTo>
                <a:cubicBezTo>
                  <a:pt x="11229" y="18028"/>
                  <a:pt x="11229" y="18028"/>
                  <a:pt x="11229" y="18028"/>
                </a:cubicBezTo>
                <a:cubicBezTo>
                  <a:pt x="11229" y="18111"/>
                  <a:pt x="11229" y="18111"/>
                  <a:pt x="11229" y="18111"/>
                </a:cubicBezTo>
                <a:cubicBezTo>
                  <a:pt x="11229" y="18111"/>
                  <a:pt x="11229" y="18111"/>
                  <a:pt x="11229" y="18111"/>
                </a:cubicBezTo>
                <a:cubicBezTo>
                  <a:pt x="11229" y="18111"/>
                  <a:pt x="11229" y="18111"/>
                  <a:pt x="11229" y="18111"/>
                </a:cubicBezTo>
                <a:cubicBezTo>
                  <a:pt x="11229" y="18194"/>
                  <a:pt x="11229" y="18194"/>
                  <a:pt x="11229" y="18194"/>
                </a:cubicBezTo>
                <a:cubicBezTo>
                  <a:pt x="11307" y="18194"/>
                  <a:pt x="11307" y="18194"/>
                  <a:pt x="11307" y="18194"/>
                </a:cubicBezTo>
                <a:cubicBezTo>
                  <a:pt x="11307" y="18194"/>
                  <a:pt x="11307" y="18194"/>
                  <a:pt x="11307" y="18194"/>
                </a:cubicBezTo>
                <a:cubicBezTo>
                  <a:pt x="11307" y="18277"/>
                  <a:pt x="11307" y="18277"/>
                  <a:pt x="11307" y="18277"/>
                </a:cubicBezTo>
                <a:cubicBezTo>
                  <a:pt x="11307" y="18277"/>
                  <a:pt x="11307" y="18277"/>
                  <a:pt x="11307" y="18277"/>
                </a:cubicBezTo>
                <a:cubicBezTo>
                  <a:pt x="11385" y="18277"/>
                  <a:pt x="11385" y="18277"/>
                  <a:pt x="11385" y="18277"/>
                </a:cubicBezTo>
                <a:cubicBezTo>
                  <a:pt x="11385" y="18360"/>
                  <a:pt x="11385" y="18360"/>
                  <a:pt x="11385" y="18360"/>
                </a:cubicBezTo>
                <a:cubicBezTo>
                  <a:pt x="11853" y="17945"/>
                  <a:pt x="11853" y="17945"/>
                  <a:pt x="11853" y="17945"/>
                </a:cubicBezTo>
                <a:cubicBezTo>
                  <a:pt x="11853" y="17945"/>
                  <a:pt x="11853" y="17945"/>
                  <a:pt x="11853" y="17945"/>
                </a:cubicBezTo>
                <a:cubicBezTo>
                  <a:pt x="11775" y="17862"/>
                  <a:pt x="11775" y="17862"/>
                  <a:pt x="11775" y="17862"/>
                </a:cubicBezTo>
                <a:cubicBezTo>
                  <a:pt x="11775" y="17862"/>
                  <a:pt x="11775" y="17862"/>
                  <a:pt x="11775" y="17862"/>
                </a:cubicBezTo>
                <a:cubicBezTo>
                  <a:pt x="11775" y="17862"/>
                  <a:pt x="11775" y="17862"/>
                  <a:pt x="11775" y="17862"/>
                </a:cubicBezTo>
                <a:cubicBezTo>
                  <a:pt x="11775" y="17779"/>
                  <a:pt x="11775" y="17779"/>
                  <a:pt x="11775" y="17779"/>
                </a:cubicBezTo>
                <a:cubicBezTo>
                  <a:pt x="11775" y="17779"/>
                  <a:pt x="11775" y="17779"/>
                  <a:pt x="11775" y="17779"/>
                </a:cubicBezTo>
                <a:cubicBezTo>
                  <a:pt x="11697" y="17779"/>
                  <a:pt x="11697" y="17779"/>
                  <a:pt x="11697" y="17779"/>
                </a:cubicBezTo>
                <a:cubicBezTo>
                  <a:pt x="11697" y="17779"/>
                  <a:pt x="11697" y="17779"/>
                  <a:pt x="11697" y="17779"/>
                </a:cubicBezTo>
                <a:cubicBezTo>
                  <a:pt x="11697" y="17695"/>
                  <a:pt x="11697" y="17695"/>
                  <a:pt x="11697" y="17695"/>
                </a:cubicBezTo>
                <a:cubicBezTo>
                  <a:pt x="11697" y="17695"/>
                  <a:pt x="11697" y="17695"/>
                  <a:pt x="11697" y="17695"/>
                </a:cubicBezTo>
                <a:cubicBezTo>
                  <a:pt x="11619" y="17695"/>
                  <a:pt x="11619" y="17695"/>
                  <a:pt x="11619" y="17695"/>
                </a:cubicBezTo>
                <a:cubicBezTo>
                  <a:pt x="11619" y="17612"/>
                  <a:pt x="11619" y="17612"/>
                  <a:pt x="11619" y="17612"/>
                </a:cubicBezTo>
                <a:cubicBezTo>
                  <a:pt x="11619" y="17612"/>
                  <a:pt x="11619" y="17612"/>
                  <a:pt x="11619" y="17612"/>
                </a:cubicBezTo>
                <a:cubicBezTo>
                  <a:pt x="11619" y="17612"/>
                  <a:pt x="11619" y="17612"/>
                  <a:pt x="11619" y="17612"/>
                </a:cubicBezTo>
                <a:cubicBezTo>
                  <a:pt x="11619" y="17612"/>
                  <a:pt x="11619" y="17612"/>
                  <a:pt x="11619" y="17612"/>
                </a:cubicBezTo>
                <a:cubicBezTo>
                  <a:pt x="11541" y="17529"/>
                  <a:pt x="11541" y="17529"/>
                  <a:pt x="11541" y="17529"/>
                </a:cubicBezTo>
                <a:cubicBezTo>
                  <a:pt x="11541" y="17529"/>
                  <a:pt x="11541" y="17529"/>
                  <a:pt x="11541" y="17529"/>
                </a:cubicBezTo>
                <a:cubicBezTo>
                  <a:pt x="11541" y="17529"/>
                  <a:pt x="11541" y="17529"/>
                  <a:pt x="11541" y="17529"/>
                </a:cubicBezTo>
                <a:cubicBezTo>
                  <a:pt x="11541" y="17446"/>
                  <a:pt x="11541" y="17446"/>
                  <a:pt x="11541" y="17446"/>
                </a:cubicBezTo>
                <a:cubicBezTo>
                  <a:pt x="11541" y="17446"/>
                  <a:pt x="11541" y="17446"/>
                  <a:pt x="11541" y="17446"/>
                </a:cubicBezTo>
                <a:cubicBezTo>
                  <a:pt x="11541" y="17446"/>
                  <a:pt x="11541" y="17446"/>
                  <a:pt x="11541" y="17446"/>
                </a:cubicBezTo>
                <a:cubicBezTo>
                  <a:pt x="10995" y="17779"/>
                  <a:pt x="10995" y="17779"/>
                  <a:pt x="10995" y="17779"/>
                </a:cubicBezTo>
                <a:close/>
                <a:moveTo>
                  <a:pt x="12321" y="19274"/>
                </a:moveTo>
                <a:cubicBezTo>
                  <a:pt x="12321" y="19274"/>
                  <a:pt x="12321" y="19274"/>
                  <a:pt x="12321" y="19274"/>
                </a:cubicBezTo>
                <a:cubicBezTo>
                  <a:pt x="12321" y="19274"/>
                  <a:pt x="12321" y="19274"/>
                  <a:pt x="12321" y="19274"/>
                </a:cubicBezTo>
                <a:cubicBezTo>
                  <a:pt x="12321" y="19274"/>
                  <a:pt x="12321" y="19274"/>
                  <a:pt x="12321" y="19274"/>
                </a:cubicBezTo>
                <a:cubicBezTo>
                  <a:pt x="12399" y="19274"/>
                  <a:pt x="12399" y="19274"/>
                  <a:pt x="12399" y="19274"/>
                </a:cubicBezTo>
                <a:cubicBezTo>
                  <a:pt x="12399" y="19357"/>
                  <a:pt x="12399" y="19357"/>
                  <a:pt x="12399" y="19357"/>
                </a:cubicBezTo>
                <a:cubicBezTo>
                  <a:pt x="12399" y="19357"/>
                  <a:pt x="12399" y="19357"/>
                  <a:pt x="12399" y="19357"/>
                </a:cubicBezTo>
                <a:cubicBezTo>
                  <a:pt x="12477" y="19357"/>
                  <a:pt x="12477" y="19357"/>
                  <a:pt x="12477" y="19357"/>
                </a:cubicBezTo>
                <a:cubicBezTo>
                  <a:pt x="12477" y="19357"/>
                  <a:pt x="12477" y="19357"/>
                  <a:pt x="12477" y="19357"/>
                </a:cubicBezTo>
                <a:cubicBezTo>
                  <a:pt x="12477" y="19440"/>
                  <a:pt x="12477" y="19440"/>
                  <a:pt x="12477" y="19440"/>
                </a:cubicBezTo>
                <a:cubicBezTo>
                  <a:pt x="12555" y="19440"/>
                  <a:pt x="12555" y="19440"/>
                  <a:pt x="12555" y="19440"/>
                </a:cubicBezTo>
                <a:cubicBezTo>
                  <a:pt x="12555" y="19440"/>
                  <a:pt x="12555" y="19440"/>
                  <a:pt x="12555" y="19440"/>
                </a:cubicBezTo>
                <a:cubicBezTo>
                  <a:pt x="12555" y="19440"/>
                  <a:pt x="12555" y="19440"/>
                  <a:pt x="12555" y="19440"/>
                </a:cubicBezTo>
                <a:cubicBezTo>
                  <a:pt x="12632" y="19440"/>
                  <a:pt x="12632" y="19440"/>
                  <a:pt x="12632" y="19440"/>
                </a:cubicBezTo>
                <a:cubicBezTo>
                  <a:pt x="12632" y="19523"/>
                  <a:pt x="12632" y="19523"/>
                  <a:pt x="12632" y="19523"/>
                </a:cubicBezTo>
                <a:cubicBezTo>
                  <a:pt x="12632" y="19523"/>
                  <a:pt x="12632" y="19523"/>
                  <a:pt x="12632" y="19523"/>
                </a:cubicBezTo>
                <a:cubicBezTo>
                  <a:pt x="12710" y="19523"/>
                  <a:pt x="12710" y="19523"/>
                  <a:pt x="12710" y="19523"/>
                </a:cubicBezTo>
                <a:cubicBezTo>
                  <a:pt x="12710" y="19523"/>
                  <a:pt x="12710" y="19523"/>
                  <a:pt x="12710" y="19523"/>
                </a:cubicBezTo>
                <a:cubicBezTo>
                  <a:pt x="12710" y="19523"/>
                  <a:pt x="12710" y="19523"/>
                  <a:pt x="12710" y="19523"/>
                </a:cubicBezTo>
                <a:cubicBezTo>
                  <a:pt x="12788" y="19606"/>
                  <a:pt x="12788" y="19606"/>
                  <a:pt x="12788" y="19606"/>
                </a:cubicBezTo>
                <a:cubicBezTo>
                  <a:pt x="12788" y="19606"/>
                  <a:pt x="12788" y="19606"/>
                  <a:pt x="12788" y="19606"/>
                </a:cubicBezTo>
                <a:cubicBezTo>
                  <a:pt x="12788" y="19606"/>
                  <a:pt x="12788" y="19606"/>
                  <a:pt x="12788" y="19606"/>
                </a:cubicBezTo>
                <a:cubicBezTo>
                  <a:pt x="13100" y="19025"/>
                  <a:pt x="13100" y="19025"/>
                  <a:pt x="13100" y="19025"/>
                </a:cubicBezTo>
                <a:cubicBezTo>
                  <a:pt x="13100" y="19025"/>
                  <a:pt x="13100" y="19025"/>
                  <a:pt x="13100" y="19025"/>
                </a:cubicBezTo>
                <a:cubicBezTo>
                  <a:pt x="13100" y="19025"/>
                  <a:pt x="13100" y="19025"/>
                  <a:pt x="13100" y="19025"/>
                </a:cubicBezTo>
                <a:cubicBezTo>
                  <a:pt x="13022" y="19025"/>
                  <a:pt x="13022" y="19025"/>
                  <a:pt x="13022" y="19025"/>
                </a:cubicBezTo>
                <a:cubicBezTo>
                  <a:pt x="13022" y="19025"/>
                  <a:pt x="13022" y="19025"/>
                  <a:pt x="13022" y="19025"/>
                </a:cubicBezTo>
                <a:cubicBezTo>
                  <a:pt x="13022" y="19025"/>
                  <a:pt x="13022" y="19025"/>
                  <a:pt x="13022" y="19025"/>
                </a:cubicBezTo>
                <a:cubicBezTo>
                  <a:pt x="12944" y="18942"/>
                  <a:pt x="12944" y="18942"/>
                  <a:pt x="12944" y="18942"/>
                </a:cubicBezTo>
                <a:cubicBezTo>
                  <a:pt x="12944" y="18942"/>
                  <a:pt x="12944" y="18942"/>
                  <a:pt x="12944" y="18942"/>
                </a:cubicBezTo>
                <a:cubicBezTo>
                  <a:pt x="12944" y="18942"/>
                  <a:pt x="12944" y="18942"/>
                  <a:pt x="12944" y="18942"/>
                </a:cubicBezTo>
                <a:cubicBezTo>
                  <a:pt x="12866" y="18942"/>
                  <a:pt x="12866" y="18942"/>
                  <a:pt x="12866" y="18942"/>
                </a:cubicBezTo>
                <a:cubicBezTo>
                  <a:pt x="12866" y="18942"/>
                  <a:pt x="12866" y="18942"/>
                  <a:pt x="12866" y="18942"/>
                </a:cubicBezTo>
                <a:cubicBezTo>
                  <a:pt x="12866" y="18859"/>
                  <a:pt x="12866" y="18859"/>
                  <a:pt x="12866" y="18859"/>
                </a:cubicBezTo>
                <a:cubicBezTo>
                  <a:pt x="12866" y="18859"/>
                  <a:pt x="12866" y="18859"/>
                  <a:pt x="12866" y="18859"/>
                </a:cubicBezTo>
                <a:cubicBezTo>
                  <a:pt x="12788" y="18859"/>
                  <a:pt x="12788" y="18859"/>
                  <a:pt x="12788" y="18859"/>
                </a:cubicBezTo>
                <a:cubicBezTo>
                  <a:pt x="12788" y="18859"/>
                  <a:pt x="12788" y="18859"/>
                  <a:pt x="12788" y="18859"/>
                </a:cubicBezTo>
                <a:cubicBezTo>
                  <a:pt x="12788" y="18859"/>
                  <a:pt x="12788" y="18859"/>
                  <a:pt x="12788" y="18859"/>
                </a:cubicBezTo>
                <a:cubicBezTo>
                  <a:pt x="12710" y="18775"/>
                  <a:pt x="12710" y="18775"/>
                  <a:pt x="12710" y="18775"/>
                </a:cubicBezTo>
                <a:cubicBezTo>
                  <a:pt x="12710" y="18775"/>
                  <a:pt x="12710" y="18775"/>
                  <a:pt x="12710" y="18775"/>
                </a:cubicBezTo>
                <a:cubicBezTo>
                  <a:pt x="12710" y="18775"/>
                  <a:pt x="12710" y="18775"/>
                  <a:pt x="12710" y="18775"/>
                </a:cubicBezTo>
                <a:cubicBezTo>
                  <a:pt x="12710" y="18775"/>
                  <a:pt x="12710" y="18775"/>
                  <a:pt x="12710" y="18775"/>
                </a:cubicBezTo>
                <a:cubicBezTo>
                  <a:pt x="12632" y="18775"/>
                  <a:pt x="12632" y="18775"/>
                  <a:pt x="12632" y="18775"/>
                </a:cubicBezTo>
                <a:cubicBezTo>
                  <a:pt x="12632" y="18775"/>
                  <a:pt x="12632" y="18775"/>
                  <a:pt x="12632" y="18775"/>
                </a:cubicBezTo>
                <a:cubicBezTo>
                  <a:pt x="12321" y="19274"/>
                  <a:pt x="12321" y="19274"/>
                  <a:pt x="12321" y="19274"/>
                </a:cubicBezTo>
                <a:close/>
                <a:moveTo>
                  <a:pt x="13958" y="20105"/>
                </a:moveTo>
                <a:cubicBezTo>
                  <a:pt x="13958" y="20105"/>
                  <a:pt x="13958" y="20105"/>
                  <a:pt x="13958" y="20105"/>
                </a:cubicBezTo>
                <a:cubicBezTo>
                  <a:pt x="14036" y="20105"/>
                  <a:pt x="14036" y="20105"/>
                  <a:pt x="14036" y="20105"/>
                </a:cubicBezTo>
                <a:cubicBezTo>
                  <a:pt x="14036" y="20105"/>
                  <a:pt x="14036" y="20105"/>
                  <a:pt x="14036" y="20105"/>
                </a:cubicBezTo>
                <a:cubicBezTo>
                  <a:pt x="14036" y="20188"/>
                  <a:pt x="14036" y="20188"/>
                  <a:pt x="14036" y="20188"/>
                </a:cubicBezTo>
                <a:cubicBezTo>
                  <a:pt x="14114" y="20188"/>
                  <a:pt x="14114" y="20188"/>
                  <a:pt x="14114" y="20188"/>
                </a:cubicBezTo>
                <a:cubicBezTo>
                  <a:pt x="14114" y="20188"/>
                  <a:pt x="14114" y="20188"/>
                  <a:pt x="14114" y="20188"/>
                </a:cubicBezTo>
                <a:cubicBezTo>
                  <a:pt x="14192" y="20188"/>
                  <a:pt x="14192" y="20188"/>
                  <a:pt x="14192" y="20188"/>
                </a:cubicBezTo>
                <a:cubicBezTo>
                  <a:pt x="14192" y="20188"/>
                  <a:pt x="14192" y="20188"/>
                  <a:pt x="14192" y="20188"/>
                </a:cubicBezTo>
                <a:cubicBezTo>
                  <a:pt x="14192" y="20188"/>
                  <a:pt x="14192" y="20188"/>
                  <a:pt x="14192" y="20188"/>
                </a:cubicBezTo>
                <a:cubicBezTo>
                  <a:pt x="14270" y="20188"/>
                  <a:pt x="14270" y="20188"/>
                  <a:pt x="14270" y="20188"/>
                </a:cubicBezTo>
                <a:cubicBezTo>
                  <a:pt x="14270" y="20188"/>
                  <a:pt x="14270" y="20188"/>
                  <a:pt x="14270" y="20188"/>
                </a:cubicBezTo>
                <a:cubicBezTo>
                  <a:pt x="14348" y="20188"/>
                  <a:pt x="14348" y="20188"/>
                  <a:pt x="14348" y="20188"/>
                </a:cubicBezTo>
                <a:cubicBezTo>
                  <a:pt x="14348" y="20188"/>
                  <a:pt x="14348" y="20188"/>
                  <a:pt x="14348" y="20188"/>
                </a:cubicBezTo>
                <a:cubicBezTo>
                  <a:pt x="14348" y="20188"/>
                  <a:pt x="14348" y="20188"/>
                  <a:pt x="14348" y="20188"/>
                </a:cubicBezTo>
                <a:cubicBezTo>
                  <a:pt x="14426" y="20271"/>
                  <a:pt x="14426" y="20271"/>
                  <a:pt x="14426" y="20271"/>
                </a:cubicBezTo>
                <a:cubicBezTo>
                  <a:pt x="14426" y="20271"/>
                  <a:pt x="14426" y="20271"/>
                  <a:pt x="14426" y="20271"/>
                </a:cubicBezTo>
                <a:cubicBezTo>
                  <a:pt x="14504" y="20271"/>
                  <a:pt x="14504" y="20271"/>
                  <a:pt x="14504" y="20271"/>
                </a:cubicBezTo>
                <a:cubicBezTo>
                  <a:pt x="14504" y="20271"/>
                  <a:pt x="14504" y="20271"/>
                  <a:pt x="14504" y="20271"/>
                </a:cubicBezTo>
                <a:cubicBezTo>
                  <a:pt x="14504" y="20271"/>
                  <a:pt x="14504" y="20271"/>
                  <a:pt x="14504" y="20271"/>
                </a:cubicBezTo>
                <a:cubicBezTo>
                  <a:pt x="14582" y="20271"/>
                  <a:pt x="14582" y="20271"/>
                  <a:pt x="14582" y="20271"/>
                </a:cubicBezTo>
                <a:cubicBezTo>
                  <a:pt x="14582" y="20271"/>
                  <a:pt x="14582" y="20271"/>
                  <a:pt x="14582" y="20271"/>
                </a:cubicBezTo>
                <a:cubicBezTo>
                  <a:pt x="14660" y="19606"/>
                  <a:pt x="14660" y="19606"/>
                  <a:pt x="14660" y="19606"/>
                </a:cubicBezTo>
                <a:cubicBezTo>
                  <a:pt x="14660" y="19606"/>
                  <a:pt x="14660" y="19606"/>
                  <a:pt x="14660" y="19606"/>
                </a:cubicBezTo>
                <a:cubicBezTo>
                  <a:pt x="14660" y="19606"/>
                  <a:pt x="14660" y="19606"/>
                  <a:pt x="14660" y="19606"/>
                </a:cubicBezTo>
                <a:cubicBezTo>
                  <a:pt x="14582" y="19606"/>
                  <a:pt x="14582" y="19606"/>
                  <a:pt x="14582" y="19606"/>
                </a:cubicBezTo>
                <a:cubicBezTo>
                  <a:pt x="14582" y="19606"/>
                  <a:pt x="14582" y="19606"/>
                  <a:pt x="14582" y="19606"/>
                </a:cubicBezTo>
                <a:cubicBezTo>
                  <a:pt x="14582" y="19606"/>
                  <a:pt x="14582" y="19606"/>
                  <a:pt x="14582" y="19606"/>
                </a:cubicBezTo>
                <a:cubicBezTo>
                  <a:pt x="14504" y="19606"/>
                  <a:pt x="14504" y="19606"/>
                  <a:pt x="14504" y="19606"/>
                </a:cubicBezTo>
                <a:cubicBezTo>
                  <a:pt x="14504" y="19606"/>
                  <a:pt x="14504" y="19606"/>
                  <a:pt x="14504" y="19606"/>
                </a:cubicBezTo>
                <a:cubicBezTo>
                  <a:pt x="14504" y="19606"/>
                  <a:pt x="14504" y="19606"/>
                  <a:pt x="14504" y="19606"/>
                </a:cubicBezTo>
                <a:cubicBezTo>
                  <a:pt x="14426" y="19606"/>
                  <a:pt x="14426" y="19606"/>
                  <a:pt x="14426" y="19606"/>
                </a:cubicBezTo>
                <a:cubicBezTo>
                  <a:pt x="14426" y="19606"/>
                  <a:pt x="14426" y="19606"/>
                  <a:pt x="14426" y="19606"/>
                </a:cubicBezTo>
                <a:cubicBezTo>
                  <a:pt x="14348" y="19606"/>
                  <a:pt x="14348" y="19606"/>
                  <a:pt x="14348" y="19606"/>
                </a:cubicBezTo>
                <a:cubicBezTo>
                  <a:pt x="14348" y="19606"/>
                  <a:pt x="14348" y="19606"/>
                  <a:pt x="14348" y="19606"/>
                </a:cubicBezTo>
                <a:cubicBezTo>
                  <a:pt x="14348" y="19606"/>
                  <a:pt x="14348" y="19606"/>
                  <a:pt x="14348" y="19606"/>
                </a:cubicBezTo>
                <a:cubicBezTo>
                  <a:pt x="14270" y="19523"/>
                  <a:pt x="14270" y="19523"/>
                  <a:pt x="14270" y="19523"/>
                </a:cubicBezTo>
                <a:cubicBezTo>
                  <a:pt x="14270" y="19523"/>
                  <a:pt x="14270" y="19523"/>
                  <a:pt x="14270" y="19523"/>
                </a:cubicBezTo>
                <a:cubicBezTo>
                  <a:pt x="14270" y="19523"/>
                  <a:pt x="14270" y="19523"/>
                  <a:pt x="14270" y="19523"/>
                </a:cubicBezTo>
                <a:cubicBezTo>
                  <a:pt x="14192" y="19523"/>
                  <a:pt x="14192" y="19523"/>
                  <a:pt x="14192" y="19523"/>
                </a:cubicBezTo>
                <a:cubicBezTo>
                  <a:pt x="14192" y="19523"/>
                  <a:pt x="14192" y="19523"/>
                  <a:pt x="14192" y="19523"/>
                </a:cubicBezTo>
                <a:cubicBezTo>
                  <a:pt x="14192" y="19523"/>
                  <a:pt x="14192" y="19523"/>
                  <a:pt x="14192" y="19523"/>
                </a:cubicBezTo>
                <a:cubicBezTo>
                  <a:pt x="14114" y="19523"/>
                  <a:pt x="14114" y="19523"/>
                  <a:pt x="14114" y="19523"/>
                </a:cubicBezTo>
                <a:cubicBezTo>
                  <a:pt x="14114" y="19523"/>
                  <a:pt x="14114" y="19523"/>
                  <a:pt x="14114" y="19523"/>
                </a:cubicBezTo>
                <a:cubicBezTo>
                  <a:pt x="13958" y="20105"/>
                  <a:pt x="13958" y="20105"/>
                  <a:pt x="13958" y="20105"/>
                </a:cubicBezTo>
                <a:close/>
                <a:moveTo>
                  <a:pt x="15830" y="20271"/>
                </a:moveTo>
                <a:cubicBezTo>
                  <a:pt x="15830" y="20271"/>
                  <a:pt x="15830" y="20271"/>
                  <a:pt x="15830" y="20271"/>
                </a:cubicBezTo>
                <a:cubicBezTo>
                  <a:pt x="15908" y="20271"/>
                  <a:pt x="15908" y="20271"/>
                  <a:pt x="15908" y="20271"/>
                </a:cubicBezTo>
                <a:cubicBezTo>
                  <a:pt x="15908" y="20271"/>
                  <a:pt x="15908" y="20271"/>
                  <a:pt x="15908" y="20271"/>
                </a:cubicBezTo>
                <a:cubicBezTo>
                  <a:pt x="15986" y="20271"/>
                  <a:pt x="15986" y="20271"/>
                  <a:pt x="15986" y="20271"/>
                </a:cubicBezTo>
                <a:cubicBezTo>
                  <a:pt x="15986" y="20271"/>
                  <a:pt x="15986" y="20271"/>
                  <a:pt x="15986" y="20271"/>
                </a:cubicBezTo>
                <a:cubicBezTo>
                  <a:pt x="15986" y="20271"/>
                  <a:pt x="15986" y="20271"/>
                  <a:pt x="15986" y="20271"/>
                </a:cubicBezTo>
                <a:cubicBezTo>
                  <a:pt x="16064" y="20271"/>
                  <a:pt x="16064" y="20271"/>
                  <a:pt x="16064" y="20271"/>
                </a:cubicBezTo>
                <a:cubicBezTo>
                  <a:pt x="16064" y="20271"/>
                  <a:pt x="16064" y="20271"/>
                  <a:pt x="16064" y="20271"/>
                </a:cubicBezTo>
                <a:cubicBezTo>
                  <a:pt x="16142" y="20271"/>
                  <a:pt x="16142" y="20271"/>
                  <a:pt x="16142" y="20271"/>
                </a:cubicBezTo>
                <a:cubicBezTo>
                  <a:pt x="16142" y="20271"/>
                  <a:pt x="16142" y="20271"/>
                  <a:pt x="16142" y="20271"/>
                </a:cubicBezTo>
                <a:cubicBezTo>
                  <a:pt x="16142" y="20271"/>
                  <a:pt x="16142" y="20271"/>
                  <a:pt x="16142" y="20271"/>
                </a:cubicBezTo>
                <a:cubicBezTo>
                  <a:pt x="16219" y="20271"/>
                  <a:pt x="16219" y="20271"/>
                  <a:pt x="16219" y="20271"/>
                </a:cubicBezTo>
                <a:cubicBezTo>
                  <a:pt x="16219" y="20271"/>
                  <a:pt x="16219" y="20271"/>
                  <a:pt x="16219" y="20271"/>
                </a:cubicBezTo>
                <a:cubicBezTo>
                  <a:pt x="16297" y="20271"/>
                  <a:pt x="16297" y="20271"/>
                  <a:pt x="16297" y="20271"/>
                </a:cubicBezTo>
                <a:cubicBezTo>
                  <a:pt x="16297" y="20271"/>
                  <a:pt x="16297" y="20271"/>
                  <a:pt x="16297" y="20271"/>
                </a:cubicBezTo>
                <a:cubicBezTo>
                  <a:pt x="16297" y="20188"/>
                  <a:pt x="16297" y="20188"/>
                  <a:pt x="16297" y="20188"/>
                </a:cubicBezTo>
                <a:cubicBezTo>
                  <a:pt x="16375" y="20188"/>
                  <a:pt x="16375" y="20188"/>
                  <a:pt x="16375" y="20188"/>
                </a:cubicBezTo>
                <a:cubicBezTo>
                  <a:pt x="16375" y="20188"/>
                  <a:pt x="16375" y="20188"/>
                  <a:pt x="16375" y="20188"/>
                </a:cubicBezTo>
                <a:cubicBezTo>
                  <a:pt x="16453" y="20188"/>
                  <a:pt x="16453" y="20188"/>
                  <a:pt x="16453" y="20188"/>
                </a:cubicBezTo>
                <a:cubicBezTo>
                  <a:pt x="16453" y="20188"/>
                  <a:pt x="16453" y="20188"/>
                  <a:pt x="16453" y="20188"/>
                </a:cubicBezTo>
                <a:cubicBezTo>
                  <a:pt x="16453" y="20188"/>
                  <a:pt x="16453" y="20188"/>
                  <a:pt x="16453" y="20188"/>
                </a:cubicBezTo>
                <a:cubicBezTo>
                  <a:pt x="16297" y="19606"/>
                  <a:pt x="16297" y="19606"/>
                  <a:pt x="16297" y="19606"/>
                </a:cubicBezTo>
                <a:cubicBezTo>
                  <a:pt x="16297" y="19606"/>
                  <a:pt x="16297" y="19606"/>
                  <a:pt x="16297" y="19606"/>
                </a:cubicBezTo>
                <a:cubicBezTo>
                  <a:pt x="16297" y="19606"/>
                  <a:pt x="16297" y="19606"/>
                  <a:pt x="16297" y="19606"/>
                </a:cubicBezTo>
                <a:cubicBezTo>
                  <a:pt x="16297" y="19606"/>
                  <a:pt x="16297" y="19606"/>
                  <a:pt x="16297" y="19606"/>
                </a:cubicBezTo>
                <a:cubicBezTo>
                  <a:pt x="16219" y="19606"/>
                  <a:pt x="16219" y="19606"/>
                  <a:pt x="16219" y="19606"/>
                </a:cubicBezTo>
                <a:cubicBezTo>
                  <a:pt x="16219" y="19606"/>
                  <a:pt x="16219" y="19606"/>
                  <a:pt x="16219" y="19606"/>
                </a:cubicBezTo>
                <a:cubicBezTo>
                  <a:pt x="16219" y="19606"/>
                  <a:pt x="16219" y="19606"/>
                  <a:pt x="16219" y="19606"/>
                </a:cubicBezTo>
                <a:cubicBezTo>
                  <a:pt x="16142" y="19606"/>
                  <a:pt x="16142" y="19606"/>
                  <a:pt x="16142" y="19606"/>
                </a:cubicBezTo>
                <a:cubicBezTo>
                  <a:pt x="16142" y="19606"/>
                  <a:pt x="16142" y="19606"/>
                  <a:pt x="16142" y="19606"/>
                </a:cubicBezTo>
                <a:cubicBezTo>
                  <a:pt x="16142" y="19606"/>
                  <a:pt x="16142" y="19606"/>
                  <a:pt x="16142" y="19606"/>
                </a:cubicBezTo>
                <a:cubicBezTo>
                  <a:pt x="16064" y="19606"/>
                  <a:pt x="16064" y="19606"/>
                  <a:pt x="16064" y="19606"/>
                </a:cubicBezTo>
                <a:cubicBezTo>
                  <a:pt x="16064" y="19606"/>
                  <a:pt x="16064" y="19606"/>
                  <a:pt x="16064" y="19606"/>
                </a:cubicBezTo>
                <a:cubicBezTo>
                  <a:pt x="15986" y="19606"/>
                  <a:pt x="15986" y="19606"/>
                  <a:pt x="15986" y="19606"/>
                </a:cubicBezTo>
                <a:cubicBezTo>
                  <a:pt x="15986" y="19606"/>
                  <a:pt x="15986" y="19606"/>
                  <a:pt x="15986" y="19606"/>
                </a:cubicBezTo>
                <a:cubicBezTo>
                  <a:pt x="15986" y="19689"/>
                  <a:pt x="15986" y="19689"/>
                  <a:pt x="15986" y="19689"/>
                </a:cubicBezTo>
                <a:cubicBezTo>
                  <a:pt x="15908" y="19689"/>
                  <a:pt x="15908" y="19689"/>
                  <a:pt x="15908" y="19689"/>
                </a:cubicBezTo>
                <a:cubicBezTo>
                  <a:pt x="15908" y="19689"/>
                  <a:pt x="15908" y="19689"/>
                  <a:pt x="15908" y="19689"/>
                </a:cubicBezTo>
                <a:cubicBezTo>
                  <a:pt x="15908" y="19689"/>
                  <a:pt x="15908" y="19689"/>
                  <a:pt x="15908" y="19689"/>
                </a:cubicBezTo>
                <a:cubicBezTo>
                  <a:pt x="15830" y="19689"/>
                  <a:pt x="15830" y="19689"/>
                  <a:pt x="15830" y="19689"/>
                </a:cubicBezTo>
                <a:cubicBezTo>
                  <a:pt x="15830" y="19689"/>
                  <a:pt x="15830" y="19689"/>
                  <a:pt x="15830" y="19689"/>
                </a:cubicBezTo>
                <a:cubicBezTo>
                  <a:pt x="15830" y="19689"/>
                  <a:pt x="15830" y="19689"/>
                  <a:pt x="15830" y="19689"/>
                </a:cubicBezTo>
                <a:cubicBezTo>
                  <a:pt x="15752" y="19689"/>
                  <a:pt x="15752" y="19689"/>
                  <a:pt x="15752" y="19689"/>
                </a:cubicBezTo>
                <a:cubicBezTo>
                  <a:pt x="15830" y="20271"/>
                  <a:pt x="15830" y="20271"/>
                  <a:pt x="15830" y="20271"/>
                </a:cubicBezTo>
                <a:close/>
                <a:moveTo>
                  <a:pt x="17623" y="19772"/>
                </a:moveTo>
                <a:cubicBezTo>
                  <a:pt x="17623" y="19772"/>
                  <a:pt x="17623" y="19772"/>
                  <a:pt x="17623" y="19772"/>
                </a:cubicBezTo>
                <a:cubicBezTo>
                  <a:pt x="17701" y="19772"/>
                  <a:pt x="17701" y="19772"/>
                  <a:pt x="17701" y="19772"/>
                </a:cubicBezTo>
                <a:cubicBezTo>
                  <a:pt x="17701" y="19689"/>
                  <a:pt x="17701" y="19689"/>
                  <a:pt x="17701" y="19689"/>
                </a:cubicBezTo>
                <a:cubicBezTo>
                  <a:pt x="17701" y="19689"/>
                  <a:pt x="17701" y="19689"/>
                  <a:pt x="17701" y="19689"/>
                </a:cubicBezTo>
                <a:cubicBezTo>
                  <a:pt x="17779" y="19689"/>
                  <a:pt x="17779" y="19689"/>
                  <a:pt x="17779" y="19689"/>
                </a:cubicBezTo>
                <a:cubicBezTo>
                  <a:pt x="17779" y="19689"/>
                  <a:pt x="17779" y="19689"/>
                  <a:pt x="17779" y="19689"/>
                </a:cubicBezTo>
                <a:cubicBezTo>
                  <a:pt x="17779" y="19689"/>
                  <a:pt x="17779" y="19689"/>
                  <a:pt x="17779" y="19689"/>
                </a:cubicBezTo>
                <a:cubicBezTo>
                  <a:pt x="17857" y="19606"/>
                  <a:pt x="17857" y="19606"/>
                  <a:pt x="17857" y="19606"/>
                </a:cubicBezTo>
                <a:cubicBezTo>
                  <a:pt x="17857" y="19606"/>
                  <a:pt x="17857" y="19606"/>
                  <a:pt x="17857" y="19606"/>
                </a:cubicBezTo>
                <a:cubicBezTo>
                  <a:pt x="17857" y="19606"/>
                  <a:pt x="17857" y="19606"/>
                  <a:pt x="17857" y="19606"/>
                </a:cubicBezTo>
                <a:cubicBezTo>
                  <a:pt x="17935" y="19606"/>
                  <a:pt x="17935" y="19606"/>
                  <a:pt x="17935" y="19606"/>
                </a:cubicBezTo>
                <a:cubicBezTo>
                  <a:pt x="17935" y="19606"/>
                  <a:pt x="17935" y="19606"/>
                  <a:pt x="17935" y="19606"/>
                </a:cubicBezTo>
                <a:cubicBezTo>
                  <a:pt x="17935" y="19523"/>
                  <a:pt x="17935" y="19523"/>
                  <a:pt x="17935" y="19523"/>
                </a:cubicBezTo>
                <a:cubicBezTo>
                  <a:pt x="18013" y="19523"/>
                  <a:pt x="18013" y="19523"/>
                  <a:pt x="18013" y="19523"/>
                </a:cubicBezTo>
                <a:cubicBezTo>
                  <a:pt x="18013" y="19523"/>
                  <a:pt x="18013" y="19523"/>
                  <a:pt x="18013" y="19523"/>
                </a:cubicBezTo>
                <a:cubicBezTo>
                  <a:pt x="18091" y="19523"/>
                  <a:pt x="18091" y="19523"/>
                  <a:pt x="18091" y="19523"/>
                </a:cubicBezTo>
                <a:cubicBezTo>
                  <a:pt x="18091" y="19523"/>
                  <a:pt x="18091" y="19523"/>
                  <a:pt x="18091" y="19523"/>
                </a:cubicBezTo>
                <a:cubicBezTo>
                  <a:pt x="18091" y="19440"/>
                  <a:pt x="18091" y="19440"/>
                  <a:pt x="18091" y="19440"/>
                </a:cubicBezTo>
                <a:cubicBezTo>
                  <a:pt x="18169" y="19440"/>
                  <a:pt x="18169" y="19440"/>
                  <a:pt x="18169" y="19440"/>
                </a:cubicBezTo>
                <a:cubicBezTo>
                  <a:pt x="18169" y="19440"/>
                  <a:pt x="18169" y="19440"/>
                  <a:pt x="18169" y="19440"/>
                </a:cubicBezTo>
                <a:cubicBezTo>
                  <a:pt x="18169" y="19440"/>
                  <a:pt x="18169" y="19440"/>
                  <a:pt x="18169" y="19440"/>
                </a:cubicBezTo>
                <a:cubicBezTo>
                  <a:pt x="17857" y="18859"/>
                  <a:pt x="17857" y="18859"/>
                  <a:pt x="17857" y="18859"/>
                </a:cubicBezTo>
                <a:cubicBezTo>
                  <a:pt x="17857" y="18942"/>
                  <a:pt x="17857" y="18942"/>
                  <a:pt x="17857" y="18942"/>
                </a:cubicBezTo>
                <a:cubicBezTo>
                  <a:pt x="17779" y="18942"/>
                  <a:pt x="17779" y="18942"/>
                  <a:pt x="17779" y="18942"/>
                </a:cubicBezTo>
                <a:cubicBezTo>
                  <a:pt x="17779" y="18942"/>
                  <a:pt x="17779" y="18942"/>
                  <a:pt x="17779" y="18942"/>
                </a:cubicBezTo>
                <a:cubicBezTo>
                  <a:pt x="17779" y="18942"/>
                  <a:pt x="17779" y="18942"/>
                  <a:pt x="17779" y="18942"/>
                </a:cubicBezTo>
                <a:cubicBezTo>
                  <a:pt x="17779" y="18942"/>
                  <a:pt x="17779" y="18942"/>
                  <a:pt x="17779" y="18942"/>
                </a:cubicBezTo>
                <a:cubicBezTo>
                  <a:pt x="17701" y="19025"/>
                  <a:pt x="17701" y="19025"/>
                  <a:pt x="17701" y="19025"/>
                </a:cubicBezTo>
                <a:cubicBezTo>
                  <a:pt x="17701" y="19025"/>
                  <a:pt x="17701" y="19025"/>
                  <a:pt x="17701" y="19025"/>
                </a:cubicBezTo>
                <a:cubicBezTo>
                  <a:pt x="17701" y="19025"/>
                  <a:pt x="17701" y="19025"/>
                  <a:pt x="17701" y="19025"/>
                </a:cubicBezTo>
                <a:cubicBezTo>
                  <a:pt x="17623" y="19025"/>
                  <a:pt x="17623" y="19025"/>
                  <a:pt x="17623" y="19025"/>
                </a:cubicBezTo>
                <a:cubicBezTo>
                  <a:pt x="17623" y="19025"/>
                  <a:pt x="17623" y="19025"/>
                  <a:pt x="17623" y="19025"/>
                </a:cubicBezTo>
                <a:cubicBezTo>
                  <a:pt x="17623" y="19025"/>
                  <a:pt x="17623" y="19025"/>
                  <a:pt x="17623" y="19025"/>
                </a:cubicBezTo>
                <a:cubicBezTo>
                  <a:pt x="17545" y="19108"/>
                  <a:pt x="17545" y="19108"/>
                  <a:pt x="17545" y="19108"/>
                </a:cubicBezTo>
                <a:cubicBezTo>
                  <a:pt x="17545" y="19108"/>
                  <a:pt x="17545" y="19108"/>
                  <a:pt x="17545" y="19108"/>
                </a:cubicBezTo>
                <a:cubicBezTo>
                  <a:pt x="17545" y="19108"/>
                  <a:pt x="17545" y="19108"/>
                  <a:pt x="17545" y="19108"/>
                </a:cubicBezTo>
                <a:cubicBezTo>
                  <a:pt x="17467" y="19108"/>
                  <a:pt x="17467" y="19108"/>
                  <a:pt x="17467" y="19108"/>
                </a:cubicBezTo>
                <a:cubicBezTo>
                  <a:pt x="17467" y="19108"/>
                  <a:pt x="17467" y="19108"/>
                  <a:pt x="17467" y="19108"/>
                </a:cubicBezTo>
                <a:cubicBezTo>
                  <a:pt x="17467" y="19191"/>
                  <a:pt x="17467" y="19191"/>
                  <a:pt x="17467" y="19191"/>
                </a:cubicBezTo>
                <a:cubicBezTo>
                  <a:pt x="17467" y="19191"/>
                  <a:pt x="17467" y="19191"/>
                  <a:pt x="17467" y="19191"/>
                </a:cubicBezTo>
                <a:cubicBezTo>
                  <a:pt x="17389" y="19191"/>
                  <a:pt x="17389" y="19191"/>
                  <a:pt x="17389" y="19191"/>
                </a:cubicBezTo>
                <a:cubicBezTo>
                  <a:pt x="17389" y="19191"/>
                  <a:pt x="17389" y="19191"/>
                  <a:pt x="17389" y="19191"/>
                </a:cubicBezTo>
                <a:cubicBezTo>
                  <a:pt x="17389" y="19191"/>
                  <a:pt x="17389" y="19191"/>
                  <a:pt x="17389" y="19191"/>
                </a:cubicBezTo>
                <a:cubicBezTo>
                  <a:pt x="17623" y="19772"/>
                  <a:pt x="17623" y="19772"/>
                  <a:pt x="17623" y="19772"/>
                </a:cubicBezTo>
                <a:close/>
                <a:moveTo>
                  <a:pt x="19105" y="18526"/>
                </a:moveTo>
                <a:cubicBezTo>
                  <a:pt x="19183" y="18526"/>
                  <a:pt x="19183" y="18526"/>
                  <a:pt x="19183" y="18526"/>
                </a:cubicBezTo>
                <a:cubicBezTo>
                  <a:pt x="19183" y="18526"/>
                  <a:pt x="19183" y="18526"/>
                  <a:pt x="19183" y="18526"/>
                </a:cubicBezTo>
                <a:cubicBezTo>
                  <a:pt x="19183" y="18526"/>
                  <a:pt x="19183" y="18526"/>
                  <a:pt x="19183" y="18526"/>
                </a:cubicBezTo>
                <a:cubicBezTo>
                  <a:pt x="19183" y="18443"/>
                  <a:pt x="19183" y="18443"/>
                  <a:pt x="19183" y="18443"/>
                </a:cubicBezTo>
                <a:cubicBezTo>
                  <a:pt x="19261" y="18443"/>
                  <a:pt x="19261" y="18443"/>
                  <a:pt x="19261" y="18443"/>
                </a:cubicBezTo>
                <a:cubicBezTo>
                  <a:pt x="19261" y="18443"/>
                  <a:pt x="19261" y="18443"/>
                  <a:pt x="19261" y="18443"/>
                </a:cubicBezTo>
                <a:cubicBezTo>
                  <a:pt x="19261" y="18443"/>
                  <a:pt x="19261" y="18443"/>
                  <a:pt x="19261" y="18443"/>
                </a:cubicBezTo>
                <a:cubicBezTo>
                  <a:pt x="19261" y="18360"/>
                  <a:pt x="19261" y="18360"/>
                  <a:pt x="19261" y="18360"/>
                </a:cubicBezTo>
                <a:cubicBezTo>
                  <a:pt x="19339" y="18360"/>
                  <a:pt x="19339" y="18360"/>
                  <a:pt x="19339" y="18360"/>
                </a:cubicBezTo>
                <a:cubicBezTo>
                  <a:pt x="19339" y="18360"/>
                  <a:pt x="19339" y="18360"/>
                  <a:pt x="19339" y="18360"/>
                </a:cubicBezTo>
                <a:cubicBezTo>
                  <a:pt x="19339" y="18277"/>
                  <a:pt x="19339" y="18277"/>
                  <a:pt x="19339" y="18277"/>
                </a:cubicBezTo>
                <a:cubicBezTo>
                  <a:pt x="19339" y="18277"/>
                  <a:pt x="19339" y="18277"/>
                  <a:pt x="19339" y="18277"/>
                </a:cubicBezTo>
                <a:cubicBezTo>
                  <a:pt x="19417" y="18277"/>
                  <a:pt x="19417" y="18277"/>
                  <a:pt x="19417" y="18277"/>
                </a:cubicBezTo>
                <a:cubicBezTo>
                  <a:pt x="19417" y="18194"/>
                  <a:pt x="19417" y="18194"/>
                  <a:pt x="19417" y="18194"/>
                </a:cubicBezTo>
                <a:cubicBezTo>
                  <a:pt x="19417" y="18194"/>
                  <a:pt x="19417" y="18194"/>
                  <a:pt x="19417" y="18194"/>
                </a:cubicBezTo>
                <a:cubicBezTo>
                  <a:pt x="19417" y="18194"/>
                  <a:pt x="19417" y="18194"/>
                  <a:pt x="19417" y="18194"/>
                </a:cubicBezTo>
                <a:cubicBezTo>
                  <a:pt x="19495" y="18111"/>
                  <a:pt x="19495" y="18111"/>
                  <a:pt x="19495" y="18111"/>
                </a:cubicBezTo>
                <a:cubicBezTo>
                  <a:pt x="19495" y="18111"/>
                  <a:pt x="19495" y="18111"/>
                  <a:pt x="19495" y="18111"/>
                </a:cubicBezTo>
                <a:cubicBezTo>
                  <a:pt x="19495" y="18111"/>
                  <a:pt x="19495" y="18111"/>
                  <a:pt x="19495" y="18111"/>
                </a:cubicBezTo>
                <a:cubicBezTo>
                  <a:pt x="19495" y="18028"/>
                  <a:pt x="19495" y="18028"/>
                  <a:pt x="19495" y="18028"/>
                </a:cubicBezTo>
                <a:cubicBezTo>
                  <a:pt x="19573" y="18028"/>
                  <a:pt x="19573" y="18028"/>
                  <a:pt x="19573" y="18028"/>
                </a:cubicBezTo>
                <a:cubicBezTo>
                  <a:pt x="19027" y="17695"/>
                  <a:pt x="19027" y="17695"/>
                  <a:pt x="19027" y="17695"/>
                </a:cubicBezTo>
                <a:cubicBezTo>
                  <a:pt x="19027" y="17695"/>
                  <a:pt x="19027" y="17695"/>
                  <a:pt x="19027" y="17695"/>
                </a:cubicBezTo>
                <a:cubicBezTo>
                  <a:pt x="19027" y="17695"/>
                  <a:pt x="19027" y="17695"/>
                  <a:pt x="19027" y="17695"/>
                </a:cubicBezTo>
                <a:cubicBezTo>
                  <a:pt x="19027" y="17779"/>
                  <a:pt x="19027" y="17779"/>
                  <a:pt x="19027" y="17779"/>
                </a:cubicBezTo>
                <a:cubicBezTo>
                  <a:pt x="19027" y="17779"/>
                  <a:pt x="19027" y="17779"/>
                  <a:pt x="19027" y="17779"/>
                </a:cubicBezTo>
                <a:cubicBezTo>
                  <a:pt x="18949" y="17779"/>
                  <a:pt x="18949" y="17779"/>
                  <a:pt x="18949" y="17779"/>
                </a:cubicBezTo>
                <a:cubicBezTo>
                  <a:pt x="18949" y="17779"/>
                  <a:pt x="18949" y="17779"/>
                  <a:pt x="18949" y="17779"/>
                </a:cubicBezTo>
                <a:cubicBezTo>
                  <a:pt x="18949" y="17862"/>
                  <a:pt x="18949" y="17862"/>
                  <a:pt x="18949" y="17862"/>
                </a:cubicBezTo>
                <a:cubicBezTo>
                  <a:pt x="18949" y="17862"/>
                  <a:pt x="18949" y="17862"/>
                  <a:pt x="18949" y="17862"/>
                </a:cubicBezTo>
                <a:cubicBezTo>
                  <a:pt x="18871" y="17862"/>
                  <a:pt x="18871" y="17862"/>
                  <a:pt x="18871" y="17862"/>
                </a:cubicBezTo>
                <a:cubicBezTo>
                  <a:pt x="18871" y="17945"/>
                  <a:pt x="18871" y="17945"/>
                  <a:pt x="18871" y="17945"/>
                </a:cubicBezTo>
                <a:cubicBezTo>
                  <a:pt x="18871" y="17945"/>
                  <a:pt x="18871" y="17945"/>
                  <a:pt x="18871" y="17945"/>
                </a:cubicBezTo>
                <a:cubicBezTo>
                  <a:pt x="18871" y="17945"/>
                  <a:pt x="18871" y="17945"/>
                  <a:pt x="18871" y="17945"/>
                </a:cubicBezTo>
                <a:cubicBezTo>
                  <a:pt x="18871" y="17945"/>
                  <a:pt x="18871" y="17945"/>
                  <a:pt x="18871" y="17945"/>
                </a:cubicBezTo>
                <a:cubicBezTo>
                  <a:pt x="18793" y="18028"/>
                  <a:pt x="18793" y="18028"/>
                  <a:pt x="18793" y="18028"/>
                </a:cubicBezTo>
                <a:cubicBezTo>
                  <a:pt x="18793" y="18028"/>
                  <a:pt x="18793" y="18028"/>
                  <a:pt x="18793" y="18028"/>
                </a:cubicBezTo>
                <a:cubicBezTo>
                  <a:pt x="18793" y="18028"/>
                  <a:pt x="18793" y="18028"/>
                  <a:pt x="18793" y="18028"/>
                </a:cubicBezTo>
                <a:cubicBezTo>
                  <a:pt x="18793" y="18028"/>
                  <a:pt x="18793" y="18028"/>
                  <a:pt x="18793" y="18028"/>
                </a:cubicBezTo>
                <a:cubicBezTo>
                  <a:pt x="18715" y="18111"/>
                  <a:pt x="18715" y="18111"/>
                  <a:pt x="18715" y="18111"/>
                </a:cubicBezTo>
                <a:cubicBezTo>
                  <a:pt x="18715" y="18111"/>
                  <a:pt x="18715" y="18111"/>
                  <a:pt x="18715" y="18111"/>
                </a:cubicBezTo>
                <a:cubicBezTo>
                  <a:pt x="18715" y="18111"/>
                  <a:pt x="18715" y="18111"/>
                  <a:pt x="18715" y="18111"/>
                </a:cubicBezTo>
                <a:cubicBezTo>
                  <a:pt x="18715" y="18111"/>
                  <a:pt x="18715" y="18111"/>
                  <a:pt x="18715" y="18111"/>
                </a:cubicBezTo>
                <a:cubicBezTo>
                  <a:pt x="19105" y="18526"/>
                  <a:pt x="19105" y="18526"/>
                  <a:pt x="19105" y="18526"/>
                </a:cubicBezTo>
                <a:close/>
                <a:moveTo>
                  <a:pt x="20118" y="16865"/>
                </a:moveTo>
                <a:cubicBezTo>
                  <a:pt x="20118" y="16865"/>
                  <a:pt x="20118" y="16865"/>
                  <a:pt x="20118" y="16865"/>
                </a:cubicBezTo>
                <a:cubicBezTo>
                  <a:pt x="20196" y="16782"/>
                  <a:pt x="20196" y="16782"/>
                  <a:pt x="20196" y="16782"/>
                </a:cubicBezTo>
                <a:cubicBezTo>
                  <a:pt x="20196" y="16782"/>
                  <a:pt x="20196" y="16782"/>
                  <a:pt x="20196" y="16782"/>
                </a:cubicBezTo>
                <a:cubicBezTo>
                  <a:pt x="20196" y="16782"/>
                  <a:pt x="20196" y="16782"/>
                  <a:pt x="20196" y="16782"/>
                </a:cubicBezTo>
                <a:cubicBezTo>
                  <a:pt x="20196" y="16699"/>
                  <a:pt x="20196" y="16699"/>
                  <a:pt x="20196" y="16699"/>
                </a:cubicBezTo>
                <a:cubicBezTo>
                  <a:pt x="20196" y="16699"/>
                  <a:pt x="20196" y="16699"/>
                  <a:pt x="20196" y="16699"/>
                </a:cubicBezTo>
                <a:cubicBezTo>
                  <a:pt x="20196" y="16699"/>
                  <a:pt x="20196" y="16699"/>
                  <a:pt x="20196" y="16699"/>
                </a:cubicBezTo>
                <a:cubicBezTo>
                  <a:pt x="20196" y="16615"/>
                  <a:pt x="20196" y="16615"/>
                  <a:pt x="20196" y="16615"/>
                </a:cubicBezTo>
                <a:cubicBezTo>
                  <a:pt x="20274" y="16615"/>
                  <a:pt x="20274" y="16615"/>
                  <a:pt x="20274" y="16615"/>
                </a:cubicBezTo>
                <a:cubicBezTo>
                  <a:pt x="20274" y="16532"/>
                  <a:pt x="20274" y="16532"/>
                  <a:pt x="20274" y="16532"/>
                </a:cubicBezTo>
                <a:cubicBezTo>
                  <a:pt x="20274" y="16532"/>
                  <a:pt x="20274" y="16532"/>
                  <a:pt x="20274" y="16532"/>
                </a:cubicBezTo>
                <a:cubicBezTo>
                  <a:pt x="20274" y="16532"/>
                  <a:pt x="20274" y="16532"/>
                  <a:pt x="20274" y="16532"/>
                </a:cubicBezTo>
                <a:cubicBezTo>
                  <a:pt x="20274" y="16449"/>
                  <a:pt x="20274" y="16449"/>
                  <a:pt x="20274" y="16449"/>
                </a:cubicBezTo>
                <a:cubicBezTo>
                  <a:pt x="20274" y="16449"/>
                  <a:pt x="20274" y="16449"/>
                  <a:pt x="20274" y="16449"/>
                </a:cubicBezTo>
                <a:cubicBezTo>
                  <a:pt x="20274" y="16366"/>
                  <a:pt x="20274" y="16366"/>
                  <a:pt x="20274" y="16366"/>
                </a:cubicBezTo>
                <a:cubicBezTo>
                  <a:pt x="20274" y="16366"/>
                  <a:pt x="20274" y="16366"/>
                  <a:pt x="20274" y="16366"/>
                </a:cubicBezTo>
                <a:cubicBezTo>
                  <a:pt x="20274" y="16366"/>
                  <a:pt x="20274" y="16366"/>
                  <a:pt x="20274" y="16366"/>
                </a:cubicBezTo>
                <a:cubicBezTo>
                  <a:pt x="20352" y="16283"/>
                  <a:pt x="20352" y="16283"/>
                  <a:pt x="20352" y="16283"/>
                </a:cubicBezTo>
                <a:cubicBezTo>
                  <a:pt x="20352" y="16283"/>
                  <a:pt x="20352" y="16283"/>
                  <a:pt x="20352" y="16283"/>
                </a:cubicBezTo>
                <a:cubicBezTo>
                  <a:pt x="20352" y="16283"/>
                  <a:pt x="20352" y="16283"/>
                  <a:pt x="20352" y="16283"/>
                </a:cubicBezTo>
                <a:cubicBezTo>
                  <a:pt x="20352" y="16200"/>
                  <a:pt x="20352" y="16200"/>
                  <a:pt x="20352" y="16200"/>
                </a:cubicBezTo>
                <a:cubicBezTo>
                  <a:pt x="19729" y="16117"/>
                  <a:pt x="19729" y="16117"/>
                  <a:pt x="19729" y="16117"/>
                </a:cubicBezTo>
                <a:cubicBezTo>
                  <a:pt x="19729" y="16117"/>
                  <a:pt x="19729" y="16117"/>
                  <a:pt x="19729" y="16117"/>
                </a:cubicBezTo>
                <a:cubicBezTo>
                  <a:pt x="19729" y="16117"/>
                  <a:pt x="19729" y="16117"/>
                  <a:pt x="19729" y="16117"/>
                </a:cubicBezTo>
                <a:cubicBezTo>
                  <a:pt x="19729" y="16117"/>
                  <a:pt x="19729" y="16117"/>
                  <a:pt x="19729" y="16117"/>
                </a:cubicBezTo>
                <a:cubicBezTo>
                  <a:pt x="19729" y="16200"/>
                  <a:pt x="19729" y="16200"/>
                  <a:pt x="19729" y="16200"/>
                </a:cubicBezTo>
                <a:cubicBezTo>
                  <a:pt x="19729" y="16200"/>
                  <a:pt x="19729" y="16200"/>
                  <a:pt x="19729" y="16200"/>
                </a:cubicBezTo>
                <a:cubicBezTo>
                  <a:pt x="19729" y="16200"/>
                  <a:pt x="19729" y="16200"/>
                  <a:pt x="19729" y="16200"/>
                </a:cubicBezTo>
                <a:cubicBezTo>
                  <a:pt x="19729" y="16283"/>
                  <a:pt x="19729" y="16283"/>
                  <a:pt x="19729" y="16283"/>
                </a:cubicBezTo>
                <a:cubicBezTo>
                  <a:pt x="19729" y="16283"/>
                  <a:pt x="19729" y="16283"/>
                  <a:pt x="19729" y="16283"/>
                </a:cubicBezTo>
                <a:cubicBezTo>
                  <a:pt x="19729" y="16283"/>
                  <a:pt x="19729" y="16283"/>
                  <a:pt x="19729" y="16283"/>
                </a:cubicBezTo>
                <a:cubicBezTo>
                  <a:pt x="19729" y="16366"/>
                  <a:pt x="19729" y="16366"/>
                  <a:pt x="19729" y="16366"/>
                </a:cubicBezTo>
                <a:cubicBezTo>
                  <a:pt x="19651" y="16366"/>
                  <a:pt x="19651" y="16366"/>
                  <a:pt x="19651" y="16366"/>
                </a:cubicBezTo>
                <a:cubicBezTo>
                  <a:pt x="19651" y="16366"/>
                  <a:pt x="19651" y="16366"/>
                  <a:pt x="19651" y="16366"/>
                </a:cubicBezTo>
                <a:cubicBezTo>
                  <a:pt x="19651" y="16449"/>
                  <a:pt x="19651" y="16449"/>
                  <a:pt x="19651" y="16449"/>
                </a:cubicBezTo>
                <a:cubicBezTo>
                  <a:pt x="19651" y="16449"/>
                  <a:pt x="19651" y="16449"/>
                  <a:pt x="19651" y="16449"/>
                </a:cubicBezTo>
                <a:cubicBezTo>
                  <a:pt x="19651" y="16449"/>
                  <a:pt x="19651" y="16449"/>
                  <a:pt x="19651" y="16449"/>
                </a:cubicBezTo>
                <a:cubicBezTo>
                  <a:pt x="19651" y="16532"/>
                  <a:pt x="19651" y="16532"/>
                  <a:pt x="19651" y="16532"/>
                </a:cubicBezTo>
                <a:cubicBezTo>
                  <a:pt x="19651" y="16532"/>
                  <a:pt x="19651" y="16532"/>
                  <a:pt x="19651" y="16532"/>
                </a:cubicBezTo>
                <a:cubicBezTo>
                  <a:pt x="19651" y="16532"/>
                  <a:pt x="19651" y="16532"/>
                  <a:pt x="19651" y="16532"/>
                </a:cubicBezTo>
                <a:cubicBezTo>
                  <a:pt x="19573" y="16615"/>
                  <a:pt x="19573" y="16615"/>
                  <a:pt x="19573" y="16615"/>
                </a:cubicBezTo>
                <a:cubicBezTo>
                  <a:pt x="19573" y="16615"/>
                  <a:pt x="19573" y="16615"/>
                  <a:pt x="19573" y="16615"/>
                </a:cubicBezTo>
                <a:cubicBezTo>
                  <a:pt x="19573" y="16615"/>
                  <a:pt x="19573" y="16615"/>
                  <a:pt x="19573" y="16615"/>
                </a:cubicBezTo>
                <a:cubicBezTo>
                  <a:pt x="20118" y="16865"/>
                  <a:pt x="20118" y="16865"/>
                  <a:pt x="20118" y="16865"/>
                </a:cubicBezTo>
                <a:close/>
                <a:moveTo>
                  <a:pt x="20508" y="14954"/>
                </a:moveTo>
                <a:cubicBezTo>
                  <a:pt x="20508" y="14871"/>
                  <a:pt x="20508" y="14871"/>
                  <a:pt x="20508" y="14871"/>
                </a:cubicBezTo>
                <a:cubicBezTo>
                  <a:pt x="20508" y="14871"/>
                  <a:pt x="20508" y="14871"/>
                  <a:pt x="20508" y="14871"/>
                </a:cubicBezTo>
                <a:cubicBezTo>
                  <a:pt x="20508" y="14871"/>
                  <a:pt x="20508" y="14871"/>
                  <a:pt x="20508" y="14871"/>
                </a:cubicBezTo>
                <a:cubicBezTo>
                  <a:pt x="20508" y="14788"/>
                  <a:pt x="20508" y="14788"/>
                  <a:pt x="20508" y="14788"/>
                </a:cubicBezTo>
                <a:cubicBezTo>
                  <a:pt x="20508" y="14788"/>
                  <a:pt x="20508" y="14788"/>
                  <a:pt x="20508" y="14788"/>
                </a:cubicBezTo>
                <a:cubicBezTo>
                  <a:pt x="20508" y="14705"/>
                  <a:pt x="20508" y="14705"/>
                  <a:pt x="20508" y="14705"/>
                </a:cubicBezTo>
                <a:cubicBezTo>
                  <a:pt x="20508" y="14705"/>
                  <a:pt x="20508" y="14705"/>
                  <a:pt x="20508" y="14705"/>
                </a:cubicBezTo>
                <a:cubicBezTo>
                  <a:pt x="20508" y="14622"/>
                  <a:pt x="20508" y="14622"/>
                  <a:pt x="20508" y="14622"/>
                </a:cubicBezTo>
                <a:cubicBezTo>
                  <a:pt x="20508" y="14622"/>
                  <a:pt x="20508" y="14622"/>
                  <a:pt x="20508" y="14622"/>
                </a:cubicBezTo>
                <a:cubicBezTo>
                  <a:pt x="20508" y="14622"/>
                  <a:pt x="20508" y="14622"/>
                  <a:pt x="20508" y="14622"/>
                </a:cubicBezTo>
                <a:cubicBezTo>
                  <a:pt x="20508" y="14539"/>
                  <a:pt x="20508" y="14539"/>
                  <a:pt x="20508" y="14539"/>
                </a:cubicBezTo>
                <a:cubicBezTo>
                  <a:pt x="20508" y="14539"/>
                  <a:pt x="20508" y="14539"/>
                  <a:pt x="20508" y="14539"/>
                </a:cubicBezTo>
                <a:cubicBezTo>
                  <a:pt x="20508" y="14455"/>
                  <a:pt x="20508" y="14455"/>
                  <a:pt x="20508" y="14455"/>
                </a:cubicBezTo>
                <a:cubicBezTo>
                  <a:pt x="20508" y="14455"/>
                  <a:pt x="20508" y="14455"/>
                  <a:pt x="20508" y="14455"/>
                </a:cubicBezTo>
                <a:cubicBezTo>
                  <a:pt x="20508" y="14455"/>
                  <a:pt x="20508" y="14455"/>
                  <a:pt x="20508" y="14455"/>
                </a:cubicBezTo>
                <a:cubicBezTo>
                  <a:pt x="20508" y="14372"/>
                  <a:pt x="20508" y="14372"/>
                  <a:pt x="20508" y="14372"/>
                </a:cubicBezTo>
                <a:cubicBezTo>
                  <a:pt x="20508" y="14372"/>
                  <a:pt x="20508" y="14372"/>
                  <a:pt x="20508" y="14372"/>
                </a:cubicBezTo>
                <a:cubicBezTo>
                  <a:pt x="20508" y="14289"/>
                  <a:pt x="20508" y="14289"/>
                  <a:pt x="20508" y="14289"/>
                </a:cubicBezTo>
                <a:cubicBezTo>
                  <a:pt x="20508" y="14289"/>
                  <a:pt x="20508" y="14289"/>
                  <a:pt x="20508" y="14289"/>
                </a:cubicBezTo>
                <a:cubicBezTo>
                  <a:pt x="20508" y="14289"/>
                  <a:pt x="20508" y="14289"/>
                  <a:pt x="20508" y="14289"/>
                </a:cubicBezTo>
                <a:cubicBezTo>
                  <a:pt x="19884" y="14289"/>
                  <a:pt x="19884" y="14289"/>
                  <a:pt x="19884" y="14289"/>
                </a:cubicBezTo>
                <a:cubicBezTo>
                  <a:pt x="19884" y="14372"/>
                  <a:pt x="19884" y="14372"/>
                  <a:pt x="19884" y="14372"/>
                </a:cubicBezTo>
                <a:cubicBezTo>
                  <a:pt x="19884" y="14372"/>
                  <a:pt x="19884" y="14372"/>
                  <a:pt x="19884" y="14372"/>
                </a:cubicBezTo>
                <a:cubicBezTo>
                  <a:pt x="19884" y="14372"/>
                  <a:pt x="19884" y="14372"/>
                  <a:pt x="19884" y="14372"/>
                </a:cubicBezTo>
                <a:cubicBezTo>
                  <a:pt x="19884" y="14455"/>
                  <a:pt x="19884" y="14455"/>
                  <a:pt x="19884" y="14455"/>
                </a:cubicBezTo>
                <a:cubicBezTo>
                  <a:pt x="19884" y="14455"/>
                  <a:pt x="19884" y="14455"/>
                  <a:pt x="19884" y="14455"/>
                </a:cubicBezTo>
                <a:cubicBezTo>
                  <a:pt x="19884" y="14455"/>
                  <a:pt x="19884" y="14455"/>
                  <a:pt x="19884" y="14455"/>
                </a:cubicBezTo>
                <a:cubicBezTo>
                  <a:pt x="19884" y="14539"/>
                  <a:pt x="19884" y="14539"/>
                  <a:pt x="19884" y="14539"/>
                </a:cubicBezTo>
                <a:cubicBezTo>
                  <a:pt x="19884" y="14539"/>
                  <a:pt x="19884" y="14539"/>
                  <a:pt x="19884" y="14539"/>
                </a:cubicBezTo>
                <a:cubicBezTo>
                  <a:pt x="19884" y="14622"/>
                  <a:pt x="19884" y="14622"/>
                  <a:pt x="19884" y="14622"/>
                </a:cubicBezTo>
                <a:cubicBezTo>
                  <a:pt x="19884" y="14622"/>
                  <a:pt x="19884" y="14622"/>
                  <a:pt x="19884" y="14622"/>
                </a:cubicBezTo>
                <a:cubicBezTo>
                  <a:pt x="19884" y="14622"/>
                  <a:pt x="19884" y="14622"/>
                  <a:pt x="19884" y="14622"/>
                </a:cubicBezTo>
                <a:cubicBezTo>
                  <a:pt x="19884" y="14705"/>
                  <a:pt x="19884" y="14705"/>
                  <a:pt x="19884" y="14705"/>
                </a:cubicBezTo>
                <a:cubicBezTo>
                  <a:pt x="19884" y="14705"/>
                  <a:pt x="19884" y="14705"/>
                  <a:pt x="19884" y="14705"/>
                </a:cubicBezTo>
                <a:cubicBezTo>
                  <a:pt x="19884" y="14705"/>
                  <a:pt x="19884" y="14705"/>
                  <a:pt x="19884" y="14705"/>
                </a:cubicBezTo>
                <a:cubicBezTo>
                  <a:pt x="19884" y="14788"/>
                  <a:pt x="19884" y="14788"/>
                  <a:pt x="19884" y="14788"/>
                </a:cubicBezTo>
                <a:cubicBezTo>
                  <a:pt x="19884" y="14788"/>
                  <a:pt x="19884" y="14788"/>
                  <a:pt x="19884" y="14788"/>
                </a:cubicBezTo>
                <a:cubicBezTo>
                  <a:pt x="19884" y="14871"/>
                  <a:pt x="19884" y="14871"/>
                  <a:pt x="19884" y="14871"/>
                </a:cubicBezTo>
                <a:cubicBezTo>
                  <a:pt x="19884" y="14871"/>
                  <a:pt x="19884" y="14871"/>
                  <a:pt x="19884" y="14871"/>
                </a:cubicBezTo>
                <a:cubicBezTo>
                  <a:pt x="19884" y="14871"/>
                  <a:pt x="19884" y="14871"/>
                  <a:pt x="19884" y="14871"/>
                </a:cubicBezTo>
                <a:cubicBezTo>
                  <a:pt x="19884" y="14871"/>
                  <a:pt x="19884" y="14871"/>
                  <a:pt x="19884" y="14871"/>
                </a:cubicBezTo>
                <a:cubicBezTo>
                  <a:pt x="20508" y="14954"/>
                  <a:pt x="20508" y="14954"/>
                  <a:pt x="20508" y="14954"/>
                </a:cubicBezTo>
                <a:close/>
                <a:moveTo>
                  <a:pt x="20196" y="12960"/>
                </a:moveTo>
                <a:cubicBezTo>
                  <a:pt x="20196" y="12960"/>
                  <a:pt x="20196" y="12960"/>
                  <a:pt x="20196" y="12960"/>
                </a:cubicBezTo>
                <a:cubicBezTo>
                  <a:pt x="20196" y="12877"/>
                  <a:pt x="20196" y="12877"/>
                  <a:pt x="20196" y="12877"/>
                </a:cubicBezTo>
                <a:cubicBezTo>
                  <a:pt x="20196" y="12877"/>
                  <a:pt x="20196" y="12877"/>
                  <a:pt x="20196" y="12877"/>
                </a:cubicBezTo>
                <a:cubicBezTo>
                  <a:pt x="20118" y="12794"/>
                  <a:pt x="20118" y="12794"/>
                  <a:pt x="20118" y="12794"/>
                </a:cubicBezTo>
                <a:cubicBezTo>
                  <a:pt x="20118" y="12794"/>
                  <a:pt x="20118" y="12794"/>
                  <a:pt x="20118" y="12794"/>
                </a:cubicBezTo>
                <a:cubicBezTo>
                  <a:pt x="20118" y="12794"/>
                  <a:pt x="20118" y="12794"/>
                  <a:pt x="20118" y="12794"/>
                </a:cubicBezTo>
                <a:cubicBezTo>
                  <a:pt x="20118" y="12711"/>
                  <a:pt x="20118" y="12711"/>
                  <a:pt x="20118" y="12711"/>
                </a:cubicBezTo>
                <a:cubicBezTo>
                  <a:pt x="20118" y="12711"/>
                  <a:pt x="20118" y="12711"/>
                  <a:pt x="20118" y="12711"/>
                </a:cubicBezTo>
                <a:cubicBezTo>
                  <a:pt x="20118" y="12711"/>
                  <a:pt x="20118" y="12711"/>
                  <a:pt x="20118" y="12711"/>
                </a:cubicBezTo>
                <a:cubicBezTo>
                  <a:pt x="20040" y="12628"/>
                  <a:pt x="20040" y="12628"/>
                  <a:pt x="20040" y="12628"/>
                </a:cubicBezTo>
                <a:cubicBezTo>
                  <a:pt x="20040" y="12628"/>
                  <a:pt x="20040" y="12628"/>
                  <a:pt x="20040" y="12628"/>
                </a:cubicBezTo>
                <a:cubicBezTo>
                  <a:pt x="20040" y="12545"/>
                  <a:pt x="20040" y="12545"/>
                  <a:pt x="20040" y="12545"/>
                </a:cubicBezTo>
                <a:cubicBezTo>
                  <a:pt x="20040" y="12545"/>
                  <a:pt x="20040" y="12545"/>
                  <a:pt x="20040" y="12545"/>
                </a:cubicBezTo>
                <a:cubicBezTo>
                  <a:pt x="20040" y="12545"/>
                  <a:pt x="20040" y="12545"/>
                  <a:pt x="20040" y="12545"/>
                </a:cubicBezTo>
                <a:cubicBezTo>
                  <a:pt x="20040" y="12462"/>
                  <a:pt x="20040" y="12462"/>
                  <a:pt x="20040" y="12462"/>
                </a:cubicBezTo>
                <a:cubicBezTo>
                  <a:pt x="19962" y="12462"/>
                  <a:pt x="19962" y="12462"/>
                  <a:pt x="19962" y="12462"/>
                </a:cubicBezTo>
                <a:cubicBezTo>
                  <a:pt x="19962" y="12462"/>
                  <a:pt x="19962" y="12462"/>
                  <a:pt x="19962" y="12462"/>
                </a:cubicBezTo>
                <a:cubicBezTo>
                  <a:pt x="19962" y="12379"/>
                  <a:pt x="19962" y="12379"/>
                  <a:pt x="19962" y="12379"/>
                </a:cubicBezTo>
                <a:cubicBezTo>
                  <a:pt x="19962" y="12379"/>
                  <a:pt x="19962" y="12379"/>
                  <a:pt x="19962" y="12379"/>
                </a:cubicBezTo>
                <a:cubicBezTo>
                  <a:pt x="19962" y="12379"/>
                  <a:pt x="19962" y="12379"/>
                  <a:pt x="19962" y="12379"/>
                </a:cubicBezTo>
                <a:cubicBezTo>
                  <a:pt x="19962" y="12295"/>
                  <a:pt x="19962" y="12295"/>
                  <a:pt x="19962" y="12295"/>
                </a:cubicBezTo>
                <a:cubicBezTo>
                  <a:pt x="19417" y="12628"/>
                  <a:pt x="19417" y="12628"/>
                  <a:pt x="19417" y="12628"/>
                </a:cubicBezTo>
                <a:cubicBezTo>
                  <a:pt x="19417" y="12628"/>
                  <a:pt x="19417" y="12628"/>
                  <a:pt x="19417" y="12628"/>
                </a:cubicBezTo>
                <a:cubicBezTo>
                  <a:pt x="19417" y="12628"/>
                  <a:pt x="19417" y="12628"/>
                  <a:pt x="19417" y="12628"/>
                </a:cubicBezTo>
                <a:cubicBezTo>
                  <a:pt x="19417" y="12711"/>
                  <a:pt x="19417" y="12711"/>
                  <a:pt x="19417" y="12711"/>
                </a:cubicBezTo>
                <a:cubicBezTo>
                  <a:pt x="19417" y="12711"/>
                  <a:pt x="19417" y="12711"/>
                  <a:pt x="19417" y="12711"/>
                </a:cubicBezTo>
                <a:cubicBezTo>
                  <a:pt x="19495" y="12711"/>
                  <a:pt x="19495" y="12711"/>
                  <a:pt x="19495" y="12711"/>
                </a:cubicBezTo>
                <a:cubicBezTo>
                  <a:pt x="19495" y="12794"/>
                  <a:pt x="19495" y="12794"/>
                  <a:pt x="19495" y="12794"/>
                </a:cubicBezTo>
                <a:cubicBezTo>
                  <a:pt x="19495" y="12794"/>
                  <a:pt x="19495" y="12794"/>
                  <a:pt x="19495" y="12794"/>
                </a:cubicBezTo>
                <a:cubicBezTo>
                  <a:pt x="19495" y="12794"/>
                  <a:pt x="19495" y="12794"/>
                  <a:pt x="19495" y="12794"/>
                </a:cubicBezTo>
                <a:cubicBezTo>
                  <a:pt x="19495" y="12877"/>
                  <a:pt x="19495" y="12877"/>
                  <a:pt x="19495" y="12877"/>
                </a:cubicBezTo>
                <a:cubicBezTo>
                  <a:pt x="19495" y="12877"/>
                  <a:pt x="19495" y="12877"/>
                  <a:pt x="19495" y="12877"/>
                </a:cubicBezTo>
                <a:cubicBezTo>
                  <a:pt x="19495" y="12877"/>
                  <a:pt x="19495" y="12877"/>
                  <a:pt x="19495" y="12877"/>
                </a:cubicBezTo>
                <a:cubicBezTo>
                  <a:pt x="19573" y="12960"/>
                  <a:pt x="19573" y="12960"/>
                  <a:pt x="19573" y="12960"/>
                </a:cubicBezTo>
                <a:cubicBezTo>
                  <a:pt x="19573" y="12960"/>
                  <a:pt x="19573" y="12960"/>
                  <a:pt x="19573" y="12960"/>
                </a:cubicBezTo>
                <a:cubicBezTo>
                  <a:pt x="19573" y="12960"/>
                  <a:pt x="19573" y="12960"/>
                  <a:pt x="19573" y="12960"/>
                </a:cubicBezTo>
                <a:cubicBezTo>
                  <a:pt x="19573" y="13043"/>
                  <a:pt x="19573" y="13043"/>
                  <a:pt x="19573" y="13043"/>
                </a:cubicBezTo>
                <a:cubicBezTo>
                  <a:pt x="19573" y="13043"/>
                  <a:pt x="19573" y="13043"/>
                  <a:pt x="19573" y="13043"/>
                </a:cubicBezTo>
                <a:cubicBezTo>
                  <a:pt x="19573" y="13043"/>
                  <a:pt x="19573" y="13043"/>
                  <a:pt x="19573" y="13043"/>
                </a:cubicBezTo>
                <a:cubicBezTo>
                  <a:pt x="19573" y="13126"/>
                  <a:pt x="19573" y="13126"/>
                  <a:pt x="19573" y="13126"/>
                </a:cubicBezTo>
                <a:cubicBezTo>
                  <a:pt x="19651" y="13126"/>
                  <a:pt x="19651" y="13126"/>
                  <a:pt x="19651" y="13126"/>
                </a:cubicBezTo>
                <a:cubicBezTo>
                  <a:pt x="19651" y="13126"/>
                  <a:pt x="19651" y="13126"/>
                  <a:pt x="19651" y="13126"/>
                </a:cubicBezTo>
                <a:cubicBezTo>
                  <a:pt x="19651" y="13209"/>
                  <a:pt x="19651" y="13209"/>
                  <a:pt x="19651" y="13209"/>
                </a:cubicBezTo>
                <a:cubicBezTo>
                  <a:pt x="20196" y="12960"/>
                  <a:pt x="20196" y="12960"/>
                  <a:pt x="20196" y="12960"/>
                </a:cubicBezTo>
                <a:close/>
                <a:moveTo>
                  <a:pt x="19261" y="11215"/>
                </a:moveTo>
                <a:cubicBezTo>
                  <a:pt x="19261" y="11215"/>
                  <a:pt x="19261" y="11215"/>
                  <a:pt x="19261" y="11215"/>
                </a:cubicBezTo>
                <a:cubicBezTo>
                  <a:pt x="19183" y="11215"/>
                  <a:pt x="19183" y="11215"/>
                  <a:pt x="19183" y="11215"/>
                </a:cubicBezTo>
                <a:cubicBezTo>
                  <a:pt x="19183" y="11215"/>
                  <a:pt x="19183" y="11215"/>
                  <a:pt x="19183" y="11215"/>
                </a:cubicBezTo>
                <a:cubicBezTo>
                  <a:pt x="19183" y="11132"/>
                  <a:pt x="19183" y="11132"/>
                  <a:pt x="19183" y="11132"/>
                </a:cubicBezTo>
                <a:cubicBezTo>
                  <a:pt x="19183" y="11132"/>
                  <a:pt x="19183" y="11132"/>
                  <a:pt x="19183" y="11132"/>
                </a:cubicBezTo>
                <a:cubicBezTo>
                  <a:pt x="19105" y="11132"/>
                  <a:pt x="19105" y="11132"/>
                  <a:pt x="19105" y="11132"/>
                </a:cubicBezTo>
                <a:cubicBezTo>
                  <a:pt x="19105" y="11049"/>
                  <a:pt x="19105" y="11049"/>
                  <a:pt x="19105" y="11049"/>
                </a:cubicBezTo>
                <a:cubicBezTo>
                  <a:pt x="19105" y="11049"/>
                  <a:pt x="19105" y="11049"/>
                  <a:pt x="19105" y="11049"/>
                </a:cubicBezTo>
                <a:cubicBezTo>
                  <a:pt x="19027" y="11049"/>
                  <a:pt x="19027" y="11049"/>
                  <a:pt x="19027" y="11049"/>
                </a:cubicBezTo>
                <a:cubicBezTo>
                  <a:pt x="19027" y="10966"/>
                  <a:pt x="19027" y="10966"/>
                  <a:pt x="19027" y="10966"/>
                </a:cubicBezTo>
                <a:cubicBezTo>
                  <a:pt x="19027" y="10966"/>
                  <a:pt x="19027" y="10966"/>
                  <a:pt x="19027" y="10966"/>
                </a:cubicBezTo>
                <a:cubicBezTo>
                  <a:pt x="19027" y="10966"/>
                  <a:pt x="19027" y="10966"/>
                  <a:pt x="19027" y="10966"/>
                </a:cubicBezTo>
                <a:cubicBezTo>
                  <a:pt x="18949" y="10966"/>
                  <a:pt x="18949" y="10966"/>
                  <a:pt x="18949" y="10966"/>
                </a:cubicBezTo>
                <a:cubicBezTo>
                  <a:pt x="18949" y="10883"/>
                  <a:pt x="18949" y="10883"/>
                  <a:pt x="18949" y="10883"/>
                </a:cubicBezTo>
                <a:cubicBezTo>
                  <a:pt x="18949" y="10883"/>
                  <a:pt x="18949" y="10883"/>
                  <a:pt x="18949" y="10883"/>
                </a:cubicBezTo>
                <a:cubicBezTo>
                  <a:pt x="18871" y="10883"/>
                  <a:pt x="18871" y="10883"/>
                  <a:pt x="18871" y="10883"/>
                </a:cubicBezTo>
                <a:cubicBezTo>
                  <a:pt x="18871" y="10883"/>
                  <a:pt x="18871" y="10883"/>
                  <a:pt x="18871" y="10883"/>
                </a:cubicBezTo>
                <a:cubicBezTo>
                  <a:pt x="18871" y="10800"/>
                  <a:pt x="18871" y="10800"/>
                  <a:pt x="18871" y="10800"/>
                </a:cubicBezTo>
                <a:cubicBezTo>
                  <a:pt x="18871" y="10800"/>
                  <a:pt x="18871" y="10800"/>
                  <a:pt x="18871" y="10800"/>
                </a:cubicBezTo>
                <a:cubicBezTo>
                  <a:pt x="18793" y="10800"/>
                  <a:pt x="18793" y="10800"/>
                  <a:pt x="18793" y="10800"/>
                </a:cubicBezTo>
                <a:cubicBezTo>
                  <a:pt x="18793" y="10717"/>
                  <a:pt x="18793" y="10717"/>
                  <a:pt x="18793" y="10717"/>
                </a:cubicBezTo>
                <a:cubicBezTo>
                  <a:pt x="18403" y="11215"/>
                  <a:pt x="18403" y="11215"/>
                  <a:pt x="18403" y="11215"/>
                </a:cubicBezTo>
                <a:cubicBezTo>
                  <a:pt x="18403" y="11215"/>
                  <a:pt x="18403" y="11215"/>
                  <a:pt x="18403" y="11215"/>
                </a:cubicBezTo>
                <a:cubicBezTo>
                  <a:pt x="18403" y="11299"/>
                  <a:pt x="18403" y="11299"/>
                  <a:pt x="18403" y="11299"/>
                </a:cubicBezTo>
                <a:cubicBezTo>
                  <a:pt x="18481" y="11299"/>
                  <a:pt x="18481" y="11299"/>
                  <a:pt x="18481" y="11299"/>
                </a:cubicBezTo>
                <a:cubicBezTo>
                  <a:pt x="18481" y="11299"/>
                  <a:pt x="18481" y="11299"/>
                  <a:pt x="18481" y="11299"/>
                </a:cubicBezTo>
                <a:cubicBezTo>
                  <a:pt x="18481" y="11299"/>
                  <a:pt x="18481" y="11299"/>
                  <a:pt x="18481" y="11299"/>
                </a:cubicBezTo>
                <a:cubicBezTo>
                  <a:pt x="18559" y="11382"/>
                  <a:pt x="18559" y="11382"/>
                  <a:pt x="18559" y="11382"/>
                </a:cubicBezTo>
                <a:cubicBezTo>
                  <a:pt x="18559" y="11382"/>
                  <a:pt x="18559" y="11382"/>
                  <a:pt x="18559" y="11382"/>
                </a:cubicBezTo>
                <a:cubicBezTo>
                  <a:pt x="18559" y="11382"/>
                  <a:pt x="18559" y="11382"/>
                  <a:pt x="18559" y="11382"/>
                </a:cubicBezTo>
                <a:cubicBezTo>
                  <a:pt x="18559" y="11382"/>
                  <a:pt x="18559" y="11382"/>
                  <a:pt x="18559" y="11382"/>
                </a:cubicBezTo>
                <a:cubicBezTo>
                  <a:pt x="18637" y="11465"/>
                  <a:pt x="18637" y="11465"/>
                  <a:pt x="18637" y="11465"/>
                </a:cubicBezTo>
                <a:cubicBezTo>
                  <a:pt x="18637" y="11465"/>
                  <a:pt x="18637" y="11465"/>
                  <a:pt x="18637" y="11465"/>
                </a:cubicBezTo>
                <a:cubicBezTo>
                  <a:pt x="18637" y="11465"/>
                  <a:pt x="18637" y="11465"/>
                  <a:pt x="18637" y="11465"/>
                </a:cubicBezTo>
                <a:cubicBezTo>
                  <a:pt x="18637" y="11465"/>
                  <a:pt x="18637" y="11465"/>
                  <a:pt x="18637" y="11465"/>
                </a:cubicBezTo>
                <a:cubicBezTo>
                  <a:pt x="18637" y="11548"/>
                  <a:pt x="18637" y="11548"/>
                  <a:pt x="18637" y="11548"/>
                </a:cubicBezTo>
                <a:cubicBezTo>
                  <a:pt x="18715" y="11548"/>
                  <a:pt x="18715" y="11548"/>
                  <a:pt x="18715" y="11548"/>
                </a:cubicBezTo>
                <a:cubicBezTo>
                  <a:pt x="18715" y="11548"/>
                  <a:pt x="18715" y="11548"/>
                  <a:pt x="18715" y="11548"/>
                </a:cubicBezTo>
                <a:cubicBezTo>
                  <a:pt x="18715" y="11548"/>
                  <a:pt x="18715" y="11548"/>
                  <a:pt x="18715" y="11548"/>
                </a:cubicBezTo>
                <a:cubicBezTo>
                  <a:pt x="18715" y="11631"/>
                  <a:pt x="18715" y="11631"/>
                  <a:pt x="18715" y="11631"/>
                </a:cubicBezTo>
                <a:cubicBezTo>
                  <a:pt x="18793" y="11631"/>
                  <a:pt x="18793" y="11631"/>
                  <a:pt x="18793" y="11631"/>
                </a:cubicBezTo>
                <a:cubicBezTo>
                  <a:pt x="18793" y="11631"/>
                  <a:pt x="18793" y="11631"/>
                  <a:pt x="18793" y="11631"/>
                </a:cubicBezTo>
                <a:cubicBezTo>
                  <a:pt x="18793" y="11631"/>
                  <a:pt x="18793" y="11631"/>
                  <a:pt x="18793" y="11631"/>
                </a:cubicBezTo>
                <a:cubicBezTo>
                  <a:pt x="19261" y="11215"/>
                  <a:pt x="19261" y="11215"/>
                  <a:pt x="19261" y="11215"/>
                </a:cubicBezTo>
                <a:close/>
                <a:moveTo>
                  <a:pt x="17779" y="9969"/>
                </a:moveTo>
                <a:cubicBezTo>
                  <a:pt x="17779" y="9969"/>
                  <a:pt x="17779" y="9969"/>
                  <a:pt x="17779" y="9969"/>
                </a:cubicBezTo>
                <a:cubicBezTo>
                  <a:pt x="17701" y="9969"/>
                  <a:pt x="17701" y="9969"/>
                  <a:pt x="17701" y="9969"/>
                </a:cubicBezTo>
                <a:cubicBezTo>
                  <a:pt x="17701" y="9969"/>
                  <a:pt x="17701" y="9969"/>
                  <a:pt x="17701" y="9969"/>
                </a:cubicBezTo>
                <a:cubicBezTo>
                  <a:pt x="17701" y="9969"/>
                  <a:pt x="17701" y="9969"/>
                  <a:pt x="17701" y="9969"/>
                </a:cubicBezTo>
                <a:cubicBezTo>
                  <a:pt x="17623" y="9886"/>
                  <a:pt x="17623" y="9886"/>
                  <a:pt x="17623" y="9886"/>
                </a:cubicBezTo>
                <a:cubicBezTo>
                  <a:pt x="17623" y="9886"/>
                  <a:pt x="17623" y="9886"/>
                  <a:pt x="17623" y="9886"/>
                </a:cubicBezTo>
                <a:cubicBezTo>
                  <a:pt x="17623" y="9886"/>
                  <a:pt x="17623" y="9886"/>
                  <a:pt x="17623" y="9886"/>
                </a:cubicBezTo>
                <a:cubicBezTo>
                  <a:pt x="17545" y="9886"/>
                  <a:pt x="17545" y="9886"/>
                  <a:pt x="17545" y="9886"/>
                </a:cubicBezTo>
                <a:cubicBezTo>
                  <a:pt x="17545" y="9886"/>
                  <a:pt x="17545" y="9886"/>
                  <a:pt x="17545" y="9886"/>
                </a:cubicBezTo>
                <a:cubicBezTo>
                  <a:pt x="17467" y="9886"/>
                  <a:pt x="17467" y="9886"/>
                  <a:pt x="17467" y="9886"/>
                </a:cubicBezTo>
                <a:cubicBezTo>
                  <a:pt x="17467" y="9803"/>
                  <a:pt x="17467" y="9803"/>
                  <a:pt x="17467" y="9803"/>
                </a:cubicBezTo>
                <a:cubicBezTo>
                  <a:pt x="17467" y="9803"/>
                  <a:pt x="17467" y="9803"/>
                  <a:pt x="17467" y="9803"/>
                </a:cubicBezTo>
                <a:cubicBezTo>
                  <a:pt x="17389" y="9803"/>
                  <a:pt x="17389" y="9803"/>
                  <a:pt x="17389" y="9803"/>
                </a:cubicBezTo>
                <a:cubicBezTo>
                  <a:pt x="17389" y="9803"/>
                  <a:pt x="17389" y="9803"/>
                  <a:pt x="17389" y="9803"/>
                </a:cubicBezTo>
                <a:cubicBezTo>
                  <a:pt x="17389" y="9803"/>
                  <a:pt x="17389" y="9803"/>
                  <a:pt x="17389" y="9803"/>
                </a:cubicBezTo>
                <a:cubicBezTo>
                  <a:pt x="17311" y="9803"/>
                  <a:pt x="17311" y="9803"/>
                  <a:pt x="17311" y="9803"/>
                </a:cubicBezTo>
                <a:cubicBezTo>
                  <a:pt x="17311" y="9720"/>
                  <a:pt x="17311" y="9720"/>
                  <a:pt x="17311" y="9720"/>
                </a:cubicBezTo>
                <a:cubicBezTo>
                  <a:pt x="17311" y="9720"/>
                  <a:pt x="17311" y="9720"/>
                  <a:pt x="17311" y="9720"/>
                </a:cubicBezTo>
                <a:cubicBezTo>
                  <a:pt x="17233" y="9720"/>
                  <a:pt x="17233" y="9720"/>
                  <a:pt x="17233" y="9720"/>
                </a:cubicBezTo>
                <a:cubicBezTo>
                  <a:pt x="17233" y="9720"/>
                  <a:pt x="17233" y="9720"/>
                  <a:pt x="17233" y="9720"/>
                </a:cubicBezTo>
                <a:cubicBezTo>
                  <a:pt x="17233" y="9720"/>
                  <a:pt x="17233" y="9720"/>
                  <a:pt x="17233" y="9720"/>
                </a:cubicBezTo>
                <a:cubicBezTo>
                  <a:pt x="16999" y="10302"/>
                  <a:pt x="16999" y="10302"/>
                  <a:pt x="16999" y="10302"/>
                </a:cubicBezTo>
                <a:cubicBezTo>
                  <a:pt x="16999" y="10302"/>
                  <a:pt x="16999" y="10302"/>
                  <a:pt x="16999" y="10302"/>
                </a:cubicBezTo>
                <a:cubicBezTo>
                  <a:pt x="16999" y="10302"/>
                  <a:pt x="16999" y="10302"/>
                  <a:pt x="16999" y="10302"/>
                </a:cubicBezTo>
                <a:cubicBezTo>
                  <a:pt x="17077" y="10302"/>
                  <a:pt x="17077" y="10302"/>
                  <a:pt x="17077" y="10302"/>
                </a:cubicBezTo>
                <a:cubicBezTo>
                  <a:pt x="17077" y="10302"/>
                  <a:pt x="17077" y="10302"/>
                  <a:pt x="17077" y="10302"/>
                </a:cubicBezTo>
                <a:cubicBezTo>
                  <a:pt x="17077" y="10385"/>
                  <a:pt x="17077" y="10385"/>
                  <a:pt x="17077" y="10385"/>
                </a:cubicBezTo>
                <a:cubicBezTo>
                  <a:pt x="17155" y="10385"/>
                  <a:pt x="17155" y="10385"/>
                  <a:pt x="17155" y="10385"/>
                </a:cubicBezTo>
                <a:cubicBezTo>
                  <a:pt x="17155" y="10385"/>
                  <a:pt x="17155" y="10385"/>
                  <a:pt x="17155" y="10385"/>
                </a:cubicBezTo>
                <a:cubicBezTo>
                  <a:pt x="17155" y="10385"/>
                  <a:pt x="17155" y="10385"/>
                  <a:pt x="17155" y="10385"/>
                </a:cubicBezTo>
                <a:cubicBezTo>
                  <a:pt x="17233" y="10385"/>
                  <a:pt x="17233" y="10385"/>
                  <a:pt x="17233" y="10385"/>
                </a:cubicBezTo>
                <a:cubicBezTo>
                  <a:pt x="17233" y="10385"/>
                  <a:pt x="17233" y="10385"/>
                  <a:pt x="17233" y="10385"/>
                </a:cubicBezTo>
                <a:cubicBezTo>
                  <a:pt x="17233" y="10385"/>
                  <a:pt x="17233" y="10385"/>
                  <a:pt x="17233" y="10385"/>
                </a:cubicBezTo>
                <a:cubicBezTo>
                  <a:pt x="17311" y="10468"/>
                  <a:pt x="17311" y="10468"/>
                  <a:pt x="17311" y="10468"/>
                </a:cubicBezTo>
                <a:cubicBezTo>
                  <a:pt x="17311" y="10468"/>
                  <a:pt x="17311" y="10468"/>
                  <a:pt x="17311" y="10468"/>
                </a:cubicBezTo>
                <a:cubicBezTo>
                  <a:pt x="17311" y="10468"/>
                  <a:pt x="17311" y="10468"/>
                  <a:pt x="17311" y="10468"/>
                </a:cubicBezTo>
                <a:cubicBezTo>
                  <a:pt x="17389" y="10468"/>
                  <a:pt x="17389" y="10468"/>
                  <a:pt x="17389" y="10468"/>
                </a:cubicBezTo>
                <a:cubicBezTo>
                  <a:pt x="17389" y="10468"/>
                  <a:pt x="17389" y="10468"/>
                  <a:pt x="17389" y="10468"/>
                </a:cubicBezTo>
                <a:cubicBezTo>
                  <a:pt x="17389" y="10468"/>
                  <a:pt x="17389" y="10468"/>
                  <a:pt x="17389" y="10468"/>
                </a:cubicBezTo>
                <a:cubicBezTo>
                  <a:pt x="17467" y="10551"/>
                  <a:pt x="17467" y="10551"/>
                  <a:pt x="17467" y="10551"/>
                </a:cubicBezTo>
                <a:cubicBezTo>
                  <a:pt x="17467" y="10551"/>
                  <a:pt x="17467" y="10551"/>
                  <a:pt x="17467" y="10551"/>
                </a:cubicBezTo>
                <a:cubicBezTo>
                  <a:pt x="17467" y="10551"/>
                  <a:pt x="17467" y="10551"/>
                  <a:pt x="17467" y="10551"/>
                </a:cubicBezTo>
                <a:cubicBezTo>
                  <a:pt x="17467" y="10551"/>
                  <a:pt x="17467" y="10551"/>
                  <a:pt x="17467" y="10551"/>
                </a:cubicBezTo>
                <a:cubicBezTo>
                  <a:pt x="17779" y="9969"/>
                  <a:pt x="17779" y="9969"/>
                  <a:pt x="17779" y="9969"/>
                </a:cubicBezTo>
                <a:close/>
                <a:moveTo>
                  <a:pt x="15362" y="8142"/>
                </a:moveTo>
                <a:cubicBezTo>
                  <a:pt x="11931" y="8142"/>
                  <a:pt x="9123" y="11132"/>
                  <a:pt x="9123" y="14871"/>
                </a:cubicBezTo>
                <a:cubicBezTo>
                  <a:pt x="9123" y="18526"/>
                  <a:pt x="11931" y="21517"/>
                  <a:pt x="15362" y="21517"/>
                </a:cubicBezTo>
                <a:cubicBezTo>
                  <a:pt x="18793" y="21517"/>
                  <a:pt x="21600" y="18526"/>
                  <a:pt x="21600" y="14871"/>
                </a:cubicBezTo>
                <a:cubicBezTo>
                  <a:pt x="21600" y="11132"/>
                  <a:pt x="18793" y="8142"/>
                  <a:pt x="15362" y="8142"/>
                </a:cubicBezTo>
                <a:close/>
                <a:moveTo>
                  <a:pt x="1014" y="5400"/>
                </a:moveTo>
                <a:cubicBezTo>
                  <a:pt x="2183" y="5234"/>
                  <a:pt x="3431" y="5234"/>
                  <a:pt x="4601" y="5151"/>
                </a:cubicBezTo>
                <a:cubicBezTo>
                  <a:pt x="3821" y="5151"/>
                  <a:pt x="2963" y="5068"/>
                  <a:pt x="2183" y="4985"/>
                </a:cubicBezTo>
                <a:cubicBezTo>
                  <a:pt x="1638" y="4902"/>
                  <a:pt x="1170" y="4486"/>
                  <a:pt x="1170" y="3905"/>
                </a:cubicBezTo>
                <a:cubicBezTo>
                  <a:pt x="1170" y="2991"/>
                  <a:pt x="1170" y="2160"/>
                  <a:pt x="1170" y="1329"/>
                </a:cubicBezTo>
                <a:cubicBezTo>
                  <a:pt x="1170" y="748"/>
                  <a:pt x="1638" y="332"/>
                  <a:pt x="2183" y="249"/>
                </a:cubicBezTo>
                <a:cubicBezTo>
                  <a:pt x="5458" y="-83"/>
                  <a:pt x="8734" y="-83"/>
                  <a:pt x="12009" y="249"/>
                </a:cubicBezTo>
                <a:cubicBezTo>
                  <a:pt x="12555" y="332"/>
                  <a:pt x="13022" y="748"/>
                  <a:pt x="13022" y="1329"/>
                </a:cubicBezTo>
                <a:cubicBezTo>
                  <a:pt x="13022" y="2160"/>
                  <a:pt x="13022" y="2991"/>
                  <a:pt x="13022" y="3905"/>
                </a:cubicBezTo>
                <a:cubicBezTo>
                  <a:pt x="13022" y="4486"/>
                  <a:pt x="12555" y="4902"/>
                  <a:pt x="12009" y="4985"/>
                </a:cubicBezTo>
                <a:cubicBezTo>
                  <a:pt x="10839" y="5068"/>
                  <a:pt x="9669" y="5151"/>
                  <a:pt x="8422" y="5234"/>
                </a:cubicBezTo>
                <a:cubicBezTo>
                  <a:pt x="9279" y="5234"/>
                  <a:pt x="10059" y="5317"/>
                  <a:pt x="10839" y="5400"/>
                </a:cubicBezTo>
                <a:cubicBezTo>
                  <a:pt x="11385" y="5483"/>
                  <a:pt x="11853" y="5899"/>
                  <a:pt x="11853" y="6480"/>
                </a:cubicBezTo>
                <a:cubicBezTo>
                  <a:pt x="11853" y="7726"/>
                  <a:pt x="11853" y="7726"/>
                  <a:pt x="11853" y="7726"/>
                </a:cubicBezTo>
                <a:cubicBezTo>
                  <a:pt x="11151" y="8142"/>
                  <a:pt x="10527" y="8557"/>
                  <a:pt x="10059" y="9139"/>
                </a:cubicBezTo>
                <a:cubicBezTo>
                  <a:pt x="9669" y="9471"/>
                  <a:pt x="9435" y="9886"/>
                  <a:pt x="9123" y="10302"/>
                </a:cubicBezTo>
                <a:cubicBezTo>
                  <a:pt x="6394" y="10468"/>
                  <a:pt x="3743" y="10468"/>
                  <a:pt x="1014" y="10135"/>
                </a:cubicBezTo>
                <a:cubicBezTo>
                  <a:pt x="468" y="10052"/>
                  <a:pt x="0" y="9637"/>
                  <a:pt x="0" y="9055"/>
                </a:cubicBezTo>
                <a:cubicBezTo>
                  <a:pt x="0" y="8225"/>
                  <a:pt x="0" y="7311"/>
                  <a:pt x="0" y="6480"/>
                </a:cubicBezTo>
                <a:cubicBezTo>
                  <a:pt x="0" y="5899"/>
                  <a:pt x="468" y="5483"/>
                  <a:pt x="1014" y="5400"/>
                </a:cubicBezTo>
                <a:close/>
              </a:path>
            </a:pathLst>
          </a:custGeom>
          <a:solidFill>
            <a:schemeClr val="accent1">
              <a:lumMod val="75000"/>
            </a:schemeClr>
          </a:solidFill>
          <a:ln w="12700" cap="flat">
            <a:noFill/>
            <a:miter lim="400000"/>
          </a:ln>
          <a:effectLst/>
        </p:spPr>
        <p:txBody>
          <a:bodyPr wrap="square" lIns="91439" tIns="91439" rIns="91439" bIns="91439" numCol="1" anchor="t">
            <a:noAutofit/>
          </a:bodyPr>
          <a:lstStyle/>
          <a:p>
            <a:endParaRPr i="1">
              <a:latin typeface="微软雅黑" panose="020B0503020204020204" charset="-122"/>
              <a:ea typeface="微软雅黑" panose="020B0503020204020204" charset="-122"/>
            </a:endParaRPr>
          </a:p>
        </p:txBody>
      </p:sp>
      <p:sp>
        <p:nvSpPr>
          <p:cNvPr id="64" name="矩形 184"/>
          <p:cNvSpPr/>
          <p:nvPr/>
        </p:nvSpPr>
        <p:spPr>
          <a:xfrm>
            <a:off x="6313029" y="1142621"/>
            <a:ext cx="5515015" cy="97996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微软雅黑" panose="020B0503020204020204" charset="-122"/>
              <a:ea typeface="微软雅黑" panose="020B0503020204020204" charset="-122"/>
            </a:endParaRPr>
          </a:p>
        </p:txBody>
      </p:sp>
      <p:sp>
        <p:nvSpPr>
          <p:cNvPr id="65" name="矩形 9"/>
          <p:cNvSpPr/>
          <p:nvPr/>
        </p:nvSpPr>
        <p:spPr bwMode="gray">
          <a:xfrm>
            <a:off x="6154023" y="1053204"/>
            <a:ext cx="5515015" cy="977052"/>
          </a:xfrm>
          <a:prstGeom prst="rect">
            <a:avLst/>
          </a:prstGeom>
          <a:solidFill>
            <a:schemeClr val="accent2">
              <a:lumMod val="20000"/>
              <a:lumOff val="80000"/>
              <a:alpha val="78000"/>
            </a:schemeClr>
          </a:solidFill>
          <a:ln w="19050" algn="ctr">
            <a:noFill/>
            <a:miter lim="800000"/>
          </a:ln>
        </p:spPr>
        <p:txBody>
          <a:bodyPr wrap="square" lIns="88888" tIns="88888" rIns="88888" bIns="88888" rtlCol="0" anchor="ctr"/>
          <a:lstStyle/>
          <a:p>
            <a:pPr algn="ctr" defTabSz="914400">
              <a:lnSpc>
                <a:spcPct val="106000"/>
              </a:lnSpc>
              <a:defRPr/>
            </a:pPr>
            <a:endParaRPr lang="zh-CN" altLang="en-US" sz="1600" b="1" kern="0" dirty="0">
              <a:solidFill>
                <a:prstClr val="white"/>
              </a:solidFill>
              <a:latin typeface="微软雅黑" panose="020B0503020204020204" charset="-122"/>
              <a:ea typeface="微软雅黑" panose="020B0503020204020204" charset="-122"/>
            </a:endParaRPr>
          </a:p>
        </p:txBody>
      </p:sp>
      <p:sp>
        <p:nvSpPr>
          <p:cNvPr id="73" name="Rectangle 91"/>
          <p:cNvSpPr/>
          <p:nvPr/>
        </p:nvSpPr>
        <p:spPr>
          <a:xfrm>
            <a:off x="7126677" y="1570150"/>
            <a:ext cx="3728713" cy="307777"/>
          </a:xfrm>
          <a:prstGeom prst="rect">
            <a:avLst/>
          </a:prstGeom>
        </p:spPr>
        <p:txBody>
          <a:bodyPr wrap="square">
            <a:spAutoFit/>
          </a:bodyPr>
          <a:lstStyle/>
          <a:p>
            <a:pPr lvl="0" algn="ctr">
              <a:spcBef>
                <a:spcPts val="600"/>
              </a:spcBef>
              <a:buSzPct val="100000"/>
              <a:defRPr/>
            </a:pPr>
            <a:r>
              <a:rPr lang="zh-CN" altLang="en-US" sz="1400" b="1" i="1" u="sng" dirty="0">
                <a:solidFill>
                  <a:srgbClr val="C00000"/>
                </a:solidFill>
                <a:latin typeface="微软雅黑" panose="020B0503020204020204" charset="-122"/>
                <a:ea typeface="微软雅黑" panose="020B0503020204020204" charset="-122"/>
              </a:rPr>
              <a:t>对知识工程提出具体能力要求</a:t>
            </a:r>
            <a:endParaRPr lang="zh-CN" altLang="en-US" sz="1400" b="1" i="1" u="sng" dirty="0">
              <a:solidFill>
                <a:srgbClr val="C00000"/>
              </a:solidFill>
              <a:latin typeface="微软雅黑" panose="020B0503020204020204" charset="-122"/>
              <a:ea typeface="微软雅黑" panose="020B0503020204020204" charset="-122"/>
            </a:endParaRPr>
          </a:p>
        </p:txBody>
      </p:sp>
      <p:sp>
        <p:nvSpPr>
          <p:cNvPr id="74" name="TextBox 98"/>
          <p:cNvSpPr txBox="1"/>
          <p:nvPr/>
        </p:nvSpPr>
        <p:spPr>
          <a:xfrm>
            <a:off x="8283766" y="1238799"/>
            <a:ext cx="1414535" cy="276999"/>
          </a:xfrm>
          <a:prstGeom prst="rect">
            <a:avLst/>
          </a:prstGeom>
          <a:noFill/>
        </p:spPr>
        <p:txBody>
          <a:bodyPr wrap="square" lIns="0" tIns="0" rIns="0" bIns="0" rtlCol="0">
            <a:spAutoFit/>
          </a:bodyPr>
          <a:lstStyle/>
          <a:p>
            <a:pPr lvl="0" algn="ctr">
              <a:defRPr/>
            </a:pPr>
            <a:r>
              <a:rPr lang="zh-CN" altLang="en-US" b="1" dirty="0">
                <a:latin typeface="微软雅黑" panose="020B0503020204020204" charset="-122"/>
                <a:ea typeface="微软雅黑" panose="020B0503020204020204" charset="-122"/>
                <a:cs typeface="+mn-ea"/>
                <a:sym typeface="+mn-lt"/>
              </a:rPr>
              <a:t>监管层面</a:t>
            </a:r>
            <a:endParaRPr lang="zh-CN" altLang="en-US" b="1" dirty="0">
              <a:latin typeface="微软雅黑" panose="020B0503020204020204" charset="-122"/>
              <a:ea typeface="微软雅黑" panose="020B0503020204020204" charset="-122"/>
              <a:cs typeface="+mn-ea"/>
              <a:sym typeface="+mn-lt"/>
            </a:endParaRPr>
          </a:p>
        </p:txBody>
      </p:sp>
      <p:sp>
        <p:nvSpPr>
          <p:cNvPr id="75" name="Freeform 936"/>
          <p:cNvSpPr>
            <a:spLocks noEditPoints="1"/>
          </p:cNvSpPr>
          <p:nvPr/>
        </p:nvSpPr>
        <p:spPr bwMode="auto">
          <a:xfrm>
            <a:off x="6783616" y="1278711"/>
            <a:ext cx="480209" cy="470227"/>
          </a:xfrm>
          <a:custGeom>
            <a:avLst/>
            <a:gdLst>
              <a:gd name="T0" fmla="*/ 320 w 321"/>
              <a:gd name="T1" fmla="*/ 221 h 320"/>
              <a:gd name="T2" fmla="*/ 278 w 321"/>
              <a:gd name="T3" fmla="*/ 50 h 320"/>
              <a:gd name="T4" fmla="*/ 277 w 321"/>
              <a:gd name="T5" fmla="*/ 50 h 320"/>
              <a:gd name="T6" fmla="*/ 277 w 321"/>
              <a:gd name="T7" fmla="*/ 48 h 320"/>
              <a:gd name="T8" fmla="*/ 275 w 321"/>
              <a:gd name="T9" fmla="*/ 46 h 320"/>
              <a:gd name="T10" fmla="*/ 274 w 321"/>
              <a:gd name="T11" fmla="*/ 45 h 320"/>
              <a:gd name="T12" fmla="*/ 272 w 321"/>
              <a:gd name="T13" fmla="*/ 44 h 320"/>
              <a:gd name="T14" fmla="*/ 271 w 321"/>
              <a:gd name="T15" fmla="*/ 43 h 320"/>
              <a:gd name="T16" fmla="*/ 268 w 321"/>
              <a:gd name="T17" fmla="*/ 42 h 320"/>
              <a:gd name="T18" fmla="*/ 267 w 321"/>
              <a:gd name="T19" fmla="*/ 42 h 320"/>
              <a:gd name="T20" fmla="*/ 267 w 321"/>
              <a:gd name="T21" fmla="*/ 42 h 320"/>
              <a:gd name="T22" fmla="*/ 171 w 321"/>
              <a:gd name="T23" fmla="*/ 42 h 320"/>
              <a:gd name="T24" fmla="*/ 171 w 321"/>
              <a:gd name="T25" fmla="*/ 10 h 320"/>
              <a:gd name="T26" fmla="*/ 161 w 321"/>
              <a:gd name="T27" fmla="*/ 0 h 320"/>
              <a:gd name="T28" fmla="*/ 150 w 321"/>
              <a:gd name="T29" fmla="*/ 10 h 320"/>
              <a:gd name="T30" fmla="*/ 150 w 321"/>
              <a:gd name="T31" fmla="*/ 42 h 320"/>
              <a:gd name="T32" fmla="*/ 65 w 321"/>
              <a:gd name="T33" fmla="*/ 42 h 320"/>
              <a:gd name="T34" fmla="*/ 64 w 321"/>
              <a:gd name="T35" fmla="*/ 42 h 320"/>
              <a:gd name="T36" fmla="*/ 61 w 321"/>
              <a:gd name="T37" fmla="*/ 43 h 320"/>
              <a:gd name="T38" fmla="*/ 60 w 321"/>
              <a:gd name="T39" fmla="*/ 44 h 320"/>
              <a:gd name="T40" fmla="*/ 58 w 321"/>
              <a:gd name="T41" fmla="*/ 45 h 320"/>
              <a:gd name="T42" fmla="*/ 57 w 321"/>
              <a:gd name="T43" fmla="*/ 46 h 320"/>
              <a:gd name="T44" fmla="*/ 55 w 321"/>
              <a:gd name="T45" fmla="*/ 48 h 320"/>
              <a:gd name="T46" fmla="*/ 55 w 321"/>
              <a:gd name="T47" fmla="*/ 49 h 320"/>
              <a:gd name="T48" fmla="*/ 54 w 321"/>
              <a:gd name="T49" fmla="*/ 50 h 320"/>
              <a:gd name="T50" fmla="*/ 1 w 321"/>
              <a:gd name="T51" fmla="*/ 220 h 320"/>
              <a:gd name="T52" fmla="*/ 3 w 321"/>
              <a:gd name="T53" fmla="*/ 230 h 320"/>
              <a:gd name="T54" fmla="*/ 11 w 321"/>
              <a:gd name="T55" fmla="*/ 234 h 320"/>
              <a:gd name="T56" fmla="*/ 107 w 321"/>
              <a:gd name="T57" fmla="*/ 234 h 320"/>
              <a:gd name="T58" fmla="*/ 116 w 321"/>
              <a:gd name="T59" fmla="*/ 230 h 320"/>
              <a:gd name="T60" fmla="*/ 118 w 321"/>
              <a:gd name="T61" fmla="*/ 221 h 320"/>
              <a:gd name="T62" fmla="*/ 78 w 321"/>
              <a:gd name="T63" fmla="*/ 64 h 320"/>
              <a:gd name="T64" fmla="*/ 150 w 321"/>
              <a:gd name="T65" fmla="*/ 64 h 320"/>
              <a:gd name="T66" fmla="*/ 150 w 321"/>
              <a:gd name="T67" fmla="*/ 298 h 320"/>
              <a:gd name="T68" fmla="*/ 97 w 321"/>
              <a:gd name="T69" fmla="*/ 298 h 320"/>
              <a:gd name="T70" fmla="*/ 86 w 321"/>
              <a:gd name="T71" fmla="*/ 309 h 320"/>
              <a:gd name="T72" fmla="*/ 97 w 321"/>
              <a:gd name="T73" fmla="*/ 320 h 320"/>
              <a:gd name="T74" fmla="*/ 225 w 321"/>
              <a:gd name="T75" fmla="*/ 320 h 320"/>
              <a:gd name="T76" fmla="*/ 235 w 321"/>
              <a:gd name="T77" fmla="*/ 309 h 320"/>
              <a:gd name="T78" fmla="*/ 225 w 321"/>
              <a:gd name="T79" fmla="*/ 298 h 320"/>
              <a:gd name="T80" fmla="*/ 171 w 321"/>
              <a:gd name="T81" fmla="*/ 298 h 320"/>
              <a:gd name="T82" fmla="*/ 171 w 321"/>
              <a:gd name="T83" fmla="*/ 64 h 320"/>
              <a:gd name="T84" fmla="*/ 253 w 321"/>
              <a:gd name="T85" fmla="*/ 64 h 320"/>
              <a:gd name="T86" fmla="*/ 204 w 321"/>
              <a:gd name="T87" fmla="*/ 220 h 320"/>
              <a:gd name="T88" fmla="*/ 205 w 321"/>
              <a:gd name="T89" fmla="*/ 230 h 320"/>
              <a:gd name="T90" fmla="*/ 214 w 321"/>
              <a:gd name="T91" fmla="*/ 234 h 320"/>
              <a:gd name="T92" fmla="*/ 310 w 321"/>
              <a:gd name="T93" fmla="*/ 234 h 320"/>
              <a:gd name="T94" fmla="*/ 318 w 321"/>
              <a:gd name="T95" fmla="*/ 230 h 320"/>
              <a:gd name="T96" fmla="*/ 320 w 321"/>
              <a:gd name="T97" fmla="*/ 221 h 320"/>
              <a:gd name="T98" fmla="*/ 26 w 321"/>
              <a:gd name="T99" fmla="*/ 213 h 320"/>
              <a:gd name="T100" fmla="*/ 64 w 321"/>
              <a:gd name="T101" fmla="*/ 92 h 320"/>
              <a:gd name="T102" fmla="*/ 94 w 321"/>
              <a:gd name="T103" fmla="*/ 213 h 320"/>
              <a:gd name="T104" fmla="*/ 26 w 321"/>
              <a:gd name="T105" fmla="*/ 213 h 320"/>
              <a:gd name="T106" fmla="*/ 229 w 321"/>
              <a:gd name="T107" fmla="*/ 213 h 320"/>
              <a:gd name="T108" fmla="*/ 266 w 321"/>
              <a:gd name="T109" fmla="*/ 92 h 320"/>
              <a:gd name="T110" fmla="*/ 296 w 321"/>
              <a:gd name="T111" fmla="*/ 213 h 320"/>
              <a:gd name="T112" fmla="*/ 229 w 321"/>
              <a:gd name="T113" fmla="*/ 213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1" h="320">
                <a:moveTo>
                  <a:pt x="320" y="221"/>
                </a:moveTo>
                <a:cubicBezTo>
                  <a:pt x="278" y="50"/>
                  <a:pt x="278" y="50"/>
                  <a:pt x="278" y="50"/>
                </a:cubicBezTo>
                <a:cubicBezTo>
                  <a:pt x="278" y="50"/>
                  <a:pt x="277" y="50"/>
                  <a:pt x="277" y="50"/>
                </a:cubicBezTo>
                <a:cubicBezTo>
                  <a:pt x="277" y="49"/>
                  <a:pt x="277" y="49"/>
                  <a:pt x="277" y="48"/>
                </a:cubicBezTo>
                <a:cubicBezTo>
                  <a:pt x="276" y="47"/>
                  <a:pt x="276" y="47"/>
                  <a:pt x="275" y="46"/>
                </a:cubicBezTo>
                <a:cubicBezTo>
                  <a:pt x="275" y="46"/>
                  <a:pt x="275" y="45"/>
                  <a:pt x="274" y="45"/>
                </a:cubicBezTo>
                <a:cubicBezTo>
                  <a:pt x="274" y="45"/>
                  <a:pt x="273" y="44"/>
                  <a:pt x="272" y="44"/>
                </a:cubicBezTo>
                <a:cubicBezTo>
                  <a:pt x="272" y="43"/>
                  <a:pt x="272" y="43"/>
                  <a:pt x="271" y="43"/>
                </a:cubicBezTo>
                <a:cubicBezTo>
                  <a:pt x="270" y="43"/>
                  <a:pt x="269" y="42"/>
                  <a:pt x="268" y="42"/>
                </a:cubicBezTo>
                <a:cubicBezTo>
                  <a:pt x="268" y="42"/>
                  <a:pt x="268" y="42"/>
                  <a:pt x="267" y="42"/>
                </a:cubicBezTo>
                <a:cubicBezTo>
                  <a:pt x="267" y="42"/>
                  <a:pt x="267" y="42"/>
                  <a:pt x="267" y="42"/>
                </a:cubicBezTo>
                <a:cubicBezTo>
                  <a:pt x="171" y="42"/>
                  <a:pt x="171" y="42"/>
                  <a:pt x="171" y="42"/>
                </a:cubicBezTo>
                <a:cubicBezTo>
                  <a:pt x="171" y="10"/>
                  <a:pt x="171" y="10"/>
                  <a:pt x="171" y="10"/>
                </a:cubicBezTo>
                <a:cubicBezTo>
                  <a:pt x="171" y="4"/>
                  <a:pt x="167" y="0"/>
                  <a:pt x="161" y="0"/>
                </a:cubicBezTo>
                <a:cubicBezTo>
                  <a:pt x="155" y="0"/>
                  <a:pt x="150" y="4"/>
                  <a:pt x="150" y="10"/>
                </a:cubicBezTo>
                <a:cubicBezTo>
                  <a:pt x="150" y="42"/>
                  <a:pt x="150" y="42"/>
                  <a:pt x="150" y="42"/>
                </a:cubicBezTo>
                <a:cubicBezTo>
                  <a:pt x="65" y="42"/>
                  <a:pt x="65" y="42"/>
                  <a:pt x="65" y="42"/>
                </a:cubicBezTo>
                <a:cubicBezTo>
                  <a:pt x="64" y="42"/>
                  <a:pt x="64" y="42"/>
                  <a:pt x="64" y="42"/>
                </a:cubicBezTo>
                <a:cubicBezTo>
                  <a:pt x="63" y="43"/>
                  <a:pt x="62" y="43"/>
                  <a:pt x="61" y="43"/>
                </a:cubicBezTo>
                <a:cubicBezTo>
                  <a:pt x="61" y="43"/>
                  <a:pt x="60" y="43"/>
                  <a:pt x="60" y="44"/>
                </a:cubicBezTo>
                <a:cubicBezTo>
                  <a:pt x="59" y="44"/>
                  <a:pt x="58" y="45"/>
                  <a:pt x="58" y="45"/>
                </a:cubicBezTo>
                <a:cubicBezTo>
                  <a:pt x="57" y="45"/>
                  <a:pt x="57" y="46"/>
                  <a:pt x="57" y="46"/>
                </a:cubicBezTo>
                <a:cubicBezTo>
                  <a:pt x="56" y="47"/>
                  <a:pt x="56" y="47"/>
                  <a:pt x="55" y="48"/>
                </a:cubicBezTo>
                <a:cubicBezTo>
                  <a:pt x="55" y="49"/>
                  <a:pt x="55" y="49"/>
                  <a:pt x="55" y="49"/>
                </a:cubicBezTo>
                <a:cubicBezTo>
                  <a:pt x="55" y="49"/>
                  <a:pt x="55" y="50"/>
                  <a:pt x="54" y="50"/>
                </a:cubicBezTo>
                <a:cubicBezTo>
                  <a:pt x="1" y="220"/>
                  <a:pt x="1" y="220"/>
                  <a:pt x="1" y="220"/>
                </a:cubicBezTo>
                <a:cubicBezTo>
                  <a:pt x="0" y="224"/>
                  <a:pt x="1" y="227"/>
                  <a:pt x="3" y="230"/>
                </a:cubicBezTo>
                <a:cubicBezTo>
                  <a:pt x="5" y="233"/>
                  <a:pt x="8" y="234"/>
                  <a:pt x="11" y="234"/>
                </a:cubicBezTo>
                <a:cubicBezTo>
                  <a:pt x="107" y="234"/>
                  <a:pt x="107" y="234"/>
                  <a:pt x="107" y="234"/>
                </a:cubicBezTo>
                <a:cubicBezTo>
                  <a:pt x="111" y="234"/>
                  <a:pt x="114" y="233"/>
                  <a:pt x="116" y="230"/>
                </a:cubicBezTo>
                <a:cubicBezTo>
                  <a:pt x="118" y="228"/>
                  <a:pt x="118" y="224"/>
                  <a:pt x="118" y="221"/>
                </a:cubicBezTo>
                <a:cubicBezTo>
                  <a:pt x="78" y="64"/>
                  <a:pt x="78" y="64"/>
                  <a:pt x="78" y="64"/>
                </a:cubicBezTo>
                <a:cubicBezTo>
                  <a:pt x="150" y="64"/>
                  <a:pt x="150" y="64"/>
                  <a:pt x="150" y="64"/>
                </a:cubicBezTo>
                <a:cubicBezTo>
                  <a:pt x="150" y="298"/>
                  <a:pt x="150" y="298"/>
                  <a:pt x="150" y="298"/>
                </a:cubicBezTo>
                <a:cubicBezTo>
                  <a:pt x="97" y="298"/>
                  <a:pt x="97" y="298"/>
                  <a:pt x="97" y="298"/>
                </a:cubicBezTo>
                <a:cubicBezTo>
                  <a:pt x="91" y="298"/>
                  <a:pt x="86" y="303"/>
                  <a:pt x="86" y="309"/>
                </a:cubicBezTo>
                <a:cubicBezTo>
                  <a:pt x="86" y="315"/>
                  <a:pt x="91" y="320"/>
                  <a:pt x="97" y="320"/>
                </a:cubicBezTo>
                <a:cubicBezTo>
                  <a:pt x="225" y="320"/>
                  <a:pt x="225" y="320"/>
                  <a:pt x="225" y="320"/>
                </a:cubicBezTo>
                <a:cubicBezTo>
                  <a:pt x="231" y="320"/>
                  <a:pt x="235" y="315"/>
                  <a:pt x="235" y="309"/>
                </a:cubicBezTo>
                <a:cubicBezTo>
                  <a:pt x="235" y="303"/>
                  <a:pt x="231" y="298"/>
                  <a:pt x="225" y="298"/>
                </a:cubicBezTo>
                <a:cubicBezTo>
                  <a:pt x="171" y="298"/>
                  <a:pt x="171" y="298"/>
                  <a:pt x="171" y="298"/>
                </a:cubicBezTo>
                <a:cubicBezTo>
                  <a:pt x="171" y="64"/>
                  <a:pt x="171" y="64"/>
                  <a:pt x="171" y="64"/>
                </a:cubicBezTo>
                <a:cubicBezTo>
                  <a:pt x="253" y="64"/>
                  <a:pt x="253" y="64"/>
                  <a:pt x="253" y="64"/>
                </a:cubicBezTo>
                <a:cubicBezTo>
                  <a:pt x="204" y="220"/>
                  <a:pt x="204" y="220"/>
                  <a:pt x="204" y="220"/>
                </a:cubicBezTo>
                <a:cubicBezTo>
                  <a:pt x="203" y="224"/>
                  <a:pt x="203" y="227"/>
                  <a:pt x="205" y="230"/>
                </a:cubicBezTo>
                <a:cubicBezTo>
                  <a:pt x="207" y="233"/>
                  <a:pt x="211" y="234"/>
                  <a:pt x="214" y="234"/>
                </a:cubicBezTo>
                <a:cubicBezTo>
                  <a:pt x="310" y="234"/>
                  <a:pt x="310" y="234"/>
                  <a:pt x="310" y="234"/>
                </a:cubicBezTo>
                <a:cubicBezTo>
                  <a:pt x="313" y="234"/>
                  <a:pt x="316" y="233"/>
                  <a:pt x="318" y="230"/>
                </a:cubicBezTo>
                <a:cubicBezTo>
                  <a:pt x="320" y="228"/>
                  <a:pt x="321" y="224"/>
                  <a:pt x="320" y="221"/>
                </a:cubicBezTo>
                <a:close/>
                <a:moveTo>
                  <a:pt x="26" y="213"/>
                </a:moveTo>
                <a:cubicBezTo>
                  <a:pt x="64" y="92"/>
                  <a:pt x="64" y="92"/>
                  <a:pt x="64" y="92"/>
                </a:cubicBezTo>
                <a:cubicBezTo>
                  <a:pt x="94" y="213"/>
                  <a:pt x="94" y="213"/>
                  <a:pt x="94" y="213"/>
                </a:cubicBezTo>
                <a:lnTo>
                  <a:pt x="26" y="213"/>
                </a:lnTo>
                <a:close/>
                <a:moveTo>
                  <a:pt x="229" y="213"/>
                </a:moveTo>
                <a:cubicBezTo>
                  <a:pt x="266" y="92"/>
                  <a:pt x="266" y="92"/>
                  <a:pt x="266" y="92"/>
                </a:cubicBezTo>
                <a:cubicBezTo>
                  <a:pt x="296" y="213"/>
                  <a:pt x="296" y="213"/>
                  <a:pt x="296" y="213"/>
                </a:cubicBezTo>
                <a:lnTo>
                  <a:pt x="229" y="213"/>
                </a:lnTo>
                <a:close/>
              </a:path>
            </a:pathLst>
          </a:custGeom>
          <a:solidFill>
            <a:srgbClr val="C00000"/>
          </a:solidFill>
          <a:ln w="12700">
            <a:noFill/>
          </a:ln>
        </p:spPr>
        <p:txBody>
          <a:bodyPr vert="horz" wrap="square" lIns="91440" tIns="45720" rIns="91440" bIns="45720" numCol="1" anchor="t" anchorCtr="0" compatLnSpc="1"/>
          <a:lstStyle/>
          <a:p>
            <a:endParaRPr lang="en-GB" i="1" dirty="0">
              <a:latin typeface="微软雅黑" panose="020B0503020204020204" charset="-122"/>
              <a:ea typeface="微软雅黑" panose="020B0503020204020204" charset="-122"/>
            </a:endParaRPr>
          </a:p>
        </p:txBody>
      </p:sp>
      <p:sp>
        <p:nvSpPr>
          <p:cNvPr id="9" name="矩形: 圆角 101"/>
          <p:cNvSpPr/>
          <p:nvPr/>
        </p:nvSpPr>
        <p:spPr>
          <a:xfrm>
            <a:off x="309050" y="2330477"/>
            <a:ext cx="5674023" cy="4133822"/>
          </a:xfrm>
          <a:prstGeom prst="roundRect">
            <a:avLst>
              <a:gd name="adj" fmla="val 11343"/>
            </a:avLst>
          </a:prstGeom>
          <a:ln w="12700">
            <a:solidFill>
              <a:schemeClr val="bg1">
                <a:lumMod val="75000"/>
              </a:schemeClr>
            </a:solid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defTabSz="914400"/>
            <a:endParaRPr lang="zh-CN" altLang="en-US" sz="1600" b="1" dirty="0">
              <a:solidFill>
                <a:prstClr val="black"/>
              </a:solidFill>
              <a:latin typeface="微软雅黑" panose="020B0503020204020204" charset="-122"/>
              <a:ea typeface="微软雅黑" panose="020B0503020204020204" charset="-122"/>
            </a:endParaRPr>
          </a:p>
        </p:txBody>
      </p:sp>
      <p:sp>
        <p:nvSpPr>
          <p:cNvPr id="10" name="矩形 4"/>
          <p:cNvSpPr/>
          <p:nvPr/>
        </p:nvSpPr>
        <p:spPr>
          <a:xfrm>
            <a:off x="1127702" y="2606955"/>
            <a:ext cx="4748101" cy="738664"/>
          </a:xfrm>
          <a:prstGeom prst="rect">
            <a:avLst/>
          </a:prstGeom>
        </p:spPr>
        <p:txBody>
          <a:bodyPr wrap="square">
            <a:spAutoFit/>
          </a:bodyPr>
          <a:lstStyle/>
          <a:p>
            <a:pPr>
              <a:spcBef>
                <a:spcPts val="1200"/>
              </a:spcBef>
              <a:buClr>
                <a:srgbClr val="C00000"/>
              </a:buClr>
            </a:pPr>
            <a:r>
              <a:rPr lang="en-US" altLang="zh-CN" sz="1400" kern="100" spc="50" dirty="0">
                <a:latin typeface="微软雅黑" panose="020B0503020204020204" charset="-122"/>
                <a:ea typeface="微软雅黑" panose="020B0503020204020204" charset="-122"/>
                <a:cs typeface="微软雅黑" panose="020B0503020204020204" charset="-122"/>
              </a:rPr>
              <a:t>2025</a:t>
            </a:r>
            <a:r>
              <a:rPr lang="zh-CN" altLang="en-US" sz="1400" kern="100" spc="50" dirty="0">
                <a:latin typeface="微软雅黑" panose="020B0503020204020204" charset="-122"/>
                <a:ea typeface="微软雅黑" panose="020B0503020204020204" charset="-122"/>
                <a:cs typeface="微软雅黑" panose="020B0503020204020204" charset="-122"/>
              </a:rPr>
              <a:t>年国务院发布</a:t>
            </a:r>
            <a:r>
              <a:rPr lang="en-US" altLang="zh-CN" sz="1400" b="1" kern="100" spc="50" dirty="0">
                <a:latin typeface="微软雅黑" panose="020B0503020204020204" charset="-122"/>
                <a:ea typeface="微软雅黑" panose="020B0503020204020204" charset="-122"/>
                <a:cs typeface="微软雅黑" panose="020B0503020204020204" charset="-122"/>
              </a:rPr>
              <a:t>《</a:t>
            </a:r>
            <a:r>
              <a:rPr lang="zh-CN" altLang="zh-CN" sz="1400" b="1" dirty="0">
                <a:latin typeface="微软雅黑" panose="020B0503020204020204" charset="-122"/>
                <a:ea typeface="微软雅黑" panose="020B0503020204020204" charset="-122"/>
                <a:cs typeface="微软雅黑" panose="020B0503020204020204" charset="-122"/>
              </a:rPr>
              <a:t>国务院关于深入实施“人工智能+”行动的意见</a:t>
            </a:r>
            <a:r>
              <a:rPr lang="en-US" altLang="zh-CN" sz="1400" b="1" kern="100" spc="50" dirty="0">
                <a:latin typeface="微软雅黑" panose="020B0503020204020204" charset="-122"/>
                <a:ea typeface="微软雅黑" panose="020B0503020204020204" charset="-122"/>
                <a:cs typeface="微软雅黑" panose="020B0503020204020204" charset="-122"/>
              </a:rPr>
              <a:t>》</a:t>
            </a:r>
            <a:r>
              <a:rPr lang="zh-CN" altLang="en-US" sz="1400" kern="100" spc="50" dirty="0">
                <a:latin typeface="微软雅黑" panose="020B0503020204020204" charset="-122"/>
                <a:ea typeface="微软雅黑" panose="020B0503020204020204" charset="-122"/>
                <a:cs typeface="微软雅黑" panose="020B0503020204020204" charset="-122"/>
              </a:rPr>
              <a:t>，</a:t>
            </a:r>
            <a:r>
              <a:rPr lang="zh-CN" altLang="en-US" sz="1400" dirty="0">
                <a:latin typeface="微软雅黑" panose="020B0503020204020204" charset="-122"/>
                <a:ea typeface="微软雅黑" panose="020B0503020204020204" charset="-122"/>
                <a:cs typeface="微软雅黑" panose="020B0503020204020204" charset="-122"/>
              </a:rPr>
              <a:t>重点开展八大领域基础支撑建设，其中数据供给、安全能力覆盖知识工程建设。</a:t>
            </a:r>
            <a:endParaRPr lang="zh-CN" altLang="en-US" sz="1400" dirty="0">
              <a:latin typeface="微软雅黑" panose="020B0503020204020204" charset="-122"/>
              <a:ea typeface="微软雅黑" panose="020B0503020204020204" charset="-122"/>
              <a:cs typeface="微软雅黑" panose="020B0503020204020204" charset="-122"/>
            </a:endParaRPr>
          </a:p>
        </p:txBody>
      </p:sp>
      <p:sp>
        <p:nvSpPr>
          <p:cNvPr id="11" name="KSO_Shape"/>
          <p:cNvSpPr>
            <a:spLocks noChangeAspect="1"/>
          </p:cNvSpPr>
          <p:nvPr/>
        </p:nvSpPr>
        <p:spPr bwMode="auto">
          <a:xfrm>
            <a:off x="522960" y="2564635"/>
            <a:ext cx="412475" cy="607860"/>
          </a:xfrm>
          <a:custGeom>
            <a:avLst/>
            <a:gdLst>
              <a:gd name="T0" fmla="*/ 2147483646 w 5278"/>
              <a:gd name="T1" fmla="*/ 2147483646 h 6863"/>
              <a:gd name="T2" fmla="*/ 2147483646 w 5278"/>
              <a:gd name="T3" fmla="*/ 2147483646 h 6863"/>
              <a:gd name="T4" fmla="*/ 2147483646 w 5278"/>
              <a:gd name="T5" fmla="*/ 2147483646 h 6863"/>
              <a:gd name="T6" fmla="*/ 2147483646 w 5278"/>
              <a:gd name="T7" fmla="*/ 2147483646 h 6863"/>
              <a:gd name="T8" fmla="*/ 2147483646 w 5278"/>
              <a:gd name="T9" fmla="*/ 2147483646 h 6863"/>
              <a:gd name="T10" fmla="*/ 2147483646 w 5278"/>
              <a:gd name="T11" fmla="*/ 2147483646 h 6863"/>
              <a:gd name="T12" fmla="*/ 2147483646 w 5278"/>
              <a:gd name="T13" fmla="*/ 2147483646 h 6863"/>
              <a:gd name="T14" fmla="*/ 2147483646 w 5278"/>
              <a:gd name="T15" fmla="*/ 2147483646 h 6863"/>
              <a:gd name="T16" fmla="*/ 2147483646 w 5278"/>
              <a:gd name="T17" fmla="*/ 2147483646 h 6863"/>
              <a:gd name="T18" fmla="*/ 2147483646 w 5278"/>
              <a:gd name="T19" fmla="*/ 2147483646 h 6863"/>
              <a:gd name="T20" fmla="*/ 2147483646 w 5278"/>
              <a:gd name="T21" fmla="*/ 2147483646 h 6863"/>
              <a:gd name="T22" fmla="*/ 2147483646 w 5278"/>
              <a:gd name="T23" fmla="*/ 2147483646 h 6863"/>
              <a:gd name="T24" fmla="*/ 2147483646 w 5278"/>
              <a:gd name="T25" fmla="*/ 2147483646 h 6863"/>
              <a:gd name="T26" fmla="*/ 2147483646 w 5278"/>
              <a:gd name="T27" fmla="*/ 2147483646 h 6863"/>
              <a:gd name="T28" fmla="*/ 2147483646 w 5278"/>
              <a:gd name="T29" fmla="*/ 2147483646 h 6863"/>
              <a:gd name="T30" fmla="*/ 2147483646 w 5278"/>
              <a:gd name="T31" fmla="*/ 2147483646 h 6863"/>
              <a:gd name="T32" fmla="*/ 2147483646 w 5278"/>
              <a:gd name="T33" fmla="*/ 2147483646 h 6863"/>
              <a:gd name="T34" fmla="*/ 2147483646 w 5278"/>
              <a:gd name="T35" fmla="*/ 2147483646 h 6863"/>
              <a:gd name="T36" fmla="*/ 2147483646 w 5278"/>
              <a:gd name="T37" fmla="*/ 2147483646 h 6863"/>
              <a:gd name="T38" fmla="*/ 2147483646 w 5278"/>
              <a:gd name="T39" fmla="*/ 2147483646 h 6863"/>
              <a:gd name="T40" fmla="*/ 2147483646 w 5278"/>
              <a:gd name="T41" fmla="*/ 2147483646 h 6863"/>
              <a:gd name="T42" fmla="*/ 2147483646 w 5278"/>
              <a:gd name="T43" fmla="*/ 2147483646 h 6863"/>
              <a:gd name="T44" fmla="*/ 2147483646 w 5278"/>
              <a:gd name="T45" fmla="*/ 2147483646 h 6863"/>
              <a:gd name="T46" fmla="*/ 2147483646 w 5278"/>
              <a:gd name="T47" fmla="*/ 2147483646 h 6863"/>
              <a:gd name="T48" fmla="*/ 2147483646 w 5278"/>
              <a:gd name="T49" fmla="*/ 2147483646 h 6863"/>
              <a:gd name="T50" fmla="*/ 2147483646 w 5278"/>
              <a:gd name="T51" fmla="*/ 2147483646 h 6863"/>
              <a:gd name="T52" fmla="*/ 2147483646 w 5278"/>
              <a:gd name="T53" fmla="*/ 2147483646 h 6863"/>
              <a:gd name="T54" fmla="*/ 2147483646 w 5278"/>
              <a:gd name="T55" fmla="*/ 2147483646 h 6863"/>
              <a:gd name="T56" fmla="*/ 2147483646 w 5278"/>
              <a:gd name="T57" fmla="*/ 2147483646 h 6863"/>
              <a:gd name="T58" fmla="*/ 2147483646 w 5278"/>
              <a:gd name="T59" fmla="*/ 2147483646 h 6863"/>
              <a:gd name="T60" fmla="*/ 2147483646 w 5278"/>
              <a:gd name="T61" fmla="*/ 2147483646 h 6863"/>
              <a:gd name="T62" fmla="*/ 2147483646 w 5278"/>
              <a:gd name="T63" fmla="*/ 2147483646 h 6863"/>
              <a:gd name="T64" fmla="*/ 2147483646 w 5278"/>
              <a:gd name="T65" fmla="*/ 2147483646 h 6863"/>
              <a:gd name="T66" fmla="*/ 2147483646 w 5278"/>
              <a:gd name="T67" fmla="*/ 2147483646 h 6863"/>
              <a:gd name="T68" fmla="*/ 2147483646 w 5278"/>
              <a:gd name="T69" fmla="*/ 2147483646 h 6863"/>
              <a:gd name="T70" fmla="*/ 2147483646 w 5278"/>
              <a:gd name="T71" fmla="*/ 2147483646 h 6863"/>
              <a:gd name="T72" fmla="*/ 2147483646 w 5278"/>
              <a:gd name="T73" fmla="*/ 2147483646 h 6863"/>
              <a:gd name="T74" fmla="*/ 2147483646 w 5278"/>
              <a:gd name="T75" fmla="*/ 2147483646 h 6863"/>
              <a:gd name="T76" fmla="*/ 2147483646 w 5278"/>
              <a:gd name="T77" fmla="*/ 2147483646 h 6863"/>
              <a:gd name="T78" fmla="*/ 2147483646 w 5278"/>
              <a:gd name="T79" fmla="*/ 2147483646 h 6863"/>
              <a:gd name="T80" fmla="*/ 2147483646 w 5278"/>
              <a:gd name="T81" fmla="*/ 2147483646 h 6863"/>
              <a:gd name="T82" fmla="*/ 2147483646 w 5278"/>
              <a:gd name="T83" fmla="*/ 2147483646 h 6863"/>
              <a:gd name="T84" fmla="*/ 0 w 5278"/>
              <a:gd name="T85" fmla="*/ 2147483646 h 6863"/>
              <a:gd name="T86" fmla="*/ 2147483646 w 5278"/>
              <a:gd name="T87" fmla="*/ 2147483646 h 6863"/>
              <a:gd name="T88" fmla="*/ 2147483646 w 5278"/>
              <a:gd name="T89" fmla="*/ 2147483646 h 6863"/>
              <a:gd name="T90" fmla="*/ 2147483646 w 5278"/>
              <a:gd name="T91" fmla="*/ 2147483646 h 6863"/>
              <a:gd name="T92" fmla="*/ 2147483646 w 5278"/>
              <a:gd name="T93" fmla="*/ 2147483646 h 6863"/>
              <a:gd name="T94" fmla="*/ 2147483646 w 5278"/>
              <a:gd name="T95" fmla="*/ 2147483646 h 6863"/>
              <a:gd name="T96" fmla="*/ 2147483646 w 5278"/>
              <a:gd name="T97" fmla="*/ 1347340187 h 6863"/>
              <a:gd name="T98" fmla="*/ 2147483646 w 5278"/>
              <a:gd name="T99" fmla="*/ 513294381 h 6863"/>
              <a:gd name="T100" fmla="*/ 2147483646 w 5278"/>
              <a:gd name="T101" fmla="*/ 42761601 h 6863"/>
              <a:gd name="T102" fmla="*/ 2147483646 w 5278"/>
              <a:gd name="T103" fmla="*/ 21419384 h 6863"/>
              <a:gd name="T104" fmla="*/ 2147483646 w 5278"/>
              <a:gd name="T105" fmla="*/ 363589915 h 6863"/>
              <a:gd name="T106" fmla="*/ 2147483646 w 5278"/>
              <a:gd name="T107" fmla="*/ 1133454737 h 6863"/>
              <a:gd name="T108" fmla="*/ 2147483646 w 5278"/>
              <a:gd name="T109" fmla="*/ 2147483646 h 6863"/>
              <a:gd name="T110" fmla="*/ 2147483646 w 5278"/>
              <a:gd name="T111" fmla="*/ 2147483646 h 6863"/>
              <a:gd name="T112" fmla="*/ 2147483646 w 5278"/>
              <a:gd name="T113" fmla="*/ 2147483646 h 6863"/>
              <a:gd name="T114" fmla="*/ 2147483646 w 5278"/>
              <a:gd name="T115" fmla="*/ 2147483646 h 6863"/>
              <a:gd name="T116" fmla="*/ 2147483646 w 5278"/>
              <a:gd name="T117" fmla="*/ 2147483646 h 6863"/>
              <a:gd name="T118" fmla="*/ 2147483646 w 5278"/>
              <a:gd name="T119" fmla="*/ 2147483646 h 68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278" h="6863">
                <a:moveTo>
                  <a:pt x="4046" y="5103"/>
                </a:moveTo>
                <a:lnTo>
                  <a:pt x="1054" y="5103"/>
                </a:lnTo>
                <a:lnTo>
                  <a:pt x="1054" y="4927"/>
                </a:lnTo>
                <a:lnTo>
                  <a:pt x="4046" y="4927"/>
                </a:lnTo>
                <a:lnTo>
                  <a:pt x="4046" y="5103"/>
                </a:lnTo>
                <a:close/>
                <a:moveTo>
                  <a:pt x="2814" y="4575"/>
                </a:moveTo>
                <a:lnTo>
                  <a:pt x="1054" y="4575"/>
                </a:lnTo>
                <a:lnTo>
                  <a:pt x="1054" y="4399"/>
                </a:lnTo>
                <a:lnTo>
                  <a:pt x="2814" y="4399"/>
                </a:lnTo>
                <a:lnTo>
                  <a:pt x="2814" y="4575"/>
                </a:lnTo>
                <a:close/>
                <a:moveTo>
                  <a:pt x="3342" y="4047"/>
                </a:moveTo>
                <a:lnTo>
                  <a:pt x="1054" y="4047"/>
                </a:lnTo>
                <a:lnTo>
                  <a:pt x="1054" y="3872"/>
                </a:lnTo>
                <a:lnTo>
                  <a:pt x="3342" y="3872"/>
                </a:lnTo>
                <a:lnTo>
                  <a:pt x="3342" y="4047"/>
                </a:lnTo>
                <a:close/>
                <a:moveTo>
                  <a:pt x="4222" y="3520"/>
                </a:moveTo>
                <a:lnTo>
                  <a:pt x="1054" y="3520"/>
                </a:lnTo>
                <a:lnTo>
                  <a:pt x="1054" y="3344"/>
                </a:lnTo>
                <a:lnTo>
                  <a:pt x="4222" y="3344"/>
                </a:lnTo>
                <a:lnTo>
                  <a:pt x="4222" y="3520"/>
                </a:lnTo>
                <a:close/>
                <a:moveTo>
                  <a:pt x="2814" y="2992"/>
                </a:moveTo>
                <a:lnTo>
                  <a:pt x="1054" y="2992"/>
                </a:lnTo>
                <a:lnTo>
                  <a:pt x="1054" y="2816"/>
                </a:lnTo>
                <a:lnTo>
                  <a:pt x="2814" y="2816"/>
                </a:lnTo>
                <a:lnTo>
                  <a:pt x="2814" y="2992"/>
                </a:lnTo>
                <a:close/>
                <a:moveTo>
                  <a:pt x="4750" y="1056"/>
                </a:moveTo>
                <a:lnTo>
                  <a:pt x="3518" y="1056"/>
                </a:lnTo>
                <a:lnTo>
                  <a:pt x="3620" y="1362"/>
                </a:lnTo>
                <a:lnTo>
                  <a:pt x="3664" y="1373"/>
                </a:lnTo>
                <a:lnTo>
                  <a:pt x="3707" y="1385"/>
                </a:lnTo>
                <a:lnTo>
                  <a:pt x="3747" y="1397"/>
                </a:lnTo>
                <a:lnTo>
                  <a:pt x="3785" y="1412"/>
                </a:lnTo>
                <a:lnTo>
                  <a:pt x="3822" y="1426"/>
                </a:lnTo>
                <a:lnTo>
                  <a:pt x="3856" y="1441"/>
                </a:lnTo>
                <a:lnTo>
                  <a:pt x="3888" y="1458"/>
                </a:lnTo>
                <a:lnTo>
                  <a:pt x="3919" y="1476"/>
                </a:lnTo>
                <a:lnTo>
                  <a:pt x="3948" y="1494"/>
                </a:lnTo>
                <a:lnTo>
                  <a:pt x="3976" y="1513"/>
                </a:lnTo>
                <a:lnTo>
                  <a:pt x="4001" y="1534"/>
                </a:lnTo>
                <a:lnTo>
                  <a:pt x="4025" y="1555"/>
                </a:lnTo>
                <a:lnTo>
                  <a:pt x="4046" y="1577"/>
                </a:lnTo>
                <a:lnTo>
                  <a:pt x="4067" y="1599"/>
                </a:lnTo>
                <a:lnTo>
                  <a:pt x="4086" y="1622"/>
                </a:lnTo>
                <a:lnTo>
                  <a:pt x="4104" y="1646"/>
                </a:lnTo>
                <a:lnTo>
                  <a:pt x="4119" y="1671"/>
                </a:lnTo>
                <a:lnTo>
                  <a:pt x="4134" y="1696"/>
                </a:lnTo>
                <a:lnTo>
                  <a:pt x="4148" y="1723"/>
                </a:lnTo>
                <a:lnTo>
                  <a:pt x="4160" y="1749"/>
                </a:lnTo>
                <a:lnTo>
                  <a:pt x="4171" y="1777"/>
                </a:lnTo>
                <a:lnTo>
                  <a:pt x="4180" y="1805"/>
                </a:lnTo>
                <a:lnTo>
                  <a:pt x="4189" y="1834"/>
                </a:lnTo>
                <a:lnTo>
                  <a:pt x="4196" y="1863"/>
                </a:lnTo>
                <a:lnTo>
                  <a:pt x="4203" y="1892"/>
                </a:lnTo>
                <a:lnTo>
                  <a:pt x="4208" y="1923"/>
                </a:lnTo>
                <a:lnTo>
                  <a:pt x="4213" y="1953"/>
                </a:lnTo>
                <a:lnTo>
                  <a:pt x="4216" y="1984"/>
                </a:lnTo>
                <a:lnTo>
                  <a:pt x="4219" y="2015"/>
                </a:lnTo>
                <a:lnTo>
                  <a:pt x="4221" y="2047"/>
                </a:lnTo>
                <a:lnTo>
                  <a:pt x="4222" y="2078"/>
                </a:lnTo>
                <a:lnTo>
                  <a:pt x="4222" y="2111"/>
                </a:lnTo>
                <a:lnTo>
                  <a:pt x="1054" y="2111"/>
                </a:lnTo>
                <a:lnTo>
                  <a:pt x="1056" y="2081"/>
                </a:lnTo>
                <a:lnTo>
                  <a:pt x="1057" y="2050"/>
                </a:lnTo>
                <a:lnTo>
                  <a:pt x="1058" y="2020"/>
                </a:lnTo>
                <a:lnTo>
                  <a:pt x="1062" y="1990"/>
                </a:lnTo>
                <a:lnTo>
                  <a:pt x="1065" y="1960"/>
                </a:lnTo>
                <a:lnTo>
                  <a:pt x="1070" y="1931"/>
                </a:lnTo>
                <a:lnTo>
                  <a:pt x="1076" y="1902"/>
                </a:lnTo>
                <a:lnTo>
                  <a:pt x="1083" y="1874"/>
                </a:lnTo>
                <a:lnTo>
                  <a:pt x="1092" y="1846"/>
                </a:lnTo>
                <a:lnTo>
                  <a:pt x="1101" y="1819"/>
                </a:lnTo>
                <a:lnTo>
                  <a:pt x="1111" y="1792"/>
                </a:lnTo>
                <a:lnTo>
                  <a:pt x="1123" y="1766"/>
                </a:lnTo>
                <a:lnTo>
                  <a:pt x="1135" y="1740"/>
                </a:lnTo>
                <a:lnTo>
                  <a:pt x="1149" y="1714"/>
                </a:lnTo>
                <a:lnTo>
                  <a:pt x="1165" y="1690"/>
                </a:lnTo>
                <a:lnTo>
                  <a:pt x="1180" y="1665"/>
                </a:lnTo>
                <a:lnTo>
                  <a:pt x="1198" y="1643"/>
                </a:lnTo>
                <a:lnTo>
                  <a:pt x="1217" y="1620"/>
                </a:lnTo>
                <a:lnTo>
                  <a:pt x="1239" y="1597"/>
                </a:lnTo>
                <a:lnTo>
                  <a:pt x="1260" y="1576"/>
                </a:lnTo>
                <a:lnTo>
                  <a:pt x="1284" y="1555"/>
                </a:lnTo>
                <a:lnTo>
                  <a:pt x="1309" y="1535"/>
                </a:lnTo>
                <a:lnTo>
                  <a:pt x="1336" y="1516"/>
                </a:lnTo>
                <a:lnTo>
                  <a:pt x="1363" y="1498"/>
                </a:lnTo>
                <a:lnTo>
                  <a:pt x="1393" y="1480"/>
                </a:lnTo>
                <a:lnTo>
                  <a:pt x="1426" y="1463"/>
                </a:lnTo>
                <a:lnTo>
                  <a:pt x="1458" y="1447"/>
                </a:lnTo>
                <a:lnTo>
                  <a:pt x="1493" y="1432"/>
                </a:lnTo>
                <a:lnTo>
                  <a:pt x="1530" y="1418"/>
                </a:lnTo>
                <a:lnTo>
                  <a:pt x="1568" y="1404"/>
                </a:lnTo>
                <a:lnTo>
                  <a:pt x="1609" y="1392"/>
                </a:lnTo>
                <a:lnTo>
                  <a:pt x="1651" y="1380"/>
                </a:lnTo>
                <a:lnTo>
                  <a:pt x="1758" y="1056"/>
                </a:lnTo>
                <a:lnTo>
                  <a:pt x="526" y="1056"/>
                </a:lnTo>
                <a:lnTo>
                  <a:pt x="526" y="6335"/>
                </a:lnTo>
                <a:lnTo>
                  <a:pt x="4750" y="6335"/>
                </a:lnTo>
                <a:lnTo>
                  <a:pt x="4750" y="1056"/>
                </a:lnTo>
                <a:close/>
                <a:moveTo>
                  <a:pt x="2638" y="265"/>
                </a:moveTo>
                <a:lnTo>
                  <a:pt x="2638" y="265"/>
                </a:lnTo>
                <a:lnTo>
                  <a:pt x="2611" y="266"/>
                </a:lnTo>
                <a:lnTo>
                  <a:pt x="2584" y="269"/>
                </a:lnTo>
                <a:lnTo>
                  <a:pt x="2559" y="275"/>
                </a:lnTo>
                <a:lnTo>
                  <a:pt x="2535" y="285"/>
                </a:lnTo>
                <a:lnTo>
                  <a:pt x="2513" y="296"/>
                </a:lnTo>
                <a:lnTo>
                  <a:pt x="2491" y="309"/>
                </a:lnTo>
                <a:lnTo>
                  <a:pt x="2471" y="324"/>
                </a:lnTo>
                <a:lnTo>
                  <a:pt x="2452" y="341"/>
                </a:lnTo>
                <a:lnTo>
                  <a:pt x="2435" y="360"/>
                </a:lnTo>
                <a:lnTo>
                  <a:pt x="2419" y="381"/>
                </a:lnTo>
                <a:lnTo>
                  <a:pt x="2406" y="402"/>
                </a:lnTo>
                <a:lnTo>
                  <a:pt x="2395" y="425"/>
                </a:lnTo>
                <a:lnTo>
                  <a:pt x="2386" y="449"/>
                </a:lnTo>
                <a:lnTo>
                  <a:pt x="2380" y="474"/>
                </a:lnTo>
                <a:lnTo>
                  <a:pt x="2375" y="500"/>
                </a:lnTo>
                <a:lnTo>
                  <a:pt x="2374" y="528"/>
                </a:lnTo>
                <a:lnTo>
                  <a:pt x="2375" y="554"/>
                </a:lnTo>
                <a:lnTo>
                  <a:pt x="2380" y="581"/>
                </a:lnTo>
                <a:lnTo>
                  <a:pt x="2386" y="606"/>
                </a:lnTo>
                <a:lnTo>
                  <a:pt x="2395" y="631"/>
                </a:lnTo>
                <a:lnTo>
                  <a:pt x="2406" y="654"/>
                </a:lnTo>
                <a:lnTo>
                  <a:pt x="2419" y="675"/>
                </a:lnTo>
                <a:lnTo>
                  <a:pt x="2435" y="696"/>
                </a:lnTo>
                <a:lnTo>
                  <a:pt x="2452" y="715"/>
                </a:lnTo>
                <a:lnTo>
                  <a:pt x="2471" y="732"/>
                </a:lnTo>
                <a:lnTo>
                  <a:pt x="2491" y="747"/>
                </a:lnTo>
                <a:lnTo>
                  <a:pt x="2513" y="760"/>
                </a:lnTo>
                <a:lnTo>
                  <a:pt x="2535" y="771"/>
                </a:lnTo>
                <a:lnTo>
                  <a:pt x="2559" y="779"/>
                </a:lnTo>
                <a:lnTo>
                  <a:pt x="2584" y="787"/>
                </a:lnTo>
                <a:lnTo>
                  <a:pt x="2611" y="790"/>
                </a:lnTo>
                <a:lnTo>
                  <a:pt x="2638" y="791"/>
                </a:lnTo>
                <a:lnTo>
                  <a:pt x="2665" y="790"/>
                </a:lnTo>
                <a:lnTo>
                  <a:pt x="2691" y="787"/>
                </a:lnTo>
                <a:lnTo>
                  <a:pt x="2716" y="779"/>
                </a:lnTo>
                <a:lnTo>
                  <a:pt x="2741" y="771"/>
                </a:lnTo>
                <a:lnTo>
                  <a:pt x="2764" y="760"/>
                </a:lnTo>
                <a:lnTo>
                  <a:pt x="2786" y="747"/>
                </a:lnTo>
                <a:lnTo>
                  <a:pt x="2806" y="732"/>
                </a:lnTo>
                <a:lnTo>
                  <a:pt x="2825" y="715"/>
                </a:lnTo>
                <a:lnTo>
                  <a:pt x="2842" y="696"/>
                </a:lnTo>
                <a:lnTo>
                  <a:pt x="2857" y="675"/>
                </a:lnTo>
                <a:lnTo>
                  <a:pt x="2871" y="654"/>
                </a:lnTo>
                <a:lnTo>
                  <a:pt x="2881" y="631"/>
                </a:lnTo>
                <a:lnTo>
                  <a:pt x="2890" y="606"/>
                </a:lnTo>
                <a:lnTo>
                  <a:pt x="2897" y="581"/>
                </a:lnTo>
                <a:lnTo>
                  <a:pt x="2900" y="554"/>
                </a:lnTo>
                <a:lnTo>
                  <a:pt x="2902" y="528"/>
                </a:lnTo>
                <a:lnTo>
                  <a:pt x="2900" y="500"/>
                </a:lnTo>
                <a:lnTo>
                  <a:pt x="2897" y="474"/>
                </a:lnTo>
                <a:lnTo>
                  <a:pt x="2890" y="449"/>
                </a:lnTo>
                <a:lnTo>
                  <a:pt x="2881" y="425"/>
                </a:lnTo>
                <a:lnTo>
                  <a:pt x="2871" y="402"/>
                </a:lnTo>
                <a:lnTo>
                  <a:pt x="2857" y="381"/>
                </a:lnTo>
                <a:lnTo>
                  <a:pt x="2842" y="360"/>
                </a:lnTo>
                <a:lnTo>
                  <a:pt x="2825" y="341"/>
                </a:lnTo>
                <a:lnTo>
                  <a:pt x="2806" y="324"/>
                </a:lnTo>
                <a:lnTo>
                  <a:pt x="2786" y="309"/>
                </a:lnTo>
                <a:lnTo>
                  <a:pt x="2764" y="296"/>
                </a:lnTo>
                <a:lnTo>
                  <a:pt x="2741" y="285"/>
                </a:lnTo>
                <a:lnTo>
                  <a:pt x="2716" y="275"/>
                </a:lnTo>
                <a:lnTo>
                  <a:pt x="2691" y="269"/>
                </a:lnTo>
                <a:lnTo>
                  <a:pt x="2665" y="266"/>
                </a:lnTo>
                <a:lnTo>
                  <a:pt x="2638" y="265"/>
                </a:lnTo>
                <a:close/>
                <a:moveTo>
                  <a:pt x="0" y="6863"/>
                </a:moveTo>
                <a:lnTo>
                  <a:pt x="0" y="528"/>
                </a:lnTo>
                <a:lnTo>
                  <a:pt x="2110" y="528"/>
                </a:lnTo>
                <a:lnTo>
                  <a:pt x="2110" y="500"/>
                </a:lnTo>
                <a:lnTo>
                  <a:pt x="2113" y="474"/>
                </a:lnTo>
                <a:lnTo>
                  <a:pt x="2116" y="448"/>
                </a:lnTo>
                <a:lnTo>
                  <a:pt x="2121" y="421"/>
                </a:lnTo>
                <a:lnTo>
                  <a:pt x="2127" y="396"/>
                </a:lnTo>
                <a:lnTo>
                  <a:pt x="2134" y="371"/>
                </a:lnTo>
                <a:lnTo>
                  <a:pt x="2143" y="346"/>
                </a:lnTo>
                <a:lnTo>
                  <a:pt x="2152" y="322"/>
                </a:lnTo>
                <a:lnTo>
                  <a:pt x="2162" y="299"/>
                </a:lnTo>
                <a:lnTo>
                  <a:pt x="2174" y="277"/>
                </a:lnTo>
                <a:lnTo>
                  <a:pt x="2187" y="254"/>
                </a:lnTo>
                <a:lnTo>
                  <a:pt x="2200" y="232"/>
                </a:lnTo>
                <a:lnTo>
                  <a:pt x="2216" y="212"/>
                </a:lnTo>
                <a:lnTo>
                  <a:pt x="2231" y="192"/>
                </a:lnTo>
                <a:lnTo>
                  <a:pt x="2248" y="172"/>
                </a:lnTo>
                <a:lnTo>
                  <a:pt x="2265" y="154"/>
                </a:lnTo>
                <a:lnTo>
                  <a:pt x="2283" y="136"/>
                </a:lnTo>
                <a:lnTo>
                  <a:pt x="2302" y="121"/>
                </a:lnTo>
                <a:lnTo>
                  <a:pt x="2322" y="105"/>
                </a:lnTo>
                <a:lnTo>
                  <a:pt x="2343" y="90"/>
                </a:lnTo>
                <a:lnTo>
                  <a:pt x="2364" y="77"/>
                </a:lnTo>
                <a:lnTo>
                  <a:pt x="2387" y="63"/>
                </a:lnTo>
                <a:lnTo>
                  <a:pt x="2410" y="53"/>
                </a:lnTo>
                <a:lnTo>
                  <a:pt x="2432" y="42"/>
                </a:lnTo>
                <a:lnTo>
                  <a:pt x="2456" y="32"/>
                </a:lnTo>
                <a:lnTo>
                  <a:pt x="2481" y="24"/>
                </a:lnTo>
                <a:lnTo>
                  <a:pt x="2507" y="17"/>
                </a:lnTo>
                <a:lnTo>
                  <a:pt x="2532" y="11"/>
                </a:lnTo>
                <a:lnTo>
                  <a:pt x="2558" y="6"/>
                </a:lnTo>
                <a:lnTo>
                  <a:pt x="2584" y="2"/>
                </a:lnTo>
                <a:lnTo>
                  <a:pt x="2611" y="1"/>
                </a:lnTo>
                <a:lnTo>
                  <a:pt x="2638" y="0"/>
                </a:lnTo>
                <a:lnTo>
                  <a:pt x="2665" y="1"/>
                </a:lnTo>
                <a:lnTo>
                  <a:pt x="2692" y="2"/>
                </a:lnTo>
                <a:lnTo>
                  <a:pt x="2718" y="6"/>
                </a:lnTo>
                <a:lnTo>
                  <a:pt x="2745" y="11"/>
                </a:lnTo>
                <a:lnTo>
                  <a:pt x="2770" y="17"/>
                </a:lnTo>
                <a:lnTo>
                  <a:pt x="2795" y="24"/>
                </a:lnTo>
                <a:lnTo>
                  <a:pt x="2820" y="32"/>
                </a:lnTo>
                <a:lnTo>
                  <a:pt x="2844" y="42"/>
                </a:lnTo>
                <a:lnTo>
                  <a:pt x="2867" y="53"/>
                </a:lnTo>
                <a:lnTo>
                  <a:pt x="2890" y="63"/>
                </a:lnTo>
                <a:lnTo>
                  <a:pt x="2912" y="77"/>
                </a:lnTo>
                <a:lnTo>
                  <a:pt x="2934" y="90"/>
                </a:lnTo>
                <a:lnTo>
                  <a:pt x="2954" y="105"/>
                </a:lnTo>
                <a:lnTo>
                  <a:pt x="2975" y="121"/>
                </a:lnTo>
                <a:lnTo>
                  <a:pt x="2994" y="136"/>
                </a:lnTo>
                <a:lnTo>
                  <a:pt x="3012" y="154"/>
                </a:lnTo>
                <a:lnTo>
                  <a:pt x="3030" y="172"/>
                </a:lnTo>
                <a:lnTo>
                  <a:pt x="3045" y="192"/>
                </a:lnTo>
                <a:lnTo>
                  <a:pt x="3062" y="212"/>
                </a:lnTo>
                <a:lnTo>
                  <a:pt x="3076" y="232"/>
                </a:lnTo>
                <a:lnTo>
                  <a:pt x="3090" y="254"/>
                </a:lnTo>
                <a:lnTo>
                  <a:pt x="3103" y="277"/>
                </a:lnTo>
                <a:lnTo>
                  <a:pt x="3115" y="299"/>
                </a:lnTo>
                <a:lnTo>
                  <a:pt x="3126" y="322"/>
                </a:lnTo>
                <a:lnTo>
                  <a:pt x="3134" y="346"/>
                </a:lnTo>
                <a:lnTo>
                  <a:pt x="3142" y="371"/>
                </a:lnTo>
                <a:lnTo>
                  <a:pt x="3149" y="396"/>
                </a:lnTo>
                <a:lnTo>
                  <a:pt x="3155" y="421"/>
                </a:lnTo>
                <a:lnTo>
                  <a:pt x="3160" y="448"/>
                </a:lnTo>
                <a:lnTo>
                  <a:pt x="3164" y="474"/>
                </a:lnTo>
                <a:lnTo>
                  <a:pt x="3166" y="500"/>
                </a:lnTo>
                <a:lnTo>
                  <a:pt x="3166" y="528"/>
                </a:lnTo>
                <a:lnTo>
                  <a:pt x="5278" y="528"/>
                </a:lnTo>
                <a:lnTo>
                  <a:pt x="5278" y="6863"/>
                </a:lnTo>
                <a:lnTo>
                  <a:pt x="0" y="6863"/>
                </a:lnTo>
                <a:close/>
              </a:path>
            </a:pathLst>
          </a:custGeom>
          <a:solidFill>
            <a:schemeClr val="bg1">
              <a:lumMod val="50000"/>
            </a:schemeClr>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1350" dirty="0">
              <a:solidFill>
                <a:srgbClr val="FFFFFF"/>
              </a:solidFill>
              <a:latin typeface="微软雅黑" panose="020B0503020204020204" charset="-122"/>
              <a:ea typeface="微软雅黑" panose="020B0503020204020204" charset="-122"/>
            </a:endParaRPr>
          </a:p>
        </p:txBody>
      </p:sp>
      <p:sp>
        <p:nvSpPr>
          <p:cNvPr id="67" name="矩形 4"/>
          <p:cNvSpPr/>
          <p:nvPr/>
        </p:nvSpPr>
        <p:spPr>
          <a:xfrm>
            <a:off x="7117541" y="2606955"/>
            <a:ext cx="4551498" cy="521970"/>
          </a:xfrm>
          <a:prstGeom prst="rect">
            <a:avLst/>
          </a:prstGeom>
        </p:spPr>
        <p:txBody>
          <a:bodyPr wrap="square">
            <a:spAutoFit/>
          </a:bodyPr>
          <a:lstStyle/>
          <a:p>
            <a:r>
              <a:rPr lang="en-US" altLang="zh-CN" sz="1400" dirty="0">
                <a:latin typeface="微软雅黑" panose="020B0503020204020204" charset="-122"/>
                <a:ea typeface="微软雅黑" panose="020B0503020204020204" charset="-122"/>
                <a:cs typeface="微软雅黑" panose="020B0503020204020204" charset="-122"/>
              </a:rPr>
              <a:t>2026</a:t>
            </a:r>
            <a:r>
              <a:rPr lang="zh-CN" altLang="en-US" sz="1400" dirty="0">
                <a:latin typeface="微软雅黑" panose="020B0503020204020204" charset="-122"/>
                <a:ea typeface="微软雅黑" panose="020B0503020204020204" charset="-122"/>
                <a:cs typeface="微软雅黑" panose="020B0503020204020204" charset="-122"/>
              </a:rPr>
              <a:t>年</a:t>
            </a:r>
            <a:r>
              <a:rPr lang="zh-CN" altLang="zh-CN" sz="1400" dirty="0">
                <a:latin typeface="微软雅黑" panose="020B0503020204020204" charset="-122"/>
                <a:ea typeface="微软雅黑" panose="020B0503020204020204" charset="-122"/>
                <a:cs typeface="微软雅黑" panose="020B0503020204020204" charset="-122"/>
              </a:rPr>
              <a:t>国家金融监督管理总局发布</a:t>
            </a:r>
            <a:r>
              <a:rPr lang="en-US" altLang="zh-CN" sz="1400" b="1" dirty="0">
                <a:latin typeface="微软雅黑" panose="020B0503020204020204" charset="-122"/>
                <a:ea typeface="微软雅黑" panose="020B0503020204020204" charset="-122"/>
                <a:cs typeface="微软雅黑" panose="020B0503020204020204" charset="-122"/>
              </a:rPr>
              <a:t>《</a:t>
            </a:r>
            <a:r>
              <a:rPr lang="zh-CN" altLang="zh-CN" sz="1400" b="1" dirty="0">
                <a:latin typeface="微软雅黑" panose="020B0503020204020204" charset="-122"/>
                <a:ea typeface="微软雅黑" panose="020B0503020204020204" charset="-122"/>
                <a:cs typeface="微软雅黑" panose="020B0503020204020204" charset="-122"/>
              </a:rPr>
              <a:t>关于银行业保险业人工智能安全开发应用的指导意见</a:t>
            </a:r>
            <a:r>
              <a:rPr lang="en-US" altLang="zh-CN" sz="1400" b="1" dirty="0">
                <a:latin typeface="微软雅黑" panose="020B0503020204020204" charset="-122"/>
                <a:ea typeface="微软雅黑" panose="020B0503020204020204" charset="-122"/>
                <a:cs typeface="微软雅黑" panose="020B0503020204020204" charset="-122"/>
              </a:rPr>
              <a:t>》</a:t>
            </a:r>
            <a:endParaRPr lang="en-US" altLang="zh-CN" sz="1400" b="1" dirty="0">
              <a:latin typeface="微软雅黑" panose="020B0503020204020204" charset="-122"/>
              <a:ea typeface="微软雅黑" panose="020B0503020204020204" charset="-122"/>
              <a:cs typeface="微软雅黑" panose="020B0503020204020204" charset="-122"/>
            </a:endParaRPr>
          </a:p>
        </p:txBody>
      </p:sp>
      <p:sp>
        <p:nvSpPr>
          <p:cNvPr id="68" name="KSO_Shape"/>
          <p:cNvSpPr>
            <a:spLocks noChangeAspect="1"/>
          </p:cNvSpPr>
          <p:nvPr/>
        </p:nvSpPr>
        <p:spPr bwMode="auto">
          <a:xfrm>
            <a:off x="6412083" y="2564635"/>
            <a:ext cx="412475" cy="607860"/>
          </a:xfrm>
          <a:custGeom>
            <a:avLst/>
            <a:gdLst>
              <a:gd name="T0" fmla="*/ 2147483646 w 5278"/>
              <a:gd name="T1" fmla="*/ 2147483646 h 6863"/>
              <a:gd name="T2" fmla="*/ 2147483646 w 5278"/>
              <a:gd name="T3" fmla="*/ 2147483646 h 6863"/>
              <a:gd name="T4" fmla="*/ 2147483646 w 5278"/>
              <a:gd name="T5" fmla="*/ 2147483646 h 6863"/>
              <a:gd name="T6" fmla="*/ 2147483646 w 5278"/>
              <a:gd name="T7" fmla="*/ 2147483646 h 6863"/>
              <a:gd name="T8" fmla="*/ 2147483646 w 5278"/>
              <a:gd name="T9" fmla="*/ 2147483646 h 6863"/>
              <a:gd name="T10" fmla="*/ 2147483646 w 5278"/>
              <a:gd name="T11" fmla="*/ 2147483646 h 6863"/>
              <a:gd name="T12" fmla="*/ 2147483646 w 5278"/>
              <a:gd name="T13" fmla="*/ 2147483646 h 6863"/>
              <a:gd name="T14" fmla="*/ 2147483646 w 5278"/>
              <a:gd name="T15" fmla="*/ 2147483646 h 6863"/>
              <a:gd name="T16" fmla="*/ 2147483646 w 5278"/>
              <a:gd name="T17" fmla="*/ 2147483646 h 6863"/>
              <a:gd name="T18" fmla="*/ 2147483646 w 5278"/>
              <a:gd name="T19" fmla="*/ 2147483646 h 6863"/>
              <a:gd name="T20" fmla="*/ 2147483646 w 5278"/>
              <a:gd name="T21" fmla="*/ 2147483646 h 6863"/>
              <a:gd name="T22" fmla="*/ 2147483646 w 5278"/>
              <a:gd name="T23" fmla="*/ 2147483646 h 6863"/>
              <a:gd name="T24" fmla="*/ 2147483646 w 5278"/>
              <a:gd name="T25" fmla="*/ 2147483646 h 6863"/>
              <a:gd name="T26" fmla="*/ 2147483646 w 5278"/>
              <a:gd name="T27" fmla="*/ 2147483646 h 6863"/>
              <a:gd name="T28" fmla="*/ 2147483646 w 5278"/>
              <a:gd name="T29" fmla="*/ 2147483646 h 6863"/>
              <a:gd name="T30" fmla="*/ 2147483646 w 5278"/>
              <a:gd name="T31" fmla="*/ 2147483646 h 6863"/>
              <a:gd name="T32" fmla="*/ 2147483646 w 5278"/>
              <a:gd name="T33" fmla="*/ 2147483646 h 6863"/>
              <a:gd name="T34" fmla="*/ 2147483646 w 5278"/>
              <a:gd name="T35" fmla="*/ 2147483646 h 6863"/>
              <a:gd name="T36" fmla="*/ 2147483646 w 5278"/>
              <a:gd name="T37" fmla="*/ 2147483646 h 6863"/>
              <a:gd name="T38" fmla="*/ 2147483646 w 5278"/>
              <a:gd name="T39" fmla="*/ 2147483646 h 6863"/>
              <a:gd name="T40" fmla="*/ 2147483646 w 5278"/>
              <a:gd name="T41" fmla="*/ 2147483646 h 6863"/>
              <a:gd name="T42" fmla="*/ 2147483646 w 5278"/>
              <a:gd name="T43" fmla="*/ 2147483646 h 6863"/>
              <a:gd name="T44" fmla="*/ 2147483646 w 5278"/>
              <a:gd name="T45" fmla="*/ 2147483646 h 6863"/>
              <a:gd name="T46" fmla="*/ 2147483646 w 5278"/>
              <a:gd name="T47" fmla="*/ 2147483646 h 6863"/>
              <a:gd name="T48" fmla="*/ 2147483646 w 5278"/>
              <a:gd name="T49" fmla="*/ 2147483646 h 6863"/>
              <a:gd name="T50" fmla="*/ 2147483646 w 5278"/>
              <a:gd name="T51" fmla="*/ 2147483646 h 6863"/>
              <a:gd name="T52" fmla="*/ 2147483646 w 5278"/>
              <a:gd name="T53" fmla="*/ 2147483646 h 6863"/>
              <a:gd name="T54" fmla="*/ 2147483646 w 5278"/>
              <a:gd name="T55" fmla="*/ 2147483646 h 6863"/>
              <a:gd name="T56" fmla="*/ 2147483646 w 5278"/>
              <a:gd name="T57" fmla="*/ 2147483646 h 6863"/>
              <a:gd name="T58" fmla="*/ 2147483646 w 5278"/>
              <a:gd name="T59" fmla="*/ 2147483646 h 6863"/>
              <a:gd name="T60" fmla="*/ 2147483646 w 5278"/>
              <a:gd name="T61" fmla="*/ 2147483646 h 6863"/>
              <a:gd name="T62" fmla="*/ 2147483646 w 5278"/>
              <a:gd name="T63" fmla="*/ 2147483646 h 6863"/>
              <a:gd name="T64" fmla="*/ 2147483646 w 5278"/>
              <a:gd name="T65" fmla="*/ 2147483646 h 6863"/>
              <a:gd name="T66" fmla="*/ 2147483646 w 5278"/>
              <a:gd name="T67" fmla="*/ 2147483646 h 6863"/>
              <a:gd name="T68" fmla="*/ 2147483646 w 5278"/>
              <a:gd name="T69" fmla="*/ 2147483646 h 6863"/>
              <a:gd name="T70" fmla="*/ 2147483646 w 5278"/>
              <a:gd name="T71" fmla="*/ 2147483646 h 6863"/>
              <a:gd name="T72" fmla="*/ 2147483646 w 5278"/>
              <a:gd name="T73" fmla="*/ 2147483646 h 6863"/>
              <a:gd name="T74" fmla="*/ 2147483646 w 5278"/>
              <a:gd name="T75" fmla="*/ 2147483646 h 6863"/>
              <a:gd name="T76" fmla="*/ 2147483646 w 5278"/>
              <a:gd name="T77" fmla="*/ 2147483646 h 6863"/>
              <a:gd name="T78" fmla="*/ 2147483646 w 5278"/>
              <a:gd name="T79" fmla="*/ 2147483646 h 6863"/>
              <a:gd name="T80" fmla="*/ 2147483646 w 5278"/>
              <a:gd name="T81" fmla="*/ 2147483646 h 6863"/>
              <a:gd name="T82" fmla="*/ 2147483646 w 5278"/>
              <a:gd name="T83" fmla="*/ 2147483646 h 6863"/>
              <a:gd name="T84" fmla="*/ 0 w 5278"/>
              <a:gd name="T85" fmla="*/ 2147483646 h 6863"/>
              <a:gd name="T86" fmla="*/ 2147483646 w 5278"/>
              <a:gd name="T87" fmla="*/ 2147483646 h 6863"/>
              <a:gd name="T88" fmla="*/ 2147483646 w 5278"/>
              <a:gd name="T89" fmla="*/ 2147483646 h 6863"/>
              <a:gd name="T90" fmla="*/ 2147483646 w 5278"/>
              <a:gd name="T91" fmla="*/ 2147483646 h 6863"/>
              <a:gd name="T92" fmla="*/ 2147483646 w 5278"/>
              <a:gd name="T93" fmla="*/ 2147483646 h 6863"/>
              <a:gd name="T94" fmla="*/ 2147483646 w 5278"/>
              <a:gd name="T95" fmla="*/ 2147483646 h 6863"/>
              <a:gd name="T96" fmla="*/ 2147483646 w 5278"/>
              <a:gd name="T97" fmla="*/ 1347340187 h 6863"/>
              <a:gd name="T98" fmla="*/ 2147483646 w 5278"/>
              <a:gd name="T99" fmla="*/ 513294381 h 6863"/>
              <a:gd name="T100" fmla="*/ 2147483646 w 5278"/>
              <a:gd name="T101" fmla="*/ 42761601 h 6863"/>
              <a:gd name="T102" fmla="*/ 2147483646 w 5278"/>
              <a:gd name="T103" fmla="*/ 21419384 h 6863"/>
              <a:gd name="T104" fmla="*/ 2147483646 w 5278"/>
              <a:gd name="T105" fmla="*/ 363589915 h 6863"/>
              <a:gd name="T106" fmla="*/ 2147483646 w 5278"/>
              <a:gd name="T107" fmla="*/ 1133454737 h 6863"/>
              <a:gd name="T108" fmla="*/ 2147483646 w 5278"/>
              <a:gd name="T109" fmla="*/ 2147483646 h 6863"/>
              <a:gd name="T110" fmla="*/ 2147483646 w 5278"/>
              <a:gd name="T111" fmla="*/ 2147483646 h 6863"/>
              <a:gd name="T112" fmla="*/ 2147483646 w 5278"/>
              <a:gd name="T113" fmla="*/ 2147483646 h 6863"/>
              <a:gd name="T114" fmla="*/ 2147483646 w 5278"/>
              <a:gd name="T115" fmla="*/ 2147483646 h 6863"/>
              <a:gd name="T116" fmla="*/ 2147483646 w 5278"/>
              <a:gd name="T117" fmla="*/ 2147483646 h 6863"/>
              <a:gd name="T118" fmla="*/ 2147483646 w 5278"/>
              <a:gd name="T119" fmla="*/ 2147483646 h 68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278" h="6863">
                <a:moveTo>
                  <a:pt x="4046" y="5103"/>
                </a:moveTo>
                <a:lnTo>
                  <a:pt x="1054" y="5103"/>
                </a:lnTo>
                <a:lnTo>
                  <a:pt x="1054" y="4927"/>
                </a:lnTo>
                <a:lnTo>
                  <a:pt x="4046" y="4927"/>
                </a:lnTo>
                <a:lnTo>
                  <a:pt x="4046" y="5103"/>
                </a:lnTo>
                <a:close/>
                <a:moveTo>
                  <a:pt x="2814" y="4575"/>
                </a:moveTo>
                <a:lnTo>
                  <a:pt x="1054" y="4575"/>
                </a:lnTo>
                <a:lnTo>
                  <a:pt x="1054" y="4399"/>
                </a:lnTo>
                <a:lnTo>
                  <a:pt x="2814" y="4399"/>
                </a:lnTo>
                <a:lnTo>
                  <a:pt x="2814" y="4575"/>
                </a:lnTo>
                <a:close/>
                <a:moveTo>
                  <a:pt x="3342" y="4047"/>
                </a:moveTo>
                <a:lnTo>
                  <a:pt x="1054" y="4047"/>
                </a:lnTo>
                <a:lnTo>
                  <a:pt x="1054" y="3872"/>
                </a:lnTo>
                <a:lnTo>
                  <a:pt x="3342" y="3872"/>
                </a:lnTo>
                <a:lnTo>
                  <a:pt x="3342" y="4047"/>
                </a:lnTo>
                <a:close/>
                <a:moveTo>
                  <a:pt x="4222" y="3520"/>
                </a:moveTo>
                <a:lnTo>
                  <a:pt x="1054" y="3520"/>
                </a:lnTo>
                <a:lnTo>
                  <a:pt x="1054" y="3344"/>
                </a:lnTo>
                <a:lnTo>
                  <a:pt x="4222" y="3344"/>
                </a:lnTo>
                <a:lnTo>
                  <a:pt x="4222" y="3520"/>
                </a:lnTo>
                <a:close/>
                <a:moveTo>
                  <a:pt x="2814" y="2992"/>
                </a:moveTo>
                <a:lnTo>
                  <a:pt x="1054" y="2992"/>
                </a:lnTo>
                <a:lnTo>
                  <a:pt x="1054" y="2816"/>
                </a:lnTo>
                <a:lnTo>
                  <a:pt x="2814" y="2816"/>
                </a:lnTo>
                <a:lnTo>
                  <a:pt x="2814" y="2992"/>
                </a:lnTo>
                <a:close/>
                <a:moveTo>
                  <a:pt x="4750" y="1056"/>
                </a:moveTo>
                <a:lnTo>
                  <a:pt x="3518" y="1056"/>
                </a:lnTo>
                <a:lnTo>
                  <a:pt x="3620" y="1362"/>
                </a:lnTo>
                <a:lnTo>
                  <a:pt x="3664" y="1373"/>
                </a:lnTo>
                <a:lnTo>
                  <a:pt x="3707" y="1385"/>
                </a:lnTo>
                <a:lnTo>
                  <a:pt x="3747" y="1397"/>
                </a:lnTo>
                <a:lnTo>
                  <a:pt x="3785" y="1412"/>
                </a:lnTo>
                <a:lnTo>
                  <a:pt x="3822" y="1426"/>
                </a:lnTo>
                <a:lnTo>
                  <a:pt x="3856" y="1441"/>
                </a:lnTo>
                <a:lnTo>
                  <a:pt x="3888" y="1458"/>
                </a:lnTo>
                <a:lnTo>
                  <a:pt x="3919" y="1476"/>
                </a:lnTo>
                <a:lnTo>
                  <a:pt x="3948" y="1494"/>
                </a:lnTo>
                <a:lnTo>
                  <a:pt x="3976" y="1513"/>
                </a:lnTo>
                <a:lnTo>
                  <a:pt x="4001" y="1534"/>
                </a:lnTo>
                <a:lnTo>
                  <a:pt x="4025" y="1555"/>
                </a:lnTo>
                <a:lnTo>
                  <a:pt x="4046" y="1577"/>
                </a:lnTo>
                <a:lnTo>
                  <a:pt x="4067" y="1599"/>
                </a:lnTo>
                <a:lnTo>
                  <a:pt x="4086" y="1622"/>
                </a:lnTo>
                <a:lnTo>
                  <a:pt x="4104" y="1646"/>
                </a:lnTo>
                <a:lnTo>
                  <a:pt x="4119" y="1671"/>
                </a:lnTo>
                <a:lnTo>
                  <a:pt x="4134" y="1696"/>
                </a:lnTo>
                <a:lnTo>
                  <a:pt x="4148" y="1723"/>
                </a:lnTo>
                <a:lnTo>
                  <a:pt x="4160" y="1749"/>
                </a:lnTo>
                <a:lnTo>
                  <a:pt x="4171" y="1777"/>
                </a:lnTo>
                <a:lnTo>
                  <a:pt x="4180" y="1805"/>
                </a:lnTo>
                <a:lnTo>
                  <a:pt x="4189" y="1834"/>
                </a:lnTo>
                <a:lnTo>
                  <a:pt x="4196" y="1863"/>
                </a:lnTo>
                <a:lnTo>
                  <a:pt x="4203" y="1892"/>
                </a:lnTo>
                <a:lnTo>
                  <a:pt x="4208" y="1923"/>
                </a:lnTo>
                <a:lnTo>
                  <a:pt x="4213" y="1953"/>
                </a:lnTo>
                <a:lnTo>
                  <a:pt x="4216" y="1984"/>
                </a:lnTo>
                <a:lnTo>
                  <a:pt x="4219" y="2015"/>
                </a:lnTo>
                <a:lnTo>
                  <a:pt x="4221" y="2047"/>
                </a:lnTo>
                <a:lnTo>
                  <a:pt x="4222" y="2078"/>
                </a:lnTo>
                <a:lnTo>
                  <a:pt x="4222" y="2111"/>
                </a:lnTo>
                <a:lnTo>
                  <a:pt x="1054" y="2111"/>
                </a:lnTo>
                <a:lnTo>
                  <a:pt x="1056" y="2081"/>
                </a:lnTo>
                <a:lnTo>
                  <a:pt x="1057" y="2050"/>
                </a:lnTo>
                <a:lnTo>
                  <a:pt x="1058" y="2020"/>
                </a:lnTo>
                <a:lnTo>
                  <a:pt x="1062" y="1990"/>
                </a:lnTo>
                <a:lnTo>
                  <a:pt x="1065" y="1960"/>
                </a:lnTo>
                <a:lnTo>
                  <a:pt x="1070" y="1931"/>
                </a:lnTo>
                <a:lnTo>
                  <a:pt x="1076" y="1902"/>
                </a:lnTo>
                <a:lnTo>
                  <a:pt x="1083" y="1874"/>
                </a:lnTo>
                <a:lnTo>
                  <a:pt x="1092" y="1846"/>
                </a:lnTo>
                <a:lnTo>
                  <a:pt x="1101" y="1819"/>
                </a:lnTo>
                <a:lnTo>
                  <a:pt x="1111" y="1792"/>
                </a:lnTo>
                <a:lnTo>
                  <a:pt x="1123" y="1766"/>
                </a:lnTo>
                <a:lnTo>
                  <a:pt x="1135" y="1740"/>
                </a:lnTo>
                <a:lnTo>
                  <a:pt x="1149" y="1714"/>
                </a:lnTo>
                <a:lnTo>
                  <a:pt x="1165" y="1690"/>
                </a:lnTo>
                <a:lnTo>
                  <a:pt x="1180" y="1665"/>
                </a:lnTo>
                <a:lnTo>
                  <a:pt x="1198" y="1643"/>
                </a:lnTo>
                <a:lnTo>
                  <a:pt x="1217" y="1620"/>
                </a:lnTo>
                <a:lnTo>
                  <a:pt x="1239" y="1597"/>
                </a:lnTo>
                <a:lnTo>
                  <a:pt x="1260" y="1576"/>
                </a:lnTo>
                <a:lnTo>
                  <a:pt x="1284" y="1555"/>
                </a:lnTo>
                <a:lnTo>
                  <a:pt x="1309" y="1535"/>
                </a:lnTo>
                <a:lnTo>
                  <a:pt x="1336" y="1516"/>
                </a:lnTo>
                <a:lnTo>
                  <a:pt x="1363" y="1498"/>
                </a:lnTo>
                <a:lnTo>
                  <a:pt x="1393" y="1480"/>
                </a:lnTo>
                <a:lnTo>
                  <a:pt x="1426" y="1463"/>
                </a:lnTo>
                <a:lnTo>
                  <a:pt x="1458" y="1447"/>
                </a:lnTo>
                <a:lnTo>
                  <a:pt x="1493" y="1432"/>
                </a:lnTo>
                <a:lnTo>
                  <a:pt x="1530" y="1418"/>
                </a:lnTo>
                <a:lnTo>
                  <a:pt x="1568" y="1404"/>
                </a:lnTo>
                <a:lnTo>
                  <a:pt x="1609" y="1392"/>
                </a:lnTo>
                <a:lnTo>
                  <a:pt x="1651" y="1380"/>
                </a:lnTo>
                <a:lnTo>
                  <a:pt x="1758" y="1056"/>
                </a:lnTo>
                <a:lnTo>
                  <a:pt x="526" y="1056"/>
                </a:lnTo>
                <a:lnTo>
                  <a:pt x="526" y="6335"/>
                </a:lnTo>
                <a:lnTo>
                  <a:pt x="4750" y="6335"/>
                </a:lnTo>
                <a:lnTo>
                  <a:pt x="4750" y="1056"/>
                </a:lnTo>
                <a:close/>
                <a:moveTo>
                  <a:pt x="2638" y="265"/>
                </a:moveTo>
                <a:lnTo>
                  <a:pt x="2638" y="265"/>
                </a:lnTo>
                <a:lnTo>
                  <a:pt x="2611" y="266"/>
                </a:lnTo>
                <a:lnTo>
                  <a:pt x="2584" y="269"/>
                </a:lnTo>
                <a:lnTo>
                  <a:pt x="2559" y="275"/>
                </a:lnTo>
                <a:lnTo>
                  <a:pt x="2535" y="285"/>
                </a:lnTo>
                <a:lnTo>
                  <a:pt x="2513" y="296"/>
                </a:lnTo>
                <a:lnTo>
                  <a:pt x="2491" y="309"/>
                </a:lnTo>
                <a:lnTo>
                  <a:pt x="2471" y="324"/>
                </a:lnTo>
                <a:lnTo>
                  <a:pt x="2452" y="341"/>
                </a:lnTo>
                <a:lnTo>
                  <a:pt x="2435" y="360"/>
                </a:lnTo>
                <a:lnTo>
                  <a:pt x="2419" y="381"/>
                </a:lnTo>
                <a:lnTo>
                  <a:pt x="2406" y="402"/>
                </a:lnTo>
                <a:lnTo>
                  <a:pt x="2395" y="425"/>
                </a:lnTo>
                <a:lnTo>
                  <a:pt x="2386" y="449"/>
                </a:lnTo>
                <a:lnTo>
                  <a:pt x="2380" y="474"/>
                </a:lnTo>
                <a:lnTo>
                  <a:pt x="2375" y="500"/>
                </a:lnTo>
                <a:lnTo>
                  <a:pt x="2374" y="528"/>
                </a:lnTo>
                <a:lnTo>
                  <a:pt x="2375" y="554"/>
                </a:lnTo>
                <a:lnTo>
                  <a:pt x="2380" y="581"/>
                </a:lnTo>
                <a:lnTo>
                  <a:pt x="2386" y="606"/>
                </a:lnTo>
                <a:lnTo>
                  <a:pt x="2395" y="631"/>
                </a:lnTo>
                <a:lnTo>
                  <a:pt x="2406" y="654"/>
                </a:lnTo>
                <a:lnTo>
                  <a:pt x="2419" y="675"/>
                </a:lnTo>
                <a:lnTo>
                  <a:pt x="2435" y="696"/>
                </a:lnTo>
                <a:lnTo>
                  <a:pt x="2452" y="715"/>
                </a:lnTo>
                <a:lnTo>
                  <a:pt x="2471" y="732"/>
                </a:lnTo>
                <a:lnTo>
                  <a:pt x="2491" y="747"/>
                </a:lnTo>
                <a:lnTo>
                  <a:pt x="2513" y="760"/>
                </a:lnTo>
                <a:lnTo>
                  <a:pt x="2535" y="771"/>
                </a:lnTo>
                <a:lnTo>
                  <a:pt x="2559" y="779"/>
                </a:lnTo>
                <a:lnTo>
                  <a:pt x="2584" y="787"/>
                </a:lnTo>
                <a:lnTo>
                  <a:pt x="2611" y="790"/>
                </a:lnTo>
                <a:lnTo>
                  <a:pt x="2638" y="791"/>
                </a:lnTo>
                <a:lnTo>
                  <a:pt x="2665" y="790"/>
                </a:lnTo>
                <a:lnTo>
                  <a:pt x="2691" y="787"/>
                </a:lnTo>
                <a:lnTo>
                  <a:pt x="2716" y="779"/>
                </a:lnTo>
                <a:lnTo>
                  <a:pt x="2741" y="771"/>
                </a:lnTo>
                <a:lnTo>
                  <a:pt x="2764" y="760"/>
                </a:lnTo>
                <a:lnTo>
                  <a:pt x="2786" y="747"/>
                </a:lnTo>
                <a:lnTo>
                  <a:pt x="2806" y="732"/>
                </a:lnTo>
                <a:lnTo>
                  <a:pt x="2825" y="715"/>
                </a:lnTo>
                <a:lnTo>
                  <a:pt x="2842" y="696"/>
                </a:lnTo>
                <a:lnTo>
                  <a:pt x="2857" y="675"/>
                </a:lnTo>
                <a:lnTo>
                  <a:pt x="2871" y="654"/>
                </a:lnTo>
                <a:lnTo>
                  <a:pt x="2881" y="631"/>
                </a:lnTo>
                <a:lnTo>
                  <a:pt x="2890" y="606"/>
                </a:lnTo>
                <a:lnTo>
                  <a:pt x="2897" y="581"/>
                </a:lnTo>
                <a:lnTo>
                  <a:pt x="2900" y="554"/>
                </a:lnTo>
                <a:lnTo>
                  <a:pt x="2902" y="528"/>
                </a:lnTo>
                <a:lnTo>
                  <a:pt x="2900" y="500"/>
                </a:lnTo>
                <a:lnTo>
                  <a:pt x="2897" y="474"/>
                </a:lnTo>
                <a:lnTo>
                  <a:pt x="2890" y="449"/>
                </a:lnTo>
                <a:lnTo>
                  <a:pt x="2881" y="425"/>
                </a:lnTo>
                <a:lnTo>
                  <a:pt x="2871" y="402"/>
                </a:lnTo>
                <a:lnTo>
                  <a:pt x="2857" y="381"/>
                </a:lnTo>
                <a:lnTo>
                  <a:pt x="2842" y="360"/>
                </a:lnTo>
                <a:lnTo>
                  <a:pt x="2825" y="341"/>
                </a:lnTo>
                <a:lnTo>
                  <a:pt x="2806" y="324"/>
                </a:lnTo>
                <a:lnTo>
                  <a:pt x="2786" y="309"/>
                </a:lnTo>
                <a:lnTo>
                  <a:pt x="2764" y="296"/>
                </a:lnTo>
                <a:lnTo>
                  <a:pt x="2741" y="285"/>
                </a:lnTo>
                <a:lnTo>
                  <a:pt x="2716" y="275"/>
                </a:lnTo>
                <a:lnTo>
                  <a:pt x="2691" y="269"/>
                </a:lnTo>
                <a:lnTo>
                  <a:pt x="2665" y="266"/>
                </a:lnTo>
                <a:lnTo>
                  <a:pt x="2638" y="265"/>
                </a:lnTo>
                <a:close/>
                <a:moveTo>
                  <a:pt x="0" y="6863"/>
                </a:moveTo>
                <a:lnTo>
                  <a:pt x="0" y="528"/>
                </a:lnTo>
                <a:lnTo>
                  <a:pt x="2110" y="528"/>
                </a:lnTo>
                <a:lnTo>
                  <a:pt x="2110" y="500"/>
                </a:lnTo>
                <a:lnTo>
                  <a:pt x="2113" y="474"/>
                </a:lnTo>
                <a:lnTo>
                  <a:pt x="2116" y="448"/>
                </a:lnTo>
                <a:lnTo>
                  <a:pt x="2121" y="421"/>
                </a:lnTo>
                <a:lnTo>
                  <a:pt x="2127" y="396"/>
                </a:lnTo>
                <a:lnTo>
                  <a:pt x="2134" y="371"/>
                </a:lnTo>
                <a:lnTo>
                  <a:pt x="2143" y="346"/>
                </a:lnTo>
                <a:lnTo>
                  <a:pt x="2152" y="322"/>
                </a:lnTo>
                <a:lnTo>
                  <a:pt x="2162" y="299"/>
                </a:lnTo>
                <a:lnTo>
                  <a:pt x="2174" y="277"/>
                </a:lnTo>
                <a:lnTo>
                  <a:pt x="2187" y="254"/>
                </a:lnTo>
                <a:lnTo>
                  <a:pt x="2200" y="232"/>
                </a:lnTo>
                <a:lnTo>
                  <a:pt x="2216" y="212"/>
                </a:lnTo>
                <a:lnTo>
                  <a:pt x="2231" y="192"/>
                </a:lnTo>
                <a:lnTo>
                  <a:pt x="2248" y="172"/>
                </a:lnTo>
                <a:lnTo>
                  <a:pt x="2265" y="154"/>
                </a:lnTo>
                <a:lnTo>
                  <a:pt x="2283" y="136"/>
                </a:lnTo>
                <a:lnTo>
                  <a:pt x="2302" y="121"/>
                </a:lnTo>
                <a:lnTo>
                  <a:pt x="2322" y="105"/>
                </a:lnTo>
                <a:lnTo>
                  <a:pt x="2343" y="90"/>
                </a:lnTo>
                <a:lnTo>
                  <a:pt x="2364" y="77"/>
                </a:lnTo>
                <a:lnTo>
                  <a:pt x="2387" y="63"/>
                </a:lnTo>
                <a:lnTo>
                  <a:pt x="2410" y="53"/>
                </a:lnTo>
                <a:lnTo>
                  <a:pt x="2432" y="42"/>
                </a:lnTo>
                <a:lnTo>
                  <a:pt x="2456" y="32"/>
                </a:lnTo>
                <a:lnTo>
                  <a:pt x="2481" y="24"/>
                </a:lnTo>
                <a:lnTo>
                  <a:pt x="2507" y="17"/>
                </a:lnTo>
                <a:lnTo>
                  <a:pt x="2532" y="11"/>
                </a:lnTo>
                <a:lnTo>
                  <a:pt x="2558" y="6"/>
                </a:lnTo>
                <a:lnTo>
                  <a:pt x="2584" y="2"/>
                </a:lnTo>
                <a:lnTo>
                  <a:pt x="2611" y="1"/>
                </a:lnTo>
                <a:lnTo>
                  <a:pt x="2638" y="0"/>
                </a:lnTo>
                <a:lnTo>
                  <a:pt x="2665" y="1"/>
                </a:lnTo>
                <a:lnTo>
                  <a:pt x="2692" y="2"/>
                </a:lnTo>
                <a:lnTo>
                  <a:pt x="2718" y="6"/>
                </a:lnTo>
                <a:lnTo>
                  <a:pt x="2745" y="11"/>
                </a:lnTo>
                <a:lnTo>
                  <a:pt x="2770" y="17"/>
                </a:lnTo>
                <a:lnTo>
                  <a:pt x="2795" y="24"/>
                </a:lnTo>
                <a:lnTo>
                  <a:pt x="2820" y="32"/>
                </a:lnTo>
                <a:lnTo>
                  <a:pt x="2844" y="42"/>
                </a:lnTo>
                <a:lnTo>
                  <a:pt x="2867" y="53"/>
                </a:lnTo>
                <a:lnTo>
                  <a:pt x="2890" y="63"/>
                </a:lnTo>
                <a:lnTo>
                  <a:pt x="2912" y="77"/>
                </a:lnTo>
                <a:lnTo>
                  <a:pt x="2934" y="90"/>
                </a:lnTo>
                <a:lnTo>
                  <a:pt x="2954" y="105"/>
                </a:lnTo>
                <a:lnTo>
                  <a:pt x="2975" y="121"/>
                </a:lnTo>
                <a:lnTo>
                  <a:pt x="2994" y="136"/>
                </a:lnTo>
                <a:lnTo>
                  <a:pt x="3012" y="154"/>
                </a:lnTo>
                <a:lnTo>
                  <a:pt x="3030" y="172"/>
                </a:lnTo>
                <a:lnTo>
                  <a:pt x="3045" y="192"/>
                </a:lnTo>
                <a:lnTo>
                  <a:pt x="3062" y="212"/>
                </a:lnTo>
                <a:lnTo>
                  <a:pt x="3076" y="232"/>
                </a:lnTo>
                <a:lnTo>
                  <a:pt x="3090" y="254"/>
                </a:lnTo>
                <a:lnTo>
                  <a:pt x="3103" y="277"/>
                </a:lnTo>
                <a:lnTo>
                  <a:pt x="3115" y="299"/>
                </a:lnTo>
                <a:lnTo>
                  <a:pt x="3126" y="322"/>
                </a:lnTo>
                <a:lnTo>
                  <a:pt x="3134" y="346"/>
                </a:lnTo>
                <a:lnTo>
                  <a:pt x="3142" y="371"/>
                </a:lnTo>
                <a:lnTo>
                  <a:pt x="3149" y="396"/>
                </a:lnTo>
                <a:lnTo>
                  <a:pt x="3155" y="421"/>
                </a:lnTo>
                <a:lnTo>
                  <a:pt x="3160" y="448"/>
                </a:lnTo>
                <a:lnTo>
                  <a:pt x="3164" y="474"/>
                </a:lnTo>
                <a:lnTo>
                  <a:pt x="3166" y="500"/>
                </a:lnTo>
                <a:lnTo>
                  <a:pt x="3166" y="528"/>
                </a:lnTo>
                <a:lnTo>
                  <a:pt x="5278" y="528"/>
                </a:lnTo>
                <a:lnTo>
                  <a:pt x="5278" y="6863"/>
                </a:lnTo>
                <a:lnTo>
                  <a:pt x="0" y="6863"/>
                </a:lnTo>
                <a:close/>
              </a:path>
            </a:pathLst>
          </a:custGeom>
          <a:solidFill>
            <a:schemeClr val="bg1">
              <a:lumMod val="50000"/>
            </a:schemeClr>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1350" dirty="0">
              <a:solidFill>
                <a:srgbClr val="FFFFFF"/>
              </a:solidFill>
              <a:latin typeface="微软雅黑" panose="020B0503020204020204" charset="-122"/>
              <a:ea typeface="微软雅黑" panose="020B0503020204020204" charset="-122"/>
            </a:endParaRPr>
          </a:p>
        </p:txBody>
      </p:sp>
      <p:sp>
        <p:nvSpPr>
          <p:cNvPr id="31" name="文本框 30"/>
          <p:cNvSpPr txBox="1"/>
          <p:nvPr/>
        </p:nvSpPr>
        <p:spPr>
          <a:xfrm>
            <a:off x="1333967" y="3982165"/>
            <a:ext cx="587116" cy="318330"/>
          </a:xfrm>
          <a:prstGeom prst="rect">
            <a:avLst/>
          </a:prstGeom>
          <a:noFill/>
        </p:spPr>
        <p:txBody>
          <a:bodyPr wrap="square" lIns="0" tIns="0" rIns="0" bIns="0" anchor="ctr" anchorCtr="0">
            <a:noAutofit/>
          </a:bodyPr>
          <a:lstStyle/>
          <a:p>
            <a:pPr algn="ctr"/>
            <a:r>
              <a:rPr lang="zh-CN" altLang="en-US" sz="1000" dirty="0">
                <a:solidFill>
                  <a:srgbClr val="000000"/>
                </a:solidFill>
                <a:latin typeface="微软雅黑" panose="020B0503020204020204" charset="-122"/>
                <a:ea typeface="微软雅黑" panose="020B0503020204020204" charset="-122"/>
              </a:rPr>
              <a:t>数据供给</a:t>
            </a:r>
            <a:endParaRPr lang="zh-CN" altLang="en-US" sz="1000" dirty="0">
              <a:solidFill>
                <a:srgbClr val="000000"/>
              </a:solidFill>
              <a:latin typeface="微软雅黑" panose="020B0503020204020204" charset="-122"/>
              <a:ea typeface="微软雅黑" panose="020B0503020204020204" charset="-122"/>
            </a:endParaRPr>
          </a:p>
        </p:txBody>
      </p:sp>
      <p:sp>
        <p:nvSpPr>
          <p:cNvPr id="32" name="文本框 31"/>
          <p:cNvSpPr txBox="1"/>
          <p:nvPr/>
        </p:nvSpPr>
        <p:spPr>
          <a:xfrm>
            <a:off x="1975196" y="3982165"/>
            <a:ext cx="587116" cy="318330"/>
          </a:xfrm>
          <a:prstGeom prst="rect">
            <a:avLst/>
          </a:prstGeom>
          <a:noFill/>
        </p:spPr>
        <p:txBody>
          <a:bodyPr wrap="square" lIns="0" tIns="0" rIns="0" bIns="0" anchor="ctr" anchorCtr="0">
            <a:noAutofit/>
          </a:bodyPr>
          <a:lstStyle/>
          <a:p>
            <a:pPr algn="ctr"/>
            <a:r>
              <a:rPr lang="zh-CN" altLang="en-US" sz="1000" dirty="0">
                <a:solidFill>
                  <a:srgbClr val="000000"/>
                </a:solidFill>
                <a:latin typeface="微软雅黑" panose="020B0503020204020204" charset="-122"/>
                <a:ea typeface="微软雅黑" panose="020B0503020204020204" charset="-122"/>
              </a:rPr>
              <a:t>算力统筹</a:t>
            </a:r>
            <a:endParaRPr lang="zh-CN" altLang="en-US" sz="1000" dirty="0">
              <a:solidFill>
                <a:srgbClr val="000000"/>
              </a:solidFill>
              <a:latin typeface="微软雅黑" panose="020B0503020204020204" charset="-122"/>
              <a:ea typeface="微软雅黑" panose="020B0503020204020204" charset="-122"/>
            </a:endParaRPr>
          </a:p>
        </p:txBody>
      </p:sp>
      <p:sp>
        <p:nvSpPr>
          <p:cNvPr id="33" name="文本框 32"/>
          <p:cNvSpPr txBox="1"/>
          <p:nvPr/>
        </p:nvSpPr>
        <p:spPr>
          <a:xfrm>
            <a:off x="2616425" y="3982165"/>
            <a:ext cx="587116" cy="318330"/>
          </a:xfrm>
          <a:prstGeom prst="rect">
            <a:avLst/>
          </a:prstGeom>
          <a:noFill/>
        </p:spPr>
        <p:txBody>
          <a:bodyPr wrap="square" lIns="0" tIns="0" rIns="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应用环境</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34" name="文本框 33"/>
          <p:cNvSpPr txBox="1"/>
          <p:nvPr/>
        </p:nvSpPr>
        <p:spPr>
          <a:xfrm>
            <a:off x="3257654" y="3982165"/>
            <a:ext cx="587116" cy="318330"/>
          </a:xfrm>
          <a:prstGeom prst="rect">
            <a:avLst/>
          </a:prstGeom>
          <a:noFill/>
        </p:spPr>
        <p:txBody>
          <a:bodyPr wrap="square" lIns="0" tIns="0" rIns="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开源生态</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35" name="文本框 34"/>
          <p:cNvSpPr txBox="1"/>
          <p:nvPr/>
        </p:nvSpPr>
        <p:spPr>
          <a:xfrm>
            <a:off x="3898883" y="3982165"/>
            <a:ext cx="587116" cy="318330"/>
          </a:xfrm>
          <a:prstGeom prst="rect">
            <a:avLst/>
          </a:prstGeom>
          <a:noFill/>
        </p:spPr>
        <p:txBody>
          <a:bodyPr wrap="square" lIns="0" tIns="0" rIns="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人才队伍</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36" name="文本框 35"/>
          <p:cNvSpPr txBox="1"/>
          <p:nvPr/>
        </p:nvSpPr>
        <p:spPr>
          <a:xfrm>
            <a:off x="4540112" y="3982165"/>
            <a:ext cx="587116" cy="318330"/>
          </a:xfrm>
          <a:prstGeom prst="rect">
            <a:avLst/>
          </a:prstGeom>
          <a:noFill/>
        </p:spPr>
        <p:txBody>
          <a:bodyPr wrap="square" lIns="0" tIns="0" rIns="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政策法规</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37" name="文本框 36"/>
          <p:cNvSpPr txBox="1"/>
          <p:nvPr/>
        </p:nvSpPr>
        <p:spPr>
          <a:xfrm>
            <a:off x="5181342" y="3982165"/>
            <a:ext cx="587116" cy="318330"/>
          </a:xfrm>
          <a:prstGeom prst="rect">
            <a:avLst/>
          </a:prstGeom>
          <a:noFill/>
        </p:spPr>
        <p:txBody>
          <a:bodyPr wrap="square" lIns="0" tIns="0" rIns="0" bIns="0" anchor="ctr" anchorCtr="0">
            <a:noAutofit/>
          </a:bodyPr>
          <a:lstStyle/>
          <a:p>
            <a:pPr algn="ctr"/>
            <a:r>
              <a:rPr lang="zh-CN" altLang="en-US" sz="1000" dirty="0">
                <a:latin typeface="微软雅黑" panose="020B0503020204020204" charset="-122"/>
                <a:ea typeface="微软雅黑" panose="020B0503020204020204" charset="-122"/>
              </a:rPr>
              <a:t>安全能力</a:t>
            </a:r>
            <a:endParaRPr lang="zh-CN" altLang="en-US" sz="1000" dirty="0">
              <a:latin typeface="微软雅黑" panose="020B0503020204020204" charset="-122"/>
              <a:ea typeface="微软雅黑" panose="020B0503020204020204" charset="-122"/>
            </a:endParaRPr>
          </a:p>
        </p:txBody>
      </p:sp>
      <p:sp>
        <p:nvSpPr>
          <p:cNvPr id="38" name="文本框 37"/>
          <p:cNvSpPr txBox="1"/>
          <p:nvPr/>
        </p:nvSpPr>
        <p:spPr>
          <a:xfrm>
            <a:off x="692738" y="3982165"/>
            <a:ext cx="587116" cy="318330"/>
          </a:xfrm>
          <a:prstGeom prst="rect">
            <a:avLst/>
          </a:prstGeom>
          <a:noFill/>
        </p:spPr>
        <p:txBody>
          <a:bodyPr wrap="square" lIns="0" tIns="0" rIns="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基础能力</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53" name="文本框 52"/>
          <p:cNvSpPr txBox="1"/>
          <p:nvPr/>
        </p:nvSpPr>
        <p:spPr>
          <a:xfrm>
            <a:off x="1189984" y="4506127"/>
            <a:ext cx="4685820" cy="738664"/>
          </a:xfrm>
          <a:prstGeom prst="rect">
            <a:avLst/>
          </a:prstGeom>
        </p:spPr>
        <p:txBody>
          <a:bodyPr wrap="square">
            <a:spAutoFit/>
          </a:bodyPr>
          <a:lstStyle>
            <a:defPPr>
              <a:defRPr lang="zh-CN"/>
            </a:defPPr>
            <a:lvl1pPr algn="ctr">
              <a:spcBef>
                <a:spcPts val="1200"/>
              </a:spcBef>
              <a:buClr>
                <a:srgbClr val="C00000"/>
              </a:buClr>
              <a:defRPr sz="1400" b="1" kern="100" spc="50">
                <a:latin typeface="华文楷体" panose="02010600040101010101" pitchFamily="2" charset="-122"/>
                <a:ea typeface="华文楷体" panose="02010600040101010101" pitchFamily="2" charset="-122"/>
                <a:cs typeface="Times New Roman" panose="02020503050405090304" pitchFamily="18" charset="0"/>
              </a:defRPr>
            </a:lvl1pPr>
          </a:lstStyle>
          <a:p>
            <a:pPr algn="l"/>
            <a:r>
              <a:rPr lang="en-US" altLang="zh-CN" b="0" dirty="0">
                <a:latin typeface="微软雅黑" panose="020B0503020204020204" charset="-122"/>
                <a:ea typeface="微软雅黑" panose="020B0503020204020204" charset="-122"/>
                <a:cs typeface="微软雅黑" panose="020B0503020204020204" charset="-122"/>
              </a:rPr>
              <a:t>2026</a:t>
            </a:r>
            <a:r>
              <a:rPr lang="zh-CN" altLang="en-US" b="0" dirty="0">
                <a:latin typeface="微软雅黑" panose="020B0503020204020204" charset="-122"/>
                <a:ea typeface="微软雅黑" panose="020B0503020204020204" charset="-122"/>
                <a:cs typeface="微软雅黑" panose="020B0503020204020204" charset="-122"/>
              </a:rPr>
              <a:t>年新华社发布</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中华人民共和国国民经济和社会发展第十五个五年规划纲要</a:t>
            </a:r>
            <a:r>
              <a:rPr lang="en-US" altLang="zh-CN" dirty="0">
                <a:latin typeface="微软雅黑" panose="020B0503020204020204" charset="-122"/>
                <a:ea typeface="微软雅黑" panose="020B0503020204020204" charset="-122"/>
                <a:cs typeface="微软雅黑" panose="020B0503020204020204" charset="-122"/>
              </a:rPr>
              <a:t>》</a:t>
            </a:r>
            <a:r>
              <a:rPr lang="en-US" altLang="zh-CN" b="0" dirty="0">
                <a:latin typeface="微软雅黑" panose="020B0503020204020204" charset="-122"/>
                <a:ea typeface="微软雅黑" panose="020B0503020204020204" charset="-122"/>
                <a:cs typeface="微软雅黑" panose="020B0503020204020204" charset="-122"/>
              </a:rPr>
              <a:t>,</a:t>
            </a:r>
            <a:r>
              <a:rPr lang="zh-CN" altLang="en-US" b="0" dirty="0">
                <a:latin typeface="微软雅黑" panose="020B0503020204020204" charset="-122"/>
                <a:ea typeface="微软雅黑" panose="020B0503020204020204" charset="-122"/>
                <a:cs typeface="微软雅黑" panose="020B0503020204020204" charset="-122"/>
              </a:rPr>
              <a:t>强调人工智能语料库及高质量数据集建设。</a:t>
            </a:r>
            <a:endParaRPr lang="zh-CN" altLang="zh-CN" b="0" dirty="0">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5201033" y="5910211"/>
            <a:ext cx="503817" cy="218881"/>
          </a:xfrm>
          <a:prstGeom prst="rect">
            <a:avLst/>
          </a:prstGeom>
          <a:noFill/>
        </p:spPr>
        <p:txBody>
          <a:bodyPr wrap="square" lIns="72000" tIns="0" rIns="72000" bIns="0" anchor="ctr" anchorCtr="0">
            <a:noAutofit/>
          </a:bodyPr>
          <a:lstStyle/>
          <a:p>
            <a:pPr algn="ctr"/>
            <a:r>
              <a:rPr lang="en-US" altLang="zh-CN" sz="1000" dirty="0">
                <a:solidFill>
                  <a:srgbClr val="000000"/>
                </a:solidFill>
                <a:latin typeface="微软雅黑" panose="020B0503020204020204" charset="-122"/>
                <a:ea typeface="微软雅黑" panose="020B0503020204020204" charset="-122"/>
              </a:rPr>
              <a:t>…</a:t>
            </a:r>
            <a:endParaRPr lang="en-US" altLang="zh-CN" sz="1000" dirty="0">
              <a:solidFill>
                <a:srgbClr val="000000"/>
              </a:solidFill>
              <a:latin typeface="微软雅黑" panose="020B0503020204020204" charset="-122"/>
              <a:ea typeface="微软雅黑" panose="020B0503020204020204" charset="-122"/>
            </a:endParaRPr>
          </a:p>
        </p:txBody>
      </p:sp>
      <p:sp>
        <p:nvSpPr>
          <p:cNvPr id="103" name="KSO_Shape"/>
          <p:cNvSpPr>
            <a:spLocks noChangeAspect="1"/>
          </p:cNvSpPr>
          <p:nvPr/>
        </p:nvSpPr>
        <p:spPr bwMode="auto">
          <a:xfrm>
            <a:off x="522960" y="4571529"/>
            <a:ext cx="412475" cy="607860"/>
          </a:xfrm>
          <a:custGeom>
            <a:avLst/>
            <a:gdLst>
              <a:gd name="T0" fmla="*/ 2147483646 w 5278"/>
              <a:gd name="T1" fmla="*/ 2147483646 h 6863"/>
              <a:gd name="T2" fmla="*/ 2147483646 w 5278"/>
              <a:gd name="T3" fmla="*/ 2147483646 h 6863"/>
              <a:gd name="T4" fmla="*/ 2147483646 w 5278"/>
              <a:gd name="T5" fmla="*/ 2147483646 h 6863"/>
              <a:gd name="T6" fmla="*/ 2147483646 w 5278"/>
              <a:gd name="T7" fmla="*/ 2147483646 h 6863"/>
              <a:gd name="T8" fmla="*/ 2147483646 w 5278"/>
              <a:gd name="T9" fmla="*/ 2147483646 h 6863"/>
              <a:gd name="T10" fmla="*/ 2147483646 w 5278"/>
              <a:gd name="T11" fmla="*/ 2147483646 h 6863"/>
              <a:gd name="T12" fmla="*/ 2147483646 w 5278"/>
              <a:gd name="T13" fmla="*/ 2147483646 h 6863"/>
              <a:gd name="T14" fmla="*/ 2147483646 w 5278"/>
              <a:gd name="T15" fmla="*/ 2147483646 h 6863"/>
              <a:gd name="T16" fmla="*/ 2147483646 w 5278"/>
              <a:gd name="T17" fmla="*/ 2147483646 h 6863"/>
              <a:gd name="T18" fmla="*/ 2147483646 w 5278"/>
              <a:gd name="T19" fmla="*/ 2147483646 h 6863"/>
              <a:gd name="T20" fmla="*/ 2147483646 w 5278"/>
              <a:gd name="T21" fmla="*/ 2147483646 h 6863"/>
              <a:gd name="T22" fmla="*/ 2147483646 w 5278"/>
              <a:gd name="T23" fmla="*/ 2147483646 h 6863"/>
              <a:gd name="T24" fmla="*/ 2147483646 w 5278"/>
              <a:gd name="T25" fmla="*/ 2147483646 h 6863"/>
              <a:gd name="T26" fmla="*/ 2147483646 w 5278"/>
              <a:gd name="T27" fmla="*/ 2147483646 h 6863"/>
              <a:gd name="T28" fmla="*/ 2147483646 w 5278"/>
              <a:gd name="T29" fmla="*/ 2147483646 h 6863"/>
              <a:gd name="T30" fmla="*/ 2147483646 w 5278"/>
              <a:gd name="T31" fmla="*/ 2147483646 h 6863"/>
              <a:gd name="T32" fmla="*/ 2147483646 w 5278"/>
              <a:gd name="T33" fmla="*/ 2147483646 h 6863"/>
              <a:gd name="T34" fmla="*/ 2147483646 w 5278"/>
              <a:gd name="T35" fmla="*/ 2147483646 h 6863"/>
              <a:gd name="T36" fmla="*/ 2147483646 w 5278"/>
              <a:gd name="T37" fmla="*/ 2147483646 h 6863"/>
              <a:gd name="T38" fmla="*/ 2147483646 w 5278"/>
              <a:gd name="T39" fmla="*/ 2147483646 h 6863"/>
              <a:gd name="T40" fmla="*/ 2147483646 w 5278"/>
              <a:gd name="T41" fmla="*/ 2147483646 h 6863"/>
              <a:gd name="T42" fmla="*/ 2147483646 w 5278"/>
              <a:gd name="T43" fmla="*/ 2147483646 h 6863"/>
              <a:gd name="T44" fmla="*/ 2147483646 w 5278"/>
              <a:gd name="T45" fmla="*/ 2147483646 h 6863"/>
              <a:gd name="T46" fmla="*/ 2147483646 w 5278"/>
              <a:gd name="T47" fmla="*/ 2147483646 h 6863"/>
              <a:gd name="T48" fmla="*/ 2147483646 w 5278"/>
              <a:gd name="T49" fmla="*/ 2147483646 h 6863"/>
              <a:gd name="T50" fmla="*/ 2147483646 w 5278"/>
              <a:gd name="T51" fmla="*/ 2147483646 h 6863"/>
              <a:gd name="T52" fmla="*/ 2147483646 w 5278"/>
              <a:gd name="T53" fmla="*/ 2147483646 h 6863"/>
              <a:gd name="T54" fmla="*/ 2147483646 w 5278"/>
              <a:gd name="T55" fmla="*/ 2147483646 h 6863"/>
              <a:gd name="T56" fmla="*/ 2147483646 w 5278"/>
              <a:gd name="T57" fmla="*/ 2147483646 h 6863"/>
              <a:gd name="T58" fmla="*/ 2147483646 w 5278"/>
              <a:gd name="T59" fmla="*/ 2147483646 h 6863"/>
              <a:gd name="T60" fmla="*/ 2147483646 w 5278"/>
              <a:gd name="T61" fmla="*/ 2147483646 h 6863"/>
              <a:gd name="T62" fmla="*/ 2147483646 w 5278"/>
              <a:gd name="T63" fmla="*/ 2147483646 h 6863"/>
              <a:gd name="T64" fmla="*/ 2147483646 w 5278"/>
              <a:gd name="T65" fmla="*/ 2147483646 h 6863"/>
              <a:gd name="T66" fmla="*/ 2147483646 w 5278"/>
              <a:gd name="T67" fmla="*/ 2147483646 h 6863"/>
              <a:gd name="T68" fmla="*/ 2147483646 w 5278"/>
              <a:gd name="T69" fmla="*/ 2147483646 h 6863"/>
              <a:gd name="T70" fmla="*/ 2147483646 w 5278"/>
              <a:gd name="T71" fmla="*/ 2147483646 h 6863"/>
              <a:gd name="T72" fmla="*/ 2147483646 w 5278"/>
              <a:gd name="T73" fmla="*/ 2147483646 h 6863"/>
              <a:gd name="T74" fmla="*/ 2147483646 w 5278"/>
              <a:gd name="T75" fmla="*/ 2147483646 h 6863"/>
              <a:gd name="T76" fmla="*/ 2147483646 w 5278"/>
              <a:gd name="T77" fmla="*/ 2147483646 h 6863"/>
              <a:gd name="T78" fmla="*/ 2147483646 w 5278"/>
              <a:gd name="T79" fmla="*/ 2147483646 h 6863"/>
              <a:gd name="T80" fmla="*/ 2147483646 w 5278"/>
              <a:gd name="T81" fmla="*/ 2147483646 h 6863"/>
              <a:gd name="T82" fmla="*/ 2147483646 w 5278"/>
              <a:gd name="T83" fmla="*/ 2147483646 h 6863"/>
              <a:gd name="T84" fmla="*/ 0 w 5278"/>
              <a:gd name="T85" fmla="*/ 2147483646 h 6863"/>
              <a:gd name="T86" fmla="*/ 2147483646 w 5278"/>
              <a:gd name="T87" fmla="*/ 2147483646 h 6863"/>
              <a:gd name="T88" fmla="*/ 2147483646 w 5278"/>
              <a:gd name="T89" fmla="*/ 2147483646 h 6863"/>
              <a:gd name="T90" fmla="*/ 2147483646 w 5278"/>
              <a:gd name="T91" fmla="*/ 2147483646 h 6863"/>
              <a:gd name="T92" fmla="*/ 2147483646 w 5278"/>
              <a:gd name="T93" fmla="*/ 2147483646 h 6863"/>
              <a:gd name="T94" fmla="*/ 2147483646 w 5278"/>
              <a:gd name="T95" fmla="*/ 2147483646 h 6863"/>
              <a:gd name="T96" fmla="*/ 2147483646 w 5278"/>
              <a:gd name="T97" fmla="*/ 1347340187 h 6863"/>
              <a:gd name="T98" fmla="*/ 2147483646 w 5278"/>
              <a:gd name="T99" fmla="*/ 513294381 h 6863"/>
              <a:gd name="T100" fmla="*/ 2147483646 w 5278"/>
              <a:gd name="T101" fmla="*/ 42761601 h 6863"/>
              <a:gd name="T102" fmla="*/ 2147483646 w 5278"/>
              <a:gd name="T103" fmla="*/ 21419384 h 6863"/>
              <a:gd name="T104" fmla="*/ 2147483646 w 5278"/>
              <a:gd name="T105" fmla="*/ 363589915 h 6863"/>
              <a:gd name="T106" fmla="*/ 2147483646 w 5278"/>
              <a:gd name="T107" fmla="*/ 1133454737 h 6863"/>
              <a:gd name="T108" fmla="*/ 2147483646 w 5278"/>
              <a:gd name="T109" fmla="*/ 2147483646 h 6863"/>
              <a:gd name="T110" fmla="*/ 2147483646 w 5278"/>
              <a:gd name="T111" fmla="*/ 2147483646 h 6863"/>
              <a:gd name="T112" fmla="*/ 2147483646 w 5278"/>
              <a:gd name="T113" fmla="*/ 2147483646 h 6863"/>
              <a:gd name="T114" fmla="*/ 2147483646 w 5278"/>
              <a:gd name="T115" fmla="*/ 2147483646 h 6863"/>
              <a:gd name="T116" fmla="*/ 2147483646 w 5278"/>
              <a:gd name="T117" fmla="*/ 2147483646 h 6863"/>
              <a:gd name="T118" fmla="*/ 2147483646 w 5278"/>
              <a:gd name="T119" fmla="*/ 2147483646 h 686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278" h="6863">
                <a:moveTo>
                  <a:pt x="4046" y="5103"/>
                </a:moveTo>
                <a:lnTo>
                  <a:pt x="1054" y="5103"/>
                </a:lnTo>
                <a:lnTo>
                  <a:pt x="1054" y="4927"/>
                </a:lnTo>
                <a:lnTo>
                  <a:pt x="4046" y="4927"/>
                </a:lnTo>
                <a:lnTo>
                  <a:pt x="4046" y="5103"/>
                </a:lnTo>
                <a:close/>
                <a:moveTo>
                  <a:pt x="2814" y="4575"/>
                </a:moveTo>
                <a:lnTo>
                  <a:pt x="1054" y="4575"/>
                </a:lnTo>
                <a:lnTo>
                  <a:pt x="1054" y="4399"/>
                </a:lnTo>
                <a:lnTo>
                  <a:pt x="2814" y="4399"/>
                </a:lnTo>
                <a:lnTo>
                  <a:pt x="2814" y="4575"/>
                </a:lnTo>
                <a:close/>
                <a:moveTo>
                  <a:pt x="3342" y="4047"/>
                </a:moveTo>
                <a:lnTo>
                  <a:pt x="1054" y="4047"/>
                </a:lnTo>
                <a:lnTo>
                  <a:pt x="1054" y="3872"/>
                </a:lnTo>
                <a:lnTo>
                  <a:pt x="3342" y="3872"/>
                </a:lnTo>
                <a:lnTo>
                  <a:pt x="3342" y="4047"/>
                </a:lnTo>
                <a:close/>
                <a:moveTo>
                  <a:pt x="4222" y="3520"/>
                </a:moveTo>
                <a:lnTo>
                  <a:pt x="1054" y="3520"/>
                </a:lnTo>
                <a:lnTo>
                  <a:pt x="1054" y="3344"/>
                </a:lnTo>
                <a:lnTo>
                  <a:pt x="4222" y="3344"/>
                </a:lnTo>
                <a:lnTo>
                  <a:pt x="4222" y="3520"/>
                </a:lnTo>
                <a:close/>
                <a:moveTo>
                  <a:pt x="2814" y="2992"/>
                </a:moveTo>
                <a:lnTo>
                  <a:pt x="1054" y="2992"/>
                </a:lnTo>
                <a:lnTo>
                  <a:pt x="1054" y="2816"/>
                </a:lnTo>
                <a:lnTo>
                  <a:pt x="2814" y="2816"/>
                </a:lnTo>
                <a:lnTo>
                  <a:pt x="2814" y="2992"/>
                </a:lnTo>
                <a:close/>
                <a:moveTo>
                  <a:pt x="4750" y="1056"/>
                </a:moveTo>
                <a:lnTo>
                  <a:pt x="3518" y="1056"/>
                </a:lnTo>
                <a:lnTo>
                  <a:pt x="3620" y="1362"/>
                </a:lnTo>
                <a:lnTo>
                  <a:pt x="3664" y="1373"/>
                </a:lnTo>
                <a:lnTo>
                  <a:pt x="3707" y="1385"/>
                </a:lnTo>
                <a:lnTo>
                  <a:pt x="3747" y="1397"/>
                </a:lnTo>
                <a:lnTo>
                  <a:pt x="3785" y="1412"/>
                </a:lnTo>
                <a:lnTo>
                  <a:pt x="3822" y="1426"/>
                </a:lnTo>
                <a:lnTo>
                  <a:pt x="3856" y="1441"/>
                </a:lnTo>
                <a:lnTo>
                  <a:pt x="3888" y="1458"/>
                </a:lnTo>
                <a:lnTo>
                  <a:pt x="3919" y="1476"/>
                </a:lnTo>
                <a:lnTo>
                  <a:pt x="3948" y="1494"/>
                </a:lnTo>
                <a:lnTo>
                  <a:pt x="3976" y="1513"/>
                </a:lnTo>
                <a:lnTo>
                  <a:pt x="4001" y="1534"/>
                </a:lnTo>
                <a:lnTo>
                  <a:pt x="4025" y="1555"/>
                </a:lnTo>
                <a:lnTo>
                  <a:pt x="4046" y="1577"/>
                </a:lnTo>
                <a:lnTo>
                  <a:pt x="4067" y="1599"/>
                </a:lnTo>
                <a:lnTo>
                  <a:pt x="4086" y="1622"/>
                </a:lnTo>
                <a:lnTo>
                  <a:pt x="4104" y="1646"/>
                </a:lnTo>
                <a:lnTo>
                  <a:pt x="4119" y="1671"/>
                </a:lnTo>
                <a:lnTo>
                  <a:pt x="4134" y="1696"/>
                </a:lnTo>
                <a:lnTo>
                  <a:pt x="4148" y="1723"/>
                </a:lnTo>
                <a:lnTo>
                  <a:pt x="4160" y="1749"/>
                </a:lnTo>
                <a:lnTo>
                  <a:pt x="4171" y="1777"/>
                </a:lnTo>
                <a:lnTo>
                  <a:pt x="4180" y="1805"/>
                </a:lnTo>
                <a:lnTo>
                  <a:pt x="4189" y="1834"/>
                </a:lnTo>
                <a:lnTo>
                  <a:pt x="4196" y="1863"/>
                </a:lnTo>
                <a:lnTo>
                  <a:pt x="4203" y="1892"/>
                </a:lnTo>
                <a:lnTo>
                  <a:pt x="4208" y="1923"/>
                </a:lnTo>
                <a:lnTo>
                  <a:pt x="4213" y="1953"/>
                </a:lnTo>
                <a:lnTo>
                  <a:pt x="4216" y="1984"/>
                </a:lnTo>
                <a:lnTo>
                  <a:pt x="4219" y="2015"/>
                </a:lnTo>
                <a:lnTo>
                  <a:pt x="4221" y="2047"/>
                </a:lnTo>
                <a:lnTo>
                  <a:pt x="4222" y="2078"/>
                </a:lnTo>
                <a:lnTo>
                  <a:pt x="4222" y="2111"/>
                </a:lnTo>
                <a:lnTo>
                  <a:pt x="1054" y="2111"/>
                </a:lnTo>
                <a:lnTo>
                  <a:pt x="1056" y="2081"/>
                </a:lnTo>
                <a:lnTo>
                  <a:pt x="1057" y="2050"/>
                </a:lnTo>
                <a:lnTo>
                  <a:pt x="1058" y="2020"/>
                </a:lnTo>
                <a:lnTo>
                  <a:pt x="1062" y="1990"/>
                </a:lnTo>
                <a:lnTo>
                  <a:pt x="1065" y="1960"/>
                </a:lnTo>
                <a:lnTo>
                  <a:pt x="1070" y="1931"/>
                </a:lnTo>
                <a:lnTo>
                  <a:pt x="1076" y="1902"/>
                </a:lnTo>
                <a:lnTo>
                  <a:pt x="1083" y="1874"/>
                </a:lnTo>
                <a:lnTo>
                  <a:pt x="1092" y="1846"/>
                </a:lnTo>
                <a:lnTo>
                  <a:pt x="1101" y="1819"/>
                </a:lnTo>
                <a:lnTo>
                  <a:pt x="1111" y="1792"/>
                </a:lnTo>
                <a:lnTo>
                  <a:pt x="1123" y="1766"/>
                </a:lnTo>
                <a:lnTo>
                  <a:pt x="1135" y="1740"/>
                </a:lnTo>
                <a:lnTo>
                  <a:pt x="1149" y="1714"/>
                </a:lnTo>
                <a:lnTo>
                  <a:pt x="1165" y="1690"/>
                </a:lnTo>
                <a:lnTo>
                  <a:pt x="1180" y="1665"/>
                </a:lnTo>
                <a:lnTo>
                  <a:pt x="1198" y="1643"/>
                </a:lnTo>
                <a:lnTo>
                  <a:pt x="1217" y="1620"/>
                </a:lnTo>
                <a:lnTo>
                  <a:pt x="1239" y="1597"/>
                </a:lnTo>
                <a:lnTo>
                  <a:pt x="1260" y="1576"/>
                </a:lnTo>
                <a:lnTo>
                  <a:pt x="1284" y="1555"/>
                </a:lnTo>
                <a:lnTo>
                  <a:pt x="1309" y="1535"/>
                </a:lnTo>
                <a:lnTo>
                  <a:pt x="1336" y="1516"/>
                </a:lnTo>
                <a:lnTo>
                  <a:pt x="1363" y="1498"/>
                </a:lnTo>
                <a:lnTo>
                  <a:pt x="1393" y="1480"/>
                </a:lnTo>
                <a:lnTo>
                  <a:pt x="1426" y="1463"/>
                </a:lnTo>
                <a:lnTo>
                  <a:pt x="1458" y="1447"/>
                </a:lnTo>
                <a:lnTo>
                  <a:pt x="1493" y="1432"/>
                </a:lnTo>
                <a:lnTo>
                  <a:pt x="1530" y="1418"/>
                </a:lnTo>
                <a:lnTo>
                  <a:pt x="1568" y="1404"/>
                </a:lnTo>
                <a:lnTo>
                  <a:pt x="1609" y="1392"/>
                </a:lnTo>
                <a:lnTo>
                  <a:pt x="1651" y="1380"/>
                </a:lnTo>
                <a:lnTo>
                  <a:pt x="1758" y="1056"/>
                </a:lnTo>
                <a:lnTo>
                  <a:pt x="526" y="1056"/>
                </a:lnTo>
                <a:lnTo>
                  <a:pt x="526" y="6335"/>
                </a:lnTo>
                <a:lnTo>
                  <a:pt x="4750" y="6335"/>
                </a:lnTo>
                <a:lnTo>
                  <a:pt x="4750" y="1056"/>
                </a:lnTo>
                <a:close/>
                <a:moveTo>
                  <a:pt x="2638" y="265"/>
                </a:moveTo>
                <a:lnTo>
                  <a:pt x="2638" y="265"/>
                </a:lnTo>
                <a:lnTo>
                  <a:pt x="2611" y="266"/>
                </a:lnTo>
                <a:lnTo>
                  <a:pt x="2584" y="269"/>
                </a:lnTo>
                <a:lnTo>
                  <a:pt x="2559" y="275"/>
                </a:lnTo>
                <a:lnTo>
                  <a:pt x="2535" y="285"/>
                </a:lnTo>
                <a:lnTo>
                  <a:pt x="2513" y="296"/>
                </a:lnTo>
                <a:lnTo>
                  <a:pt x="2491" y="309"/>
                </a:lnTo>
                <a:lnTo>
                  <a:pt x="2471" y="324"/>
                </a:lnTo>
                <a:lnTo>
                  <a:pt x="2452" y="341"/>
                </a:lnTo>
                <a:lnTo>
                  <a:pt x="2435" y="360"/>
                </a:lnTo>
                <a:lnTo>
                  <a:pt x="2419" y="381"/>
                </a:lnTo>
                <a:lnTo>
                  <a:pt x="2406" y="402"/>
                </a:lnTo>
                <a:lnTo>
                  <a:pt x="2395" y="425"/>
                </a:lnTo>
                <a:lnTo>
                  <a:pt x="2386" y="449"/>
                </a:lnTo>
                <a:lnTo>
                  <a:pt x="2380" y="474"/>
                </a:lnTo>
                <a:lnTo>
                  <a:pt x="2375" y="500"/>
                </a:lnTo>
                <a:lnTo>
                  <a:pt x="2374" y="528"/>
                </a:lnTo>
                <a:lnTo>
                  <a:pt x="2375" y="554"/>
                </a:lnTo>
                <a:lnTo>
                  <a:pt x="2380" y="581"/>
                </a:lnTo>
                <a:lnTo>
                  <a:pt x="2386" y="606"/>
                </a:lnTo>
                <a:lnTo>
                  <a:pt x="2395" y="631"/>
                </a:lnTo>
                <a:lnTo>
                  <a:pt x="2406" y="654"/>
                </a:lnTo>
                <a:lnTo>
                  <a:pt x="2419" y="675"/>
                </a:lnTo>
                <a:lnTo>
                  <a:pt x="2435" y="696"/>
                </a:lnTo>
                <a:lnTo>
                  <a:pt x="2452" y="715"/>
                </a:lnTo>
                <a:lnTo>
                  <a:pt x="2471" y="732"/>
                </a:lnTo>
                <a:lnTo>
                  <a:pt x="2491" y="747"/>
                </a:lnTo>
                <a:lnTo>
                  <a:pt x="2513" y="760"/>
                </a:lnTo>
                <a:lnTo>
                  <a:pt x="2535" y="771"/>
                </a:lnTo>
                <a:lnTo>
                  <a:pt x="2559" y="779"/>
                </a:lnTo>
                <a:lnTo>
                  <a:pt x="2584" y="787"/>
                </a:lnTo>
                <a:lnTo>
                  <a:pt x="2611" y="790"/>
                </a:lnTo>
                <a:lnTo>
                  <a:pt x="2638" y="791"/>
                </a:lnTo>
                <a:lnTo>
                  <a:pt x="2665" y="790"/>
                </a:lnTo>
                <a:lnTo>
                  <a:pt x="2691" y="787"/>
                </a:lnTo>
                <a:lnTo>
                  <a:pt x="2716" y="779"/>
                </a:lnTo>
                <a:lnTo>
                  <a:pt x="2741" y="771"/>
                </a:lnTo>
                <a:lnTo>
                  <a:pt x="2764" y="760"/>
                </a:lnTo>
                <a:lnTo>
                  <a:pt x="2786" y="747"/>
                </a:lnTo>
                <a:lnTo>
                  <a:pt x="2806" y="732"/>
                </a:lnTo>
                <a:lnTo>
                  <a:pt x="2825" y="715"/>
                </a:lnTo>
                <a:lnTo>
                  <a:pt x="2842" y="696"/>
                </a:lnTo>
                <a:lnTo>
                  <a:pt x="2857" y="675"/>
                </a:lnTo>
                <a:lnTo>
                  <a:pt x="2871" y="654"/>
                </a:lnTo>
                <a:lnTo>
                  <a:pt x="2881" y="631"/>
                </a:lnTo>
                <a:lnTo>
                  <a:pt x="2890" y="606"/>
                </a:lnTo>
                <a:lnTo>
                  <a:pt x="2897" y="581"/>
                </a:lnTo>
                <a:lnTo>
                  <a:pt x="2900" y="554"/>
                </a:lnTo>
                <a:lnTo>
                  <a:pt x="2902" y="528"/>
                </a:lnTo>
                <a:lnTo>
                  <a:pt x="2900" y="500"/>
                </a:lnTo>
                <a:lnTo>
                  <a:pt x="2897" y="474"/>
                </a:lnTo>
                <a:lnTo>
                  <a:pt x="2890" y="449"/>
                </a:lnTo>
                <a:lnTo>
                  <a:pt x="2881" y="425"/>
                </a:lnTo>
                <a:lnTo>
                  <a:pt x="2871" y="402"/>
                </a:lnTo>
                <a:lnTo>
                  <a:pt x="2857" y="381"/>
                </a:lnTo>
                <a:lnTo>
                  <a:pt x="2842" y="360"/>
                </a:lnTo>
                <a:lnTo>
                  <a:pt x="2825" y="341"/>
                </a:lnTo>
                <a:lnTo>
                  <a:pt x="2806" y="324"/>
                </a:lnTo>
                <a:lnTo>
                  <a:pt x="2786" y="309"/>
                </a:lnTo>
                <a:lnTo>
                  <a:pt x="2764" y="296"/>
                </a:lnTo>
                <a:lnTo>
                  <a:pt x="2741" y="285"/>
                </a:lnTo>
                <a:lnTo>
                  <a:pt x="2716" y="275"/>
                </a:lnTo>
                <a:lnTo>
                  <a:pt x="2691" y="269"/>
                </a:lnTo>
                <a:lnTo>
                  <a:pt x="2665" y="266"/>
                </a:lnTo>
                <a:lnTo>
                  <a:pt x="2638" y="265"/>
                </a:lnTo>
                <a:close/>
                <a:moveTo>
                  <a:pt x="0" y="6863"/>
                </a:moveTo>
                <a:lnTo>
                  <a:pt x="0" y="528"/>
                </a:lnTo>
                <a:lnTo>
                  <a:pt x="2110" y="528"/>
                </a:lnTo>
                <a:lnTo>
                  <a:pt x="2110" y="500"/>
                </a:lnTo>
                <a:lnTo>
                  <a:pt x="2113" y="474"/>
                </a:lnTo>
                <a:lnTo>
                  <a:pt x="2116" y="448"/>
                </a:lnTo>
                <a:lnTo>
                  <a:pt x="2121" y="421"/>
                </a:lnTo>
                <a:lnTo>
                  <a:pt x="2127" y="396"/>
                </a:lnTo>
                <a:lnTo>
                  <a:pt x="2134" y="371"/>
                </a:lnTo>
                <a:lnTo>
                  <a:pt x="2143" y="346"/>
                </a:lnTo>
                <a:lnTo>
                  <a:pt x="2152" y="322"/>
                </a:lnTo>
                <a:lnTo>
                  <a:pt x="2162" y="299"/>
                </a:lnTo>
                <a:lnTo>
                  <a:pt x="2174" y="277"/>
                </a:lnTo>
                <a:lnTo>
                  <a:pt x="2187" y="254"/>
                </a:lnTo>
                <a:lnTo>
                  <a:pt x="2200" y="232"/>
                </a:lnTo>
                <a:lnTo>
                  <a:pt x="2216" y="212"/>
                </a:lnTo>
                <a:lnTo>
                  <a:pt x="2231" y="192"/>
                </a:lnTo>
                <a:lnTo>
                  <a:pt x="2248" y="172"/>
                </a:lnTo>
                <a:lnTo>
                  <a:pt x="2265" y="154"/>
                </a:lnTo>
                <a:lnTo>
                  <a:pt x="2283" y="136"/>
                </a:lnTo>
                <a:lnTo>
                  <a:pt x="2302" y="121"/>
                </a:lnTo>
                <a:lnTo>
                  <a:pt x="2322" y="105"/>
                </a:lnTo>
                <a:lnTo>
                  <a:pt x="2343" y="90"/>
                </a:lnTo>
                <a:lnTo>
                  <a:pt x="2364" y="77"/>
                </a:lnTo>
                <a:lnTo>
                  <a:pt x="2387" y="63"/>
                </a:lnTo>
                <a:lnTo>
                  <a:pt x="2410" y="53"/>
                </a:lnTo>
                <a:lnTo>
                  <a:pt x="2432" y="42"/>
                </a:lnTo>
                <a:lnTo>
                  <a:pt x="2456" y="32"/>
                </a:lnTo>
                <a:lnTo>
                  <a:pt x="2481" y="24"/>
                </a:lnTo>
                <a:lnTo>
                  <a:pt x="2507" y="17"/>
                </a:lnTo>
                <a:lnTo>
                  <a:pt x="2532" y="11"/>
                </a:lnTo>
                <a:lnTo>
                  <a:pt x="2558" y="6"/>
                </a:lnTo>
                <a:lnTo>
                  <a:pt x="2584" y="2"/>
                </a:lnTo>
                <a:lnTo>
                  <a:pt x="2611" y="1"/>
                </a:lnTo>
                <a:lnTo>
                  <a:pt x="2638" y="0"/>
                </a:lnTo>
                <a:lnTo>
                  <a:pt x="2665" y="1"/>
                </a:lnTo>
                <a:lnTo>
                  <a:pt x="2692" y="2"/>
                </a:lnTo>
                <a:lnTo>
                  <a:pt x="2718" y="6"/>
                </a:lnTo>
                <a:lnTo>
                  <a:pt x="2745" y="11"/>
                </a:lnTo>
                <a:lnTo>
                  <a:pt x="2770" y="17"/>
                </a:lnTo>
                <a:lnTo>
                  <a:pt x="2795" y="24"/>
                </a:lnTo>
                <a:lnTo>
                  <a:pt x="2820" y="32"/>
                </a:lnTo>
                <a:lnTo>
                  <a:pt x="2844" y="42"/>
                </a:lnTo>
                <a:lnTo>
                  <a:pt x="2867" y="53"/>
                </a:lnTo>
                <a:lnTo>
                  <a:pt x="2890" y="63"/>
                </a:lnTo>
                <a:lnTo>
                  <a:pt x="2912" y="77"/>
                </a:lnTo>
                <a:lnTo>
                  <a:pt x="2934" y="90"/>
                </a:lnTo>
                <a:lnTo>
                  <a:pt x="2954" y="105"/>
                </a:lnTo>
                <a:lnTo>
                  <a:pt x="2975" y="121"/>
                </a:lnTo>
                <a:lnTo>
                  <a:pt x="2994" y="136"/>
                </a:lnTo>
                <a:lnTo>
                  <a:pt x="3012" y="154"/>
                </a:lnTo>
                <a:lnTo>
                  <a:pt x="3030" y="172"/>
                </a:lnTo>
                <a:lnTo>
                  <a:pt x="3045" y="192"/>
                </a:lnTo>
                <a:lnTo>
                  <a:pt x="3062" y="212"/>
                </a:lnTo>
                <a:lnTo>
                  <a:pt x="3076" y="232"/>
                </a:lnTo>
                <a:lnTo>
                  <a:pt x="3090" y="254"/>
                </a:lnTo>
                <a:lnTo>
                  <a:pt x="3103" y="277"/>
                </a:lnTo>
                <a:lnTo>
                  <a:pt x="3115" y="299"/>
                </a:lnTo>
                <a:lnTo>
                  <a:pt x="3126" y="322"/>
                </a:lnTo>
                <a:lnTo>
                  <a:pt x="3134" y="346"/>
                </a:lnTo>
                <a:lnTo>
                  <a:pt x="3142" y="371"/>
                </a:lnTo>
                <a:lnTo>
                  <a:pt x="3149" y="396"/>
                </a:lnTo>
                <a:lnTo>
                  <a:pt x="3155" y="421"/>
                </a:lnTo>
                <a:lnTo>
                  <a:pt x="3160" y="448"/>
                </a:lnTo>
                <a:lnTo>
                  <a:pt x="3164" y="474"/>
                </a:lnTo>
                <a:lnTo>
                  <a:pt x="3166" y="500"/>
                </a:lnTo>
                <a:lnTo>
                  <a:pt x="3166" y="528"/>
                </a:lnTo>
                <a:lnTo>
                  <a:pt x="5278" y="528"/>
                </a:lnTo>
                <a:lnTo>
                  <a:pt x="5278" y="6863"/>
                </a:lnTo>
                <a:lnTo>
                  <a:pt x="0" y="6863"/>
                </a:lnTo>
                <a:close/>
              </a:path>
            </a:pathLst>
          </a:custGeom>
          <a:solidFill>
            <a:schemeClr val="bg1">
              <a:lumMod val="50000"/>
            </a:schemeClr>
          </a:solidFill>
          <a:ln>
            <a:noFill/>
          </a:ln>
        </p:spPr>
        <p:txBody>
          <a:bodyPr anchor="ctr">
            <a:scene3d>
              <a:camera prst="orthographicFront"/>
              <a:lightRig rig="threePt" dir="t"/>
            </a:scene3d>
            <a:sp3d>
              <a:contourClr>
                <a:srgbClr val="FFFFFF"/>
              </a:contourClr>
            </a:sp3d>
          </a:bodyPr>
          <a:lstStyle/>
          <a:p>
            <a:pPr algn="ctr" eaLnBrk="1" fontAlgn="auto" hangingPunct="1">
              <a:spcBef>
                <a:spcPts val="0"/>
              </a:spcBef>
              <a:spcAft>
                <a:spcPts val="0"/>
              </a:spcAft>
              <a:defRPr/>
            </a:pPr>
            <a:endParaRPr lang="zh-CN" altLang="en-US" sz="1350" dirty="0">
              <a:solidFill>
                <a:srgbClr val="FFFFFF"/>
              </a:solidFill>
              <a:latin typeface="微软雅黑" panose="020B0503020204020204" charset="-122"/>
              <a:ea typeface="微软雅黑" panose="020B0503020204020204" charset="-122"/>
            </a:endParaRPr>
          </a:p>
        </p:txBody>
      </p:sp>
      <p:sp>
        <p:nvSpPr>
          <p:cNvPr id="110" name="Rectangle 51"/>
          <p:cNvSpPr/>
          <p:nvPr/>
        </p:nvSpPr>
        <p:spPr bwMode="auto">
          <a:xfrm>
            <a:off x="522960" y="3491414"/>
            <a:ext cx="5352843" cy="828464"/>
          </a:xfrm>
          <a:prstGeom prst="rect">
            <a:avLst/>
          </a:prstGeom>
          <a:noFill/>
          <a:ln w="63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endParaRPr>
          </a:p>
        </p:txBody>
      </p:sp>
      <p:sp>
        <p:nvSpPr>
          <p:cNvPr id="111" name="文本框 115"/>
          <p:cNvSpPr txBox="1"/>
          <p:nvPr/>
        </p:nvSpPr>
        <p:spPr>
          <a:xfrm>
            <a:off x="2414219" y="3333976"/>
            <a:ext cx="1718235" cy="284501"/>
          </a:xfrm>
          <a:prstGeom prst="rect">
            <a:avLst/>
          </a:prstGeom>
          <a:solidFill>
            <a:schemeClr val="bg1"/>
          </a:solidFill>
        </p:spPr>
        <p:txBody>
          <a:bodyPr wrap="square" rtlCol="0">
            <a:spAutoFit/>
          </a:bodyPr>
          <a:lstStyle/>
          <a:p>
            <a:pPr algn="ctr">
              <a:lnSpc>
                <a:spcPct val="120000"/>
              </a:lnSpc>
            </a:pPr>
            <a:r>
              <a:rPr lang="zh-CN" altLang="en-US" sz="1200" b="1" dirty="0">
                <a:solidFill>
                  <a:schemeClr val="accent1">
                    <a:lumMod val="75000"/>
                  </a:schemeClr>
                </a:solidFill>
                <a:latin typeface="微软雅黑" panose="020B0503020204020204" charset="-122"/>
                <a:ea typeface="微软雅黑" panose="020B0503020204020204" charset="-122"/>
              </a:rPr>
              <a:t>基础支撑</a:t>
            </a:r>
            <a:endParaRPr lang="zh-CN" altLang="en-US" sz="1200" b="1" dirty="0">
              <a:solidFill>
                <a:schemeClr val="accent1">
                  <a:lumMod val="75000"/>
                </a:schemeClr>
              </a:solidFill>
              <a:latin typeface="微软雅黑" panose="020B0503020204020204" charset="-122"/>
              <a:ea typeface="微软雅黑" panose="020B0503020204020204" charset="-122"/>
            </a:endParaRPr>
          </a:p>
        </p:txBody>
      </p:sp>
      <p:grpSp>
        <p:nvGrpSpPr>
          <p:cNvPr id="127" name="组合 126"/>
          <p:cNvGrpSpPr/>
          <p:nvPr/>
        </p:nvGrpSpPr>
        <p:grpSpPr>
          <a:xfrm>
            <a:off x="6795992" y="4596551"/>
            <a:ext cx="4410528" cy="1625843"/>
            <a:chOff x="6795992" y="4819207"/>
            <a:chExt cx="4410528" cy="1625843"/>
          </a:xfrm>
        </p:grpSpPr>
        <p:sp>
          <p:nvSpPr>
            <p:cNvPr id="76" name="Freeform 429"/>
            <p:cNvSpPr>
              <a:spLocks noEditPoints="1"/>
            </p:cNvSpPr>
            <p:nvPr/>
          </p:nvSpPr>
          <p:spPr bwMode="auto">
            <a:xfrm>
              <a:off x="6795992" y="4819207"/>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77" name="文本框 200"/>
            <p:cNvSpPr txBox="1"/>
            <p:nvPr/>
          </p:nvSpPr>
          <p:spPr>
            <a:xfrm>
              <a:off x="7289924" y="4819207"/>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zh-CN" altLang="zh-CN" sz="1200" dirty="0">
                  <a:solidFill>
                    <a:srgbClr val="000000"/>
                  </a:solidFill>
                  <a:latin typeface="微软雅黑" panose="020B0503020204020204" charset="-122"/>
                  <a:ea typeface="微软雅黑" panose="020B0503020204020204" charset="-122"/>
                  <a:cs typeface="微软雅黑" panose="020B0503020204020204" charset="-122"/>
                </a:rPr>
                <a:t> 体系化建设能力</a:t>
              </a:r>
              <a:endParaRPr lang="zh-CN" altLang="zh-CN"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78" name="Freeform 429"/>
            <p:cNvSpPr>
              <a:spLocks noEditPoints="1"/>
            </p:cNvSpPr>
            <p:nvPr/>
          </p:nvSpPr>
          <p:spPr bwMode="auto">
            <a:xfrm>
              <a:off x="6795992" y="5682011"/>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79" name="文本框 202"/>
            <p:cNvSpPr txBox="1"/>
            <p:nvPr/>
          </p:nvSpPr>
          <p:spPr>
            <a:xfrm>
              <a:off x="7289924" y="5682011"/>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zh-CN" altLang="zh-CN" sz="1200" dirty="0">
                  <a:solidFill>
                    <a:srgbClr val="000000"/>
                  </a:solidFill>
                  <a:latin typeface="微软雅黑" panose="020B0503020204020204" charset="-122"/>
                  <a:ea typeface="微软雅黑" panose="020B0503020204020204" charset="-122"/>
                </a:rPr>
                <a:t>业务价值导向能力</a:t>
              </a:r>
              <a:endParaRPr lang="zh-CN" altLang="zh-CN" sz="1200" dirty="0">
                <a:solidFill>
                  <a:srgbClr val="000000"/>
                </a:solidFill>
                <a:latin typeface="微软雅黑" panose="020B0503020204020204" charset="-122"/>
                <a:ea typeface="微软雅黑" panose="020B0503020204020204" charset="-122"/>
              </a:endParaRPr>
            </a:p>
          </p:txBody>
        </p:sp>
        <p:sp>
          <p:nvSpPr>
            <p:cNvPr id="80" name="Freeform 429"/>
            <p:cNvSpPr>
              <a:spLocks noEditPoints="1"/>
            </p:cNvSpPr>
            <p:nvPr/>
          </p:nvSpPr>
          <p:spPr bwMode="auto">
            <a:xfrm>
              <a:off x="6795992" y="5250609"/>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81" name="文本框 204"/>
            <p:cNvSpPr txBox="1"/>
            <p:nvPr/>
          </p:nvSpPr>
          <p:spPr>
            <a:xfrm>
              <a:off x="7289924" y="5250609"/>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zh-CN" altLang="zh-CN" sz="1200" dirty="0">
                  <a:solidFill>
                    <a:srgbClr val="000000"/>
                  </a:solidFill>
                  <a:latin typeface="微软雅黑" panose="020B0503020204020204" charset="-122"/>
                  <a:ea typeface="微软雅黑" panose="020B0503020204020204" charset="-122"/>
                </a:rPr>
                <a:t>全生命周期管理能力</a:t>
              </a:r>
              <a:endParaRPr lang="zh-CN" altLang="zh-CN" sz="1200" dirty="0">
                <a:solidFill>
                  <a:srgbClr val="000000"/>
                </a:solidFill>
                <a:latin typeface="微软雅黑" panose="020B0503020204020204" charset="-122"/>
                <a:ea typeface="微软雅黑" panose="020B0503020204020204" charset="-122"/>
              </a:endParaRPr>
            </a:p>
          </p:txBody>
        </p:sp>
        <p:sp>
          <p:nvSpPr>
            <p:cNvPr id="82" name="Freeform 429"/>
            <p:cNvSpPr>
              <a:spLocks noEditPoints="1"/>
            </p:cNvSpPr>
            <p:nvPr/>
          </p:nvSpPr>
          <p:spPr bwMode="auto">
            <a:xfrm>
              <a:off x="6795992" y="6113412"/>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107" name="文本框 202"/>
            <p:cNvSpPr txBox="1"/>
            <p:nvPr/>
          </p:nvSpPr>
          <p:spPr>
            <a:xfrm>
              <a:off x="7289924" y="6113412"/>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zh-CN" altLang="en-US" sz="1200" dirty="0">
                  <a:solidFill>
                    <a:srgbClr val="000000"/>
                  </a:solidFill>
                  <a:latin typeface="微软雅黑" panose="020B0503020204020204" charset="-122"/>
                  <a:ea typeface="微软雅黑" panose="020B0503020204020204" charset="-122"/>
                </a:rPr>
                <a:t>智能优化能力</a:t>
              </a:r>
              <a:endParaRPr lang="zh-CN" altLang="en-US" sz="1200" dirty="0">
                <a:solidFill>
                  <a:srgbClr val="000000"/>
                </a:solidFill>
                <a:latin typeface="微软雅黑" panose="020B0503020204020204" charset="-122"/>
                <a:ea typeface="微软雅黑" panose="020B0503020204020204" charset="-122"/>
              </a:endParaRPr>
            </a:p>
          </p:txBody>
        </p:sp>
        <p:sp>
          <p:nvSpPr>
            <p:cNvPr id="119" name="文本框 204"/>
            <p:cNvSpPr txBox="1"/>
            <p:nvPr/>
          </p:nvSpPr>
          <p:spPr>
            <a:xfrm>
              <a:off x="9576812" y="4819207"/>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zh-CN" altLang="en-US" sz="1200" dirty="0">
                  <a:solidFill>
                    <a:srgbClr val="000000"/>
                  </a:solidFill>
                  <a:latin typeface="微软雅黑" panose="020B0503020204020204" charset="-122"/>
                  <a:ea typeface="微软雅黑" panose="020B0503020204020204" charset="-122"/>
                </a:rPr>
                <a:t>知识萃取</a:t>
              </a:r>
              <a:endParaRPr lang="zh-CN" altLang="en-US" sz="1200" dirty="0">
                <a:solidFill>
                  <a:srgbClr val="000000"/>
                </a:solidFill>
                <a:latin typeface="微软雅黑" panose="020B0503020204020204" charset="-122"/>
                <a:ea typeface="微软雅黑" panose="020B0503020204020204" charset="-122"/>
              </a:endParaRPr>
            </a:p>
          </p:txBody>
        </p:sp>
        <p:sp>
          <p:nvSpPr>
            <p:cNvPr id="120" name="文本框 204"/>
            <p:cNvSpPr txBox="1"/>
            <p:nvPr/>
          </p:nvSpPr>
          <p:spPr>
            <a:xfrm>
              <a:off x="9576812" y="5682011"/>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zh-CN" altLang="en-US" sz="1200" dirty="0">
                  <a:solidFill>
                    <a:srgbClr val="000000"/>
                  </a:solidFill>
                  <a:latin typeface="微软雅黑" panose="020B0503020204020204" charset="-122"/>
                  <a:ea typeface="微软雅黑" panose="020B0503020204020204" charset="-122"/>
                </a:rPr>
                <a:t>知识共享</a:t>
              </a:r>
              <a:endParaRPr lang="zh-CN" altLang="en-US" sz="1200" dirty="0">
                <a:solidFill>
                  <a:srgbClr val="000000"/>
                </a:solidFill>
                <a:latin typeface="微软雅黑" panose="020B0503020204020204" charset="-122"/>
                <a:ea typeface="微软雅黑" panose="020B0503020204020204" charset="-122"/>
              </a:endParaRPr>
            </a:p>
          </p:txBody>
        </p:sp>
        <p:sp>
          <p:nvSpPr>
            <p:cNvPr id="121" name="文本框 204"/>
            <p:cNvSpPr txBox="1"/>
            <p:nvPr/>
          </p:nvSpPr>
          <p:spPr>
            <a:xfrm>
              <a:off x="9576812" y="5250609"/>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zh-CN" altLang="en-US" sz="1200" dirty="0">
                  <a:solidFill>
                    <a:srgbClr val="000000"/>
                  </a:solidFill>
                  <a:latin typeface="微软雅黑" panose="020B0503020204020204" charset="-122"/>
                  <a:ea typeface="微软雅黑" panose="020B0503020204020204" charset="-122"/>
                </a:rPr>
                <a:t>知识整合</a:t>
              </a:r>
              <a:endParaRPr lang="zh-CN" altLang="en-US" sz="1200" dirty="0">
                <a:solidFill>
                  <a:srgbClr val="000000"/>
                </a:solidFill>
                <a:latin typeface="微软雅黑" panose="020B0503020204020204" charset="-122"/>
                <a:ea typeface="微软雅黑" panose="020B0503020204020204" charset="-122"/>
              </a:endParaRPr>
            </a:p>
          </p:txBody>
        </p:sp>
        <p:sp>
          <p:nvSpPr>
            <p:cNvPr id="122" name="文本框 204"/>
            <p:cNvSpPr txBox="1"/>
            <p:nvPr/>
          </p:nvSpPr>
          <p:spPr>
            <a:xfrm>
              <a:off x="9576812" y="6113412"/>
              <a:ext cx="1629708" cy="331638"/>
            </a:xfrm>
            <a:prstGeom prst="roundRect">
              <a:avLst/>
            </a:prstGeom>
            <a:solidFill>
              <a:schemeClr val="accent2">
                <a:lumMod val="20000"/>
                <a:lumOff val="80000"/>
              </a:schemeClr>
            </a:solidFill>
            <a:ln>
              <a:noFill/>
            </a:ln>
          </p:spPr>
          <p:txBody>
            <a:bodyPr wrap="square" lIns="0" tIns="0" rIns="0" bIns="0" rtlCol="0" anchor="ctr">
              <a:noAutofit/>
            </a:bodyPr>
            <a:lstStyle/>
            <a:p>
              <a:pPr algn="ctr">
                <a:spcBef>
                  <a:spcPts val="1800"/>
                </a:spcBef>
                <a:spcAft>
                  <a:spcPts val="1200"/>
                </a:spcAft>
              </a:pPr>
              <a:r>
                <a:rPr lang="en-US" altLang="zh-CN" sz="1200" dirty="0">
                  <a:solidFill>
                    <a:srgbClr val="000000"/>
                  </a:solidFill>
                  <a:latin typeface="微软雅黑" panose="020B0503020204020204" charset="-122"/>
                  <a:ea typeface="微软雅黑" panose="020B0503020204020204" charset="-122"/>
                </a:rPr>
                <a:t>… …</a:t>
              </a:r>
              <a:endParaRPr lang="en-US" altLang="zh-CN" sz="1200" dirty="0">
                <a:solidFill>
                  <a:srgbClr val="000000"/>
                </a:solidFill>
                <a:latin typeface="微软雅黑" panose="020B0503020204020204" charset="-122"/>
                <a:ea typeface="微软雅黑" panose="020B0503020204020204" charset="-122"/>
              </a:endParaRPr>
            </a:p>
          </p:txBody>
        </p:sp>
        <p:sp>
          <p:nvSpPr>
            <p:cNvPr id="123" name="Freeform 429"/>
            <p:cNvSpPr>
              <a:spLocks noEditPoints="1"/>
            </p:cNvSpPr>
            <p:nvPr/>
          </p:nvSpPr>
          <p:spPr bwMode="auto">
            <a:xfrm>
              <a:off x="9082879" y="4819207"/>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124" name="Freeform 429"/>
            <p:cNvSpPr>
              <a:spLocks noEditPoints="1"/>
            </p:cNvSpPr>
            <p:nvPr/>
          </p:nvSpPr>
          <p:spPr bwMode="auto">
            <a:xfrm>
              <a:off x="9082879" y="5682011"/>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125" name="Freeform 429"/>
            <p:cNvSpPr>
              <a:spLocks noEditPoints="1"/>
            </p:cNvSpPr>
            <p:nvPr/>
          </p:nvSpPr>
          <p:spPr bwMode="auto">
            <a:xfrm>
              <a:off x="9082879" y="5250609"/>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sp>
          <p:nvSpPr>
            <p:cNvPr id="126" name="Freeform 429"/>
            <p:cNvSpPr>
              <a:spLocks noEditPoints="1"/>
            </p:cNvSpPr>
            <p:nvPr/>
          </p:nvSpPr>
          <p:spPr bwMode="auto">
            <a:xfrm>
              <a:off x="9082879" y="6113412"/>
              <a:ext cx="330685" cy="331638"/>
            </a:xfrm>
            <a:custGeom>
              <a:avLst/>
              <a:gdLst>
                <a:gd name="T0" fmla="*/ 236 w 512"/>
                <a:gd name="T1" fmla="*/ 209 h 512"/>
                <a:gd name="T2" fmla="*/ 244 w 512"/>
                <a:gd name="T3" fmla="*/ 236 h 512"/>
                <a:gd name="T4" fmla="*/ 151 w 512"/>
                <a:gd name="T5" fmla="*/ 262 h 512"/>
                <a:gd name="T6" fmla="*/ 144 w 512"/>
                <a:gd name="T7" fmla="*/ 234 h 512"/>
                <a:gd name="T8" fmla="*/ 236 w 512"/>
                <a:gd name="T9" fmla="*/ 209 h 512"/>
                <a:gd name="T10" fmla="*/ 327 w 512"/>
                <a:gd name="T11" fmla="*/ 177 h 512"/>
                <a:gd name="T12" fmla="*/ 255 w 512"/>
                <a:gd name="T13" fmla="*/ 196 h 512"/>
                <a:gd name="T14" fmla="*/ 266 w 512"/>
                <a:gd name="T15" fmla="*/ 237 h 512"/>
                <a:gd name="T16" fmla="*/ 338 w 512"/>
                <a:gd name="T17" fmla="*/ 218 h 512"/>
                <a:gd name="T18" fmla="*/ 333 w 512"/>
                <a:gd name="T19" fmla="*/ 197 h 512"/>
                <a:gd name="T20" fmla="*/ 327 w 512"/>
                <a:gd name="T21" fmla="*/ 177 h 512"/>
                <a:gd name="T22" fmla="*/ 512 w 512"/>
                <a:gd name="T23" fmla="*/ 256 h 512"/>
                <a:gd name="T24" fmla="*/ 256 w 512"/>
                <a:gd name="T25" fmla="*/ 512 h 512"/>
                <a:gd name="T26" fmla="*/ 0 w 512"/>
                <a:gd name="T27" fmla="*/ 256 h 512"/>
                <a:gd name="T28" fmla="*/ 256 w 512"/>
                <a:gd name="T29" fmla="*/ 0 h 512"/>
                <a:gd name="T30" fmla="*/ 512 w 512"/>
                <a:gd name="T31" fmla="*/ 256 h 512"/>
                <a:gd name="T32" fmla="*/ 406 w 512"/>
                <a:gd name="T33" fmla="*/ 222 h 512"/>
                <a:gd name="T34" fmla="*/ 383 w 512"/>
                <a:gd name="T35" fmla="*/ 139 h 512"/>
                <a:gd name="T36" fmla="*/ 378 w 512"/>
                <a:gd name="T37" fmla="*/ 133 h 512"/>
                <a:gd name="T38" fmla="*/ 370 w 512"/>
                <a:gd name="T39" fmla="*/ 132 h 512"/>
                <a:gd name="T40" fmla="*/ 329 w 512"/>
                <a:gd name="T41" fmla="*/ 143 h 512"/>
                <a:gd name="T42" fmla="*/ 322 w 512"/>
                <a:gd name="T43" fmla="*/ 156 h 512"/>
                <a:gd name="T44" fmla="*/ 239 w 512"/>
                <a:gd name="T45" fmla="*/ 179 h 512"/>
                <a:gd name="T46" fmla="*/ 232 w 512"/>
                <a:gd name="T47" fmla="*/ 188 h 512"/>
                <a:gd name="T48" fmla="*/ 128 w 512"/>
                <a:gd name="T49" fmla="*/ 216 h 512"/>
                <a:gd name="T50" fmla="*/ 126 w 512"/>
                <a:gd name="T51" fmla="*/ 209 h 512"/>
                <a:gd name="T52" fmla="*/ 113 w 512"/>
                <a:gd name="T53" fmla="*/ 202 h 512"/>
                <a:gd name="T54" fmla="*/ 106 w 512"/>
                <a:gd name="T55" fmla="*/ 215 h 512"/>
                <a:gd name="T56" fmla="*/ 128 w 512"/>
                <a:gd name="T57" fmla="*/ 297 h 512"/>
                <a:gd name="T58" fmla="*/ 138 w 512"/>
                <a:gd name="T59" fmla="*/ 305 h 512"/>
                <a:gd name="T60" fmla="*/ 141 w 512"/>
                <a:gd name="T61" fmla="*/ 305 h 512"/>
                <a:gd name="T62" fmla="*/ 149 w 512"/>
                <a:gd name="T63" fmla="*/ 292 h 512"/>
                <a:gd name="T64" fmla="*/ 147 w 512"/>
                <a:gd name="T65" fmla="*/ 285 h 512"/>
                <a:gd name="T66" fmla="*/ 243 w 512"/>
                <a:gd name="T67" fmla="*/ 259 h 512"/>
                <a:gd name="T68" fmla="*/ 192 w 512"/>
                <a:gd name="T69" fmla="*/ 401 h 512"/>
                <a:gd name="T70" fmla="*/ 199 w 512"/>
                <a:gd name="T71" fmla="*/ 415 h 512"/>
                <a:gd name="T72" fmla="*/ 202 w 512"/>
                <a:gd name="T73" fmla="*/ 416 h 512"/>
                <a:gd name="T74" fmla="*/ 212 w 512"/>
                <a:gd name="T75" fmla="*/ 409 h 512"/>
                <a:gd name="T76" fmla="*/ 245 w 512"/>
                <a:gd name="T77" fmla="*/ 317 h 512"/>
                <a:gd name="T78" fmla="*/ 245 w 512"/>
                <a:gd name="T79" fmla="*/ 405 h 512"/>
                <a:gd name="T80" fmla="*/ 256 w 512"/>
                <a:gd name="T81" fmla="*/ 416 h 512"/>
                <a:gd name="T82" fmla="*/ 266 w 512"/>
                <a:gd name="T83" fmla="*/ 405 h 512"/>
                <a:gd name="T84" fmla="*/ 266 w 512"/>
                <a:gd name="T85" fmla="*/ 317 h 512"/>
                <a:gd name="T86" fmla="*/ 299 w 512"/>
                <a:gd name="T87" fmla="*/ 409 h 512"/>
                <a:gd name="T88" fmla="*/ 309 w 512"/>
                <a:gd name="T89" fmla="*/ 416 h 512"/>
                <a:gd name="T90" fmla="*/ 313 w 512"/>
                <a:gd name="T91" fmla="*/ 415 h 512"/>
                <a:gd name="T92" fmla="*/ 319 w 512"/>
                <a:gd name="T93" fmla="*/ 401 h 512"/>
                <a:gd name="T94" fmla="*/ 268 w 512"/>
                <a:gd name="T95" fmla="*/ 259 h 512"/>
                <a:gd name="T96" fmla="*/ 344 w 512"/>
                <a:gd name="T97" fmla="*/ 238 h 512"/>
                <a:gd name="T98" fmla="*/ 344 w 512"/>
                <a:gd name="T99" fmla="*/ 238 h 512"/>
                <a:gd name="T100" fmla="*/ 354 w 512"/>
                <a:gd name="T101" fmla="*/ 246 h 512"/>
                <a:gd name="T102" fmla="*/ 357 w 512"/>
                <a:gd name="T103" fmla="*/ 246 h 512"/>
                <a:gd name="T104" fmla="*/ 398 w 512"/>
                <a:gd name="T105" fmla="*/ 235 h 512"/>
                <a:gd name="T106" fmla="*/ 405 w 512"/>
                <a:gd name="T107" fmla="*/ 230 h 512"/>
                <a:gd name="T108" fmla="*/ 406 w 512"/>
                <a:gd name="T109" fmla="*/ 222 h 512"/>
                <a:gd name="T110" fmla="*/ 345 w 512"/>
                <a:gd name="T111" fmla="*/ 161 h 512"/>
                <a:gd name="T112" fmla="*/ 362 w 512"/>
                <a:gd name="T113" fmla="*/ 222 h 512"/>
                <a:gd name="T114" fmla="*/ 382 w 512"/>
                <a:gd name="T115" fmla="*/ 217 h 512"/>
                <a:gd name="T116" fmla="*/ 366 w 512"/>
                <a:gd name="T117" fmla="*/ 155 h 512"/>
                <a:gd name="T118" fmla="*/ 345 w 512"/>
                <a:gd name="T119" fmla="*/ 16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12" h="512">
                  <a:moveTo>
                    <a:pt x="236" y="209"/>
                  </a:moveTo>
                  <a:cubicBezTo>
                    <a:pt x="244" y="236"/>
                    <a:pt x="244" y="236"/>
                    <a:pt x="244" y="236"/>
                  </a:cubicBezTo>
                  <a:cubicBezTo>
                    <a:pt x="151" y="262"/>
                    <a:pt x="151" y="262"/>
                    <a:pt x="151" y="262"/>
                  </a:cubicBezTo>
                  <a:cubicBezTo>
                    <a:pt x="144" y="234"/>
                    <a:pt x="144" y="234"/>
                    <a:pt x="144" y="234"/>
                  </a:cubicBezTo>
                  <a:lnTo>
                    <a:pt x="236" y="209"/>
                  </a:lnTo>
                  <a:close/>
                  <a:moveTo>
                    <a:pt x="327" y="177"/>
                  </a:moveTo>
                  <a:cubicBezTo>
                    <a:pt x="255" y="196"/>
                    <a:pt x="255" y="196"/>
                    <a:pt x="255" y="196"/>
                  </a:cubicBezTo>
                  <a:cubicBezTo>
                    <a:pt x="266" y="237"/>
                    <a:pt x="266" y="237"/>
                    <a:pt x="266" y="237"/>
                  </a:cubicBezTo>
                  <a:cubicBezTo>
                    <a:pt x="338" y="218"/>
                    <a:pt x="338" y="218"/>
                    <a:pt x="338" y="218"/>
                  </a:cubicBezTo>
                  <a:cubicBezTo>
                    <a:pt x="333" y="197"/>
                    <a:pt x="333" y="197"/>
                    <a:pt x="333" y="197"/>
                  </a:cubicBezTo>
                  <a:lnTo>
                    <a:pt x="327" y="177"/>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6" y="222"/>
                  </a:moveTo>
                  <a:cubicBezTo>
                    <a:pt x="383" y="139"/>
                    <a:pt x="383" y="139"/>
                    <a:pt x="383" y="139"/>
                  </a:cubicBezTo>
                  <a:cubicBezTo>
                    <a:pt x="383" y="136"/>
                    <a:pt x="381" y="134"/>
                    <a:pt x="378" y="133"/>
                  </a:cubicBezTo>
                  <a:cubicBezTo>
                    <a:pt x="376" y="131"/>
                    <a:pt x="373" y="131"/>
                    <a:pt x="370" y="132"/>
                  </a:cubicBezTo>
                  <a:cubicBezTo>
                    <a:pt x="329" y="143"/>
                    <a:pt x="329" y="143"/>
                    <a:pt x="329" y="143"/>
                  </a:cubicBezTo>
                  <a:cubicBezTo>
                    <a:pt x="323" y="145"/>
                    <a:pt x="320" y="150"/>
                    <a:pt x="322" y="156"/>
                  </a:cubicBezTo>
                  <a:cubicBezTo>
                    <a:pt x="239" y="179"/>
                    <a:pt x="239" y="179"/>
                    <a:pt x="239" y="179"/>
                  </a:cubicBezTo>
                  <a:cubicBezTo>
                    <a:pt x="235" y="180"/>
                    <a:pt x="232" y="184"/>
                    <a:pt x="232" y="188"/>
                  </a:cubicBezTo>
                  <a:cubicBezTo>
                    <a:pt x="128" y="216"/>
                    <a:pt x="128" y="216"/>
                    <a:pt x="128" y="216"/>
                  </a:cubicBezTo>
                  <a:cubicBezTo>
                    <a:pt x="126" y="209"/>
                    <a:pt x="126" y="209"/>
                    <a:pt x="126" y="209"/>
                  </a:cubicBezTo>
                  <a:cubicBezTo>
                    <a:pt x="125" y="204"/>
                    <a:pt x="119" y="200"/>
                    <a:pt x="113" y="202"/>
                  </a:cubicBezTo>
                  <a:cubicBezTo>
                    <a:pt x="107" y="204"/>
                    <a:pt x="104" y="209"/>
                    <a:pt x="106" y="215"/>
                  </a:cubicBezTo>
                  <a:cubicBezTo>
                    <a:pt x="128" y="297"/>
                    <a:pt x="128" y="297"/>
                    <a:pt x="128" y="297"/>
                  </a:cubicBezTo>
                  <a:cubicBezTo>
                    <a:pt x="129" y="302"/>
                    <a:pt x="134" y="305"/>
                    <a:pt x="138" y="305"/>
                  </a:cubicBezTo>
                  <a:cubicBezTo>
                    <a:pt x="139" y="305"/>
                    <a:pt x="140" y="305"/>
                    <a:pt x="141" y="305"/>
                  </a:cubicBezTo>
                  <a:cubicBezTo>
                    <a:pt x="147" y="303"/>
                    <a:pt x="150" y="298"/>
                    <a:pt x="149" y="292"/>
                  </a:cubicBezTo>
                  <a:cubicBezTo>
                    <a:pt x="147" y="285"/>
                    <a:pt x="147" y="285"/>
                    <a:pt x="147" y="285"/>
                  </a:cubicBezTo>
                  <a:cubicBezTo>
                    <a:pt x="243" y="259"/>
                    <a:pt x="243" y="259"/>
                    <a:pt x="243" y="259"/>
                  </a:cubicBezTo>
                  <a:cubicBezTo>
                    <a:pt x="192" y="401"/>
                    <a:pt x="192" y="401"/>
                    <a:pt x="192" y="401"/>
                  </a:cubicBezTo>
                  <a:cubicBezTo>
                    <a:pt x="190" y="407"/>
                    <a:pt x="193" y="413"/>
                    <a:pt x="199" y="415"/>
                  </a:cubicBezTo>
                  <a:cubicBezTo>
                    <a:pt x="200" y="415"/>
                    <a:pt x="201" y="416"/>
                    <a:pt x="202" y="416"/>
                  </a:cubicBezTo>
                  <a:cubicBezTo>
                    <a:pt x="207" y="416"/>
                    <a:pt x="211" y="413"/>
                    <a:pt x="212" y="409"/>
                  </a:cubicBezTo>
                  <a:cubicBezTo>
                    <a:pt x="245" y="317"/>
                    <a:pt x="245" y="317"/>
                    <a:pt x="245" y="317"/>
                  </a:cubicBezTo>
                  <a:cubicBezTo>
                    <a:pt x="245" y="405"/>
                    <a:pt x="245" y="405"/>
                    <a:pt x="245" y="405"/>
                  </a:cubicBezTo>
                  <a:cubicBezTo>
                    <a:pt x="245" y="411"/>
                    <a:pt x="250" y="416"/>
                    <a:pt x="256" y="416"/>
                  </a:cubicBezTo>
                  <a:cubicBezTo>
                    <a:pt x="262" y="416"/>
                    <a:pt x="266" y="411"/>
                    <a:pt x="266" y="405"/>
                  </a:cubicBezTo>
                  <a:cubicBezTo>
                    <a:pt x="266" y="317"/>
                    <a:pt x="266" y="317"/>
                    <a:pt x="266" y="317"/>
                  </a:cubicBezTo>
                  <a:cubicBezTo>
                    <a:pt x="299" y="409"/>
                    <a:pt x="299" y="409"/>
                    <a:pt x="299" y="409"/>
                  </a:cubicBezTo>
                  <a:cubicBezTo>
                    <a:pt x="301" y="413"/>
                    <a:pt x="305" y="416"/>
                    <a:pt x="309" y="416"/>
                  </a:cubicBezTo>
                  <a:cubicBezTo>
                    <a:pt x="310" y="416"/>
                    <a:pt x="311" y="415"/>
                    <a:pt x="313" y="415"/>
                  </a:cubicBezTo>
                  <a:cubicBezTo>
                    <a:pt x="318" y="413"/>
                    <a:pt x="321" y="407"/>
                    <a:pt x="319" y="401"/>
                  </a:cubicBezTo>
                  <a:cubicBezTo>
                    <a:pt x="268" y="259"/>
                    <a:pt x="268" y="259"/>
                    <a:pt x="268" y="259"/>
                  </a:cubicBezTo>
                  <a:cubicBezTo>
                    <a:pt x="344" y="238"/>
                    <a:pt x="344" y="238"/>
                    <a:pt x="344" y="238"/>
                  </a:cubicBezTo>
                  <a:cubicBezTo>
                    <a:pt x="344" y="238"/>
                    <a:pt x="344" y="238"/>
                    <a:pt x="344" y="238"/>
                  </a:cubicBezTo>
                  <a:cubicBezTo>
                    <a:pt x="345" y="243"/>
                    <a:pt x="350" y="246"/>
                    <a:pt x="354" y="246"/>
                  </a:cubicBezTo>
                  <a:cubicBezTo>
                    <a:pt x="355" y="246"/>
                    <a:pt x="356" y="246"/>
                    <a:pt x="357" y="246"/>
                  </a:cubicBezTo>
                  <a:cubicBezTo>
                    <a:pt x="398" y="235"/>
                    <a:pt x="398" y="235"/>
                    <a:pt x="398" y="235"/>
                  </a:cubicBezTo>
                  <a:cubicBezTo>
                    <a:pt x="401" y="234"/>
                    <a:pt x="403" y="232"/>
                    <a:pt x="405" y="230"/>
                  </a:cubicBezTo>
                  <a:cubicBezTo>
                    <a:pt x="406" y="227"/>
                    <a:pt x="407" y="224"/>
                    <a:pt x="406" y="222"/>
                  </a:cubicBezTo>
                  <a:close/>
                  <a:moveTo>
                    <a:pt x="345" y="161"/>
                  </a:moveTo>
                  <a:cubicBezTo>
                    <a:pt x="362" y="222"/>
                    <a:pt x="362" y="222"/>
                    <a:pt x="362" y="222"/>
                  </a:cubicBezTo>
                  <a:cubicBezTo>
                    <a:pt x="382" y="217"/>
                    <a:pt x="382" y="217"/>
                    <a:pt x="382" y="217"/>
                  </a:cubicBezTo>
                  <a:cubicBezTo>
                    <a:pt x="366" y="155"/>
                    <a:pt x="366" y="155"/>
                    <a:pt x="366" y="155"/>
                  </a:cubicBezTo>
                  <a:lnTo>
                    <a:pt x="345" y="161"/>
                  </a:lnTo>
                  <a:close/>
                </a:path>
              </a:pathLst>
            </a:custGeom>
            <a:solidFill>
              <a:srgbClr val="C00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endParaRPr>
            </a:p>
          </p:txBody>
        </p:sp>
      </p:grpSp>
      <p:sp>
        <p:nvSpPr>
          <p:cNvPr id="133" name="cloud-computing-connection_70996"/>
          <p:cNvSpPr/>
          <p:nvPr/>
        </p:nvSpPr>
        <p:spPr>
          <a:xfrm>
            <a:off x="2117381" y="3655856"/>
            <a:ext cx="318429" cy="326742"/>
          </a:xfrm>
          <a:custGeom>
            <a:avLst/>
            <a:gdLst>
              <a:gd name="T0" fmla="*/ 4313 w 5734"/>
              <a:gd name="T1" fmla="*/ 3918 h 5892"/>
              <a:gd name="T2" fmla="*/ 5734 w 5734"/>
              <a:gd name="T3" fmla="*/ 2497 h 5892"/>
              <a:gd name="T4" fmla="*/ 4313 w 5734"/>
              <a:gd name="T5" fmla="*/ 1076 h 5892"/>
              <a:gd name="T6" fmla="*/ 4149 w 5734"/>
              <a:gd name="T7" fmla="*/ 1085 h 5892"/>
              <a:gd name="T8" fmla="*/ 3733 w 5734"/>
              <a:gd name="T9" fmla="*/ 378 h 5892"/>
              <a:gd name="T10" fmla="*/ 2768 w 5734"/>
              <a:gd name="T11" fmla="*/ 0 h 5892"/>
              <a:gd name="T12" fmla="*/ 1389 w 5734"/>
              <a:gd name="T13" fmla="*/ 1076 h 5892"/>
              <a:gd name="T14" fmla="*/ 0 w 5734"/>
              <a:gd name="T15" fmla="*/ 2497 h 5892"/>
              <a:gd name="T16" fmla="*/ 1421 w 5734"/>
              <a:gd name="T17" fmla="*/ 3918 h 5892"/>
              <a:gd name="T18" fmla="*/ 2140 w 5734"/>
              <a:gd name="T19" fmla="*/ 3918 h 5892"/>
              <a:gd name="T20" fmla="*/ 2140 w 5734"/>
              <a:gd name="T21" fmla="*/ 4472 h 5892"/>
              <a:gd name="T22" fmla="*/ 1315 w 5734"/>
              <a:gd name="T23" fmla="*/ 4472 h 5892"/>
              <a:gd name="T24" fmla="*/ 954 w 5734"/>
              <a:gd name="T25" fmla="*/ 4259 h 5892"/>
              <a:gd name="T26" fmla="*/ 540 w 5734"/>
              <a:gd name="T27" fmla="*/ 4672 h 5892"/>
              <a:gd name="T28" fmla="*/ 954 w 5734"/>
              <a:gd name="T29" fmla="*/ 5086 h 5892"/>
              <a:gd name="T30" fmla="*/ 1315 w 5734"/>
              <a:gd name="T31" fmla="*/ 4872 h 5892"/>
              <a:gd name="T32" fmla="*/ 2340 w 5734"/>
              <a:gd name="T33" fmla="*/ 4872 h 5892"/>
              <a:gd name="T34" fmla="*/ 2540 w 5734"/>
              <a:gd name="T35" fmla="*/ 4672 h 5892"/>
              <a:gd name="T36" fmla="*/ 2540 w 5734"/>
              <a:gd name="T37" fmla="*/ 3918 h 5892"/>
              <a:gd name="T38" fmla="*/ 2667 w 5734"/>
              <a:gd name="T39" fmla="*/ 3918 h 5892"/>
              <a:gd name="T40" fmla="*/ 2667 w 5734"/>
              <a:gd name="T41" fmla="*/ 5117 h 5892"/>
              <a:gd name="T42" fmla="*/ 2454 w 5734"/>
              <a:gd name="T43" fmla="*/ 5479 h 5892"/>
              <a:gd name="T44" fmla="*/ 2867 w 5734"/>
              <a:gd name="T45" fmla="*/ 5892 h 5892"/>
              <a:gd name="T46" fmla="*/ 3280 w 5734"/>
              <a:gd name="T47" fmla="*/ 5479 h 5892"/>
              <a:gd name="T48" fmla="*/ 3067 w 5734"/>
              <a:gd name="T49" fmla="*/ 5117 h 5892"/>
              <a:gd name="T50" fmla="*/ 3067 w 5734"/>
              <a:gd name="T51" fmla="*/ 3918 h 5892"/>
              <a:gd name="T52" fmla="*/ 3194 w 5734"/>
              <a:gd name="T53" fmla="*/ 3918 h 5892"/>
              <a:gd name="T54" fmla="*/ 3194 w 5734"/>
              <a:gd name="T55" fmla="*/ 4691 h 5892"/>
              <a:gd name="T56" fmla="*/ 3394 w 5734"/>
              <a:gd name="T57" fmla="*/ 4891 h 5892"/>
              <a:gd name="T58" fmla="*/ 4430 w 5734"/>
              <a:gd name="T59" fmla="*/ 4891 h 5892"/>
              <a:gd name="T60" fmla="*/ 4780 w 5734"/>
              <a:gd name="T61" fmla="*/ 5085 h 5892"/>
              <a:gd name="T62" fmla="*/ 5194 w 5734"/>
              <a:gd name="T63" fmla="*/ 4672 h 5892"/>
              <a:gd name="T64" fmla="*/ 4780 w 5734"/>
              <a:gd name="T65" fmla="*/ 4259 h 5892"/>
              <a:gd name="T66" fmla="*/ 4409 w 5734"/>
              <a:gd name="T67" fmla="*/ 4491 h 5892"/>
              <a:gd name="T68" fmla="*/ 3594 w 5734"/>
              <a:gd name="T69" fmla="*/ 4491 h 5892"/>
              <a:gd name="T70" fmla="*/ 3594 w 5734"/>
              <a:gd name="T71" fmla="*/ 3918 h 5892"/>
              <a:gd name="T72" fmla="*/ 4313 w 5734"/>
              <a:gd name="T73" fmla="*/ 3918 h 58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4" h="5892">
                <a:moveTo>
                  <a:pt x="4313" y="3918"/>
                </a:moveTo>
                <a:cubicBezTo>
                  <a:pt x="5096" y="3918"/>
                  <a:pt x="5734" y="3280"/>
                  <a:pt x="5734" y="2497"/>
                </a:cubicBezTo>
                <a:cubicBezTo>
                  <a:pt x="5734" y="1713"/>
                  <a:pt x="5096" y="1076"/>
                  <a:pt x="4313" y="1076"/>
                </a:cubicBezTo>
                <a:cubicBezTo>
                  <a:pt x="4258" y="1076"/>
                  <a:pt x="4203" y="1079"/>
                  <a:pt x="4149" y="1085"/>
                </a:cubicBezTo>
                <a:cubicBezTo>
                  <a:pt x="4084" y="816"/>
                  <a:pt x="3940" y="570"/>
                  <a:pt x="3733" y="378"/>
                </a:cubicBezTo>
                <a:cubicBezTo>
                  <a:pt x="3470" y="134"/>
                  <a:pt x="3127" y="0"/>
                  <a:pt x="2768" y="0"/>
                </a:cubicBezTo>
                <a:cubicBezTo>
                  <a:pt x="2107" y="0"/>
                  <a:pt x="1544" y="451"/>
                  <a:pt x="1389" y="1076"/>
                </a:cubicBezTo>
                <a:cubicBezTo>
                  <a:pt x="620" y="1093"/>
                  <a:pt x="0" y="1724"/>
                  <a:pt x="0" y="2497"/>
                </a:cubicBezTo>
                <a:cubicBezTo>
                  <a:pt x="0" y="3281"/>
                  <a:pt x="638" y="3918"/>
                  <a:pt x="1421" y="3918"/>
                </a:cubicBezTo>
                <a:lnTo>
                  <a:pt x="2140" y="3918"/>
                </a:lnTo>
                <a:lnTo>
                  <a:pt x="2140" y="4472"/>
                </a:lnTo>
                <a:lnTo>
                  <a:pt x="1315" y="4472"/>
                </a:lnTo>
                <a:cubicBezTo>
                  <a:pt x="1245" y="4345"/>
                  <a:pt x="1109" y="4259"/>
                  <a:pt x="954" y="4259"/>
                </a:cubicBezTo>
                <a:cubicBezTo>
                  <a:pt x="726" y="4259"/>
                  <a:pt x="540" y="4444"/>
                  <a:pt x="540" y="4672"/>
                </a:cubicBezTo>
                <a:cubicBezTo>
                  <a:pt x="540" y="4900"/>
                  <a:pt x="726" y="5086"/>
                  <a:pt x="954" y="5086"/>
                </a:cubicBezTo>
                <a:cubicBezTo>
                  <a:pt x="1109" y="5086"/>
                  <a:pt x="1245" y="4999"/>
                  <a:pt x="1315" y="4872"/>
                </a:cubicBezTo>
                <a:lnTo>
                  <a:pt x="2340" y="4872"/>
                </a:lnTo>
                <a:cubicBezTo>
                  <a:pt x="2451" y="4872"/>
                  <a:pt x="2540" y="4783"/>
                  <a:pt x="2540" y="4672"/>
                </a:cubicBezTo>
                <a:lnTo>
                  <a:pt x="2540" y="3918"/>
                </a:lnTo>
                <a:lnTo>
                  <a:pt x="2667" y="3918"/>
                </a:lnTo>
                <a:lnTo>
                  <a:pt x="2667" y="5117"/>
                </a:lnTo>
                <a:cubicBezTo>
                  <a:pt x="2540" y="5188"/>
                  <a:pt x="2454" y="5323"/>
                  <a:pt x="2454" y="5479"/>
                </a:cubicBezTo>
                <a:cubicBezTo>
                  <a:pt x="2454" y="5707"/>
                  <a:pt x="2639" y="5892"/>
                  <a:pt x="2867" y="5892"/>
                </a:cubicBezTo>
                <a:cubicBezTo>
                  <a:pt x="3095" y="5892"/>
                  <a:pt x="3280" y="5707"/>
                  <a:pt x="3280" y="5479"/>
                </a:cubicBezTo>
                <a:cubicBezTo>
                  <a:pt x="3280" y="5323"/>
                  <a:pt x="3194" y="5188"/>
                  <a:pt x="3067" y="5117"/>
                </a:cubicBezTo>
                <a:lnTo>
                  <a:pt x="3067" y="3918"/>
                </a:lnTo>
                <a:lnTo>
                  <a:pt x="3194" y="3918"/>
                </a:lnTo>
                <a:lnTo>
                  <a:pt x="3194" y="4691"/>
                </a:lnTo>
                <a:cubicBezTo>
                  <a:pt x="3194" y="4802"/>
                  <a:pt x="3283" y="4891"/>
                  <a:pt x="3394" y="4891"/>
                </a:cubicBezTo>
                <a:lnTo>
                  <a:pt x="4430" y="4891"/>
                </a:lnTo>
                <a:cubicBezTo>
                  <a:pt x="4503" y="5008"/>
                  <a:pt x="4633" y="5085"/>
                  <a:pt x="4780" y="5085"/>
                </a:cubicBezTo>
                <a:cubicBezTo>
                  <a:pt x="5008" y="5085"/>
                  <a:pt x="5194" y="4900"/>
                  <a:pt x="5194" y="4672"/>
                </a:cubicBezTo>
                <a:cubicBezTo>
                  <a:pt x="5194" y="4444"/>
                  <a:pt x="5008" y="4259"/>
                  <a:pt x="4780" y="4259"/>
                </a:cubicBezTo>
                <a:cubicBezTo>
                  <a:pt x="4617" y="4259"/>
                  <a:pt x="4476" y="4354"/>
                  <a:pt x="4409" y="4491"/>
                </a:cubicBezTo>
                <a:lnTo>
                  <a:pt x="3594" y="4491"/>
                </a:lnTo>
                <a:lnTo>
                  <a:pt x="3594" y="3918"/>
                </a:lnTo>
                <a:lnTo>
                  <a:pt x="4313" y="391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微软雅黑" panose="020B0503020204020204" charset="-122"/>
              <a:ea typeface="微软雅黑" panose="020B0503020204020204" charset="-122"/>
            </a:endParaRPr>
          </a:p>
        </p:txBody>
      </p:sp>
      <p:sp>
        <p:nvSpPr>
          <p:cNvPr id="134" name="two-pines_71435"/>
          <p:cNvSpPr/>
          <p:nvPr/>
        </p:nvSpPr>
        <p:spPr>
          <a:xfrm>
            <a:off x="2758610" y="3669989"/>
            <a:ext cx="368646" cy="306858"/>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608424" h="506448">
                <a:moveTo>
                  <a:pt x="464292" y="103553"/>
                </a:moveTo>
                <a:cubicBezTo>
                  <a:pt x="468672" y="103553"/>
                  <a:pt x="473051" y="105210"/>
                  <a:pt x="476417" y="108524"/>
                </a:cubicBezTo>
                <a:lnTo>
                  <a:pt x="552853" y="184924"/>
                </a:lnTo>
                <a:cubicBezTo>
                  <a:pt x="557740" y="189802"/>
                  <a:pt x="559215" y="197166"/>
                  <a:pt x="556634" y="203517"/>
                </a:cubicBezTo>
                <a:cubicBezTo>
                  <a:pt x="553960" y="209961"/>
                  <a:pt x="547690" y="214103"/>
                  <a:pt x="540775" y="214103"/>
                </a:cubicBezTo>
                <a:lnTo>
                  <a:pt x="512100" y="214103"/>
                </a:lnTo>
                <a:lnTo>
                  <a:pt x="571202" y="273106"/>
                </a:lnTo>
                <a:cubicBezTo>
                  <a:pt x="577103" y="278997"/>
                  <a:pt x="578854" y="287834"/>
                  <a:pt x="575627" y="295566"/>
                </a:cubicBezTo>
                <a:cubicBezTo>
                  <a:pt x="572492" y="303298"/>
                  <a:pt x="564932" y="308268"/>
                  <a:pt x="556541" y="308268"/>
                </a:cubicBezTo>
                <a:lnTo>
                  <a:pt x="526483" y="308268"/>
                </a:lnTo>
                <a:lnTo>
                  <a:pt x="600707" y="382459"/>
                </a:lnTo>
                <a:cubicBezTo>
                  <a:pt x="608267" y="390007"/>
                  <a:pt x="610480" y="401329"/>
                  <a:pt x="606423" y="411086"/>
                </a:cubicBezTo>
                <a:cubicBezTo>
                  <a:pt x="602366" y="420935"/>
                  <a:pt x="592777" y="427379"/>
                  <a:pt x="582082" y="427379"/>
                </a:cubicBezTo>
                <a:lnTo>
                  <a:pt x="511178" y="427379"/>
                </a:lnTo>
                <a:lnTo>
                  <a:pt x="511178" y="492733"/>
                </a:lnTo>
                <a:cubicBezTo>
                  <a:pt x="511178" y="500281"/>
                  <a:pt x="505000" y="506448"/>
                  <a:pt x="497439" y="506448"/>
                </a:cubicBezTo>
                <a:lnTo>
                  <a:pt x="431146" y="506448"/>
                </a:lnTo>
                <a:cubicBezTo>
                  <a:pt x="423585" y="506448"/>
                  <a:pt x="417500" y="500281"/>
                  <a:pt x="417500" y="492733"/>
                </a:cubicBezTo>
                <a:lnTo>
                  <a:pt x="417500" y="427379"/>
                </a:lnTo>
                <a:lnTo>
                  <a:pt x="379696" y="427379"/>
                </a:lnTo>
                <a:cubicBezTo>
                  <a:pt x="387073" y="420383"/>
                  <a:pt x="393158" y="411915"/>
                  <a:pt x="397215" y="402158"/>
                </a:cubicBezTo>
                <a:cubicBezTo>
                  <a:pt x="407911" y="376200"/>
                  <a:pt x="402839" y="346837"/>
                  <a:pt x="384583" y="325850"/>
                </a:cubicBezTo>
                <a:lnTo>
                  <a:pt x="402194" y="308268"/>
                </a:lnTo>
                <a:lnTo>
                  <a:pt x="372044" y="308268"/>
                </a:lnTo>
                <a:cubicBezTo>
                  <a:pt x="370200" y="308268"/>
                  <a:pt x="368448" y="307992"/>
                  <a:pt x="366696" y="307532"/>
                </a:cubicBezTo>
                <a:lnTo>
                  <a:pt x="352312" y="293172"/>
                </a:lnTo>
                <a:cubicBezTo>
                  <a:pt x="350376" y="286085"/>
                  <a:pt x="352128" y="278445"/>
                  <a:pt x="357476" y="273106"/>
                </a:cubicBezTo>
                <a:lnTo>
                  <a:pt x="416578" y="214103"/>
                </a:lnTo>
                <a:lnTo>
                  <a:pt x="387810" y="214103"/>
                </a:lnTo>
                <a:cubicBezTo>
                  <a:pt x="380895" y="214103"/>
                  <a:pt x="374625" y="209961"/>
                  <a:pt x="371951" y="203517"/>
                </a:cubicBezTo>
                <a:cubicBezTo>
                  <a:pt x="369370" y="197166"/>
                  <a:pt x="370845" y="189802"/>
                  <a:pt x="375732" y="184924"/>
                </a:cubicBezTo>
                <a:lnTo>
                  <a:pt x="452168" y="108524"/>
                </a:lnTo>
                <a:cubicBezTo>
                  <a:pt x="455533" y="105210"/>
                  <a:pt x="459913" y="103553"/>
                  <a:pt x="464292" y="103553"/>
                </a:cubicBezTo>
                <a:close/>
                <a:moveTo>
                  <a:pt x="181160" y="0"/>
                </a:moveTo>
                <a:cubicBezTo>
                  <a:pt x="186600" y="0"/>
                  <a:pt x="192132" y="2117"/>
                  <a:pt x="196373" y="6351"/>
                </a:cubicBezTo>
                <a:lnTo>
                  <a:pt x="292444" y="102266"/>
                </a:lnTo>
                <a:cubicBezTo>
                  <a:pt x="298621" y="108433"/>
                  <a:pt x="300465" y="117638"/>
                  <a:pt x="297146" y="125738"/>
                </a:cubicBezTo>
                <a:cubicBezTo>
                  <a:pt x="293827" y="133746"/>
                  <a:pt x="285990" y="138993"/>
                  <a:pt x="277231" y="138993"/>
                </a:cubicBezTo>
                <a:lnTo>
                  <a:pt x="241181" y="138993"/>
                </a:lnTo>
                <a:lnTo>
                  <a:pt x="315493" y="213183"/>
                </a:lnTo>
                <a:cubicBezTo>
                  <a:pt x="322869" y="220547"/>
                  <a:pt x="325082" y="231685"/>
                  <a:pt x="321118" y="241442"/>
                </a:cubicBezTo>
                <a:cubicBezTo>
                  <a:pt x="317061" y="251107"/>
                  <a:pt x="307657" y="257366"/>
                  <a:pt x="297146" y="257366"/>
                </a:cubicBezTo>
                <a:lnTo>
                  <a:pt x="259160" y="257366"/>
                </a:lnTo>
                <a:lnTo>
                  <a:pt x="352557" y="350611"/>
                </a:lnTo>
                <a:cubicBezTo>
                  <a:pt x="362054" y="360092"/>
                  <a:pt x="364912" y="374267"/>
                  <a:pt x="359749" y="386602"/>
                </a:cubicBezTo>
                <a:cubicBezTo>
                  <a:pt x="354678" y="399028"/>
                  <a:pt x="342508" y="407036"/>
                  <a:pt x="329139" y="407036"/>
                </a:cubicBezTo>
                <a:lnTo>
                  <a:pt x="239983" y="407036"/>
                </a:lnTo>
                <a:lnTo>
                  <a:pt x="239983" y="492733"/>
                </a:lnTo>
                <a:cubicBezTo>
                  <a:pt x="239983" y="500281"/>
                  <a:pt x="233898" y="506448"/>
                  <a:pt x="226337" y="506448"/>
                </a:cubicBezTo>
                <a:lnTo>
                  <a:pt x="135890" y="506448"/>
                </a:lnTo>
                <a:cubicBezTo>
                  <a:pt x="128422" y="506448"/>
                  <a:pt x="122245" y="500281"/>
                  <a:pt x="122245" y="492733"/>
                </a:cubicBezTo>
                <a:lnTo>
                  <a:pt x="122245" y="407036"/>
                </a:lnTo>
                <a:lnTo>
                  <a:pt x="33089" y="407036"/>
                </a:lnTo>
                <a:cubicBezTo>
                  <a:pt x="19720" y="407036"/>
                  <a:pt x="7642" y="399028"/>
                  <a:pt x="2479" y="386602"/>
                </a:cubicBezTo>
                <a:cubicBezTo>
                  <a:pt x="-2592" y="374267"/>
                  <a:pt x="266" y="360092"/>
                  <a:pt x="9670" y="350611"/>
                </a:cubicBezTo>
                <a:lnTo>
                  <a:pt x="103068" y="257366"/>
                </a:lnTo>
                <a:lnTo>
                  <a:pt x="65174" y="257366"/>
                </a:lnTo>
                <a:cubicBezTo>
                  <a:pt x="54663" y="257366"/>
                  <a:pt x="45167" y="251107"/>
                  <a:pt x="41110" y="241442"/>
                </a:cubicBezTo>
                <a:cubicBezTo>
                  <a:pt x="37146" y="231685"/>
                  <a:pt x="39358" y="220547"/>
                  <a:pt x="46827" y="213183"/>
                </a:cubicBezTo>
                <a:lnTo>
                  <a:pt x="121139" y="138993"/>
                </a:lnTo>
                <a:lnTo>
                  <a:pt x="84997" y="138993"/>
                </a:lnTo>
                <a:cubicBezTo>
                  <a:pt x="76330" y="138993"/>
                  <a:pt x="68401" y="133746"/>
                  <a:pt x="65082" y="125738"/>
                </a:cubicBezTo>
                <a:cubicBezTo>
                  <a:pt x="61763" y="117638"/>
                  <a:pt x="63607" y="108433"/>
                  <a:pt x="69784" y="102266"/>
                </a:cubicBezTo>
                <a:lnTo>
                  <a:pt x="165855" y="6351"/>
                </a:lnTo>
                <a:cubicBezTo>
                  <a:pt x="170096" y="2117"/>
                  <a:pt x="175628" y="0"/>
                  <a:pt x="1811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nvGrpSpPr>
          <p:cNvPr id="135" name="Google Shape;5539;p76"/>
          <p:cNvGrpSpPr/>
          <p:nvPr/>
        </p:nvGrpSpPr>
        <p:grpSpPr>
          <a:xfrm>
            <a:off x="3439987" y="3642436"/>
            <a:ext cx="325073" cy="353582"/>
            <a:chOff x="2104275" y="3806450"/>
            <a:chExt cx="442975" cy="481825"/>
          </a:xfrm>
          <a:solidFill>
            <a:schemeClr val="accent1"/>
          </a:solidFill>
        </p:grpSpPr>
        <p:sp>
          <p:nvSpPr>
            <p:cNvPr id="136" name="Google Shape;5540;p76"/>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435D74"/>
                </a:solidFill>
                <a:effectLst/>
                <a:uLnTx/>
                <a:uFillTx/>
                <a:latin typeface="微软雅黑" panose="020B0503020204020204" charset="-122"/>
                <a:ea typeface="微软雅黑" panose="020B0503020204020204" charset="-122"/>
                <a:cs typeface="+mn-cs"/>
              </a:endParaRPr>
            </a:p>
          </p:txBody>
        </p:sp>
        <p:sp>
          <p:nvSpPr>
            <p:cNvPr id="137" name="Google Shape;5541;p76"/>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435D74"/>
                </a:solidFill>
                <a:effectLst/>
                <a:uLnTx/>
                <a:uFillTx/>
                <a:latin typeface="微软雅黑" panose="020B0503020204020204" charset="-122"/>
                <a:ea typeface="微软雅黑" panose="020B0503020204020204" charset="-122"/>
                <a:cs typeface="+mn-cs"/>
              </a:endParaRPr>
            </a:p>
          </p:txBody>
        </p:sp>
      </p:grpSp>
      <p:grpSp>
        <p:nvGrpSpPr>
          <p:cNvPr id="138" name="Google Shape;6421;p78"/>
          <p:cNvGrpSpPr/>
          <p:nvPr/>
        </p:nvGrpSpPr>
        <p:grpSpPr>
          <a:xfrm>
            <a:off x="4077791" y="3661608"/>
            <a:ext cx="315238" cy="315238"/>
            <a:chOff x="3497300" y="3227275"/>
            <a:chExt cx="296175" cy="296175"/>
          </a:xfrm>
          <a:solidFill>
            <a:schemeClr val="accent1"/>
          </a:solidFill>
        </p:grpSpPr>
        <p:sp>
          <p:nvSpPr>
            <p:cNvPr id="139" name="Google Shape;6422;p78"/>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0" name="Google Shape;6423;p78"/>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1" name="Google Shape;6424;p78"/>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2" name="Google Shape;6425;p78"/>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3" name="Google Shape;6426;p78"/>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4" name="Google Shape;6427;p78"/>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5" name="Google Shape;6428;p78"/>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6" name="Google Shape;6429;p78"/>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47" name="Google Shape;6290;p78"/>
          <p:cNvGrpSpPr/>
          <p:nvPr/>
        </p:nvGrpSpPr>
        <p:grpSpPr>
          <a:xfrm>
            <a:off x="4705760" y="3660836"/>
            <a:ext cx="319350" cy="316782"/>
            <a:chOff x="946175" y="3253275"/>
            <a:chExt cx="298550" cy="296150"/>
          </a:xfrm>
          <a:solidFill>
            <a:schemeClr val="accent1"/>
          </a:solidFill>
        </p:grpSpPr>
        <p:sp>
          <p:nvSpPr>
            <p:cNvPr id="148" name="Google Shape;6291;p78"/>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9" name="Google Shape;6292;p78"/>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50" name="Google Shape;6293;p78"/>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51" name="Google Shape;6294;p78"/>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52" name="Google Shape;6295;p78"/>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53" name="investments-protection_73204"/>
          <p:cNvSpPr/>
          <p:nvPr/>
        </p:nvSpPr>
        <p:spPr>
          <a:xfrm>
            <a:off x="5337842" y="3667864"/>
            <a:ext cx="274116" cy="302726"/>
          </a:xfrm>
          <a:custGeom>
            <a:avLst/>
            <a:gdLst>
              <a:gd name="T0" fmla="*/ 121763 h 600884"/>
              <a:gd name="T1" fmla="*/ 121763 h 600884"/>
              <a:gd name="T2" fmla="*/ 121763 h 600884"/>
              <a:gd name="T3" fmla="*/ 121763 h 600884"/>
              <a:gd name="T4" fmla="*/ 121763 h 600884"/>
              <a:gd name="T5" fmla="*/ 121763 h 600884"/>
              <a:gd name="T6" fmla="*/ 121763 h 600884"/>
              <a:gd name="T7" fmla="*/ 121763 h 600884"/>
              <a:gd name="T8" fmla="*/ 121763 h 600884"/>
              <a:gd name="T9" fmla="*/ 121763 h 600884"/>
              <a:gd name="T10" fmla="*/ 121763 h 600884"/>
              <a:gd name="T11" fmla="*/ 121763 h 600884"/>
              <a:gd name="T12" fmla="*/ 121763 h 600884"/>
              <a:gd name="T13" fmla="*/ 121763 h 600884"/>
              <a:gd name="T14" fmla="*/ 121763 h 600884"/>
              <a:gd name="T15" fmla="*/ 121763 h 600884"/>
              <a:gd name="T16" fmla="*/ 121763 h 600884"/>
              <a:gd name="T17" fmla="*/ 121763 h 600884"/>
              <a:gd name="T18" fmla="*/ 121763 h 600884"/>
              <a:gd name="T19" fmla="*/ 121763 h 600884"/>
              <a:gd name="T20" fmla="*/ 121763 h 600884"/>
              <a:gd name="T21" fmla="*/ 121763 h 600884"/>
              <a:gd name="T22" fmla="*/ 121763 h 600884"/>
              <a:gd name="T23" fmla="*/ 121763 h 600884"/>
              <a:gd name="T24" fmla="*/ 121763 h 600884"/>
              <a:gd name="T25" fmla="*/ 121763 h 600884"/>
              <a:gd name="T26" fmla="*/ 121763 h 600884"/>
              <a:gd name="T27" fmla="*/ 121763 h 600884"/>
              <a:gd name="T28" fmla="*/ 121763 h 600884"/>
              <a:gd name="T29" fmla="*/ 121763 h 600884"/>
              <a:gd name="T30" fmla="*/ 121763 h 600884"/>
              <a:gd name="T31" fmla="*/ 121763 h 600884"/>
              <a:gd name="T32" fmla="*/ 121763 h 600884"/>
              <a:gd name="T33" fmla="*/ 121763 h 600884"/>
              <a:gd name="T34" fmla="*/ 121763 h 600884"/>
              <a:gd name="T35" fmla="*/ 121763 h 600884"/>
              <a:gd name="T36" fmla="*/ 121763 h 600884"/>
              <a:gd name="T37" fmla="*/ 121763 h 600884"/>
              <a:gd name="T38" fmla="*/ 121763 h 600884"/>
              <a:gd name="T39" fmla="*/ 121763 h 600884"/>
              <a:gd name="T40" fmla="*/ 121763 h 600884"/>
              <a:gd name="T41" fmla="*/ 121763 h 600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388" h="2641">
                <a:moveTo>
                  <a:pt x="2284" y="245"/>
                </a:moveTo>
                <a:cubicBezTo>
                  <a:pt x="2279" y="217"/>
                  <a:pt x="2258" y="195"/>
                  <a:pt x="2230" y="190"/>
                </a:cubicBezTo>
                <a:lnTo>
                  <a:pt x="1206" y="1"/>
                </a:lnTo>
                <a:cubicBezTo>
                  <a:pt x="1198" y="0"/>
                  <a:pt x="1190" y="0"/>
                  <a:pt x="1182" y="1"/>
                </a:cubicBezTo>
                <a:lnTo>
                  <a:pt x="159" y="190"/>
                </a:lnTo>
                <a:cubicBezTo>
                  <a:pt x="131" y="195"/>
                  <a:pt x="109" y="217"/>
                  <a:pt x="105" y="245"/>
                </a:cubicBezTo>
                <a:cubicBezTo>
                  <a:pt x="100" y="274"/>
                  <a:pt x="0" y="961"/>
                  <a:pt x="202" y="1554"/>
                </a:cubicBezTo>
                <a:cubicBezTo>
                  <a:pt x="405" y="2155"/>
                  <a:pt x="1128" y="2611"/>
                  <a:pt x="1159" y="2630"/>
                </a:cubicBezTo>
                <a:cubicBezTo>
                  <a:pt x="1170" y="2637"/>
                  <a:pt x="1182" y="2641"/>
                  <a:pt x="1194" y="2641"/>
                </a:cubicBezTo>
                <a:cubicBezTo>
                  <a:pt x="1207" y="2641"/>
                  <a:pt x="1219" y="2637"/>
                  <a:pt x="1230" y="2630"/>
                </a:cubicBezTo>
                <a:cubicBezTo>
                  <a:pt x="1260" y="2611"/>
                  <a:pt x="1983" y="2155"/>
                  <a:pt x="2187" y="1554"/>
                </a:cubicBezTo>
                <a:cubicBezTo>
                  <a:pt x="2388" y="961"/>
                  <a:pt x="2288" y="274"/>
                  <a:pt x="2284" y="245"/>
                </a:cubicBezTo>
                <a:close/>
                <a:moveTo>
                  <a:pt x="1994" y="1478"/>
                </a:moveTo>
                <a:cubicBezTo>
                  <a:pt x="1824" y="1972"/>
                  <a:pt x="1194" y="2357"/>
                  <a:pt x="1194" y="2357"/>
                </a:cubicBezTo>
                <a:lnTo>
                  <a:pt x="1194" y="1299"/>
                </a:lnTo>
                <a:lnTo>
                  <a:pt x="344" y="1299"/>
                </a:lnTo>
                <a:cubicBezTo>
                  <a:pt x="243" y="854"/>
                  <a:pt x="313" y="400"/>
                  <a:pt x="313" y="400"/>
                </a:cubicBezTo>
                <a:lnTo>
                  <a:pt x="1194" y="241"/>
                </a:lnTo>
                <a:lnTo>
                  <a:pt x="1194" y="1299"/>
                </a:lnTo>
                <a:lnTo>
                  <a:pt x="2045" y="1299"/>
                </a:lnTo>
                <a:cubicBezTo>
                  <a:pt x="2031" y="1359"/>
                  <a:pt x="2015" y="1420"/>
                  <a:pt x="1994" y="147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sp>
        <p:nvSpPr>
          <p:cNvPr id="155" name="book-with-sound_65441"/>
          <p:cNvSpPr/>
          <p:nvPr/>
        </p:nvSpPr>
        <p:spPr>
          <a:xfrm>
            <a:off x="1467568" y="3643849"/>
            <a:ext cx="320755" cy="333770"/>
          </a:xfrm>
          <a:custGeom>
            <a:avLst/>
            <a:gdLst>
              <a:gd name="connsiteX0" fmla="*/ 37813 w 545181"/>
              <a:gd name="connsiteY0" fmla="*/ 477054 h 567302"/>
              <a:gd name="connsiteX1" fmla="*/ 91305 w 545181"/>
              <a:gd name="connsiteY1" fmla="*/ 530466 h 567302"/>
              <a:gd name="connsiteX2" fmla="*/ 296971 w 545181"/>
              <a:gd name="connsiteY2" fmla="*/ 531387 h 567302"/>
              <a:gd name="connsiteX3" fmla="*/ 296971 w 545181"/>
              <a:gd name="connsiteY3" fmla="*/ 477054 h 567302"/>
              <a:gd name="connsiteX4" fmla="*/ 432516 w 545181"/>
              <a:gd name="connsiteY4" fmla="*/ 228506 h 567302"/>
              <a:gd name="connsiteX5" fmla="*/ 493400 w 545181"/>
              <a:gd name="connsiteY5" fmla="*/ 291087 h 567302"/>
              <a:gd name="connsiteX6" fmla="*/ 432516 w 545181"/>
              <a:gd name="connsiteY6" fmla="*/ 353668 h 567302"/>
              <a:gd name="connsiteX7" fmla="*/ 431594 w 545181"/>
              <a:gd name="connsiteY7" fmla="*/ 353668 h 567302"/>
              <a:gd name="connsiteX8" fmla="*/ 414989 w 545181"/>
              <a:gd name="connsiteY8" fmla="*/ 338023 h 567302"/>
              <a:gd name="connsiteX9" fmla="*/ 431594 w 545181"/>
              <a:gd name="connsiteY9" fmla="*/ 320537 h 567302"/>
              <a:gd name="connsiteX10" fmla="*/ 460191 w 545181"/>
              <a:gd name="connsiteY10" fmla="*/ 291087 h 567302"/>
              <a:gd name="connsiteX11" fmla="*/ 431594 w 545181"/>
              <a:gd name="connsiteY11" fmla="*/ 262557 h 567302"/>
              <a:gd name="connsiteX12" fmla="*/ 414989 w 545181"/>
              <a:gd name="connsiteY12" fmla="*/ 245072 h 567302"/>
              <a:gd name="connsiteX13" fmla="*/ 432516 w 545181"/>
              <a:gd name="connsiteY13" fmla="*/ 228506 h 567302"/>
              <a:gd name="connsiteX14" fmla="*/ 432533 w 545181"/>
              <a:gd name="connsiteY14" fmla="*/ 176873 h 567302"/>
              <a:gd name="connsiteX15" fmla="*/ 545181 w 545181"/>
              <a:gd name="connsiteY15" fmla="*/ 291087 h 567302"/>
              <a:gd name="connsiteX16" fmla="*/ 432533 w 545181"/>
              <a:gd name="connsiteY16" fmla="*/ 405301 h 567302"/>
              <a:gd name="connsiteX17" fmla="*/ 431609 w 545181"/>
              <a:gd name="connsiteY17" fmla="*/ 405301 h 567302"/>
              <a:gd name="connsiteX18" fmla="*/ 414989 w 545181"/>
              <a:gd name="connsiteY18" fmla="*/ 388722 h 567302"/>
              <a:gd name="connsiteX19" fmla="*/ 431609 w 545181"/>
              <a:gd name="connsiteY19" fmla="*/ 372142 h 567302"/>
              <a:gd name="connsiteX20" fmla="*/ 511940 w 545181"/>
              <a:gd name="connsiteY20" fmla="*/ 291087 h 567302"/>
              <a:gd name="connsiteX21" fmla="*/ 431609 w 545181"/>
              <a:gd name="connsiteY21" fmla="*/ 210953 h 567302"/>
              <a:gd name="connsiteX22" fmla="*/ 414989 w 545181"/>
              <a:gd name="connsiteY22" fmla="*/ 193452 h 567302"/>
              <a:gd name="connsiteX23" fmla="*/ 432533 w 545181"/>
              <a:gd name="connsiteY23" fmla="*/ 176873 h 567302"/>
              <a:gd name="connsiteX24" fmla="*/ 274837 w 545181"/>
              <a:gd name="connsiteY24" fmla="*/ 103170 h 567302"/>
              <a:gd name="connsiteX25" fmla="*/ 274837 w 545181"/>
              <a:gd name="connsiteY25" fmla="*/ 343524 h 567302"/>
              <a:gd name="connsiteX26" fmla="*/ 257314 w 545181"/>
              <a:gd name="connsiteY26" fmla="*/ 372993 h 567302"/>
              <a:gd name="connsiteX27" fmla="*/ 66404 w 545181"/>
              <a:gd name="connsiteY27" fmla="*/ 440218 h 567302"/>
              <a:gd name="connsiteX28" fmla="*/ 317261 w 545181"/>
              <a:gd name="connsiteY28" fmla="*/ 440218 h 567302"/>
              <a:gd name="connsiteX29" fmla="*/ 332940 w 545181"/>
              <a:gd name="connsiteY29" fmla="*/ 422721 h 567302"/>
              <a:gd name="connsiteX30" fmla="*/ 332940 w 545181"/>
              <a:gd name="connsiteY30" fmla="*/ 117904 h 567302"/>
              <a:gd name="connsiteX31" fmla="*/ 317261 w 545181"/>
              <a:gd name="connsiteY31" fmla="*/ 103170 h 567302"/>
              <a:gd name="connsiteX32" fmla="*/ 245901 w 545181"/>
              <a:gd name="connsiteY32" fmla="*/ 260 h 567302"/>
              <a:gd name="connsiteX33" fmla="*/ 266536 w 545181"/>
              <a:gd name="connsiteY33" fmla="*/ 12001 h 567302"/>
              <a:gd name="connsiteX34" fmla="*/ 274837 w 545181"/>
              <a:gd name="connsiteY34" fmla="*/ 35945 h 567302"/>
              <a:gd name="connsiteX35" fmla="*/ 274837 w 545181"/>
              <a:gd name="connsiteY35" fmla="*/ 65413 h 567302"/>
              <a:gd name="connsiteX36" fmla="*/ 317261 w 545181"/>
              <a:gd name="connsiteY36" fmla="*/ 65413 h 567302"/>
              <a:gd name="connsiteX37" fmla="*/ 370753 w 545181"/>
              <a:gd name="connsiteY37" fmla="*/ 117904 h 567302"/>
              <a:gd name="connsiteX38" fmla="*/ 370753 w 545181"/>
              <a:gd name="connsiteY38" fmla="*/ 424563 h 567302"/>
              <a:gd name="connsiteX39" fmla="*/ 341240 w 545181"/>
              <a:gd name="connsiteY39" fmla="*/ 471529 h 567302"/>
              <a:gd name="connsiteX40" fmla="*/ 338474 w 545181"/>
              <a:gd name="connsiteY40" fmla="*/ 531387 h 567302"/>
              <a:gd name="connsiteX41" fmla="*/ 353230 w 545181"/>
              <a:gd name="connsiteY41" fmla="*/ 531387 h 567302"/>
              <a:gd name="connsiteX42" fmla="*/ 370753 w 545181"/>
              <a:gd name="connsiteY42" fmla="*/ 548884 h 567302"/>
              <a:gd name="connsiteX43" fmla="*/ 353230 w 545181"/>
              <a:gd name="connsiteY43" fmla="*/ 567302 h 567302"/>
              <a:gd name="connsiteX44" fmla="*/ 91305 w 545181"/>
              <a:gd name="connsiteY44" fmla="*/ 567302 h 567302"/>
              <a:gd name="connsiteX45" fmla="*/ 922 w 545181"/>
              <a:gd name="connsiteY45" fmla="*/ 477054 h 567302"/>
              <a:gd name="connsiteX46" fmla="*/ 0 w 545181"/>
              <a:gd name="connsiteY46" fmla="*/ 154740 h 567302"/>
              <a:gd name="connsiteX47" fmla="*/ 65481 w 545181"/>
              <a:gd name="connsiteY47" fmla="*/ 61730 h 567302"/>
              <a:gd name="connsiteX48" fmla="*/ 223190 w 545181"/>
              <a:gd name="connsiteY48" fmla="*/ 3713 h 567302"/>
              <a:gd name="connsiteX49" fmla="*/ 245901 w 545181"/>
              <a:gd name="connsiteY49" fmla="*/ 260 h 567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45181" h="567302">
                <a:moveTo>
                  <a:pt x="37813" y="477054"/>
                </a:moveTo>
                <a:cubicBezTo>
                  <a:pt x="37813" y="505602"/>
                  <a:pt x="61792" y="530466"/>
                  <a:pt x="91305" y="530466"/>
                </a:cubicBezTo>
                <a:lnTo>
                  <a:pt x="296971" y="531387"/>
                </a:lnTo>
                <a:cubicBezTo>
                  <a:pt x="290515" y="512048"/>
                  <a:pt x="292360" y="493630"/>
                  <a:pt x="296971" y="477054"/>
                </a:cubicBezTo>
                <a:close/>
                <a:moveTo>
                  <a:pt x="432516" y="228506"/>
                </a:moveTo>
                <a:cubicBezTo>
                  <a:pt x="466648" y="230347"/>
                  <a:pt x="493400" y="257036"/>
                  <a:pt x="493400" y="291087"/>
                </a:cubicBezTo>
                <a:cubicBezTo>
                  <a:pt x="493400" y="325138"/>
                  <a:pt x="466648" y="352748"/>
                  <a:pt x="432516" y="353668"/>
                </a:cubicBezTo>
                <a:lnTo>
                  <a:pt x="431594" y="353668"/>
                </a:lnTo>
                <a:cubicBezTo>
                  <a:pt x="423291" y="353668"/>
                  <a:pt x="415911" y="347226"/>
                  <a:pt x="414989" y="338023"/>
                </a:cubicBezTo>
                <a:cubicBezTo>
                  <a:pt x="414989" y="328820"/>
                  <a:pt x="422369" y="320537"/>
                  <a:pt x="431594" y="320537"/>
                </a:cubicBezTo>
                <a:cubicBezTo>
                  <a:pt x="447276" y="319617"/>
                  <a:pt x="460191" y="307653"/>
                  <a:pt x="460191" y="291087"/>
                </a:cubicBezTo>
                <a:cubicBezTo>
                  <a:pt x="460191" y="275442"/>
                  <a:pt x="447276" y="262557"/>
                  <a:pt x="431594" y="262557"/>
                </a:cubicBezTo>
                <a:cubicBezTo>
                  <a:pt x="422369" y="261637"/>
                  <a:pt x="414989" y="254275"/>
                  <a:pt x="414989" y="245072"/>
                </a:cubicBezTo>
                <a:cubicBezTo>
                  <a:pt x="415911" y="235868"/>
                  <a:pt x="423291" y="228506"/>
                  <a:pt x="432516" y="228506"/>
                </a:cubicBezTo>
                <a:close/>
                <a:moveTo>
                  <a:pt x="432533" y="176873"/>
                </a:moveTo>
                <a:cubicBezTo>
                  <a:pt x="494397" y="177794"/>
                  <a:pt x="545181" y="229375"/>
                  <a:pt x="545181" y="291087"/>
                </a:cubicBezTo>
                <a:cubicBezTo>
                  <a:pt x="545181" y="353721"/>
                  <a:pt x="494397" y="404380"/>
                  <a:pt x="432533" y="405301"/>
                </a:cubicBezTo>
                <a:lnTo>
                  <a:pt x="431609" y="405301"/>
                </a:lnTo>
                <a:cubicBezTo>
                  <a:pt x="423299" y="405301"/>
                  <a:pt x="414989" y="397932"/>
                  <a:pt x="414989" y="388722"/>
                </a:cubicBezTo>
                <a:cubicBezTo>
                  <a:pt x="414989" y="379511"/>
                  <a:pt x="422376" y="372142"/>
                  <a:pt x="431609" y="372142"/>
                </a:cubicBezTo>
                <a:cubicBezTo>
                  <a:pt x="475930" y="372142"/>
                  <a:pt x="511940" y="335299"/>
                  <a:pt x="511940" y="291087"/>
                </a:cubicBezTo>
                <a:cubicBezTo>
                  <a:pt x="511940" y="247796"/>
                  <a:pt x="475930" y="210953"/>
                  <a:pt x="431609" y="210953"/>
                </a:cubicBezTo>
                <a:cubicBezTo>
                  <a:pt x="422376" y="210032"/>
                  <a:pt x="414989" y="202663"/>
                  <a:pt x="414989" y="193452"/>
                </a:cubicBezTo>
                <a:cubicBezTo>
                  <a:pt x="414989" y="184242"/>
                  <a:pt x="423299" y="176873"/>
                  <a:pt x="432533" y="176873"/>
                </a:cubicBezTo>
                <a:close/>
                <a:moveTo>
                  <a:pt x="274837" y="103170"/>
                </a:moveTo>
                <a:lnTo>
                  <a:pt x="274837" y="343524"/>
                </a:lnTo>
                <a:cubicBezTo>
                  <a:pt x="274837" y="355496"/>
                  <a:pt x="268381" y="366547"/>
                  <a:pt x="257314" y="372993"/>
                </a:cubicBezTo>
                <a:lnTo>
                  <a:pt x="66404" y="440218"/>
                </a:lnTo>
                <a:lnTo>
                  <a:pt x="317261" y="440218"/>
                </a:lnTo>
                <a:cubicBezTo>
                  <a:pt x="331095" y="440218"/>
                  <a:pt x="332940" y="429168"/>
                  <a:pt x="332940" y="422721"/>
                </a:cubicBezTo>
                <a:lnTo>
                  <a:pt x="332940" y="117904"/>
                </a:lnTo>
                <a:cubicBezTo>
                  <a:pt x="332940" y="109616"/>
                  <a:pt x="326484" y="103170"/>
                  <a:pt x="317261" y="103170"/>
                </a:cubicBezTo>
                <a:close/>
                <a:moveTo>
                  <a:pt x="245901" y="260"/>
                </a:moveTo>
                <a:cubicBezTo>
                  <a:pt x="253394" y="1181"/>
                  <a:pt x="260542" y="4634"/>
                  <a:pt x="266536" y="12001"/>
                </a:cubicBezTo>
                <a:cubicBezTo>
                  <a:pt x="272070" y="18448"/>
                  <a:pt x="274837" y="27657"/>
                  <a:pt x="274837" y="35945"/>
                </a:cubicBezTo>
                <a:lnTo>
                  <a:pt x="274837" y="65413"/>
                </a:lnTo>
                <a:lnTo>
                  <a:pt x="317261" y="65413"/>
                </a:lnTo>
                <a:cubicBezTo>
                  <a:pt x="346774" y="65413"/>
                  <a:pt x="370753" y="89357"/>
                  <a:pt x="370753" y="117904"/>
                </a:cubicBezTo>
                <a:lnTo>
                  <a:pt x="370753" y="424563"/>
                </a:lnTo>
                <a:cubicBezTo>
                  <a:pt x="370753" y="444823"/>
                  <a:pt x="358763" y="462320"/>
                  <a:pt x="341240" y="471529"/>
                </a:cubicBezTo>
                <a:cubicBezTo>
                  <a:pt x="333862" y="483500"/>
                  <a:pt x="322795" y="508365"/>
                  <a:pt x="338474" y="531387"/>
                </a:cubicBezTo>
                <a:lnTo>
                  <a:pt x="353230" y="531387"/>
                </a:lnTo>
                <a:cubicBezTo>
                  <a:pt x="362453" y="531387"/>
                  <a:pt x="370753" y="538754"/>
                  <a:pt x="370753" y="548884"/>
                </a:cubicBezTo>
                <a:cubicBezTo>
                  <a:pt x="370753" y="559014"/>
                  <a:pt x="362453" y="567302"/>
                  <a:pt x="353230" y="567302"/>
                </a:cubicBezTo>
                <a:lnTo>
                  <a:pt x="91305" y="567302"/>
                </a:lnTo>
                <a:cubicBezTo>
                  <a:pt x="41502" y="567302"/>
                  <a:pt x="922" y="526783"/>
                  <a:pt x="922" y="477054"/>
                </a:cubicBezTo>
                <a:cubicBezTo>
                  <a:pt x="922" y="414433"/>
                  <a:pt x="0" y="248672"/>
                  <a:pt x="0" y="154740"/>
                </a:cubicBezTo>
                <a:cubicBezTo>
                  <a:pt x="0" y="113300"/>
                  <a:pt x="25824" y="76464"/>
                  <a:pt x="65481" y="61730"/>
                </a:cubicBezTo>
                <a:cubicBezTo>
                  <a:pt x="65481" y="61730"/>
                  <a:pt x="181687" y="19369"/>
                  <a:pt x="223190" y="3713"/>
                </a:cubicBezTo>
                <a:cubicBezTo>
                  <a:pt x="230568" y="951"/>
                  <a:pt x="238407" y="-661"/>
                  <a:pt x="245901" y="2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sp>
        <p:nvSpPr>
          <p:cNvPr id="156" name="brick-wall_79709"/>
          <p:cNvSpPr/>
          <p:nvPr/>
        </p:nvSpPr>
        <p:spPr>
          <a:xfrm>
            <a:off x="817756" y="3699797"/>
            <a:ext cx="337081" cy="238860"/>
          </a:xfrm>
          <a:custGeom>
            <a:avLst/>
            <a:gdLst>
              <a:gd name="connsiteX0" fmla="*/ 438342 w 607850"/>
              <a:gd name="connsiteY0" fmla="*/ 340196 h 430731"/>
              <a:gd name="connsiteX1" fmla="*/ 584151 w 607850"/>
              <a:gd name="connsiteY1" fmla="*/ 340196 h 430731"/>
              <a:gd name="connsiteX2" fmla="*/ 606792 w 607850"/>
              <a:gd name="connsiteY2" fmla="*/ 362801 h 430731"/>
              <a:gd name="connsiteX3" fmla="*/ 606792 w 607850"/>
              <a:gd name="connsiteY3" fmla="*/ 408126 h 430731"/>
              <a:gd name="connsiteX4" fmla="*/ 584151 w 607850"/>
              <a:gd name="connsiteY4" fmla="*/ 430731 h 430731"/>
              <a:gd name="connsiteX5" fmla="*/ 438342 w 607850"/>
              <a:gd name="connsiteY5" fmla="*/ 430731 h 430731"/>
              <a:gd name="connsiteX6" fmla="*/ 415701 w 607850"/>
              <a:gd name="connsiteY6" fmla="*/ 408126 h 430731"/>
              <a:gd name="connsiteX7" fmla="*/ 415701 w 607850"/>
              <a:gd name="connsiteY7" fmla="*/ 362801 h 430731"/>
              <a:gd name="connsiteX8" fmla="*/ 438342 w 607850"/>
              <a:gd name="connsiteY8" fmla="*/ 340196 h 430731"/>
              <a:gd name="connsiteX9" fmla="*/ 230527 w 607850"/>
              <a:gd name="connsiteY9" fmla="*/ 340196 h 430731"/>
              <a:gd name="connsiteX10" fmla="*/ 376336 w 607850"/>
              <a:gd name="connsiteY10" fmla="*/ 340196 h 430731"/>
              <a:gd name="connsiteX11" fmla="*/ 398977 w 607850"/>
              <a:gd name="connsiteY11" fmla="*/ 362801 h 430731"/>
              <a:gd name="connsiteX12" fmla="*/ 398977 w 607850"/>
              <a:gd name="connsiteY12" fmla="*/ 408126 h 430731"/>
              <a:gd name="connsiteX13" fmla="*/ 376336 w 607850"/>
              <a:gd name="connsiteY13" fmla="*/ 430731 h 430731"/>
              <a:gd name="connsiteX14" fmla="*/ 230527 w 607850"/>
              <a:gd name="connsiteY14" fmla="*/ 430731 h 430731"/>
              <a:gd name="connsiteX15" fmla="*/ 207886 w 607850"/>
              <a:gd name="connsiteY15" fmla="*/ 408126 h 430731"/>
              <a:gd name="connsiteX16" fmla="*/ 207886 w 607850"/>
              <a:gd name="connsiteY16" fmla="*/ 362801 h 430731"/>
              <a:gd name="connsiteX17" fmla="*/ 230527 w 607850"/>
              <a:gd name="connsiteY17" fmla="*/ 340196 h 430731"/>
              <a:gd name="connsiteX18" fmla="*/ 22641 w 607850"/>
              <a:gd name="connsiteY18" fmla="*/ 340196 h 430731"/>
              <a:gd name="connsiteX19" fmla="*/ 168450 w 607850"/>
              <a:gd name="connsiteY19" fmla="*/ 340196 h 430731"/>
              <a:gd name="connsiteX20" fmla="*/ 191091 w 607850"/>
              <a:gd name="connsiteY20" fmla="*/ 362801 h 430731"/>
              <a:gd name="connsiteX21" fmla="*/ 191091 w 607850"/>
              <a:gd name="connsiteY21" fmla="*/ 408126 h 430731"/>
              <a:gd name="connsiteX22" fmla="*/ 168450 w 607850"/>
              <a:gd name="connsiteY22" fmla="*/ 430731 h 430731"/>
              <a:gd name="connsiteX23" fmla="*/ 22641 w 607850"/>
              <a:gd name="connsiteY23" fmla="*/ 430731 h 430731"/>
              <a:gd name="connsiteX24" fmla="*/ 0 w 607850"/>
              <a:gd name="connsiteY24" fmla="*/ 408126 h 430731"/>
              <a:gd name="connsiteX25" fmla="*/ 0 w 607850"/>
              <a:gd name="connsiteY25" fmla="*/ 362801 h 430731"/>
              <a:gd name="connsiteX26" fmla="*/ 22641 w 607850"/>
              <a:gd name="connsiteY26" fmla="*/ 340196 h 430731"/>
              <a:gd name="connsiteX27" fmla="*/ 545464 w 607850"/>
              <a:gd name="connsiteY27" fmla="*/ 226868 h 430731"/>
              <a:gd name="connsiteX28" fmla="*/ 585205 w 607850"/>
              <a:gd name="connsiteY28" fmla="*/ 226868 h 430731"/>
              <a:gd name="connsiteX29" fmla="*/ 607850 w 607850"/>
              <a:gd name="connsiteY29" fmla="*/ 249473 h 430731"/>
              <a:gd name="connsiteX30" fmla="*/ 607850 w 607850"/>
              <a:gd name="connsiteY30" fmla="*/ 294798 h 430731"/>
              <a:gd name="connsiteX31" fmla="*/ 585205 w 607850"/>
              <a:gd name="connsiteY31" fmla="*/ 317403 h 430731"/>
              <a:gd name="connsiteX32" fmla="*/ 545464 w 607850"/>
              <a:gd name="connsiteY32" fmla="*/ 317403 h 430731"/>
              <a:gd name="connsiteX33" fmla="*/ 522819 w 607850"/>
              <a:gd name="connsiteY33" fmla="*/ 294798 h 430731"/>
              <a:gd name="connsiteX34" fmla="*/ 522819 w 607850"/>
              <a:gd name="connsiteY34" fmla="*/ 249473 h 430731"/>
              <a:gd name="connsiteX35" fmla="*/ 545464 w 607850"/>
              <a:gd name="connsiteY35" fmla="*/ 226868 h 430731"/>
              <a:gd name="connsiteX36" fmla="*/ 335184 w 607850"/>
              <a:gd name="connsiteY36" fmla="*/ 226868 h 430731"/>
              <a:gd name="connsiteX37" fmla="*/ 481046 w 607850"/>
              <a:gd name="connsiteY37" fmla="*/ 226868 h 430731"/>
              <a:gd name="connsiteX38" fmla="*/ 503696 w 607850"/>
              <a:gd name="connsiteY38" fmla="*/ 249473 h 430731"/>
              <a:gd name="connsiteX39" fmla="*/ 503696 w 607850"/>
              <a:gd name="connsiteY39" fmla="*/ 294798 h 430731"/>
              <a:gd name="connsiteX40" fmla="*/ 481046 w 607850"/>
              <a:gd name="connsiteY40" fmla="*/ 317403 h 430731"/>
              <a:gd name="connsiteX41" fmla="*/ 335184 w 607850"/>
              <a:gd name="connsiteY41" fmla="*/ 317403 h 430731"/>
              <a:gd name="connsiteX42" fmla="*/ 312534 w 607850"/>
              <a:gd name="connsiteY42" fmla="*/ 294798 h 430731"/>
              <a:gd name="connsiteX43" fmla="*/ 312534 w 607850"/>
              <a:gd name="connsiteY43" fmla="*/ 249473 h 430731"/>
              <a:gd name="connsiteX44" fmla="*/ 335184 w 607850"/>
              <a:gd name="connsiteY44" fmla="*/ 226868 h 430731"/>
              <a:gd name="connsiteX45" fmla="*/ 125243 w 607850"/>
              <a:gd name="connsiteY45" fmla="*/ 226868 h 430731"/>
              <a:gd name="connsiteX46" fmla="*/ 271052 w 607850"/>
              <a:gd name="connsiteY46" fmla="*/ 226868 h 430731"/>
              <a:gd name="connsiteX47" fmla="*/ 293693 w 607850"/>
              <a:gd name="connsiteY47" fmla="*/ 249473 h 430731"/>
              <a:gd name="connsiteX48" fmla="*/ 293693 w 607850"/>
              <a:gd name="connsiteY48" fmla="*/ 294798 h 430731"/>
              <a:gd name="connsiteX49" fmla="*/ 271052 w 607850"/>
              <a:gd name="connsiteY49" fmla="*/ 317403 h 430731"/>
              <a:gd name="connsiteX50" fmla="*/ 125243 w 607850"/>
              <a:gd name="connsiteY50" fmla="*/ 317403 h 430731"/>
              <a:gd name="connsiteX51" fmla="*/ 102602 w 607850"/>
              <a:gd name="connsiteY51" fmla="*/ 294798 h 430731"/>
              <a:gd name="connsiteX52" fmla="*/ 102602 w 607850"/>
              <a:gd name="connsiteY52" fmla="*/ 249473 h 430731"/>
              <a:gd name="connsiteX53" fmla="*/ 125243 w 607850"/>
              <a:gd name="connsiteY53" fmla="*/ 226868 h 430731"/>
              <a:gd name="connsiteX54" fmla="*/ 22645 w 607850"/>
              <a:gd name="connsiteY54" fmla="*/ 226868 h 430731"/>
              <a:gd name="connsiteX55" fmla="*/ 62386 w 607850"/>
              <a:gd name="connsiteY55" fmla="*/ 226868 h 430731"/>
              <a:gd name="connsiteX56" fmla="*/ 85031 w 607850"/>
              <a:gd name="connsiteY56" fmla="*/ 249473 h 430731"/>
              <a:gd name="connsiteX57" fmla="*/ 85031 w 607850"/>
              <a:gd name="connsiteY57" fmla="*/ 294798 h 430731"/>
              <a:gd name="connsiteX58" fmla="*/ 62386 w 607850"/>
              <a:gd name="connsiteY58" fmla="*/ 317403 h 430731"/>
              <a:gd name="connsiteX59" fmla="*/ 22645 w 607850"/>
              <a:gd name="connsiteY59" fmla="*/ 317403 h 430731"/>
              <a:gd name="connsiteX60" fmla="*/ 0 w 607850"/>
              <a:gd name="connsiteY60" fmla="*/ 294798 h 430731"/>
              <a:gd name="connsiteX61" fmla="*/ 0 w 607850"/>
              <a:gd name="connsiteY61" fmla="*/ 249473 h 430731"/>
              <a:gd name="connsiteX62" fmla="*/ 22645 w 607850"/>
              <a:gd name="connsiteY62" fmla="*/ 226868 h 430731"/>
              <a:gd name="connsiteX63" fmla="*/ 438342 w 607850"/>
              <a:gd name="connsiteY63" fmla="*/ 113328 h 430731"/>
              <a:gd name="connsiteX64" fmla="*/ 584151 w 607850"/>
              <a:gd name="connsiteY64" fmla="*/ 113328 h 430731"/>
              <a:gd name="connsiteX65" fmla="*/ 606792 w 607850"/>
              <a:gd name="connsiteY65" fmla="*/ 135933 h 430731"/>
              <a:gd name="connsiteX66" fmla="*/ 606792 w 607850"/>
              <a:gd name="connsiteY66" fmla="*/ 181258 h 430731"/>
              <a:gd name="connsiteX67" fmla="*/ 584151 w 607850"/>
              <a:gd name="connsiteY67" fmla="*/ 203863 h 430731"/>
              <a:gd name="connsiteX68" fmla="*/ 438342 w 607850"/>
              <a:gd name="connsiteY68" fmla="*/ 203863 h 430731"/>
              <a:gd name="connsiteX69" fmla="*/ 415701 w 607850"/>
              <a:gd name="connsiteY69" fmla="*/ 181258 h 430731"/>
              <a:gd name="connsiteX70" fmla="*/ 415701 w 607850"/>
              <a:gd name="connsiteY70" fmla="*/ 135933 h 430731"/>
              <a:gd name="connsiteX71" fmla="*/ 438342 w 607850"/>
              <a:gd name="connsiteY71" fmla="*/ 113328 h 430731"/>
              <a:gd name="connsiteX72" fmla="*/ 230527 w 607850"/>
              <a:gd name="connsiteY72" fmla="*/ 113328 h 430731"/>
              <a:gd name="connsiteX73" fmla="*/ 376336 w 607850"/>
              <a:gd name="connsiteY73" fmla="*/ 113328 h 430731"/>
              <a:gd name="connsiteX74" fmla="*/ 398977 w 607850"/>
              <a:gd name="connsiteY74" fmla="*/ 135933 h 430731"/>
              <a:gd name="connsiteX75" fmla="*/ 398977 w 607850"/>
              <a:gd name="connsiteY75" fmla="*/ 181258 h 430731"/>
              <a:gd name="connsiteX76" fmla="*/ 376336 w 607850"/>
              <a:gd name="connsiteY76" fmla="*/ 203863 h 430731"/>
              <a:gd name="connsiteX77" fmla="*/ 230527 w 607850"/>
              <a:gd name="connsiteY77" fmla="*/ 203863 h 430731"/>
              <a:gd name="connsiteX78" fmla="*/ 207886 w 607850"/>
              <a:gd name="connsiteY78" fmla="*/ 181258 h 430731"/>
              <a:gd name="connsiteX79" fmla="*/ 207886 w 607850"/>
              <a:gd name="connsiteY79" fmla="*/ 135933 h 430731"/>
              <a:gd name="connsiteX80" fmla="*/ 230527 w 607850"/>
              <a:gd name="connsiteY80" fmla="*/ 113328 h 430731"/>
              <a:gd name="connsiteX81" fmla="*/ 22641 w 607850"/>
              <a:gd name="connsiteY81" fmla="*/ 113328 h 430731"/>
              <a:gd name="connsiteX82" fmla="*/ 168450 w 607850"/>
              <a:gd name="connsiteY82" fmla="*/ 113328 h 430731"/>
              <a:gd name="connsiteX83" fmla="*/ 191091 w 607850"/>
              <a:gd name="connsiteY83" fmla="*/ 135933 h 430731"/>
              <a:gd name="connsiteX84" fmla="*/ 191091 w 607850"/>
              <a:gd name="connsiteY84" fmla="*/ 181258 h 430731"/>
              <a:gd name="connsiteX85" fmla="*/ 168450 w 607850"/>
              <a:gd name="connsiteY85" fmla="*/ 203863 h 430731"/>
              <a:gd name="connsiteX86" fmla="*/ 22641 w 607850"/>
              <a:gd name="connsiteY86" fmla="*/ 203863 h 430731"/>
              <a:gd name="connsiteX87" fmla="*/ 0 w 607850"/>
              <a:gd name="connsiteY87" fmla="*/ 181258 h 430731"/>
              <a:gd name="connsiteX88" fmla="*/ 0 w 607850"/>
              <a:gd name="connsiteY88" fmla="*/ 135933 h 430731"/>
              <a:gd name="connsiteX89" fmla="*/ 22641 w 607850"/>
              <a:gd name="connsiteY89" fmla="*/ 113328 h 430731"/>
              <a:gd name="connsiteX90" fmla="*/ 545464 w 607850"/>
              <a:gd name="connsiteY90" fmla="*/ 0 h 430731"/>
              <a:gd name="connsiteX91" fmla="*/ 585205 w 607850"/>
              <a:gd name="connsiteY91" fmla="*/ 0 h 430731"/>
              <a:gd name="connsiteX92" fmla="*/ 607850 w 607850"/>
              <a:gd name="connsiteY92" fmla="*/ 22605 h 430731"/>
              <a:gd name="connsiteX93" fmla="*/ 607850 w 607850"/>
              <a:gd name="connsiteY93" fmla="*/ 67930 h 430731"/>
              <a:gd name="connsiteX94" fmla="*/ 585205 w 607850"/>
              <a:gd name="connsiteY94" fmla="*/ 90535 h 430731"/>
              <a:gd name="connsiteX95" fmla="*/ 545464 w 607850"/>
              <a:gd name="connsiteY95" fmla="*/ 90535 h 430731"/>
              <a:gd name="connsiteX96" fmla="*/ 522819 w 607850"/>
              <a:gd name="connsiteY96" fmla="*/ 67930 h 430731"/>
              <a:gd name="connsiteX97" fmla="*/ 522819 w 607850"/>
              <a:gd name="connsiteY97" fmla="*/ 22605 h 430731"/>
              <a:gd name="connsiteX98" fmla="*/ 545464 w 607850"/>
              <a:gd name="connsiteY98" fmla="*/ 0 h 430731"/>
              <a:gd name="connsiteX99" fmla="*/ 335184 w 607850"/>
              <a:gd name="connsiteY99" fmla="*/ 0 h 430731"/>
              <a:gd name="connsiteX100" fmla="*/ 481046 w 607850"/>
              <a:gd name="connsiteY100" fmla="*/ 0 h 430731"/>
              <a:gd name="connsiteX101" fmla="*/ 503696 w 607850"/>
              <a:gd name="connsiteY101" fmla="*/ 22605 h 430731"/>
              <a:gd name="connsiteX102" fmla="*/ 503696 w 607850"/>
              <a:gd name="connsiteY102" fmla="*/ 67930 h 430731"/>
              <a:gd name="connsiteX103" fmla="*/ 481046 w 607850"/>
              <a:gd name="connsiteY103" fmla="*/ 90535 h 430731"/>
              <a:gd name="connsiteX104" fmla="*/ 335184 w 607850"/>
              <a:gd name="connsiteY104" fmla="*/ 90535 h 430731"/>
              <a:gd name="connsiteX105" fmla="*/ 312534 w 607850"/>
              <a:gd name="connsiteY105" fmla="*/ 67930 h 430731"/>
              <a:gd name="connsiteX106" fmla="*/ 312534 w 607850"/>
              <a:gd name="connsiteY106" fmla="*/ 22605 h 430731"/>
              <a:gd name="connsiteX107" fmla="*/ 335184 w 607850"/>
              <a:gd name="connsiteY107" fmla="*/ 0 h 430731"/>
              <a:gd name="connsiteX108" fmla="*/ 125243 w 607850"/>
              <a:gd name="connsiteY108" fmla="*/ 0 h 430731"/>
              <a:gd name="connsiteX109" fmla="*/ 271052 w 607850"/>
              <a:gd name="connsiteY109" fmla="*/ 0 h 430731"/>
              <a:gd name="connsiteX110" fmla="*/ 293693 w 607850"/>
              <a:gd name="connsiteY110" fmla="*/ 22605 h 430731"/>
              <a:gd name="connsiteX111" fmla="*/ 293693 w 607850"/>
              <a:gd name="connsiteY111" fmla="*/ 67930 h 430731"/>
              <a:gd name="connsiteX112" fmla="*/ 271052 w 607850"/>
              <a:gd name="connsiteY112" fmla="*/ 90535 h 430731"/>
              <a:gd name="connsiteX113" fmla="*/ 125243 w 607850"/>
              <a:gd name="connsiteY113" fmla="*/ 90535 h 430731"/>
              <a:gd name="connsiteX114" fmla="*/ 102602 w 607850"/>
              <a:gd name="connsiteY114" fmla="*/ 67930 h 430731"/>
              <a:gd name="connsiteX115" fmla="*/ 102602 w 607850"/>
              <a:gd name="connsiteY115" fmla="*/ 22605 h 430731"/>
              <a:gd name="connsiteX116" fmla="*/ 125243 w 607850"/>
              <a:gd name="connsiteY116" fmla="*/ 0 h 430731"/>
              <a:gd name="connsiteX117" fmla="*/ 22645 w 607850"/>
              <a:gd name="connsiteY117" fmla="*/ 0 h 430731"/>
              <a:gd name="connsiteX118" fmla="*/ 62386 w 607850"/>
              <a:gd name="connsiteY118" fmla="*/ 0 h 430731"/>
              <a:gd name="connsiteX119" fmla="*/ 85031 w 607850"/>
              <a:gd name="connsiteY119" fmla="*/ 22605 h 430731"/>
              <a:gd name="connsiteX120" fmla="*/ 85031 w 607850"/>
              <a:gd name="connsiteY120" fmla="*/ 67930 h 430731"/>
              <a:gd name="connsiteX121" fmla="*/ 62386 w 607850"/>
              <a:gd name="connsiteY121" fmla="*/ 90535 h 430731"/>
              <a:gd name="connsiteX122" fmla="*/ 22645 w 607850"/>
              <a:gd name="connsiteY122" fmla="*/ 90535 h 430731"/>
              <a:gd name="connsiteX123" fmla="*/ 0 w 607850"/>
              <a:gd name="connsiteY123" fmla="*/ 67930 h 430731"/>
              <a:gd name="connsiteX124" fmla="*/ 0 w 607850"/>
              <a:gd name="connsiteY124" fmla="*/ 22605 h 430731"/>
              <a:gd name="connsiteX125" fmla="*/ 22645 w 607850"/>
              <a:gd name="connsiteY125" fmla="*/ 0 h 430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850" h="430731">
                <a:moveTo>
                  <a:pt x="438342" y="340196"/>
                </a:moveTo>
                <a:lnTo>
                  <a:pt x="584151" y="340196"/>
                </a:lnTo>
                <a:cubicBezTo>
                  <a:pt x="596603" y="340196"/>
                  <a:pt x="606792" y="350368"/>
                  <a:pt x="606792" y="362801"/>
                </a:cubicBezTo>
                <a:lnTo>
                  <a:pt x="606792" y="408126"/>
                </a:lnTo>
                <a:cubicBezTo>
                  <a:pt x="606792" y="420672"/>
                  <a:pt x="596603" y="430731"/>
                  <a:pt x="584151" y="430731"/>
                </a:cubicBezTo>
                <a:lnTo>
                  <a:pt x="438342" y="430731"/>
                </a:lnTo>
                <a:cubicBezTo>
                  <a:pt x="425776" y="430731"/>
                  <a:pt x="415701" y="420672"/>
                  <a:pt x="415701" y="408126"/>
                </a:cubicBezTo>
                <a:lnTo>
                  <a:pt x="415701" y="362801"/>
                </a:lnTo>
                <a:cubicBezTo>
                  <a:pt x="415701" y="350368"/>
                  <a:pt x="425776" y="340196"/>
                  <a:pt x="438342" y="340196"/>
                </a:cubicBezTo>
                <a:close/>
                <a:moveTo>
                  <a:pt x="230527" y="340196"/>
                </a:moveTo>
                <a:lnTo>
                  <a:pt x="376336" y="340196"/>
                </a:lnTo>
                <a:cubicBezTo>
                  <a:pt x="388789" y="340196"/>
                  <a:pt x="398977" y="350368"/>
                  <a:pt x="398977" y="362801"/>
                </a:cubicBezTo>
                <a:lnTo>
                  <a:pt x="398977" y="408126"/>
                </a:lnTo>
                <a:cubicBezTo>
                  <a:pt x="398977" y="420672"/>
                  <a:pt x="388789" y="430731"/>
                  <a:pt x="376336" y="430731"/>
                </a:cubicBezTo>
                <a:lnTo>
                  <a:pt x="230527" y="430731"/>
                </a:lnTo>
                <a:cubicBezTo>
                  <a:pt x="217961" y="430731"/>
                  <a:pt x="207886" y="420672"/>
                  <a:pt x="207886" y="408126"/>
                </a:cubicBezTo>
                <a:lnTo>
                  <a:pt x="207886" y="362801"/>
                </a:lnTo>
                <a:cubicBezTo>
                  <a:pt x="207886" y="350368"/>
                  <a:pt x="217961" y="340196"/>
                  <a:pt x="230527" y="340196"/>
                </a:cubicBezTo>
                <a:close/>
                <a:moveTo>
                  <a:pt x="22641" y="340196"/>
                </a:moveTo>
                <a:lnTo>
                  <a:pt x="168450" y="340196"/>
                </a:lnTo>
                <a:cubicBezTo>
                  <a:pt x="180903" y="340196"/>
                  <a:pt x="191091" y="350368"/>
                  <a:pt x="191091" y="362801"/>
                </a:cubicBezTo>
                <a:lnTo>
                  <a:pt x="191091" y="408126"/>
                </a:lnTo>
                <a:cubicBezTo>
                  <a:pt x="191091" y="420672"/>
                  <a:pt x="180903" y="430731"/>
                  <a:pt x="168450" y="430731"/>
                </a:cubicBezTo>
                <a:lnTo>
                  <a:pt x="22641" y="430731"/>
                </a:lnTo>
                <a:cubicBezTo>
                  <a:pt x="10189" y="430731"/>
                  <a:pt x="0" y="420672"/>
                  <a:pt x="0" y="408126"/>
                </a:cubicBezTo>
                <a:lnTo>
                  <a:pt x="0" y="362801"/>
                </a:lnTo>
                <a:cubicBezTo>
                  <a:pt x="0" y="350368"/>
                  <a:pt x="10189" y="340196"/>
                  <a:pt x="22641" y="340196"/>
                </a:cubicBezTo>
                <a:close/>
                <a:moveTo>
                  <a:pt x="545464" y="226868"/>
                </a:moveTo>
                <a:lnTo>
                  <a:pt x="585205" y="226868"/>
                </a:lnTo>
                <a:cubicBezTo>
                  <a:pt x="597660" y="226868"/>
                  <a:pt x="607850" y="236927"/>
                  <a:pt x="607850" y="249473"/>
                </a:cubicBezTo>
                <a:lnTo>
                  <a:pt x="607850" y="294798"/>
                </a:lnTo>
                <a:cubicBezTo>
                  <a:pt x="607850" y="307231"/>
                  <a:pt x="597660" y="317403"/>
                  <a:pt x="585205" y="317403"/>
                </a:cubicBezTo>
                <a:lnTo>
                  <a:pt x="545464" y="317403"/>
                </a:lnTo>
                <a:cubicBezTo>
                  <a:pt x="533009" y="317403"/>
                  <a:pt x="522819" y="307231"/>
                  <a:pt x="522819" y="294798"/>
                </a:cubicBezTo>
                <a:lnTo>
                  <a:pt x="522819" y="249473"/>
                </a:lnTo>
                <a:cubicBezTo>
                  <a:pt x="522819" y="236927"/>
                  <a:pt x="533009" y="226868"/>
                  <a:pt x="545464" y="226868"/>
                </a:cubicBezTo>
                <a:close/>
                <a:moveTo>
                  <a:pt x="335184" y="226868"/>
                </a:moveTo>
                <a:lnTo>
                  <a:pt x="481046" y="226868"/>
                </a:lnTo>
                <a:cubicBezTo>
                  <a:pt x="493617" y="226868"/>
                  <a:pt x="503696" y="236927"/>
                  <a:pt x="503696" y="249473"/>
                </a:cubicBezTo>
                <a:lnTo>
                  <a:pt x="503696" y="294798"/>
                </a:lnTo>
                <a:cubicBezTo>
                  <a:pt x="503696" y="307231"/>
                  <a:pt x="493617" y="317403"/>
                  <a:pt x="481046" y="317403"/>
                </a:cubicBezTo>
                <a:lnTo>
                  <a:pt x="335184" y="317403"/>
                </a:lnTo>
                <a:cubicBezTo>
                  <a:pt x="322726" y="317403"/>
                  <a:pt x="312534" y="307231"/>
                  <a:pt x="312534" y="294798"/>
                </a:cubicBezTo>
                <a:lnTo>
                  <a:pt x="312534" y="249473"/>
                </a:lnTo>
                <a:cubicBezTo>
                  <a:pt x="312534" y="236927"/>
                  <a:pt x="322726" y="226868"/>
                  <a:pt x="335184" y="226868"/>
                </a:cubicBezTo>
                <a:close/>
                <a:moveTo>
                  <a:pt x="125243" y="226868"/>
                </a:moveTo>
                <a:lnTo>
                  <a:pt x="271052" y="226868"/>
                </a:lnTo>
                <a:cubicBezTo>
                  <a:pt x="283618" y="226868"/>
                  <a:pt x="293693" y="236927"/>
                  <a:pt x="293693" y="249473"/>
                </a:cubicBezTo>
                <a:lnTo>
                  <a:pt x="293693" y="294798"/>
                </a:lnTo>
                <a:cubicBezTo>
                  <a:pt x="293693" y="307231"/>
                  <a:pt x="283618" y="317403"/>
                  <a:pt x="271052" y="317403"/>
                </a:cubicBezTo>
                <a:lnTo>
                  <a:pt x="125243" y="317403"/>
                </a:lnTo>
                <a:cubicBezTo>
                  <a:pt x="112791" y="317403"/>
                  <a:pt x="102602" y="307231"/>
                  <a:pt x="102602" y="294798"/>
                </a:cubicBezTo>
                <a:lnTo>
                  <a:pt x="102602" y="249473"/>
                </a:lnTo>
                <a:cubicBezTo>
                  <a:pt x="102602" y="236927"/>
                  <a:pt x="112791" y="226868"/>
                  <a:pt x="125243" y="226868"/>
                </a:cubicBezTo>
                <a:close/>
                <a:moveTo>
                  <a:pt x="22645" y="226868"/>
                </a:moveTo>
                <a:lnTo>
                  <a:pt x="62386" y="226868"/>
                </a:lnTo>
                <a:cubicBezTo>
                  <a:pt x="74841" y="226868"/>
                  <a:pt x="85031" y="236927"/>
                  <a:pt x="85031" y="249473"/>
                </a:cubicBezTo>
                <a:lnTo>
                  <a:pt x="85031" y="294798"/>
                </a:lnTo>
                <a:cubicBezTo>
                  <a:pt x="85031" y="307231"/>
                  <a:pt x="74841" y="317403"/>
                  <a:pt x="62386" y="317403"/>
                </a:cubicBezTo>
                <a:lnTo>
                  <a:pt x="22645" y="317403"/>
                </a:lnTo>
                <a:cubicBezTo>
                  <a:pt x="10190" y="317403"/>
                  <a:pt x="0" y="307231"/>
                  <a:pt x="0" y="294798"/>
                </a:cubicBezTo>
                <a:lnTo>
                  <a:pt x="0" y="249473"/>
                </a:lnTo>
                <a:cubicBezTo>
                  <a:pt x="0" y="236927"/>
                  <a:pt x="10190" y="226868"/>
                  <a:pt x="22645" y="226868"/>
                </a:cubicBezTo>
                <a:close/>
                <a:moveTo>
                  <a:pt x="438342" y="113328"/>
                </a:moveTo>
                <a:lnTo>
                  <a:pt x="584151" y="113328"/>
                </a:lnTo>
                <a:cubicBezTo>
                  <a:pt x="596603" y="113328"/>
                  <a:pt x="606792" y="123500"/>
                  <a:pt x="606792" y="135933"/>
                </a:cubicBezTo>
                <a:lnTo>
                  <a:pt x="606792" y="181258"/>
                </a:lnTo>
                <a:cubicBezTo>
                  <a:pt x="606792" y="193804"/>
                  <a:pt x="596603" y="203863"/>
                  <a:pt x="584151" y="203863"/>
                </a:cubicBezTo>
                <a:lnTo>
                  <a:pt x="438342" y="203863"/>
                </a:lnTo>
                <a:cubicBezTo>
                  <a:pt x="425776" y="203863"/>
                  <a:pt x="415701" y="193804"/>
                  <a:pt x="415701" y="181258"/>
                </a:cubicBezTo>
                <a:lnTo>
                  <a:pt x="415701" y="135933"/>
                </a:lnTo>
                <a:cubicBezTo>
                  <a:pt x="415701" y="123500"/>
                  <a:pt x="425776" y="113328"/>
                  <a:pt x="438342" y="113328"/>
                </a:cubicBezTo>
                <a:close/>
                <a:moveTo>
                  <a:pt x="230527" y="113328"/>
                </a:moveTo>
                <a:lnTo>
                  <a:pt x="376336" y="113328"/>
                </a:lnTo>
                <a:cubicBezTo>
                  <a:pt x="388789" y="113328"/>
                  <a:pt x="398977" y="123500"/>
                  <a:pt x="398977" y="135933"/>
                </a:cubicBezTo>
                <a:lnTo>
                  <a:pt x="398977" y="181258"/>
                </a:lnTo>
                <a:cubicBezTo>
                  <a:pt x="398977" y="193804"/>
                  <a:pt x="388789" y="203863"/>
                  <a:pt x="376336" y="203863"/>
                </a:cubicBezTo>
                <a:lnTo>
                  <a:pt x="230527" y="203863"/>
                </a:lnTo>
                <a:cubicBezTo>
                  <a:pt x="217961" y="203863"/>
                  <a:pt x="207886" y="193804"/>
                  <a:pt x="207886" y="181258"/>
                </a:cubicBezTo>
                <a:lnTo>
                  <a:pt x="207886" y="135933"/>
                </a:lnTo>
                <a:cubicBezTo>
                  <a:pt x="207886" y="123500"/>
                  <a:pt x="217961" y="113328"/>
                  <a:pt x="230527" y="113328"/>
                </a:cubicBezTo>
                <a:close/>
                <a:moveTo>
                  <a:pt x="22641" y="113328"/>
                </a:moveTo>
                <a:lnTo>
                  <a:pt x="168450" y="113328"/>
                </a:lnTo>
                <a:cubicBezTo>
                  <a:pt x="180903" y="113328"/>
                  <a:pt x="191091" y="123500"/>
                  <a:pt x="191091" y="135933"/>
                </a:cubicBezTo>
                <a:lnTo>
                  <a:pt x="191091" y="181258"/>
                </a:lnTo>
                <a:cubicBezTo>
                  <a:pt x="191091" y="193804"/>
                  <a:pt x="180903" y="203863"/>
                  <a:pt x="168450" y="203863"/>
                </a:cubicBezTo>
                <a:lnTo>
                  <a:pt x="22641" y="203863"/>
                </a:lnTo>
                <a:cubicBezTo>
                  <a:pt x="10189" y="203863"/>
                  <a:pt x="0" y="193804"/>
                  <a:pt x="0" y="181258"/>
                </a:cubicBezTo>
                <a:lnTo>
                  <a:pt x="0" y="135933"/>
                </a:lnTo>
                <a:cubicBezTo>
                  <a:pt x="0" y="123500"/>
                  <a:pt x="10189" y="113328"/>
                  <a:pt x="22641" y="113328"/>
                </a:cubicBezTo>
                <a:close/>
                <a:moveTo>
                  <a:pt x="545464" y="0"/>
                </a:moveTo>
                <a:lnTo>
                  <a:pt x="585205" y="0"/>
                </a:lnTo>
                <a:cubicBezTo>
                  <a:pt x="597660" y="0"/>
                  <a:pt x="607850" y="10059"/>
                  <a:pt x="607850" y="22605"/>
                </a:cubicBezTo>
                <a:lnTo>
                  <a:pt x="607850" y="67930"/>
                </a:lnTo>
                <a:cubicBezTo>
                  <a:pt x="607850" y="80363"/>
                  <a:pt x="597660" y="90535"/>
                  <a:pt x="585205" y="90535"/>
                </a:cubicBezTo>
                <a:lnTo>
                  <a:pt x="545464" y="90535"/>
                </a:lnTo>
                <a:cubicBezTo>
                  <a:pt x="533009" y="90535"/>
                  <a:pt x="522819" y="80363"/>
                  <a:pt x="522819" y="67930"/>
                </a:cubicBezTo>
                <a:lnTo>
                  <a:pt x="522819" y="22605"/>
                </a:lnTo>
                <a:cubicBezTo>
                  <a:pt x="522819" y="10059"/>
                  <a:pt x="533009" y="0"/>
                  <a:pt x="545464" y="0"/>
                </a:cubicBezTo>
                <a:close/>
                <a:moveTo>
                  <a:pt x="335184" y="0"/>
                </a:moveTo>
                <a:lnTo>
                  <a:pt x="481046" y="0"/>
                </a:lnTo>
                <a:cubicBezTo>
                  <a:pt x="493617" y="0"/>
                  <a:pt x="503696" y="10059"/>
                  <a:pt x="503696" y="22605"/>
                </a:cubicBezTo>
                <a:lnTo>
                  <a:pt x="503696" y="67930"/>
                </a:lnTo>
                <a:cubicBezTo>
                  <a:pt x="503696" y="80363"/>
                  <a:pt x="493617" y="90535"/>
                  <a:pt x="481046" y="90535"/>
                </a:cubicBezTo>
                <a:lnTo>
                  <a:pt x="335184" y="90535"/>
                </a:lnTo>
                <a:cubicBezTo>
                  <a:pt x="322726" y="90535"/>
                  <a:pt x="312534" y="80363"/>
                  <a:pt x="312534" y="67930"/>
                </a:cubicBezTo>
                <a:lnTo>
                  <a:pt x="312534" y="22605"/>
                </a:lnTo>
                <a:cubicBezTo>
                  <a:pt x="312534" y="10059"/>
                  <a:pt x="322726" y="0"/>
                  <a:pt x="335184" y="0"/>
                </a:cubicBezTo>
                <a:close/>
                <a:moveTo>
                  <a:pt x="125243" y="0"/>
                </a:moveTo>
                <a:lnTo>
                  <a:pt x="271052" y="0"/>
                </a:lnTo>
                <a:cubicBezTo>
                  <a:pt x="283618" y="0"/>
                  <a:pt x="293693" y="10059"/>
                  <a:pt x="293693" y="22605"/>
                </a:cubicBezTo>
                <a:lnTo>
                  <a:pt x="293693" y="67930"/>
                </a:lnTo>
                <a:cubicBezTo>
                  <a:pt x="293693" y="80363"/>
                  <a:pt x="283618" y="90535"/>
                  <a:pt x="271052" y="90535"/>
                </a:cubicBezTo>
                <a:lnTo>
                  <a:pt x="125243" y="90535"/>
                </a:lnTo>
                <a:cubicBezTo>
                  <a:pt x="112791" y="90535"/>
                  <a:pt x="102602" y="80363"/>
                  <a:pt x="102602" y="67930"/>
                </a:cubicBezTo>
                <a:lnTo>
                  <a:pt x="102602" y="22605"/>
                </a:lnTo>
                <a:cubicBezTo>
                  <a:pt x="102602" y="10059"/>
                  <a:pt x="112791" y="0"/>
                  <a:pt x="125243" y="0"/>
                </a:cubicBezTo>
                <a:close/>
                <a:moveTo>
                  <a:pt x="22645" y="0"/>
                </a:moveTo>
                <a:lnTo>
                  <a:pt x="62386" y="0"/>
                </a:lnTo>
                <a:cubicBezTo>
                  <a:pt x="74841" y="0"/>
                  <a:pt x="85031" y="10059"/>
                  <a:pt x="85031" y="22605"/>
                </a:cubicBezTo>
                <a:lnTo>
                  <a:pt x="85031" y="67930"/>
                </a:lnTo>
                <a:cubicBezTo>
                  <a:pt x="85031" y="80363"/>
                  <a:pt x="74841" y="90535"/>
                  <a:pt x="62386" y="90535"/>
                </a:cubicBezTo>
                <a:lnTo>
                  <a:pt x="22645" y="90535"/>
                </a:lnTo>
                <a:cubicBezTo>
                  <a:pt x="10190" y="90535"/>
                  <a:pt x="0" y="80363"/>
                  <a:pt x="0" y="67930"/>
                </a:cubicBezTo>
                <a:lnTo>
                  <a:pt x="0" y="22605"/>
                </a:lnTo>
                <a:cubicBezTo>
                  <a:pt x="0" y="10059"/>
                  <a:pt x="10190" y="0"/>
                  <a:pt x="2264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sp>
        <p:nvSpPr>
          <p:cNvPr id="157" name="Rectangle 51"/>
          <p:cNvSpPr/>
          <p:nvPr/>
        </p:nvSpPr>
        <p:spPr bwMode="auto">
          <a:xfrm>
            <a:off x="1816590" y="5379047"/>
            <a:ext cx="4059213" cy="847323"/>
          </a:xfrm>
          <a:prstGeom prst="rect">
            <a:avLst/>
          </a:prstGeom>
          <a:noFill/>
          <a:ln w="12700">
            <a:solidFill>
              <a:srgbClr val="4775C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nvGrpSpPr>
          <p:cNvPr id="162" name="组合 161"/>
          <p:cNvGrpSpPr/>
          <p:nvPr/>
        </p:nvGrpSpPr>
        <p:grpSpPr>
          <a:xfrm>
            <a:off x="507023" y="5432838"/>
            <a:ext cx="735366" cy="739741"/>
            <a:chOff x="419471" y="5389351"/>
            <a:chExt cx="735366" cy="739741"/>
          </a:xfrm>
        </p:grpSpPr>
        <p:sp>
          <p:nvSpPr>
            <p:cNvPr id="109" name="文本框 108"/>
            <p:cNvSpPr txBox="1"/>
            <p:nvPr/>
          </p:nvSpPr>
          <p:spPr>
            <a:xfrm>
              <a:off x="419471" y="5728982"/>
              <a:ext cx="735366" cy="400110"/>
            </a:xfrm>
            <a:prstGeom prst="rect">
              <a:avLst/>
            </a:prstGeom>
            <a:noFill/>
          </p:spPr>
          <p:txBody>
            <a:bodyPr wrap="square">
              <a:spAutoFit/>
            </a:bodyPr>
            <a:lstStyle/>
            <a:p>
              <a:pPr algn="ctr"/>
              <a:r>
                <a:rPr lang="zh-CN" altLang="zh-CN" sz="1000" b="1" i="0" dirty="0">
                  <a:solidFill>
                    <a:srgbClr val="333333"/>
                  </a:solidFill>
                  <a:effectLst/>
                  <a:latin typeface="微软雅黑" panose="020B0503020204020204" charset="-122"/>
                  <a:ea typeface="微软雅黑" panose="020B0503020204020204" charset="-122"/>
                </a:rPr>
                <a:t>人工智能</a:t>
              </a:r>
              <a:endParaRPr lang="en-US" altLang="zh-CN" sz="1000" b="1" i="0" dirty="0">
                <a:solidFill>
                  <a:srgbClr val="333333"/>
                </a:solidFill>
                <a:effectLst/>
                <a:latin typeface="微软雅黑" panose="020B0503020204020204" charset="-122"/>
                <a:ea typeface="微软雅黑" panose="020B0503020204020204" charset="-122"/>
              </a:endParaRPr>
            </a:p>
            <a:p>
              <a:pPr algn="ctr"/>
              <a:r>
                <a:rPr lang="zh-CN" altLang="zh-CN" sz="1000" b="1" i="0" dirty="0">
                  <a:solidFill>
                    <a:srgbClr val="333333"/>
                  </a:solidFill>
                  <a:effectLst/>
                  <a:latin typeface="微软雅黑" panose="020B0503020204020204" charset="-122"/>
                  <a:ea typeface="微软雅黑" panose="020B0503020204020204" charset="-122"/>
                </a:rPr>
                <a:t>语料库</a:t>
              </a:r>
              <a:endParaRPr lang="zh-CN" altLang="en-US" sz="1000" b="1" dirty="0">
                <a:latin typeface="微软雅黑" panose="020B0503020204020204" charset="-122"/>
                <a:ea typeface="微软雅黑" panose="020B0503020204020204" charset="-122"/>
              </a:endParaRPr>
            </a:p>
          </p:txBody>
        </p:sp>
        <p:sp>
          <p:nvSpPr>
            <p:cNvPr id="160" name="book-with-sound_65441"/>
            <p:cNvSpPr/>
            <p:nvPr/>
          </p:nvSpPr>
          <p:spPr>
            <a:xfrm>
              <a:off x="665689" y="5389351"/>
              <a:ext cx="320755" cy="333770"/>
            </a:xfrm>
            <a:custGeom>
              <a:avLst/>
              <a:gdLst>
                <a:gd name="connsiteX0" fmla="*/ 37813 w 545181"/>
                <a:gd name="connsiteY0" fmla="*/ 477054 h 567302"/>
                <a:gd name="connsiteX1" fmla="*/ 91305 w 545181"/>
                <a:gd name="connsiteY1" fmla="*/ 530466 h 567302"/>
                <a:gd name="connsiteX2" fmla="*/ 296971 w 545181"/>
                <a:gd name="connsiteY2" fmla="*/ 531387 h 567302"/>
                <a:gd name="connsiteX3" fmla="*/ 296971 w 545181"/>
                <a:gd name="connsiteY3" fmla="*/ 477054 h 567302"/>
                <a:gd name="connsiteX4" fmla="*/ 432516 w 545181"/>
                <a:gd name="connsiteY4" fmla="*/ 228506 h 567302"/>
                <a:gd name="connsiteX5" fmla="*/ 493400 w 545181"/>
                <a:gd name="connsiteY5" fmla="*/ 291087 h 567302"/>
                <a:gd name="connsiteX6" fmla="*/ 432516 w 545181"/>
                <a:gd name="connsiteY6" fmla="*/ 353668 h 567302"/>
                <a:gd name="connsiteX7" fmla="*/ 431594 w 545181"/>
                <a:gd name="connsiteY7" fmla="*/ 353668 h 567302"/>
                <a:gd name="connsiteX8" fmla="*/ 414989 w 545181"/>
                <a:gd name="connsiteY8" fmla="*/ 338023 h 567302"/>
                <a:gd name="connsiteX9" fmla="*/ 431594 w 545181"/>
                <a:gd name="connsiteY9" fmla="*/ 320537 h 567302"/>
                <a:gd name="connsiteX10" fmla="*/ 460191 w 545181"/>
                <a:gd name="connsiteY10" fmla="*/ 291087 h 567302"/>
                <a:gd name="connsiteX11" fmla="*/ 431594 w 545181"/>
                <a:gd name="connsiteY11" fmla="*/ 262557 h 567302"/>
                <a:gd name="connsiteX12" fmla="*/ 414989 w 545181"/>
                <a:gd name="connsiteY12" fmla="*/ 245072 h 567302"/>
                <a:gd name="connsiteX13" fmla="*/ 432516 w 545181"/>
                <a:gd name="connsiteY13" fmla="*/ 228506 h 567302"/>
                <a:gd name="connsiteX14" fmla="*/ 432533 w 545181"/>
                <a:gd name="connsiteY14" fmla="*/ 176873 h 567302"/>
                <a:gd name="connsiteX15" fmla="*/ 545181 w 545181"/>
                <a:gd name="connsiteY15" fmla="*/ 291087 h 567302"/>
                <a:gd name="connsiteX16" fmla="*/ 432533 w 545181"/>
                <a:gd name="connsiteY16" fmla="*/ 405301 h 567302"/>
                <a:gd name="connsiteX17" fmla="*/ 431609 w 545181"/>
                <a:gd name="connsiteY17" fmla="*/ 405301 h 567302"/>
                <a:gd name="connsiteX18" fmla="*/ 414989 w 545181"/>
                <a:gd name="connsiteY18" fmla="*/ 388722 h 567302"/>
                <a:gd name="connsiteX19" fmla="*/ 431609 w 545181"/>
                <a:gd name="connsiteY19" fmla="*/ 372142 h 567302"/>
                <a:gd name="connsiteX20" fmla="*/ 511940 w 545181"/>
                <a:gd name="connsiteY20" fmla="*/ 291087 h 567302"/>
                <a:gd name="connsiteX21" fmla="*/ 431609 w 545181"/>
                <a:gd name="connsiteY21" fmla="*/ 210953 h 567302"/>
                <a:gd name="connsiteX22" fmla="*/ 414989 w 545181"/>
                <a:gd name="connsiteY22" fmla="*/ 193452 h 567302"/>
                <a:gd name="connsiteX23" fmla="*/ 432533 w 545181"/>
                <a:gd name="connsiteY23" fmla="*/ 176873 h 567302"/>
                <a:gd name="connsiteX24" fmla="*/ 274837 w 545181"/>
                <a:gd name="connsiteY24" fmla="*/ 103170 h 567302"/>
                <a:gd name="connsiteX25" fmla="*/ 274837 w 545181"/>
                <a:gd name="connsiteY25" fmla="*/ 343524 h 567302"/>
                <a:gd name="connsiteX26" fmla="*/ 257314 w 545181"/>
                <a:gd name="connsiteY26" fmla="*/ 372993 h 567302"/>
                <a:gd name="connsiteX27" fmla="*/ 66404 w 545181"/>
                <a:gd name="connsiteY27" fmla="*/ 440218 h 567302"/>
                <a:gd name="connsiteX28" fmla="*/ 317261 w 545181"/>
                <a:gd name="connsiteY28" fmla="*/ 440218 h 567302"/>
                <a:gd name="connsiteX29" fmla="*/ 332940 w 545181"/>
                <a:gd name="connsiteY29" fmla="*/ 422721 h 567302"/>
                <a:gd name="connsiteX30" fmla="*/ 332940 w 545181"/>
                <a:gd name="connsiteY30" fmla="*/ 117904 h 567302"/>
                <a:gd name="connsiteX31" fmla="*/ 317261 w 545181"/>
                <a:gd name="connsiteY31" fmla="*/ 103170 h 567302"/>
                <a:gd name="connsiteX32" fmla="*/ 245901 w 545181"/>
                <a:gd name="connsiteY32" fmla="*/ 260 h 567302"/>
                <a:gd name="connsiteX33" fmla="*/ 266536 w 545181"/>
                <a:gd name="connsiteY33" fmla="*/ 12001 h 567302"/>
                <a:gd name="connsiteX34" fmla="*/ 274837 w 545181"/>
                <a:gd name="connsiteY34" fmla="*/ 35945 h 567302"/>
                <a:gd name="connsiteX35" fmla="*/ 274837 w 545181"/>
                <a:gd name="connsiteY35" fmla="*/ 65413 h 567302"/>
                <a:gd name="connsiteX36" fmla="*/ 317261 w 545181"/>
                <a:gd name="connsiteY36" fmla="*/ 65413 h 567302"/>
                <a:gd name="connsiteX37" fmla="*/ 370753 w 545181"/>
                <a:gd name="connsiteY37" fmla="*/ 117904 h 567302"/>
                <a:gd name="connsiteX38" fmla="*/ 370753 w 545181"/>
                <a:gd name="connsiteY38" fmla="*/ 424563 h 567302"/>
                <a:gd name="connsiteX39" fmla="*/ 341240 w 545181"/>
                <a:gd name="connsiteY39" fmla="*/ 471529 h 567302"/>
                <a:gd name="connsiteX40" fmla="*/ 338474 w 545181"/>
                <a:gd name="connsiteY40" fmla="*/ 531387 h 567302"/>
                <a:gd name="connsiteX41" fmla="*/ 353230 w 545181"/>
                <a:gd name="connsiteY41" fmla="*/ 531387 h 567302"/>
                <a:gd name="connsiteX42" fmla="*/ 370753 w 545181"/>
                <a:gd name="connsiteY42" fmla="*/ 548884 h 567302"/>
                <a:gd name="connsiteX43" fmla="*/ 353230 w 545181"/>
                <a:gd name="connsiteY43" fmla="*/ 567302 h 567302"/>
                <a:gd name="connsiteX44" fmla="*/ 91305 w 545181"/>
                <a:gd name="connsiteY44" fmla="*/ 567302 h 567302"/>
                <a:gd name="connsiteX45" fmla="*/ 922 w 545181"/>
                <a:gd name="connsiteY45" fmla="*/ 477054 h 567302"/>
                <a:gd name="connsiteX46" fmla="*/ 0 w 545181"/>
                <a:gd name="connsiteY46" fmla="*/ 154740 h 567302"/>
                <a:gd name="connsiteX47" fmla="*/ 65481 w 545181"/>
                <a:gd name="connsiteY47" fmla="*/ 61730 h 567302"/>
                <a:gd name="connsiteX48" fmla="*/ 223190 w 545181"/>
                <a:gd name="connsiteY48" fmla="*/ 3713 h 567302"/>
                <a:gd name="connsiteX49" fmla="*/ 245901 w 545181"/>
                <a:gd name="connsiteY49" fmla="*/ 260 h 567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45181" h="567302">
                  <a:moveTo>
                    <a:pt x="37813" y="477054"/>
                  </a:moveTo>
                  <a:cubicBezTo>
                    <a:pt x="37813" y="505602"/>
                    <a:pt x="61792" y="530466"/>
                    <a:pt x="91305" y="530466"/>
                  </a:cubicBezTo>
                  <a:lnTo>
                    <a:pt x="296971" y="531387"/>
                  </a:lnTo>
                  <a:cubicBezTo>
                    <a:pt x="290515" y="512048"/>
                    <a:pt x="292360" y="493630"/>
                    <a:pt x="296971" y="477054"/>
                  </a:cubicBezTo>
                  <a:close/>
                  <a:moveTo>
                    <a:pt x="432516" y="228506"/>
                  </a:moveTo>
                  <a:cubicBezTo>
                    <a:pt x="466648" y="230347"/>
                    <a:pt x="493400" y="257036"/>
                    <a:pt x="493400" y="291087"/>
                  </a:cubicBezTo>
                  <a:cubicBezTo>
                    <a:pt x="493400" y="325138"/>
                    <a:pt x="466648" y="352748"/>
                    <a:pt x="432516" y="353668"/>
                  </a:cubicBezTo>
                  <a:lnTo>
                    <a:pt x="431594" y="353668"/>
                  </a:lnTo>
                  <a:cubicBezTo>
                    <a:pt x="423291" y="353668"/>
                    <a:pt x="415911" y="347226"/>
                    <a:pt x="414989" y="338023"/>
                  </a:cubicBezTo>
                  <a:cubicBezTo>
                    <a:pt x="414989" y="328820"/>
                    <a:pt x="422369" y="320537"/>
                    <a:pt x="431594" y="320537"/>
                  </a:cubicBezTo>
                  <a:cubicBezTo>
                    <a:pt x="447276" y="319617"/>
                    <a:pt x="460191" y="307653"/>
                    <a:pt x="460191" y="291087"/>
                  </a:cubicBezTo>
                  <a:cubicBezTo>
                    <a:pt x="460191" y="275442"/>
                    <a:pt x="447276" y="262557"/>
                    <a:pt x="431594" y="262557"/>
                  </a:cubicBezTo>
                  <a:cubicBezTo>
                    <a:pt x="422369" y="261637"/>
                    <a:pt x="414989" y="254275"/>
                    <a:pt x="414989" y="245072"/>
                  </a:cubicBezTo>
                  <a:cubicBezTo>
                    <a:pt x="415911" y="235868"/>
                    <a:pt x="423291" y="228506"/>
                    <a:pt x="432516" y="228506"/>
                  </a:cubicBezTo>
                  <a:close/>
                  <a:moveTo>
                    <a:pt x="432533" y="176873"/>
                  </a:moveTo>
                  <a:cubicBezTo>
                    <a:pt x="494397" y="177794"/>
                    <a:pt x="545181" y="229375"/>
                    <a:pt x="545181" y="291087"/>
                  </a:cubicBezTo>
                  <a:cubicBezTo>
                    <a:pt x="545181" y="353721"/>
                    <a:pt x="494397" y="404380"/>
                    <a:pt x="432533" y="405301"/>
                  </a:cubicBezTo>
                  <a:lnTo>
                    <a:pt x="431609" y="405301"/>
                  </a:lnTo>
                  <a:cubicBezTo>
                    <a:pt x="423299" y="405301"/>
                    <a:pt x="414989" y="397932"/>
                    <a:pt x="414989" y="388722"/>
                  </a:cubicBezTo>
                  <a:cubicBezTo>
                    <a:pt x="414989" y="379511"/>
                    <a:pt x="422376" y="372142"/>
                    <a:pt x="431609" y="372142"/>
                  </a:cubicBezTo>
                  <a:cubicBezTo>
                    <a:pt x="475930" y="372142"/>
                    <a:pt x="511940" y="335299"/>
                    <a:pt x="511940" y="291087"/>
                  </a:cubicBezTo>
                  <a:cubicBezTo>
                    <a:pt x="511940" y="247796"/>
                    <a:pt x="475930" y="210953"/>
                    <a:pt x="431609" y="210953"/>
                  </a:cubicBezTo>
                  <a:cubicBezTo>
                    <a:pt x="422376" y="210032"/>
                    <a:pt x="414989" y="202663"/>
                    <a:pt x="414989" y="193452"/>
                  </a:cubicBezTo>
                  <a:cubicBezTo>
                    <a:pt x="414989" y="184242"/>
                    <a:pt x="423299" y="176873"/>
                    <a:pt x="432533" y="176873"/>
                  </a:cubicBezTo>
                  <a:close/>
                  <a:moveTo>
                    <a:pt x="274837" y="103170"/>
                  </a:moveTo>
                  <a:lnTo>
                    <a:pt x="274837" y="343524"/>
                  </a:lnTo>
                  <a:cubicBezTo>
                    <a:pt x="274837" y="355496"/>
                    <a:pt x="268381" y="366547"/>
                    <a:pt x="257314" y="372993"/>
                  </a:cubicBezTo>
                  <a:lnTo>
                    <a:pt x="66404" y="440218"/>
                  </a:lnTo>
                  <a:lnTo>
                    <a:pt x="317261" y="440218"/>
                  </a:lnTo>
                  <a:cubicBezTo>
                    <a:pt x="331095" y="440218"/>
                    <a:pt x="332940" y="429168"/>
                    <a:pt x="332940" y="422721"/>
                  </a:cubicBezTo>
                  <a:lnTo>
                    <a:pt x="332940" y="117904"/>
                  </a:lnTo>
                  <a:cubicBezTo>
                    <a:pt x="332940" y="109616"/>
                    <a:pt x="326484" y="103170"/>
                    <a:pt x="317261" y="103170"/>
                  </a:cubicBezTo>
                  <a:close/>
                  <a:moveTo>
                    <a:pt x="245901" y="260"/>
                  </a:moveTo>
                  <a:cubicBezTo>
                    <a:pt x="253394" y="1181"/>
                    <a:pt x="260542" y="4634"/>
                    <a:pt x="266536" y="12001"/>
                  </a:cubicBezTo>
                  <a:cubicBezTo>
                    <a:pt x="272070" y="18448"/>
                    <a:pt x="274837" y="27657"/>
                    <a:pt x="274837" y="35945"/>
                  </a:cubicBezTo>
                  <a:lnTo>
                    <a:pt x="274837" y="65413"/>
                  </a:lnTo>
                  <a:lnTo>
                    <a:pt x="317261" y="65413"/>
                  </a:lnTo>
                  <a:cubicBezTo>
                    <a:pt x="346774" y="65413"/>
                    <a:pt x="370753" y="89357"/>
                    <a:pt x="370753" y="117904"/>
                  </a:cubicBezTo>
                  <a:lnTo>
                    <a:pt x="370753" y="424563"/>
                  </a:lnTo>
                  <a:cubicBezTo>
                    <a:pt x="370753" y="444823"/>
                    <a:pt x="358763" y="462320"/>
                    <a:pt x="341240" y="471529"/>
                  </a:cubicBezTo>
                  <a:cubicBezTo>
                    <a:pt x="333862" y="483500"/>
                    <a:pt x="322795" y="508365"/>
                    <a:pt x="338474" y="531387"/>
                  </a:cubicBezTo>
                  <a:lnTo>
                    <a:pt x="353230" y="531387"/>
                  </a:lnTo>
                  <a:cubicBezTo>
                    <a:pt x="362453" y="531387"/>
                    <a:pt x="370753" y="538754"/>
                    <a:pt x="370753" y="548884"/>
                  </a:cubicBezTo>
                  <a:cubicBezTo>
                    <a:pt x="370753" y="559014"/>
                    <a:pt x="362453" y="567302"/>
                    <a:pt x="353230" y="567302"/>
                  </a:cubicBezTo>
                  <a:lnTo>
                    <a:pt x="91305" y="567302"/>
                  </a:lnTo>
                  <a:cubicBezTo>
                    <a:pt x="41502" y="567302"/>
                    <a:pt x="922" y="526783"/>
                    <a:pt x="922" y="477054"/>
                  </a:cubicBezTo>
                  <a:cubicBezTo>
                    <a:pt x="922" y="414433"/>
                    <a:pt x="0" y="248672"/>
                    <a:pt x="0" y="154740"/>
                  </a:cubicBezTo>
                  <a:cubicBezTo>
                    <a:pt x="0" y="113300"/>
                    <a:pt x="25824" y="76464"/>
                    <a:pt x="65481" y="61730"/>
                  </a:cubicBezTo>
                  <a:cubicBezTo>
                    <a:pt x="65481" y="61730"/>
                    <a:pt x="181687" y="19369"/>
                    <a:pt x="223190" y="3713"/>
                  </a:cubicBezTo>
                  <a:cubicBezTo>
                    <a:pt x="230568" y="951"/>
                    <a:pt x="238407" y="-661"/>
                    <a:pt x="245901" y="26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sp>
        <p:nvSpPr>
          <p:cNvPr id="161" name="加号 160"/>
          <p:cNvSpPr/>
          <p:nvPr/>
        </p:nvSpPr>
        <p:spPr>
          <a:xfrm>
            <a:off x="1339477" y="5612695"/>
            <a:ext cx="380026" cy="380026"/>
          </a:xfrm>
          <a:prstGeom prst="mathPlu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63" name="文本框 115"/>
          <p:cNvSpPr txBox="1"/>
          <p:nvPr/>
        </p:nvSpPr>
        <p:spPr>
          <a:xfrm>
            <a:off x="2985652" y="5214005"/>
            <a:ext cx="1718235" cy="284501"/>
          </a:xfrm>
          <a:prstGeom prst="rect">
            <a:avLst/>
          </a:prstGeom>
          <a:solidFill>
            <a:schemeClr val="bg1"/>
          </a:solidFill>
        </p:spPr>
        <p:txBody>
          <a:bodyPr wrap="square" rtlCol="0">
            <a:spAutoFit/>
          </a:bodyPr>
          <a:lstStyle/>
          <a:p>
            <a:pPr algn="ctr">
              <a:lnSpc>
                <a:spcPct val="120000"/>
              </a:lnSpc>
            </a:pPr>
            <a:r>
              <a:rPr lang="zh-CN" altLang="en-US" sz="1200" b="1" dirty="0">
                <a:solidFill>
                  <a:schemeClr val="accent1">
                    <a:lumMod val="75000"/>
                  </a:schemeClr>
                </a:solidFill>
                <a:latin typeface="微软雅黑" panose="020B0503020204020204" charset="-122"/>
                <a:ea typeface="微软雅黑" panose="020B0503020204020204" charset="-122"/>
              </a:rPr>
              <a:t>重点领域</a:t>
            </a:r>
            <a:endParaRPr lang="zh-CN" altLang="en-US" sz="1200" b="1" dirty="0">
              <a:solidFill>
                <a:schemeClr val="accent1">
                  <a:lumMod val="75000"/>
                </a:schemeClr>
              </a:solidFill>
              <a:latin typeface="微软雅黑" panose="020B0503020204020204" charset="-122"/>
              <a:ea typeface="微软雅黑" panose="020B0503020204020204" charset="-122"/>
            </a:endParaRPr>
          </a:p>
        </p:txBody>
      </p:sp>
      <p:sp>
        <p:nvSpPr>
          <p:cNvPr id="167" name="文本框 166"/>
          <p:cNvSpPr txBox="1"/>
          <p:nvPr/>
        </p:nvSpPr>
        <p:spPr>
          <a:xfrm>
            <a:off x="6369564" y="3262476"/>
            <a:ext cx="5299474" cy="1169551"/>
          </a:xfrm>
          <a:prstGeom prst="rect">
            <a:avLst/>
          </a:prstGeom>
          <a:noFill/>
        </p:spPr>
        <p:txBody>
          <a:bodyPr wrap="square">
            <a:spAutoFit/>
          </a:bodyPr>
          <a:lstStyle/>
          <a:p>
            <a:r>
              <a:rPr lang="zh-CN" altLang="en-US" sz="1400" dirty="0">
                <a:latin typeface="微软雅黑" panose="020B0503020204020204" charset="-122"/>
                <a:ea typeface="微软雅黑" panose="020B0503020204020204" charset="-122"/>
              </a:rPr>
              <a:t>（十一）推进知识工程建设。支持金融机构构建企业级知识管理体系。坚持服务业务的价值导向，构建核心知识模型，建立知识萃取、整合、共享机制流程，建立从知识创建、审核、发布、更新到归档的全流程管理规范。鼓励利用人工智能技术提升知识萃取、表示、融合和对齐能力。</a:t>
            </a:r>
            <a:endParaRPr lang="zh-CN" altLang="en-US" sz="1400" dirty="0">
              <a:latin typeface="微软雅黑" panose="020B0503020204020204" charset="-122"/>
              <a:ea typeface="微软雅黑" panose="020B0503020204020204" charset="-122"/>
            </a:endParaRPr>
          </a:p>
        </p:txBody>
      </p:sp>
      <p:grpSp>
        <p:nvGrpSpPr>
          <p:cNvPr id="181" name="组合 180"/>
          <p:cNvGrpSpPr/>
          <p:nvPr/>
        </p:nvGrpSpPr>
        <p:grpSpPr>
          <a:xfrm>
            <a:off x="1899522" y="5613674"/>
            <a:ext cx="503817" cy="515418"/>
            <a:chOff x="1899522" y="5613674"/>
            <a:chExt cx="503817" cy="515418"/>
          </a:xfrm>
        </p:grpSpPr>
        <p:sp>
          <p:nvSpPr>
            <p:cNvPr id="102" name="文本框 101"/>
            <p:cNvSpPr txBox="1"/>
            <p:nvPr/>
          </p:nvSpPr>
          <p:spPr>
            <a:xfrm>
              <a:off x="1899522" y="5910211"/>
              <a:ext cx="503817" cy="218881"/>
            </a:xfrm>
            <a:prstGeom prst="rect">
              <a:avLst/>
            </a:prstGeom>
            <a:noFill/>
          </p:spPr>
          <p:txBody>
            <a:bodyPr wrap="square" lIns="72000" tIns="0" rIns="7200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能源</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168" name="renewable-energy_182313"/>
            <p:cNvSpPr/>
            <p:nvPr/>
          </p:nvSpPr>
          <p:spPr>
            <a:xfrm>
              <a:off x="1998091" y="5613674"/>
              <a:ext cx="316604" cy="316126"/>
            </a:xfrm>
            <a:custGeom>
              <a:avLst/>
              <a:gdLst>
                <a:gd name="connsiteX0" fmla="*/ 579337 w 607639"/>
                <a:gd name="connsiteY0" fmla="*/ 201125 h 606722"/>
                <a:gd name="connsiteX1" fmla="*/ 592153 w 607639"/>
                <a:gd name="connsiteY1" fmla="*/ 207523 h 606722"/>
                <a:gd name="connsiteX2" fmla="*/ 607639 w 607639"/>
                <a:gd name="connsiteY2" fmla="*/ 303324 h 606722"/>
                <a:gd name="connsiteX3" fmla="*/ 303787 w 607639"/>
                <a:gd name="connsiteY3" fmla="*/ 606722 h 606722"/>
                <a:gd name="connsiteX4" fmla="*/ 70870 w 607639"/>
                <a:gd name="connsiteY4" fmla="*/ 495636 h 606722"/>
                <a:gd name="connsiteX5" fmla="*/ 70870 w 607639"/>
                <a:gd name="connsiteY5" fmla="*/ 546025 h 606722"/>
                <a:gd name="connsiteX6" fmla="*/ 60812 w 607639"/>
                <a:gd name="connsiteY6" fmla="*/ 556156 h 606722"/>
                <a:gd name="connsiteX7" fmla="*/ 50666 w 607639"/>
                <a:gd name="connsiteY7" fmla="*/ 546025 h 606722"/>
                <a:gd name="connsiteX8" fmla="*/ 50666 w 607639"/>
                <a:gd name="connsiteY8" fmla="*/ 465154 h 606722"/>
                <a:gd name="connsiteX9" fmla="*/ 50844 w 607639"/>
                <a:gd name="connsiteY9" fmla="*/ 464176 h 606722"/>
                <a:gd name="connsiteX10" fmla="*/ 51289 w 607639"/>
                <a:gd name="connsiteY10" fmla="*/ 462132 h 606722"/>
                <a:gd name="connsiteX11" fmla="*/ 52001 w 607639"/>
                <a:gd name="connsiteY11" fmla="*/ 460444 h 606722"/>
                <a:gd name="connsiteX12" fmla="*/ 53069 w 607639"/>
                <a:gd name="connsiteY12" fmla="*/ 458844 h 606722"/>
                <a:gd name="connsiteX13" fmla="*/ 54493 w 607639"/>
                <a:gd name="connsiteY13" fmla="*/ 457422 h 606722"/>
                <a:gd name="connsiteX14" fmla="*/ 55205 w 607639"/>
                <a:gd name="connsiteY14" fmla="*/ 456711 h 606722"/>
                <a:gd name="connsiteX15" fmla="*/ 56006 w 607639"/>
                <a:gd name="connsiteY15" fmla="*/ 456356 h 606722"/>
                <a:gd name="connsiteX16" fmla="*/ 57875 w 607639"/>
                <a:gd name="connsiteY16" fmla="*/ 455645 h 606722"/>
                <a:gd name="connsiteX17" fmla="*/ 59922 w 607639"/>
                <a:gd name="connsiteY17" fmla="*/ 455201 h 606722"/>
                <a:gd name="connsiteX18" fmla="*/ 60812 w 607639"/>
                <a:gd name="connsiteY18" fmla="*/ 455023 h 606722"/>
                <a:gd name="connsiteX19" fmla="*/ 141804 w 607639"/>
                <a:gd name="connsiteY19" fmla="*/ 455023 h 606722"/>
                <a:gd name="connsiteX20" fmla="*/ 151950 w 607639"/>
                <a:gd name="connsiteY20" fmla="*/ 465154 h 606722"/>
                <a:gd name="connsiteX21" fmla="*/ 141804 w 607639"/>
                <a:gd name="connsiteY21" fmla="*/ 475285 h 606722"/>
                <a:gd name="connsiteX22" fmla="*/ 80482 w 607639"/>
                <a:gd name="connsiteY22" fmla="*/ 475285 h 606722"/>
                <a:gd name="connsiteX23" fmla="*/ 303787 w 607639"/>
                <a:gd name="connsiteY23" fmla="*/ 586460 h 606722"/>
                <a:gd name="connsiteX24" fmla="*/ 587347 w 607639"/>
                <a:gd name="connsiteY24" fmla="*/ 303324 h 606722"/>
                <a:gd name="connsiteX25" fmla="*/ 572929 w 607639"/>
                <a:gd name="connsiteY25" fmla="*/ 213922 h 606722"/>
                <a:gd name="connsiteX26" fmla="*/ 579337 w 607639"/>
                <a:gd name="connsiteY26" fmla="*/ 201125 h 606722"/>
                <a:gd name="connsiteX27" fmla="*/ 314731 w 607639"/>
                <a:gd name="connsiteY27" fmla="*/ 163341 h 606722"/>
                <a:gd name="connsiteX28" fmla="*/ 202247 w 607639"/>
                <a:gd name="connsiteY28" fmla="*/ 350425 h 606722"/>
                <a:gd name="connsiteX29" fmla="*/ 302183 w 607639"/>
                <a:gd name="connsiteY29" fmla="*/ 333805 h 606722"/>
                <a:gd name="connsiteX30" fmla="*/ 303785 w 607639"/>
                <a:gd name="connsiteY30" fmla="*/ 333716 h 606722"/>
                <a:gd name="connsiteX31" fmla="*/ 311082 w 607639"/>
                <a:gd name="connsiteY31" fmla="*/ 336738 h 606722"/>
                <a:gd name="connsiteX32" fmla="*/ 313752 w 607639"/>
                <a:gd name="connsiteY32" fmla="*/ 345804 h 606722"/>
                <a:gd name="connsiteX33" fmla="*/ 293640 w 607639"/>
                <a:gd name="connsiteY33" fmla="*/ 445967 h 606722"/>
                <a:gd name="connsiteX34" fmla="*/ 404255 w 607639"/>
                <a:gd name="connsiteY34" fmla="*/ 276658 h 606722"/>
                <a:gd name="connsiteX35" fmla="*/ 305476 w 607639"/>
                <a:gd name="connsiteY35" fmla="*/ 293100 h 606722"/>
                <a:gd name="connsiteX36" fmla="*/ 296577 w 607639"/>
                <a:gd name="connsiteY36" fmla="*/ 290256 h 606722"/>
                <a:gd name="connsiteX37" fmla="*/ 293818 w 607639"/>
                <a:gd name="connsiteY37" fmla="*/ 281369 h 606722"/>
                <a:gd name="connsiteX38" fmla="*/ 337690 w 607639"/>
                <a:gd name="connsiteY38" fmla="*/ 101751 h 606722"/>
                <a:gd name="connsiteX39" fmla="*/ 344186 w 607639"/>
                <a:gd name="connsiteY39" fmla="*/ 112949 h 606722"/>
                <a:gd name="connsiteX40" fmla="*/ 316243 w 607639"/>
                <a:gd name="connsiteY40" fmla="*/ 270792 h 606722"/>
                <a:gd name="connsiteX41" fmla="*/ 423655 w 607639"/>
                <a:gd name="connsiteY41" fmla="*/ 252928 h 606722"/>
                <a:gd name="connsiteX42" fmla="*/ 433799 w 607639"/>
                <a:gd name="connsiteY42" fmla="*/ 257372 h 606722"/>
                <a:gd name="connsiteX43" fmla="*/ 433799 w 607639"/>
                <a:gd name="connsiteY43" fmla="*/ 268393 h 606722"/>
                <a:gd name="connsiteX44" fmla="*/ 281893 w 607639"/>
                <a:gd name="connsiteY44" fmla="*/ 500981 h 606722"/>
                <a:gd name="connsiteX45" fmla="*/ 273439 w 607639"/>
                <a:gd name="connsiteY45" fmla="*/ 505602 h 606722"/>
                <a:gd name="connsiteX46" fmla="*/ 269612 w 607639"/>
                <a:gd name="connsiteY46" fmla="*/ 504802 h 606722"/>
                <a:gd name="connsiteX47" fmla="*/ 263472 w 607639"/>
                <a:gd name="connsiteY47" fmla="*/ 493515 h 606722"/>
                <a:gd name="connsiteX48" fmla="*/ 290970 w 607639"/>
                <a:gd name="connsiteY48" fmla="*/ 356202 h 606722"/>
                <a:gd name="connsiteX49" fmla="*/ 184004 w 607639"/>
                <a:gd name="connsiteY49" fmla="*/ 373977 h 606722"/>
                <a:gd name="connsiteX50" fmla="*/ 173948 w 607639"/>
                <a:gd name="connsiteY50" fmla="*/ 369711 h 606722"/>
                <a:gd name="connsiteX51" fmla="*/ 173592 w 607639"/>
                <a:gd name="connsiteY51" fmla="*/ 358779 h 606722"/>
                <a:gd name="connsiteX52" fmla="*/ 325498 w 607639"/>
                <a:gd name="connsiteY52" fmla="*/ 106017 h 606722"/>
                <a:gd name="connsiteX53" fmla="*/ 337690 w 607639"/>
                <a:gd name="connsiteY53" fmla="*/ 101751 h 606722"/>
                <a:gd name="connsiteX54" fmla="*/ 303763 w 607639"/>
                <a:gd name="connsiteY54" fmla="*/ 0 h 606722"/>
                <a:gd name="connsiteX55" fmla="*/ 536681 w 607639"/>
                <a:gd name="connsiteY55" fmla="*/ 111097 h 606722"/>
                <a:gd name="connsiteX56" fmla="*/ 536681 w 607639"/>
                <a:gd name="connsiteY56" fmla="*/ 60703 h 606722"/>
                <a:gd name="connsiteX57" fmla="*/ 546827 w 607639"/>
                <a:gd name="connsiteY57" fmla="*/ 50571 h 606722"/>
                <a:gd name="connsiteX58" fmla="*/ 556973 w 607639"/>
                <a:gd name="connsiteY58" fmla="*/ 60703 h 606722"/>
                <a:gd name="connsiteX59" fmla="*/ 556973 w 607639"/>
                <a:gd name="connsiteY59" fmla="*/ 141582 h 606722"/>
                <a:gd name="connsiteX60" fmla="*/ 556795 w 607639"/>
                <a:gd name="connsiteY60" fmla="*/ 142559 h 606722"/>
                <a:gd name="connsiteX61" fmla="*/ 556350 w 607639"/>
                <a:gd name="connsiteY61" fmla="*/ 144515 h 606722"/>
                <a:gd name="connsiteX62" fmla="*/ 555638 w 607639"/>
                <a:gd name="connsiteY62" fmla="*/ 146292 h 606722"/>
                <a:gd name="connsiteX63" fmla="*/ 554570 w 607639"/>
                <a:gd name="connsiteY63" fmla="*/ 147892 h 606722"/>
                <a:gd name="connsiteX64" fmla="*/ 553146 w 607639"/>
                <a:gd name="connsiteY64" fmla="*/ 149314 h 606722"/>
                <a:gd name="connsiteX65" fmla="*/ 552434 w 607639"/>
                <a:gd name="connsiteY65" fmla="*/ 150025 h 606722"/>
                <a:gd name="connsiteX66" fmla="*/ 551544 w 607639"/>
                <a:gd name="connsiteY66" fmla="*/ 150380 h 606722"/>
                <a:gd name="connsiteX67" fmla="*/ 549675 w 607639"/>
                <a:gd name="connsiteY67" fmla="*/ 151091 h 606722"/>
                <a:gd name="connsiteX68" fmla="*/ 547717 w 607639"/>
                <a:gd name="connsiteY68" fmla="*/ 151536 h 606722"/>
                <a:gd name="connsiteX69" fmla="*/ 546827 w 607639"/>
                <a:gd name="connsiteY69" fmla="*/ 151714 h 606722"/>
                <a:gd name="connsiteX70" fmla="*/ 465835 w 607639"/>
                <a:gd name="connsiteY70" fmla="*/ 151714 h 606722"/>
                <a:gd name="connsiteX71" fmla="*/ 455689 w 607639"/>
                <a:gd name="connsiteY71" fmla="*/ 141582 h 606722"/>
                <a:gd name="connsiteX72" fmla="*/ 465835 w 607639"/>
                <a:gd name="connsiteY72" fmla="*/ 131450 h 606722"/>
                <a:gd name="connsiteX73" fmla="*/ 527158 w 607639"/>
                <a:gd name="connsiteY73" fmla="*/ 131450 h 606722"/>
                <a:gd name="connsiteX74" fmla="*/ 303763 w 607639"/>
                <a:gd name="connsiteY74" fmla="*/ 20264 h 606722"/>
                <a:gd name="connsiteX75" fmla="*/ 20292 w 607639"/>
                <a:gd name="connsiteY75" fmla="*/ 303339 h 606722"/>
                <a:gd name="connsiteX76" fmla="*/ 34176 w 607639"/>
                <a:gd name="connsiteY76" fmla="*/ 391238 h 606722"/>
                <a:gd name="connsiteX77" fmla="*/ 27679 w 607639"/>
                <a:gd name="connsiteY77" fmla="*/ 403948 h 606722"/>
                <a:gd name="connsiteX78" fmla="*/ 24564 w 607639"/>
                <a:gd name="connsiteY78" fmla="*/ 404481 h 606722"/>
                <a:gd name="connsiteX79" fmla="*/ 14863 w 607639"/>
                <a:gd name="connsiteY79" fmla="*/ 397460 h 606722"/>
                <a:gd name="connsiteX80" fmla="*/ 0 w 607639"/>
                <a:gd name="connsiteY80" fmla="*/ 303339 h 606722"/>
                <a:gd name="connsiteX81" fmla="*/ 303763 w 607639"/>
                <a:gd name="connsiteY81"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607639" h="606722">
                  <a:moveTo>
                    <a:pt x="579337" y="201125"/>
                  </a:moveTo>
                  <a:cubicBezTo>
                    <a:pt x="584677" y="199347"/>
                    <a:pt x="590373" y="202191"/>
                    <a:pt x="592153" y="207523"/>
                  </a:cubicBezTo>
                  <a:cubicBezTo>
                    <a:pt x="602388" y="238361"/>
                    <a:pt x="607639" y="270531"/>
                    <a:pt x="607639" y="303324"/>
                  </a:cubicBezTo>
                  <a:cubicBezTo>
                    <a:pt x="607639" y="470575"/>
                    <a:pt x="471289" y="606722"/>
                    <a:pt x="303787" y="606722"/>
                  </a:cubicBezTo>
                  <a:cubicBezTo>
                    <a:pt x="213183" y="606722"/>
                    <a:pt x="128276" y="565665"/>
                    <a:pt x="70870" y="495636"/>
                  </a:cubicBezTo>
                  <a:lnTo>
                    <a:pt x="70870" y="546025"/>
                  </a:lnTo>
                  <a:cubicBezTo>
                    <a:pt x="70870" y="551623"/>
                    <a:pt x="66420" y="556156"/>
                    <a:pt x="60812" y="556156"/>
                  </a:cubicBezTo>
                  <a:cubicBezTo>
                    <a:pt x="55205" y="556156"/>
                    <a:pt x="50666" y="551623"/>
                    <a:pt x="50666" y="546025"/>
                  </a:cubicBezTo>
                  <a:lnTo>
                    <a:pt x="50666" y="465154"/>
                  </a:lnTo>
                  <a:cubicBezTo>
                    <a:pt x="50666" y="464799"/>
                    <a:pt x="50844" y="464532"/>
                    <a:pt x="50844" y="464176"/>
                  </a:cubicBezTo>
                  <a:cubicBezTo>
                    <a:pt x="50933" y="463465"/>
                    <a:pt x="51022" y="462843"/>
                    <a:pt x="51289" y="462132"/>
                  </a:cubicBezTo>
                  <a:cubicBezTo>
                    <a:pt x="51467" y="461510"/>
                    <a:pt x="51645" y="460977"/>
                    <a:pt x="52001" y="460444"/>
                  </a:cubicBezTo>
                  <a:cubicBezTo>
                    <a:pt x="52268" y="459822"/>
                    <a:pt x="52624" y="459378"/>
                    <a:pt x="53069" y="458844"/>
                  </a:cubicBezTo>
                  <a:cubicBezTo>
                    <a:pt x="53514" y="458311"/>
                    <a:pt x="53959" y="457867"/>
                    <a:pt x="54493" y="457422"/>
                  </a:cubicBezTo>
                  <a:cubicBezTo>
                    <a:pt x="54760" y="457156"/>
                    <a:pt x="54938" y="456889"/>
                    <a:pt x="55205" y="456711"/>
                  </a:cubicBezTo>
                  <a:cubicBezTo>
                    <a:pt x="55472" y="456534"/>
                    <a:pt x="55739" y="456534"/>
                    <a:pt x="56006" y="456356"/>
                  </a:cubicBezTo>
                  <a:cubicBezTo>
                    <a:pt x="56629" y="456000"/>
                    <a:pt x="57252" y="455823"/>
                    <a:pt x="57875" y="455645"/>
                  </a:cubicBezTo>
                  <a:cubicBezTo>
                    <a:pt x="58587" y="455378"/>
                    <a:pt x="59210" y="455290"/>
                    <a:pt x="59922" y="455201"/>
                  </a:cubicBezTo>
                  <a:cubicBezTo>
                    <a:pt x="60189" y="455201"/>
                    <a:pt x="60456" y="455023"/>
                    <a:pt x="60812" y="455023"/>
                  </a:cubicBezTo>
                  <a:lnTo>
                    <a:pt x="141804" y="455023"/>
                  </a:lnTo>
                  <a:cubicBezTo>
                    <a:pt x="147411" y="455023"/>
                    <a:pt x="151950" y="459555"/>
                    <a:pt x="151950" y="465154"/>
                  </a:cubicBezTo>
                  <a:cubicBezTo>
                    <a:pt x="151950" y="470753"/>
                    <a:pt x="147411" y="475285"/>
                    <a:pt x="141804" y="475285"/>
                  </a:cubicBezTo>
                  <a:lnTo>
                    <a:pt x="80482" y="475285"/>
                  </a:lnTo>
                  <a:cubicBezTo>
                    <a:pt x="133972" y="545225"/>
                    <a:pt x="216032" y="586460"/>
                    <a:pt x="303787" y="586460"/>
                  </a:cubicBezTo>
                  <a:cubicBezTo>
                    <a:pt x="460163" y="586460"/>
                    <a:pt x="587347" y="459466"/>
                    <a:pt x="587347" y="303324"/>
                  </a:cubicBezTo>
                  <a:cubicBezTo>
                    <a:pt x="587347" y="272753"/>
                    <a:pt x="582452" y="242626"/>
                    <a:pt x="572929" y="213922"/>
                  </a:cubicBezTo>
                  <a:cubicBezTo>
                    <a:pt x="571149" y="208589"/>
                    <a:pt x="573997" y="202902"/>
                    <a:pt x="579337" y="201125"/>
                  </a:cubicBezTo>
                  <a:close/>
                  <a:moveTo>
                    <a:pt x="314731" y="163341"/>
                  </a:moveTo>
                  <a:lnTo>
                    <a:pt x="202247" y="350425"/>
                  </a:lnTo>
                  <a:lnTo>
                    <a:pt x="302183" y="333805"/>
                  </a:lnTo>
                  <a:cubicBezTo>
                    <a:pt x="302717" y="333716"/>
                    <a:pt x="303251" y="333716"/>
                    <a:pt x="303785" y="333716"/>
                  </a:cubicBezTo>
                  <a:cubicBezTo>
                    <a:pt x="306543" y="333716"/>
                    <a:pt x="309124" y="334783"/>
                    <a:pt x="311082" y="336738"/>
                  </a:cubicBezTo>
                  <a:cubicBezTo>
                    <a:pt x="313396" y="339138"/>
                    <a:pt x="314375" y="342515"/>
                    <a:pt x="313752" y="345804"/>
                  </a:cubicBezTo>
                  <a:lnTo>
                    <a:pt x="293640" y="445967"/>
                  </a:lnTo>
                  <a:lnTo>
                    <a:pt x="404255" y="276658"/>
                  </a:lnTo>
                  <a:lnTo>
                    <a:pt x="305476" y="293100"/>
                  </a:lnTo>
                  <a:cubicBezTo>
                    <a:pt x="302272" y="293633"/>
                    <a:pt x="298979" y="292567"/>
                    <a:pt x="296577" y="290256"/>
                  </a:cubicBezTo>
                  <a:cubicBezTo>
                    <a:pt x="294352" y="287945"/>
                    <a:pt x="293284" y="284568"/>
                    <a:pt x="293818" y="281369"/>
                  </a:cubicBezTo>
                  <a:close/>
                  <a:moveTo>
                    <a:pt x="337690" y="101751"/>
                  </a:moveTo>
                  <a:cubicBezTo>
                    <a:pt x="342318" y="103439"/>
                    <a:pt x="344987" y="108150"/>
                    <a:pt x="344186" y="112949"/>
                  </a:cubicBezTo>
                  <a:lnTo>
                    <a:pt x="316243" y="270792"/>
                  </a:lnTo>
                  <a:lnTo>
                    <a:pt x="423655" y="252928"/>
                  </a:lnTo>
                  <a:cubicBezTo>
                    <a:pt x="427570" y="252217"/>
                    <a:pt x="431575" y="253995"/>
                    <a:pt x="433799" y="257372"/>
                  </a:cubicBezTo>
                  <a:cubicBezTo>
                    <a:pt x="436024" y="260749"/>
                    <a:pt x="436024" y="265104"/>
                    <a:pt x="433799" y="268393"/>
                  </a:cubicBezTo>
                  <a:lnTo>
                    <a:pt x="281893" y="500981"/>
                  </a:lnTo>
                  <a:cubicBezTo>
                    <a:pt x="280024" y="503914"/>
                    <a:pt x="276732" y="505602"/>
                    <a:pt x="273439" y="505602"/>
                  </a:cubicBezTo>
                  <a:cubicBezTo>
                    <a:pt x="272193" y="505602"/>
                    <a:pt x="270858" y="505336"/>
                    <a:pt x="269612" y="504802"/>
                  </a:cubicBezTo>
                  <a:cubicBezTo>
                    <a:pt x="265074" y="503025"/>
                    <a:pt x="262582" y="498225"/>
                    <a:pt x="263472" y="493515"/>
                  </a:cubicBezTo>
                  <a:lnTo>
                    <a:pt x="290970" y="356202"/>
                  </a:lnTo>
                  <a:lnTo>
                    <a:pt x="184004" y="373977"/>
                  </a:lnTo>
                  <a:cubicBezTo>
                    <a:pt x="180088" y="374599"/>
                    <a:pt x="176173" y="373000"/>
                    <a:pt x="173948" y="369711"/>
                  </a:cubicBezTo>
                  <a:cubicBezTo>
                    <a:pt x="171723" y="366423"/>
                    <a:pt x="171545" y="362157"/>
                    <a:pt x="173592" y="358779"/>
                  </a:cubicBezTo>
                  <a:lnTo>
                    <a:pt x="325498" y="106017"/>
                  </a:lnTo>
                  <a:cubicBezTo>
                    <a:pt x="327990" y="101839"/>
                    <a:pt x="333152" y="100062"/>
                    <a:pt x="337690" y="101751"/>
                  </a:cubicBezTo>
                  <a:close/>
                  <a:moveTo>
                    <a:pt x="303763" y="0"/>
                  </a:moveTo>
                  <a:cubicBezTo>
                    <a:pt x="394456" y="0"/>
                    <a:pt x="479364" y="41061"/>
                    <a:pt x="536681" y="111097"/>
                  </a:cubicBezTo>
                  <a:lnTo>
                    <a:pt x="536681" y="60703"/>
                  </a:lnTo>
                  <a:cubicBezTo>
                    <a:pt x="536681" y="55104"/>
                    <a:pt x="541220" y="50571"/>
                    <a:pt x="546827" y="50571"/>
                  </a:cubicBezTo>
                  <a:cubicBezTo>
                    <a:pt x="552434" y="50571"/>
                    <a:pt x="556973" y="55104"/>
                    <a:pt x="556973" y="60703"/>
                  </a:cubicBezTo>
                  <a:lnTo>
                    <a:pt x="556973" y="141582"/>
                  </a:lnTo>
                  <a:cubicBezTo>
                    <a:pt x="556973" y="141937"/>
                    <a:pt x="556795" y="142204"/>
                    <a:pt x="556795" y="142559"/>
                  </a:cubicBezTo>
                  <a:cubicBezTo>
                    <a:pt x="556706" y="143270"/>
                    <a:pt x="556528" y="143892"/>
                    <a:pt x="556350" y="144515"/>
                  </a:cubicBezTo>
                  <a:cubicBezTo>
                    <a:pt x="556172" y="145137"/>
                    <a:pt x="555905" y="145759"/>
                    <a:pt x="555638" y="146292"/>
                  </a:cubicBezTo>
                  <a:cubicBezTo>
                    <a:pt x="555371" y="146825"/>
                    <a:pt x="555015" y="147359"/>
                    <a:pt x="554570" y="147892"/>
                  </a:cubicBezTo>
                  <a:cubicBezTo>
                    <a:pt x="554125" y="148425"/>
                    <a:pt x="553680" y="148869"/>
                    <a:pt x="553146" y="149314"/>
                  </a:cubicBezTo>
                  <a:cubicBezTo>
                    <a:pt x="552879" y="149492"/>
                    <a:pt x="552701" y="149847"/>
                    <a:pt x="552434" y="150025"/>
                  </a:cubicBezTo>
                  <a:cubicBezTo>
                    <a:pt x="552167" y="150203"/>
                    <a:pt x="551900" y="150203"/>
                    <a:pt x="551544" y="150380"/>
                  </a:cubicBezTo>
                  <a:cubicBezTo>
                    <a:pt x="551010" y="150647"/>
                    <a:pt x="550387" y="150914"/>
                    <a:pt x="549675" y="151091"/>
                  </a:cubicBezTo>
                  <a:cubicBezTo>
                    <a:pt x="549052" y="151269"/>
                    <a:pt x="548429" y="151447"/>
                    <a:pt x="547717" y="151536"/>
                  </a:cubicBezTo>
                  <a:cubicBezTo>
                    <a:pt x="547450" y="151536"/>
                    <a:pt x="547183" y="151714"/>
                    <a:pt x="546827" y="151714"/>
                  </a:cubicBezTo>
                  <a:lnTo>
                    <a:pt x="465835" y="151714"/>
                  </a:lnTo>
                  <a:cubicBezTo>
                    <a:pt x="460228" y="151714"/>
                    <a:pt x="455689" y="147181"/>
                    <a:pt x="455689" y="141582"/>
                  </a:cubicBezTo>
                  <a:cubicBezTo>
                    <a:pt x="455689" y="135982"/>
                    <a:pt x="460228" y="131450"/>
                    <a:pt x="465835" y="131450"/>
                  </a:cubicBezTo>
                  <a:lnTo>
                    <a:pt x="527158" y="131450"/>
                  </a:lnTo>
                  <a:cubicBezTo>
                    <a:pt x="473668" y="61503"/>
                    <a:pt x="391519" y="20264"/>
                    <a:pt x="303763" y="20264"/>
                  </a:cubicBezTo>
                  <a:cubicBezTo>
                    <a:pt x="147476" y="20264"/>
                    <a:pt x="20292" y="147270"/>
                    <a:pt x="20292" y="303339"/>
                  </a:cubicBezTo>
                  <a:cubicBezTo>
                    <a:pt x="20292" y="333379"/>
                    <a:pt x="24920" y="362975"/>
                    <a:pt x="34176" y="391238"/>
                  </a:cubicBezTo>
                  <a:cubicBezTo>
                    <a:pt x="35867" y="396482"/>
                    <a:pt x="33019" y="402259"/>
                    <a:pt x="27679" y="403948"/>
                  </a:cubicBezTo>
                  <a:cubicBezTo>
                    <a:pt x="26611" y="404303"/>
                    <a:pt x="25543" y="404481"/>
                    <a:pt x="24564" y="404481"/>
                  </a:cubicBezTo>
                  <a:cubicBezTo>
                    <a:pt x="20292" y="404481"/>
                    <a:pt x="16287" y="401726"/>
                    <a:pt x="14863" y="397460"/>
                  </a:cubicBezTo>
                  <a:cubicBezTo>
                    <a:pt x="4984" y="367242"/>
                    <a:pt x="0" y="335512"/>
                    <a:pt x="0" y="303339"/>
                  </a:cubicBezTo>
                  <a:cubicBezTo>
                    <a:pt x="0" y="136071"/>
                    <a:pt x="136262" y="0"/>
                    <a:pt x="303763"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grpSp>
        <p:nvGrpSpPr>
          <p:cNvPr id="180" name="组合 179"/>
          <p:cNvGrpSpPr/>
          <p:nvPr/>
        </p:nvGrpSpPr>
        <p:grpSpPr>
          <a:xfrm>
            <a:off x="2449774" y="5613435"/>
            <a:ext cx="503817" cy="515657"/>
            <a:chOff x="2449774" y="5613435"/>
            <a:chExt cx="503817" cy="515657"/>
          </a:xfrm>
        </p:grpSpPr>
        <p:sp>
          <p:nvSpPr>
            <p:cNvPr id="54" name="文本框 53"/>
            <p:cNvSpPr txBox="1"/>
            <p:nvPr/>
          </p:nvSpPr>
          <p:spPr>
            <a:xfrm>
              <a:off x="2449774" y="5910211"/>
              <a:ext cx="503817" cy="218881"/>
            </a:xfrm>
            <a:prstGeom prst="rect">
              <a:avLst/>
            </a:prstGeom>
            <a:noFill/>
          </p:spPr>
          <p:txBody>
            <a:bodyPr wrap="square" lIns="72000" tIns="0" rIns="72000" bIns="0" anchor="ctr" anchorCtr="0">
              <a:noAutofit/>
            </a:bodyPr>
            <a:lstStyle/>
            <a:p>
              <a:pPr algn="ctr"/>
              <a:r>
                <a:rPr lang="zh-CN" altLang="en-US" sz="1000" dirty="0">
                  <a:solidFill>
                    <a:srgbClr val="000000"/>
                  </a:solidFill>
                  <a:latin typeface="微软雅黑" panose="020B0503020204020204" charset="-122"/>
                  <a:ea typeface="微软雅黑" panose="020B0503020204020204" charset="-122"/>
                </a:rPr>
                <a:t>交通</a:t>
              </a:r>
              <a:endParaRPr lang="zh-CN" altLang="en-US" sz="1000" dirty="0">
                <a:solidFill>
                  <a:srgbClr val="000000"/>
                </a:solidFill>
                <a:latin typeface="微软雅黑" panose="020B0503020204020204" charset="-122"/>
                <a:ea typeface="微软雅黑" panose="020B0503020204020204" charset="-122"/>
              </a:endParaRPr>
            </a:p>
          </p:txBody>
        </p:sp>
        <p:sp>
          <p:nvSpPr>
            <p:cNvPr id="169" name="tram_223498"/>
            <p:cNvSpPr/>
            <p:nvPr/>
          </p:nvSpPr>
          <p:spPr>
            <a:xfrm>
              <a:off x="2585106" y="5613435"/>
              <a:ext cx="233153" cy="316604"/>
            </a:xfrm>
            <a:custGeom>
              <a:avLst/>
              <a:gdLst>
                <a:gd name="connsiteX0" fmla="*/ 137668 w 447737"/>
                <a:gd name="connsiteY0" fmla="*/ 514116 h 607992"/>
                <a:gd name="connsiteX1" fmla="*/ 126441 w 447737"/>
                <a:gd name="connsiteY1" fmla="*/ 536433 h 607992"/>
                <a:gd name="connsiteX2" fmla="*/ 323500 w 447737"/>
                <a:gd name="connsiteY2" fmla="*/ 536433 h 607992"/>
                <a:gd name="connsiteX3" fmla="*/ 311748 w 447737"/>
                <a:gd name="connsiteY3" fmla="*/ 514116 h 607992"/>
                <a:gd name="connsiteX4" fmla="*/ 335750 w 447737"/>
                <a:gd name="connsiteY4" fmla="*/ 396765 h 607992"/>
                <a:gd name="connsiteX5" fmla="*/ 324519 w 447737"/>
                <a:gd name="connsiteY5" fmla="*/ 407869 h 607992"/>
                <a:gd name="connsiteX6" fmla="*/ 335750 w 447737"/>
                <a:gd name="connsiteY6" fmla="*/ 419076 h 607992"/>
                <a:gd name="connsiteX7" fmla="*/ 346981 w 447737"/>
                <a:gd name="connsiteY7" fmla="*/ 407869 h 607992"/>
                <a:gd name="connsiteX8" fmla="*/ 335750 w 447737"/>
                <a:gd name="connsiteY8" fmla="*/ 396765 h 607992"/>
                <a:gd name="connsiteX9" fmla="*/ 111952 w 447737"/>
                <a:gd name="connsiteY9" fmla="*/ 396765 h 607992"/>
                <a:gd name="connsiteX10" fmla="*/ 100732 w 447737"/>
                <a:gd name="connsiteY10" fmla="*/ 407869 h 607992"/>
                <a:gd name="connsiteX11" fmla="*/ 111952 w 447737"/>
                <a:gd name="connsiteY11" fmla="*/ 419076 h 607992"/>
                <a:gd name="connsiteX12" fmla="*/ 123067 w 447737"/>
                <a:gd name="connsiteY12" fmla="*/ 407869 h 607992"/>
                <a:gd name="connsiteX13" fmla="*/ 111952 w 447737"/>
                <a:gd name="connsiteY13" fmla="*/ 396765 h 607992"/>
                <a:gd name="connsiteX14" fmla="*/ 335750 w 447737"/>
                <a:gd name="connsiteY14" fmla="*/ 374350 h 607992"/>
                <a:gd name="connsiteX15" fmla="*/ 369339 w 447737"/>
                <a:gd name="connsiteY15" fmla="*/ 407869 h 607992"/>
                <a:gd name="connsiteX16" fmla="*/ 335750 w 447737"/>
                <a:gd name="connsiteY16" fmla="*/ 441387 h 607992"/>
                <a:gd name="connsiteX17" fmla="*/ 302161 w 447737"/>
                <a:gd name="connsiteY17" fmla="*/ 407869 h 607992"/>
                <a:gd name="connsiteX18" fmla="*/ 335750 w 447737"/>
                <a:gd name="connsiteY18" fmla="*/ 374350 h 607992"/>
                <a:gd name="connsiteX19" fmla="*/ 111952 w 447737"/>
                <a:gd name="connsiteY19" fmla="*/ 374350 h 607992"/>
                <a:gd name="connsiteX20" fmla="*/ 145506 w 447737"/>
                <a:gd name="connsiteY20" fmla="*/ 407869 h 607992"/>
                <a:gd name="connsiteX21" fmla="*/ 111952 w 447737"/>
                <a:gd name="connsiteY21" fmla="*/ 441387 h 607992"/>
                <a:gd name="connsiteX22" fmla="*/ 78398 w 447737"/>
                <a:gd name="connsiteY22" fmla="*/ 407869 h 607992"/>
                <a:gd name="connsiteX23" fmla="*/ 111952 w 447737"/>
                <a:gd name="connsiteY23" fmla="*/ 374350 h 607992"/>
                <a:gd name="connsiteX24" fmla="*/ 22350 w 447737"/>
                <a:gd name="connsiteY24" fmla="*/ 357587 h 607992"/>
                <a:gd name="connsiteX25" fmla="*/ 22350 w 447737"/>
                <a:gd name="connsiteY25" fmla="*/ 458168 h 607992"/>
                <a:gd name="connsiteX26" fmla="*/ 61594 w 447737"/>
                <a:gd name="connsiteY26" fmla="*/ 491695 h 607992"/>
                <a:gd name="connsiteX27" fmla="*/ 391704 w 447737"/>
                <a:gd name="connsiteY27" fmla="*/ 491695 h 607992"/>
                <a:gd name="connsiteX28" fmla="*/ 425282 w 447737"/>
                <a:gd name="connsiteY28" fmla="*/ 458168 h 607992"/>
                <a:gd name="connsiteX29" fmla="*/ 425282 w 447737"/>
                <a:gd name="connsiteY29" fmla="*/ 357587 h 607992"/>
                <a:gd name="connsiteX30" fmla="*/ 369344 w 447737"/>
                <a:gd name="connsiteY30" fmla="*/ 89336 h 607992"/>
                <a:gd name="connsiteX31" fmla="*/ 386128 w 447737"/>
                <a:gd name="connsiteY31" fmla="*/ 89336 h 607992"/>
                <a:gd name="connsiteX32" fmla="*/ 397353 w 447737"/>
                <a:gd name="connsiteY32" fmla="*/ 100556 h 607992"/>
                <a:gd name="connsiteX33" fmla="*/ 386128 w 447737"/>
                <a:gd name="connsiteY33" fmla="*/ 111776 h 607992"/>
                <a:gd name="connsiteX34" fmla="*/ 369344 w 447737"/>
                <a:gd name="connsiteY34" fmla="*/ 111776 h 607992"/>
                <a:gd name="connsiteX35" fmla="*/ 358119 w 447737"/>
                <a:gd name="connsiteY35" fmla="*/ 100556 h 607992"/>
                <a:gd name="connsiteX36" fmla="*/ 369344 w 447737"/>
                <a:gd name="connsiteY36" fmla="*/ 89336 h 607992"/>
                <a:gd name="connsiteX37" fmla="*/ 55928 w 447737"/>
                <a:gd name="connsiteY37" fmla="*/ 22316 h 607992"/>
                <a:gd name="connsiteX38" fmla="*/ 22350 w 447737"/>
                <a:gd name="connsiteY38" fmla="*/ 55843 h 607992"/>
                <a:gd name="connsiteX39" fmla="*/ 22350 w 447737"/>
                <a:gd name="connsiteY39" fmla="*/ 89371 h 607992"/>
                <a:gd name="connsiteX40" fmla="*/ 318988 w 447737"/>
                <a:gd name="connsiteY40" fmla="*/ 89371 h 607992"/>
                <a:gd name="connsiteX41" fmla="*/ 330215 w 447737"/>
                <a:gd name="connsiteY41" fmla="*/ 100581 h 607992"/>
                <a:gd name="connsiteX42" fmla="*/ 318988 w 447737"/>
                <a:gd name="connsiteY42" fmla="*/ 111792 h 607992"/>
                <a:gd name="connsiteX43" fmla="*/ 22350 w 447737"/>
                <a:gd name="connsiteY43" fmla="*/ 111792 h 607992"/>
                <a:gd name="connsiteX44" fmla="*/ 22350 w 447737"/>
                <a:gd name="connsiteY44" fmla="*/ 335270 h 607992"/>
                <a:gd name="connsiteX45" fmla="*/ 425282 w 447737"/>
                <a:gd name="connsiteY45" fmla="*/ 335270 h 607992"/>
                <a:gd name="connsiteX46" fmla="*/ 425282 w 447737"/>
                <a:gd name="connsiteY46" fmla="*/ 55843 h 607992"/>
                <a:gd name="connsiteX47" fmla="*/ 391704 w 447737"/>
                <a:gd name="connsiteY47" fmla="*/ 22316 h 607992"/>
                <a:gd name="connsiteX48" fmla="*/ 55928 w 447737"/>
                <a:gd name="connsiteY48" fmla="*/ 0 h 607992"/>
                <a:gd name="connsiteX49" fmla="*/ 391704 w 447737"/>
                <a:gd name="connsiteY49" fmla="*/ 0 h 607992"/>
                <a:gd name="connsiteX50" fmla="*/ 447737 w 447737"/>
                <a:gd name="connsiteY50" fmla="*/ 55843 h 607992"/>
                <a:gd name="connsiteX51" fmla="*/ 447737 w 447737"/>
                <a:gd name="connsiteY51" fmla="*/ 458168 h 607992"/>
                <a:gd name="connsiteX52" fmla="*/ 391704 w 447737"/>
                <a:gd name="connsiteY52" fmla="*/ 514116 h 607992"/>
                <a:gd name="connsiteX53" fmla="*/ 337455 w 447737"/>
                <a:gd name="connsiteY53" fmla="*/ 514116 h 607992"/>
                <a:gd name="connsiteX54" fmla="*/ 348683 w 447737"/>
                <a:gd name="connsiteY54" fmla="*/ 536433 h 607992"/>
                <a:gd name="connsiteX55" fmla="*/ 397371 w 447737"/>
                <a:gd name="connsiteY55" fmla="*/ 536433 h 607992"/>
                <a:gd name="connsiteX56" fmla="*/ 408493 w 447737"/>
                <a:gd name="connsiteY56" fmla="*/ 547643 h 607992"/>
                <a:gd name="connsiteX57" fmla="*/ 397371 w 447737"/>
                <a:gd name="connsiteY57" fmla="*/ 558749 h 607992"/>
                <a:gd name="connsiteX58" fmla="*/ 359806 w 447737"/>
                <a:gd name="connsiteY58" fmla="*/ 558749 h 607992"/>
                <a:gd name="connsiteX59" fmla="*/ 376594 w 447737"/>
                <a:gd name="connsiteY59" fmla="*/ 591752 h 607992"/>
                <a:gd name="connsiteX60" fmla="*/ 371558 w 447737"/>
                <a:gd name="connsiteY60" fmla="*/ 606839 h 607992"/>
                <a:gd name="connsiteX61" fmla="*/ 366521 w 447737"/>
                <a:gd name="connsiteY61" fmla="*/ 607992 h 607992"/>
                <a:gd name="connsiteX62" fmla="*/ 356448 w 447737"/>
                <a:gd name="connsiteY62" fmla="*/ 601810 h 607992"/>
                <a:gd name="connsiteX63" fmla="*/ 334622 w 447737"/>
                <a:gd name="connsiteY63" fmla="*/ 558749 h 607992"/>
                <a:gd name="connsiteX64" fmla="*/ 115318 w 447737"/>
                <a:gd name="connsiteY64" fmla="*/ 558749 h 607992"/>
                <a:gd name="connsiteX65" fmla="*/ 93493 w 447737"/>
                <a:gd name="connsiteY65" fmla="*/ 601810 h 607992"/>
                <a:gd name="connsiteX66" fmla="*/ 83419 w 447737"/>
                <a:gd name="connsiteY66" fmla="*/ 607992 h 607992"/>
                <a:gd name="connsiteX67" fmla="*/ 78383 w 447737"/>
                <a:gd name="connsiteY67" fmla="*/ 606839 h 607992"/>
                <a:gd name="connsiteX68" fmla="*/ 73346 w 447737"/>
                <a:gd name="connsiteY68" fmla="*/ 591752 h 607992"/>
                <a:gd name="connsiteX69" fmla="*/ 90135 w 447737"/>
                <a:gd name="connsiteY69" fmla="*/ 558749 h 607992"/>
                <a:gd name="connsiteX70" fmla="*/ 50366 w 447737"/>
                <a:gd name="connsiteY70" fmla="*/ 558749 h 607992"/>
                <a:gd name="connsiteX71" fmla="*/ 39139 w 447737"/>
                <a:gd name="connsiteY71" fmla="*/ 547643 h 607992"/>
                <a:gd name="connsiteX72" fmla="*/ 50366 w 447737"/>
                <a:gd name="connsiteY72" fmla="*/ 536433 h 607992"/>
                <a:gd name="connsiteX73" fmla="*/ 101258 w 447737"/>
                <a:gd name="connsiteY73" fmla="*/ 536433 h 607992"/>
                <a:gd name="connsiteX74" fmla="*/ 112485 w 447737"/>
                <a:gd name="connsiteY74" fmla="*/ 514116 h 607992"/>
                <a:gd name="connsiteX75" fmla="*/ 61594 w 447737"/>
                <a:gd name="connsiteY75" fmla="*/ 514116 h 607992"/>
                <a:gd name="connsiteX76" fmla="*/ 0 w 447737"/>
                <a:gd name="connsiteY76" fmla="*/ 458168 h 607992"/>
                <a:gd name="connsiteX77" fmla="*/ 0 w 447737"/>
                <a:gd name="connsiteY77" fmla="*/ 55843 h 607992"/>
                <a:gd name="connsiteX78" fmla="*/ 55928 w 447737"/>
                <a:gd name="connsiteY78" fmla="*/ 0 h 607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447737" h="607992">
                  <a:moveTo>
                    <a:pt x="137668" y="514116"/>
                  </a:moveTo>
                  <a:lnTo>
                    <a:pt x="126441" y="536433"/>
                  </a:lnTo>
                  <a:lnTo>
                    <a:pt x="323500" y="536433"/>
                  </a:lnTo>
                  <a:lnTo>
                    <a:pt x="311748" y="514116"/>
                  </a:lnTo>
                  <a:close/>
                  <a:moveTo>
                    <a:pt x="335750" y="396765"/>
                  </a:moveTo>
                  <a:cubicBezTo>
                    <a:pt x="329557" y="396765"/>
                    <a:pt x="324519" y="401793"/>
                    <a:pt x="324519" y="407869"/>
                  </a:cubicBezTo>
                  <a:cubicBezTo>
                    <a:pt x="324519" y="414048"/>
                    <a:pt x="329557" y="419076"/>
                    <a:pt x="335750" y="419076"/>
                  </a:cubicBezTo>
                  <a:cubicBezTo>
                    <a:pt x="341943" y="419076"/>
                    <a:pt x="346981" y="414048"/>
                    <a:pt x="346981" y="407869"/>
                  </a:cubicBezTo>
                  <a:cubicBezTo>
                    <a:pt x="346981" y="401793"/>
                    <a:pt x="341943" y="396765"/>
                    <a:pt x="335750" y="396765"/>
                  </a:cubicBezTo>
                  <a:close/>
                  <a:moveTo>
                    <a:pt x="111952" y="396765"/>
                  </a:moveTo>
                  <a:cubicBezTo>
                    <a:pt x="105765" y="396765"/>
                    <a:pt x="100732" y="401793"/>
                    <a:pt x="100732" y="407869"/>
                  </a:cubicBezTo>
                  <a:cubicBezTo>
                    <a:pt x="100732" y="414048"/>
                    <a:pt x="105765" y="419076"/>
                    <a:pt x="111952" y="419076"/>
                  </a:cubicBezTo>
                  <a:cubicBezTo>
                    <a:pt x="118034" y="419076"/>
                    <a:pt x="123067" y="414048"/>
                    <a:pt x="123067" y="407869"/>
                  </a:cubicBezTo>
                  <a:cubicBezTo>
                    <a:pt x="123067" y="401793"/>
                    <a:pt x="118034" y="396765"/>
                    <a:pt x="111952" y="396765"/>
                  </a:cubicBezTo>
                  <a:close/>
                  <a:moveTo>
                    <a:pt x="335750" y="374350"/>
                  </a:moveTo>
                  <a:cubicBezTo>
                    <a:pt x="354224" y="374350"/>
                    <a:pt x="369339" y="389433"/>
                    <a:pt x="369339" y="407869"/>
                  </a:cubicBezTo>
                  <a:cubicBezTo>
                    <a:pt x="369339" y="426304"/>
                    <a:pt x="354224" y="441387"/>
                    <a:pt x="335750" y="441387"/>
                  </a:cubicBezTo>
                  <a:cubicBezTo>
                    <a:pt x="317276" y="441387"/>
                    <a:pt x="302161" y="426304"/>
                    <a:pt x="302161" y="407869"/>
                  </a:cubicBezTo>
                  <a:cubicBezTo>
                    <a:pt x="302161" y="389433"/>
                    <a:pt x="317276" y="374350"/>
                    <a:pt x="335750" y="374350"/>
                  </a:cubicBezTo>
                  <a:close/>
                  <a:moveTo>
                    <a:pt x="111952" y="374350"/>
                  </a:moveTo>
                  <a:cubicBezTo>
                    <a:pt x="130407" y="374350"/>
                    <a:pt x="145506" y="389433"/>
                    <a:pt x="145506" y="407869"/>
                  </a:cubicBezTo>
                  <a:cubicBezTo>
                    <a:pt x="145506" y="426304"/>
                    <a:pt x="130407" y="441387"/>
                    <a:pt x="111952" y="441387"/>
                  </a:cubicBezTo>
                  <a:cubicBezTo>
                    <a:pt x="93497" y="441387"/>
                    <a:pt x="78398" y="426304"/>
                    <a:pt x="78398" y="407869"/>
                  </a:cubicBezTo>
                  <a:cubicBezTo>
                    <a:pt x="78398" y="389433"/>
                    <a:pt x="93497" y="374350"/>
                    <a:pt x="111952" y="374350"/>
                  </a:cubicBezTo>
                  <a:close/>
                  <a:moveTo>
                    <a:pt x="22350" y="357587"/>
                  </a:moveTo>
                  <a:lnTo>
                    <a:pt x="22350" y="458168"/>
                  </a:lnTo>
                  <a:cubicBezTo>
                    <a:pt x="22350" y="476608"/>
                    <a:pt x="43651" y="491695"/>
                    <a:pt x="61594" y="491695"/>
                  </a:cubicBezTo>
                  <a:lnTo>
                    <a:pt x="391704" y="491695"/>
                  </a:lnTo>
                  <a:cubicBezTo>
                    <a:pt x="410172" y="491695"/>
                    <a:pt x="425282" y="476608"/>
                    <a:pt x="425282" y="458168"/>
                  </a:cubicBezTo>
                  <a:lnTo>
                    <a:pt x="425282" y="357587"/>
                  </a:lnTo>
                  <a:close/>
                  <a:moveTo>
                    <a:pt x="369344" y="89336"/>
                  </a:moveTo>
                  <a:lnTo>
                    <a:pt x="386128" y="89336"/>
                  </a:lnTo>
                  <a:cubicBezTo>
                    <a:pt x="392318" y="89336"/>
                    <a:pt x="397353" y="94369"/>
                    <a:pt x="397353" y="100556"/>
                  </a:cubicBezTo>
                  <a:cubicBezTo>
                    <a:pt x="397353" y="106743"/>
                    <a:pt x="392318" y="111776"/>
                    <a:pt x="386128" y="111776"/>
                  </a:cubicBezTo>
                  <a:lnTo>
                    <a:pt x="369344" y="111776"/>
                  </a:lnTo>
                  <a:cubicBezTo>
                    <a:pt x="363154" y="111776"/>
                    <a:pt x="358119" y="106743"/>
                    <a:pt x="358119" y="100556"/>
                  </a:cubicBezTo>
                  <a:cubicBezTo>
                    <a:pt x="358119" y="94369"/>
                    <a:pt x="363154" y="89336"/>
                    <a:pt x="369344" y="89336"/>
                  </a:cubicBezTo>
                  <a:close/>
                  <a:moveTo>
                    <a:pt x="55928" y="22316"/>
                  </a:moveTo>
                  <a:cubicBezTo>
                    <a:pt x="37460" y="22316"/>
                    <a:pt x="22350" y="37404"/>
                    <a:pt x="22350" y="55843"/>
                  </a:cubicBezTo>
                  <a:lnTo>
                    <a:pt x="22350" y="89371"/>
                  </a:lnTo>
                  <a:lnTo>
                    <a:pt x="318988" y="89371"/>
                  </a:lnTo>
                  <a:cubicBezTo>
                    <a:pt x="325179" y="89371"/>
                    <a:pt x="330215" y="94400"/>
                    <a:pt x="330215" y="100581"/>
                  </a:cubicBezTo>
                  <a:cubicBezTo>
                    <a:pt x="330215" y="106763"/>
                    <a:pt x="325179" y="111792"/>
                    <a:pt x="318988" y="111792"/>
                  </a:cubicBezTo>
                  <a:lnTo>
                    <a:pt x="22350" y="111792"/>
                  </a:lnTo>
                  <a:lnTo>
                    <a:pt x="22350" y="335270"/>
                  </a:lnTo>
                  <a:lnTo>
                    <a:pt x="425282" y="335270"/>
                  </a:lnTo>
                  <a:lnTo>
                    <a:pt x="425282" y="55843"/>
                  </a:lnTo>
                  <a:cubicBezTo>
                    <a:pt x="425282" y="37404"/>
                    <a:pt x="410172" y="22316"/>
                    <a:pt x="391704" y="22316"/>
                  </a:cubicBezTo>
                  <a:close/>
                  <a:moveTo>
                    <a:pt x="55928" y="0"/>
                  </a:moveTo>
                  <a:lnTo>
                    <a:pt x="391704" y="0"/>
                  </a:lnTo>
                  <a:cubicBezTo>
                    <a:pt x="422554" y="0"/>
                    <a:pt x="447737" y="25145"/>
                    <a:pt x="447737" y="55843"/>
                  </a:cubicBezTo>
                  <a:lnTo>
                    <a:pt x="447737" y="458168"/>
                  </a:lnTo>
                  <a:cubicBezTo>
                    <a:pt x="447737" y="488971"/>
                    <a:pt x="422554" y="514116"/>
                    <a:pt x="391704" y="514116"/>
                  </a:cubicBezTo>
                  <a:lnTo>
                    <a:pt x="337455" y="514116"/>
                  </a:lnTo>
                  <a:lnTo>
                    <a:pt x="348683" y="536433"/>
                  </a:lnTo>
                  <a:lnTo>
                    <a:pt x="397371" y="536433"/>
                  </a:lnTo>
                  <a:cubicBezTo>
                    <a:pt x="403456" y="536433"/>
                    <a:pt x="408493" y="541462"/>
                    <a:pt x="408493" y="547643"/>
                  </a:cubicBezTo>
                  <a:cubicBezTo>
                    <a:pt x="408493" y="553720"/>
                    <a:pt x="403456" y="558749"/>
                    <a:pt x="397371" y="558749"/>
                  </a:cubicBezTo>
                  <a:lnTo>
                    <a:pt x="359806" y="558749"/>
                  </a:lnTo>
                  <a:lnTo>
                    <a:pt x="376594" y="591752"/>
                  </a:lnTo>
                  <a:cubicBezTo>
                    <a:pt x="379427" y="597305"/>
                    <a:pt x="377224" y="604011"/>
                    <a:pt x="371558" y="606839"/>
                  </a:cubicBezTo>
                  <a:cubicBezTo>
                    <a:pt x="369879" y="607363"/>
                    <a:pt x="368200" y="607992"/>
                    <a:pt x="366521" y="607992"/>
                  </a:cubicBezTo>
                  <a:cubicBezTo>
                    <a:pt x="362639" y="607992"/>
                    <a:pt x="358756" y="605687"/>
                    <a:pt x="356448" y="601810"/>
                  </a:cubicBezTo>
                  <a:lnTo>
                    <a:pt x="334622" y="558749"/>
                  </a:lnTo>
                  <a:lnTo>
                    <a:pt x="115318" y="558749"/>
                  </a:lnTo>
                  <a:lnTo>
                    <a:pt x="93493" y="601810"/>
                  </a:lnTo>
                  <a:cubicBezTo>
                    <a:pt x="91184" y="605687"/>
                    <a:pt x="87302" y="607992"/>
                    <a:pt x="83419" y="607992"/>
                  </a:cubicBezTo>
                  <a:cubicBezTo>
                    <a:pt x="81741" y="607992"/>
                    <a:pt x="80062" y="607363"/>
                    <a:pt x="78383" y="606839"/>
                  </a:cubicBezTo>
                  <a:cubicBezTo>
                    <a:pt x="72717" y="604011"/>
                    <a:pt x="70513" y="597305"/>
                    <a:pt x="73346" y="591752"/>
                  </a:cubicBezTo>
                  <a:lnTo>
                    <a:pt x="90135" y="558749"/>
                  </a:lnTo>
                  <a:lnTo>
                    <a:pt x="50366" y="558749"/>
                  </a:lnTo>
                  <a:cubicBezTo>
                    <a:pt x="44176" y="558749"/>
                    <a:pt x="39139" y="553720"/>
                    <a:pt x="39139" y="547643"/>
                  </a:cubicBezTo>
                  <a:cubicBezTo>
                    <a:pt x="39139" y="541462"/>
                    <a:pt x="44176" y="536433"/>
                    <a:pt x="50366" y="536433"/>
                  </a:cubicBezTo>
                  <a:lnTo>
                    <a:pt x="101258" y="536433"/>
                  </a:lnTo>
                  <a:lnTo>
                    <a:pt x="112485" y="514116"/>
                  </a:lnTo>
                  <a:lnTo>
                    <a:pt x="61594" y="514116"/>
                  </a:lnTo>
                  <a:cubicBezTo>
                    <a:pt x="32423" y="514116"/>
                    <a:pt x="0" y="490019"/>
                    <a:pt x="0" y="458168"/>
                  </a:cubicBezTo>
                  <a:lnTo>
                    <a:pt x="0" y="55843"/>
                  </a:lnTo>
                  <a:cubicBezTo>
                    <a:pt x="0" y="25145"/>
                    <a:pt x="25183" y="0"/>
                    <a:pt x="5592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grpSp>
        <p:nvGrpSpPr>
          <p:cNvPr id="179" name="组合 178"/>
          <p:cNvGrpSpPr/>
          <p:nvPr/>
        </p:nvGrpSpPr>
        <p:grpSpPr>
          <a:xfrm>
            <a:off x="3000026" y="5627232"/>
            <a:ext cx="503817" cy="501860"/>
            <a:chOff x="2991631" y="5627232"/>
            <a:chExt cx="503817" cy="501860"/>
          </a:xfrm>
        </p:grpSpPr>
        <p:sp>
          <p:nvSpPr>
            <p:cNvPr id="55" name="文本框 54"/>
            <p:cNvSpPr txBox="1"/>
            <p:nvPr/>
          </p:nvSpPr>
          <p:spPr>
            <a:xfrm>
              <a:off x="2991631" y="5910211"/>
              <a:ext cx="503817" cy="218881"/>
            </a:xfrm>
            <a:prstGeom prst="rect">
              <a:avLst/>
            </a:prstGeom>
            <a:noFill/>
          </p:spPr>
          <p:txBody>
            <a:bodyPr wrap="square" lIns="72000" tIns="0" rIns="72000" bIns="0" anchor="ctr" anchorCtr="0">
              <a:noAutofit/>
            </a:bodyPr>
            <a:lstStyle/>
            <a:p>
              <a:pPr algn="ctr"/>
              <a:r>
                <a:rPr lang="zh-CN" altLang="en-US" sz="1000" dirty="0">
                  <a:solidFill>
                    <a:srgbClr val="000000"/>
                  </a:solidFill>
                  <a:latin typeface="微软雅黑" panose="020B0503020204020204" charset="-122"/>
                  <a:ea typeface="微软雅黑" panose="020B0503020204020204" charset="-122"/>
                </a:rPr>
                <a:t>制造</a:t>
              </a:r>
              <a:endParaRPr lang="zh-CN" altLang="en-US" sz="1000" dirty="0">
                <a:solidFill>
                  <a:srgbClr val="000000"/>
                </a:solidFill>
                <a:latin typeface="微软雅黑" panose="020B0503020204020204" charset="-122"/>
                <a:ea typeface="微软雅黑" panose="020B0503020204020204" charset="-122"/>
              </a:endParaRPr>
            </a:p>
          </p:txBody>
        </p:sp>
        <p:sp>
          <p:nvSpPr>
            <p:cNvPr id="170" name="factory_93604"/>
            <p:cNvSpPr/>
            <p:nvPr/>
          </p:nvSpPr>
          <p:spPr>
            <a:xfrm>
              <a:off x="3085237" y="5627232"/>
              <a:ext cx="316604" cy="289010"/>
            </a:xfrm>
            <a:custGeom>
              <a:avLst/>
              <a:gdLst>
                <a:gd name="T0" fmla="*/ 53 w 2983"/>
                <a:gd name="T1" fmla="*/ 2727 h 2727"/>
                <a:gd name="T2" fmla="*/ 0 w 2983"/>
                <a:gd name="T3" fmla="*/ 1672 h 2727"/>
                <a:gd name="T4" fmla="*/ 385 w 2983"/>
                <a:gd name="T5" fmla="*/ 1474 h 2727"/>
                <a:gd name="T6" fmla="*/ 469 w 2983"/>
                <a:gd name="T7" fmla="*/ 0 h 2727"/>
                <a:gd name="T8" fmla="*/ 809 w 2983"/>
                <a:gd name="T9" fmla="*/ 52 h 2727"/>
                <a:gd name="T10" fmla="*/ 986 w 2983"/>
                <a:gd name="T11" fmla="*/ 1524 h 2727"/>
                <a:gd name="T12" fmla="*/ 1063 w 2983"/>
                <a:gd name="T13" fmla="*/ 355 h 2727"/>
                <a:gd name="T14" fmla="*/ 1348 w 2983"/>
                <a:gd name="T15" fmla="*/ 407 h 2727"/>
                <a:gd name="T16" fmla="*/ 1471 w 2983"/>
                <a:gd name="T17" fmla="*/ 1320 h 2727"/>
                <a:gd name="T18" fmla="*/ 1545 w 2983"/>
                <a:gd name="T19" fmla="*/ 1369 h 2727"/>
                <a:gd name="T20" fmla="*/ 2190 w 2983"/>
                <a:gd name="T21" fmla="*/ 1320 h 2727"/>
                <a:gd name="T22" fmla="*/ 2264 w 2983"/>
                <a:gd name="T23" fmla="*/ 1369 h 2727"/>
                <a:gd name="T24" fmla="*/ 2908 w 2983"/>
                <a:gd name="T25" fmla="*/ 1320 h 2727"/>
                <a:gd name="T26" fmla="*/ 2983 w 2983"/>
                <a:gd name="T27" fmla="*/ 1369 h 2727"/>
                <a:gd name="T28" fmla="*/ 2929 w 2983"/>
                <a:gd name="T29" fmla="*/ 2727 h 2727"/>
                <a:gd name="T30" fmla="*/ 2876 w 2983"/>
                <a:gd name="T31" fmla="*/ 2620 h 2727"/>
                <a:gd name="T32" fmla="*/ 2231 w 2983"/>
                <a:gd name="T33" fmla="*/ 1721 h 2727"/>
                <a:gd name="T34" fmla="*/ 2157 w 2983"/>
                <a:gd name="T35" fmla="*/ 1672 h 2727"/>
                <a:gd name="T36" fmla="*/ 1512 w 2983"/>
                <a:gd name="T37" fmla="*/ 1721 h 2727"/>
                <a:gd name="T38" fmla="*/ 1438 w 2983"/>
                <a:gd name="T39" fmla="*/ 1672 h 2727"/>
                <a:gd name="T40" fmla="*/ 1338 w 2983"/>
                <a:gd name="T41" fmla="*/ 1491 h 2727"/>
                <a:gd name="T42" fmla="*/ 812 w 2983"/>
                <a:gd name="T43" fmla="*/ 1713 h 2727"/>
                <a:gd name="T44" fmla="*/ 793 w 2983"/>
                <a:gd name="T45" fmla="*/ 1721 h 2727"/>
                <a:gd name="T46" fmla="*/ 719 w 2983"/>
                <a:gd name="T47" fmla="*/ 1672 h 2727"/>
                <a:gd name="T48" fmla="*/ 107 w 2983"/>
                <a:gd name="T49" fmla="*/ 1707 h 2727"/>
                <a:gd name="T50" fmla="*/ 1116 w 2983"/>
                <a:gd name="T51" fmla="*/ 462 h 2727"/>
                <a:gd name="T52" fmla="*/ 1263 w 2983"/>
                <a:gd name="T53" fmla="*/ 1407 h 2727"/>
                <a:gd name="T54" fmla="*/ 1116 w 2983"/>
                <a:gd name="T55" fmla="*/ 462 h 2727"/>
                <a:gd name="T56" fmla="*/ 492 w 2983"/>
                <a:gd name="T57" fmla="*/ 1429 h 2727"/>
                <a:gd name="T58" fmla="*/ 704 w 2983"/>
                <a:gd name="T59" fmla="*/ 107 h 2727"/>
                <a:gd name="T60" fmla="*/ 1537 w 2983"/>
                <a:gd name="T61" fmla="*/ 2300 h 2727"/>
                <a:gd name="T62" fmla="*/ 1484 w 2983"/>
                <a:gd name="T63" fmla="*/ 1989 h 2727"/>
                <a:gd name="T64" fmla="*/ 1591 w 2983"/>
                <a:gd name="T65" fmla="*/ 1989 h 2727"/>
                <a:gd name="T66" fmla="*/ 1537 w 2983"/>
                <a:gd name="T67" fmla="*/ 2300 h 2727"/>
                <a:gd name="T68" fmla="*/ 1111 w 2983"/>
                <a:gd name="T69" fmla="*/ 2247 h 2727"/>
                <a:gd name="T70" fmla="*/ 1164 w 2983"/>
                <a:gd name="T71" fmla="*/ 1936 h 2727"/>
                <a:gd name="T72" fmla="*/ 1218 w 2983"/>
                <a:gd name="T73" fmla="*/ 2247 h 2727"/>
                <a:gd name="T74" fmla="*/ 791 w 2983"/>
                <a:gd name="T75" fmla="*/ 2300 h 2727"/>
                <a:gd name="T76" fmla="*/ 738 w 2983"/>
                <a:gd name="T77" fmla="*/ 1989 h 2727"/>
                <a:gd name="T78" fmla="*/ 844 w 2983"/>
                <a:gd name="T79" fmla="*/ 1989 h 2727"/>
                <a:gd name="T80" fmla="*/ 791 w 2983"/>
                <a:gd name="T81" fmla="*/ 2300 h 2727"/>
                <a:gd name="T82" fmla="*/ 365 w 2983"/>
                <a:gd name="T83" fmla="*/ 2247 h 2727"/>
                <a:gd name="T84" fmla="*/ 418 w 2983"/>
                <a:gd name="T85" fmla="*/ 1936 h 2727"/>
                <a:gd name="T86" fmla="*/ 471 w 2983"/>
                <a:gd name="T87" fmla="*/ 2247 h 2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983" h="2727">
                  <a:moveTo>
                    <a:pt x="2929" y="2727"/>
                  </a:moveTo>
                  <a:lnTo>
                    <a:pt x="53" y="2727"/>
                  </a:lnTo>
                  <a:cubicBezTo>
                    <a:pt x="24" y="2727"/>
                    <a:pt x="0" y="2703"/>
                    <a:pt x="0" y="2673"/>
                  </a:cubicBezTo>
                  <a:lnTo>
                    <a:pt x="0" y="1672"/>
                  </a:lnTo>
                  <a:cubicBezTo>
                    <a:pt x="0" y="1651"/>
                    <a:pt x="13" y="1631"/>
                    <a:pt x="33" y="1623"/>
                  </a:cubicBezTo>
                  <a:lnTo>
                    <a:pt x="385" y="1474"/>
                  </a:lnTo>
                  <a:lnTo>
                    <a:pt x="416" y="52"/>
                  </a:lnTo>
                  <a:cubicBezTo>
                    <a:pt x="417" y="23"/>
                    <a:pt x="440" y="0"/>
                    <a:pt x="469" y="0"/>
                  </a:cubicBezTo>
                  <a:lnTo>
                    <a:pt x="756" y="0"/>
                  </a:lnTo>
                  <a:cubicBezTo>
                    <a:pt x="785" y="0"/>
                    <a:pt x="809" y="23"/>
                    <a:pt x="809" y="52"/>
                  </a:cubicBezTo>
                  <a:lnTo>
                    <a:pt x="843" y="1584"/>
                  </a:lnTo>
                  <a:lnTo>
                    <a:pt x="986" y="1524"/>
                  </a:lnTo>
                  <a:lnTo>
                    <a:pt x="1010" y="407"/>
                  </a:lnTo>
                  <a:cubicBezTo>
                    <a:pt x="1011" y="378"/>
                    <a:pt x="1034" y="355"/>
                    <a:pt x="1063" y="355"/>
                  </a:cubicBezTo>
                  <a:lnTo>
                    <a:pt x="1294" y="355"/>
                  </a:lnTo>
                  <a:cubicBezTo>
                    <a:pt x="1323" y="355"/>
                    <a:pt x="1347" y="378"/>
                    <a:pt x="1348" y="407"/>
                  </a:cubicBezTo>
                  <a:lnTo>
                    <a:pt x="1369" y="1363"/>
                  </a:lnTo>
                  <a:lnTo>
                    <a:pt x="1471" y="1320"/>
                  </a:lnTo>
                  <a:cubicBezTo>
                    <a:pt x="1487" y="1313"/>
                    <a:pt x="1506" y="1314"/>
                    <a:pt x="1521" y="1324"/>
                  </a:cubicBezTo>
                  <a:cubicBezTo>
                    <a:pt x="1536" y="1334"/>
                    <a:pt x="1545" y="1351"/>
                    <a:pt x="1545" y="1369"/>
                  </a:cubicBezTo>
                  <a:lnTo>
                    <a:pt x="1545" y="1592"/>
                  </a:lnTo>
                  <a:lnTo>
                    <a:pt x="2190" y="1320"/>
                  </a:lnTo>
                  <a:cubicBezTo>
                    <a:pt x="2206" y="1313"/>
                    <a:pt x="2225" y="1315"/>
                    <a:pt x="2240" y="1324"/>
                  </a:cubicBezTo>
                  <a:cubicBezTo>
                    <a:pt x="2255" y="1334"/>
                    <a:pt x="2264" y="1351"/>
                    <a:pt x="2264" y="1369"/>
                  </a:cubicBezTo>
                  <a:lnTo>
                    <a:pt x="2264" y="1592"/>
                  </a:lnTo>
                  <a:lnTo>
                    <a:pt x="2908" y="1320"/>
                  </a:lnTo>
                  <a:cubicBezTo>
                    <a:pt x="2925" y="1313"/>
                    <a:pt x="2944" y="1315"/>
                    <a:pt x="2959" y="1324"/>
                  </a:cubicBezTo>
                  <a:cubicBezTo>
                    <a:pt x="2974" y="1334"/>
                    <a:pt x="2983" y="1351"/>
                    <a:pt x="2983" y="1369"/>
                  </a:cubicBezTo>
                  <a:lnTo>
                    <a:pt x="2983" y="2673"/>
                  </a:lnTo>
                  <a:cubicBezTo>
                    <a:pt x="2983" y="2703"/>
                    <a:pt x="2959" y="2727"/>
                    <a:pt x="2929" y="2727"/>
                  </a:cubicBezTo>
                  <a:close/>
                  <a:moveTo>
                    <a:pt x="107" y="2620"/>
                  </a:moveTo>
                  <a:lnTo>
                    <a:pt x="2876" y="2620"/>
                  </a:lnTo>
                  <a:lnTo>
                    <a:pt x="2876" y="1449"/>
                  </a:lnTo>
                  <a:lnTo>
                    <a:pt x="2231" y="1721"/>
                  </a:lnTo>
                  <a:cubicBezTo>
                    <a:pt x="2215" y="1728"/>
                    <a:pt x="2196" y="1726"/>
                    <a:pt x="2181" y="1716"/>
                  </a:cubicBezTo>
                  <a:cubicBezTo>
                    <a:pt x="2166" y="1707"/>
                    <a:pt x="2157" y="1690"/>
                    <a:pt x="2157" y="1672"/>
                  </a:cubicBezTo>
                  <a:lnTo>
                    <a:pt x="2157" y="1449"/>
                  </a:lnTo>
                  <a:lnTo>
                    <a:pt x="1512" y="1721"/>
                  </a:lnTo>
                  <a:cubicBezTo>
                    <a:pt x="1496" y="1728"/>
                    <a:pt x="1477" y="1726"/>
                    <a:pt x="1462" y="1716"/>
                  </a:cubicBezTo>
                  <a:cubicBezTo>
                    <a:pt x="1447" y="1707"/>
                    <a:pt x="1438" y="1690"/>
                    <a:pt x="1438" y="1672"/>
                  </a:cubicBezTo>
                  <a:lnTo>
                    <a:pt x="1438" y="1449"/>
                  </a:lnTo>
                  <a:lnTo>
                    <a:pt x="1338" y="1491"/>
                  </a:lnTo>
                  <a:cubicBezTo>
                    <a:pt x="1338" y="1491"/>
                    <a:pt x="1338" y="1491"/>
                    <a:pt x="1338" y="1491"/>
                  </a:cubicBezTo>
                  <a:lnTo>
                    <a:pt x="812" y="1713"/>
                  </a:lnTo>
                  <a:cubicBezTo>
                    <a:pt x="812" y="1713"/>
                    <a:pt x="812" y="1713"/>
                    <a:pt x="812" y="1713"/>
                  </a:cubicBezTo>
                  <a:lnTo>
                    <a:pt x="793" y="1721"/>
                  </a:lnTo>
                  <a:cubicBezTo>
                    <a:pt x="777" y="1728"/>
                    <a:pt x="758" y="1726"/>
                    <a:pt x="743" y="1716"/>
                  </a:cubicBezTo>
                  <a:cubicBezTo>
                    <a:pt x="728" y="1707"/>
                    <a:pt x="719" y="1690"/>
                    <a:pt x="719" y="1672"/>
                  </a:cubicBezTo>
                  <a:lnTo>
                    <a:pt x="719" y="1449"/>
                  </a:lnTo>
                  <a:lnTo>
                    <a:pt x="107" y="1707"/>
                  </a:lnTo>
                  <a:lnTo>
                    <a:pt x="107" y="2620"/>
                  </a:lnTo>
                  <a:close/>
                  <a:moveTo>
                    <a:pt x="1116" y="462"/>
                  </a:moveTo>
                  <a:lnTo>
                    <a:pt x="1093" y="1479"/>
                  </a:lnTo>
                  <a:lnTo>
                    <a:pt x="1263" y="1407"/>
                  </a:lnTo>
                  <a:lnTo>
                    <a:pt x="1242" y="462"/>
                  </a:lnTo>
                  <a:lnTo>
                    <a:pt x="1116" y="462"/>
                  </a:lnTo>
                  <a:close/>
                  <a:moveTo>
                    <a:pt x="521" y="107"/>
                  </a:moveTo>
                  <a:lnTo>
                    <a:pt x="492" y="1429"/>
                  </a:lnTo>
                  <a:lnTo>
                    <a:pt x="730" y="1329"/>
                  </a:lnTo>
                  <a:lnTo>
                    <a:pt x="704" y="107"/>
                  </a:lnTo>
                  <a:lnTo>
                    <a:pt x="521" y="107"/>
                  </a:lnTo>
                  <a:close/>
                  <a:moveTo>
                    <a:pt x="1537" y="2300"/>
                  </a:moveTo>
                  <a:cubicBezTo>
                    <a:pt x="1508" y="2300"/>
                    <a:pt x="1484" y="2276"/>
                    <a:pt x="1484" y="2247"/>
                  </a:cubicBezTo>
                  <a:lnTo>
                    <a:pt x="1484" y="1989"/>
                  </a:lnTo>
                  <a:cubicBezTo>
                    <a:pt x="1484" y="1959"/>
                    <a:pt x="1508" y="1936"/>
                    <a:pt x="1537" y="1936"/>
                  </a:cubicBezTo>
                  <a:cubicBezTo>
                    <a:pt x="1567" y="1936"/>
                    <a:pt x="1591" y="1959"/>
                    <a:pt x="1591" y="1989"/>
                  </a:cubicBezTo>
                  <a:lnTo>
                    <a:pt x="1591" y="2247"/>
                  </a:lnTo>
                  <a:cubicBezTo>
                    <a:pt x="1591" y="2276"/>
                    <a:pt x="1567" y="2300"/>
                    <a:pt x="1537" y="2300"/>
                  </a:cubicBezTo>
                  <a:close/>
                  <a:moveTo>
                    <a:pt x="1164" y="2300"/>
                  </a:moveTo>
                  <a:cubicBezTo>
                    <a:pt x="1135" y="2300"/>
                    <a:pt x="1111" y="2276"/>
                    <a:pt x="1111" y="2247"/>
                  </a:cubicBezTo>
                  <a:lnTo>
                    <a:pt x="1111" y="1989"/>
                  </a:lnTo>
                  <a:cubicBezTo>
                    <a:pt x="1111" y="1959"/>
                    <a:pt x="1135" y="1936"/>
                    <a:pt x="1164" y="1936"/>
                  </a:cubicBezTo>
                  <a:cubicBezTo>
                    <a:pt x="1194" y="1936"/>
                    <a:pt x="1218" y="1959"/>
                    <a:pt x="1218" y="1989"/>
                  </a:cubicBezTo>
                  <a:lnTo>
                    <a:pt x="1218" y="2247"/>
                  </a:lnTo>
                  <a:cubicBezTo>
                    <a:pt x="1218" y="2276"/>
                    <a:pt x="1194" y="2300"/>
                    <a:pt x="1164" y="2300"/>
                  </a:cubicBezTo>
                  <a:close/>
                  <a:moveTo>
                    <a:pt x="791" y="2300"/>
                  </a:moveTo>
                  <a:cubicBezTo>
                    <a:pt x="762" y="2300"/>
                    <a:pt x="738" y="2276"/>
                    <a:pt x="738" y="2247"/>
                  </a:cubicBezTo>
                  <a:lnTo>
                    <a:pt x="738" y="1989"/>
                  </a:lnTo>
                  <a:cubicBezTo>
                    <a:pt x="738" y="1959"/>
                    <a:pt x="762" y="1936"/>
                    <a:pt x="791" y="1936"/>
                  </a:cubicBezTo>
                  <a:cubicBezTo>
                    <a:pt x="821" y="1936"/>
                    <a:pt x="844" y="1959"/>
                    <a:pt x="844" y="1989"/>
                  </a:cubicBezTo>
                  <a:lnTo>
                    <a:pt x="844" y="2247"/>
                  </a:lnTo>
                  <a:cubicBezTo>
                    <a:pt x="844" y="2276"/>
                    <a:pt x="821" y="2300"/>
                    <a:pt x="791" y="2300"/>
                  </a:cubicBezTo>
                  <a:close/>
                  <a:moveTo>
                    <a:pt x="418" y="2300"/>
                  </a:moveTo>
                  <a:cubicBezTo>
                    <a:pt x="389" y="2300"/>
                    <a:pt x="365" y="2276"/>
                    <a:pt x="365" y="2247"/>
                  </a:cubicBezTo>
                  <a:lnTo>
                    <a:pt x="365" y="1989"/>
                  </a:lnTo>
                  <a:cubicBezTo>
                    <a:pt x="365" y="1959"/>
                    <a:pt x="389" y="1936"/>
                    <a:pt x="418" y="1936"/>
                  </a:cubicBezTo>
                  <a:cubicBezTo>
                    <a:pt x="448" y="1936"/>
                    <a:pt x="471" y="1959"/>
                    <a:pt x="471" y="1989"/>
                  </a:cubicBezTo>
                  <a:lnTo>
                    <a:pt x="471" y="2247"/>
                  </a:lnTo>
                  <a:cubicBezTo>
                    <a:pt x="471" y="2276"/>
                    <a:pt x="448" y="2300"/>
                    <a:pt x="418" y="230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grpSp>
        <p:nvGrpSpPr>
          <p:cNvPr id="177" name="组合 176"/>
          <p:cNvGrpSpPr/>
          <p:nvPr/>
        </p:nvGrpSpPr>
        <p:grpSpPr>
          <a:xfrm>
            <a:off x="4100530" y="5613435"/>
            <a:ext cx="503817" cy="515657"/>
            <a:chOff x="4100530" y="5613435"/>
            <a:chExt cx="503817" cy="515657"/>
          </a:xfrm>
        </p:grpSpPr>
        <p:sp>
          <p:nvSpPr>
            <p:cNvPr id="57" name="文本框 56"/>
            <p:cNvSpPr txBox="1"/>
            <p:nvPr/>
          </p:nvSpPr>
          <p:spPr>
            <a:xfrm>
              <a:off x="4100530" y="5910211"/>
              <a:ext cx="503817" cy="218881"/>
            </a:xfrm>
            <a:prstGeom prst="rect">
              <a:avLst/>
            </a:prstGeom>
            <a:noFill/>
          </p:spPr>
          <p:txBody>
            <a:bodyPr wrap="square" lIns="72000" tIns="0" rIns="7200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健康</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172" name="hands-holding-heart_98724"/>
            <p:cNvSpPr/>
            <p:nvPr/>
          </p:nvSpPr>
          <p:spPr>
            <a:xfrm>
              <a:off x="4194984" y="5613435"/>
              <a:ext cx="314909" cy="316604"/>
            </a:xfrm>
            <a:custGeom>
              <a:avLst/>
              <a:gdLst>
                <a:gd name="connsiteX0" fmla="*/ 554043 w 604457"/>
                <a:gd name="connsiteY0" fmla="*/ 166597 h 607710"/>
                <a:gd name="connsiteX1" fmla="*/ 538366 w 604457"/>
                <a:gd name="connsiteY1" fmla="*/ 183637 h 607710"/>
                <a:gd name="connsiteX2" fmla="*/ 539646 w 604457"/>
                <a:gd name="connsiteY2" fmla="*/ 316013 h 607710"/>
                <a:gd name="connsiteX3" fmla="*/ 537406 w 604457"/>
                <a:gd name="connsiteY3" fmla="*/ 322616 h 607710"/>
                <a:gd name="connsiteX4" fmla="*/ 479284 w 604457"/>
                <a:gd name="connsiteY4" fmla="*/ 396952 h 607710"/>
                <a:gd name="connsiteX5" fmla="*/ 402924 w 604457"/>
                <a:gd name="connsiteY5" fmla="*/ 409305 h 607710"/>
                <a:gd name="connsiteX6" fmla="*/ 398338 w 604457"/>
                <a:gd name="connsiteY6" fmla="*/ 402170 h 607710"/>
                <a:gd name="connsiteX7" fmla="*/ 400365 w 604457"/>
                <a:gd name="connsiteY7" fmla="*/ 393970 h 607710"/>
                <a:gd name="connsiteX8" fmla="*/ 469259 w 604457"/>
                <a:gd name="connsiteY8" fmla="*/ 304618 h 607710"/>
                <a:gd name="connsiteX9" fmla="*/ 467766 w 604457"/>
                <a:gd name="connsiteY9" fmla="*/ 287792 h 607710"/>
                <a:gd name="connsiteX10" fmla="*/ 458487 w 604457"/>
                <a:gd name="connsiteY10" fmla="*/ 284597 h 607710"/>
                <a:gd name="connsiteX11" fmla="*/ 449742 w 604457"/>
                <a:gd name="connsiteY11" fmla="*/ 289070 h 607710"/>
                <a:gd name="connsiteX12" fmla="*/ 358026 w 604457"/>
                <a:gd name="connsiteY12" fmla="*/ 399294 h 607710"/>
                <a:gd name="connsiteX13" fmla="*/ 339896 w 604457"/>
                <a:gd name="connsiteY13" fmla="*/ 450413 h 607710"/>
                <a:gd name="connsiteX14" fmla="*/ 341176 w 604457"/>
                <a:gd name="connsiteY14" fmla="*/ 586198 h 607710"/>
                <a:gd name="connsiteX15" fmla="*/ 471712 w 604457"/>
                <a:gd name="connsiteY15" fmla="*/ 586410 h 607710"/>
                <a:gd name="connsiteX16" fmla="*/ 466059 w 604457"/>
                <a:gd name="connsiteY16" fmla="*/ 522299 h 607710"/>
                <a:gd name="connsiteX17" fmla="*/ 468192 w 604457"/>
                <a:gd name="connsiteY17" fmla="*/ 514951 h 607710"/>
                <a:gd name="connsiteX18" fmla="*/ 571960 w 604457"/>
                <a:gd name="connsiteY18" fmla="*/ 377249 h 607710"/>
                <a:gd name="connsiteX19" fmla="*/ 583051 w 604457"/>
                <a:gd name="connsiteY19" fmla="*/ 340082 h 607710"/>
                <a:gd name="connsiteX20" fmla="*/ 572173 w 604457"/>
                <a:gd name="connsiteY20" fmla="*/ 182359 h 607710"/>
                <a:gd name="connsiteX21" fmla="*/ 566414 w 604457"/>
                <a:gd name="connsiteY21" fmla="*/ 170751 h 607710"/>
                <a:gd name="connsiteX22" fmla="*/ 554043 w 604457"/>
                <a:gd name="connsiteY22" fmla="*/ 166597 h 607710"/>
                <a:gd name="connsiteX23" fmla="*/ 49134 w 604457"/>
                <a:gd name="connsiteY23" fmla="*/ 166597 h 607710"/>
                <a:gd name="connsiteX24" fmla="*/ 38043 w 604457"/>
                <a:gd name="connsiteY24" fmla="*/ 170751 h 607710"/>
                <a:gd name="connsiteX25" fmla="*/ 32284 w 604457"/>
                <a:gd name="connsiteY25" fmla="*/ 182359 h 607710"/>
                <a:gd name="connsiteX26" fmla="*/ 21512 w 604457"/>
                <a:gd name="connsiteY26" fmla="*/ 340082 h 607710"/>
                <a:gd name="connsiteX27" fmla="*/ 32497 w 604457"/>
                <a:gd name="connsiteY27" fmla="*/ 377249 h 607710"/>
                <a:gd name="connsiteX28" fmla="*/ 136265 w 604457"/>
                <a:gd name="connsiteY28" fmla="*/ 514951 h 607710"/>
                <a:gd name="connsiteX29" fmla="*/ 138398 w 604457"/>
                <a:gd name="connsiteY29" fmla="*/ 522299 h 607710"/>
                <a:gd name="connsiteX30" fmla="*/ 132852 w 604457"/>
                <a:gd name="connsiteY30" fmla="*/ 586410 h 607710"/>
                <a:gd name="connsiteX31" fmla="*/ 263281 w 604457"/>
                <a:gd name="connsiteY31" fmla="*/ 586198 h 607710"/>
                <a:gd name="connsiteX32" fmla="*/ 264561 w 604457"/>
                <a:gd name="connsiteY32" fmla="*/ 450413 h 607710"/>
                <a:gd name="connsiteX33" fmla="*/ 246431 w 604457"/>
                <a:gd name="connsiteY33" fmla="*/ 399294 h 607710"/>
                <a:gd name="connsiteX34" fmla="*/ 154715 w 604457"/>
                <a:gd name="connsiteY34" fmla="*/ 289070 h 607710"/>
                <a:gd name="connsiteX35" fmla="*/ 145970 w 604457"/>
                <a:gd name="connsiteY35" fmla="*/ 284597 h 607710"/>
                <a:gd name="connsiteX36" fmla="*/ 136798 w 604457"/>
                <a:gd name="connsiteY36" fmla="*/ 287792 h 607710"/>
                <a:gd name="connsiteX37" fmla="*/ 135305 w 604457"/>
                <a:gd name="connsiteY37" fmla="*/ 304618 h 607710"/>
                <a:gd name="connsiteX38" fmla="*/ 204092 w 604457"/>
                <a:gd name="connsiteY38" fmla="*/ 393970 h 607710"/>
                <a:gd name="connsiteX39" fmla="*/ 206225 w 604457"/>
                <a:gd name="connsiteY39" fmla="*/ 402170 h 607710"/>
                <a:gd name="connsiteX40" fmla="*/ 201533 w 604457"/>
                <a:gd name="connsiteY40" fmla="*/ 409305 h 607710"/>
                <a:gd name="connsiteX41" fmla="*/ 125173 w 604457"/>
                <a:gd name="connsiteY41" fmla="*/ 396952 h 607710"/>
                <a:gd name="connsiteX42" fmla="*/ 67051 w 604457"/>
                <a:gd name="connsiteY42" fmla="*/ 322616 h 607710"/>
                <a:gd name="connsiteX43" fmla="*/ 64811 w 604457"/>
                <a:gd name="connsiteY43" fmla="*/ 316013 h 607710"/>
                <a:gd name="connsiteX44" fmla="*/ 66197 w 604457"/>
                <a:gd name="connsiteY44" fmla="*/ 183637 h 607710"/>
                <a:gd name="connsiteX45" fmla="*/ 50414 w 604457"/>
                <a:gd name="connsiteY45" fmla="*/ 166597 h 607710"/>
                <a:gd name="connsiteX46" fmla="*/ 49134 w 604457"/>
                <a:gd name="connsiteY46" fmla="*/ 166597 h 607710"/>
                <a:gd name="connsiteX47" fmla="*/ 552550 w 604457"/>
                <a:gd name="connsiteY47" fmla="*/ 145404 h 607710"/>
                <a:gd name="connsiteX48" fmla="*/ 580385 w 604457"/>
                <a:gd name="connsiteY48" fmla="*/ 154670 h 607710"/>
                <a:gd name="connsiteX49" fmla="*/ 593503 w 604457"/>
                <a:gd name="connsiteY49" fmla="*/ 180868 h 607710"/>
                <a:gd name="connsiteX50" fmla="*/ 604274 w 604457"/>
                <a:gd name="connsiteY50" fmla="*/ 338591 h 607710"/>
                <a:gd name="connsiteX51" fmla="*/ 589024 w 604457"/>
                <a:gd name="connsiteY51" fmla="*/ 390029 h 607710"/>
                <a:gd name="connsiteX52" fmla="*/ 487709 w 604457"/>
                <a:gd name="connsiteY52" fmla="*/ 524535 h 607710"/>
                <a:gd name="connsiteX53" fmla="*/ 493894 w 604457"/>
                <a:gd name="connsiteY53" fmla="*/ 596208 h 607710"/>
                <a:gd name="connsiteX54" fmla="*/ 491122 w 604457"/>
                <a:gd name="connsiteY54" fmla="*/ 604302 h 607710"/>
                <a:gd name="connsiteX55" fmla="*/ 483336 w 604457"/>
                <a:gd name="connsiteY55" fmla="*/ 607710 h 607710"/>
                <a:gd name="connsiteX56" fmla="*/ 330617 w 604457"/>
                <a:gd name="connsiteY56" fmla="*/ 607497 h 607710"/>
                <a:gd name="connsiteX57" fmla="*/ 319953 w 604457"/>
                <a:gd name="connsiteY57" fmla="*/ 596954 h 607710"/>
                <a:gd name="connsiteX58" fmla="*/ 318566 w 604457"/>
                <a:gd name="connsiteY58" fmla="*/ 450520 h 607710"/>
                <a:gd name="connsiteX59" fmla="*/ 341709 w 604457"/>
                <a:gd name="connsiteY59" fmla="*/ 385769 h 607710"/>
                <a:gd name="connsiteX60" fmla="*/ 433319 w 604457"/>
                <a:gd name="connsiteY60" fmla="*/ 275438 h 607710"/>
                <a:gd name="connsiteX61" fmla="*/ 456994 w 604457"/>
                <a:gd name="connsiteY61" fmla="*/ 263404 h 607710"/>
                <a:gd name="connsiteX62" fmla="*/ 482057 w 604457"/>
                <a:gd name="connsiteY62" fmla="*/ 272030 h 607710"/>
                <a:gd name="connsiteX63" fmla="*/ 486109 w 604457"/>
                <a:gd name="connsiteY63" fmla="*/ 317611 h 607710"/>
                <a:gd name="connsiteX64" fmla="*/ 425427 w 604457"/>
                <a:gd name="connsiteY64" fmla="*/ 396313 h 607710"/>
                <a:gd name="connsiteX65" fmla="*/ 462540 w 604457"/>
                <a:gd name="connsiteY65" fmla="*/ 383746 h 607710"/>
                <a:gd name="connsiteX66" fmla="*/ 518317 w 604457"/>
                <a:gd name="connsiteY66" fmla="*/ 312499 h 607710"/>
                <a:gd name="connsiteX67" fmla="*/ 517037 w 604457"/>
                <a:gd name="connsiteY67" fmla="*/ 183850 h 607710"/>
                <a:gd name="connsiteX68" fmla="*/ 552550 w 604457"/>
                <a:gd name="connsiteY68" fmla="*/ 145404 h 607710"/>
                <a:gd name="connsiteX69" fmla="*/ 52013 w 604457"/>
                <a:gd name="connsiteY69" fmla="*/ 145404 h 607710"/>
                <a:gd name="connsiteX70" fmla="*/ 87527 w 604457"/>
                <a:gd name="connsiteY70" fmla="*/ 183850 h 607710"/>
                <a:gd name="connsiteX71" fmla="*/ 86247 w 604457"/>
                <a:gd name="connsiteY71" fmla="*/ 312499 h 607710"/>
                <a:gd name="connsiteX72" fmla="*/ 142024 w 604457"/>
                <a:gd name="connsiteY72" fmla="*/ 383746 h 607710"/>
                <a:gd name="connsiteX73" fmla="*/ 179030 w 604457"/>
                <a:gd name="connsiteY73" fmla="*/ 396313 h 607710"/>
                <a:gd name="connsiteX74" fmla="*/ 118348 w 604457"/>
                <a:gd name="connsiteY74" fmla="*/ 317611 h 607710"/>
                <a:gd name="connsiteX75" fmla="*/ 122401 w 604457"/>
                <a:gd name="connsiteY75" fmla="*/ 272030 h 607710"/>
                <a:gd name="connsiteX76" fmla="*/ 147463 w 604457"/>
                <a:gd name="connsiteY76" fmla="*/ 263404 h 607710"/>
                <a:gd name="connsiteX77" fmla="*/ 171138 w 604457"/>
                <a:gd name="connsiteY77" fmla="*/ 275438 h 607710"/>
                <a:gd name="connsiteX78" fmla="*/ 262855 w 604457"/>
                <a:gd name="connsiteY78" fmla="*/ 385769 h 607710"/>
                <a:gd name="connsiteX79" fmla="*/ 285891 w 604457"/>
                <a:gd name="connsiteY79" fmla="*/ 450520 h 607710"/>
                <a:gd name="connsiteX80" fmla="*/ 284504 w 604457"/>
                <a:gd name="connsiteY80" fmla="*/ 596954 h 607710"/>
                <a:gd name="connsiteX81" fmla="*/ 273840 w 604457"/>
                <a:gd name="connsiteY81" fmla="*/ 607497 h 607710"/>
                <a:gd name="connsiteX82" fmla="*/ 121227 w 604457"/>
                <a:gd name="connsiteY82" fmla="*/ 607710 h 607710"/>
                <a:gd name="connsiteX83" fmla="*/ 113335 w 604457"/>
                <a:gd name="connsiteY83" fmla="*/ 604302 h 607710"/>
                <a:gd name="connsiteX84" fmla="*/ 110563 w 604457"/>
                <a:gd name="connsiteY84" fmla="*/ 596208 h 607710"/>
                <a:gd name="connsiteX85" fmla="*/ 116748 w 604457"/>
                <a:gd name="connsiteY85" fmla="*/ 524535 h 607710"/>
                <a:gd name="connsiteX86" fmla="*/ 15433 w 604457"/>
                <a:gd name="connsiteY86" fmla="*/ 390029 h 607710"/>
                <a:gd name="connsiteX87" fmla="*/ 183 w 604457"/>
                <a:gd name="connsiteY87" fmla="*/ 338591 h 607710"/>
                <a:gd name="connsiteX88" fmla="*/ 11061 w 604457"/>
                <a:gd name="connsiteY88" fmla="*/ 180868 h 607710"/>
                <a:gd name="connsiteX89" fmla="*/ 24072 w 604457"/>
                <a:gd name="connsiteY89" fmla="*/ 154670 h 607710"/>
                <a:gd name="connsiteX90" fmla="*/ 52013 w 604457"/>
                <a:gd name="connsiteY90" fmla="*/ 145404 h 607710"/>
                <a:gd name="connsiteX91" fmla="*/ 213276 w 604457"/>
                <a:gd name="connsiteY91" fmla="*/ 21300 h 607710"/>
                <a:gd name="connsiteX92" fmla="*/ 143530 w 604457"/>
                <a:gd name="connsiteY92" fmla="*/ 50162 h 607710"/>
                <a:gd name="connsiteX93" fmla="*/ 143530 w 604457"/>
                <a:gd name="connsiteY93" fmla="*/ 189467 h 607710"/>
                <a:gd name="connsiteX94" fmla="*/ 302219 w 604457"/>
                <a:gd name="connsiteY94" fmla="*/ 347942 h 607710"/>
                <a:gd name="connsiteX95" fmla="*/ 460907 w 604457"/>
                <a:gd name="connsiteY95" fmla="*/ 189573 h 607710"/>
                <a:gd name="connsiteX96" fmla="*/ 489808 w 604457"/>
                <a:gd name="connsiteY96" fmla="*/ 119815 h 607710"/>
                <a:gd name="connsiteX97" fmla="*/ 460907 w 604457"/>
                <a:gd name="connsiteY97" fmla="*/ 50162 h 607710"/>
                <a:gd name="connsiteX98" fmla="*/ 391161 w 604457"/>
                <a:gd name="connsiteY98" fmla="*/ 21300 h 607710"/>
                <a:gd name="connsiteX99" fmla="*/ 321415 w 604457"/>
                <a:gd name="connsiteY99" fmla="*/ 50162 h 607710"/>
                <a:gd name="connsiteX100" fmla="*/ 309791 w 604457"/>
                <a:gd name="connsiteY100" fmla="*/ 61771 h 607710"/>
                <a:gd name="connsiteX101" fmla="*/ 302219 w 604457"/>
                <a:gd name="connsiteY101" fmla="*/ 64860 h 607710"/>
                <a:gd name="connsiteX102" fmla="*/ 294647 w 604457"/>
                <a:gd name="connsiteY102" fmla="*/ 61771 h 607710"/>
                <a:gd name="connsiteX103" fmla="*/ 283129 w 604457"/>
                <a:gd name="connsiteY103" fmla="*/ 50162 h 607710"/>
                <a:gd name="connsiteX104" fmla="*/ 213276 w 604457"/>
                <a:gd name="connsiteY104" fmla="*/ 21300 h 607710"/>
                <a:gd name="connsiteX105" fmla="*/ 213276 w 604457"/>
                <a:gd name="connsiteY105" fmla="*/ 0 h 607710"/>
                <a:gd name="connsiteX106" fmla="*/ 298166 w 604457"/>
                <a:gd name="connsiteY106" fmla="*/ 35146 h 607710"/>
                <a:gd name="connsiteX107" fmla="*/ 302219 w 604457"/>
                <a:gd name="connsiteY107" fmla="*/ 39193 h 607710"/>
                <a:gd name="connsiteX108" fmla="*/ 306271 w 604457"/>
                <a:gd name="connsiteY108" fmla="*/ 35146 h 607710"/>
                <a:gd name="connsiteX109" fmla="*/ 391161 w 604457"/>
                <a:gd name="connsiteY109" fmla="*/ 0 h 607710"/>
                <a:gd name="connsiteX110" fmla="*/ 476051 w 604457"/>
                <a:gd name="connsiteY110" fmla="*/ 35146 h 607710"/>
                <a:gd name="connsiteX111" fmla="*/ 511137 w 604457"/>
                <a:gd name="connsiteY111" fmla="*/ 119815 h 607710"/>
                <a:gd name="connsiteX112" fmla="*/ 476051 w 604457"/>
                <a:gd name="connsiteY112" fmla="*/ 204590 h 607710"/>
                <a:gd name="connsiteX113" fmla="*/ 309791 w 604457"/>
                <a:gd name="connsiteY113" fmla="*/ 370626 h 607710"/>
                <a:gd name="connsiteX114" fmla="*/ 302219 w 604457"/>
                <a:gd name="connsiteY114" fmla="*/ 373715 h 607710"/>
                <a:gd name="connsiteX115" fmla="*/ 294647 w 604457"/>
                <a:gd name="connsiteY115" fmla="*/ 370626 h 607710"/>
                <a:gd name="connsiteX116" fmla="*/ 128493 w 604457"/>
                <a:gd name="connsiteY116" fmla="*/ 204590 h 607710"/>
                <a:gd name="connsiteX117" fmla="*/ 128493 w 604457"/>
                <a:gd name="connsiteY117" fmla="*/ 35146 h 607710"/>
                <a:gd name="connsiteX118" fmla="*/ 213276 w 604457"/>
                <a:gd name="connsiteY118" fmla="*/ 0 h 60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4457" h="607710">
                  <a:moveTo>
                    <a:pt x="554043" y="166597"/>
                  </a:moveTo>
                  <a:cubicBezTo>
                    <a:pt x="545192" y="167236"/>
                    <a:pt x="538260" y="174798"/>
                    <a:pt x="538366" y="183637"/>
                  </a:cubicBezTo>
                  <a:lnTo>
                    <a:pt x="539646" y="316013"/>
                  </a:lnTo>
                  <a:cubicBezTo>
                    <a:pt x="539646" y="318356"/>
                    <a:pt x="538899" y="320699"/>
                    <a:pt x="537406" y="322616"/>
                  </a:cubicBezTo>
                  <a:lnTo>
                    <a:pt x="479284" y="396952"/>
                  </a:lnTo>
                  <a:cubicBezTo>
                    <a:pt x="461154" y="420168"/>
                    <a:pt x="427560" y="425599"/>
                    <a:pt x="402924" y="409305"/>
                  </a:cubicBezTo>
                  <a:cubicBezTo>
                    <a:pt x="400471" y="407708"/>
                    <a:pt x="398765" y="405045"/>
                    <a:pt x="398338" y="402170"/>
                  </a:cubicBezTo>
                  <a:cubicBezTo>
                    <a:pt x="397805" y="399294"/>
                    <a:pt x="398552" y="396313"/>
                    <a:pt x="400365" y="393970"/>
                  </a:cubicBezTo>
                  <a:lnTo>
                    <a:pt x="469259" y="304618"/>
                  </a:lnTo>
                  <a:cubicBezTo>
                    <a:pt x="473205" y="299506"/>
                    <a:pt x="472458" y="292158"/>
                    <a:pt x="467766" y="287792"/>
                  </a:cubicBezTo>
                  <a:cubicBezTo>
                    <a:pt x="465206" y="285555"/>
                    <a:pt x="461900" y="284384"/>
                    <a:pt x="458487" y="284597"/>
                  </a:cubicBezTo>
                  <a:cubicBezTo>
                    <a:pt x="455075" y="284810"/>
                    <a:pt x="451982" y="286407"/>
                    <a:pt x="449742" y="289070"/>
                  </a:cubicBezTo>
                  <a:lnTo>
                    <a:pt x="358026" y="399294"/>
                  </a:lnTo>
                  <a:cubicBezTo>
                    <a:pt x="346188" y="413672"/>
                    <a:pt x="339682" y="431776"/>
                    <a:pt x="339896" y="450413"/>
                  </a:cubicBezTo>
                  <a:lnTo>
                    <a:pt x="341176" y="586198"/>
                  </a:lnTo>
                  <a:lnTo>
                    <a:pt x="471712" y="586410"/>
                  </a:lnTo>
                  <a:lnTo>
                    <a:pt x="466059" y="522299"/>
                  </a:lnTo>
                  <a:cubicBezTo>
                    <a:pt x="465846" y="519637"/>
                    <a:pt x="466593" y="517081"/>
                    <a:pt x="468192" y="514951"/>
                  </a:cubicBezTo>
                  <a:lnTo>
                    <a:pt x="571960" y="377249"/>
                  </a:lnTo>
                  <a:cubicBezTo>
                    <a:pt x="580065" y="366600"/>
                    <a:pt x="583905" y="353394"/>
                    <a:pt x="583051" y="340082"/>
                  </a:cubicBezTo>
                  <a:lnTo>
                    <a:pt x="572173" y="182359"/>
                  </a:lnTo>
                  <a:cubicBezTo>
                    <a:pt x="571853" y="177780"/>
                    <a:pt x="569827" y="173733"/>
                    <a:pt x="566414" y="170751"/>
                  </a:cubicBezTo>
                  <a:cubicBezTo>
                    <a:pt x="563002" y="167769"/>
                    <a:pt x="558629" y="166278"/>
                    <a:pt x="554043" y="166597"/>
                  </a:cubicBezTo>
                  <a:close/>
                  <a:moveTo>
                    <a:pt x="49134" y="166597"/>
                  </a:moveTo>
                  <a:cubicBezTo>
                    <a:pt x="45081" y="166597"/>
                    <a:pt x="41242" y="167982"/>
                    <a:pt x="38043" y="170751"/>
                  </a:cubicBezTo>
                  <a:cubicBezTo>
                    <a:pt x="34630" y="173733"/>
                    <a:pt x="32604" y="177780"/>
                    <a:pt x="32284" y="182359"/>
                  </a:cubicBezTo>
                  <a:lnTo>
                    <a:pt x="21512" y="340082"/>
                  </a:lnTo>
                  <a:cubicBezTo>
                    <a:pt x="20552" y="353394"/>
                    <a:pt x="24498" y="366600"/>
                    <a:pt x="32497" y="377249"/>
                  </a:cubicBezTo>
                  <a:lnTo>
                    <a:pt x="136265" y="514951"/>
                  </a:lnTo>
                  <a:cubicBezTo>
                    <a:pt x="137864" y="517081"/>
                    <a:pt x="138611" y="519637"/>
                    <a:pt x="138398" y="522299"/>
                  </a:cubicBezTo>
                  <a:lnTo>
                    <a:pt x="132852" y="586410"/>
                  </a:lnTo>
                  <a:lnTo>
                    <a:pt x="263281" y="586198"/>
                  </a:lnTo>
                  <a:lnTo>
                    <a:pt x="264561" y="450413"/>
                  </a:lnTo>
                  <a:cubicBezTo>
                    <a:pt x="264775" y="431776"/>
                    <a:pt x="258269" y="413672"/>
                    <a:pt x="246431" y="399294"/>
                  </a:cubicBezTo>
                  <a:lnTo>
                    <a:pt x="154715" y="289070"/>
                  </a:lnTo>
                  <a:cubicBezTo>
                    <a:pt x="152582" y="286407"/>
                    <a:pt x="149489" y="284810"/>
                    <a:pt x="145970" y="284597"/>
                  </a:cubicBezTo>
                  <a:cubicBezTo>
                    <a:pt x="142557" y="284384"/>
                    <a:pt x="139251" y="285555"/>
                    <a:pt x="136798" y="287792"/>
                  </a:cubicBezTo>
                  <a:cubicBezTo>
                    <a:pt x="131999" y="292158"/>
                    <a:pt x="131359" y="299506"/>
                    <a:pt x="135305" y="304618"/>
                  </a:cubicBezTo>
                  <a:lnTo>
                    <a:pt x="204092" y="393970"/>
                  </a:lnTo>
                  <a:cubicBezTo>
                    <a:pt x="205905" y="396313"/>
                    <a:pt x="206652" y="399294"/>
                    <a:pt x="206225" y="402170"/>
                  </a:cubicBezTo>
                  <a:cubicBezTo>
                    <a:pt x="205692" y="405152"/>
                    <a:pt x="204092" y="407708"/>
                    <a:pt x="201533" y="409305"/>
                  </a:cubicBezTo>
                  <a:cubicBezTo>
                    <a:pt x="176897" y="425599"/>
                    <a:pt x="143410" y="420168"/>
                    <a:pt x="125173" y="396952"/>
                  </a:cubicBezTo>
                  <a:lnTo>
                    <a:pt x="67051" y="322616"/>
                  </a:lnTo>
                  <a:cubicBezTo>
                    <a:pt x="65558" y="320699"/>
                    <a:pt x="64811" y="318356"/>
                    <a:pt x="64811" y="316013"/>
                  </a:cubicBezTo>
                  <a:lnTo>
                    <a:pt x="66197" y="183637"/>
                  </a:lnTo>
                  <a:cubicBezTo>
                    <a:pt x="66197" y="174798"/>
                    <a:pt x="59372" y="167236"/>
                    <a:pt x="50414" y="166597"/>
                  </a:cubicBezTo>
                  <a:cubicBezTo>
                    <a:pt x="49987" y="166597"/>
                    <a:pt x="49560" y="166597"/>
                    <a:pt x="49134" y="166597"/>
                  </a:cubicBezTo>
                  <a:close/>
                  <a:moveTo>
                    <a:pt x="552550" y="145404"/>
                  </a:moveTo>
                  <a:cubicBezTo>
                    <a:pt x="562682" y="144659"/>
                    <a:pt x="572600" y="147960"/>
                    <a:pt x="580385" y="154670"/>
                  </a:cubicBezTo>
                  <a:cubicBezTo>
                    <a:pt x="588171" y="161379"/>
                    <a:pt x="592756" y="170644"/>
                    <a:pt x="593503" y="180868"/>
                  </a:cubicBezTo>
                  <a:lnTo>
                    <a:pt x="604274" y="338591"/>
                  </a:lnTo>
                  <a:cubicBezTo>
                    <a:pt x="605554" y="357015"/>
                    <a:pt x="600115" y="375226"/>
                    <a:pt x="589024" y="390029"/>
                  </a:cubicBezTo>
                  <a:lnTo>
                    <a:pt x="487709" y="524535"/>
                  </a:lnTo>
                  <a:lnTo>
                    <a:pt x="493894" y="596208"/>
                  </a:lnTo>
                  <a:cubicBezTo>
                    <a:pt x="494214" y="599190"/>
                    <a:pt x="493148" y="602066"/>
                    <a:pt x="491122" y="604302"/>
                  </a:cubicBezTo>
                  <a:cubicBezTo>
                    <a:pt x="489095" y="606539"/>
                    <a:pt x="486322" y="607710"/>
                    <a:pt x="483336" y="607710"/>
                  </a:cubicBezTo>
                  <a:lnTo>
                    <a:pt x="330617" y="607497"/>
                  </a:lnTo>
                  <a:cubicBezTo>
                    <a:pt x="324752" y="607497"/>
                    <a:pt x="320059" y="602811"/>
                    <a:pt x="319953" y="596954"/>
                  </a:cubicBezTo>
                  <a:lnTo>
                    <a:pt x="318566" y="450520"/>
                  </a:lnTo>
                  <a:cubicBezTo>
                    <a:pt x="318353" y="426984"/>
                    <a:pt x="326565" y="403874"/>
                    <a:pt x="341709" y="385769"/>
                  </a:cubicBezTo>
                  <a:lnTo>
                    <a:pt x="433319" y="275438"/>
                  </a:lnTo>
                  <a:cubicBezTo>
                    <a:pt x="439291" y="268303"/>
                    <a:pt x="447716" y="264043"/>
                    <a:pt x="456994" y="263404"/>
                  </a:cubicBezTo>
                  <a:cubicBezTo>
                    <a:pt x="466273" y="262658"/>
                    <a:pt x="475231" y="265853"/>
                    <a:pt x="482057" y="272030"/>
                  </a:cubicBezTo>
                  <a:cubicBezTo>
                    <a:pt x="494961" y="283851"/>
                    <a:pt x="496774" y="303766"/>
                    <a:pt x="486109" y="317611"/>
                  </a:cubicBezTo>
                  <a:lnTo>
                    <a:pt x="425427" y="396313"/>
                  </a:lnTo>
                  <a:cubicBezTo>
                    <a:pt x="438864" y="399720"/>
                    <a:pt x="453582" y="395141"/>
                    <a:pt x="462540" y="383746"/>
                  </a:cubicBezTo>
                  <a:lnTo>
                    <a:pt x="518317" y="312499"/>
                  </a:lnTo>
                  <a:lnTo>
                    <a:pt x="517037" y="183850"/>
                  </a:lnTo>
                  <a:cubicBezTo>
                    <a:pt x="516823" y="163722"/>
                    <a:pt x="532394" y="146895"/>
                    <a:pt x="552550" y="145404"/>
                  </a:cubicBezTo>
                  <a:close/>
                  <a:moveTo>
                    <a:pt x="52013" y="145404"/>
                  </a:moveTo>
                  <a:cubicBezTo>
                    <a:pt x="72063" y="146895"/>
                    <a:pt x="87633" y="163722"/>
                    <a:pt x="87527" y="183850"/>
                  </a:cubicBezTo>
                  <a:lnTo>
                    <a:pt x="86247" y="312499"/>
                  </a:lnTo>
                  <a:lnTo>
                    <a:pt x="142024" y="383746"/>
                  </a:lnTo>
                  <a:cubicBezTo>
                    <a:pt x="150875" y="395141"/>
                    <a:pt x="165699" y="399720"/>
                    <a:pt x="179030" y="396313"/>
                  </a:cubicBezTo>
                  <a:lnTo>
                    <a:pt x="118348" y="317611"/>
                  </a:lnTo>
                  <a:cubicBezTo>
                    <a:pt x="107683" y="303766"/>
                    <a:pt x="109496" y="283851"/>
                    <a:pt x="122401" y="272030"/>
                  </a:cubicBezTo>
                  <a:cubicBezTo>
                    <a:pt x="129333" y="265853"/>
                    <a:pt x="138184" y="262765"/>
                    <a:pt x="147463" y="263404"/>
                  </a:cubicBezTo>
                  <a:cubicBezTo>
                    <a:pt x="156848" y="264043"/>
                    <a:pt x="165166" y="268303"/>
                    <a:pt x="171138" y="275438"/>
                  </a:cubicBezTo>
                  <a:lnTo>
                    <a:pt x="262855" y="385769"/>
                  </a:lnTo>
                  <a:cubicBezTo>
                    <a:pt x="277999" y="403874"/>
                    <a:pt x="286104" y="426984"/>
                    <a:pt x="285891" y="450520"/>
                  </a:cubicBezTo>
                  <a:lnTo>
                    <a:pt x="284504" y="596954"/>
                  </a:lnTo>
                  <a:cubicBezTo>
                    <a:pt x="284398" y="602811"/>
                    <a:pt x="279705" y="607497"/>
                    <a:pt x="273840" y="607497"/>
                  </a:cubicBezTo>
                  <a:lnTo>
                    <a:pt x="121227" y="607710"/>
                  </a:lnTo>
                  <a:cubicBezTo>
                    <a:pt x="118241" y="607710"/>
                    <a:pt x="115362" y="606539"/>
                    <a:pt x="113335" y="604302"/>
                  </a:cubicBezTo>
                  <a:cubicBezTo>
                    <a:pt x="111309" y="602066"/>
                    <a:pt x="110243" y="599190"/>
                    <a:pt x="110563" y="596208"/>
                  </a:cubicBezTo>
                  <a:lnTo>
                    <a:pt x="116748" y="524535"/>
                  </a:lnTo>
                  <a:lnTo>
                    <a:pt x="15433" y="390029"/>
                  </a:lnTo>
                  <a:cubicBezTo>
                    <a:pt x="4342" y="375226"/>
                    <a:pt x="-1097" y="357015"/>
                    <a:pt x="183" y="338591"/>
                  </a:cubicBezTo>
                  <a:lnTo>
                    <a:pt x="11061" y="180868"/>
                  </a:lnTo>
                  <a:cubicBezTo>
                    <a:pt x="11701" y="170644"/>
                    <a:pt x="16393" y="161379"/>
                    <a:pt x="24072" y="154670"/>
                  </a:cubicBezTo>
                  <a:cubicBezTo>
                    <a:pt x="31857" y="147960"/>
                    <a:pt x="41775" y="144659"/>
                    <a:pt x="52013" y="145404"/>
                  </a:cubicBezTo>
                  <a:close/>
                  <a:moveTo>
                    <a:pt x="213276" y="21300"/>
                  </a:moveTo>
                  <a:cubicBezTo>
                    <a:pt x="186935" y="21300"/>
                    <a:pt x="162193" y="31525"/>
                    <a:pt x="143530" y="50162"/>
                  </a:cubicBezTo>
                  <a:cubicBezTo>
                    <a:pt x="105031" y="88610"/>
                    <a:pt x="105031" y="151126"/>
                    <a:pt x="143530" y="189467"/>
                  </a:cubicBezTo>
                  <a:lnTo>
                    <a:pt x="302219" y="347942"/>
                  </a:lnTo>
                  <a:lnTo>
                    <a:pt x="460907" y="189573"/>
                  </a:lnTo>
                  <a:cubicBezTo>
                    <a:pt x="479570" y="170935"/>
                    <a:pt x="489808" y="146121"/>
                    <a:pt x="489808" y="119815"/>
                  </a:cubicBezTo>
                  <a:cubicBezTo>
                    <a:pt x="489808" y="93509"/>
                    <a:pt x="479570" y="68800"/>
                    <a:pt x="460907" y="50162"/>
                  </a:cubicBezTo>
                  <a:cubicBezTo>
                    <a:pt x="442244" y="31525"/>
                    <a:pt x="417502" y="21300"/>
                    <a:pt x="391161" y="21300"/>
                  </a:cubicBezTo>
                  <a:cubicBezTo>
                    <a:pt x="364820" y="21300"/>
                    <a:pt x="339971" y="31525"/>
                    <a:pt x="321415" y="50162"/>
                  </a:cubicBezTo>
                  <a:lnTo>
                    <a:pt x="309791" y="61771"/>
                  </a:lnTo>
                  <a:cubicBezTo>
                    <a:pt x="307764" y="63688"/>
                    <a:pt x="305098" y="64860"/>
                    <a:pt x="302219" y="64860"/>
                  </a:cubicBezTo>
                  <a:cubicBezTo>
                    <a:pt x="299446" y="64860"/>
                    <a:pt x="296673" y="63795"/>
                    <a:pt x="294647" y="61771"/>
                  </a:cubicBezTo>
                  <a:lnTo>
                    <a:pt x="283129" y="50162"/>
                  </a:lnTo>
                  <a:cubicBezTo>
                    <a:pt x="264466" y="31525"/>
                    <a:pt x="239724" y="21300"/>
                    <a:pt x="213276" y="21300"/>
                  </a:cubicBezTo>
                  <a:close/>
                  <a:moveTo>
                    <a:pt x="213276" y="0"/>
                  </a:moveTo>
                  <a:cubicBezTo>
                    <a:pt x="245377" y="0"/>
                    <a:pt x="275557" y="12461"/>
                    <a:pt x="298166" y="35146"/>
                  </a:cubicBezTo>
                  <a:lnTo>
                    <a:pt x="302219" y="39193"/>
                  </a:lnTo>
                  <a:lnTo>
                    <a:pt x="306271" y="35146"/>
                  </a:lnTo>
                  <a:cubicBezTo>
                    <a:pt x="328987" y="12461"/>
                    <a:pt x="359061" y="0"/>
                    <a:pt x="391161" y="0"/>
                  </a:cubicBezTo>
                  <a:cubicBezTo>
                    <a:pt x="423155" y="0"/>
                    <a:pt x="453335" y="12461"/>
                    <a:pt x="476051" y="35146"/>
                  </a:cubicBezTo>
                  <a:cubicBezTo>
                    <a:pt x="498659" y="57724"/>
                    <a:pt x="511137" y="87864"/>
                    <a:pt x="511137" y="119815"/>
                  </a:cubicBezTo>
                  <a:cubicBezTo>
                    <a:pt x="511137" y="151872"/>
                    <a:pt x="498659" y="181905"/>
                    <a:pt x="476051" y="204590"/>
                  </a:cubicBezTo>
                  <a:lnTo>
                    <a:pt x="309791" y="370626"/>
                  </a:lnTo>
                  <a:cubicBezTo>
                    <a:pt x="307658" y="372650"/>
                    <a:pt x="304991" y="373715"/>
                    <a:pt x="302219" y="373715"/>
                  </a:cubicBezTo>
                  <a:cubicBezTo>
                    <a:pt x="299553" y="373715"/>
                    <a:pt x="296780" y="372650"/>
                    <a:pt x="294647" y="370626"/>
                  </a:cubicBezTo>
                  <a:lnTo>
                    <a:pt x="128493" y="204590"/>
                  </a:lnTo>
                  <a:cubicBezTo>
                    <a:pt x="81676" y="157836"/>
                    <a:pt x="81676" y="81793"/>
                    <a:pt x="128493" y="35146"/>
                  </a:cubicBezTo>
                  <a:cubicBezTo>
                    <a:pt x="151102" y="12461"/>
                    <a:pt x="181283" y="0"/>
                    <a:pt x="213276"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grpSp>
        <p:nvGrpSpPr>
          <p:cNvPr id="176" name="组合 175"/>
          <p:cNvGrpSpPr/>
          <p:nvPr/>
        </p:nvGrpSpPr>
        <p:grpSpPr>
          <a:xfrm>
            <a:off x="4650781" y="5613675"/>
            <a:ext cx="503817" cy="515417"/>
            <a:chOff x="4650781" y="5613675"/>
            <a:chExt cx="503817" cy="515417"/>
          </a:xfrm>
        </p:grpSpPr>
        <p:sp>
          <p:nvSpPr>
            <p:cNvPr id="58" name="文本框 57"/>
            <p:cNvSpPr txBox="1"/>
            <p:nvPr/>
          </p:nvSpPr>
          <p:spPr>
            <a:xfrm>
              <a:off x="4650781" y="5910211"/>
              <a:ext cx="503817" cy="218881"/>
            </a:xfrm>
            <a:prstGeom prst="rect">
              <a:avLst/>
            </a:prstGeom>
            <a:noFill/>
          </p:spPr>
          <p:txBody>
            <a:bodyPr wrap="square" lIns="72000" tIns="0" rIns="72000" bIns="0" anchor="ctr" anchorCtr="0">
              <a:noAutofit/>
            </a:bodyPr>
            <a:lstStyle/>
            <a:p>
              <a:pPr algn="ctr"/>
              <a:r>
                <a:rPr lang="zh-CN" altLang="en-US" sz="1000" dirty="0">
                  <a:latin typeface="微软雅黑" panose="020B0503020204020204" charset="-122"/>
                  <a:ea typeface="微软雅黑" panose="020B0503020204020204" charset="-122"/>
                </a:rPr>
                <a:t>金融</a:t>
              </a:r>
              <a:endParaRPr lang="zh-CN" altLang="en-US" sz="1000" dirty="0">
                <a:latin typeface="微软雅黑" panose="020B0503020204020204" charset="-122"/>
                <a:ea typeface="微软雅黑" panose="020B0503020204020204" charset="-122"/>
              </a:endParaRPr>
            </a:p>
          </p:txBody>
        </p:sp>
        <p:sp>
          <p:nvSpPr>
            <p:cNvPr id="173" name="dollar-money-bill-on-a-hand_44412"/>
            <p:cNvSpPr/>
            <p:nvPr/>
          </p:nvSpPr>
          <p:spPr>
            <a:xfrm>
              <a:off x="4716354" y="5613675"/>
              <a:ext cx="372671" cy="316125"/>
            </a:xfrm>
            <a:custGeom>
              <a:avLst/>
              <a:gdLst>
                <a:gd name="T0" fmla="*/ 310 w 519"/>
                <a:gd name="T1" fmla="*/ 68 h 441"/>
                <a:gd name="T2" fmla="*/ 281 w 519"/>
                <a:gd name="T3" fmla="*/ 69 h 441"/>
                <a:gd name="T4" fmla="*/ 138 w 519"/>
                <a:gd name="T5" fmla="*/ 122 h 441"/>
                <a:gd name="T6" fmla="*/ 107 w 519"/>
                <a:gd name="T7" fmla="*/ 123 h 441"/>
                <a:gd name="T8" fmla="*/ 0 w 519"/>
                <a:gd name="T9" fmla="*/ 98 h 441"/>
                <a:gd name="T10" fmla="*/ 107 w 519"/>
                <a:gd name="T11" fmla="*/ 327 h 441"/>
                <a:gd name="T12" fmla="*/ 140 w 519"/>
                <a:gd name="T13" fmla="*/ 308 h 441"/>
                <a:gd name="T14" fmla="*/ 202 w 519"/>
                <a:gd name="T15" fmla="*/ 347 h 441"/>
                <a:gd name="T16" fmla="*/ 375 w 519"/>
                <a:gd name="T17" fmla="*/ 441 h 441"/>
                <a:gd name="T18" fmla="*/ 337 w 519"/>
                <a:gd name="T19" fmla="*/ 0 h 441"/>
                <a:gd name="T20" fmla="*/ 165 w 519"/>
                <a:gd name="T21" fmla="*/ 295 h 441"/>
                <a:gd name="T22" fmla="*/ 107 w 519"/>
                <a:gd name="T23" fmla="*/ 282 h 441"/>
                <a:gd name="T24" fmla="*/ 165 w 519"/>
                <a:gd name="T25" fmla="*/ 151 h 441"/>
                <a:gd name="T26" fmla="*/ 195 w 519"/>
                <a:gd name="T27" fmla="*/ 95 h 441"/>
                <a:gd name="T28" fmla="*/ 337 w 519"/>
                <a:gd name="T29" fmla="*/ 95 h 441"/>
                <a:gd name="T30" fmla="*/ 337 w 519"/>
                <a:gd name="T31" fmla="*/ 119 h 441"/>
                <a:gd name="T32" fmla="*/ 278 w 519"/>
                <a:gd name="T33" fmla="*/ 120 h 441"/>
                <a:gd name="T34" fmla="*/ 248 w 519"/>
                <a:gd name="T35" fmla="*/ 146 h 441"/>
                <a:gd name="T36" fmla="*/ 187 w 519"/>
                <a:gd name="T37" fmla="*/ 159 h 441"/>
                <a:gd name="T38" fmla="*/ 248 w 519"/>
                <a:gd name="T39" fmla="*/ 172 h 441"/>
                <a:gd name="T40" fmla="*/ 212 w 519"/>
                <a:gd name="T41" fmla="*/ 320 h 441"/>
                <a:gd name="T42" fmla="*/ 195 w 519"/>
                <a:gd name="T43" fmla="*/ 320 h 441"/>
                <a:gd name="T44" fmla="*/ 294 w 519"/>
                <a:gd name="T45" fmla="*/ 196 h 441"/>
                <a:gd name="T46" fmla="*/ 418 w 519"/>
                <a:gd name="T47" fmla="*/ 245 h 441"/>
                <a:gd name="T48" fmla="*/ 401 w 519"/>
                <a:gd name="T49" fmla="*/ 229 h 441"/>
                <a:gd name="T50" fmla="*/ 387 w 519"/>
                <a:gd name="T51" fmla="*/ 192 h 441"/>
                <a:gd name="T52" fmla="*/ 353 w 519"/>
                <a:gd name="T53" fmla="*/ 210 h 441"/>
                <a:gd name="T54" fmla="*/ 331 w 519"/>
                <a:gd name="T55" fmla="*/ 205 h 441"/>
                <a:gd name="T56" fmla="*/ 346 w 519"/>
                <a:gd name="T57" fmla="*/ 195 h 441"/>
                <a:gd name="T58" fmla="*/ 353 w 519"/>
                <a:gd name="T59" fmla="*/ 181 h 441"/>
                <a:gd name="T60" fmla="*/ 331 w 519"/>
                <a:gd name="T61" fmla="*/ 180 h 441"/>
                <a:gd name="T62" fmla="*/ 310 w 519"/>
                <a:gd name="T63" fmla="*/ 197 h 441"/>
                <a:gd name="T64" fmla="*/ 314 w 519"/>
                <a:gd name="T65" fmla="*/ 210 h 441"/>
                <a:gd name="T66" fmla="*/ 325 w 519"/>
                <a:gd name="T67" fmla="*/ 248 h 441"/>
                <a:gd name="T68" fmla="*/ 360 w 519"/>
                <a:gd name="T69" fmla="*/ 228 h 441"/>
                <a:gd name="T70" fmla="*/ 383 w 519"/>
                <a:gd name="T71" fmla="*/ 239 h 441"/>
                <a:gd name="T72" fmla="*/ 365 w 519"/>
                <a:gd name="T73" fmla="*/ 248 h 441"/>
                <a:gd name="T74" fmla="*/ 358 w 519"/>
                <a:gd name="T75" fmla="*/ 262 h 441"/>
                <a:gd name="T76" fmla="*/ 381 w 519"/>
                <a:gd name="T77" fmla="*/ 264 h 441"/>
                <a:gd name="T78" fmla="*/ 396 w 519"/>
                <a:gd name="T79" fmla="*/ 242 h 441"/>
                <a:gd name="T80" fmla="*/ 409 w 519"/>
                <a:gd name="T81" fmla="*/ 236 h 441"/>
                <a:gd name="T82" fmla="*/ 401 w 519"/>
                <a:gd name="T83" fmla="*/ 229 h 441"/>
                <a:gd name="T84" fmla="*/ 331 w 519"/>
                <a:gd name="T85" fmla="*/ 234 h 441"/>
                <a:gd name="T86" fmla="*/ 327 w 519"/>
                <a:gd name="T87" fmla="*/ 215 h 441"/>
                <a:gd name="T88" fmla="*/ 347 w 519"/>
                <a:gd name="T89" fmla="*/ 225 h 441"/>
                <a:gd name="T90" fmla="*/ 387 w 519"/>
                <a:gd name="T91" fmla="*/ 227 h 441"/>
                <a:gd name="T92" fmla="*/ 372 w 519"/>
                <a:gd name="T93" fmla="*/ 206 h 441"/>
                <a:gd name="T94" fmla="*/ 388 w 519"/>
                <a:gd name="T95" fmla="*/ 225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19" h="441">
                  <a:moveTo>
                    <a:pt x="337" y="0"/>
                  </a:moveTo>
                  <a:lnTo>
                    <a:pt x="310" y="68"/>
                  </a:lnTo>
                  <a:lnTo>
                    <a:pt x="281" y="68"/>
                  </a:lnTo>
                  <a:cubicBezTo>
                    <a:pt x="281" y="68"/>
                    <a:pt x="281" y="69"/>
                    <a:pt x="281" y="69"/>
                  </a:cubicBezTo>
                  <a:lnTo>
                    <a:pt x="195" y="69"/>
                  </a:lnTo>
                  <a:cubicBezTo>
                    <a:pt x="164" y="69"/>
                    <a:pt x="138" y="93"/>
                    <a:pt x="138" y="122"/>
                  </a:cubicBezTo>
                  <a:lnTo>
                    <a:pt x="138" y="124"/>
                  </a:lnTo>
                  <a:lnTo>
                    <a:pt x="107" y="123"/>
                  </a:lnTo>
                  <a:lnTo>
                    <a:pt x="107" y="98"/>
                  </a:lnTo>
                  <a:lnTo>
                    <a:pt x="0" y="98"/>
                  </a:lnTo>
                  <a:lnTo>
                    <a:pt x="0" y="327"/>
                  </a:lnTo>
                  <a:lnTo>
                    <a:pt x="107" y="327"/>
                  </a:lnTo>
                  <a:lnTo>
                    <a:pt x="107" y="308"/>
                  </a:lnTo>
                  <a:lnTo>
                    <a:pt x="140" y="308"/>
                  </a:lnTo>
                  <a:cubicBezTo>
                    <a:pt x="146" y="331"/>
                    <a:pt x="169" y="347"/>
                    <a:pt x="195" y="347"/>
                  </a:cubicBezTo>
                  <a:lnTo>
                    <a:pt x="202" y="347"/>
                  </a:lnTo>
                  <a:lnTo>
                    <a:pt x="193" y="370"/>
                  </a:lnTo>
                  <a:lnTo>
                    <a:pt x="375" y="441"/>
                  </a:lnTo>
                  <a:lnTo>
                    <a:pt x="519" y="71"/>
                  </a:lnTo>
                  <a:lnTo>
                    <a:pt x="337" y="0"/>
                  </a:lnTo>
                  <a:close/>
                  <a:moveTo>
                    <a:pt x="195" y="320"/>
                  </a:moveTo>
                  <a:cubicBezTo>
                    <a:pt x="178" y="320"/>
                    <a:pt x="165" y="309"/>
                    <a:pt x="165" y="295"/>
                  </a:cubicBezTo>
                  <a:lnTo>
                    <a:pt x="165" y="282"/>
                  </a:lnTo>
                  <a:lnTo>
                    <a:pt x="107" y="282"/>
                  </a:lnTo>
                  <a:lnTo>
                    <a:pt x="107" y="150"/>
                  </a:lnTo>
                  <a:lnTo>
                    <a:pt x="165" y="151"/>
                  </a:lnTo>
                  <a:lnTo>
                    <a:pt x="165" y="122"/>
                  </a:lnTo>
                  <a:cubicBezTo>
                    <a:pt x="165" y="107"/>
                    <a:pt x="178" y="95"/>
                    <a:pt x="195" y="95"/>
                  </a:cubicBezTo>
                  <a:lnTo>
                    <a:pt x="337" y="95"/>
                  </a:lnTo>
                  <a:cubicBezTo>
                    <a:pt x="337" y="95"/>
                    <a:pt x="337" y="95"/>
                    <a:pt x="337" y="95"/>
                  </a:cubicBezTo>
                  <a:cubicBezTo>
                    <a:pt x="342" y="95"/>
                    <a:pt x="347" y="101"/>
                    <a:pt x="347" y="107"/>
                  </a:cubicBezTo>
                  <a:cubicBezTo>
                    <a:pt x="347" y="114"/>
                    <a:pt x="342" y="119"/>
                    <a:pt x="337" y="119"/>
                  </a:cubicBezTo>
                  <a:lnTo>
                    <a:pt x="281" y="120"/>
                  </a:lnTo>
                  <a:lnTo>
                    <a:pt x="278" y="120"/>
                  </a:lnTo>
                  <a:cubicBezTo>
                    <a:pt x="271" y="120"/>
                    <a:pt x="265" y="126"/>
                    <a:pt x="265" y="133"/>
                  </a:cubicBezTo>
                  <a:cubicBezTo>
                    <a:pt x="265" y="144"/>
                    <a:pt x="265" y="146"/>
                    <a:pt x="248" y="146"/>
                  </a:cubicBezTo>
                  <a:lnTo>
                    <a:pt x="200" y="146"/>
                  </a:lnTo>
                  <a:cubicBezTo>
                    <a:pt x="193" y="146"/>
                    <a:pt x="187" y="152"/>
                    <a:pt x="187" y="159"/>
                  </a:cubicBezTo>
                  <a:cubicBezTo>
                    <a:pt x="187" y="166"/>
                    <a:pt x="193" y="172"/>
                    <a:pt x="200" y="172"/>
                  </a:cubicBezTo>
                  <a:lnTo>
                    <a:pt x="248" y="172"/>
                  </a:lnTo>
                  <a:cubicBezTo>
                    <a:pt x="256" y="172"/>
                    <a:pt x="264" y="172"/>
                    <a:pt x="271" y="169"/>
                  </a:cubicBezTo>
                  <a:lnTo>
                    <a:pt x="212" y="320"/>
                  </a:lnTo>
                  <a:lnTo>
                    <a:pt x="195" y="320"/>
                  </a:lnTo>
                  <a:lnTo>
                    <a:pt x="195" y="320"/>
                  </a:lnTo>
                  <a:close/>
                  <a:moveTo>
                    <a:pt x="332" y="283"/>
                  </a:moveTo>
                  <a:cubicBezTo>
                    <a:pt x="297" y="270"/>
                    <a:pt x="280" y="231"/>
                    <a:pt x="294" y="196"/>
                  </a:cubicBezTo>
                  <a:cubicBezTo>
                    <a:pt x="307" y="162"/>
                    <a:pt x="346" y="145"/>
                    <a:pt x="380" y="158"/>
                  </a:cubicBezTo>
                  <a:cubicBezTo>
                    <a:pt x="415" y="172"/>
                    <a:pt x="432" y="210"/>
                    <a:pt x="418" y="245"/>
                  </a:cubicBezTo>
                  <a:cubicBezTo>
                    <a:pt x="405" y="279"/>
                    <a:pt x="366" y="296"/>
                    <a:pt x="332" y="283"/>
                  </a:cubicBezTo>
                  <a:close/>
                  <a:moveTo>
                    <a:pt x="401" y="229"/>
                  </a:moveTo>
                  <a:cubicBezTo>
                    <a:pt x="405" y="219"/>
                    <a:pt x="406" y="211"/>
                    <a:pt x="404" y="205"/>
                  </a:cubicBezTo>
                  <a:cubicBezTo>
                    <a:pt x="402" y="200"/>
                    <a:pt x="396" y="195"/>
                    <a:pt x="387" y="192"/>
                  </a:cubicBezTo>
                  <a:cubicBezTo>
                    <a:pt x="379" y="189"/>
                    <a:pt x="372" y="188"/>
                    <a:pt x="368" y="191"/>
                  </a:cubicBezTo>
                  <a:cubicBezTo>
                    <a:pt x="363" y="193"/>
                    <a:pt x="358" y="200"/>
                    <a:pt x="353" y="210"/>
                  </a:cubicBezTo>
                  <a:lnTo>
                    <a:pt x="352" y="214"/>
                  </a:lnTo>
                  <a:lnTo>
                    <a:pt x="331" y="205"/>
                  </a:lnTo>
                  <a:lnTo>
                    <a:pt x="332" y="203"/>
                  </a:lnTo>
                  <a:cubicBezTo>
                    <a:pt x="335" y="195"/>
                    <a:pt x="339" y="192"/>
                    <a:pt x="346" y="195"/>
                  </a:cubicBezTo>
                  <a:lnTo>
                    <a:pt x="347" y="195"/>
                  </a:lnTo>
                  <a:lnTo>
                    <a:pt x="353" y="181"/>
                  </a:lnTo>
                  <a:lnTo>
                    <a:pt x="351" y="180"/>
                  </a:lnTo>
                  <a:cubicBezTo>
                    <a:pt x="342" y="177"/>
                    <a:pt x="336" y="177"/>
                    <a:pt x="331" y="180"/>
                  </a:cubicBezTo>
                  <a:cubicBezTo>
                    <a:pt x="326" y="183"/>
                    <a:pt x="322" y="189"/>
                    <a:pt x="318" y="200"/>
                  </a:cubicBezTo>
                  <a:lnTo>
                    <a:pt x="310" y="197"/>
                  </a:lnTo>
                  <a:lnTo>
                    <a:pt x="306" y="207"/>
                  </a:lnTo>
                  <a:lnTo>
                    <a:pt x="314" y="210"/>
                  </a:lnTo>
                  <a:cubicBezTo>
                    <a:pt x="310" y="221"/>
                    <a:pt x="308" y="230"/>
                    <a:pt x="310" y="235"/>
                  </a:cubicBezTo>
                  <a:cubicBezTo>
                    <a:pt x="312" y="241"/>
                    <a:pt x="317" y="245"/>
                    <a:pt x="325" y="248"/>
                  </a:cubicBezTo>
                  <a:cubicBezTo>
                    <a:pt x="335" y="252"/>
                    <a:pt x="341" y="252"/>
                    <a:pt x="346" y="249"/>
                  </a:cubicBezTo>
                  <a:cubicBezTo>
                    <a:pt x="351" y="246"/>
                    <a:pt x="356" y="239"/>
                    <a:pt x="360" y="228"/>
                  </a:cubicBezTo>
                  <a:lnTo>
                    <a:pt x="384" y="237"/>
                  </a:lnTo>
                  <a:lnTo>
                    <a:pt x="383" y="239"/>
                  </a:lnTo>
                  <a:cubicBezTo>
                    <a:pt x="380" y="245"/>
                    <a:pt x="378" y="248"/>
                    <a:pt x="376" y="249"/>
                  </a:cubicBezTo>
                  <a:cubicBezTo>
                    <a:pt x="374" y="251"/>
                    <a:pt x="370" y="250"/>
                    <a:pt x="365" y="248"/>
                  </a:cubicBezTo>
                  <a:lnTo>
                    <a:pt x="363" y="247"/>
                  </a:lnTo>
                  <a:lnTo>
                    <a:pt x="358" y="262"/>
                  </a:lnTo>
                  <a:lnTo>
                    <a:pt x="361" y="263"/>
                  </a:lnTo>
                  <a:cubicBezTo>
                    <a:pt x="369" y="266"/>
                    <a:pt x="376" y="267"/>
                    <a:pt x="381" y="264"/>
                  </a:cubicBezTo>
                  <a:cubicBezTo>
                    <a:pt x="386" y="261"/>
                    <a:pt x="391" y="255"/>
                    <a:pt x="395" y="244"/>
                  </a:cubicBezTo>
                  <a:lnTo>
                    <a:pt x="396" y="242"/>
                  </a:lnTo>
                  <a:lnTo>
                    <a:pt x="406" y="245"/>
                  </a:lnTo>
                  <a:lnTo>
                    <a:pt x="409" y="236"/>
                  </a:lnTo>
                  <a:lnTo>
                    <a:pt x="400" y="232"/>
                  </a:lnTo>
                  <a:lnTo>
                    <a:pt x="401" y="229"/>
                  </a:lnTo>
                  <a:close/>
                  <a:moveTo>
                    <a:pt x="347" y="225"/>
                  </a:moveTo>
                  <a:cubicBezTo>
                    <a:pt x="344" y="234"/>
                    <a:pt x="338" y="237"/>
                    <a:pt x="331" y="234"/>
                  </a:cubicBezTo>
                  <a:cubicBezTo>
                    <a:pt x="324" y="231"/>
                    <a:pt x="323" y="226"/>
                    <a:pt x="326" y="217"/>
                  </a:cubicBezTo>
                  <a:lnTo>
                    <a:pt x="327" y="215"/>
                  </a:lnTo>
                  <a:lnTo>
                    <a:pt x="348" y="223"/>
                  </a:lnTo>
                  <a:cubicBezTo>
                    <a:pt x="347" y="224"/>
                    <a:pt x="347" y="225"/>
                    <a:pt x="347" y="225"/>
                  </a:cubicBezTo>
                  <a:close/>
                  <a:moveTo>
                    <a:pt x="388" y="225"/>
                  </a:moveTo>
                  <a:lnTo>
                    <a:pt x="387" y="227"/>
                  </a:lnTo>
                  <a:lnTo>
                    <a:pt x="365" y="218"/>
                  </a:lnTo>
                  <a:cubicBezTo>
                    <a:pt x="367" y="212"/>
                    <a:pt x="370" y="208"/>
                    <a:pt x="372" y="206"/>
                  </a:cubicBezTo>
                  <a:cubicBezTo>
                    <a:pt x="374" y="205"/>
                    <a:pt x="377" y="205"/>
                    <a:pt x="382" y="207"/>
                  </a:cubicBezTo>
                  <a:cubicBezTo>
                    <a:pt x="390" y="210"/>
                    <a:pt x="392" y="216"/>
                    <a:pt x="388" y="22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grpSp>
        <p:nvGrpSpPr>
          <p:cNvPr id="178" name="组合 177"/>
          <p:cNvGrpSpPr/>
          <p:nvPr/>
        </p:nvGrpSpPr>
        <p:grpSpPr>
          <a:xfrm>
            <a:off x="3550278" y="5627232"/>
            <a:ext cx="503817" cy="501860"/>
            <a:chOff x="3533906" y="5627232"/>
            <a:chExt cx="503817" cy="501860"/>
          </a:xfrm>
        </p:grpSpPr>
        <p:sp>
          <p:nvSpPr>
            <p:cNvPr id="56" name="文本框 55"/>
            <p:cNvSpPr txBox="1"/>
            <p:nvPr/>
          </p:nvSpPr>
          <p:spPr>
            <a:xfrm>
              <a:off x="3533906" y="5910211"/>
              <a:ext cx="503817" cy="218881"/>
            </a:xfrm>
            <a:prstGeom prst="rect">
              <a:avLst/>
            </a:prstGeom>
            <a:noFill/>
          </p:spPr>
          <p:txBody>
            <a:bodyPr wrap="square" lIns="72000" tIns="0" rIns="72000" bIns="0" anchor="ctr" anchorCtr="0">
              <a:noAutofit/>
            </a:bodyPr>
            <a:lstStyle/>
            <a:p>
              <a:pPr algn="ctr"/>
              <a:r>
                <a:rPr lang="zh-CN" altLang="en-US" sz="1000" i="0" dirty="0">
                  <a:solidFill>
                    <a:srgbClr val="000000"/>
                  </a:solidFill>
                  <a:effectLst/>
                  <a:latin typeface="微软雅黑" panose="020B0503020204020204" charset="-122"/>
                  <a:ea typeface="微软雅黑" panose="020B0503020204020204" charset="-122"/>
                </a:rPr>
                <a:t>教育</a:t>
              </a:r>
              <a:endParaRPr lang="zh-CN" altLang="en-US" sz="1000" i="0" dirty="0">
                <a:solidFill>
                  <a:srgbClr val="000000"/>
                </a:solidFill>
                <a:effectLst/>
                <a:latin typeface="微软雅黑" panose="020B0503020204020204" charset="-122"/>
                <a:ea typeface="微软雅黑" panose="020B0503020204020204" charset="-122"/>
              </a:endParaRPr>
            </a:p>
          </p:txBody>
        </p:sp>
        <p:sp>
          <p:nvSpPr>
            <p:cNvPr id="175" name="mortarboard_120109"/>
            <p:cNvSpPr/>
            <p:nvPr/>
          </p:nvSpPr>
          <p:spPr>
            <a:xfrm>
              <a:off x="3552028" y="5627232"/>
              <a:ext cx="467572" cy="289010"/>
            </a:xfrm>
            <a:custGeom>
              <a:avLst/>
              <a:gdLst>
                <a:gd name="T0" fmla="*/ 3104 w 6171"/>
                <a:gd name="T1" fmla="*/ 4 h 3820"/>
                <a:gd name="T2" fmla="*/ 50 w 6171"/>
                <a:gd name="T3" fmla="*/ 858 h 3820"/>
                <a:gd name="T4" fmla="*/ 44 w 6171"/>
                <a:gd name="T5" fmla="*/ 985 h 3820"/>
                <a:gd name="T6" fmla="*/ 1450 w 6171"/>
                <a:gd name="T7" fmla="*/ 1951 h 3820"/>
                <a:gd name="T8" fmla="*/ 2989 w 6171"/>
                <a:gd name="T9" fmla="*/ 2850 h 3820"/>
                <a:gd name="T10" fmla="*/ 3218 w 6171"/>
                <a:gd name="T11" fmla="*/ 2850 h 3820"/>
                <a:gd name="T12" fmla="*/ 4756 w 6171"/>
                <a:gd name="T13" fmla="*/ 1951 h 3820"/>
                <a:gd name="T14" fmla="*/ 5028 w 6171"/>
                <a:gd name="T15" fmla="*/ 1409 h 3820"/>
                <a:gd name="T16" fmla="*/ 4845 w 6171"/>
                <a:gd name="T17" fmla="*/ 2916 h 3820"/>
                <a:gd name="T18" fmla="*/ 4895 w 6171"/>
                <a:gd name="T19" fmla="*/ 3316 h 3820"/>
                <a:gd name="T20" fmla="*/ 4769 w 6171"/>
                <a:gd name="T21" fmla="*/ 3716 h 3820"/>
                <a:gd name="T22" fmla="*/ 4825 w 6171"/>
                <a:gd name="T23" fmla="*/ 3805 h 3820"/>
                <a:gd name="T24" fmla="*/ 5364 w 6171"/>
                <a:gd name="T25" fmla="*/ 3805 h 3820"/>
                <a:gd name="T26" fmla="*/ 5420 w 6171"/>
                <a:gd name="T27" fmla="*/ 3716 h 3820"/>
                <a:gd name="T28" fmla="*/ 5344 w 6171"/>
                <a:gd name="T29" fmla="*/ 2916 h 3820"/>
                <a:gd name="T30" fmla="*/ 5161 w 6171"/>
                <a:gd name="T31" fmla="*/ 1357 h 3820"/>
                <a:gd name="T32" fmla="*/ 6170 w 6171"/>
                <a:gd name="T33" fmla="*/ 919 h 3820"/>
                <a:gd name="T34" fmla="*/ 4923 w 6171"/>
                <a:gd name="T35" fmla="*/ 3680 h 3820"/>
                <a:gd name="T36" fmla="*/ 5183 w 6171"/>
                <a:gd name="T37" fmla="*/ 3412 h 3820"/>
                <a:gd name="T38" fmla="*/ 4923 w 6171"/>
                <a:gd name="T39" fmla="*/ 3680 h 3820"/>
                <a:gd name="T40" fmla="*/ 5042 w 6171"/>
                <a:gd name="T41" fmla="*/ 3279 h 3820"/>
                <a:gd name="T42" fmla="*/ 5095 w 6171"/>
                <a:gd name="T43" fmla="*/ 3166 h 3820"/>
                <a:gd name="T44" fmla="*/ 5147 w 6171"/>
                <a:gd name="T45" fmla="*/ 3279 h 3820"/>
                <a:gd name="T46" fmla="*/ 5095 w 6171"/>
                <a:gd name="T47" fmla="*/ 3032 h 3820"/>
                <a:gd name="T48" fmla="*/ 5095 w 6171"/>
                <a:gd name="T49" fmla="*/ 2800 h 3820"/>
                <a:gd name="T50" fmla="*/ 4582 w 6171"/>
                <a:gd name="T51" fmla="*/ 1634 h 3820"/>
                <a:gd name="T52" fmla="*/ 3969 w 6171"/>
                <a:gd name="T53" fmla="*/ 1942 h 3820"/>
                <a:gd name="T54" fmla="*/ 4055 w 6171"/>
                <a:gd name="T55" fmla="*/ 1980 h 3820"/>
                <a:gd name="T56" fmla="*/ 4608 w 6171"/>
                <a:gd name="T57" fmla="*/ 1844 h 3820"/>
                <a:gd name="T58" fmla="*/ 4292 w 6171"/>
                <a:gd name="T59" fmla="*/ 2037 h 3820"/>
                <a:gd name="T60" fmla="*/ 4378 w 6171"/>
                <a:gd name="T61" fmla="*/ 2075 h 3820"/>
                <a:gd name="T62" fmla="*/ 4566 w 6171"/>
                <a:gd name="T63" fmla="*/ 2078 h 3820"/>
                <a:gd name="T64" fmla="*/ 3185 w 6171"/>
                <a:gd name="T65" fmla="*/ 2721 h 3820"/>
                <a:gd name="T66" fmla="*/ 3024 w 6171"/>
                <a:gd name="T67" fmla="*/ 2722 h 3820"/>
                <a:gd name="T68" fmla="*/ 1643 w 6171"/>
                <a:gd name="T69" fmla="*/ 2080 h 3820"/>
                <a:gd name="T70" fmla="*/ 1583 w 6171"/>
                <a:gd name="T71" fmla="*/ 1994 h 3820"/>
                <a:gd name="T72" fmla="*/ 1816 w 6171"/>
                <a:gd name="T73" fmla="*/ 2080 h 3820"/>
                <a:gd name="T74" fmla="*/ 1840 w 6171"/>
                <a:gd name="T75" fmla="*/ 1951 h 3820"/>
                <a:gd name="T76" fmla="*/ 1606 w 6171"/>
                <a:gd name="T77" fmla="*/ 1784 h 3820"/>
                <a:gd name="T78" fmla="*/ 2140 w 6171"/>
                <a:gd name="T79" fmla="*/ 1985 h 3820"/>
                <a:gd name="T80" fmla="*/ 2164 w 6171"/>
                <a:gd name="T81" fmla="*/ 1856 h 3820"/>
                <a:gd name="T82" fmla="*/ 1629 w 6171"/>
                <a:gd name="T83" fmla="*/ 1596 h 3820"/>
                <a:gd name="T84" fmla="*/ 3085 w 6171"/>
                <a:gd name="T85" fmla="*/ 2153 h 3820"/>
                <a:gd name="T86" fmla="*/ 4576 w 6171"/>
                <a:gd name="T87" fmla="*/ 1583 h 3820"/>
                <a:gd name="T88" fmla="*/ 5044 w 6171"/>
                <a:gd name="T89" fmla="*/ 1259 h 3820"/>
                <a:gd name="T90" fmla="*/ 3020 w 6171"/>
                <a:gd name="T91" fmla="*/ 909 h 3820"/>
                <a:gd name="T92" fmla="*/ 4814 w 6171"/>
                <a:gd name="T93" fmla="*/ 1348 h 3820"/>
                <a:gd name="T94" fmla="*/ 278 w 6171"/>
                <a:gd name="T95" fmla="*/ 932 h 3820"/>
                <a:gd name="T96" fmla="*/ 5893 w 6171"/>
                <a:gd name="T97" fmla="*/ 932 h 38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171" h="3820">
                  <a:moveTo>
                    <a:pt x="6121" y="858"/>
                  </a:moveTo>
                  <a:lnTo>
                    <a:pt x="3104" y="4"/>
                  </a:lnTo>
                  <a:cubicBezTo>
                    <a:pt x="3092" y="0"/>
                    <a:pt x="3079" y="0"/>
                    <a:pt x="3067" y="4"/>
                  </a:cubicBezTo>
                  <a:lnTo>
                    <a:pt x="50" y="858"/>
                  </a:lnTo>
                  <a:cubicBezTo>
                    <a:pt x="22" y="866"/>
                    <a:pt x="2" y="891"/>
                    <a:pt x="1" y="919"/>
                  </a:cubicBezTo>
                  <a:cubicBezTo>
                    <a:pt x="0" y="948"/>
                    <a:pt x="17" y="974"/>
                    <a:pt x="44" y="985"/>
                  </a:cubicBezTo>
                  <a:lnTo>
                    <a:pt x="1501" y="1547"/>
                  </a:lnTo>
                  <a:lnTo>
                    <a:pt x="1450" y="1951"/>
                  </a:lnTo>
                  <a:cubicBezTo>
                    <a:pt x="1438" y="2048"/>
                    <a:pt x="1486" y="2143"/>
                    <a:pt x="1573" y="2194"/>
                  </a:cubicBezTo>
                  <a:cubicBezTo>
                    <a:pt x="1851" y="2366"/>
                    <a:pt x="2726" y="2787"/>
                    <a:pt x="2989" y="2850"/>
                  </a:cubicBezTo>
                  <a:cubicBezTo>
                    <a:pt x="3026" y="2861"/>
                    <a:pt x="3065" y="2866"/>
                    <a:pt x="3103" y="2866"/>
                  </a:cubicBezTo>
                  <a:cubicBezTo>
                    <a:pt x="3142" y="2866"/>
                    <a:pt x="3180" y="2861"/>
                    <a:pt x="3218" y="2850"/>
                  </a:cubicBezTo>
                  <a:cubicBezTo>
                    <a:pt x="3480" y="2787"/>
                    <a:pt x="4356" y="2366"/>
                    <a:pt x="4633" y="2194"/>
                  </a:cubicBezTo>
                  <a:cubicBezTo>
                    <a:pt x="4721" y="2143"/>
                    <a:pt x="4769" y="2048"/>
                    <a:pt x="4756" y="1951"/>
                  </a:cubicBezTo>
                  <a:lnTo>
                    <a:pt x="4704" y="1534"/>
                  </a:lnTo>
                  <a:lnTo>
                    <a:pt x="5028" y="1409"/>
                  </a:lnTo>
                  <a:lnTo>
                    <a:pt x="5028" y="2676"/>
                  </a:lnTo>
                  <a:cubicBezTo>
                    <a:pt x="4923" y="2705"/>
                    <a:pt x="4845" y="2802"/>
                    <a:pt x="4845" y="2916"/>
                  </a:cubicBezTo>
                  <a:cubicBezTo>
                    <a:pt x="4845" y="2997"/>
                    <a:pt x="4884" y="3069"/>
                    <a:pt x="4944" y="3115"/>
                  </a:cubicBezTo>
                  <a:cubicBezTo>
                    <a:pt x="4929" y="3182"/>
                    <a:pt x="4913" y="3249"/>
                    <a:pt x="4895" y="3316"/>
                  </a:cubicBezTo>
                  <a:cubicBezTo>
                    <a:pt x="4891" y="3323"/>
                    <a:pt x="4889" y="3331"/>
                    <a:pt x="4888" y="3340"/>
                  </a:cubicBezTo>
                  <a:cubicBezTo>
                    <a:pt x="4853" y="3467"/>
                    <a:pt x="4814" y="3592"/>
                    <a:pt x="4769" y="3716"/>
                  </a:cubicBezTo>
                  <a:cubicBezTo>
                    <a:pt x="4762" y="3735"/>
                    <a:pt x="4765" y="3756"/>
                    <a:pt x="4775" y="3774"/>
                  </a:cubicBezTo>
                  <a:cubicBezTo>
                    <a:pt x="4786" y="3791"/>
                    <a:pt x="4804" y="3802"/>
                    <a:pt x="4825" y="3805"/>
                  </a:cubicBezTo>
                  <a:cubicBezTo>
                    <a:pt x="4914" y="3815"/>
                    <a:pt x="5004" y="3820"/>
                    <a:pt x="5095" y="3820"/>
                  </a:cubicBezTo>
                  <a:cubicBezTo>
                    <a:pt x="5185" y="3820"/>
                    <a:pt x="5275" y="3815"/>
                    <a:pt x="5364" y="3805"/>
                  </a:cubicBezTo>
                  <a:cubicBezTo>
                    <a:pt x="5385" y="3802"/>
                    <a:pt x="5403" y="3791"/>
                    <a:pt x="5414" y="3774"/>
                  </a:cubicBezTo>
                  <a:cubicBezTo>
                    <a:pt x="5424" y="3756"/>
                    <a:pt x="5427" y="3735"/>
                    <a:pt x="5420" y="3716"/>
                  </a:cubicBezTo>
                  <a:cubicBezTo>
                    <a:pt x="5349" y="3519"/>
                    <a:pt x="5291" y="3317"/>
                    <a:pt x="5245" y="3115"/>
                  </a:cubicBezTo>
                  <a:cubicBezTo>
                    <a:pt x="5305" y="3069"/>
                    <a:pt x="5344" y="2997"/>
                    <a:pt x="5344" y="2916"/>
                  </a:cubicBezTo>
                  <a:cubicBezTo>
                    <a:pt x="5344" y="2802"/>
                    <a:pt x="5267" y="2705"/>
                    <a:pt x="5161" y="2676"/>
                  </a:cubicBezTo>
                  <a:lnTo>
                    <a:pt x="5161" y="1357"/>
                  </a:lnTo>
                  <a:lnTo>
                    <a:pt x="6127" y="985"/>
                  </a:lnTo>
                  <a:cubicBezTo>
                    <a:pt x="6154" y="974"/>
                    <a:pt x="6171" y="948"/>
                    <a:pt x="6170" y="919"/>
                  </a:cubicBezTo>
                  <a:cubicBezTo>
                    <a:pt x="6168" y="891"/>
                    <a:pt x="6149" y="866"/>
                    <a:pt x="6121" y="858"/>
                  </a:cubicBezTo>
                  <a:close/>
                  <a:moveTo>
                    <a:pt x="4923" y="3680"/>
                  </a:moveTo>
                  <a:cubicBezTo>
                    <a:pt x="4953" y="3591"/>
                    <a:pt x="4981" y="3502"/>
                    <a:pt x="5006" y="3412"/>
                  </a:cubicBezTo>
                  <a:lnTo>
                    <a:pt x="5183" y="3412"/>
                  </a:lnTo>
                  <a:cubicBezTo>
                    <a:pt x="5208" y="3502"/>
                    <a:pt x="5236" y="3591"/>
                    <a:pt x="5266" y="3680"/>
                  </a:cubicBezTo>
                  <a:cubicBezTo>
                    <a:pt x="5152" y="3688"/>
                    <a:pt x="5037" y="3688"/>
                    <a:pt x="4923" y="3680"/>
                  </a:cubicBezTo>
                  <a:close/>
                  <a:moveTo>
                    <a:pt x="5147" y="3279"/>
                  </a:moveTo>
                  <a:lnTo>
                    <a:pt x="5042" y="3279"/>
                  </a:lnTo>
                  <a:cubicBezTo>
                    <a:pt x="5052" y="3241"/>
                    <a:pt x="5061" y="3202"/>
                    <a:pt x="5070" y="3164"/>
                  </a:cubicBezTo>
                  <a:cubicBezTo>
                    <a:pt x="5078" y="3165"/>
                    <a:pt x="5086" y="3166"/>
                    <a:pt x="5095" y="3166"/>
                  </a:cubicBezTo>
                  <a:cubicBezTo>
                    <a:pt x="5103" y="3166"/>
                    <a:pt x="5111" y="3165"/>
                    <a:pt x="5119" y="3164"/>
                  </a:cubicBezTo>
                  <a:cubicBezTo>
                    <a:pt x="5128" y="3202"/>
                    <a:pt x="5137" y="3241"/>
                    <a:pt x="5147" y="3279"/>
                  </a:cubicBezTo>
                  <a:close/>
                  <a:moveTo>
                    <a:pt x="5211" y="2916"/>
                  </a:moveTo>
                  <a:cubicBezTo>
                    <a:pt x="5211" y="2980"/>
                    <a:pt x="5159" y="3032"/>
                    <a:pt x="5095" y="3032"/>
                  </a:cubicBezTo>
                  <a:cubicBezTo>
                    <a:pt x="5030" y="3032"/>
                    <a:pt x="4978" y="2980"/>
                    <a:pt x="4978" y="2916"/>
                  </a:cubicBezTo>
                  <a:cubicBezTo>
                    <a:pt x="4978" y="2852"/>
                    <a:pt x="5030" y="2800"/>
                    <a:pt x="5095" y="2800"/>
                  </a:cubicBezTo>
                  <a:cubicBezTo>
                    <a:pt x="5159" y="2800"/>
                    <a:pt x="5211" y="2852"/>
                    <a:pt x="5211" y="2916"/>
                  </a:cubicBezTo>
                  <a:close/>
                  <a:moveTo>
                    <a:pt x="4582" y="1634"/>
                  </a:moveTo>
                  <a:lnTo>
                    <a:pt x="4007" y="1856"/>
                  </a:lnTo>
                  <a:cubicBezTo>
                    <a:pt x="3973" y="1869"/>
                    <a:pt x="3956" y="1908"/>
                    <a:pt x="3969" y="1942"/>
                  </a:cubicBezTo>
                  <a:cubicBezTo>
                    <a:pt x="3979" y="1969"/>
                    <a:pt x="4004" y="1985"/>
                    <a:pt x="4031" y="1985"/>
                  </a:cubicBezTo>
                  <a:cubicBezTo>
                    <a:pt x="4039" y="1985"/>
                    <a:pt x="4047" y="1983"/>
                    <a:pt x="4055" y="1980"/>
                  </a:cubicBezTo>
                  <a:lnTo>
                    <a:pt x="4599" y="1771"/>
                  </a:lnTo>
                  <a:lnTo>
                    <a:pt x="4608" y="1844"/>
                  </a:lnTo>
                  <a:lnTo>
                    <a:pt x="4330" y="1951"/>
                  </a:lnTo>
                  <a:cubicBezTo>
                    <a:pt x="4296" y="1964"/>
                    <a:pt x="4279" y="2003"/>
                    <a:pt x="4292" y="2037"/>
                  </a:cubicBezTo>
                  <a:cubicBezTo>
                    <a:pt x="4302" y="2063"/>
                    <a:pt x="4328" y="2080"/>
                    <a:pt x="4354" y="2080"/>
                  </a:cubicBezTo>
                  <a:cubicBezTo>
                    <a:pt x="4362" y="2080"/>
                    <a:pt x="4370" y="2078"/>
                    <a:pt x="4378" y="2075"/>
                  </a:cubicBezTo>
                  <a:lnTo>
                    <a:pt x="4625" y="1980"/>
                  </a:lnTo>
                  <a:cubicBezTo>
                    <a:pt x="4625" y="2020"/>
                    <a:pt x="4603" y="2057"/>
                    <a:pt x="4566" y="2078"/>
                  </a:cubicBezTo>
                  <a:cubicBezTo>
                    <a:pt x="4565" y="2079"/>
                    <a:pt x="4565" y="2079"/>
                    <a:pt x="4564" y="2080"/>
                  </a:cubicBezTo>
                  <a:cubicBezTo>
                    <a:pt x="4275" y="2259"/>
                    <a:pt x="3416" y="2666"/>
                    <a:pt x="3185" y="2721"/>
                  </a:cubicBezTo>
                  <a:cubicBezTo>
                    <a:pt x="3185" y="2721"/>
                    <a:pt x="3184" y="2721"/>
                    <a:pt x="3183" y="2722"/>
                  </a:cubicBezTo>
                  <a:cubicBezTo>
                    <a:pt x="3131" y="2736"/>
                    <a:pt x="3076" y="2736"/>
                    <a:pt x="3024" y="2722"/>
                  </a:cubicBezTo>
                  <a:cubicBezTo>
                    <a:pt x="3023" y="2721"/>
                    <a:pt x="3022" y="2721"/>
                    <a:pt x="3021" y="2721"/>
                  </a:cubicBezTo>
                  <a:cubicBezTo>
                    <a:pt x="2790" y="2666"/>
                    <a:pt x="1932" y="2259"/>
                    <a:pt x="1643" y="2080"/>
                  </a:cubicBezTo>
                  <a:cubicBezTo>
                    <a:pt x="1642" y="2079"/>
                    <a:pt x="1641" y="2079"/>
                    <a:pt x="1640" y="2078"/>
                  </a:cubicBezTo>
                  <a:cubicBezTo>
                    <a:pt x="1608" y="2060"/>
                    <a:pt x="1587" y="2028"/>
                    <a:pt x="1583" y="1994"/>
                  </a:cubicBezTo>
                  <a:lnTo>
                    <a:pt x="1793" y="2075"/>
                  </a:lnTo>
                  <a:cubicBezTo>
                    <a:pt x="1800" y="2078"/>
                    <a:pt x="1809" y="2080"/>
                    <a:pt x="1816" y="2080"/>
                  </a:cubicBezTo>
                  <a:cubicBezTo>
                    <a:pt x="1843" y="2080"/>
                    <a:pt x="1869" y="2063"/>
                    <a:pt x="1879" y="2037"/>
                  </a:cubicBezTo>
                  <a:cubicBezTo>
                    <a:pt x="1892" y="2003"/>
                    <a:pt x="1875" y="1964"/>
                    <a:pt x="1840" y="1951"/>
                  </a:cubicBezTo>
                  <a:lnTo>
                    <a:pt x="1596" y="1857"/>
                  </a:lnTo>
                  <a:lnTo>
                    <a:pt x="1606" y="1784"/>
                  </a:lnTo>
                  <a:lnTo>
                    <a:pt x="2116" y="1980"/>
                  </a:lnTo>
                  <a:cubicBezTo>
                    <a:pt x="2124" y="1983"/>
                    <a:pt x="2132" y="1985"/>
                    <a:pt x="2140" y="1985"/>
                  </a:cubicBezTo>
                  <a:cubicBezTo>
                    <a:pt x="2167" y="1985"/>
                    <a:pt x="2192" y="1969"/>
                    <a:pt x="2202" y="1942"/>
                  </a:cubicBezTo>
                  <a:cubicBezTo>
                    <a:pt x="2215" y="1908"/>
                    <a:pt x="2198" y="1869"/>
                    <a:pt x="2164" y="1856"/>
                  </a:cubicBezTo>
                  <a:lnTo>
                    <a:pt x="1623" y="1647"/>
                  </a:lnTo>
                  <a:lnTo>
                    <a:pt x="1629" y="1596"/>
                  </a:lnTo>
                  <a:lnTo>
                    <a:pt x="3061" y="2148"/>
                  </a:lnTo>
                  <a:cubicBezTo>
                    <a:pt x="3069" y="2151"/>
                    <a:pt x="3077" y="2153"/>
                    <a:pt x="3085" y="2153"/>
                  </a:cubicBezTo>
                  <a:cubicBezTo>
                    <a:pt x="3094" y="2153"/>
                    <a:pt x="3102" y="2151"/>
                    <a:pt x="3109" y="2148"/>
                  </a:cubicBezTo>
                  <a:lnTo>
                    <a:pt x="4576" y="1583"/>
                  </a:lnTo>
                  <a:lnTo>
                    <a:pt x="4582" y="1634"/>
                  </a:lnTo>
                  <a:close/>
                  <a:moveTo>
                    <a:pt x="5044" y="1259"/>
                  </a:moveTo>
                  <a:lnTo>
                    <a:pt x="3099" y="857"/>
                  </a:lnTo>
                  <a:cubicBezTo>
                    <a:pt x="3063" y="850"/>
                    <a:pt x="3028" y="873"/>
                    <a:pt x="3020" y="909"/>
                  </a:cubicBezTo>
                  <a:cubicBezTo>
                    <a:pt x="3013" y="945"/>
                    <a:pt x="3036" y="980"/>
                    <a:pt x="3072" y="988"/>
                  </a:cubicBezTo>
                  <a:lnTo>
                    <a:pt x="4814" y="1348"/>
                  </a:lnTo>
                  <a:lnTo>
                    <a:pt x="3085" y="2015"/>
                  </a:lnTo>
                  <a:lnTo>
                    <a:pt x="278" y="932"/>
                  </a:lnTo>
                  <a:lnTo>
                    <a:pt x="3085" y="137"/>
                  </a:lnTo>
                  <a:lnTo>
                    <a:pt x="5893" y="932"/>
                  </a:lnTo>
                  <a:lnTo>
                    <a:pt x="5044" y="125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auto"/>
        <p:txBody>
          <a:bodyPr vert="horz" wrap="square"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看大势：全面步入人工智能阶段知识工程面临的新形势——行业标准</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1" name="Rectangle 2"/>
          <p:cNvSpPr/>
          <p:nvPr/>
        </p:nvSpPr>
        <p:spPr>
          <a:xfrm>
            <a:off x="6436360" y="1353820"/>
            <a:ext cx="5384165" cy="14001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C00000"/>
              </a:buClr>
              <a:buSzTx/>
              <a:buFont typeface="Wingdings" panose="05000000000000000000" pitchFamily="2" charset="2"/>
              <a:buChar char="n"/>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信通院自</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2024</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年起陆续发布了系列针对</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知识在人工智能场景中的能力评估及技术标准</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，我行在智能知识图谱构建</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智能交互应用、知识检索能力</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质量评估</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能力上仍有提升空间。</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48" name="组合 47"/>
          <p:cNvGrpSpPr/>
          <p:nvPr/>
        </p:nvGrpSpPr>
        <p:grpSpPr>
          <a:xfrm>
            <a:off x="284200" y="1090962"/>
            <a:ext cx="5653251" cy="1094617"/>
            <a:chOff x="814198" y="4119931"/>
            <a:chExt cx="4870800" cy="1094617"/>
          </a:xfrm>
        </p:grpSpPr>
        <p:grpSp>
          <p:nvGrpSpPr>
            <p:cNvPr id="49" name="组合 48"/>
            <p:cNvGrpSpPr/>
            <p:nvPr/>
          </p:nvGrpSpPr>
          <p:grpSpPr>
            <a:xfrm>
              <a:off x="814198" y="4119931"/>
              <a:ext cx="4788000" cy="405333"/>
              <a:chOff x="481006" y="4648835"/>
              <a:chExt cx="4788000" cy="405333"/>
            </a:xfrm>
          </p:grpSpPr>
          <p:sp>
            <p:nvSpPr>
              <p:cNvPr id="50" name="文本框 49"/>
              <p:cNvSpPr txBox="1"/>
              <p:nvPr/>
            </p:nvSpPr>
            <p:spPr>
              <a:xfrm>
                <a:off x="481006" y="4648835"/>
                <a:ext cx="4081451" cy="306705"/>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《大模型驱动的智能知识图谱技术要求》</a:t>
                </a:r>
                <a:r>
                  <a:rPr lang="zh-CN" altLang="en-US" sz="1400" b="1" noProof="0" dirty="0">
                    <a:ln>
                      <a:noFill/>
                    </a:ln>
                    <a:solidFill>
                      <a:srgbClr val="4472C4">
                        <a:lumMod val="75000"/>
                      </a:srgbClr>
                    </a:solidFill>
                    <a:effectLst/>
                    <a:uLnTx/>
                    <a:uFillTx/>
                    <a:latin typeface="微软雅黑" panose="020B0503020204020204" charset="-122"/>
                    <a:ea typeface="微软雅黑" panose="020B0503020204020204" charset="-122"/>
                    <a:sym typeface="+mn-ea"/>
                  </a:rPr>
                  <a:t>-2024 年 6 月</a:t>
                </a:r>
                <a:endPar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endParaRPr>
              </a:p>
            </p:txBody>
          </p:sp>
          <p:grpSp>
            <p:nvGrpSpPr>
              <p:cNvPr id="51" name="组合 50"/>
              <p:cNvGrpSpPr/>
              <p:nvPr/>
            </p:nvGrpSpPr>
            <p:grpSpPr>
              <a:xfrm>
                <a:off x="481006" y="5016068"/>
                <a:ext cx="4788000" cy="38100"/>
                <a:chOff x="561975" y="5197043"/>
                <a:chExt cx="4400550" cy="38100"/>
              </a:xfrm>
            </p:grpSpPr>
            <p:cxnSp>
              <p:nvCxnSpPr>
                <p:cNvPr id="52" name="直接连接符 51"/>
                <p:cNvCxnSpPr/>
                <p:nvPr/>
              </p:nvCxnSpPr>
              <p:spPr>
                <a:xfrm>
                  <a:off x="561975" y="5197043"/>
                  <a:ext cx="4400550" cy="0"/>
                </a:xfrm>
                <a:prstGeom prst="line">
                  <a:avLst/>
                </a:prstGeom>
                <a:ln w="38100" cmpd="sng"/>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561975" y="5235143"/>
                  <a:ext cx="4400550" cy="0"/>
                </a:xfrm>
                <a:prstGeom prst="line">
                  <a:avLst/>
                </a:prstGeom>
                <a:ln w="12700" cmpd="sng"/>
              </p:spPr>
              <p:style>
                <a:lnRef idx="1">
                  <a:schemeClr val="accent1"/>
                </a:lnRef>
                <a:fillRef idx="0">
                  <a:schemeClr val="accent1"/>
                </a:fillRef>
                <a:effectRef idx="0">
                  <a:schemeClr val="accent1"/>
                </a:effectRef>
                <a:fontRef idx="minor">
                  <a:schemeClr val="tx1"/>
                </a:fontRef>
              </p:style>
            </p:cxnSp>
          </p:grpSp>
        </p:grpSp>
        <p:sp>
          <p:nvSpPr>
            <p:cNvPr id="67" name="文本框 66"/>
            <p:cNvSpPr txBox="1"/>
            <p:nvPr/>
          </p:nvSpPr>
          <p:spPr>
            <a:xfrm>
              <a:off x="814198" y="4525263"/>
              <a:ext cx="4870800" cy="689285"/>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此标准包含数据准备、模型场景化适配、智能试试图谱构建、智能交互应用、知识图谱存储与管理</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6</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大能力域，</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14</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个能力子域，</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50</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余项技术要求</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69" name="组合 68"/>
          <p:cNvGrpSpPr/>
          <p:nvPr/>
        </p:nvGrpSpPr>
        <p:grpSpPr>
          <a:xfrm>
            <a:off x="6262523" y="3993547"/>
            <a:ext cx="5653251" cy="1094617"/>
            <a:chOff x="5933892" y="4119931"/>
            <a:chExt cx="4870800" cy="1094617"/>
          </a:xfrm>
        </p:grpSpPr>
        <p:grpSp>
          <p:nvGrpSpPr>
            <p:cNvPr id="70" name="组合 69"/>
            <p:cNvGrpSpPr/>
            <p:nvPr/>
          </p:nvGrpSpPr>
          <p:grpSpPr>
            <a:xfrm>
              <a:off x="5933892" y="4119931"/>
              <a:ext cx="4788000" cy="405765"/>
              <a:chOff x="6143624" y="4648835"/>
              <a:chExt cx="4788000" cy="405765"/>
            </a:xfrm>
          </p:grpSpPr>
          <p:sp>
            <p:nvSpPr>
              <p:cNvPr id="71" name="文本框 70"/>
              <p:cNvSpPr txBox="1"/>
              <p:nvPr/>
            </p:nvSpPr>
            <p:spPr>
              <a:xfrm>
                <a:off x="6143624" y="4648835"/>
                <a:ext cx="3712151" cy="405765"/>
              </a:xfrm>
              <a:prstGeom prst="rect">
                <a:avLst/>
              </a:prstGeom>
              <a:noFill/>
            </p:spPr>
            <p:txBody>
              <a:bodyPr wrap="square" l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检索增强生成</a:t>
                </a:r>
                <a:r>
                  <a:rPr kumimoji="0" lang="en-US" altLang="zh-CN"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(RAG)</a:t>
                </a:r>
                <a:r>
                  <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技术要求</a:t>
                </a:r>
                <a:r>
                  <a:rPr kumimoji="0" lang="en-US" altLang="zh-CN"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rPr>
                  <a:t>-2026 年 4 月</a:t>
                </a:r>
                <a:r>
                  <a:rPr kumimoji="0" lang="zh-CN" altLang="en-US" sz="1000" i="0" u="none" strike="noStrike" kern="1200" cap="none" spc="0" normalizeH="0" baseline="0" noProof="0" dirty="0">
                    <a:ln>
                      <a:noFill/>
                    </a:ln>
                    <a:solidFill>
                      <a:schemeClr val="bg1">
                        <a:lumMod val="50000"/>
                      </a:schemeClr>
                    </a:solidFill>
                    <a:effectLst/>
                    <a:uLnTx/>
                    <a:uFillTx/>
                    <a:latin typeface="微软雅黑" panose="020B0503020204020204" charset="-122"/>
                    <a:ea typeface="微软雅黑" panose="020B0503020204020204" charset="-122"/>
                    <a:cs typeface="微软雅黑" panose="020B0503020204020204" charset="-122"/>
                  </a:rPr>
                  <a:t> </a:t>
                </a:r>
                <a:endParaRPr kumimoji="0" lang="zh-CN" altLang="en-US" sz="1000" i="0" u="none" strike="noStrike" kern="1200" cap="none" spc="0" normalizeH="0" baseline="0" noProof="0" dirty="0">
                  <a:ln>
                    <a:noFill/>
                  </a:ln>
                  <a:solidFill>
                    <a:schemeClr val="bg1">
                      <a:lumMod val="5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72" name="组合 71"/>
              <p:cNvGrpSpPr/>
              <p:nvPr/>
            </p:nvGrpSpPr>
            <p:grpSpPr>
              <a:xfrm>
                <a:off x="6143624" y="5001432"/>
                <a:ext cx="4788000" cy="38100"/>
                <a:chOff x="6435446" y="5182407"/>
                <a:chExt cx="4400550" cy="38100"/>
              </a:xfrm>
            </p:grpSpPr>
            <p:cxnSp>
              <p:nvCxnSpPr>
                <p:cNvPr id="73" name="直接连接符 72"/>
                <p:cNvCxnSpPr/>
                <p:nvPr/>
              </p:nvCxnSpPr>
              <p:spPr>
                <a:xfrm>
                  <a:off x="6435446" y="5182407"/>
                  <a:ext cx="4400550" cy="0"/>
                </a:xfrm>
                <a:prstGeom prst="line">
                  <a:avLst/>
                </a:prstGeom>
                <a:ln w="38100" cmpd="sng"/>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6435446" y="5220507"/>
                  <a:ext cx="4400550" cy="0"/>
                </a:xfrm>
                <a:prstGeom prst="line">
                  <a:avLst/>
                </a:prstGeom>
                <a:ln w="12700" cmpd="sng"/>
              </p:spPr>
              <p:style>
                <a:lnRef idx="1">
                  <a:schemeClr val="accent1"/>
                </a:lnRef>
                <a:fillRef idx="0">
                  <a:schemeClr val="accent1"/>
                </a:fillRef>
                <a:effectRef idx="0">
                  <a:schemeClr val="accent1"/>
                </a:effectRef>
                <a:fontRef idx="minor">
                  <a:schemeClr val="tx1"/>
                </a:fontRef>
              </p:style>
            </p:cxnSp>
          </p:grpSp>
        </p:grpSp>
        <p:sp>
          <p:nvSpPr>
            <p:cNvPr id="75" name="文本框 74"/>
            <p:cNvSpPr txBox="1"/>
            <p:nvPr/>
          </p:nvSpPr>
          <p:spPr>
            <a:xfrm>
              <a:off x="5933892" y="4525263"/>
              <a:ext cx="4870800" cy="689285"/>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此标准包含知识库构建能力、知识检索能力、内容生成能力、质量评估能力、平台能力等五大能力域，19个能力子域,50余个能力项。</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83" name="组合 82"/>
          <p:cNvGrpSpPr/>
          <p:nvPr/>
        </p:nvGrpSpPr>
        <p:grpSpPr>
          <a:xfrm>
            <a:off x="240030" y="2024287"/>
            <a:ext cx="5601319" cy="1569177"/>
            <a:chOff x="276226" y="5164998"/>
            <a:chExt cx="3772806" cy="1253669"/>
          </a:xfrm>
        </p:grpSpPr>
        <p:pic>
          <p:nvPicPr>
            <p:cNvPr id="84" name="Picture 9"/>
            <p:cNvPicPr>
              <a:picLocks noChangeAspect="1"/>
            </p:cNvPicPr>
            <p:nvPr/>
          </p:nvPicPr>
          <p:blipFill>
            <a:blip r:embed="rId1">
              <a:duotone>
                <a:schemeClr val="accent1">
                  <a:shade val="45000"/>
                  <a:satMod val="135000"/>
                </a:schemeClr>
                <a:prstClr val="white"/>
              </a:duotone>
            </a:blip>
            <a:srcRect t="34658" r="27341" b="12936"/>
            <a:stretch>
              <a:fillRect/>
            </a:stretch>
          </p:blipFill>
          <p:spPr>
            <a:xfrm>
              <a:off x="276226" y="5164998"/>
              <a:ext cx="3772806" cy="1079500"/>
            </a:xfrm>
            <a:prstGeom prst="rect">
              <a:avLst/>
            </a:prstGeom>
          </p:spPr>
        </p:pic>
        <p:sp>
          <p:nvSpPr>
            <p:cNvPr id="85" name="矩形 84"/>
            <p:cNvSpPr/>
            <p:nvPr/>
          </p:nvSpPr>
          <p:spPr>
            <a:xfrm>
              <a:off x="368300" y="5956300"/>
              <a:ext cx="1390650" cy="4623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pic>
        <p:nvPicPr>
          <p:cNvPr id="86" name="Picture 14"/>
          <p:cNvPicPr>
            <a:picLocks noChangeAspect="1"/>
          </p:cNvPicPr>
          <p:nvPr/>
        </p:nvPicPr>
        <p:blipFill>
          <a:blip r:embed="rId2">
            <a:duotone>
              <a:schemeClr val="accent1">
                <a:shade val="45000"/>
                <a:satMod val="135000"/>
              </a:schemeClr>
              <a:prstClr val="white"/>
            </a:duotone>
          </a:blip>
          <a:srcRect l="1203" t="44042" r="24227" b="6107"/>
          <a:stretch>
            <a:fillRect/>
          </a:stretch>
        </p:blipFill>
        <p:spPr>
          <a:xfrm>
            <a:off x="6262522" y="4926873"/>
            <a:ext cx="5557149" cy="1399624"/>
          </a:xfrm>
          <a:prstGeom prst="rect">
            <a:avLst/>
          </a:prstGeom>
        </p:spPr>
      </p:pic>
      <p:sp>
        <p:nvSpPr>
          <p:cNvPr id="87" name="Rectangle 2"/>
          <p:cNvSpPr/>
          <p:nvPr/>
        </p:nvSpPr>
        <p:spPr>
          <a:xfrm>
            <a:off x="7479792" y="5283708"/>
            <a:ext cx="920496" cy="633611"/>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8" name="Rectangle 5"/>
          <p:cNvSpPr/>
          <p:nvPr/>
        </p:nvSpPr>
        <p:spPr>
          <a:xfrm>
            <a:off x="9649731" y="5283004"/>
            <a:ext cx="920496" cy="633611"/>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9" name="Rectangle 6"/>
          <p:cNvSpPr/>
          <p:nvPr/>
        </p:nvSpPr>
        <p:spPr>
          <a:xfrm>
            <a:off x="2535556" y="2364447"/>
            <a:ext cx="920496" cy="827786"/>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90" name="Rectangle 9"/>
          <p:cNvSpPr/>
          <p:nvPr/>
        </p:nvSpPr>
        <p:spPr>
          <a:xfrm>
            <a:off x="3583333" y="2380418"/>
            <a:ext cx="920496" cy="995043"/>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3" name="组合 2"/>
          <p:cNvGrpSpPr/>
          <p:nvPr/>
        </p:nvGrpSpPr>
        <p:grpSpPr>
          <a:xfrm rot="0">
            <a:off x="262890" y="3974465"/>
            <a:ext cx="5650865" cy="400050"/>
            <a:chOff x="481005" y="2035292"/>
            <a:chExt cx="4868970" cy="400026"/>
          </a:xfrm>
        </p:grpSpPr>
        <p:sp>
          <p:nvSpPr>
            <p:cNvPr id="4" name="文本框 3"/>
            <p:cNvSpPr txBox="1"/>
            <p:nvPr/>
          </p:nvSpPr>
          <p:spPr>
            <a:xfrm>
              <a:off x="481005" y="2035292"/>
              <a:ext cx="3635555" cy="30670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a:t>
              </a:r>
              <a:r>
                <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企业知识工程能力成熟度模型</a:t>
              </a:r>
              <a:r>
                <a:rPr kumimoji="0" lang="en-US" altLang="zh-CN"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a:t>
              </a:r>
              <a:r>
                <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-202</a:t>
              </a:r>
              <a:r>
                <a:rPr kumimoji="0" lang="en-US" altLang="zh-CN"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5</a:t>
              </a:r>
              <a:r>
                <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rPr>
                <a:t> 年 6 月‌</a:t>
              </a:r>
              <a:endParaRPr kumimoji="0" lang="zh-CN" altLang="en-US" sz="14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mn-cs"/>
              </a:endParaRPr>
            </a:p>
          </p:txBody>
        </p:sp>
        <p:grpSp>
          <p:nvGrpSpPr>
            <p:cNvPr id="5" name="组合 4"/>
            <p:cNvGrpSpPr/>
            <p:nvPr/>
          </p:nvGrpSpPr>
          <p:grpSpPr>
            <a:xfrm>
              <a:off x="561975" y="2397218"/>
              <a:ext cx="4788000" cy="38100"/>
              <a:chOff x="561975" y="2709514"/>
              <a:chExt cx="4400550" cy="38100"/>
            </a:xfrm>
          </p:grpSpPr>
          <p:cxnSp>
            <p:nvCxnSpPr>
              <p:cNvPr id="6" name="直接连接符 5"/>
              <p:cNvCxnSpPr/>
              <p:nvPr/>
            </p:nvCxnSpPr>
            <p:spPr>
              <a:xfrm>
                <a:off x="561975" y="2709514"/>
                <a:ext cx="4400550" cy="0"/>
              </a:xfrm>
              <a:prstGeom prst="line">
                <a:avLst/>
              </a:prstGeom>
              <a:ln w="38100" cmpd="sng"/>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61975" y="2747614"/>
                <a:ext cx="4400550" cy="0"/>
              </a:xfrm>
              <a:prstGeom prst="line">
                <a:avLst/>
              </a:prstGeom>
              <a:ln w="12700" cmpd="sng"/>
            </p:spPr>
            <p:style>
              <a:lnRef idx="1">
                <a:schemeClr val="accent1"/>
              </a:lnRef>
              <a:fillRef idx="0">
                <a:schemeClr val="accent1"/>
              </a:fillRef>
              <a:effectRef idx="0">
                <a:schemeClr val="accent1"/>
              </a:effectRef>
              <a:fontRef idx="minor">
                <a:schemeClr val="tx1"/>
              </a:fontRef>
            </p:style>
          </p:cxnSp>
        </p:grpSp>
      </p:grpSp>
      <p:sp>
        <p:nvSpPr>
          <p:cNvPr id="8" name="文本框 7"/>
          <p:cNvSpPr txBox="1"/>
          <p:nvPr/>
        </p:nvSpPr>
        <p:spPr>
          <a:xfrm>
            <a:off x="262890" y="4412615"/>
            <a:ext cx="5653405" cy="688975"/>
          </a:xfrm>
          <a:prstGeom prst="rect">
            <a:avLst/>
          </a:prstGeom>
          <a:noFill/>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此标准包含知识汇聚、知识抽取、知识组织构建、知识加工、知识管理、知识服务与应用、平台支撑等七大能力域，23个能力子项，120余个能力项。</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a:graphicFrameLocks noGrp="1"/>
          </p:cNvGraphicFramePr>
          <p:nvPr/>
        </p:nvGraphicFramePr>
        <p:xfrm>
          <a:off x="354965" y="4873625"/>
          <a:ext cx="4442460" cy="267970"/>
        </p:xfrm>
        <a:graphic>
          <a:graphicData uri="http://schemas.openxmlformats.org/drawingml/2006/table">
            <a:tbl>
              <a:tblPr firstRow="1" bandRow="1">
                <a:tableStyleId>{5C22544A-7EE6-4342-B048-85BDC9FD1C3A}</a:tableStyleId>
              </a:tblPr>
              <a:tblGrid>
                <a:gridCol w="700405"/>
                <a:gridCol w="780415"/>
                <a:gridCol w="740410"/>
                <a:gridCol w="740410"/>
                <a:gridCol w="740410"/>
                <a:gridCol w="740410"/>
              </a:tblGrid>
              <a:tr h="267970">
                <a:tc>
                  <a:txBody>
                    <a:bodyPr/>
                    <a:lstStyle/>
                    <a:p>
                      <a:pPr algn="ctr"/>
                      <a:r>
                        <a:rPr lang="zh-CN" altLang="en-US" sz="800" dirty="0">
                          <a:latin typeface="微软雅黑" panose="020B0503020204020204" charset="-122"/>
                          <a:ea typeface="微软雅黑" panose="020B0503020204020204" charset="-122"/>
                        </a:rPr>
                        <a:t>知识服务</a:t>
                      </a:r>
                      <a:endParaRPr lang="en-US" altLang="zh-CN" sz="800" dirty="0">
                        <a:latin typeface="微软雅黑" panose="020B0503020204020204" charset="-122"/>
                        <a:ea typeface="微软雅黑" panose="020B0503020204020204" charset="-122"/>
                      </a:endParaRPr>
                    </a:p>
                    <a:p>
                      <a:pPr algn="ctr"/>
                      <a:r>
                        <a:rPr lang="zh-CN" altLang="en-US" sz="800" dirty="0">
                          <a:latin typeface="微软雅黑" panose="020B0503020204020204" charset="-122"/>
                          <a:ea typeface="微软雅黑" panose="020B0503020204020204" charset="-122"/>
                        </a:rPr>
                        <a:t>与应用</a:t>
                      </a:r>
                      <a:endParaRPr lang="zh-CN" altLang="en-US" sz="800" dirty="0">
                        <a:latin typeface="微软雅黑" panose="020B0503020204020204" charset="-122"/>
                        <a:ea typeface="微软雅黑" panose="020B0503020204020204" charset="-122"/>
                      </a:endParaRPr>
                    </a:p>
                  </a:txBody>
                  <a:tcPr marL="0" marR="0" marT="0" marB="0" anchor="ctr"/>
                </a:tc>
                <a:tc>
                  <a:txBody>
                    <a:bodyPr/>
                    <a:lstStyle/>
                    <a:p>
                      <a:pPr algn="ctr"/>
                      <a:r>
                        <a:rPr lang="zh-CN" altLang="en-US" sz="800" b="0" dirty="0">
                          <a:solidFill>
                            <a:schemeClr val="tx1"/>
                          </a:solidFill>
                          <a:latin typeface="微软雅黑" panose="020B0503020204020204" charset="-122"/>
                          <a:ea typeface="微软雅黑" panose="020B0503020204020204" charset="-122"/>
                        </a:rPr>
                        <a:t>知识共享及协作</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知识检索</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知识推荐</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内容生成</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智能体服务</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r>
            </a:tbl>
          </a:graphicData>
        </a:graphic>
      </p:graphicFrame>
      <p:graphicFrame>
        <p:nvGraphicFramePr>
          <p:cNvPr id="10" name="表格 9"/>
          <p:cNvGraphicFramePr>
            <a:graphicFrameLocks noGrp="1"/>
          </p:cNvGraphicFramePr>
          <p:nvPr/>
        </p:nvGraphicFramePr>
        <p:xfrm>
          <a:off x="356870" y="5928995"/>
          <a:ext cx="2157095" cy="342265"/>
        </p:xfrm>
        <a:graphic>
          <a:graphicData uri="http://schemas.openxmlformats.org/drawingml/2006/table">
            <a:tbl>
              <a:tblPr firstRow="1" bandRow="1">
                <a:tableStyleId>{5C22544A-7EE6-4342-B048-85BDC9FD1C3A}</a:tableStyleId>
              </a:tblPr>
              <a:tblGrid>
                <a:gridCol w="718820"/>
                <a:gridCol w="719455"/>
                <a:gridCol w="718820"/>
              </a:tblGrid>
              <a:tr h="342265">
                <a:tc>
                  <a:txBody>
                    <a:bodyPr/>
                    <a:lstStyle/>
                    <a:p>
                      <a:pPr algn="ctr"/>
                      <a:r>
                        <a:rPr lang="zh-CN" altLang="en-US" sz="800" dirty="0">
                          <a:latin typeface="微软雅黑" panose="020B0503020204020204" charset="-122"/>
                          <a:ea typeface="微软雅黑" panose="020B0503020204020204" charset="-122"/>
                        </a:rPr>
                        <a:t>知识采集</a:t>
                      </a:r>
                      <a:endParaRPr lang="zh-CN" altLang="en-US" sz="800" dirty="0">
                        <a:latin typeface="微软雅黑" panose="020B0503020204020204" charset="-122"/>
                        <a:ea typeface="微软雅黑" panose="020B0503020204020204" charset="-122"/>
                      </a:endParaRPr>
                    </a:p>
                  </a:txBody>
                  <a:tcPr marL="0" marR="0" anchor="ctr" anchorCtr="0"/>
                </a:tc>
                <a:tc>
                  <a:txBody>
                    <a:bodyPr/>
                    <a:lstStyle/>
                    <a:p>
                      <a:pPr algn="ctr"/>
                      <a:r>
                        <a:rPr lang="zh-CN" altLang="en-US" sz="800" b="0" dirty="0">
                          <a:solidFill>
                            <a:schemeClr val="tx1"/>
                          </a:solidFill>
                          <a:latin typeface="微软雅黑" panose="020B0503020204020204" charset="-122"/>
                          <a:ea typeface="微软雅黑" panose="020B0503020204020204" charset="-122"/>
                        </a:rPr>
                        <a:t>外部知识接入</a:t>
                      </a:r>
                      <a:endParaRPr lang="zh-CN" altLang="en-US" sz="800" b="0" dirty="0">
                        <a:solidFill>
                          <a:schemeClr val="tx1"/>
                        </a:solidFill>
                        <a:latin typeface="微软雅黑" panose="020B0503020204020204" charset="-122"/>
                        <a:ea typeface="微软雅黑" panose="020B0503020204020204" charset="-122"/>
                      </a:endParaRPr>
                    </a:p>
                  </a:txBody>
                  <a:tcPr marL="0" marR="0" anchor="ctr" anchorCtr="0">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内部知识汇聚</a:t>
                      </a:r>
                      <a:endParaRPr lang="zh-CN" altLang="en-US" sz="800" b="0" dirty="0">
                        <a:solidFill>
                          <a:schemeClr val="tx1"/>
                        </a:solidFill>
                        <a:latin typeface="微软雅黑" panose="020B0503020204020204" charset="-122"/>
                        <a:ea typeface="微软雅黑" panose="020B0503020204020204" charset="-122"/>
                      </a:endParaRPr>
                    </a:p>
                  </a:txBody>
                  <a:tcPr marL="0" marR="0" anchor="ctr" anchorCtr="0">
                    <a:solidFill>
                      <a:schemeClr val="accent1">
                        <a:lumMod val="20000"/>
                        <a:lumOff val="80000"/>
                      </a:schemeClr>
                    </a:solidFill>
                  </a:tcPr>
                </a:tc>
              </a:tr>
            </a:tbl>
          </a:graphicData>
        </a:graphic>
      </p:graphicFrame>
      <p:graphicFrame>
        <p:nvGraphicFramePr>
          <p:cNvPr id="12" name="表格 11"/>
          <p:cNvGraphicFramePr>
            <a:graphicFrameLocks noGrp="1"/>
          </p:cNvGraphicFramePr>
          <p:nvPr/>
        </p:nvGraphicFramePr>
        <p:xfrm>
          <a:off x="356870" y="5516880"/>
          <a:ext cx="2186940" cy="345440"/>
        </p:xfrm>
        <a:graphic>
          <a:graphicData uri="http://schemas.openxmlformats.org/drawingml/2006/table">
            <a:tbl>
              <a:tblPr firstRow="1" bandRow="1">
                <a:tableStyleId>{5C22544A-7EE6-4342-B048-85BDC9FD1C3A}</a:tableStyleId>
              </a:tblPr>
              <a:tblGrid>
                <a:gridCol w="697865"/>
                <a:gridCol w="760095"/>
                <a:gridCol w="728980"/>
              </a:tblGrid>
              <a:tr h="345440">
                <a:tc>
                  <a:txBody>
                    <a:bodyPr/>
                    <a:lstStyle/>
                    <a:p>
                      <a:pPr algn="ctr"/>
                      <a:r>
                        <a:rPr lang="zh-CN" altLang="en-US" sz="800" dirty="0">
                          <a:latin typeface="微软雅黑" panose="020B0503020204020204" charset="-122"/>
                          <a:ea typeface="微软雅黑" panose="020B0503020204020204" charset="-122"/>
                        </a:rPr>
                        <a:t>知识抽取</a:t>
                      </a:r>
                      <a:endParaRPr lang="zh-CN" altLang="en-US" sz="800" dirty="0">
                        <a:latin typeface="微软雅黑" panose="020B0503020204020204" charset="-122"/>
                        <a:ea typeface="微软雅黑" panose="020B0503020204020204" charset="-122"/>
                      </a:endParaRPr>
                    </a:p>
                  </a:txBody>
                  <a:tcPr anchor="ctr" anchorCtr="0"/>
                </a:tc>
                <a:tc>
                  <a:txBody>
                    <a:bodyPr/>
                    <a:lstStyle/>
                    <a:p>
                      <a:pPr marL="0" algn="l" defTabSz="914400" rtl="0" eaLnBrk="1" latinLnBrk="0" hangingPunct="1">
                        <a:buClrTx/>
                        <a:buSzTx/>
                        <a:buFontTx/>
                        <a:buNone/>
                      </a:pPr>
                      <a:r>
                        <a:rPr lang="zh-CN" altLang="en-US" sz="800" b="0" dirty="0">
                          <a:solidFill>
                            <a:schemeClr val="dk1"/>
                          </a:solidFill>
                          <a:latin typeface="微软雅黑" panose="020B0503020204020204" charset="-122"/>
                          <a:ea typeface="微软雅黑" panose="020B0503020204020204" charset="-122"/>
                          <a:sym typeface="+mn-ea"/>
                        </a:rPr>
                        <a:t>实体与关系抽取</a:t>
                      </a:r>
                      <a:endParaRPr lang="zh-CN" altLang="en-US" sz="800" b="0" dirty="0">
                        <a:solidFill>
                          <a:schemeClr val="tx1"/>
                        </a:solidFill>
                        <a:latin typeface="微软雅黑" panose="020B0503020204020204" charset="-122"/>
                        <a:ea typeface="微软雅黑" panose="020B0503020204020204" charset="-122"/>
                      </a:endParaRPr>
                    </a:p>
                  </a:txBody>
                  <a:tcPr anchor="ctr" anchorCtr="0">
                    <a:solidFill>
                      <a:schemeClr val="accent1">
                        <a:lumMod val="20000"/>
                        <a:lumOff val="80000"/>
                      </a:schemeClr>
                    </a:solidFill>
                  </a:tcPr>
                </a:tc>
                <a:tc>
                  <a:txBody>
                    <a:bodyPr/>
                    <a:lstStyle/>
                    <a:p>
                      <a:pPr algn="l"/>
                      <a:r>
                        <a:rPr lang="zh-CN" altLang="en-US" sz="800" b="0" dirty="0">
                          <a:solidFill>
                            <a:schemeClr val="dk1"/>
                          </a:solidFill>
                          <a:latin typeface="微软雅黑" panose="020B0503020204020204" charset="-122"/>
                          <a:ea typeface="微软雅黑" panose="020B0503020204020204" charset="-122"/>
                          <a:sym typeface="+mn-ea"/>
                        </a:rPr>
                        <a:t>属性与事件抽取</a:t>
                      </a:r>
                      <a:endParaRPr lang="zh-CN" altLang="en-US" sz="800" b="0" dirty="0">
                        <a:solidFill>
                          <a:schemeClr val="tx1"/>
                        </a:solidFill>
                        <a:latin typeface="微软雅黑" panose="020B0503020204020204" charset="-122"/>
                        <a:ea typeface="微软雅黑" panose="020B0503020204020204" charset="-122"/>
                      </a:endParaRPr>
                    </a:p>
                  </a:txBody>
                  <a:tcPr anchor="ctr" anchorCtr="0">
                    <a:solidFill>
                      <a:schemeClr val="accent1">
                        <a:lumMod val="20000"/>
                        <a:lumOff val="80000"/>
                      </a:schemeClr>
                    </a:solidFill>
                  </a:tcPr>
                </a:tc>
              </a:tr>
            </a:tbl>
          </a:graphicData>
        </a:graphic>
      </p:graphicFrame>
      <p:graphicFrame>
        <p:nvGraphicFramePr>
          <p:cNvPr id="13" name="表格 12"/>
          <p:cNvGraphicFramePr>
            <a:graphicFrameLocks noGrp="1"/>
          </p:cNvGraphicFramePr>
          <p:nvPr/>
        </p:nvGraphicFramePr>
        <p:xfrm>
          <a:off x="2583815" y="5430520"/>
          <a:ext cx="899795" cy="822325"/>
        </p:xfrm>
        <a:graphic>
          <a:graphicData uri="http://schemas.openxmlformats.org/drawingml/2006/table">
            <a:tbl>
              <a:tblPr firstRow="1" bandRow="1">
                <a:tableStyleId>{5C22544A-7EE6-4342-B048-85BDC9FD1C3A}</a:tableStyleId>
              </a:tblPr>
              <a:tblGrid>
                <a:gridCol w="899795"/>
              </a:tblGrid>
              <a:tr h="164465">
                <a:tc>
                  <a:txBody>
                    <a:bodyPr/>
                    <a:lstStyle/>
                    <a:p>
                      <a:pPr algn="ctr"/>
                      <a:r>
                        <a:rPr lang="zh-CN" altLang="en-US" sz="800" dirty="0">
                          <a:latin typeface="微软雅黑" panose="020B0503020204020204" charset="-122"/>
                          <a:ea typeface="微软雅黑" panose="020B0503020204020204" charset="-122"/>
                        </a:rPr>
                        <a:t>知识加工处理</a:t>
                      </a:r>
                      <a:endParaRPr lang="zh-CN" altLang="en-US" sz="800" dirty="0">
                        <a:latin typeface="微软雅黑" panose="020B0503020204020204" charset="-122"/>
                        <a:ea typeface="微软雅黑" panose="020B0503020204020204" charset="-122"/>
                      </a:endParaRPr>
                    </a:p>
                  </a:txBody>
                  <a:tcPr marL="0" marR="0" marT="0" marB="0" anchor="ctr"/>
                </a:tc>
              </a:tr>
              <a:tr h="164465">
                <a:tc>
                  <a:txBody>
                    <a:bodyPr/>
                    <a:lstStyle/>
                    <a:p>
                      <a:pPr algn="ctr"/>
                      <a:r>
                        <a:rPr lang="zh-CN" altLang="en-US" sz="800" dirty="0">
                          <a:latin typeface="微软雅黑" panose="020B0503020204020204" charset="-122"/>
                          <a:ea typeface="微软雅黑" panose="020B0503020204020204" charset="-122"/>
                        </a:rPr>
                        <a:t>知识补全</a:t>
                      </a:r>
                      <a:endParaRPr lang="zh-CN" altLang="en-US" sz="800" dirty="0">
                        <a:latin typeface="微软雅黑" panose="020B0503020204020204" charset="-122"/>
                        <a:ea typeface="微软雅黑" panose="020B0503020204020204" charset="-122"/>
                      </a:endParaRPr>
                    </a:p>
                  </a:txBody>
                  <a:tcPr marL="0" marR="0" marT="0" marB="0" anchor="ctr">
                    <a:solidFill>
                      <a:srgbClr val="DAE3F3"/>
                    </a:solidFill>
                  </a:tcPr>
                </a:tc>
              </a:tr>
              <a:tr h="164465">
                <a:tc>
                  <a:txBody>
                    <a:bodyPr/>
                    <a:lstStyle/>
                    <a:p>
                      <a:pPr algn="ctr"/>
                      <a:r>
                        <a:rPr lang="zh-CN" altLang="en-US" sz="800" dirty="0">
                          <a:latin typeface="微软雅黑" panose="020B0503020204020204" charset="-122"/>
                          <a:ea typeface="微软雅黑" panose="020B0503020204020204" charset="-122"/>
                        </a:rPr>
                        <a:t>知识融合</a:t>
                      </a:r>
                      <a:endParaRPr lang="zh-CN" altLang="en-US" sz="800" dirty="0">
                        <a:latin typeface="微软雅黑" panose="020B0503020204020204" charset="-122"/>
                        <a:ea typeface="微软雅黑" panose="020B0503020204020204" charset="-122"/>
                      </a:endParaRPr>
                    </a:p>
                  </a:txBody>
                  <a:tcPr marL="0" marR="0" marT="0" marB="0" anchor="ctr"/>
                </a:tc>
              </a:tr>
              <a:tr h="164465">
                <a:tc>
                  <a:txBody>
                    <a:bodyPr/>
                    <a:p>
                      <a:pPr algn="ctr">
                        <a:buNone/>
                      </a:pPr>
                      <a:r>
                        <a:rPr lang="zh-CN" altLang="en-US" sz="800" dirty="0">
                          <a:latin typeface="微软雅黑" panose="020B0503020204020204" charset="-122"/>
                          <a:ea typeface="微软雅黑" panose="020B0503020204020204" charset="-122"/>
                        </a:rPr>
                        <a:t>知识切分</a:t>
                      </a:r>
                      <a:endParaRPr lang="zh-CN" altLang="en-US" sz="800" dirty="0">
                        <a:latin typeface="微软雅黑" panose="020B0503020204020204" charset="-122"/>
                        <a:ea typeface="微软雅黑" panose="020B0503020204020204" charset="-122"/>
                      </a:endParaRPr>
                    </a:p>
                  </a:txBody>
                  <a:tcPr marL="0" marR="0" marT="0" marB="0" anchor="ctr">
                    <a:solidFill>
                      <a:srgbClr val="DAE3F3"/>
                    </a:solidFill>
                  </a:tcPr>
                </a:tc>
              </a:tr>
              <a:tr h="164465">
                <a:tc>
                  <a:txBody>
                    <a:bodyPr/>
                    <a:p>
                      <a:pPr algn="ctr">
                        <a:buNone/>
                      </a:pPr>
                      <a:r>
                        <a:rPr lang="zh-CN" altLang="en-US" sz="800" dirty="0">
                          <a:latin typeface="微软雅黑" panose="020B0503020204020204" charset="-122"/>
                          <a:ea typeface="微软雅黑" panose="020B0503020204020204" charset="-122"/>
                        </a:rPr>
                        <a:t>知识关联</a:t>
                      </a:r>
                      <a:endParaRPr lang="zh-CN" altLang="en-US" sz="800" dirty="0">
                        <a:latin typeface="微软雅黑" panose="020B0503020204020204" charset="-122"/>
                        <a:ea typeface="微软雅黑" panose="020B0503020204020204" charset="-122"/>
                      </a:endParaRPr>
                    </a:p>
                  </a:txBody>
                  <a:tcPr marL="0" marR="0" marT="0" marB="0" anchor="ctr"/>
                </a:tc>
              </a:tr>
            </a:tbl>
          </a:graphicData>
        </a:graphic>
      </p:graphicFrame>
      <p:graphicFrame>
        <p:nvGraphicFramePr>
          <p:cNvPr id="14" name="表格 13"/>
          <p:cNvGraphicFramePr>
            <a:graphicFrameLocks noGrp="1"/>
          </p:cNvGraphicFramePr>
          <p:nvPr/>
        </p:nvGraphicFramePr>
        <p:xfrm>
          <a:off x="3561715" y="5432425"/>
          <a:ext cx="1240155" cy="431800"/>
        </p:xfrm>
        <a:graphic>
          <a:graphicData uri="http://schemas.openxmlformats.org/drawingml/2006/table">
            <a:tbl>
              <a:tblPr firstRow="1" bandRow="1">
                <a:tableStyleId>{5C22544A-7EE6-4342-B048-85BDC9FD1C3A}</a:tableStyleId>
              </a:tblPr>
              <a:tblGrid>
                <a:gridCol w="413385"/>
                <a:gridCol w="413385"/>
                <a:gridCol w="413385"/>
              </a:tblGrid>
              <a:tr h="146685">
                <a:tc gridSpan="3">
                  <a:txBody>
                    <a:bodyPr/>
                    <a:lstStyle/>
                    <a:p>
                      <a:pPr algn="ctr"/>
                      <a:r>
                        <a:rPr lang="zh-CN" altLang="en-US" sz="800" dirty="0">
                          <a:latin typeface="微软雅黑" panose="020B0503020204020204" charset="-122"/>
                          <a:ea typeface="微软雅黑" panose="020B0503020204020204" charset="-122"/>
                        </a:rPr>
                        <a:t>知识计算</a:t>
                      </a:r>
                      <a:endParaRPr lang="zh-CN" altLang="en-US" sz="800" dirty="0">
                        <a:latin typeface="微软雅黑" panose="020B0503020204020204" charset="-122"/>
                        <a:ea typeface="微软雅黑" panose="020B0503020204020204" charset="-122"/>
                      </a:endParaRPr>
                    </a:p>
                  </a:txBody>
                  <a:tcPr marL="0" marR="0" marT="0" marB="0" anchor="ctr"/>
                </a:tc>
                <a:tc hMerge="1">
                  <a:tcPr/>
                </a:tc>
                <a:tc hMerge="1">
                  <a:tcPr/>
                </a:tc>
              </a:tr>
              <a:tr h="285115">
                <a:tc>
                  <a:txBody>
                    <a:bodyPr/>
                    <a:lstStyle/>
                    <a:p>
                      <a:pPr algn="ctr"/>
                      <a:r>
                        <a:rPr lang="zh-CN" altLang="en-US" sz="800" dirty="0">
                          <a:latin typeface="微软雅黑" panose="020B0503020204020204" charset="-122"/>
                          <a:ea typeface="微软雅黑" panose="020B0503020204020204" charset="-122"/>
                        </a:rPr>
                        <a:t>知识检索</a:t>
                      </a:r>
                      <a:endParaRPr lang="zh-CN" altLang="en-US" sz="800" dirty="0">
                        <a:latin typeface="微软雅黑" panose="020B0503020204020204" charset="-122"/>
                        <a:ea typeface="微软雅黑" panose="020B0503020204020204" charset="-122"/>
                      </a:endParaRPr>
                    </a:p>
                  </a:txBody>
                  <a:tcPr marL="0" marR="0" marT="0" marB="0" anchor="ctr">
                    <a:solidFill>
                      <a:srgbClr val="DAE3F3"/>
                    </a:solidFill>
                  </a:tcPr>
                </a:tc>
                <a:tc>
                  <a:txBody>
                    <a:bodyPr/>
                    <a:lstStyle/>
                    <a:p>
                      <a:pPr algn="ctr"/>
                      <a:r>
                        <a:rPr lang="zh-CN" altLang="en-US" sz="800" dirty="0">
                          <a:latin typeface="微软雅黑" panose="020B0503020204020204" charset="-122"/>
                          <a:ea typeface="微软雅黑" panose="020B0503020204020204" charset="-122"/>
                        </a:rPr>
                        <a:t>知识计算</a:t>
                      </a:r>
                      <a:endParaRPr lang="zh-CN" altLang="en-US" sz="800" dirty="0">
                        <a:latin typeface="微软雅黑" panose="020B0503020204020204" charset="-122"/>
                        <a:ea typeface="微软雅黑" panose="020B0503020204020204" charset="-122"/>
                      </a:endParaRPr>
                    </a:p>
                  </a:txBody>
                  <a:tcPr marL="0" marR="0" marT="0" marB="0" anchor="ctr">
                    <a:solidFill>
                      <a:srgbClr val="DAE3F3"/>
                    </a:solidFill>
                  </a:tcPr>
                </a:tc>
                <a:tc>
                  <a:txBody>
                    <a:bodyPr/>
                    <a:p>
                      <a:pPr algn="ctr">
                        <a:buNone/>
                      </a:pPr>
                      <a:r>
                        <a:rPr lang="zh-CN" altLang="en-US" sz="800" dirty="0">
                          <a:latin typeface="微软雅黑" panose="020B0503020204020204" charset="-122"/>
                          <a:ea typeface="微软雅黑" panose="020B0503020204020204" charset="-122"/>
                        </a:rPr>
                        <a:t>分析推理</a:t>
                      </a:r>
                      <a:endParaRPr lang="zh-CN" altLang="en-US" sz="800" dirty="0">
                        <a:latin typeface="微软雅黑" panose="020B0503020204020204" charset="-122"/>
                        <a:ea typeface="微软雅黑" panose="020B0503020204020204" charset="-122"/>
                      </a:endParaRPr>
                    </a:p>
                  </a:txBody>
                  <a:tcPr marL="0" marR="0" marT="0" marB="0" anchor="ctr">
                    <a:solidFill>
                      <a:srgbClr val="DAE3F3"/>
                    </a:solidFill>
                  </a:tcPr>
                </a:tc>
              </a:tr>
            </a:tbl>
          </a:graphicData>
        </a:graphic>
      </p:graphicFrame>
      <p:sp>
        <p:nvSpPr>
          <p:cNvPr id="15" name="矩形 14"/>
          <p:cNvSpPr/>
          <p:nvPr/>
        </p:nvSpPr>
        <p:spPr>
          <a:xfrm>
            <a:off x="4999990" y="4995419"/>
            <a:ext cx="899445" cy="13602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共</a:t>
            </a:r>
            <a:r>
              <a:rPr kumimoji="0" lang="en-US" altLang="zh-CN"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5</a:t>
            </a: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个级别：</a:t>
            </a:r>
            <a:endParaRPr kumimoji="0" lang="en-US" altLang="zh-CN"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52095" marR="0" lvl="0" indent="-179705" algn="l" defTabSz="914400" rtl="0" eaLnBrk="1" fontAlgn="auto" latinLnBrk="0" hangingPunct="1">
              <a:lnSpc>
                <a:spcPct val="100000"/>
              </a:lnSpc>
              <a:spcBef>
                <a:spcPts val="0"/>
              </a:spcBef>
              <a:spcAft>
                <a:spcPts val="600"/>
              </a:spcAft>
              <a:buClr>
                <a:srgbClr val="4775CC"/>
              </a:buClr>
              <a:buSzTx/>
              <a:buFont typeface="Wingdings" panose="05000000000000000000" pitchFamily="2" charset="2"/>
              <a:buChar char="p"/>
              <a:defRPr/>
            </a:pPr>
            <a:r>
              <a:rPr kumimoji="0" lang="zh-CN" altLang="en-US" sz="800" b="1" i="0" u="none" strike="noStrike" kern="1200" cap="none" spc="0" normalizeH="0" baseline="0" noProof="0" dirty="0">
                <a:ln>
                  <a:noFill/>
                </a:ln>
                <a:solidFill>
                  <a:prstClr val="white">
                    <a:lumMod val="50000"/>
                  </a:prstClr>
                </a:solidFill>
                <a:effectLst/>
                <a:uLnTx/>
                <a:uFillTx/>
                <a:latin typeface="微软雅黑" panose="020B0503020204020204" charset="-122"/>
                <a:ea typeface="微软雅黑" panose="020B0503020204020204" charset="-122"/>
                <a:cs typeface="微软雅黑" panose="020B0503020204020204" charset="-122"/>
              </a:rPr>
              <a:t>初始级</a:t>
            </a:r>
            <a:endParaRPr kumimoji="0" lang="en-US" altLang="zh-CN" sz="800" b="1" i="0" u="none" strike="noStrike" kern="1200" cap="none" spc="0" normalizeH="0" baseline="0" noProof="0" dirty="0">
              <a:ln>
                <a:noFill/>
              </a:ln>
              <a:solidFill>
                <a:prstClr val="white">
                  <a:lumMod val="50000"/>
                </a:prstClr>
              </a:solidFill>
              <a:effectLst/>
              <a:uLnTx/>
              <a:uFillTx/>
              <a:latin typeface="微软雅黑" panose="020B0503020204020204" charset="-122"/>
              <a:ea typeface="微软雅黑" panose="020B0503020204020204" charset="-122"/>
              <a:cs typeface="微软雅黑" panose="020B0503020204020204" charset="-122"/>
            </a:endParaRPr>
          </a:p>
          <a:p>
            <a:pPr marL="252095" marR="0" lvl="0" indent="-179705" algn="l" defTabSz="914400" rtl="0" eaLnBrk="1" fontAlgn="auto" latinLnBrk="0" hangingPunct="1">
              <a:lnSpc>
                <a:spcPct val="100000"/>
              </a:lnSpc>
              <a:spcBef>
                <a:spcPts val="0"/>
              </a:spcBef>
              <a:spcAft>
                <a:spcPts val="600"/>
              </a:spcAft>
              <a:buClr>
                <a:srgbClr val="4775CC"/>
              </a:buClr>
              <a:buSzTx/>
              <a:buFont typeface="Wingdings" panose="05000000000000000000" pitchFamily="2" charset="2"/>
              <a:buChar char="p"/>
              <a:defRPr/>
            </a:pPr>
            <a:r>
              <a:rPr kumimoji="0" lang="zh-CN" altLang="en-US" sz="800" b="1" i="0" u="none" strike="noStrike" kern="1200" cap="none" spc="0" normalizeH="0" baseline="0" noProof="0" dirty="0">
                <a:ln>
                  <a:noFill/>
                </a:ln>
                <a:solidFill>
                  <a:srgbClr val="4472C4">
                    <a:lumMod val="60000"/>
                    <a:lumOff val="40000"/>
                  </a:srgbClr>
                </a:solidFill>
                <a:effectLst/>
                <a:uLnTx/>
                <a:uFillTx/>
                <a:latin typeface="微软雅黑" panose="020B0503020204020204" charset="-122"/>
                <a:ea typeface="微软雅黑" panose="020B0503020204020204" charset="-122"/>
                <a:cs typeface="微软雅黑" panose="020B0503020204020204" charset="-122"/>
              </a:rPr>
              <a:t>发展级</a:t>
            </a:r>
            <a:endParaRPr kumimoji="0" lang="en-US" altLang="zh-CN" sz="800" b="1" i="0" u="none" strike="noStrike" kern="1200" cap="none" spc="0" normalizeH="0" baseline="0" noProof="0" dirty="0">
              <a:ln>
                <a:noFill/>
              </a:ln>
              <a:solidFill>
                <a:srgbClr val="4472C4">
                  <a:lumMod val="60000"/>
                  <a:lumOff val="40000"/>
                </a:srgbClr>
              </a:solidFill>
              <a:effectLst/>
              <a:uLnTx/>
              <a:uFillTx/>
              <a:latin typeface="微软雅黑" panose="020B0503020204020204" charset="-122"/>
              <a:ea typeface="微软雅黑" panose="020B0503020204020204" charset="-122"/>
              <a:cs typeface="微软雅黑" panose="020B0503020204020204" charset="-122"/>
            </a:endParaRPr>
          </a:p>
          <a:p>
            <a:pPr marL="252095" marR="0" lvl="0" indent="-179705" algn="l" defTabSz="914400" rtl="0" eaLnBrk="1" fontAlgn="auto" latinLnBrk="0" hangingPunct="1">
              <a:lnSpc>
                <a:spcPct val="100000"/>
              </a:lnSpc>
              <a:spcBef>
                <a:spcPts val="0"/>
              </a:spcBef>
              <a:spcAft>
                <a:spcPts val="600"/>
              </a:spcAft>
              <a:buClr>
                <a:srgbClr val="4775CC"/>
              </a:buClr>
              <a:buSzTx/>
              <a:buFont typeface="Wingdings" panose="05000000000000000000" pitchFamily="2" charset="2"/>
              <a:buChar char="p"/>
              <a:defRPr/>
            </a:pPr>
            <a:r>
              <a:rPr kumimoji="0" lang="zh-CN" altLang="en-US" sz="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rPr>
              <a:t>良好级</a:t>
            </a:r>
            <a:endParaRPr kumimoji="0" lang="en-US" altLang="zh-CN" sz="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endParaRPr>
          </a:p>
          <a:p>
            <a:pPr marL="252095" marR="0" lvl="0" indent="-179705" algn="l" defTabSz="914400" rtl="0" eaLnBrk="1" fontAlgn="auto" latinLnBrk="0" hangingPunct="1">
              <a:lnSpc>
                <a:spcPct val="100000"/>
              </a:lnSpc>
              <a:spcBef>
                <a:spcPts val="0"/>
              </a:spcBef>
              <a:spcAft>
                <a:spcPts val="600"/>
              </a:spcAft>
              <a:buClr>
                <a:srgbClr val="4775CC"/>
              </a:buClr>
              <a:buSzTx/>
              <a:buFont typeface="Wingdings" panose="05000000000000000000" pitchFamily="2" charset="2"/>
              <a:buChar char="p"/>
              <a:defRPr/>
            </a:pPr>
            <a:r>
              <a:rPr kumimoji="0" lang="zh-CN" altLang="en-US" sz="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rPr>
              <a:t>优秀级</a:t>
            </a:r>
            <a:endParaRPr kumimoji="0" lang="en-US" altLang="zh-CN" sz="800" b="1" i="0" u="none" strike="noStrike" kern="1200" cap="none" spc="0" normalizeH="0" baseline="0" noProof="0" dirty="0">
              <a:ln>
                <a:noFill/>
              </a:ln>
              <a:solidFill>
                <a:srgbClr val="FF0000"/>
              </a:solidFill>
              <a:effectLst/>
              <a:uLnTx/>
              <a:uFillTx/>
              <a:latin typeface="微软雅黑" panose="020B0503020204020204" charset="-122"/>
              <a:ea typeface="微软雅黑" panose="020B0503020204020204" charset="-122"/>
              <a:cs typeface="微软雅黑" panose="020B0503020204020204" charset="-122"/>
            </a:endParaRPr>
          </a:p>
          <a:p>
            <a:pPr marL="252095" marR="0" lvl="0" indent="-179705" algn="l" defTabSz="914400" rtl="0" eaLnBrk="1" fontAlgn="auto" latinLnBrk="0" hangingPunct="1">
              <a:lnSpc>
                <a:spcPct val="100000"/>
              </a:lnSpc>
              <a:spcBef>
                <a:spcPts val="0"/>
              </a:spcBef>
              <a:spcAft>
                <a:spcPts val="600"/>
              </a:spcAft>
              <a:buClr>
                <a:srgbClr val="4775CC"/>
              </a:buClr>
              <a:buSzTx/>
              <a:buFont typeface="Wingdings" panose="05000000000000000000" pitchFamily="2" charset="2"/>
              <a:buChar char="p"/>
              <a:defRPr/>
            </a:pPr>
            <a:r>
              <a:rPr kumimoji="0" lang="zh-CN" altLang="en-US" sz="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卓越</a:t>
            </a:r>
            <a:r>
              <a:rPr kumimoji="0" lang="zh-CN" altLang="en-US" sz="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级</a:t>
            </a:r>
            <a:endParaRPr kumimoji="0" lang="zh-CN" altLang="en-US" sz="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p:txBody>
      </p:sp>
      <p:graphicFrame>
        <p:nvGraphicFramePr>
          <p:cNvPr id="16" name="表格 15"/>
          <p:cNvGraphicFramePr>
            <a:graphicFrameLocks noGrp="1"/>
          </p:cNvGraphicFramePr>
          <p:nvPr/>
        </p:nvGraphicFramePr>
        <p:xfrm>
          <a:off x="354965" y="5155565"/>
          <a:ext cx="4442460" cy="266700"/>
        </p:xfrm>
        <a:graphic>
          <a:graphicData uri="http://schemas.openxmlformats.org/drawingml/2006/table">
            <a:tbl>
              <a:tblPr firstRow="1" bandRow="1">
                <a:tableStyleId>{5C22544A-7EE6-4342-B048-85BDC9FD1C3A}</a:tableStyleId>
              </a:tblPr>
              <a:tblGrid>
                <a:gridCol w="690245"/>
                <a:gridCol w="790575"/>
                <a:gridCol w="740410"/>
                <a:gridCol w="740410"/>
                <a:gridCol w="740410"/>
                <a:gridCol w="740410"/>
              </a:tblGrid>
              <a:tr h="266700">
                <a:tc>
                  <a:txBody>
                    <a:bodyPr/>
                    <a:lstStyle/>
                    <a:p>
                      <a:pPr algn="ctr"/>
                      <a:r>
                        <a:rPr lang="zh-CN" sz="800" dirty="0">
                          <a:latin typeface="微软雅黑" panose="020B0503020204020204" charset="-122"/>
                          <a:ea typeface="微软雅黑" panose="020B0503020204020204" charset="-122"/>
                        </a:rPr>
                        <a:t>知识管理</a:t>
                      </a:r>
                      <a:endParaRPr lang="zh-CN" sz="800" dirty="0">
                        <a:latin typeface="微软雅黑" panose="020B0503020204020204" charset="-122"/>
                        <a:ea typeface="微软雅黑" panose="020B0503020204020204" charset="-122"/>
                      </a:endParaRPr>
                    </a:p>
                  </a:txBody>
                  <a:tcPr marL="0" marR="0" marT="0" marB="0" anchor="ctr"/>
                </a:tc>
                <a:tc>
                  <a:txBody>
                    <a:bodyPr/>
                    <a:lstStyle/>
                    <a:p>
                      <a:pPr algn="ctr"/>
                      <a:r>
                        <a:rPr lang="zh-CN" altLang="en-US" sz="800" b="0" dirty="0">
                          <a:solidFill>
                            <a:schemeClr val="tx1"/>
                          </a:solidFill>
                          <a:latin typeface="微软雅黑" panose="020B0503020204020204" charset="-122"/>
                          <a:ea typeface="微软雅黑" panose="020B0503020204020204" charset="-122"/>
                        </a:rPr>
                        <a:t>知识权限管理</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知识分类管理</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知识安全管理</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知识质量管理</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c>
                  <a:txBody>
                    <a:bodyPr/>
                    <a:lstStyle/>
                    <a:p>
                      <a:pPr algn="ctr"/>
                      <a:r>
                        <a:rPr lang="zh-CN" altLang="en-US" sz="800" b="0" dirty="0">
                          <a:solidFill>
                            <a:schemeClr val="tx1"/>
                          </a:solidFill>
                          <a:latin typeface="微软雅黑" panose="020B0503020204020204" charset="-122"/>
                          <a:ea typeface="微软雅黑" panose="020B0503020204020204" charset="-122"/>
                        </a:rPr>
                        <a:t>知识版本管理</a:t>
                      </a:r>
                      <a:endParaRPr lang="zh-CN" altLang="en-US" sz="800" b="0" dirty="0">
                        <a:solidFill>
                          <a:schemeClr val="tx1"/>
                        </a:solidFill>
                        <a:latin typeface="微软雅黑" panose="020B0503020204020204" charset="-122"/>
                        <a:ea typeface="微软雅黑" panose="020B0503020204020204" charset="-122"/>
                      </a:endParaRPr>
                    </a:p>
                  </a:txBody>
                  <a:tcPr marL="0" marR="0" marT="0" marB="0" anchor="ctr">
                    <a:solidFill>
                      <a:schemeClr val="accent1">
                        <a:lumMod val="20000"/>
                        <a:lumOff val="80000"/>
                      </a:schemeClr>
                    </a:solidFill>
                  </a:tcPr>
                </a:tc>
              </a:tr>
            </a:tbl>
          </a:graphicData>
        </a:graphic>
      </p:graphicFrame>
      <p:graphicFrame>
        <p:nvGraphicFramePr>
          <p:cNvPr id="17" name="表格 16"/>
          <p:cNvGraphicFramePr>
            <a:graphicFrameLocks noGrp="1"/>
          </p:cNvGraphicFramePr>
          <p:nvPr/>
        </p:nvGraphicFramePr>
        <p:xfrm>
          <a:off x="3561715" y="5908675"/>
          <a:ext cx="1257300" cy="375285"/>
        </p:xfrm>
        <a:graphic>
          <a:graphicData uri="http://schemas.openxmlformats.org/drawingml/2006/table">
            <a:tbl>
              <a:tblPr firstRow="1" bandRow="1">
                <a:tableStyleId>{5C22544A-7EE6-4342-B048-85BDC9FD1C3A}</a:tableStyleId>
              </a:tblPr>
              <a:tblGrid>
                <a:gridCol w="628650"/>
                <a:gridCol w="628650"/>
              </a:tblGrid>
              <a:tr h="162560">
                <a:tc gridSpan="2">
                  <a:txBody>
                    <a:bodyPr/>
                    <a:lstStyle/>
                    <a:p>
                      <a:pPr algn="ctr"/>
                      <a:r>
                        <a:rPr lang="zh-CN" altLang="en-US" sz="800" dirty="0">
                          <a:latin typeface="微软雅黑" panose="020B0503020204020204" charset="-122"/>
                          <a:ea typeface="微软雅黑" panose="020B0503020204020204" charset="-122"/>
                        </a:rPr>
                        <a:t>知识存储</a:t>
                      </a:r>
                      <a:endParaRPr lang="zh-CN" altLang="en-US" sz="800" dirty="0">
                        <a:latin typeface="微软雅黑" panose="020B0503020204020204" charset="-122"/>
                        <a:ea typeface="微软雅黑" panose="020B0503020204020204" charset="-122"/>
                      </a:endParaRPr>
                    </a:p>
                  </a:txBody>
                  <a:tcPr marL="0" marR="0" marT="0" marB="0" anchor="ctr"/>
                </a:tc>
                <a:tc hMerge="1">
                  <a:tcPr/>
                </a:tc>
              </a:tr>
              <a:tr h="212725">
                <a:tc>
                  <a:txBody>
                    <a:bodyPr/>
                    <a:lstStyle/>
                    <a:p>
                      <a:pPr algn="ctr"/>
                      <a:r>
                        <a:rPr lang="zh-CN" altLang="en-US" sz="800" dirty="0">
                          <a:latin typeface="微软雅黑" panose="020B0503020204020204" charset="-122"/>
                          <a:ea typeface="微软雅黑" panose="020B0503020204020204" charset="-122"/>
                        </a:rPr>
                        <a:t>知识建模</a:t>
                      </a:r>
                      <a:endParaRPr lang="zh-CN" altLang="en-US" sz="800" dirty="0">
                        <a:latin typeface="微软雅黑" panose="020B0503020204020204" charset="-122"/>
                        <a:ea typeface="微软雅黑" panose="020B0503020204020204" charset="-122"/>
                      </a:endParaRPr>
                    </a:p>
                  </a:txBody>
                  <a:tcPr marL="0" marR="0" marT="0" marB="0" anchor="ctr">
                    <a:solidFill>
                      <a:srgbClr val="DAE3F3"/>
                    </a:solidFill>
                  </a:tcPr>
                </a:tc>
                <a:tc>
                  <a:txBody>
                    <a:bodyPr/>
                    <a:lstStyle/>
                    <a:p>
                      <a:pPr algn="ctr"/>
                      <a:r>
                        <a:rPr lang="zh-CN" altLang="en-US" sz="800" dirty="0">
                          <a:latin typeface="微软雅黑" panose="020B0503020204020204" charset="-122"/>
                          <a:ea typeface="微软雅黑" panose="020B0503020204020204" charset="-122"/>
                        </a:rPr>
                        <a:t>知识存储</a:t>
                      </a:r>
                      <a:endParaRPr lang="zh-CN" altLang="en-US" sz="800" dirty="0">
                        <a:latin typeface="微软雅黑" panose="020B0503020204020204" charset="-122"/>
                        <a:ea typeface="微软雅黑" panose="020B0503020204020204" charset="-122"/>
                      </a:endParaRPr>
                    </a:p>
                  </a:txBody>
                  <a:tcPr marL="0" marR="0" marT="0" marB="0" anchor="ctr">
                    <a:solidFill>
                      <a:srgbClr val="DAE3F3"/>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看同业—工商银行基于知识图谱探索本体知识组织模式，支撑工银智涌大模型推理服务</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5" name="Rectangle 3"/>
          <p:cNvSpPr/>
          <p:nvPr/>
        </p:nvSpPr>
        <p:spPr>
          <a:xfrm>
            <a:off x="604518" y="868032"/>
            <a:ext cx="10982964" cy="1011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828000" rtlCol="0" anchor="ctr"/>
          <a:lstStyle/>
          <a:p>
            <a:pPr indent="0" fontAlgn="auto">
              <a:lnSpc>
                <a:spcPct val="150000"/>
              </a:lnSpc>
              <a:buClr>
                <a:srgbClr val="C00000"/>
              </a:buClr>
            </a:pP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工商银行针对大模型应用场景构建了通用、行业、企业、</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领域、任务五层一体的知识体系，以“一湖两库”作为数据底座，提供向量与图谱两类知识检索服务，探索本体知识组织模式，提升大模型矩阵的逻辑能力和知识应用能力</a:t>
            </a:r>
            <a:r>
              <a:rPr lang="en-US" altLang="zh-CN" sz="160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支撑工银智涌大模型推理服务。</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6" name="Picture 4"/>
          <p:cNvPicPr>
            <a:picLocks noChangeAspect="1"/>
          </p:cNvPicPr>
          <p:nvPr/>
        </p:nvPicPr>
        <p:blipFill>
          <a:blip r:embed="rId1"/>
          <a:stretch>
            <a:fillRect/>
          </a:stretch>
        </p:blipFill>
        <p:spPr>
          <a:xfrm>
            <a:off x="604520" y="986790"/>
            <a:ext cx="690880" cy="679450"/>
          </a:xfrm>
          <a:prstGeom prst="rect">
            <a:avLst/>
          </a:prstGeom>
        </p:spPr>
      </p:pic>
      <p:sp>
        <p:nvSpPr>
          <p:cNvPr id="3" name="矩形 2"/>
          <p:cNvSpPr/>
          <p:nvPr/>
        </p:nvSpPr>
        <p:spPr>
          <a:xfrm>
            <a:off x="643255" y="2260600"/>
            <a:ext cx="5020945" cy="3833495"/>
          </a:xfrm>
          <a:prstGeom prst="rect">
            <a:avLst/>
          </a:prstGeom>
          <a:ln>
            <a:solidFill>
              <a:schemeClr val="bg1">
                <a:lumMod val="85000"/>
              </a:schemeClr>
            </a:solidFill>
          </a:ln>
        </p:spPr>
        <p:style>
          <a:lnRef idx="2">
            <a:schemeClr val="accent1"/>
          </a:lnRef>
          <a:fillRef idx="0">
            <a:srgbClr val="FFFFFF"/>
          </a:fillRef>
          <a:effectRef idx="0">
            <a:srgbClr val="FFFFFF"/>
          </a:effectRef>
          <a:fontRef idx="minor">
            <a:schemeClr val="tx1"/>
          </a:fontRef>
        </p:style>
        <p:txBody>
          <a:bodyPr rtlCol="0" anchor="t" anchorCtr="0"/>
          <a:lstStyle/>
          <a:p>
            <a:pPr algn="ctr"/>
            <a:r>
              <a:rPr lang="zh-CN" altLang="en-US">
                <a:latin typeface="微软雅黑" panose="020B0503020204020204" charset="-122"/>
                <a:ea typeface="微软雅黑" panose="020B0503020204020204" charset="-122"/>
                <a:cs typeface="微软雅黑" panose="020B0503020204020204" charset="-122"/>
              </a:rPr>
              <a:t>“五层一体”知识架构</a:t>
            </a:r>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矩形 3"/>
          <p:cNvSpPr/>
          <p:nvPr/>
        </p:nvSpPr>
        <p:spPr>
          <a:xfrm>
            <a:off x="899795" y="2800350"/>
            <a:ext cx="1393825" cy="49276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代码生成任务</a:t>
            </a:r>
            <a:endParaRPr lang="zh-CN" altLang="en-US" sz="1200">
              <a:solidFill>
                <a:schemeClr val="tx1"/>
              </a:solidFill>
              <a:latin typeface="微软雅黑" panose="020B0503020204020204" charset="-122"/>
              <a:ea typeface="微软雅黑" panose="020B0503020204020204" charset="-122"/>
            </a:endParaRPr>
          </a:p>
        </p:txBody>
      </p:sp>
      <p:sp>
        <p:nvSpPr>
          <p:cNvPr id="8" name="矩形 7"/>
          <p:cNvSpPr/>
          <p:nvPr/>
        </p:nvSpPr>
        <p:spPr>
          <a:xfrm>
            <a:off x="2374265" y="2800350"/>
            <a:ext cx="1393825" cy="49276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金融搜索任务</a:t>
            </a:r>
            <a:endParaRPr lang="zh-CN" altLang="en-US" sz="1200">
              <a:solidFill>
                <a:schemeClr val="tx1"/>
              </a:solidFill>
              <a:latin typeface="微软雅黑" panose="020B0503020204020204" charset="-122"/>
              <a:ea typeface="微软雅黑" panose="020B0503020204020204" charset="-122"/>
            </a:endParaRPr>
          </a:p>
        </p:txBody>
      </p:sp>
      <p:sp>
        <p:nvSpPr>
          <p:cNvPr id="9" name="矩形 8"/>
          <p:cNvSpPr/>
          <p:nvPr/>
        </p:nvSpPr>
        <p:spPr>
          <a:xfrm>
            <a:off x="3848100" y="2800350"/>
            <a:ext cx="1393825" cy="49276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a:solidFill>
                  <a:schemeClr val="tx1"/>
                </a:solidFill>
                <a:latin typeface="微软雅黑" panose="020B0503020204020204" charset="-122"/>
                <a:ea typeface="微软雅黑" panose="020B0503020204020204" charset="-122"/>
              </a:rPr>
              <a:t>……</a:t>
            </a:r>
            <a:endParaRPr lang="en-US" altLang="zh-CN" sz="1200">
              <a:solidFill>
                <a:schemeClr val="tx1"/>
              </a:solidFill>
              <a:latin typeface="微软雅黑" panose="020B0503020204020204" charset="-122"/>
              <a:ea typeface="微软雅黑" panose="020B0503020204020204" charset="-122"/>
            </a:endParaRPr>
          </a:p>
        </p:txBody>
      </p:sp>
      <p:sp>
        <p:nvSpPr>
          <p:cNvPr id="10" name="文本框 9"/>
          <p:cNvSpPr txBox="1"/>
          <p:nvPr/>
        </p:nvSpPr>
        <p:spPr>
          <a:xfrm>
            <a:off x="5037455" y="2868930"/>
            <a:ext cx="713105" cy="366395"/>
          </a:xfrm>
          <a:prstGeom prst="rect">
            <a:avLst/>
          </a:prstGeom>
          <a:noFill/>
        </p:spPr>
        <p:txBody>
          <a:bodyPr wrap="square" rtlCol="0">
            <a:noAutofit/>
          </a:bodyPr>
          <a:lstStyle/>
          <a:p>
            <a:pPr algn="ctr"/>
            <a:r>
              <a:rPr lang="zh-CN" altLang="en-US" sz="1400" b="1">
                <a:solidFill>
                  <a:srgbClr val="C00000"/>
                </a:solidFill>
                <a:latin typeface="微软雅黑" panose="020B0503020204020204" charset="-122"/>
                <a:ea typeface="微软雅黑" panose="020B0503020204020204" charset="-122"/>
              </a:rPr>
              <a:t>任务</a:t>
            </a:r>
            <a:endParaRPr lang="zh-CN" altLang="en-US" sz="1400" b="1">
              <a:solidFill>
                <a:srgbClr val="C00000"/>
              </a:solidFill>
              <a:latin typeface="微软雅黑" panose="020B0503020204020204" charset="-122"/>
              <a:ea typeface="微软雅黑" panose="020B0503020204020204" charset="-122"/>
            </a:endParaRPr>
          </a:p>
        </p:txBody>
      </p:sp>
      <p:sp>
        <p:nvSpPr>
          <p:cNvPr id="11" name="矩形 10"/>
          <p:cNvSpPr/>
          <p:nvPr/>
        </p:nvSpPr>
        <p:spPr>
          <a:xfrm>
            <a:off x="899795" y="3385185"/>
            <a:ext cx="2124075" cy="58801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对客服务领域</a:t>
            </a:r>
            <a:endParaRPr lang="zh-CN" altLang="en-US" sz="1200">
              <a:solidFill>
                <a:schemeClr val="tx1"/>
              </a:solidFill>
              <a:latin typeface="微软雅黑" panose="020B0503020204020204" charset="-122"/>
              <a:ea typeface="微软雅黑" panose="020B0503020204020204" charset="-122"/>
            </a:endParaRPr>
          </a:p>
          <a:p>
            <a:pPr algn="ctr"/>
            <a:r>
              <a:rPr lang="zh-CN" altLang="en-US" sz="1000">
                <a:solidFill>
                  <a:schemeClr val="tx1"/>
                </a:solidFill>
                <a:latin typeface="微软雅黑" panose="020B0503020204020204" charset="-122"/>
                <a:ea typeface="微软雅黑" panose="020B0503020204020204" charset="-122"/>
              </a:rPr>
              <a:t>产品、营销信息等</a:t>
            </a:r>
            <a:endParaRPr lang="zh-CN" altLang="en-US" sz="1000">
              <a:solidFill>
                <a:schemeClr val="tx1"/>
              </a:solidFill>
              <a:latin typeface="微软雅黑" panose="020B0503020204020204" charset="-122"/>
              <a:ea typeface="微软雅黑" panose="020B0503020204020204" charset="-122"/>
            </a:endParaRPr>
          </a:p>
        </p:txBody>
      </p:sp>
      <p:sp>
        <p:nvSpPr>
          <p:cNvPr id="12" name="矩形 11"/>
          <p:cNvSpPr/>
          <p:nvPr/>
        </p:nvSpPr>
        <p:spPr>
          <a:xfrm>
            <a:off x="3118485" y="3385185"/>
            <a:ext cx="2124075" cy="58801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对内服务领域</a:t>
            </a:r>
            <a:endParaRPr lang="zh-CN" altLang="en-US" sz="1200">
              <a:solidFill>
                <a:schemeClr val="tx1"/>
              </a:solidFill>
              <a:latin typeface="微软雅黑" panose="020B0503020204020204" charset="-122"/>
              <a:ea typeface="微软雅黑" panose="020B0503020204020204" charset="-122"/>
            </a:endParaRPr>
          </a:p>
          <a:p>
            <a:pPr algn="ctr"/>
            <a:r>
              <a:rPr lang="zh-CN" altLang="en-US" sz="1000">
                <a:solidFill>
                  <a:schemeClr val="tx1"/>
                </a:solidFill>
                <a:latin typeface="微软雅黑" panose="020B0503020204020204" charset="-122"/>
                <a:ea typeface="微软雅黑" panose="020B0503020204020204" charset="-122"/>
              </a:rPr>
              <a:t>规章、操作规范等</a:t>
            </a:r>
            <a:endParaRPr lang="zh-CN" altLang="en-US" sz="1000">
              <a:solidFill>
                <a:schemeClr val="tx1"/>
              </a:solidFill>
              <a:latin typeface="微软雅黑" panose="020B0503020204020204" charset="-122"/>
              <a:ea typeface="微软雅黑" panose="020B0503020204020204" charset="-122"/>
            </a:endParaRPr>
          </a:p>
        </p:txBody>
      </p:sp>
      <p:sp>
        <p:nvSpPr>
          <p:cNvPr id="13" name="文本框 12"/>
          <p:cNvSpPr txBox="1"/>
          <p:nvPr/>
        </p:nvSpPr>
        <p:spPr>
          <a:xfrm>
            <a:off x="5037455" y="3495675"/>
            <a:ext cx="713105" cy="366395"/>
          </a:xfrm>
          <a:prstGeom prst="rect">
            <a:avLst/>
          </a:prstGeom>
          <a:noFill/>
        </p:spPr>
        <p:txBody>
          <a:bodyPr wrap="square" rtlCol="0">
            <a:noAutofit/>
          </a:bodyPr>
          <a:lstStyle/>
          <a:p>
            <a:pPr algn="ctr"/>
            <a:r>
              <a:rPr lang="zh-CN" altLang="en-US" sz="1400" b="1">
                <a:solidFill>
                  <a:srgbClr val="C00000"/>
                </a:solidFill>
                <a:latin typeface="微软雅黑" panose="020B0503020204020204" charset="-122"/>
                <a:ea typeface="微软雅黑" panose="020B0503020204020204" charset="-122"/>
              </a:rPr>
              <a:t>领域</a:t>
            </a:r>
            <a:endParaRPr lang="zh-CN" altLang="en-US" sz="1400" b="1">
              <a:solidFill>
                <a:srgbClr val="C00000"/>
              </a:solidFill>
              <a:latin typeface="微软雅黑" panose="020B0503020204020204" charset="-122"/>
              <a:ea typeface="微软雅黑" panose="020B0503020204020204" charset="-122"/>
            </a:endParaRPr>
          </a:p>
        </p:txBody>
      </p:sp>
      <p:sp>
        <p:nvSpPr>
          <p:cNvPr id="14" name="矩形 13"/>
          <p:cNvSpPr/>
          <p:nvPr/>
        </p:nvSpPr>
        <p:spPr>
          <a:xfrm>
            <a:off x="899795" y="4046220"/>
            <a:ext cx="4342765" cy="58801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企业通识知识</a:t>
            </a:r>
            <a:endParaRPr lang="zh-CN" altLang="en-US" sz="1200">
              <a:solidFill>
                <a:schemeClr val="tx1"/>
              </a:solidFill>
              <a:latin typeface="微软雅黑" panose="020B0503020204020204" charset="-122"/>
              <a:ea typeface="微软雅黑" panose="020B0503020204020204" charset="-122"/>
            </a:endParaRPr>
          </a:p>
          <a:p>
            <a:pPr algn="ctr"/>
            <a:r>
              <a:rPr lang="zh-CN" altLang="en-US" sz="1000">
                <a:solidFill>
                  <a:schemeClr val="tx1"/>
                </a:solidFill>
                <a:latin typeface="微软雅黑" panose="020B0503020204020204" charset="-122"/>
                <a:ea typeface="微软雅黑" panose="020B0503020204020204" charset="-122"/>
              </a:rPr>
              <a:t>企业资讯、公文、业务知识等</a:t>
            </a:r>
            <a:endParaRPr lang="zh-CN" altLang="en-US" sz="1000">
              <a:solidFill>
                <a:schemeClr val="tx1"/>
              </a:solidFill>
              <a:latin typeface="微软雅黑" panose="020B0503020204020204" charset="-122"/>
              <a:ea typeface="微软雅黑" panose="020B0503020204020204" charset="-122"/>
            </a:endParaRPr>
          </a:p>
        </p:txBody>
      </p:sp>
      <p:sp>
        <p:nvSpPr>
          <p:cNvPr id="15" name="矩形 14"/>
          <p:cNvSpPr/>
          <p:nvPr/>
        </p:nvSpPr>
        <p:spPr>
          <a:xfrm>
            <a:off x="899795" y="4707255"/>
            <a:ext cx="4342765" cy="58801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金融行业通识知识</a:t>
            </a:r>
            <a:endParaRPr lang="zh-CN" altLang="en-US" sz="1200">
              <a:solidFill>
                <a:schemeClr val="tx1"/>
              </a:solidFill>
              <a:latin typeface="微软雅黑" panose="020B0503020204020204" charset="-122"/>
              <a:ea typeface="微软雅黑" panose="020B0503020204020204" charset="-122"/>
            </a:endParaRPr>
          </a:p>
          <a:p>
            <a:pPr algn="ctr"/>
            <a:r>
              <a:rPr lang="zh-CN" altLang="en-US" sz="1000">
                <a:solidFill>
                  <a:schemeClr val="tx1"/>
                </a:solidFill>
                <a:latin typeface="微软雅黑" panose="020B0503020204020204" charset="-122"/>
                <a:ea typeface="微软雅黑" panose="020B0503020204020204" charset="-122"/>
              </a:rPr>
              <a:t>金融政策、财报、研报、金融百科等</a:t>
            </a:r>
            <a:endParaRPr lang="zh-CN" altLang="en-US" sz="1000">
              <a:solidFill>
                <a:schemeClr val="tx1"/>
              </a:solidFill>
              <a:latin typeface="微软雅黑" panose="020B0503020204020204" charset="-122"/>
              <a:ea typeface="微软雅黑" panose="020B0503020204020204" charset="-122"/>
            </a:endParaRPr>
          </a:p>
        </p:txBody>
      </p:sp>
      <p:sp>
        <p:nvSpPr>
          <p:cNvPr id="16" name="矩形 15"/>
          <p:cNvSpPr/>
          <p:nvPr/>
        </p:nvSpPr>
        <p:spPr>
          <a:xfrm>
            <a:off x="899795" y="5368290"/>
            <a:ext cx="4342765" cy="58801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世界通识知识</a:t>
            </a:r>
            <a:endParaRPr lang="zh-CN" altLang="en-US" sz="1200">
              <a:solidFill>
                <a:schemeClr val="tx1"/>
              </a:solidFill>
              <a:latin typeface="微软雅黑" panose="020B0503020204020204" charset="-122"/>
              <a:ea typeface="微软雅黑" panose="020B0503020204020204" charset="-122"/>
            </a:endParaRPr>
          </a:p>
          <a:p>
            <a:pPr algn="ctr"/>
            <a:r>
              <a:rPr lang="zh-CN" altLang="en-US" sz="1000">
                <a:solidFill>
                  <a:schemeClr val="tx1"/>
                </a:solidFill>
                <a:latin typeface="微软雅黑" panose="020B0503020204020204" charset="-122"/>
                <a:ea typeface="微软雅黑" panose="020B0503020204020204" charset="-122"/>
              </a:rPr>
              <a:t>全球资讯、百科、书籍等</a:t>
            </a:r>
            <a:endParaRPr lang="zh-CN" altLang="en-US" sz="1000">
              <a:solidFill>
                <a:schemeClr val="tx1"/>
              </a:solidFill>
              <a:latin typeface="微软雅黑" panose="020B0503020204020204" charset="-122"/>
              <a:ea typeface="微软雅黑" panose="020B0503020204020204" charset="-122"/>
            </a:endParaRPr>
          </a:p>
        </p:txBody>
      </p:sp>
      <p:sp>
        <p:nvSpPr>
          <p:cNvPr id="17" name="文本框 16"/>
          <p:cNvSpPr txBox="1"/>
          <p:nvPr/>
        </p:nvSpPr>
        <p:spPr>
          <a:xfrm>
            <a:off x="5037455" y="4156710"/>
            <a:ext cx="713105" cy="366395"/>
          </a:xfrm>
          <a:prstGeom prst="rect">
            <a:avLst/>
          </a:prstGeom>
          <a:noFill/>
        </p:spPr>
        <p:txBody>
          <a:bodyPr wrap="square" rtlCol="0">
            <a:noAutofit/>
          </a:bodyPr>
          <a:lstStyle/>
          <a:p>
            <a:pPr algn="ctr"/>
            <a:r>
              <a:rPr lang="zh-CN" altLang="en-US" sz="1400" b="1">
                <a:solidFill>
                  <a:srgbClr val="C00000"/>
                </a:solidFill>
                <a:latin typeface="微软雅黑" panose="020B0503020204020204" charset="-122"/>
                <a:ea typeface="微软雅黑" panose="020B0503020204020204" charset="-122"/>
              </a:rPr>
              <a:t>企业</a:t>
            </a:r>
            <a:endParaRPr lang="zh-CN" altLang="en-US" sz="1400" b="1">
              <a:solidFill>
                <a:srgbClr val="C00000"/>
              </a:solidFill>
              <a:latin typeface="微软雅黑" panose="020B0503020204020204" charset="-122"/>
              <a:ea typeface="微软雅黑" panose="020B0503020204020204" charset="-122"/>
            </a:endParaRPr>
          </a:p>
        </p:txBody>
      </p:sp>
      <p:sp>
        <p:nvSpPr>
          <p:cNvPr id="18" name="文本框 17"/>
          <p:cNvSpPr txBox="1"/>
          <p:nvPr/>
        </p:nvSpPr>
        <p:spPr>
          <a:xfrm>
            <a:off x="5037455" y="4817745"/>
            <a:ext cx="713105" cy="366395"/>
          </a:xfrm>
          <a:prstGeom prst="rect">
            <a:avLst/>
          </a:prstGeom>
          <a:noFill/>
        </p:spPr>
        <p:txBody>
          <a:bodyPr wrap="square" rtlCol="0">
            <a:noAutofit/>
          </a:bodyPr>
          <a:lstStyle/>
          <a:p>
            <a:pPr algn="ctr"/>
            <a:r>
              <a:rPr lang="zh-CN" altLang="en-US" sz="1400" b="1">
                <a:solidFill>
                  <a:srgbClr val="C00000"/>
                </a:solidFill>
                <a:latin typeface="微软雅黑" panose="020B0503020204020204" charset="-122"/>
                <a:ea typeface="微软雅黑" panose="020B0503020204020204" charset="-122"/>
              </a:rPr>
              <a:t>行业</a:t>
            </a:r>
            <a:endParaRPr lang="zh-CN" altLang="en-US" sz="1400" b="1">
              <a:solidFill>
                <a:srgbClr val="C00000"/>
              </a:solidFill>
              <a:latin typeface="微软雅黑" panose="020B0503020204020204" charset="-122"/>
              <a:ea typeface="微软雅黑" panose="020B0503020204020204" charset="-122"/>
            </a:endParaRPr>
          </a:p>
        </p:txBody>
      </p:sp>
      <p:sp>
        <p:nvSpPr>
          <p:cNvPr id="19" name="文本框 18"/>
          <p:cNvSpPr txBox="1"/>
          <p:nvPr/>
        </p:nvSpPr>
        <p:spPr>
          <a:xfrm>
            <a:off x="5037455" y="5479415"/>
            <a:ext cx="713105" cy="366395"/>
          </a:xfrm>
          <a:prstGeom prst="rect">
            <a:avLst/>
          </a:prstGeom>
          <a:noFill/>
        </p:spPr>
        <p:txBody>
          <a:bodyPr wrap="square" rtlCol="0">
            <a:noAutofit/>
          </a:bodyPr>
          <a:lstStyle/>
          <a:p>
            <a:pPr algn="ctr"/>
            <a:r>
              <a:rPr lang="zh-CN" altLang="en-US" sz="1400" b="1">
                <a:solidFill>
                  <a:srgbClr val="C00000"/>
                </a:solidFill>
                <a:latin typeface="微软雅黑" panose="020B0503020204020204" charset="-122"/>
                <a:ea typeface="微软雅黑" panose="020B0503020204020204" charset="-122"/>
              </a:rPr>
              <a:t>通用</a:t>
            </a:r>
            <a:endParaRPr lang="zh-CN" altLang="en-US" sz="1400" b="1">
              <a:solidFill>
                <a:srgbClr val="C00000"/>
              </a:solidFill>
              <a:latin typeface="微软雅黑" panose="020B0503020204020204" charset="-122"/>
              <a:ea typeface="微软雅黑" panose="020B0503020204020204" charset="-122"/>
            </a:endParaRPr>
          </a:p>
        </p:txBody>
      </p:sp>
      <p:sp>
        <p:nvSpPr>
          <p:cNvPr id="22" name="矩形 21"/>
          <p:cNvSpPr/>
          <p:nvPr/>
        </p:nvSpPr>
        <p:spPr>
          <a:xfrm>
            <a:off x="6563360" y="2260600"/>
            <a:ext cx="5020945" cy="3833495"/>
          </a:xfrm>
          <a:prstGeom prst="rect">
            <a:avLst/>
          </a:prstGeom>
          <a:ln>
            <a:solidFill>
              <a:schemeClr val="bg1">
                <a:lumMod val="85000"/>
              </a:schemeClr>
            </a:solidFill>
          </a:ln>
        </p:spPr>
        <p:style>
          <a:lnRef idx="2">
            <a:schemeClr val="accent1"/>
          </a:lnRef>
          <a:fillRef idx="0">
            <a:srgbClr val="FFFFFF"/>
          </a:fillRef>
          <a:effectRef idx="0">
            <a:srgbClr val="FFFFFF"/>
          </a:effectRef>
          <a:fontRef idx="minor">
            <a:schemeClr val="tx1"/>
          </a:fontRef>
        </p:style>
        <p:txBody>
          <a:bodyPr rtlCol="0" anchor="t" anchorCtr="0"/>
          <a:lstStyle/>
          <a:p>
            <a:pPr algn="ctr"/>
            <a:r>
              <a:rPr lang="zh-CN" altLang="en-US">
                <a:latin typeface="微软雅黑" panose="020B0503020204020204" charset="-122"/>
                <a:ea typeface="微软雅黑" panose="020B0503020204020204" charset="-122"/>
                <a:cs typeface="微软雅黑" panose="020B0503020204020204" charset="-122"/>
              </a:rPr>
              <a:t>“四维融合”技术架构</a:t>
            </a:r>
            <a:endParaRPr lang="zh-CN" altLang="en-US">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6832600" y="2914015"/>
            <a:ext cx="4392295" cy="550545"/>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工银智涌大模型技术</a:t>
            </a:r>
            <a:r>
              <a:rPr lang="zh-CN" altLang="en-US" sz="1200">
                <a:solidFill>
                  <a:schemeClr val="tx1"/>
                </a:solidFill>
                <a:latin typeface="微软雅黑" panose="020B0503020204020204" charset="-122"/>
                <a:ea typeface="微软雅黑" panose="020B0503020204020204" charset="-122"/>
              </a:rPr>
              <a:t>体系</a:t>
            </a:r>
            <a:endParaRPr lang="zh-CN" altLang="en-US" sz="1200">
              <a:solidFill>
                <a:schemeClr val="tx1"/>
              </a:solidFill>
              <a:latin typeface="微软雅黑" panose="020B0503020204020204" charset="-122"/>
              <a:ea typeface="微软雅黑" panose="020B0503020204020204" charset="-122"/>
            </a:endParaRPr>
          </a:p>
        </p:txBody>
      </p:sp>
      <p:sp>
        <p:nvSpPr>
          <p:cNvPr id="24" name="矩形 23"/>
          <p:cNvSpPr/>
          <p:nvPr/>
        </p:nvSpPr>
        <p:spPr>
          <a:xfrm>
            <a:off x="6832600" y="5295265"/>
            <a:ext cx="4392295" cy="550545"/>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sz="1200">
                <a:solidFill>
                  <a:schemeClr val="tx1"/>
                </a:solidFill>
                <a:latin typeface="微软雅黑" panose="020B0503020204020204" charset="-122"/>
                <a:ea typeface="微软雅黑" panose="020B0503020204020204" charset="-122"/>
              </a:rPr>
              <a:t>一湖两库</a:t>
            </a:r>
            <a:endParaRPr lang="zh-CN" sz="1200">
              <a:solidFill>
                <a:schemeClr val="tx1"/>
              </a:solidFill>
              <a:latin typeface="微软雅黑" panose="020B0503020204020204" charset="-122"/>
              <a:ea typeface="微软雅黑" panose="020B0503020204020204" charset="-122"/>
            </a:endParaRPr>
          </a:p>
        </p:txBody>
      </p:sp>
      <p:sp>
        <p:nvSpPr>
          <p:cNvPr id="25" name="矩形 24"/>
          <p:cNvSpPr/>
          <p:nvPr/>
        </p:nvSpPr>
        <p:spPr>
          <a:xfrm>
            <a:off x="6832600" y="3606800"/>
            <a:ext cx="2067560" cy="158115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en-US" sz="1400">
                <a:solidFill>
                  <a:schemeClr val="tx1"/>
                </a:solidFill>
                <a:latin typeface="微软雅黑" panose="020B0503020204020204" charset="-122"/>
                <a:ea typeface="微软雅黑" panose="020B0503020204020204" charset="-122"/>
              </a:rPr>
              <a:t>RAG</a:t>
            </a:r>
            <a:r>
              <a:rPr lang="zh-CN" altLang="en-US" sz="1400">
                <a:solidFill>
                  <a:schemeClr val="tx1"/>
                </a:solidFill>
                <a:latin typeface="微软雅黑" panose="020B0503020204020204" charset="-122"/>
                <a:ea typeface="微软雅黑" panose="020B0503020204020204" charset="-122"/>
              </a:rPr>
              <a:t>平台</a:t>
            </a:r>
            <a:endParaRPr lang="zh-CN" altLang="en-US" sz="1400">
              <a:solidFill>
                <a:schemeClr val="tx1"/>
              </a:solidFill>
              <a:latin typeface="微软雅黑" panose="020B0503020204020204" charset="-122"/>
              <a:ea typeface="微软雅黑" panose="020B0503020204020204" charset="-122"/>
            </a:endParaRPr>
          </a:p>
        </p:txBody>
      </p:sp>
      <p:sp>
        <p:nvSpPr>
          <p:cNvPr id="26" name="矩形 25"/>
          <p:cNvSpPr/>
          <p:nvPr/>
        </p:nvSpPr>
        <p:spPr>
          <a:xfrm>
            <a:off x="9159875" y="3606800"/>
            <a:ext cx="2067560" cy="15811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zh-CN" sz="1400">
                <a:solidFill>
                  <a:schemeClr val="tx1"/>
                </a:solidFill>
                <a:latin typeface="微软雅黑" panose="020B0503020204020204" charset="-122"/>
                <a:ea typeface="微软雅黑" panose="020B0503020204020204" charset="-122"/>
              </a:rPr>
              <a:t>企业知识图谱</a:t>
            </a:r>
            <a:endParaRPr lang="zh-CN" sz="1400">
              <a:solidFill>
                <a:schemeClr val="tx1"/>
              </a:solidFill>
              <a:latin typeface="微软雅黑" panose="020B0503020204020204" charset="-122"/>
              <a:ea typeface="微软雅黑" panose="020B0503020204020204" charset="-122"/>
            </a:endParaRPr>
          </a:p>
        </p:txBody>
      </p:sp>
      <p:grpSp>
        <p:nvGrpSpPr>
          <p:cNvPr id="31" name="组合 30"/>
          <p:cNvGrpSpPr/>
          <p:nvPr/>
        </p:nvGrpSpPr>
        <p:grpSpPr>
          <a:xfrm>
            <a:off x="6877685" y="3902710"/>
            <a:ext cx="1955165" cy="356870"/>
            <a:chOff x="10628" y="5765"/>
            <a:chExt cx="2900" cy="598"/>
          </a:xfrm>
        </p:grpSpPr>
        <p:sp>
          <p:nvSpPr>
            <p:cNvPr id="27" name="矩形 26"/>
            <p:cNvSpPr/>
            <p:nvPr/>
          </p:nvSpPr>
          <p:spPr>
            <a:xfrm>
              <a:off x="10628"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场景库</a:t>
              </a:r>
              <a:endParaRPr lang="zh-CN" altLang="en-US" sz="900">
                <a:solidFill>
                  <a:schemeClr val="tx1"/>
                </a:solidFill>
                <a:latin typeface="微软雅黑" panose="020B0503020204020204" charset="-122"/>
                <a:ea typeface="微软雅黑" panose="020B0503020204020204" charset="-122"/>
              </a:endParaRPr>
            </a:p>
          </p:txBody>
        </p:sp>
        <p:sp>
          <p:nvSpPr>
            <p:cNvPr id="28" name="矩形 27"/>
            <p:cNvSpPr/>
            <p:nvPr/>
          </p:nvSpPr>
          <p:spPr>
            <a:xfrm>
              <a:off x="11356"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场景库</a:t>
              </a:r>
              <a:endParaRPr lang="zh-CN" altLang="en-US" sz="900">
                <a:solidFill>
                  <a:schemeClr val="tx1"/>
                </a:solidFill>
                <a:latin typeface="微软雅黑" panose="020B0503020204020204" charset="-122"/>
                <a:ea typeface="微软雅黑" panose="020B0503020204020204" charset="-122"/>
              </a:endParaRPr>
            </a:p>
          </p:txBody>
        </p:sp>
        <p:sp>
          <p:nvSpPr>
            <p:cNvPr id="29" name="矩形 28"/>
            <p:cNvSpPr/>
            <p:nvPr/>
          </p:nvSpPr>
          <p:spPr>
            <a:xfrm>
              <a:off x="12108"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场景库</a:t>
              </a:r>
              <a:endParaRPr lang="zh-CN" altLang="en-US" sz="900">
                <a:solidFill>
                  <a:schemeClr val="tx1"/>
                </a:solidFill>
                <a:latin typeface="微软雅黑" panose="020B0503020204020204" charset="-122"/>
                <a:ea typeface="微软雅黑" panose="020B0503020204020204" charset="-122"/>
              </a:endParaRPr>
            </a:p>
          </p:txBody>
        </p:sp>
        <p:sp>
          <p:nvSpPr>
            <p:cNvPr id="30" name="矩形 29"/>
            <p:cNvSpPr/>
            <p:nvPr/>
          </p:nvSpPr>
          <p:spPr>
            <a:xfrm>
              <a:off x="12836"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900">
                  <a:solidFill>
                    <a:schemeClr val="tx1"/>
                  </a:solidFill>
                  <a:latin typeface="微软雅黑" panose="020B0503020204020204" charset="-122"/>
                  <a:ea typeface="微软雅黑" panose="020B0503020204020204" charset="-122"/>
                </a:rPr>
                <a:t>……</a:t>
              </a:r>
              <a:endParaRPr lang="en-US" altLang="zh-CN" sz="900">
                <a:solidFill>
                  <a:schemeClr val="tx1"/>
                </a:solidFill>
                <a:latin typeface="微软雅黑" panose="020B0503020204020204" charset="-122"/>
                <a:ea typeface="微软雅黑" panose="020B0503020204020204" charset="-122"/>
              </a:endParaRPr>
            </a:p>
          </p:txBody>
        </p:sp>
      </p:grpSp>
      <p:grpSp>
        <p:nvGrpSpPr>
          <p:cNvPr id="32" name="组合 31"/>
          <p:cNvGrpSpPr/>
          <p:nvPr/>
        </p:nvGrpSpPr>
        <p:grpSpPr>
          <a:xfrm>
            <a:off x="6877685" y="4323080"/>
            <a:ext cx="1955165" cy="489585"/>
            <a:chOff x="10628" y="5765"/>
            <a:chExt cx="2900" cy="598"/>
          </a:xfrm>
        </p:grpSpPr>
        <p:sp>
          <p:nvSpPr>
            <p:cNvPr id="33" name="矩形 32"/>
            <p:cNvSpPr/>
            <p:nvPr/>
          </p:nvSpPr>
          <p:spPr>
            <a:xfrm>
              <a:off x="10628"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个银知识库</a:t>
              </a:r>
              <a:endParaRPr lang="zh-CN" altLang="en-US" sz="900">
                <a:solidFill>
                  <a:schemeClr val="tx1"/>
                </a:solidFill>
                <a:latin typeface="微软雅黑" panose="020B0503020204020204" charset="-122"/>
                <a:ea typeface="微软雅黑" panose="020B0503020204020204" charset="-122"/>
              </a:endParaRPr>
            </a:p>
          </p:txBody>
        </p:sp>
        <p:sp>
          <p:nvSpPr>
            <p:cNvPr id="34" name="矩形 33"/>
            <p:cNvSpPr/>
            <p:nvPr/>
          </p:nvSpPr>
          <p:spPr>
            <a:xfrm>
              <a:off x="11356"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金市知识库</a:t>
              </a:r>
              <a:endParaRPr lang="zh-CN" altLang="en-US" sz="900">
                <a:solidFill>
                  <a:schemeClr val="tx1"/>
                </a:solidFill>
                <a:latin typeface="微软雅黑" panose="020B0503020204020204" charset="-122"/>
                <a:ea typeface="微软雅黑" panose="020B0503020204020204" charset="-122"/>
              </a:endParaRPr>
            </a:p>
          </p:txBody>
        </p:sp>
        <p:sp>
          <p:nvSpPr>
            <p:cNvPr id="35" name="矩形 34"/>
            <p:cNvSpPr/>
            <p:nvPr/>
          </p:nvSpPr>
          <p:spPr>
            <a:xfrm>
              <a:off x="12108"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信审知识库</a:t>
              </a:r>
              <a:endParaRPr lang="zh-CN" altLang="en-US" sz="900">
                <a:solidFill>
                  <a:schemeClr val="tx1"/>
                </a:solidFill>
                <a:latin typeface="微软雅黑" panose="020B0503020204020204" charset="-122"/>
                <a:ea typeface="微软雅黑" panose="020B0503020204020204" charset="-122"/>
              </a:endParaRPr>
            </a:p>
          </p:txBody>
        </p:sp>
        <p:sp>
          <p:nvSpPr>
            <p:cNvPr id="36" name="矩形 35"/>
            <p:cNvSpPr/>
            <p:nvPr/>
          </p:nvSpPr>
          <p:spPr>
            <a:xfrm>
              <a:off x="12836" y="5765"/>
              <a:ext cx="692" cy="59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900">
                  <a:solidFill>
                    <a:schemeClr val="tx1"/>
                  </a:solidFill>
                  <a:latin typeface="微软雅黑" panose="020B0503020204020204" charset="-122"/>
                  <a:ea typeface="微软雅黑" panose="020B0503020204020204" charset="-122"/>
                </a:rPr>
                <a:t>……</a:t>
              </a:r>
              <a:endParaRPr lang="en-US" altLang="zh-CN" sz="900">
                <a:solidFill>
                  <a:schemeClr val="tx1"/>
                </a:solidFill>
                <a:latin typeface="微软雅黑" panose="020B0503020204020204" charset="-122"/>
                <a:ea typeface="微软雅黑" panose="020B0503020204020204" charset="-122"/>
              </a:endParaRPr>
            </a:p>
          </p:txBody>
        </p:sp>
      </p:grpSp>
      <p:sp>
        <p:nvSpPr>
          <p:cNvPr id="37" name="矩形 36"/>
          <p:cNvSpPr/>
          <p:nvPr/>
        </p:nvSpPr>
        <p:spPr>
          <a:xfrm>
            <a:off x="6873875" y="4876165"/>
            <a:ext cx="1958340" cy="2603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统一向量数据库</a:t>
            </a:r>
            <a:endParaRPr lang="zh-CN" altLang="en-US" sz="900">
              <a:solidFill>
                <a:schemeClr val="tx1"/>
              </a:solidFill>
              <a:latin typeface="微软雅黑" panose="020B0503020204020204" charset="-122"/>
              <a:ea typeface="微软雅黑" panose="020B0503020204020204" charset="-122"/>
            </a:endParaRPr>
          </a:p>
        </p:txBody>
      </p:sp>
      <p:sp>
        <p:nvSpPr>
          <p:cNvPr id="38" name="矩形 37"/>
          <p:cNvSpPr/>
          <p:nvPr/>
        </p:nvSpPr>
        <p:spPr>
          <a:xfrm>
            <a:off x="9271635" y="3999230"/>
            <a:ext cx="1762760" cy="3238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知识地图</a:t>
            </a:r>
            <a:endParaRPr lang="zh-CN" altLang="en-US" sz="900">
              <a:solidFill>
                <a:schemeClr val="tx1"/>
              </a:solidFill>
              <a:latin typeface="微软雅黑" panose="020B0503020204020204" charset="-122"/>
              <a:ea typeface="微软雅黑" panose="020B0503020204020204" charset="-122"/>
            </a:endParaRPr>
          </a:p>
        </p:txBody>
      </p:sp>
      <p:sp>
        <p:nvSpPr>
          <p:cNvPr id="39" name="矩形 38"/>
          <p:cNvSpPr/>
          <p:nvPr/>
        </p:nvSpPr>
        <p:spPr>
          <a:xfrm>
            <a:off x="9271635" y="4371340"/>
            <a:ext cx="1762760" cy="3238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知识本体</a:t>
            </a:r>
            <a:endParaRPr lang="zh-CN" altLang="en-US" sz="900">
              <a:solidFill>
                <a:schemeClr val="tx1"/>
              </a:solidFill>
              <a:latin typeface="微软雅黑" panose="020B0503020204020204" charset="-122"/>
              <a:ea typeface="微软雅黑" panose="020B0503020204020204" charset="-122"/>
            </a:endParaRPr>
          </a:p>
        </p:txBody>
      </p:sp>
      <p:sp>
        <p:nvSpPr>
          <p:cNvPr id="40" name="矩形 39"/>
          <p:cNvSpPr/>
          <p:nvPr/>
        </p:nvSpPr>
        <p:spPr>
          <a:xfrm>
            <a:off x="9271635" y="4743450"/>
            <a:ext cx="1762760" cy="3238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chemeClr val="tx1"/>
                </a:solidFill>
                <a:latin typeface="微软雅黑" panose="020B0503020204020204" charset="-122"/>
                <a:ea typeface="微软雅黑" panose="020B0503020204020204" charset="-122"/>
              </a:rPr>
              <a:t>基础术语库</a:t>
            </a:r>
            <a:endParaRPr lang="zh-CN" altLang="en-US" sz="900">
              <a:solidFill>
                <a:schemeClr val="tx1"/>
              </a:solidFill>
              <a:latin typeface="微软雅黑" panose="020B0503020204020204" charset="-122"/>
              <a:ea typeface="微软雅黑" panose="020B0503020204020204" charset="-122"/>
            </a:endParaRPr>
          </a:p>
        </p:txBody>
      </p:sp>
      <p:sp>
        <p:nvSpPr>
          <p:cNvPr id="41" name="矩形 40"/>
          <p:cNvSpPr/>
          <p:nvPr/>
        </p:nvSpPr>
        <p:spPr>
          <a:xfrm>
            <a:off x="8900160" y="6345555"/>
            <a:ext cx="1301750" cy="350520"/>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sz="1200">
                <a:solidFill>
                  <a:schemeClr val="tx1"/>
                </a:solidFill>
                <a:latin typeface="微软雅黑" panose="020B0503020204020204" charset="-122"/>
                <a:ea typeface="微软雅黑" panose="020B0503020204020204" charset="-122"/>
              </a:rPr>
              <a:t>已建设</a:t>
            </a:r>
            <a:endParaRPr lang="zh-CN" sz="1200">
              <a:solidFill>
                <a:schemeClr val="tx1"/>
              </a:solidFill>
              <a:latin typeface="微软雅黑" panose="020B0503020204020204" charset="-122"/>
              <a:ea typeface="微软雅黑" panose="020B0503020204020204" charset="-122"/>
            </a:endParaRPr>
          </a:p>
        </p:txBody>
      </p:sp>
      <p:sp>
        <p:nvSpPr>
          <p:cNvPr id="42" name="矩形 41"/>
          <p:cNvSpPr/>
          <p:nvPr/>
        </p:nvSpPr>
        <p:spPr>
          <a:xfrm>
            <a:off x="10324465" y="6345555"/>
            <a:ext cx="1301750" cy="3505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sz="1200">
                <a:solidFill>
                  <a:schemeClr val="tx1"/>
                </a:solidFill>
                <a:latin typeface="微软雅黑" panose="020B0503020204020204" charset="-122"/>
                <a:ea typeface="微软雅黑" panose="020B0503020204020204" charset="-122"/>
              </a:rPr>
              <a:t>构建中</a:t>
            </a:r>
            <a:endParaRPr lang="zh-CN" sz="1200">
              <a:solidFill>
                <a:schemeClr val="tx1"/>
              </a:solidFill>
              <a:latin typeface="微软雅黑" panose="020B0503020204020204" charset="-122"/>
              <a:ea typeface="微软雅黑" panose="020B0503020204020204" charset="-122"/>
            </a:endParaRPr>
          </a:p>
        </p:txBody>
      </p:sp>
      <p:sp>
        <p:nvSpPr>
          <p:cNvPr id="7" name="文本框 6"/>
          <p:cNvSpPr txBox="1"/>
          <p:nvPr/>
        </p:nvSpPr>
        <p:spPr>
          <a:xfrm>
            <a:off x="670560" y="6225540"/>
            <a:ext cx="7164070" cy="337185"/>
          </a:xfrm>
          <a:prstGeom prst="rect">
            <a:avLst/>
          </a:prstGeom>
        </p:spPr>
        <p:txBody>
          <a:bodyPr wrap="square">
            <a:spAutoFit/>
          </a:bodyPr>
          <a:p>
            <a:pPr defTabSz="266700"/>
            <a:r>
              <a:rPr lang="zh-CN" altLang="en-US" sz="1600" b="1">
                <a:solidFill>
                  <a:srgbClr val="C00000"/>
                </a:solidFill>
                <a:latin typeface="微软雅黑"/>
                <a:ea typeface="微软雅黑"/>
              </a:rPr>
              <a:t>启示</a:t>
            </a:r>
            <a:r>
              <a:rPr lang="en-US" altLang="zh-CN" sz="1600" b="1">
                <a:solidFill>
                  <a:srgbClr val="C00000"/>
                </a:solidFill>
                <a:latin typeface="微软雅黑"/>
                <a:ea typeface="微软雅黑"/>
              </a:rPr>
              <a:t>：</a:t>
            </a:r>
            <a:r>
              <a:rPr lang="zh-CN" altLang="en-US" sz="1600" b="1">
                <a:solidFill>
                  <a:srgbClr val="C00000"/>
                </a:solidFill>
                <a:latin typeface="微软雅黑"/>
                <a:ea typeface="微软雅黑"/>
              </a:rPr>
              <a:t>大型银行已经开始构建图谱、本体和向量共同支撑大模型推理</a:t>
            </a:r>
            <a:endParaRPr lang="zh-CN" altLang="en-US" sz="1600" b="1">
              <a:solidFill>
                <a:srgbClr val="C00000"/>
              </a:solidFill>
              <a:latin typeface="微软雅黑"/>
              <a:ea typeface="微软雅黑"/>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
          <p:cNvSpPr/>
          <p:nvPr/>
        </p:nvSpPr>
        <p:spPr>
          <a:xfrm>
            <a:off x="604518" y="868032"/>
            <a:ext cx="10982964" cy="10112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828000" rtlCol="0" anchor="ctr"/>
          <a:lstStyle/>
          <a:p>
            <a:pPr indent="0" fontAlgn="auto">
              <a:lnSpc>
                <a:spcPct val="150000"/>
              </a:lnSpc>
              <a:buClr>
                <a:srgbClr val="C00000"/>
              </a:buClr>
            </a:pPr>
            <a:r>
              <a:rPr lang="zh-CN" altLang="en-US" sz="1600" dirty="0">
                <a:solidFill>
                  <a:schemeClr val="tx1"/>
                </a:solidFill>
                <a:latin typeface="微软雅黑" panose="020B0503020204020204" charset="-122"/>
                <a:ea typeface="微软雅黑" panose="020B0503020204020204" charset="-122"/>
              </a:rPr>
              <a:t>平安银行数智化转型落地，建立全行级别知识目录体系，打造知识工程平台</a:t>
            </a:r>
            <a:r>
              <a:rPr lang="en-US" altLang="zh-CN" sz="1600" dirty="0">
                <a:solidFill>
                  <a:schemeClr val="tx1"/>
                </a:solidFill>
                <a:latin typeface="微软雅黑" panose="020B0503020204020204" charset="-122"/>
                <a:ea typeface="微软雅黑" panose="020B0503020204020204" charset="-122"/>
              </a:rPr>
              <a:t>，</a:t>
            </a:r>
            <a:r>
              <a:rPr lang="zh-CN" altLang="en-US" sz="1600" dirty="0">
                <a:solidFill>
                  <a:schemeClr val="tx1"/>
                </a:solidFill>
                <a:latin typeface="微软雅黑" panose="020B0503020204020204" charset="-122"/>
                <a:ea typeface="微软雅黑" panose="020B0503020204020204" charset="-122"/>
              </a:rPr>
              <a:t>支持本体构建</a:t>
            </a:r>
            <a:r>
              <a:rPr lang="en-US" altLang="zh-CN" sz="1600" dirty="0">
                <a:solidFill>
                  <a:schemeClr val="tx1"/>
                </a:solidFill>
                <a:latin typeface="微软雅黑" panose="020B0503020204020204" charset="-122"/>
                <a:ea typeface="微软雅黑" panose="020B0503020204020204" charset="-122"/>
              </a:rPr>
              <a:t>、</a:t>
            </a:r>
            <a:r>
              <a:rPr lang="zh-CN" altLang="en-US" sz="1600" dirty="0">
                <a:solidFill>
                  <a:schemeClr val="tx1"/>
                </a:solidFill>
                <a:latin typeface="微软雅黑" panose="020B0503020204020204" charset="-122"/>
                <a:ea typeface="微软雅黑" panose="020B0503020204020204" charset="-122"/>
              </a:rPr>
              <a:t>知识自动抽取</a:t>
            </a:r>
            <a:r>
              <a:rPr lang="en-US" altLang="zh-CN" sz="1600" dirty="0">
                <a:solidFill>
                  <a:schemeClr val="tx1"/>
                </a:solidFill>
                <a:latin typeface="微软雅黑" panose="020B0503020204020204" charset="-122"/>
                <a:ea typeface="微软雅黑" panose="020B0503020204020204" charset="-122"/>
              </a:rPr>
              <a:t>，</a:t>
            </a:r>
            <a:r>
              <a:rPr lang="zh-CN" altLang="en-US" sz="1600" dirty="0">
                <a:solidFill>
                  <a:schemeClr val="tx1"/>
                </a:solidFill>
                <a:latin typeface="微软雅黑" panose="020B0503020204020204" charset="-122"/>
                <a:ea typeface="微软雅黑" panose="020B0503020204020204" charset="-122"/>
              </a:rPr>
              <a:t>并对外提供知识服务，实现高质量知识沉淀与大模型应用场景赋能</a:t>
            </a:r>
            <a:r>
              <a:rPr lang="en-US" altLang="zh-CN" sz="1600" dirty="0">
                <a:solidFill>
                  <a:schemeClr val="tx1"/>
                </a:solidFill>
                <a:latin typeface="微软雅黑" panose="020B0503020204020204" charset="-122"/>
                <a:ea typeface="微软雅黑" panose="020B0503020204020204" charset="-122"/>
              </a:rPr>
              <a:t>，</a:t>
            </a:r>
            <a:r>
              <a:rPr lang="zh-CN" altLang="en-US" sz="1600" dirty="0">
                <a:solidFill>
                  <a:schemeClr val="tx1"/>
                </a:solidFill>
                <a:latin typeface="微软雅黑" panose="020B0503020204020204" charset="-122"/>
                <a:ea typeface="微软雅黑" panose="020B0503020204020204" charset="-122"/>
              </a:rPr>
              <a:t>在零售信贷审批</a:t>
            </a:r>
            <a:r>
              <a:rPr lang="en-US" altLang="zh-CN" sz="1600" dirty="0">
                <a:solidFill>
                  <a:schemeClr val="tx1"/>
                </a:solidFill>
                <a:latin typeface="微软雅黑" panose="020B0503020204020204" charset="-122"/>
                <a:ea typeface="微软雅黑" panose="020B0503020204020204" charset="-122"/>
              </a:rPr>
              <a:t>、</a:t>
            </a:r>
            <a:r>
              <a:rPr lang="zh-CN" altLang="en-US" sz="1600" dirty="0">
                <a:solidFill>
                  <a:schemeClr val="tx1"/>
                </a:solidFill>
                <a:latin typeface="微软雅黑" panose="020B0503020204020204" charset="-122"/>
                <a:ea typeface="微软雅黑" panose="020B0503020204020204" charset="-122"/>
              </a:rPr>
              <a:t>审计报告生成</a:t>
            </a:r>
            <a:r>
              <a:rPr lang="en-US" altLang="zh-CN" sz="1600" dirty="0">
                <a:solidFill>
                  <a:schemeClr val="tx1"/>
                </a:solidFill>
                <a:latin typeface="微软雅黑" panose="020B0503020204020204" charset="-122"/>
                <a:ea typeface="微软雅黑" panose="020B0503020204020204" charset="-122"/>
              </a:rPr>
              <a:t>、</a:t>
            </a:r>
            <a:r>
              <a:rPr lang="zh-CN" altLang="en-US" sz="1600" dirty="0">
                <a:solidFill>
                  <a:schemeClr val="tx1"/>
                </a:solidFill>
                <a:latin typeface="微软雅黑" panose="020B0503020204020204" charset="-122"/>
                <a:ea typeface="微软雅黑" panose="020B0503020204020204" charset="-122"/>
              </a:rPr>
              <a:t>经营分析等场景实现自主决策分析</a:t>
            </a:r>
            <a:r>
              <a:rPr lang="en-US" altLang="zh-CN" sz="1600" dirty="0">
                <a:solidFill>
                  <a:schemeClr val="tx1"/>
                </a:solidFill>
                <a:latin typeface="微软雅黑" panose="020B0503020204020204" charset="-122"/>
                <a:ea typeface="微软雅黑" panose="020B0503020204020204" charset="-122"/>
              </a:rPr>
              <a:t>。</a:t>
            </a:r>
            <a:endParaRPr lang="en-US" altLang="zh-CN" sz="1600" dirty="0">
              <a:solidFill>
                <a:schemeClr val="tx1"/>
              </a:solidFill>
              <a:latin typeface="微软雅黑" panose="020B0503020204020204" charset="-122"/>
              <a:ea typeface="微软雅黑" panose="020B0503020204020204" charset="-122"/>
            </a:endParaRPr>
          </a:p>
        </p:txBody>
      </p:sp>
      <p:sp>
        <p:nvSpPr>
          <p:cNvPr id="2" name="Title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看同业—平安银行打造知识工程平台，初步实现本体构建、知识抽取及知识服务的工程化落地能力</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pic>
        <p:nvPicPr>
          <p:cNvPr id="5" name="图片 4"/>
          <p:cNvPicPr>
            <a:picLocks noChangeAspect="1"/>
          </p:cNvPicPr>
          <p:nvPr/>
        </p:nvPicPr>
        <p:blipFill>
          <a:blip r:embed="rId1"/>
          <a:stretch>
            <a:fillRect/>
          </a:stretch>
        </p:blipFill>
        <p:spPr>
          <a:xfrm>
            <a:off x="409575" y="1158875"/>
            <a:ext cx="857250" cy="338455"/>
          </a:xfrm>
          <a:prstGeom prst="rect">
            <a:avLst/>
          </a:prstGeom>
        </p:spPr>
      </p:pic>
      <p:sp>
        <p:nvSpPr>
          <p:cNvPr id="18" name="圆角矩形 17"/>
          <p:cNvSpPr/>
          <p:nvPr/>
        </p:nvSpPr>
        <p:spPr>
          <a:xfrm>
            <a:off x="647065" y="2081530"/>
            <a:ext cx="957580" cy="882650"/>
          </a:xfrm>
          <a:prstGeom prst="round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梳理知识现状和采集范围</a:t>
            </a:r>
            <a:endParaRPr lang="zh-CN" altLang="en-US" sz="1200">
              <a:solidFill>
                <a:schemeClr val="tx1"/>
              </a:solidFill>
              <a:latin typeface="微软雅黑" panose="020B0503020204020204" charset="-122"/>
              <a:ea typeface="微软雅黑" panose="020B0503020204020204" charset="-122"/>
            </a:endParaRPr>
          </a:p>
        </p:txBody>
      </p:sp>
      <p:sp>
        <p:nvSpPr>
          <p:cNvPr id="26" name="圆角矩形 25"/>
          <p:cNvSpPr/>
          <p:nvPr/>
        </p:nvSpPr>
        <p:spPr>
          <a:xfrm>
            <a:off x="1717675" y="2081530"/>
            <a:ext cx="869950" cy="882650"/>
          </a:xfrm>
          <a:prstGeom prst="round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制定统一知识目录规范</a:t>
            </a:r>
            <a:endParaRPr lang="zh-CN" altLang="en-US" sz="1200">
              <a:solidFill>
                <a:schemeClr val="tx1"/>
              </a:solidFill>
              <a:latin typeface="微软雅黑" panose="020B0503020204020204" charset="-122"/>
              <a:ea typeface="微软雅黑" panose="020B0503020204020204" charset="-122"/>
            </a:endParaRPr>
          </a:p>
        </p:txBody>
      </p:sp>
      <p:sp>
        <p:nvSpPr>
          <p:cNvPr id="31" name="圆角矩形 30"/>
          <p:cNvSpPr/>
          <p:nvPr/>
        </p:nvSpPr>
        <p:spPr>
          <a:xfrm>
            <a:off x="2773045" y="2081530"/>
            <a:ext cx="869950" cy="882650"/>
          </a:xfrm>
          <a:prstGeom prst="round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搭建知识治理工具链</a:t>
            </a:r>
            <a:endParaRPr lang="zh-CN" altLang="en-US" sz="1200">
              <a:solidFill>
                <a:schemeClr val="tx1"/>
              </a:solidFill>
              <a:latin typeface="微软雅黑" panose="020B0503020204020204" charset="-122"/>
              <a:ea typeface="微软雅黑" panose="020B0503020204020204" charset="-122"/>
            </a:endParaRPr>
          </a:p>
        </p:txBody>
      </p:sp>
      <p:sp>
        <p:nvSpPr>
          <p:cNvPr id="33" name="圆角矩形 32"/>
          <p:cNvSpPr/>
          <p:nvPr/>
        </p:nvSpPr>
        <p:spPr>
          <a:xfrm>
            <a:off x="3832225" y="2081530"/>
            <a:ext cx="1638300" cy="882650"/>
          </a:xfrm>
          <a:prstGeom prst="round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t" anchorCtr="0"/>
          <a:lstStyle/>
          <a:p>
            <a:pPr algn="l"/>
            <a:r>
              <a:rPr lang="zh-CN" altLang="en-US" sz="1200">
                <a:solidFill>
                  <a:schemeClr val="tx1"/>
                </a:solidFill>
                <a:latin typeface="微软雅黑" panose="020B0503020204020204" charset="-122"/>
                <a:ea typeface="微软雅黑" panose="020B0503020204020204" charset="-122"/>
              </a:rPr>
              <a:t>达成阶段目标</a:t>
            </a:r>
            <a:r>
              <a:rPr lang="en-US" altLang="zh-CN" sz="1200">
                <a:solidFill>
                  <a:schemeClr val="tx1"/>
                </a:solidFill>
                <a:latin typeface="微软雅黑" panose="020B0503020204020204" charset="-122"/>
                <a:ea typeface="微软雅黑" panose="020B0503020204020204" charset="-122"/>
              </a:rPr>
              <a:t>：</a:t>
            </a:r>
            <a:endParaRPr lang="en-US" altLang="zh-CN" sz="1200">
              <a:solidFill>
                <a:schemeClr val="tx1"/>
              </a:solidFill>
              <a:latin typeface="微软雅黑" panose="020B0503020204020204" charset="-122"/>
              <a:ea typeface="微软雅黑" panose="020B0503020204020204" charset="-122"/>
            </a:endParaRPr>
          </a:p>
          <a:p>
            <a:pPr marL="285750" indent="-285750" algn="l">
              <a:buFont typeface="Arial" panose="020B0604020202090204" pitchFamily="34" charset="0"/>
              <a:buChar char="•"/>
            </a:pPr>
            <a:r>
              <a:rPr lang="zh-CN" altLang="en-US" sz="1200">
                <a:solidFill>
                  <a:schemeClr val="tx1"/>
                </a:solidFill>
                <a:latin typeface="微软雅黑" panose="020B0503020204020204" charset="-122"/>
                <a:ea typeface="微软雅黑" panose="020B0503020204020204" charset="-122"/>
              </a:rPr>
              <a:t>全行级知识湖</a:t>
            </a:r>
            <a:endParaRPr lang="zh-CN" altLang="en-US" sz="1200">
              <a:solidFill>
                <a:schemeClr val="tx1"/>
              </a:solidFill>
              <a:latin typeface="微软雅黑" panose="020B0503020204020204" charset="-122"/>
              <a:ea typeface="微软雅黑" panose="020B0503020204020204" charset="-122"/>
            </a:endParaRPr>
          </a:p>
          <a:p>
            <a:pPr marL="285750" indent="-285750" algn="l">
              <a:buFont typeface="Arial" panose="020B0604020202090204" pitchFamily="34" charset="0"/>
              <a:buChar char="•"/>
            </a:pPr>
            <a:r>
              <a:rPr lang="en-US" altLang="zh-CN" sz="1200">
                <a:solidFill>
                  <a:schemeClr val="tx1"/>
                </a:solidFill>
                <a:latin typeface="微软雅黑" panose="020B0503020204020204" charset="-122"/>
                <a:ea typeface="微软雅黑" panose="020B0503020204020204" charset="-122"/>
              </a:rPr>
              <a:t>mvp</a:t>
            </a:r>
            <a:r>
              <a:rPr lang="zh-CN" altLang="en-US" sz="1200">
                <a:solidFill>
                  <a:schemeClr val="tx1"/>
                </a:solidFill>
                <a:latin typeface="微软雅黑" panose="020B0503020204020204" charset="-122"/>
                <a:ea typeface="微软雅黑" panose="020B0503020204020204" charset="-122"/>
              </a:rPr>
              <a:t>场景验证和工艺规范</a:t>
            </a:r>
            <a:endParaRPr lang="zh-CN" altLang="en-US" sz="1200">
              <a:solidFill>
                <a:schemeClr val="tx1"/>
              </a:solidFill>
              <a:latin typeface="微软雅黑" panose="020B0503020204020204" charset="-122"/>
              <a:ea typeface="微软雅黑" panose="020B0503020204020204" charset="-122"/>
            </a:endParaRPr>
          </a:p>
        </p:txBody>
      </p:sp>
      <p:sp>
        <p:nvSpPr>
          <p:cNvPr id="34" name="右箭头 33"/>
          <p:cNvSpPr/>
          <p:nvPr/>
        </p:nvSpPr>
        <p:spPr>
          <a:xfrm>
            <a:off x="1598930" y="2399030"/>
            <a:ext cx="155575" cy="278765"/>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矩形 34"/>
          <p:cNvSpPr/>
          <p:nvPr/>
        </p:nvSpPr>
        <p:spPr>
          <a:xfrm>
            <a:off x="622300" y="3078480"/>
            <a:ext cx="414655" cy="3246755"/>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体系建设举措</a:t>
            </a:r>
            <a:endParaRPr lang="zh-CN" altLang="en-US">
              <a:latin typeface="微软雅黑" panose="020B0503020204020204" charset="-122"/>
              <a:ea typeface="微软雅黑" panose="020B0503020204020204" charset="-122"/>
            </a:endParaRPr>
          </a:p>
        </p:txBody>
      </p:sp>
      <p:sp>
        <p:nvSpPr>
          <p:cNvPr id="36" name="矩形 35"/>
          <p:cNvSpPr/>
          <p:nvPr/>
        </p:nvSpPr>
        <p:spPr>
          <a:xfrm>
            <a:off x="1036320" y="3078480"/>
            <a:ext cx="4449445" cy="3252470"/>
          </a:xfrm>
          <a:prstGeom prst="rect">
            <a:avLst/>
          </a:prstGeom>
          <a:noFill/>
          <a:ln>
            <a:solidFill>
              <a:schemeClr val="bg1">
                <a:lumMod val="8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indent="0" algn="l" fontAlgn="auto">
              <a:lnSpc>
                <a:spcPct val="150000"/>
              </a:lnSpc>
            </a:pPr>
            <a:r>
              <a:rPr lang="zh-CN" altLang="en-US" sz="1400" b="1">
                <a:solidFill>
                  <a:schemeClr val="accent1"/>
                </a:solidFill>
                <a:latin typeface="微软雅黑" panose="020B0503020204020204" charset="-122"/>
                <a:ea typeface="微软雅黑" panose="020B0503020204020204" charset="-122"/>
              </a:rPr>
              <a:t>1、建立全行级知识目录体系</a:t>
            </a:r>
            <a:endParaRPr lang="zh-CN" altLang="en-US" sz="1400" b="1">
              <a:solidFill>
                <a:schemeClr val="accent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rPr>
              <a:t>1)高质量数据集定义、筛选和接入；</a:t>
            </a:r>
            <a:endParaRPr lang="zh-CN" altLang="en-US" sz="1200">
              <a:solidFill>
                <a:schemeClr val="tx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rPr>
              <a:t>2)制定统一目录规范、权限体系、版本管理与规范；</a:t>
            </a:r>
            <a:endParaRPr lang="zh-CN" altLang="en-US" sz="1200">
              <a:solidFill>
                <a:schemeClr val="tx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sym typeface="+mn-ea"/>
              </a:rPr>
              <a:t>3)建设可视化知识管理工具。</a:t>
            </a:r>
            <a:endParaRPr lang="zh-CN" altLang="en-US" sz="1200">
              <a:solidFill>
                <a:schemeClr val="tx1"/>
              </a:solidFill>
              <a:latin typeface="微软雅黑" panose="020B0503020204020204" charset="-122"/>
              <a:ea typeface="微软雅黑" panose="020B0503020204020204" charset="-122"/>
            </a:endParaRPr>
          </a:p>
          <a:p>
            <a:pPr indent="0" algn="l" fontAlgn="auto">
              <a:lnSpc>
                <a:spcPct val="150000"/>
              </a:lnSpc>
            </a:pPr>
            <a:r>
              <a:rPr lang="zh-CN" altLang="en-US" sz="1400" b="1">
                <a:solidFill>
                  <a:schemeClr val="accent1"/>
                </a:solidFill>
                <a:latin typeface="微软雅黑" panose="020B0503020204020204" charset="-122"/>
                <a:ea typeface="微软雅黑" panose="020B0503020204020204" charset="-122"/>
              </a:rPr>
              <a:t>2、打造知识工具链(框架搭建)</a:t>
            </a:r>
            <a:endParaRPr lang="zh-CN" altLang="en-US" sz="1400" b="1">
              <a:solidFill>
                <a:schemeClr val="accent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rPr>
              <a:t>1)基于全行高质量数据集，打造高效的知识向量化工具链；</a:t>
            </a:r>
            <a:endParaRPr lang="zh-CN" altLang="en-US" sz="1200">
              <a:solidFill>
                <a:schemeClr val="tx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rPr>
              <a:t>2)建设本体构建</a:t>
            </a:r>
            <a:r>
              <a:rPr lang="en-US" altLang="zh-CN" sz="1200">
                <a:solidFill>
                  <a:schemeClr val="tx1"/>
                </a:solidFill>
                <a:latin typeface="微软雅黑" panose="020B0503020204020204" charset="-122"/>
                <a:ea typeface="微软雅黑" panose="020B0503020204020204" charset="-122"/>
              </a:rPr>
              <a:t>、</a:t>
            </a:r>
            <a:r>
              <a:rPr lang="zh-CN" altLang="en-US" sz="1200">
                <a:solidFill>
                  <a:schemeClr val="tx1"/>
                </a:solidFill>
                <a:latin typeface="微软雅黑" panose="020B0503020204020204" charset="-122"/>
                <a:ea typeface="微软雅黑" panose="020B0503020204020204" charset="-122"/>
              </a:rPr>
              <a:t>知识抽取及知识服务工具链</a:t>
            </a:r>
            <a:endParaRPr lang="zh-CN" altLang="en-US" sz="1200">
              <a:solidFill>
                <a:schemeClr val="tx1"/>
              </a:solidFill>
              <a:latin typeface="微软雅黑" panose="020B0503020204020204" charset="-122"/>
              <a:ea typeface="微软雅黑" panose="020B0503020204020204" charset="-122"/>
            </a:endParaRPr>
          </a:p>
          <a:p>
            <a:pPr indent="0" algn="l" fontAlgn="auto">
              <a:lnSpc>
                <a:spcPct val="150000"/>
              </a:lnSpc>
            </a:pPr>
            <a:r>
              <a:rPr lang="zh-CN" altLang="en-US" sz="1400" b="1">
                <a:solidFill>
                  <a:schemeClr val="accent1"/>
                </a:solidFill>
                <a:latin typeface="微软雅黑" panose="020B0503020204020204" charset="-122"/>
                <a:ea typeface="微软雅黑" panose="020B0503020204020204" charset="-122"/>
              </a:rPr>
              <a:t>3、基于</a:t>
            </a:r>
            <a:r>
              <a:rPr lang="en-US" altLang="zh-CN" sz="1400" b="1">
                <a:solidFill>
                  <a:schemeClr val="accent1"/>
                </a:solidFill>
                <a:latin typeface="微软雅黑" panose="020B0503020204020204" charset="-122"/>
                <a:ea typeface="微软雅黑" panose="020B0503020204020204" charset="-122"/>
              </a:rPr>
              <a:t>MVP</a:t>
            </a:r>
            <a:r>
              <a:rPr lang="zh-CN" altLang="en-US" sz="1400" b="1">
                <a:solidFill>
                  <a:schemeClr val="accent1"/>
                </a:solidFill>
                <a:latin typeface="微软雅黑" panose="020B0503020204020204" charset="-122"/>
                <a:ea typeface="微软雅黑" panose="020B0503020204020204" charset="-122"/>
              </a:rPr>
              <a:t>场景验证、沉淀知识资产和运营规范</a:t>
            </a:r>
            <a:endParaRPr lang="zh-CN" altLang="en-US" sz="1400" b="1">
              <a:solidFill>
                <a:schemeClr val="accent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rPr>
              <a:t>1)梳理各</a:t>
            </a:r>
            <a:r>
              <a:rPr lang="zh-CN" altLang="en-US" sz="1200">
                <a:solidFill>
                  <a:schemeClr val="tx1"/>
                </a:solidFill>
                <a:latin typeface="微软雅黑" panose="020B0503020204020204" charset="-122"/>
                <a:ea typeface="微软雅黑" panose="020B0503020204020204" charset="-122"/>
              </a:rPr>
              <a:t>领域知识应用需求，明确</a:t>
            </a:r>
            <a:r>
              <a:rPr lang="en-US" altLang="zh-CN" sz="1200">
                <a:solidFill>
                  <a:schemeClr val="tx1"/>
                </a:solidFill>
                <a:latin typeface="微软雅黑" panose="020B0503020204020204" charset="-122"/>
                <a:ea typeface="微软雅黑" panose="020B0503020204020204" charset="-122"/>
              </a:rPr>
              <a:t>MVP</a:t>
            </a:r>
            <a:r>
              <a:rPr lang="zh-CN" altLang="en-US" sz="1200">
                <a:solidFill>
                  <a:schemeClr val="tx1"/>
                </a:solidFill>
                <a:latin typeface="微软雅黑" panose="020B0503020204020204" charset="-122"/>
                <a:ea typeface="微软雅黑" panose="020B0503020204020204" charset="-122"/>
              </a:rPr>
              <a:t>试点场景；</a:t>
            </a:r>
            <a:endParaRPr lang="zh-CN" altLang="en-US" sz="1200">
              <a:solidFill>
                <a:schemeClr val="tx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rPr>
              <a:t>2)基于场景验证流程工具能力和价值，并沉淀可复用知识资产；</a:t>
            </a:r>
            <a:endParaRPr lang="zh-CN" altLang="en-US" sz="1200">
              <a:solidFill>
                <a:schemeClr val="tx1"/>
              </a:solidFill>
              <a:latin typeface="微软雅黑" panose="020B0503020204020204" charset="-122"/>
              <a:ea typeface="微软雅黑" panose="020B0503020204020204" charset="-122"/>
            </a:endParaRPr>
          </a:p>
          <a:p>
            <a:pPr indent="0" algn="l" fontAlgn="auto">
              <a:lnSpc>
                <a:spcPct val="150000"/>
              </a:lnSpc>
            </a:pPr>
            <a:r>
              <a:rPr lang="zh-CN" altLang="en-US" sz="1200">
                <a:solidFill>
                  <a:schemeClr val="tx1"/>
                </a:solidFill>
                <a:latin typeface="微软雅黑" panose="020B0503020204020204" charset="-122"/>
                <a:ea typeface="微软雅黑" panose="020B0503020204020204" charset="-122"/>
              </a:rPr>
              <a:t>3)探索知识闭环流程和工具，沉淀知识运营规范和机制。</a:t>
            </a:r>
            <a:endParaRPr lang="zh-CN" altLang="en-US" sz="1200">
              <a:solidFill>
                <a:schemeClr val="tx1"/>
              </a:solidFill>
              <a:latin typeface="微软雅黑" panose="020B0503020204020204" charset="-122"/>
              <a:ea typeface="微软雅黑" panose="020B0503020204020204" charset="-122"/>
            </a:endParaRPr>
          </a:p>
        </p:txBody>
      </p:sp>
      <p:sp>
        <p:nvSpPr>
          <p:cNvPr id="38" name="等腰三角形 37"/>
          <p:cNvSpPr/>
          <p:nvPr/>
        </p:nvSpPr>
        <p:spPr>
          <a:xfrm rot="5400000">
            <a:off x="4666615" y="4244975"/>
            <a:ext cx="2315845" cy="543560"/>
          </a:xfrm>
          <a:prstGeom prst="triangl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 name="组合 3"/>
          <p:cNvGrpSpPr/>
          <p:nvPr/>
        </p:nvGrpSpPr>
        <p:grpSpPr>
          <a:xfrm>
            <a:off x="6136640" y="1861185"/>
            <a:ext cx="5805805" cy="4348996"/>
            <a:chOff x="9664" y="2931"/>
            <a:chExt cx="9143" cy="7294"/>
          </a:xfrm>
        </p:grpSpPr>
        <p:grpSp>
          <p:nvGrpSpPr>
            <p:cNvPr id="41" name="组合 40"/>
            <p:cNvGrpSpPr/>
            <p:nvPr/>
          </p:nvGrpSpPr>
          <p:grpSpPr>
            <a:xfrm rot="0">
              <a:off x="9707" y="2931"/>
              <a:ext cx="8475" cy="716"/>
              <a:chOff x="10355" y="3371"/>
              <a:chExt cx="7725" cy="788"/>
            </a:xfrm>
          </p:grpSpPr>
          <p:sp>
            <p:nvSpPr>
              <p:cNvPr id="39" name="矩形 38"/>
              <p:cNvSpPr/>
              <p:nvPr/>
            </p:nvSpPr>
            <p:spPr>
              <a:xfrm>
                <a:off x="10355" y="3371"/>
                <a:ext cx="3047" cy="789"/>
              </a:xfrm>
              <a:prstGeom prst="rect">
                <a:avLst/>
              </a:prstGeom>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建设事项</a:t>
                </a:r>
                <a:endParaRPr lang="zh-CN" altLang="en-US">
                  <a:latin typeface="微软雅黑" panose="020B0503020204020204" charset="-122"/>
                  <a:ea typeface="微软雅黑" panose="020B0503020204020204" charset="-122"/>
                </a:endParaRPr>
              </a:p>
            </p:txBody>
          </p:sp>
          <p:sp>
            <p:nvSpPr>
              <p:cNvPr id="40" name="矩形 39"/>
              <p:cNvSpPr/>
              <p:nvPr/>
            </p:nvSpPr>
            <p:spPr>
              <a:xfrm>
                <a:off x="13422" y="3371"/>
                <a:ext cx="4659" cy="789"/>
              </a:xfrm>
              <a:prstGeom prst="rect">
                <a:avLst/>
              </a:prstGeom>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建设成果</a:t>
                </a:r>
                <a:endParaRPr lang="zh-CN" altLang="en-US">
                  <a:latin typeface="微软雅黑" panose="020B0503020204020204" charset="-122"/>
                  <a:ea typeface="微软雅黑" panose="020B0503020204020204" charset="-122"/>
                </a:endParaRPr>
              </a:p>
            </p:txBody>
          </p:sp>
        </p:grpSp>
        <p:sp>
          <p:nvSpPr>
            <p:cNvPr id="42" name="文本框 41"/>
            <p:cNvSpPr txBox="1"/>
            <p:nvPr/>
          </p:nvSpPr>
          <p:spPr>
            <a:xfrm>
              <a:off x="9664" y="4219"/>
              <a:ext cx="3341" cy="566"/>
            </a:xfrm>
            <a:prstGeom prst="rect">
              <a:avLst/>
            </a:prstGeom>
            <a:noFill/>
          </p:spPr>
          <p:txBody>
            <a:bodyPr wrap="square" rtlCol="0">
              <a:spAutoFit/>
            </a:bodyPr>
            <a:lstStyle/>
            <a:p>
              <a:pPr algn="ctr"/>
              <a:r>
                <a:rPr lang="zh-CN" altLang="en-US" sz="1600" b="1">
                  <a:solidFill>
                    <a:schemeClr val="accent1"/>
                  </a:solidFill>
                  <a:latin typeface="微软雅黑" panose="020B0503020204020204" charset="-122"/>
                  <a:ea typeface="微软雅黑" panose="020B0503020204020204" charset="-122"/>
                </a:rPr>
                <a:t>统一知识管理</a:t>
              </a:r>
              <a:endParaRPr lang="zh-CN" altLang="en-US" sz="1200">
                <a:latin typeface="微软雅黑" panose="020B0503020204020204" charset="-122"/>
                <a:ea typeface="微软雅黑" panose="020B0503020204020204" charset="-122"/>
              </a:endParaRPr>
            </a:p>
          </p:txBody>
        </p:sp>
        <p:sp>
          <p:nvSpPr>
            <p:cNvPr id="43" name="圆角矩形 42"/>
            <p:cNvSpPr/>
            <p:nvPr/>
          </p:nvSpPr>
          <p:spPr>
            <a:xfrm>
              <a:off x="10199" y="5073"/>
              <a:ext cx="2182" cy="534"/>
            </a:xfrm>
            <a:prstGeom prst="round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知识管理与沉淀</a:t>
              </a:r>
              <a:endParaRPr lang="zh-CN" altLang="en-US" sz="1200">
                <a:solidFill>
                  <a:schemeClr val="tx1"/>
                </a:solidFill>
                <a:latin typeface="微软雅黑" panose="020B0503020204020204" charset="-122"/>
                <a:ea typeface="微软雅黑" panose="020B0503020204020204" charset="-122"/>
              </a:endParaRPr>
            </a:p>
          </p:txBody>
        </p:sp>
        <p:cxnSp>
          <p:nvCxnSpPr>
            <p:cNvPr id="44" name="直接连接符 43"/>
            <p:cNvCxnSpPr/>
            <p:nvPr/>
          </p:nvCxnSpPr>
          <p:spPr>
            <a:xfrm>
              <a:off x="9896" y="5808"/>
              <a:ext cx="8429"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45" name="直接连接符 44"/>
            <p:cNvCxnSpPr/>
            <p:nvPr/>
          </p:nvCxnSpPr>
          <p:spPr>
            <a:xfrm>
              <a:off x="9896" y="7941"/>
              <a:ext cx="8429"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46" name="文本框 45"/>
            <p:cNvSpPr txBox="1"/>
            <p:nvPr/>
          </p:nvSpPr>
          <p:spPr>
            <a:xfrm>
              <a:off x="9724" y="6274"/>
              <a:ext cx="3341" cy="566"/>
            </a:xfrm>
            <a:prstGeom prst="rect">
              <a:avLst/>
            </a:prstGeom>
            <a:noFill/>
          </p:spPr>
          <p:txBody>
            <a:bodyPr wrap="square" rtlCol="0">
              <a:spAutoFit/>
            </a:bodyPr>
            <a:lstStyle/>
            <a:p>
              <a:pPr algn="ctr"/>
              <a:r>
                <a:rPr lang="zh-CN" altLang="en-US" sz="1600" b="1">
                  <a:solidFill>
                    <a:schemeClr val="accent1"/>
                  </a:solidFill>
                  <a:latin typeface="微软雅黑" panose="020B0503020204020204" charset="-122"/>
                  <a:ea typeface="微软雅黑" panose="020B0503020204020204" charset="-122"/>
                </a:rPr>
                <a:t>知识加工工具链</a:t>
              </a:r>
              <a:endParaRPr lang="zh-CN" altLang="en-US" sz="1200">
                <a:latin typeface="微软雅黑" panose="020B0503020204020204" charset="-122"/>
                <a:ea typeface="微软雅黑" panose="020B0503020204020204" charset="-122"/>
              </a:endParaRPr>
            </a:p>
          </p:txBody>
        </p:sp>
        <p:sp>
          <p:nvSpPr>
            <p:cNvPr id="47" name="圆角矩形 46"/>
            <p:cNvSpPr/>
            <p:nvPr/>
          </p:nvSpPr>
          <p:spPr>
            <a:xfrm>
              <a:off x="10199" y="7352"/>
              <a:ext cx="2182" cy="534"/>
            </a:xfrm>
            <a:prstGeom prst="round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知识加工与萃取</a:t>
              </a:r>
              <a:endParaRPr lang="zh-CN" altLang="en-US" sz="1200">
                <a:solidFill>
                  <a:schemeClr val="tx1"/>
                </a:solidFill>
                <a:latin typeface="微软雅黑" panose="020B0503020204020204" charset="-122"/>
                <a:ea typeface="微软雅黑" panose="020B0503020204020204" charset="-122"/>
              </a:endParaRPr>
            </a:p>
          </p:txBody>
        </p:sp>
        <p:sp>
          <p:nvSpPr>
            <p:cNvPr id="48" name="文本框 47"/>
            <p:cNvSpPr txBox="1"/>
            <p:nvPr/>
          </p:nvSpPr>
          <p:spPr>
            <a:xfrm>
              <a:off x="9724" y="8502"/>
              <a:ext cx="3341" cy="566"/>
            </a:xfrm>
            <a:prstGeom prst="rect">
              <a:avLst/>
            </a:prstGeom>
            <a:noFill/>
          </p:spPr>
          <p:txBody>
            <a:bodyPr wrap="square" rtlCol="0">
              <a:spAutoFit/>
            </a:bodyPr>
            <a:lstStyle/>
            <a:p>
              <a:pPr algn="ctr"/>
              <a:r>
                <a:rPr lang="en-US" altLang="zh-CN" sz="1600" b="1">
                  <a:solidFill>
                    <a:schemeClr val="accent1"/>
                  </a:solidFill>
                  <a:latin typeface="微软雅黑" panose="020B0503020204020204" charset="-122"/>
                  <a:ea typeface="微软雅黑" panose="020B0503020204020204" charset="-122"/>
                </a:rPr>
                <a:t>MVP</a:t>
              </a:r>
              <a:r>
                <a:rPr lang="zh-CN" altLang="en-US" sz="1600" b="1">
                  <a:solidFill>
                    <a:schemeClr val="accent1"/>
                  </a:solidFill>
                  <a:latin typeface="微软雅黑" panose="020B0503020204020204" charset="-122"/>
                  <a:ea typeface="微软雅黑" panose="020B0503020204020204" charset="-122"/>
                </a:rPr>
                <a:t>场景验证与落地</a:t>
              </a:r>
              <a:endParaRPr lang="zh-CN" altLang="en-US" sz="1200">
                <a:latin typeface="微软雅黑" panose="020B0503020204020204" charset="-122"/>
                <a:ea typeface="微软雅黑" panose="020B0503020204020204" charset="-122"/>
              </a:endParaRPr>
            </a:p>
          </p:txBody>
        </p:sp>
        <p:sp>
          <p:nvSpPr>
            <p:cNvPr id="49" name="圆角矩形 48"/>
            <p:cNvSpPr/>
            <p:nvPr/>
          </p:nvSpPr>
          <p:spPr>
            <a:xfrm>
              <a:off x="10199" y="9431"/>
              <a:ext cx="2182" cy="534"/>
            </a:xfrm>
            <a:prstGeom prst="roundRect">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200">
                  <a:solidFill>
                    <a:schemeClr val="tx1"/>
                  </a:solidFill>
                  <a:latin typeface="微软雅黑" panose="020B0503020204020204" charset="-122"/>
                  <a:ea typeface="微软雅黑" panose="020B0503020204020204" charset="-122"/>
                </a:rPr>
                <a:t>场景测效果验证</a:t>
              </a:r>
              <a:endParaRPr lang="zh-CN" altLang="en-US" sz="1200">
                <a:solidFill>
                  <a:schemeClr val="tx1"/>
                </a:solidFill>
                <a:latin typeface="微软雅黑" panose="020B0503020204020204" charset="-122"/>
                <a:ea typeface="微软雅黑" panose="020B0503020204020204" charset="-122"/>
              </a:endParaRPr>
            </a:p>
          </p:txBody>
        </p:sp>
        <p:cxnSp>
          <p:nvCxnSpPr>
            <p:cNvPr id="50" name="直接连接符 49"/>
            <p:cNvCxnSpPr/>
            <p:nvPr/>
          </p:nvCxnSpPr>
          <p:spPr>
            <a:xfrm>
              <a:off x="13074" y="3796"/>
              <a:ext cx="0" cy="6002"/>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52" name="文本框 51"/>
            <p:cNvSpPr txBox="1"/>
            <p:nvPr/>
          </p:nvSpPr>
          <p:spPr>
            <a:xfrm>
              <a:off x="13080" y="3722"/>
              <a:ext cx="5452" cy="2011"/>
            </a:xfrm>
            <a:prstGeom prst="rect">
              <a:avLst/>
            </a:prstGeom>
            <a:noFill/>
          </p:spPr>
          <p:txBody>
            <a:bodyPr wrap="square" rtlCol="0">
              <a:spAutoFit/>
            </a:bodyPr>
            <a:lstStyle/>
            <a:p>
              <a:pPr marL="171450" indent="-171450" fontAlgn="auto">
                <a:lnSpc>
                  <a:spcPct val="150000"/>
                </a:lnSpc>
                <a:buFont typeface="Wingdings" panose="05000000000000000000" charset="0"/>
                <a:buChar char=""/>
              </a:pPr>
              <a:r>
                <a:rPr lang="zh-CN" altLang="en-US" sz="1200" b="1">
                  <a:latin typeface="微软雅黑" panose="020B0503020204020204" charset="-122"/>
                  <a:ea typeface="微软雅黑" panose="020B0503020204020204" charset="-122"/>
                  <a:cs typeface="微软雅黑" panose="020B0503020204020204" charset="-122"/>
                </a:rPr>
                <a:t>实现统一知识管理平台框架搭建，促进高质量知识沉淀。</a:t>
              </a:r>
              <a:r>
                <a:rPr lang="zh-CN" altLang="en-US" sz="1200">
                  <a:latin typeface="微软雅黑" panose="020B0503020204020204" charset="-122"/>
                  <a:ea typeface="微软雅黑" panose="020B0503020204020204" charset="-122"/>
                  <a:cs typeface="微软雅黑" panose="020B0503020204020204" charset="-122"/>
                </a:rPr>
                <a:t>团队知识库沉淀3</a:t>
              </a:r>
              <a:r>
                <a:rPr lang="en-US" altLang="zh-CN" sz="1200">
                  <a:latin typeface="微软雅黑" panose="020B0503020204020204" charset="-122"/>
                  <a:ea typeface="微软雅黑" panose="020B0503020204020204" charset="-122"/>
                  <a:cs typeface="微软雅黑" panose="020B0503020204020204" charset="-122"/>
                </a:rPr>
                <a:t>W+</a:t>
              </a:r>
              <a:r>
                <a:rPr lang="zh-CN" altLang="en-US" sz="1200">
                  <a:latin typeface="微软雅黑" panose="020B0503020204020204" charset="-122"/>
                  <a:ea typeface="微软雅黑" panose="020B0503020204020204" charset="-122"/>
                  <a:cs typeface="微软雅黑" panose="020B0503020204020204" charset="-122"/>
                </a:rPr>
                <a:t>文档知识，主要涉及监管报送、知识搜索、需求文档分析等场景。</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13080" y="6145"/>
              <a:ext cx="5452" cy="1546"/>
            </a:xfrm>
            <a:prstGeom prst="rect">
              <a:avLst/>
            </a:prstGeom>
            <a:noFill/>
          </p:spPr>
          <p:txBody>
            <a:bodyPr wrap="square" rtlCol="0">
              <a:spAutoFit/>
            </a:bodyPr>
            <a:lstStyle/>
            <a:p>
              <a:pPr marL="171450" indent="-171450" fontAlgn="auto">
                <a:lnSpc>
                  <a:spcPct val="150000"/>
                </a:lnSpc>
                <a:buFont typeface="Wingdings" panose="05000000000000000000" charset="0"/>
                <a:buChar char=""/>
              </a:pPr>
              <a:r>
                <a:rPr lang="zh-CN" altLang="en-US" sz="1200">
                  <a:latin typeface="微软雅黑" panose="020B0503020204020204" charset="-122"/>
                  <a:ea typeface="微软雅黑" panose="020B0503020204020204" charset="-122"/>
                  <a:sym typeface="+mn-ea"/>
                </a:rPr>
                <a:t>落地知识工程平台</a:t>
              </a:r>
              <a:r>
                <a:rPr lang="en-US" altLang="zh-CN" sz="1200">
                  <a:latin typeface="微软雅黑" panose="020B0503020204020204" charset="-122"/>
                  <a:ea typeface="微软雅黑" panose="020B0503020204020204" charset="-122"/>
                  <a:sym typeface="+mn-ea"/>
                </a:rPr>
                <a:t>，</a:t>
              </a:r>
              <a:r>
                <a:rPr lang="zh-CN" altLang="en-US" sz="1200">
                  <a:latin typeface="微软雅黑" panose="020B0503020204020204" charset="-122"/>
                  <a:ea typeface="微软雅黑" panose="020B0503020204020204" charset="-122"/>
                  <a:sym typeface="+mn-ea"/>
                </a:rPr>
                <a:t>实现</a:t>
              </a:r>
              <a:r>
                <a:rPr lang="zh-CN" altLang="en-US" sz="1200" b="1">
                  <a:latin typeface="微软雅黑" panose="020B0503020204020204" charset="-122"/>
                  <a:ea typeface="微软雅黑" panose="020B0503020204020204" charset="-122"/>
                  <a:cs typeface="微软雅黑" panose="020B0503020204020204" charset="-122"/>
                </a:rPr>
                <a:t>本体构建</a:t>
              </a:r>
              <a:r>
                <a:rPr lang="en-US" altLang="zh-CN" sz="1200" b="1">
                  <a:latin typeface="微软雅黑" panose="020B0503020204020204" charset="-122"/>
                  <a:ea typeface="微软雅黑" panose="020B0503020204020204" charset="-122"/>
                  <a:cs typeface="微软雅黑" panose="020B0503020204020204" charset="-122"/>
                </a:rPr>
                <a:t>、</a:t>
              </a:r>
              <a:r>
                <a:rPr lang="zh-CN" altLang="en-US" sz="1200" b="1">
                  <a:latin typeface="微软雅黑" panose="020B0503020204020204" charset="-122"/>
                  <a:ea typeface="微软雅黑" panose="020B0503020204020204" charset="-122"/>
                  <a:cs typeface="微软雅黑" panose="020B0503020204020204" charset="-122"/>
                </a:rPr>
                <a:t>知识抽取及知识服务功能上线</a:t>
              </a:r>
              <a:r>
                <a:rPr lang="en-US" altLang="zh-CN" sz="1200">
                  <a:latin typeface="微软雅黑" panose="020B0503020204020204" charset="-122"/>
                  <a:ea typeface="微软雅黑" panose="020B0503020204020204" charset="-122"/>
                  <a:cs typeface="微软雅黑" panose="020B0503020204020204" charset="-122"/>
                </a:rPr>
                <a:t>，</a:t>
              </a:r>
              <a:r>
                <a:rPr lang="zh-CN" altLang="en-US" sz="1200">
                  <a:solidFill>
                    <a:schemeClr val="tx1"/>
                  </a:solidFill>
                  <a:latin typeface="微软雅黑" panose="020B0503020204020204" charset="-122"/>
                  <a:ea typeface="微软雅黑" panose="020B0503020204020204" charset="-122"/>
                  <a:cs typeface="微软雅黑" panose="020B0503020204020204" charset="-122"/>
                </a:rPr>
                <a:t>基于试点场景验证本体构建工艺，</a:t>
              </a:r>
              <a:r>
                <a:rPr lang="zh-CN" altLang="en-US" sz="1200">
                  <a:latin typeface="微软雅黑" panose="020B0503020204020204" charset="-122"/>
                  <a:ea typeface="微软雅黑" panose="020B0503020204020204" charset="-122"/>
                  <a:sym typeface="+mn-ea"/>
                </a:rPr>
                <a:t>知识工程整体效率提升60%</a:t>
              </a:r>
              <a:r>
                <a:rPr lang="en-US" altLang="zh-CN" sz="1200">
                  <a:latin typeface="微软雅黑" panose="020B0503020204020204" charset="-122"/>
                  <a:ea typeface="微软雅黑" panose="020B0503020204020204" charset="-122"/>
                  <a:sym typeface="+mn-ea"/>
                </a:rPr>
                <a:t>。</a:t>
              </a:r>
              <a:endParaRPr lang="en-US" altLang="zh-CN" sz="120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54" name="文本框 53"/>
            <p:cNvSpPr txBox="1"/>
            <p:nvPr/>
          </p:nvSpPr>
          <p:spPr>
            <a:xfrm rot="20820000">
              <a:off x="16736" y="7387"/>
              <a:ext cx="1912" cy="426"/>
            </a:xfrm>
            <a:prstGeom prst="rect">
              <a:avLst/>
            </a:prstGeom>
            <a:noFill/>
            <a:ln>
              <a:solidFill>
                <a:schemeClr val="accent1"/>
              </a:solidFill>
            </a:ln>
          </p:spPr>
          <p:txBody>
            <a:bodyPr wrap="square" rtlCol="0">
              <a:noAutofit/>
            </a:bodyPr>
            <a:lstStyle/>
            <a:p>
              <a:pPr algn="ctr"/>
              <a:r>
                <a:rPr lang="zh-CN" altLang="en-US" sz="1200">
                  <a:solidFill>
                    <a:schemeClr val="accent1"/>
                  </a:solidFill>
                  <a:latin typeface="微软雅黑" panose="020B0503020204020204" charset="-122"/>
                  <a:ea typeface="微软雅黑" panose="020B0503020204020204" charset="-122"/>
                </a:rPr>
                <a:t>知识图谱赋能</a:t>
              </a:r>
              <a:endParaRPr lang="zh-CN" altLang="en-US" sz="1200">
                <a:solidFill>
                  <a:schemeClr val="accent1"/>
                </a:solidFill>
                <a:latin typeface="微软雅黑" panose="020B0503020204020204" charset="-122"/>
                <a:ea typeface="微软雅黑" panose="020B0503020204020204" charset="-122"/>
              </a:endParaRPr>
            </a:p>
          </p:txBody>
        </p:sp>
        <p:sp>
          <p:nvSpPr>
            <p:cNvPr id="55" name="文本框 54"/>
            <p:cNvSpPr txBox="1"/>
            <p:nvPr/>
          </p:nvSpPr>
          <p:spPr>
            <a:xfrm>
              <a:off x="13080" y="8214"/>
              <a:ext cx="5727" cy="2011"/>
            </a:xfrm>
            <a:prstGeom prst="rect">
              <a:avLst/>
            </a:prstGeom>
            <a:noFill/>
          </p:spPr>
          <p:txBody>
            <a:bodyPr wrap="square" rtlCol="0">
              <a:spAutoFit/>
            </a:bodyPr>
            <a:lstStyle/>
            <a:p>
              <a:pPr marL="171450" indent="-171450" fontAlgn="auto">
                <a:lnSpc>
                  <a:spcPct val="150000"/>
                </a:lnSpc>
                <a:buFont typeface="Wingdings" panose="05000000000000000000" charset="0"/>
                <a:buChar char=""/>
              </a:pPr>
              <a:r>
                <a:rPr lang="zh-CN" altLang="en-US" sz="1200">
                  <a:solidFill>
                    <a:schemeClr val="tx1"/>
                  </a:solidFill>
                  <a:latin typeface="微软雅黑" panose="020B0503020204020204" charset="-122"/>
                  <a:ea typeface="微软雅黑" panose="020B0503020204020204" charset="-122"/>
                  <a:cs typeface="微软雅黑" panose="020B0503020204020204" charset="-122"/>
                </a:rPr>
                <a:t>个人知识助手问答准确率从8</a:t>
              </a:r>
              <a:r>
                <a:rPr lang="en-US" altLang="zh-CN" sz="1200">
                  <a:solidFill>
                    <a:schemeClr val="tx1"/>
                  </a:solidFill>
                  <a:latin typeface="微软雅黑" panose="020B0503020204020204" charset="-122"/>
                  <a:ea typeface="微软雅黑" panose="020B0503020204020204" charset="-122"/>
                  <a:cs typeface="微软雅黑" panose="020B0503020204020204" charset="-122"/>
                </a:rPr>
                <a:t>0</a:t>
              </a:r>
              <a:r>
                <a:rPr lang="zh-CN" altLang="en-US" sz="1200">
                  <a:solidFill>
                    <a:schemeClr val="tx1"/>
                  </a:solidFill>
                  <a:latin typeface="微软雅黑" panose="020B0503020204020204" charset="-122"/>
                  <a:ea typeface="微软雅黑" panose="020B0503020204020204" charset="-122"/>
                  <a:cs typeface="微软雅黑" panose="020B0503020204020204" charset="-122"/>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1"/>
                  </a:solidFill>
                  <a:latin typeface="微软雅黑" panose="020B0503020204020204" charset="-122"/>
                  <a:ea typeface="微软雅黑" panose="020B0503020204020204" charset="-122"/>
                  <a:cs typeface="微软雅黑" panose="020B0503020204020204" charset="-122"/>
                </a:rPr>
                <a:t>提升到9</a:t>
              </a:r>
              <a:r>
                <a:rPr lang="en-US" altLang="zh-CN" sz="1200">
                  <a:solidFill>
                    <a:schemeClr val="tx1"/>
                  </a:solidFill>
                  <a:latin typeface="微软雅黑" panose="020B0503020204020204" charset="-122"/>
                  <a:ea typeface="微软雅黑" panose="020B0503020204020204" charset="-122"/>
                  <a:cs typeface="微软雅黑" panose="020B0503020204020204" charset="-122"/>
                </a:rPr>
                <a:t>0</a:t>
              </a:r>
              <a:r>
                <a:rPr lang="zh-CN" altLang="en-US" sz="1200">
                  <a:solidFill>
                    <a:schemeClr val="tx1"/>
                  </a:solidFill>
                  <a:latin typeface="微软雅黑" panose="020B0503020204020204" charset="-122"/>
                  <a:ea typeface="微软雅黑" panose="020B0503020204020204" charset="-122"/>
                  <a:cs typeface="微软雅黑" panose="020B0503020204020204" charset="-122"/>
                </a:rPr>
                <a:t>%</a:t>
              </a:r>
              <a:r>
                <a:rPr lang="en-US" altLang="zh-CN" sz="1200">
                  <a:solidFill>
                    <a:schemeClr val="tx1"/>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1200">
                <a:solidFill>
                  <a:schemeClr val="tx1"/>
                </a:solidFill>
                <a:latin typeface="微软雅黑" panose="020B0503020204020204" charset="-122"/>
                <a:ea typeface="微软雅黑" panose="020B0503020204020204" charset="-122"/>
                <a:cs typeface="微软雅黑" panose="020B0503020204020204" charset="-122"/>
              </a:endParaRPr>
            </a:p>
            <a:p>
              <a:pPr marL="171450" indent="-171450" fontAlgn="auto">
                <a:lnSpc>
                  <a:spcPct val="150000"/>
                </a:lnSpc>
                <a:buFont typeface="Wingdings" panose="05000000000000000000" charset="0"/>
                <a:buChar char=""/>
              </a:pPr>
              <a:r>
                <a:rPr lang="zh-CN" altLang="en-US" sz="1200" b="1">
                  <a:solidFill>
                    <a:schemeClr val="tx1"/>
                  </a:solidFill>
                  <a:latin typeface="微软雅黑" panose="020B0503020204020204" charset="-122"/>
                  <a:ea typeface="微软雅黑" panose="020B0503020204020204" charset="-122"/>
                  <a:cs typeface="微软雅黑" panose="020B0503020204020204" charset="-122"/>
                </a:rPr>
                <a:t>基于本体语义推理</a:t>
              </a:r>
              <a:r>
                <a:rPr lang="zh-CN" altLang="en-US" sz="1200">
                  <a:latin typeface="微软雅黑" panose="020B0503020204020204" charset="-122"/>
                  <a:ea typeface="微软雅黑" panose="020B0503020204020204" charset="-122"/>
                  <a:cs typeface="微软雅黑" panose="020B0503020204020204" charset="-122"/>
                  <a:sym typeface="+mn-ea"/>
                </a:rPr>
                <a:t>实现稽核审计报告生成</a:t>
              </a:r>
              <a:r>
                <a:rPr lang="en-US" altLang="zh-CN" sz="1200">
                  <a:latin typeface="微软雅黑" panose="020B0503020204020204" charset="-122"/>
                  <a:ea typeface="微软雅黑" panose="020B0503020204020204" charset="-122"/>
                  <a:cs typeface="微软雅黑" panose="020B0503020204020204" charset="-122"/>
                  <a:sym typeface="+mn-ea"/>
                </a:rPr>
                <a:t>、</a:t>
              </a:r>
              <a:r>
                <a:rPr lang="zh-CN" altLang="en-US" sz="1200">
                  <a:latin typeface="微软雅黑" panose="020B0503020204020204" charset="-122"/>
                  <a:ea typeface="微软雅黑" panose="020B0503020204020204" charset="-122"/>
                  <a:cs typeface="微软雅黑" panose="020B0503020204020204" charset="-122"/>
                  <a:sym typeface="+mn-ea"/>
                </a:rPr>
                <a:t>零贷业务智能审批</a:t>
              </a:r>
              <a:r>
                <a:rPr lang="en-US" altLang="zh-CN" sz="1200">
                  <a:latin typeface="微软雅黑" panose="020B0503020204020204" charset="-122"/>
                  <a:ea typeface="微软雅黑" panose="020B0503020204020204" charset="-122"/>
                  <a:cs typeface="微软雅黑" panose="020B0503020204020204" charset="-122"/>
                  <a:sym typeface="+mn-ea"/>
                </a:rPr>
                <a:t>、</a:t>
              </a:r>
              <a:r>
                <a:rPr lang="zh-CN" altLang="en-US" sz="1200">
                  <a:latin typeface="微软雅黑" panose="020B0503020204020204" charset="-122"/>
                  <a:ea typeface="微软雅黑" panose="020B0503020204020204" charset="-122"/>
                  <a:cs typeface="微软雅黑" panose="020B0503020204020204" charset="-122"/>
                  <a:sym typeface="+mn-ea"/>
                </a:rPr>
                <a:t>同业资金场景智能分析等自主决策智能体应用场景。</a:t>
              </a:r>
              <a:endParaRPr lang="zh-CN" altLang="en-US" sz="1200">
                <a:solidFill>
                  <a:schemeClr val="tx1"/>
                </a:solidFill>
                <a:latin typeface="微软雅黑" panose="020B0503020204020204" charset="-122"/>
                <a:ea typeface="微软雅黑" panose="020B0503020204020204" charset="-122"/>
                <a:cs typeface="微软雅黑" panose="020B0503020204020204" charset="-122"/>
              </a:endParaRPr>
            </a:p>
          </p:txBody>
        </p:sp>
      </p:grpSp>
      <p:sp>
        <p:nvSpPr>
          <p:cNvPr id="3" name="文本框 2"/>
          <p:cNvSpPr txBox="1"/>
          <p:nvPr/>
        </p:nvSpPr>
        <p:spPr>
          <a:xfrm>
            <a:off x="647065" y="6438900"/>
            <a:ext cx="10989945" cy="337185"/>
          </a:xfrm>
          <a:prstGeom prst="rect">
            <a:avLst/>
          </a:prstGeom>
        </p:spPr>
        <p:txBody>
          <a:bodyPr wrap="square">
            <a:spAutoFit/>
          </a:bodyPr>
          <a:p>
            <a:pPr defTabSz="266700"/>
            <a:r>
              <a:rPr lang="zh-CN" altLang="en-US" sz="1600" b="1">
                <a:solidFill>
                  <a:srgbClr val="C00000"/>
                </a:solidFill>
                <a:latin typeface="微软雅黑"/>
                <a:ea typeface="微软雅黑"/>
              </a:rPr>
              <a:t>启示：知识工程需要系统级规划，从知识管理、工具链、场景和运营等方面推进建设，并通过试点场景验证价值。</a:t>
            </a:r>
            <a:endParaRPr lang="zh-CN" altLang="en-US" sz="1600" b="1">
              <a:solidFill>
                <a:srgbClr val="C00000"/>
              </a:solidFill>
              <a:latin typeface="微软雅黑"/>
              <a:ea typeface="微软雅黑"/>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800100"/>
          </a:xfrm>
          <a:prstGeom prst="rect">
            <a:avLst/>
          </a:prstGeom>
          <a:noFill/>
          <a:ln w="25400" cap="flat" cmpd="sng">
            <a:noFill/>
            <a:prstDash val="solid"/>
            <a:round/>
          </a:ln>
        </p:spPr>
      </p:pic>
      <p:sp>
        <p:nvSpPr>
          <p:cNvPr id="3" name="AutoShape 3"/>
          <p:cNvSpPr/>
          <p:nvPr/>
        </p:nvSpPr>
        <p:spPr>
          <a:xfrm>
            <a:off x="317500" y="203200"/>
            <a:ext cx="10934700" cy="519430"/>
          </a:xfrm>
          <a:prstGeom prst="rect">
            <a:avLst/>
          </a:prstGeom>
          <a:noFill/>
          <a:ln w="12700" cap="flat" cmpd="sng">
            <a:noFill/>
            <a:prstDash val="solid"/>
            <a:round/>
          </a:ln>
        </p:spPr>
        <p:txBody>
          <a:bodyPr vert="horz" wrap="square" lIns="88900" tIns="0" rIns="88900" bIns="0" rtlCol="0" anchor="b" anchorCtr="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000000">
                    <a:alpha val="100000"/>
                  </a:srgbClr>
                </a:solidFill>
                <a:effectLst/>
                <a:uLnTx/>
                <a:uFillTx/>
                <a:latin typeface="楷体" panose="02010609060101010101" pitchFamily="49" charset="-122"/>
                <a:ea typeface="楷体" panose="02010609060101010101" pitchFamily="49" charset="-122"/>
                <a:cs typeface="楷体" panose="02010609060101010101" pitchFamily="49" charset="-122"/>
                <a:sym typeface="+mn-ea"/>
              </a:rPr>
              <a:t>看同业：不同梯队银行依托自身业务特点、数据基础与数字化规划制定包括本体在内的知识工程落地方案，建设思路务实、适配本行发展阶段与现实业务需要</a:t>
            </a:r>
            <a:endParaRPr kumimoji="0" lang="zh-CN" altLang="en-US" sz="2200" b="0" i="0" u="none" strike="noStrike" kern="1200" cap="none" spc="0" normalizeH="0" baseline="0" noProof="0" dirty="0">
              <a:ln>
                <a:noFill/>
              </a:ln>
              <a:solidFill>
                <a:srgbClr val="000000">
                  <a:alpha val="100000"/>
                </a:srgbClr>
              </a:solidFill>
              <a:effectLst/>
              <a:uLnTx/>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13" name="矩形 112"/>
          <p:cNvSpPr/>
          <p:nvPr>
            <p:custDataLst>
              <p:tags r:id="rId2"/>
            </p:custDataLst>
          </p:nvPr>
        </p:nvSpPr>
        <p:spPr>
          <a:xfrm>
            <a:off x="657055" y="4770192"/>
            <a:ext cx="5984903" cy="1583672"/>
          </a:xfrm>
          <a:prstGeom prst="rect">
            <a:avLst/>
          </a:prstGeom>
          <a:gradFill flip="none" rotWithShape="1">
            <a:gsLst>
              <a:gs pos="0">
                <a:srgbClr val="FFFFFF">
                  <a:lumMod val="95000"/>
                </a:srgbClr>
              </a:gs>
              <a:gs pos="100000">
                <a:srgbClr val="FFFFFF">
                  <a:lumMod val="95000"/>
                  <a:alpha val="40000"/>
                </a:srgbClr>
              </a:gs>
            </a:gsLst>
            <a:lin ang="5400000" scaled="1"/>
            <a:tileRect/>
          </a:gradFill>
          <a:ln>
            <a:no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14" name="流程图: 手动输入 113"/>
          <p:cNvSpPr/>
          <p:nvPr>
            <p:custDataLst>
              <p:tags r:id="rId3"/>
            </p:custDataLst>
          </p:nvPr>
        </p:nvSpPr>
        <p:spPr>
          <a:xfrm rot="5400000">
            <a:off x="1461874" y="3597251"/>
            <a:ext cx="378304" cy="1987941"/>
          </a:xfrm>
          <a:prstGeom prst="flowChartManualInput">
            <a:avLst/>
          </a:prstGeom>
          <a:solidFill>
            <a:srgbClr val="EBEBEB">
              <a:lumMod val="75000"/>
            </a:srgbClr>
          </a:solidFill>
          <a:ln>
            <a:no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15" name="流程图: 手动输入 114"/>
          <p:cNvSpPr/>
          <p:nvPr>
            <p:custDataLst>
              <p:tags r:id="rId4"/>
            </p:custDataLst>
          </p:nvPr>
        </p:nvSpPr>
        <p:spPr>
          <a:xfrm rot="5400000">
            <a:off x="1461874" y="2170220"/>
            <a:ext cx="378304" cy="1987941"/>
          </a:xfrm>
          <a:prstGeom prst="flowChartManualInput">
            <a:avLst/>
          </a:prstGeom>
          <a:solidFill>
            <a:srgbClr val="EBEBEB">
              <a:lumMod val="75000"/>
            </a:srgbClr>
          </a:solidFill>
          <a:ln>
            <a:no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16" name="流程图: 手动输入 115"/>
          <p:cNvSpPr/>
          <p:nvPr>
            <p:custDataLst>
              <p:tags r:id="rId5"/>
            </p:custDataLst>
          </p:nvPr>
        </p:nvSpPr>
        <p:spPr>
          <a:xfrm rot="5400000">
            <a:off x="1471302" y="148665"/>
            <a:ext cx="378304" cy="1987941"/>
          </a:xfrm>
          <a:prstGeom prst="flowChartManualInput">
            <a:avLst/>
          </a:prstGeom>
          <a:solidFill>
            <a:srgbClr val="EBEBEB">
              <a:lumMod val="75000"/>
            </a:srgbClr>
          </a:solidFill>
          <a:ln>
            <a:no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17" name="矩形: 圆角 27"/>
          <p:cNvSpPr/>
          <p:nvPr>
            <p:custDataLst>
              <p:tags r:id="rId6"/>
            </p:custDataLst>
          </p:nvPr>
        </p:nvSpPr>
        <p:spPr>
          <a:xfrm>
            <a:off x="7331222" y="974910"/>
            <a:ext cx="4615811" cy="5410834"/>
          </a:xfrm>
          <a:prstGeom prst="roundRect">
            <a:avLst>
              <a:gd name="adj" fmla="val 770"/>
            </a:avLst>
          </a:prstGeom>
          <a:solidFill>
            <a:srgbClr val="FFFFFF">
              <a:lumMod val="95000"/>
              <a:alpha val="50000"/>
            </a:srgbClr>
          </a:solidFill>
          <a:ln>
            <a:noFill/>
            <a:prstDash val="dash"/>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18" name="文本框 117"/>
          <p:cNvSpPr txBox="1"/>
          <p:nvPr>
            <p:custDataLst>
              <p:tags r:id="rId7"/>
            </p:custDataLst>
          </p:nvPr>
        </p:nvSpPr>
        <p:spPr>
          <a:xfrm>
            <a:off x="7334722" y="5761858"/>
            <a:ext cx="4499391" cy="523084"/>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rPr>
              <a:t>“本体”的演进，本质上是从数据层面的关系发现迈向知识层面的逻辑推理，是银行智能化能力的一次质变</a:t>
            </a:r>
            <a:endParaRPr kumimoji="0" lang="zh-CN" altLang="en-US" sz="1400" b="1"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pic>
        <p:nvPicPr>
          <p:cNvPr id="119" name="Picture 19" descr="Picture 19"/>
          <p:cNvPicPr>
            <a:picLocks noChangeAspect="1"/>
          </p:cNvPicPr>
          <p:nvPr>
            <p:custDataLst>
              <p:tags r:id="rId8"/>
            </p:custDataLst>
          </p:nvPr>
        </p:nvPicPr>
        <p:blipFill>
          <a:blip r:embed="rId9" cstate="email">
            <a:alphaModFix amt="60000"/>
            <a:grayscl/>
            <a:extLst>
              <a:ext uri="{BEBA8EAE-BF5A-486C-A8C5-ECC9F3942E4B}">
                <a14:imgProps xmlns:a14="http://schemas.microsoft.com/office/drawing/2010/main">
                  <a14:imgLayer r:embed="rId10">
                    <a14:imgEffect>
                      <a14:saturation sat="400000"/>
                    </a14:imgEffect>
                  </a14:imgLayer>
                </a14:imgProps>
              </a:ext>
            </a:extLst>
          </a:blip>
          <a:stretch>
            <a:fillRect/>
          </a:stretch>
        </p:blipFill>
        <p:spPr>
          <a:xfrm rot="16200000" flipH="1" flipV="1">
            <a:off x="5129290" y="3154464"/>
            <a:ext cx="3696678" cy="528499"/>
          </a:xfrm>
          <a:prstGeom prst="rect">
            <a:avLst/>
          </a:prstGeom>
          <a:ln w="12700">
            <a:miter lim="400000"/>
            <a:headEnd/>
            <a:tailEnd/>
          </a:ln>
        </p:spPr>
      </p:pic>
      <p:sp>
        <p:nvSpPr>
          <p:cNvPr id="120" name="文本框 119"/>
          <p:cNvSpPr txBox="1"/>
          <p:nvPr>
            <p:custDataLst>
              <p:tags r:id="rId11"/>
            </p:custDataLst>
          </p:nvPr>
        </p:nvSpPr>
        <p:spPr>
          <a:xfrm>
            <a:off x="7741082" y="1703036"/>
            <a:ext cx="3809455" cy="307697"/>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rPr>
              <a:t>四阶战略路线图，及配套的顶层设计思路</a:t>
            </a:r>
            <a:endParaRPr kumimoji="0" lang="zh-CN" altLang="en-US" sz="1400" b="0" i="0" u="none" strike="noStrike" kern="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grpSp>
        <p:nvGrpSpPr>
          <p:cNvPr id="121" name="组合 120"/>
          <p:cNvGrpSpPr/>
          <p:nvPr/>
        </p:nvGrpSpPr>
        <p:grpSpPr>
          <a:xfrm>
            <a:off x="7565671" y="2226213"/>
            <a:ext cx="4381362" cy="3430403"/>
            <a:chOff x="7671878" y="2123608"/>
            <a:chExt cx="4382503" cy="3431296"/>
          </a:xfrm>
        </p:grpSpPr>
        <p:sp>
          <p:nvSpPr>
            <p:cNvPr id="122" name="矩形: 圆角 18"/>
            <p:cNvSpPr/>
            <p:nvPr>
              <p:custDataLst>
                <p:tags r:id="rId12"/>
              </p:custDataLst>
            </p:nvPr>
          </p:nvSpPr>
          <p:spPr>
            <a:xfrm>
              <a:off x="7671880" y="2123608"/>
              <a:ext cx="2146884" cy="307777"/>
            </a:xfrm>
            <a:prstGeom prst="roundRect">
              <a:avLst/>
            </a:prstGeom>
            <a:noFill/>
            <a:ln>
              <a:solidFill>
                <a:srgbClr val="666666">
                  <a:lumMod val="40000"/>
                  <a:lumOff val="60000"/>
                </a:srgbClr>
              </a:solid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第</a:t>
              </a:r>
              <a:r>
                <a:rPr kumimoji="0" lang="en-US" altLang="zh-CN"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1</a:t>
              </a: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阶：筑基与共识</a:t>
              </a:r>
              <a:endPar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endParaRPr>
            </a:p>
          </p:txBody>
        </p:sp>
        <p:sp>
          <p:nvSpPr>
            <p:cNvPr id="123" name="矩形: 圆角 60"/>
            <p:cNvSpPr/>
            <p:nvPr>
              <p:custDataLst>
                <p:tags r:id="rId13"/>
              </p:custDataLst>
            </p:nvPr>
          </p:nvSpPr>
          <p:spPr>
            <a:xfrm>
              <a:off x="7671880" y="2986869"/>
              <a:ext cx="2146884" cy="307777"/>
            </a:xfrm>
            <a:prstGeom prst="roundRect">
              <a:avLst/>
            </a:prstGeom>
            <a:noFill/>
            <a:ln>
              <a:solidFill>
                <a:srgbClr val="666666">
                  <a:lumMod val="40000"/>
                  <a:lumOff val="60000"/>
                </a:srgbClr>
              </a:solid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第</a:t>
              </a:r>
              <a:r>
                <a:rPr kumimoji="0" lang="en-US" altLang="zh-CN"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2</a:t>
              </a: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阶：局部突破与验证</a:t>
              </a:r>
              <a:endPar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endParaRPr>
            </a:p>
          </p:txBody>
        </p:sp>
        <p:sp>
          <p:nvSpPr>
            <p:cNvPr id="124" name="矩形: 圆角 61"/>
            <p:cNvSpPr/>
            <p:nvPr>
              <p:custDataLst>
                <p:tags r:id="rId14"/>
              </p:custDataLst>
            </p:nvPr>
          </p:nvSpPr>
          <p:spPr>
            <a:xfrm>
              <a:off x="7671879" y="3853540"/>
              <a:ext cx="2146885" cy="307777"/>
            </a:xfrm>
            <a:prstGeom prst="roundRect">
              <a:avLst/>
            </a:prstGeom>
            <a:noFill/>
            <a:ln>
              <a:solidFill>
                <a:srgbClr val="666666">
                  <a:lumMod val="40000"/>
                  <a:lumOff val="60000"/>
                </a:srgbClr>
              </a:solid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第</a:t>
              </a:r>
              <a:r>
                <a:rPr kumimoji="0" lang="en-US" altLang="zh-CN"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3</a:t>
              </a: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阶：横向扩展与平台化</a:t>
              </a:r>
              <a:endPar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endParaRPr>
            </a:p>
          </p:txBody>
        </p:sp>
        <p:sp>
          <p:nvSpPr>
            <p:cNvPr id="125" name="矩形: 圆角 65"/>
            <p:cNvSpPr/>
            <p:nvPr>
              <p:custDataLst>
                <p:tags r:id="rId15"/>
              </p:custDataLst>
            </p:nvPr>
          </p:nvSpPr>
          <p:spPr>
            <a:xfrm>
              <a:off x="7671878" y="4776298"/>
              <a:ext cx="2146886" cy="307777"/>
            </a:xfrm>
            <a:prstGeom prst="roundRect">
              <a:avLst/>
            </a:prstGeom>
            <a:noFill/>
            <a:ln>
              <a:solidFill>
                <a:srgbClr val="666666">
                  <a:lumMod val="40000"/>
                  <a:lumOff val="60000"/>
                </a:srgbClr>
              </a:solid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第</a:t>
              </a:r>
              <a:r>
                <a:rPr kumimoji="0" lang="en-US" altLang="zh-CN"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4</a:t>
              </a:r>
              <a:r>
                <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阶：生态化与认知型银行</a:t>
              </a:r>
              <a:endParaRPr kumimoji="0" lang="zh-CN" altLang="en-US" sz="12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endParaRPr>
            </a:p>
          </p:txBody>
        </p:sp>
        <p:sp>
          <p:nvSpPr>
            <p:cNvPr id="126" name="文本框 125"/>
            <p:cNvSpPr txBox="1"/>
            <p:nvPr>
              <p:custDataLst>
                <p:tags r:id="rId16"/>
              </p:custDataLst>
            </p:nvPr>
          </p:nvSpPr>
          <p:spPr>
            <a:xfrm>
              <a:off x="8243934" y="2466978"/>
              <a:ext cx="3810447" cy="430887"/>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目标</a:t>
              </a:r>
              <a:r>
                <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：在全行范围内建立对“本体”的统一认知，明确业务价值，</a:t>
              </a:r>
              <a:r>
                <a:rPr kumimoji="0" lang="zh-CN" altLang="en-US" sz="11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选好首战场</a:t>
              </a:r>
              <a:endParaRPr kumimoji="0" lang="zh-CN" altLang="en-US" sz="11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
          <p:nvSpPr>
            <p:cNvPr id="127" name="文本框 126"/>
            <p:cNvSpPr txBox="1"/>
            <p:nvPr>
              <p:custDataLst>
                <p:tags r:id="rId17"/>
              </p:custDataLst>
            </p:nvPr>
          </p:nvSpPr>
          <p:spPr>
            <a:xfrm>
              <a:off x="8243934" y="3321560"/>
              <a:ext cx="3810447" cy="430887"/>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目标</a:t>
              </a:r>
              <a:r>
                <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：在首场景中实现“本体驱动”的闭环应用，证明</a:t>
              </a:r>
              <a:r>
                <a:rPr kumimoji="0" lang="zh-CN" altLang="en-US" sz="11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技术可行且业务有价值</a:t>
              </a:r>
              <a:endPar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endParaRPr>
            </a:p>
          </p:txBody>
        </p:sp>
        <p:sp>
          <p:nvSpPr>
            <p:cNvPr id="128" name="文本框 127"/>
            <p:cNvSpPr txBox="1"/>
            <p:nvPr>
              <p:custDataLst>
                <p:tags r:id="rId18"/>
              </p:custDataLst>
            </p:nvPr>
          </p:nvSpPr>
          <p:spPr>
            <a:xfrm>
              <a:off x="8243934" y="4253364"/>
              <a:ext cx="3810447" cy="430887"/>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目标</a:t>
              </a:r>
              <a:r>
                <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：将本体能力从单一场景</a:t>
              </a:r>
              <a:r>
                <a:rPr kumimoji="0" lang="zh-CN" altLang="en-US" sz="11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扩展</a:t>
              </a:r>
              <a:r>
                <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到多个业务域，建设</a:t>
              </a:r>
              <a:r>
                <a:rPr kumimoji="0" lang="zh-CN" altLang="en-US" sz="11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企业级本体平台</a:t>
              </a:r>
              <a:endParaRPr kumimoji="0" lang="zh-CN" altLang="en-US" sz="11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
          <p:nvSpPr>
            <p:cNvPr id="129" name="文本框 128"/>
            <p:cNvSpPr txBox="1"/>
            <p:nvPr>
              <p:custDataLst>
                <p:tags r:id="rId19"/>
              </p:custDataLst>
            </p:nvPr>
          </p:nvSpPr>
          <p:spPr>
            <a:xfrm>
              <a:off x="8243934" y="5124017"/>
              <a:ext cx="3810447" cy="430887"/>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100" b="1"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目标</a:t>
              </a:r>
              <a:r>
                <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：本体成为</a:t>
              </a:r>
              <a:r>
                <a:rPr kumimoji="0" lang="zh-CN" altLang="en-US" sz="11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rPr>
                <a:t>全行知识治理的基石</a:t>
              </a:r>
              <a:r>
                <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rPr>
                <a:t>，支撑“认知型银行”的终极形态。</a:t>
              </a:r>
              <a:endParaRPr kumimoji="0" lang="zh-CN" altLang="en-US" sz="1100" b="0" i="0" u="none" strike="noStrike" kern="1200" cap="none" spc="0" normalizeH="0" baseline="0" noProof="0" dirty="0">
                <a:ln>
                  <a:noFill/>
                </a:ln>
                <a:solidFill>
                  <a:srgbClr val="0F1115"/>
                </a:solidFill>
                <a:effectLst/>
                <a:uLnTx/>
                <a:uFillTx/>
                <a:latin typeface="微软雅黑" panose="020B0503020204020204" charset="-122"/>
                <a:ea typeface="微软雅黑" panose="020B0503020204020204" charset="-122"/>
                <a:cs typeface="+mn-cs"/>
              </a:endParaRPr>
            </a:p>
          </p:txBody>
        </p:sp>
        <p:cxnSp>
          <p:nvCxnSpPr>
            <p:cNvPr id="130" name="直接箭头连接符 129"/>
            <p:cNvCxnSpPr/>
            <p:nvPr>
              <p:custDataLst>
                <p:tags r:id="rId20"/>
              </p:custDataLst>
            </p:nvPr>
          </p:nvCxnSpPr>
          <p:spPr>
            <a:xfrm>
              <a:off x="7964739" y="2466978"/>
              <a:ext cx="0" cy="519891"/>
            </a:xfrm>
            <a:prstGeom prst="straightConnector1">
              <a:avLst/>
            </a:prstGeom>
            <a:ln>
              <a:tailEnd type="triangle"/>
            </a:ln>
          </p:spPr>
          <p:style>
            <a:lnRef idx="1">
              <a:srgbClr val="C7000A"/>
            </a:lnRef>
            <a:fillRef idx="0">
              <a:srgbClr val="C7000A"/>
            </a:fillRef>
            <a:effectRef idx="0">
              <a:srgbClr val="C7000A"/>
            </a:effectRef>
            <a:fontRef idx="minor">
              <a:srgbClr val="1D1D1A"/>
            </a:fontRef>
          </p:style>
        </p:cxnSp>
        <p:cxnSp>
          <p:nvCxnSpPr>
            <p:cNvPr id="131" name="直接箭头连接符 130"/>
            <p:cNvCxnSpPr/>
            <p:nvPr>
              <p:custDataLst>
                <p:tags r:id="rId21"/>
              </p:custDataLst>
            </p:nvPr>
          </p:nvCxnSpPr>
          <p:spPr>
            <a:xfrm>
              <a:off x="7964739" y="3321560"/>
              <a:ext cx="0" cy="519891"/>
            </a:xfrm>
            <a:prstGeom prst="straightConnector1">
              <a:avLst/>
            </a:prstGeom>
            <a:ln>
              <a:tailEnd type="triangle"/>
            </a:ln>
          </p:spPr>
          <p:style>
            <a:lnRef idx="1">
              <a:srgbClr val="C7000A"/>
            </a:lnRef>
            <a:fillRef idx="0">
              <a:srgbClr val="C7000A"/>
            </a:fillRef>
            <a:effectRef idx="0">
              <a:srgbClr val="C7000A"/>
            </a:effectRef>
            <a:fontRef idx="minor">
              <a:srgbClr val="1D1D1A"/>
            </a:fontRef>
          </p:style>
        </p:cxnSp>
        <p:cxnSp>
          <p:nvCxnSpPr>
            <p:cNvPr id="132" name="直接箭头连接符 131"/>
            <p:cNvCxnSpPr/>
            <p:nvPr>
              <p:custDataLst>
                <p:tags r:id="rId22"/>
              </p:custDataLst>
            </p:nvPr>
          </p:nvCxnSpPr>
          <p:spPr>
            <a:xfrm>
              <a:off x="7964739" y="4208861"/>
              <a:ext cx="0" cy="519891"/>
            </a:xfrm>
            <a:prstGeom prst="straightConnector1">
              <a:avLst/>
            </a:prstGeom>
            <a:ln>
              <a:tailEnd type="triangle"/>
            </a:ln>
          </p:spPr>
          <p:style>
            <a:lnRef idx="1">
              <a:srgbClr val="C7000A"/>
            </a:lnRef>
            <a:fillRef idx="0">
              <a:srgbClr val="C7000A"/>
            </a:fillRef>
            <a:effectRef idx="0">
              <a:srgbClr val="C7000A"/>
            </a:effectRef>
            <a:fontRef idx="minor">
              <a:srgbClr val="1D1D1A"/>
            </a:fontRef>
          </p:style>
        </p:cxnSp>
      </p:grpSp>
      <p:sp>
        <p:nvSpPr>
          <p:cNvPr id="133" name="文本框 132"/>
          <p:cNvSpPr txBox="1"/>
          <p:nvPr>
            <p:custDataLst>
              <p:tags r:id="rId23"/>
            </p:custDataLst>
          </p:nvPr>
        </p:nvSpPr>
        <p:spPr>
          <a:xfrm>
            <a:off x="6802722" y="1444135"/>
            <a:ext cx="422406" cy="3949156"/>
          </a:xfrm>
          <a:prstGeom prst="rect">
            <a:avLst/>
          </a:prstGeom>
          <a:noFill/>
        </p:spPr>
        <p:txBody>
          <a:bodyPr wrap="square" rtlCol="0">
            <a:spAutoFit/>
          </a:bodyPr>
          <a:lstStyle/>
          <a:p>
            <a:pPr marL="0" marR="0" lvl="0" indent="0" algn="l" defTabSz="914400" rtl="0" eaLnBrk="1" fontAlgn="base" latinLnBrk="0" hangingPunct="1">
              <a:lnSpc>
                <a:spcPts val="344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rPr>
              <a:t>牵</a:t>
            </a:r>
            <a:endParaRPr kumimoji="0" lang="en-US" altLang="zh-CN"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ts val="344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rPr>
              <a:t>引路线</a:t>
            </a:r>
            <a:endParaRPr kumimoji="0" lang="en-US" altLang="zh-CN"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ts val="344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rPr>
              <a:t>、</a:t>
            </a:r>
            <a:endParaRPr kumimoji="0" lang="en-US" altLang="zh-CN"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ts val="344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rPr>
              <a:t>坐</a:t>
            </a:r>
            <a:endParaRPr kumimoji="0" lang="en-US" altLang="zh-CN"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ts val="3440"/>
              </a:lnSpc>
              <a:spcBef>
                <a:spcPct val="0"/>
              </a:spcBef>
              <a:spcAft>
                <a:spcPct val="0"/>
              </a:spcAft>
              <a:buClrTx/>
              <a:buSzTx/>
              <a:buFontTx/>
              <a:buNone/>
              <a:defRPr/>
            </a:pPr>
            <a:r>
              <a:rPr kumimoji="0" lang="zh-CN" altLang="en-US"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rPr>
              <a:t>实策略</a:t>
            </a:r>
            <a:endParaRPr kumimoji="0" lang="zh-CN" altLang="en-US"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34" name="文本框 133"/>
          <p:cNvSpPr txBox="1"/>
          <p:nvPr>
            <p:custDataLst>
              <p:tags r:id="rId24"/>
            </p:custDataLst>
          </p:nvPr>
        </p:nvSpPr>
        <p:spPr>
          <a:xfrm>
            <a:off x="8828596" y="906650"/>
            <a:ext cx="1621060" cy="417891"/>
          </a:xfrm>
          <a:prstGeom prst="rect">
            <a:avLst/>
          </a:prstGeom>
          <a:noFill/>
        </p:spPr>
        <p:txBody>
          <a:bodyPr wrap="square">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如何牵引和落地</a:t>
            </a:r>
            <a:endPar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endParaRPr>
          </a:p>
        </p:txBody>
      </p:sp>
      <p:sp>
        <p:nvSpPr>
          <p:cNvPr id="135" name="矩形: 圆角 26"/>
          <p:cNvSpPr/>
          <p:nvPr>
            <p:custDataLst>
              <p:tags r:id="rId25"/>
            </p:custDataLst>
          </p:nvPr>
        </p:nvSpPr>
        <p:spPr>
          <a:xfrm>
            <a:off x="7406141" y="1364473"/>
            <a:ext cx="4427972" cy="4292143"/>
          </a:xfrm>
          <a:prstGeom prst="roundRect">
            <a:avLst>
              <a:gd name="adj" fmla="val 2600"/>
            </a:avLst>
          </a:prstGeom>
          <a:noFill/>
          <a:ln>
            <a:solidFill>
              <a:srgbClr val="EBEBEB">
                <a:lumMod val="90000"/>
              </a:srgbClr>
            </a:solidFill>
            <a:prstDash val="dash"/>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36" name="矩形 135"/>
          <p:cNvSpPr/>
          <p:nvPr>
            <p:custDataLst>
              <p:tags r:id="rId26"/>
            </p:custDataLst>
          </p:nvPr>
        </p:nvSpPr>
        <p:spPr>
          <a:xfrm>
            <a:off x="666483" y="1293581"/>
            <a:ext cx="5984903" cy="1583672"/>
          </a:xfrm>
          <a:prstGeom prst="rect">
            <a:avLst/>
          </a:prstGeom>
          <a:gradFill flip="none" rotWithShape="1">
            <a:gsLst>
              <a:gs pos="0">
                <a:srgbClr val="FFFFFF">
                  <a:lumMod val="95000"/>
                </a:srgbClr>
              </a:gs>
              <a:gs pos="100000">
                <a:srgbClr val="FFFFFF">
                  <a:lumMod val="95000"/>
                  <a:alpha val="40000"/>
                </a:srgbClr>
              </a:gs>
            </a:gsLst>
            <a:lin ang="5400000" scaled="1"/>
            <a:tileRect/>
          </a:gradFill>
          <a:ln>
            <a:no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pic>
        <p:nvPicPr>
          <p:cNvPr id="137" name="图片 136"/>
          <p:cNvPicPr>
            <a:picLocks noChangeAspect="1"/>
          </p:cNvPicPr>
          <p:nvPr>
            <p:custDataLst>
              <p:tags r:id="rId27"/>
            </p:custDataLst>
          </p:nvPr>
        </p:nvPicPr>
        <p:blipFill>
          <a:blip r:embed="rId28"/>
          <a:stretch>
            <a:fillRect/>
          </a:stretch>
        </p:blipFill>
        <p:spPr>
          <a:xfrm>
            <a:off x="789177" y="1357385"/>
            <a:ext cx="1067715" cy="314785"/>
          </a:xfrm>
          <a:prstGeom prst="rect">
            <a:avLst/>
          </a:prstGeom>
        </p:spPr>
      </p:pic>
      <p:pic>
        <p:nvPicPr>
          <p:cNvPr id="138" name="图片 137"/>
          <p:cNvPicPr>
            <a:picLocks noChangeAspect="1"/>
          </p:cNvPicPr>
          <p:nvPr>
            <p:custDataLst>
              <p:tags r:id="rId29"/>
            </p:custDataLst>
          </p:nvPr>
        </p:nvPicPr>
        <p:blipFill>
          <a:blip r:embed="rId30"/>
          <a:stretch>
            <a:fillRect/>
          </a:stretch>
        </p:blipFill>
        <p:spPr>
          <a:xfrm>
            <a:off x="789178" y="2215643"/>
            <a:ext cx="1048156" cy="314785"/>
          </a:xfrm>
          <a:prstGeom prst="rect">
            <a:avLst/>
          </a:prstGeom>
        </p:spPr>
      </p:pic>
      <p:sp>
        <p:nvSpPr>
          <p:cNvPr id="139" name="文本框 138"/>
          <p:cNvSpPr txBox="1"/>
          <p:nvPr>
            <p:custDataLst>
              <p:tags r:id="rId31"/>
            </p:custDataLst>
          </p:nvPr>
        </p:nvSpPr>
        <p:spPr>
          <a:xfrm>
            <a:off x="2224582" y="1338123"/>
            <a:ext cx="2140827" cy="70770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建设企业级知识库和大模型底座，重视高质量知识体系建设</a:t>
            </a: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在建项目：对公营销、远程银行</a:t>
            </a: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40" name="文本框 139"/>
          <p:cNvSpPr txBox="1"/>
          <p:nvPr>
            <p:custDataLst>
              <p:tags r:id="rId32"/>
            </p:custDataLst>
          </p:nvPr>
        </p:nvSpPr>
        <p:spPr>
          <a:xfrm>
            <a:off x="4455106" y="1324541"/>
            <a:ext cx="1987942" cy="70770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更多是作为</a:t>
            </a:r>
            <a:r>
              <a:rPr kumimoji="0" lang="zh-CN" altLang="en-US"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底层基础设施</a:t>
            </a: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，聚焦于企业级知识库、知识工程体系，目标是</a:t>
            </a:r>
            <a:r>
              <a:rPr kumimoji="0" lang="zh-CN" altLang="en-US"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沉淀可复用的金融知识资产</a:t>
            </a:r>
            <a:endParaRPr kumimoji="0" lang="zh-CN" altLang="en-US" sz="1000" b="0"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41" name="文本框 140"/>
          <p:cNvSpPr txBox="1"/>
          <p:nvPr>
            <p:custDataLst>
              <p:tags r:id="rId33"/>
            </p:custDataLst>
          </p:nvPr>
        </p:nvSpPr>
        <p:spPr>
          <a:xfrm>
            <a:off x="657054" y="973402"/>
            <a:ext cx="2117725" cy="33718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国有大行</a:t>
            </a:r>
            <a:r>
              <a:rPr kumimoji="0"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工行为代表</a:t>
            </a:r>
            <a:endPar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endParaRPr>
          </a:p>
        </p:txBody>
      </p:sp>
      <p:sp>
        <p:nvSpPr>
          <p:cNvPr id="142" name="文本框 141"/>
          <p:cNvSpPr txBox="1"/>
          <p:nvPr>
            <p:custDataLst>
              <p:tags r:id="rId34"/>
            </p:custDataLst>
          </p:nvPr>
        </p:nvSpPr>
        <p:spPr>
          <a:xfrm>
            <a:off x="2224582" y="2215643"/>
            <a:ext cx="2140827" cy="70770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聚焦</a:t>
            </a:r>
            <a:r>
              <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AI</a:t>
            </a: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智能体的大规模部署（已部署</a:t>
            </a:r>
            <a:r>
              <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2500+</a:t>
            </a: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个）</a:t>
            </a: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在建项目：零售代发</a:t>
            </a: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43" name="文本框 142"/>
          <p:cNvSpPr txBox="1"/>
          <p:nvPr>
            <p:custDataLst>
              <p:tags r:id="rId35"/>
            </p:custDataLst>
          </p:nvPr>
        </p:nvSpPr>
        <p:spPr>
          <a:xfrm>
            <a:off x="4455106" y="2215643"/>
            <a:ext cx="2054301" cy="70770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本体论体现在其企业级知识平台和智能体平台的</a:t>
            </a:r>
            <a:r>
              <a:rPr kumimoji="0" lang="zh-CN" altLang="en-US"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语义一致性底层</a:t>
            </a: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，为智能体提供统一的知识服务，是规模化协同的基础</a:t>
            </a:r>
            <a:endParaRPr kumimoji="0" lang="zh-CN" altLang="en-US" sz="1000" b="0"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44" name="矩形 143"/>
          <p:cNvSpPr/>
          <p:nvPr>
            <p:custDataLst>
              <p:tags r:id="rId36"/>
            </p:custDataLst>
          </p:nvPr>
        </p:nvSpPr>
        <p:spPr>
          <a:xfrm>
            <a:off x="657055" y="3360728"/>
            <a:ext cx="5984903" cy="923265"/>
          </a:xfrm>
          <a:prstGeom prst="rect">
            <a:avLst/>
          </a:prstGeom>
          <a:gradFill flip="none" rotWithShape="1">
            <a:gsLst>
              <a:gs pos="0">
                <a:srgbClr val="FFFFFF">
                  <a:lumMod val="95000"/>
                </a:srgbClr>
              </a:gs>
              <a:gs pos="100000">
                <a:srgbClr val="FFFFFF">
                  <a:lumMod val="95000"/>
                  <a:alpha val="40000"/>
                </a:srgbClr>
              </a:gs>
            </a:gsLst>
            <a:lin ang="5400000" scaled="1"/>
            <a:tileRect/>
          </a:gradFill>
          <a:ln>
            <a:noFill/>
          </a:ln>
        </p:spPr>
        <p:style>
          <a:lnRef idx="2">
            <a:srgbClr val="C7000A">
              <a:shade val="50000"/>
            </a:srgbClr>
          </a:lnRef>
          <a:fillRef idx="1">
            <a:srgbClr val="C7000A"/>
          </a:fillRef>
          <a:effectRef idx="0">
            <a:srgbClr val="C7000A"/>
          </a:effectRef>
          <a:fontRef idx="minor">
            <a:srgbClr val="666666"/>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666666"/>
              </a:solidFill>
              <a:effectLst/>
              <a:uLnTx/>
              <a:uFillTx/>
              <a:latin typeface="Calibri" panose="020F0502020204030204"/>
              <a:ea typeface="等线" panose="02010600030101010101" charset="-122"/>
              <a:cs typeface="+mn-cs"/>
            </a:endParaRPr>
          </a:p>
        </p:txBody>
      </p:sp>
      <p:sp>
        <p:nvSpPr>
          <p:cNvPr id="145" name="文本框 144"/>
          <p:cNvSpPr txBox="1"/>
          <p:nvPr>
            <p:custDataLst>
              <p:tags r:id="rId37"/>
            </p:custDataLst>
          </p:nvPr>
        </p:nvSpPr>
        <p:spPr>
          <a:xfrm>
            <a:off x="587502" y="2994957"/>
            <a:ext cx="1915410" cy="338466"/>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股份制</a:t>
            </a:r>
            <a:r>
              <a:rPr kumimoji="0"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平安为代表</a:t>
            </a:r>
            <a:endParaRPr kumimoji="0"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endParaRPr>
          </a:p>
        </p:txBody>
      </p:sp>
      <p:pic>
        <p:nvPicPr>
          <p:cNvPr id="146" name="图片 145"/>
          <p:cNvPicPr>
            <a:picLocks noChangeAspect="1"/>
          </p:cNvPicPr>
          <p:nvPr>
            <p:custDataLst>
              <p:tags r:id="rId38"/>
            </p:custDataLst>
          </p:nvPr>
        </p:nvPicPr>
        <p:blipFill>
          <a:blip r:embed="rId39"/>
          <a:stretch>
            <a:fillRect/>
          </a:stretch>
        </p:blipFill>
        <p:spPr>
          <a:xfrm>
            <a:off x="789177" y="3548229"/>
            <a:ext cx="1067716" cy="343550"/>
          </a:xfrm>
          <a:prstGeom prst="rect">
            <a:avLst/>
          </a:prstGeom>
        </p:spPr>
      </p:pic>
      <p:sp>
        <p:nvSpPr>
          <p:cNvPr id="147" name="文本框 146"/>
          <p:cNvSpPr txBox="1"/>
          <p:nvPr>
            <p:custDataLst>
              <p:tags r:id="rId40"/>
            </p:custDataLst>
          </p:nvPr>
        </p:nvSpPr>
        <p:spPr>
          <a:xfrm>
            <a:off x="2908364" y="991673"/>
            <a:ext cx="902576" cy="30769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当前状态</a:t>
            </a:r>
            <a:endParaRPr kumimoji="0" lang="en-US" altLang="zh-CN"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48" name="文本框 147"/>
          <p:cNvSpPr txBox="1"/>
          <p:nvPr>
            <p:custDataLst>
              <p:tags r:id="rId41"/>
            </p:custDataLst>
          </p:nvPr>
        </p:nvSpPr>
        <p:spPr>
          <a:xfrm>
            <a:off x="4455107" y="3548229"/>
            <a:ext cx="2140827" cy="400006"/>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本体解决在特定“同业资金” 市场上的</a:t>
            </a:r>
            <a:r>
              <a:rPr kumimoji="0" lang="zh-CN" altLang="en-US"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场景化问题</a:t>
            </a:r>
            <a:endParaRPr kumimoji="0" lang="zh-CN" altLang="en-US" sz="10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pic>
        <p:nvPicPr>
          <p:cNvPr id="149" name="图片 148"/>
          <p:cNvPicPr>
            <a:picLocks noChangeAspect="1"/>
          </p:cNvPicPr>
          <p:nvPr>
            <p:custDataLst>
              <p:tags r:id="rId42"/>
            </p:custDataLst>
          </p:nvPr>
        </p:nvPicPr>
        <p:blipFill>
          <a:blip r:embed="rId43"/>
          <a:stretch>
            <a:fillRect/>
          </a:stretch>
        </p:blipFill>
        <p:spPr>
          <a:xfrm>
            <a:off x="789177" y="4792682"/>
            <a:ext cx="1067715" cy="314784"/>
          </a:xfrm>
          <a:prstGeom prst="rect">
            <a:avLst/>
          </a:prstGeom>
        </p:spPr>
      </p:pic>
      <p:pic>
        <p:nvPicPr>
          <p:cNvPr id="150" name="图片 149"/>
          <p:cNvPicPr>
            <a:picLocks noChangeAspect="1"/>
          </p:cNvPicPr>
          <p:nvPr>
            <p:custDataLst>
              <p:tags r:id="rId44"/>
            </p:custDataLst>
          </p:nvPr>
        </p:nvPicPr>
        <p:blipFill>
          <a:blip r:embed="rId45" cstate="print">
            <a:extLst>
              <a:ext uri="{28A0092B-C50C-407E-A947-70E740481C1C}">
                <a14:useLocalDpi xmlns:a14="http://schemas.microsoft.com/office/drawing/2010/main" val="0"/>
              </a:ext>
            </a:extLst>
          </a:blip>
          <a:stretch>
            <a:fillRect/>
          </a:stretch>
        </p:blipFill>
        <p:spPr>
          <a:xfrm>
            <a:off x="789177" y="5576930"/>
            <a:ext cx="1067715" cy="310290"/>
          </a:xfrm>
          <a:prstGeom prst="rect">
            <a:avLst/>
          </a:prstGeom>
        </p:spPr>
      </p:pic>
      <p:sp>
        <p:nvSpPr>
          <p:cNvPr id="151" name="文本框 150"/>
          <p:cNvSpPr txBox="1"/>
          <p:nvPr>
            <p:custDataLst>
              <p:tags r:id="rId46"/>
            </p:custDataLst>
          </p:nvPr>
        </p:nvSpPr>
        <p:spPr>
          <a:xfrm>
            <a:off x="587502" y="4421987"/>
            <a:ext cx="1808037" cy="338466"/>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城商行</a:t>
            </a:r>
            <a:r>
              <a:rPr kumimoji="0"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上海</a:t>
            </a:r>
            <a:r>
              <a:rPr kumimoji="0"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a:t>
            </a:r>
            <a:r>
              <a:rPr kumimoji="0" lang="zh-CN" altLang="en-US"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rPr>
              <a:t>南京</a:t>
            </a:r>
            <a:endParaRPr kumimoji="0" lang="en-US" altLang="zh-CN" sz="1600" b="1" i="0" u="none" strike="noStrike" kern="1200" cap="none" spc="0" normalizeH="0" baseline="0" noProof="0" dirty="0">
              <a:ln>
                <a:noFill/>
              </a:ln>
              <a:solidFill>
                <a:srgbClr val="0052A0"/>
              </a:solidFill>
              <a:effectLst/>
              <a:uLnTx/>
              <a:uFillTx/>
              <a:latin typeface="微软雅黑" panose="020B0503020204020204" charset="-122"/>
              <a:ea typeface="微软雅黑" panose="020B0503020204020204" charset="-122"/>
              <a:cs typeface="+mn-cs"/>
            </a:endParaRPr>
          </a:p>
        </p:txBody>
      </p:sp>
      <p:sp>
        <p:nvSpPr>
          <p:cNvPr id="152" name="文本框 151"/>
          <p:cNvSpPr txBox="1"/>
          <p:nvPr>
            <p:custDataLst>
              <p:tags r:id="rId47"/>
            </p:custDataLst>
          </p:nvPr>
        </p:nvSpPr>
        <p:spPr>
          <a:xfrm>
            <a:off x="2224581" y="4792682"/>
            <a:ext cx="2167419" cy="70770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明确以“本体论”为方法论，提出“三层约束”机制，探索</a:t>
            </a:r>
            <a:r>
              <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AI</a:t>
            </a: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在核心业务落地</a:t>
            </a: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118745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在建项目：反洗钱</a:t>
            </a:r>
            <a:endParaRPr kumimoji="0" lang="en-US" altLang="zh-CN" sz="1000" b="0"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53" name="文本框 152"/>
          <p:cNvSpPr txBox="1"/>
          <p:nvPr>
            <p:custDataLst>
              <p:tags r:id="rId48"/>
            </p:custDataLst>
          </p:nvPr>
        </p:nvSpPr>
        <p:spPr>
          <a:xfrm>
            <a:off x="4455107" y="4792682"/>
            <a:ext cx="2167419" cy="5538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认为本体论是解决</a:t>
            </a:r>
            <a:r>
              <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AI“</a:t>
            </a: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黑箱”问题的核心，要为</a:t>
            </a:r>
            <a:r>
              <a:rPr kumimoji="0" lang="zh-CN" altLang="en-US"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核心业务</a:t>
            </a:r>
            <a:r>
              <a:rPr kumimoji="0" lang="en-US" altLang="zh-CN"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AI</a:t>
            </a:r>
            <a:r>
              <a:rPr kumimoji="0" lang="zh-CN" altLang="en-US"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决策提供确定性路径</a:t>
            </a:r>
            <a:endParaRPr kumimoji="0" lang="zh-CN" altLang="en-US" sz="1000" b="0"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54" name="文本框 153"/>
          <p:cNvSpPr txBox="1"/>
          <p:nvPr>
            <p:custDataLst>
              <p:tags r:id="rId49"/>
            </p:custDataLst>
          </p:nvPr>
        </p:nvSpPr>
        <p:spPr>
          <a:xfrm>
            <a:off x="2224581" y="5576929"/>
            <a:ext cx="2167419" cy="70770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以采购或跟随策略为主，建设垂直领域知识图谱</a:t>
            </a: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118745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在建项目：暂无</a:t>
            </a:r>
            <a:endParaRPr kumimoji="0" lang="en-US" altLang="zh-CN" sz="1000" b="0"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55" name="文本框 154"/>
          <p:cNvSpPr txBox="1"/>
          <p:nvPr>
            <p:custDataLst>
              <p:tags r:id="rId50"/>
            </p:custDataLst>
          </p:nvPr>
        </p:nvSpPr>
        <p:spPr>
          <a:xfrm>
            <a:off x="4455107" y="5576929"/>
            <a:ext cx="2167419" cy="70770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对“本体”缺乏系统性认知，其“知识图谱”建设多停留在关系挖掘层面，</a:t>
            </a:r>
            <a:r>
              <a:rPr kumimoji="0" lang="zh-CN" altLang="en-US" sz="10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目前很少将“本体”作为独立战略方向</a:t>
            </a:r>
            <a:endParaRPr kumimoji="0" lang="zh-CN" altLang="en-US" sz="1000" b="0"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56" name="文本框 155"/>
          <p:cNvSpPr txBox="1"/>
          <p:nvPr>
            <p:custDataLst>
              <p:tags r:id="rId51"/>
            </p:custDataLst>
          </p:nvPr>
        </p:nvSpPr>
        <p:spPr>
          <a:xfrm>
            <a:off x="2224582" y="3548229"/>
            <a:ext cx="2140827" cy="553854"/>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侧重特色场景化建设</a:t>
            </a: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endParaRPr>
          </a:p>
          <a:p>
            <a:pPr marL="0" marR="0" lvl="0" indent="0" algn="l" defTabSz="118745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在建项目：资金市场</a:t>
            </a:r>
            <a:r>
              <a:rPr kumimoji="0" lang="en-US" altLang="zh-CN" sz="1000" b="0"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FICC</a:t>
            </a:r>
            <a:endParaRPr kumimoji="0" lang="en-US" altLang="zh-CN" sz="1000" b="0"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157" name="文本框 156"/>
          <p:cNvSpPr txBox="1"/>
          <p:nvPr>
            <p:custDataLst>
              <p:tags r:id="rId52"/>
            </p:custDataLst>
          </p:nvPr>
        </p:nvSpPr>
        <p:spPr>
          <a:xfrm>
            <a:off x="5245285" y="991673"/>
            <a:ext cx="543597" cy="30769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rgbClr val="1D1D1A"/>
                </a:solidFill>
                <a:effectLst/>
                <a:uLnTx/>
                <a:uFillTx/>
                <a:latin typeface="微软雅黑" panose="020B0503020204020204" charset="-122"/>
                <a:ea typeface="微软雅黑" panose="020B0503020204020204" charset="-122"/>
                <a:cs typeface="+mn-cs"/>
              </a:rPr>
              <a:t>定位</a:t>
            </a:r>
            <a:endParaRPr kumimoji="0" lang="en-US" altLang="zh-CN" sz="1400" b="1" i="0" u="none" strike="noStrike" kern="1200" cap="none" spc="0" normalizeH="0" baseline="0" noProof="0" dirty="0">
              <a:ln>
                <a:noFill/>
              </a:ln>
              <a:solidFill>
                <a:srgbClr val="1D1D1A"/>
              </a:solidFill>
              <a:effectLst/>
              <a:uLnTx/>
              <a:uFillTx/>
              <a:latin typeface="微软雅黑" panose="020B0503020204020204" charset="-122"/>
              <a:ea typeface="微软雅黑" panose="020B0503020204020204" charset="-122"/>
              <a:cs typeface="+mn-cs"/>
            </a:endParaRPr>
          </a:p>
        </p:txBody>
      </p:sp>
      <p:sp>
        <p:nvSpPr>
          <p:cNvPr id="4" name="文本框 3"/>
          <p:cNvSpPr txBox="1"/>
          <p:nvPr/>
        </p:nvSpPr>
        <p:spPr>
          <a:xfrm>
            <a:off x="657225" y="6450330"/>
            <a:ext cx="11365230" cy="337185"/>
          </a:xfrm>
          <a:prstGeom prst="rect">
            <a:avLst/>
          </a:prstGeom>
        </p:spPr>
        <p:txBody>
          <a:bodyPr wrap="square">
            <a:spAutoFit/>
          </a:bodyPr>
          <a:p>
            <a:pPr defTabSz="266700"/>
            <a:r>
              <a:rPr lang="zh-CN" altLang="en-US" sz="1600" b="1">
                <a:solidFill>
                  <a:srgbClr val="C00000"/>
                </a:solidFill>
                <a:latin typeface="微软雅黑"/>
                <a:ea typeface="微软雅黑"/>
              </a:rPr>
              <a:t>同业启示</a:t>
            </a:r>
            <a:r>
              <a:rPr lang="en-US" altLang="zh-CN" sz="1600" b="1">
                <a:solidFill>
                  <a:srgbClr val="C00000"/>
                </a:solidFill>
                <a:latin typeface="微软雅黑"/>
                <a:ea typeface="微软雅黑"/>
              </a:rPr>
              <a:t>：</a:t>
            </a:r>
            <a:r>
              <a:rPr lang="zh-CN" altLang="en-US" sz="1600" b="1">
                <a:solidFill>
                  <a:srgbClr val="C00000"/>
                </a:solidFill>
                <a:latin typeface="微软雅黑"/>
                <a:ea typeface="微软雅黑"/>
              </a:rPr>
              <a:t>在本体的落地实践方面，都是从局部场景建设进行验证，形成复用能力再进行横向扩展，最后进行知识生态拓展。</a:t>
            </a:r>
            <a:endParaRPr lang="zh-CN" altLang="en-US" sz="1600" b="1">
              <a:solidFill>
                <a:srgbClr val="C00000"/>
              </a:solidFill>
              <a:latin typeface="微软雅黑"/>
              <a:ea typeface="微软雅黑"/>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fontAlgn="auto">
              <a:lnSpc>
                <a:spcPct val="90000"/>
              </a:lnSpc>
            </a:pPr>
            <a:r>
              <a:rPr kumimoji="0" lang="zh-CN" altLang="en-US" sz="2400" b="0" kern="1200"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看自身：对标信通院知识工程成熟度评价，我行知识工程处于初始级</a:t>
            </a:r>
            <a:endParaRPr kumimoji="0" sz="2400" b="0" kern="1200" spc="0"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endParaRPr>
          </a:p>
        </p:txBody>
      </p:sp>
      <p:graphicFrame>
        <p:nvGraphicFramePr>
          <p:cNvPr id="4" name="表格 3"/>
          <p:cNvGraphicFramePr>
            <a:graphicFrameLocks noGrp="1"/>
          </p:cNvGraphicFramePr>
          <p:nvPr>
            <p:custDataLst>
              <p:tags r:id="rId1"/>
            </p:custDataLst>
          </p:nvPr>
        </p:nvGraphicFramePr>
        <p:xfrm>
          <a:off x="417195" y="2197100"/>
          <a:ext cx="6108700" cy="4584132"/>
        </p:xfrm>
        <a:graphic>
          <a:graphicData uri="http://schemas.openxmlformats.org/drawingml/2006/table">
            <a:tbl>
              <a:tblPr firstRow="1" firstCol="1" bandRow="1">
                <a:tableStyleId>{5C22544A-7EE6-4342-B048-85BDC9FD1C3A}</a:tableStyleId>
              </a:tblPr>
              <a:tblGrid>
                <a:gridCol w="2028825"/>
                <a:gridCol w="2284095"/>
                <a:gridCol w="1795780"/>
              </a:tblGrid>
              <a:tr h="379730">
                <a:tc>
                  <a:txBody>
                    <a:bodyPr/>
                    <a:lstStyle/>
                    <a:p>
                      <a:pPr marL="0" algn="ctr" defTabSz="914400" rtl="0" eaLnBrk="1" latinLnBrk="0" hangingPunct="1">
                        <a:buNone/>
                      </a:pPr>
                      <a:r>
                        <a:rPr lang="zh-CN" altLang="zh-CN" sz="1200" b="1" kern="1200" dirty="0">
                          <a:solidFill>
                            <a:schemeClr val="bg1"/>
                          </a:solidFill>
                          <a:latin typeface="微软雅黑" panose="020B0503020204020204" charset="-122"/>
                          <a:ea typeface="微软雅黑" panose="020B0503020204020204" charset="-122"/>
                        </a:rPr>
                        <a:t>能力域</a:t>
                      </a:r>
                      <a:endParaRPr lang="zh-CN" altLang="zh-CN" sz="1200" b="1" kern="1200" dirty="0">
                        <a:solidFill>
                          <a:schemeClr val="bg1"/>
                        </a:solidFill>
                        <a:latin typeface="微软雅黑" panose="020B0503020204020204" charset="-122"/>
                        <a:ea typeface="微软雅黑" panose="020B0503020204020204" charset="-122"/>
                        <a:cs typeface="+mn-cs"/>
                      </a:endParaRPr>
                    </a:p>
                  </a:txBody>
                  <a:tcPr marL="0" marR="11327" marT="7079" marB="7079" anchor="ctr">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bg1"/>
                          </a:solidFill>
                          <a:latin typeface="微软雅黑" panose="020B0503020204020204" charset="-122"/>
                          <a:ea typeface="微软雅黑" panose="020B0503020204020204" charset="-122"/>
                        </a:rPr>
                        <a:t>能力项</a:t>
                      </a:r>
                      <a:endParaRPr lang="zh-CN" altLang="zh-CN" sz="1200" b="1" kern="1200" dirty="0">
                        <a:solidFill>
                          <a:schemeClr val="bg1"/>
                        </a:solidFill>
                        <a:latin typeface="微软雅黑" panose="020B0503020204020204" charset="-122"/>
                        <a:ea typeface="微软雅黑" panose="020B0503020204020204" charset="-122"/>
                        <a:cs typeface="+mn-cs"/>
                      </a:endParaRPr>
                    </a:p>
                  </a:txBody>
                  <a:tcPr marL="11327" marR="11327" marT="7079" marB="7079" anchor="ctr">
                    <a:solidFill>
                      <a:schemeClr val="accent1">
                        <a:lumMod val="75000"/>
                      </a:schemeClr>
                    </a:solidFill>
                  </a:tcPr>
                </a:tc>
                <a:tc>
                  <a:txBody>
                    <a:bodyPr/>
                    <a:lstStyle/>
                    <a:p>
                      <a:pPr marL="0" algn="ctr" defTabSz="914400" rtl="0" eaLnBrk="1" latinLnBrk="0" hangingPunct="1">
                        <a:buNone/>
                      </a:pPr>
                      <a:r>
                        <a:rPr lang="en-US" altLang="zh-CN" sz="1200" b="1" kern="1200" dirty="0">
                          <a:solidFill>
                            <a:schemeClr val="bg1"/>
                          </a:solidFill>
                          <a:latin typeface="微软雅黑" panose="020B0503020204020204" charset="-122"/>
                          <a:ea typeface="微软雅黑" panose="020B0503020204020204" charset="-122"/>
                          <a:cs typeface="微软雅黑" panose="020B0503020204020204" charset="-122"/>
                        </a:rPr>
                        <a:t>2026</a:t>
                      </a:r>
                      <a:r>
                        <a:rPr lang="zh-CN" altLang="en-US" sz="1200" b="1" kern="1200" dirty="0">
                          <a:solidFill>
                            <a:schemeClr val="bg1"/>
                          </a:solidFill>
                          <a:latin typeface="微软雅黑" panose="020B0503020204020204" charset="-122"/>
                          <a:ea typeface="微软雅黑" panose="020B0503020204020204" charset="-122"/>
                          <a:cs typeface="微软雅黑" panose="020B0503020204020204" charset="-122"/>
                        </a:rPr>
                        <a:t>年初</a:t>
                      </a:r>
                      <a:endParaRPr lang="zh-CN" altLang="en-US" sz="1200" b="1" kern="1200" dirty="0">
                        <a:solidFill>
                          <a:schemeClr val="bg1"/>
                        </a:solidFill>
                        <a:latin typeface="微软雅黑" panose="020B0503020204020204" charset="-122"/>
                        <a:ea typeface="微软雅黑" panose="020B0503020204020204" charset="-122"/>
                        <a:cs typeface="微软雅黑" panose="020B0503020204020204" charset="-122"/>
                      </a:endParaRPr>
                    </a:p>
                    <a:p>
                      <a:pPr marL="0" algn="ctr" defTabSz="914400" rtl="0" eaLnBrk="1" latinLnBrk="0" hangingPunct="1">
                        <a:buNone/>
                      </a:pPr>
                      <a:r>
                        <a:rPr lang="zh-CN" altLang="en-US" sz="1200" b="1" kern="1200" dirty="0">
                          <a:solidFill>
                            <a:schemeClr val="bg1"/>
                          </a:solidFill>
                          <a:latin typeface="微软雅黑" panose="020B0503020204020204" charset="-122"/>
                          <a:ea typeface="微软雅黑" panose="020B0503020204020204" charset="-122"/>
                          <a:cs typeface="微软雅黑" panose="020B0503020204020204" charset="-122"/>
                        </a:rPr>
                        <a:t>我行得分 </a:t>
                      </a:r>
                      <a:endParaRPr lang="zh-CN" altLang="en-US" sz="1200" b="1" kern="1200" dirty="0">
                        <a:solidFill>
                          <a:schemeClr val="bg1"/>
                        </a:solidFill>
                        <a:latin typeface="微软雅黑" panose="020B0503020204020204" charset="-122"/>
                        <a:ea typeface="微软雅黑" panose="020B0503020204020204" charset="-122"/>
                        <a:cs typeface="微软雅黑" panose="020B0503020204020204" charset="-122"/>
                      </a:endParaRPr>
                    </a:p>
                  </a:txBody>
                  <a:tcPr marL="11327" marR="11327" marT="7079" marB="7079" anchor="ctr">
                    <a:solidFill>
                      <a:schemeClr val="accent1">
                        <a:lumMod val="75000"/>
                      </a:schemeClr>
                    </a:solidFill>
                  </a:tcPr>
                </a:tc>
              </a:tr>
              <a:tr h="166370">
                <a:tc rowSpan="2">
                  <a:txBody>
                    <a:bodyPr/>
                    <a:lstStyle/>
                    <a:p>
                      <a:pPr marL="0" algn="ctr" defTabSz="914400" rtl="0" eaLnBrk="1" latinLnBrk="0" hangingPunct="1">
                        <a:buNone/>
                      </a:pPr>
                      <a:r>
                        <a:rPr lang="zh-CN" altLang="zh-CN" sz="1200" b="0" kern="1200" dirty="0">
                          <a:solidFill>
                            <a:schemeClr val="tx1"/>
                          </a:solidFill>
                          <a:latin typeface="微软雅黑" panose="020B0503020204020204" charset="-122"/>
                          <a:ea typeface="微软雅黑" panose="020B0503020204020204" charset="-122"/>
                        </a:rPr>
                        <a:t>知识采集</a:t>
                      </a:r>
                      <a:endParaRPr lang="zh-CN" altLang="zh-CN" sz="1200" b="0" kern="1200" dirty="0">
                        <a:solidFill>
                          <a:schemeClr val="tx1"/>
                        </a:solidFill>
                        <a:latin typeface="微软雅黑" panose="020B0503020204020204" charset="-122"/>
                        <a:ea typeface="微软雅黑" panose="020B0503020204020204" charset="-122"/>
                      </a:endParaRPr>
                    </a:p>
                  </a:txBody>
                  <a:tcPr marL="0" marR="11327" marT="7079" marB="7079" anchor="ctr">
                    <a:solidFill>
                      <a:schemeClr val="accent1">
                        <a:lumMod val="60000"/>
                        <a:lumOff val="40000"/>
                      </a:schemeClr>
                    </a:solidFill>
                  </a:tcPr>
                </a:tc>
                <a:tc>
                  <a:txBody>
                    <a:bodyPr/>
                    <a:lstStyle/>
                    <a:p>
                      <a:pPr marL="0" algn="l" defTabSz="914400" rtl="0" eaLnBrk="1" latinLnBrk="0" hangingPunct="1">
                        <a:buClrTx/>
                        <a:buSzTx/>
                        <a:buFontTx/>
                        <a:buNone/>
                      </a:pPr>
                      <a:r>
                        <a:rPr lang="en-US" sz="1000" b="0" kern="1200" dirty="0">
                          <a:latin typeface="微软雅黑" panose="020B0503020204020204" charset="-122"/>
                          <a:ea typeface="微软雅黑" panose="020B0503020204020204" charset="-122"/>
                          <a:cs typeface="+mn-cs"/>
                        </a:rPr>
                        <a:t>外部知识接入</a:t>
                      </a:r>
                      <a:endParaRPr lang="en-US" sz="1000" b="0" kern="1200" dirty="0">
                        <a:latin typeface="微软雅黑" panose="020B0503020204020204" charset="-122"/>
                        <a:ea typeface="微软雅黑" panose="020B0503020204020204" charset="-122"/>
                        <a:cs typeface="+mn-cs"/>
                      </a:endParaRPr>
                    </a:p>
                  </a:txBody>
                  <a:tcPr marL="0" marR="11327" marT="7079" marB="7079" anchor="ctr"/>
                </a:tc>
                <a:tc rowSpan="2">
                  <a:txBody>
                    <a:bodyPr/>
                    <a:lstStyle/>
                    <a:p>
                      <a:pPr algn="ctr">
                        <a:buNone/>
                      </a:pPr>
                      <a:r>
                        <a:rPr lang="en-US" altLang="zh-CN" sz="1200" b="0" kern="100" dirty="0">
                          <a:effectLst/>
                          <a:latin typeface="微软雅黑" panose="020B0503020204020204" charset="-122"/>
                          <a:ea typeface="微软雅黑" panose="020B0503020204020204" charset="-122"/>
                          <a:cs typeface="Times New Roman" panose="02020503050405090304" pitchFamily="18" charset="0"/>
                        </a:rPr>
                        <a:t>2.0</a:t>
                      </a:r>
                      <a:endParaRPr lang="en-US" altLang="zh-CN" sz="1200" b="0" kern="100" dirty="0">
                        <a:effectLst/>
                        <a:latin typeface="微软雅黑" panose="020B0503020204020204" charset="-122"/>
                        <a:ea typeface="微软雅黑" panose="020B0503020204020204" charset="-122"/>
                        <a:cs typeface="Times New Roman" panose="02020503050405090304" pitchFamily="18" charset="0"/>
                      </a:endParaRPr>
                    </a:p>
                  </a:txBody>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内部知识汇聚</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rowSpan="2">
                  <a:txBody>
                    <a:bodyPr/>
                    <a:lstStyle/>
                    <a:p>
                      <a:pPr marL="0" algn="ctr" defTabSz="914400" rtl="0" eaLnBrk="1" latinLnBrk="0" hangingPunct="1">
                        <a:buNone/>
                      </a:pPr>
                      <a:r>
                        <a:rPr lang="zh-CN" altLang="zh-CN" sz="1200" b="0" kern="1200" dirty="0">
                          <a:solidFill>
                            <a:schemeClr val="tx1"/>
                          </a:solidFill>
                          <a:latin typeface="微软雅黑" panose="020B0503020204020204" charset="-122"/>
                          <a:ea typeface="微软雅黑" panose="020B0503020204020204" charset="-122"/>
                        </a:rPr>
                        <a:t>知识抽取</a:t>
                      </a:r>
                      <a:endParaRPr lang="zh-CN" altLang="zh-CN" sz="1200" b="0" kern="1200" dirty="0">
                        <a:solidFill>
                          <a:schemeClr val="tx1"/>
                        </a:solidFill>
                        <a:latin typeface="微软雅黑" panose="020B0503020204020204" charset="-122"/>
                        <a:ea typeface="微软雅黑" panose="020B0503020204020204" charset="-122"/>
                        <a:cs typeface="+mn-cs"/>
                      </a:endParaRPr>
                    </a:p>
                  </a:txBody>
                  <a:tcPr marL="0" marR="11327" marT="7079" marB="7079" anchor="ctr">
                    <a:solidFill>
                      <a:schemeClr val="accent1">
                        <a:lumMod val="60000"/>
                        <a:lumOff val="40000"/>
                      </a:schemeClr>
                    </a:solidFill>
                  </a:tcPr>
                </a:tc>
                <a:tc>
                  <a:txBody>
                    <a:bodyPr/>
                    <a:lstStyle/>
                    <a:p>
                      <a:pPr marL="0" algn="l" defTabSz="914400" rtl="0" eaLnBrk="1" latinLnBrk="0" hangingPunct="1">
                        <a:buClrTx/>
                        <a:buSzTx/>
                        <a:buFontTx/>
                        <a:buNone/>
                      </a:pPr>
                      <a:r>
                        <a:rPr lang="zh-CN" altLang="en-US" sz="1000" b="0" kern="1200" dirty="0">
                          <a:solidFill>
                            <a:schemeClr val="dk1"/>
                          </a:solidFill>
                          <a:latin typeface="微软雅黑" panose="020B0503020204020204" charset="-122"/>
                          <a:ea typeface="微软雅黑" panose="020B0503020204020204" charset="-122"/>
                          <a:cs typeface="+mn-cs"/>
                        </a:rPr>
                        <a:t>实体与关系抽取</a:t>
                      </a:r>
                      <a:endParaRPr lang="zh-CN" alt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rowSpan="2">
                  <a:txBody>
                    <a:bodyPr/>
                    <a:lstStyle/>
                    <a:p>
                      <a:pPr algn="ctr">
                        <a:buNone/>
                      </a:pPr>
                      <a:r>
                        <a:rPr lang="en-US" sz="1200" b="0" kern="100" dirty="0">
                          <a:effectLst/>
                          <a:latin typeface="微软雅黑" panose="020B0503020204020204" charset="-122"/>
                          <a:ea typeface="微软雅黑" panose="020B0503020204020204" charset="-122"/>
                        </a:rPr>
                        <a:t>2.0</a:t>
                      </a:r>
                      <a:endParaRPr lang="en-US" altLang="en-US" sz="1200" b="0" kern="100" dirty="0">
                        <a:effectLst/>
                        <a:latin typeface="微软雅黑" panose="020B0503020204020204" charset="-122"/>
                        <a:ea typeface="微软雅黑" panose="020B0503020204020204" charset="-122"/>
                        <a:cs typeface="Times New Roman" panose="02020503050405090304" pitchFamily="18" charset="0"/>
                      </a:endParaRPr>
                    </a:p>
                  </a:txBody>
                  <a:tcPr marL="11327" marR="0" marT="7079" marB="7079" anchor="ctr">
                    <a:solidFill>
                      <a:srgbClr val="E9EBF5"/>
                    </a:solidFill>
                  </a:tcPr>
                </a:tc>
              </a:tr>
              <a:tr h="166370">
                <a:tc vMerge="1">
                  <a:tcPr marL="0" marR="11327" marT="7079" marB="7079" anchor="ctr"/>
                </a:tc>
                <a:tc>
                  <a:txBody>
                    <a:bodyPr/>
                    <a:lstStyle/>
                    <a:p>
                      <a:pPr marL="0" algn="l" defTabSz="914400" rtl="0" eaLnBrk="1" latinLnBrk="0" hangingPunct="1">
                        <a:buClrTx/>
                        <a:buSzTx/>
                        <a:buFontTx/>
                        <a:buNone/>
                      </a:pPr>
                      <a:r>
                        <a:rPr lang="zh-CN" altLang="en-US" sz="1000" b="0" kern="1200" dirty="0">
                          <a:solidFill>
                            <a:schemeClr val="dk1"/>
                          </a:solidFill>
                          <a:latin typeface="微软雅黑" panose="020B0503020204020204" charset="-122"/>
                          <a:ea typeface="微软雅黑" panose="020B0503020204020204" charset="-122"/>
                          <a:cs typeface="+mn-cs"/>
                        </a:rPr>
                        <a:t>属性与事件抽取</a:t>
                      </a:r>
                      <a:endParaRPr lang="zh-CN" alt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rowSpan="4">
                  <a:txBody>
                    <a:bodyPr/>
                    <a:lstStyle/>
                    <a:p>
                      <a:pPr marL="0" algn="ctr" defTabSz="914400" rtl="0" eaLnBrk="1" latinLnBrk="0" hangingPunct="1">
                        <a:buNone/>
                      </a:pPr>
                      <a:r>
                        <a:rPr lang="zh-CN" altLang="zh-CN" sz="1200" b="0" kern="1200" dirty="0">
                          <a:solidFill>
                            <a:schemeClr val="tx1"/>
                          </a:solidFill>
                          <a:latin typeface="微软雅黑" panose="020B0503020204020204" charset="-122"/>
                          <a:ea typeface="微软雅黑" panose="020B0503020204020204" charset="-122"/>
                        </a:rPr>
                        <a:t>知识加工处理</a:t>
                      </a:r>
                      <a:endParaRPr lang="zh-CN" altLang="zh-CN" sz="1200" b="0" kern="1200" dirty="0">
                        <a:solidFill>
                          <a:schemeClr val="tx1"/>
                        </a:solidFill>
                        <a:latin typeface="微软雅黑" panose="020B0503020204020204" charset="-122"/>
                        <a:ea typeface="微软雅黑" panose="020B0503020204020204" charset="-122"/>
                        <a:cs typeface="+mn-cs"/>
                      </a:endParaRPr>
                    </a:p>
                  </a:txBody>
                  <a:tcPr marL="0" marR="11327" marT="7079" marB="7079" anchor="ctr">
                    <a:solidFill>
                      <a:schemeClr val="accent1">
                        <a:lumMod val="60000"/>
                        <a:lumOff val="40000"/>
                      </a:schemeClr>
                    </a:solidFill>
                  </a:tcP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知识补全</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rowSpan="4">
                  <a:txBody>
                    <a:bodyPr/>
                    <a:lstStyle/>
                    <a:p>
                      <a:pPr algn="ctr">
                        <a:buNone/>
                      </a:pPr>
                      <a:r>
                        <a:rPr lang="en-US" sz="1200" b="0" kern="100" dirty="0">
                          <a:effectLst/>
                          <a:latin typeface="微软雅黑" panose="020B0503020204020204" charset="-122"/>
                          <a:ea typeface="微软雅黑" panose="020B0503020204020204" charset="-122"/>
                        </a:rPr>
                        <a:t>1.9</a:t>
                      </a:r>
                      <a:endParaRPr lang="en-US" altLang="en-US" sz="1200" b="0" kern="100" dirty="0">
                        <a:effectLst/>
                        <a:latin typeface="微软雅黑" panose="020B0503020204020204" charset="-122"/>
                        <a:ea typeface="微软雅黑" panose="020B0503020204020204" charset="-122"/>
                        <a:cs typeface="Times New Roman" panose="02020503050405090304" pitchFamily="18" charset="0"/>
                      </a:endParaRPr>
                    </a:p>
                  </a:txBody>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知识融合</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知识切分</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知识关联</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rowSpan="2">
                  <a:txBody>
                    <a:bodyPr/>
                    <a:lstStyle/>
                    <a:p>
                      <a:pPr marL="0" algn="ctr" defTabSz="914400" rtl="0" eaLnBrk="1" latinLnBrk="0" hangingPunct="1">
                        <a:buNone/>
                      </a:pPr>
                      <a:r>
                        <a:rPr lang="zh-CN" altLang="zh-CN" sz="1200" b="0" kern="1200" dirty="0">
                          <a:solidFill>
                            <a:schemeClr val="tx1"/>
                          </a:solidFill>
                          <a:latin typeface="微软雅黑" panose="020B0503020204020204" charset="-122"/>
                          <a:ea typeface="微软雅黑" panose="020B0503020204020204" charset="-122"/>
                        </a:rPr>
                        <a:t>知识存储</a:t>
                      </a:r>
                      <a:endParaRPr lang="zh-CN" altLang="zh-CN" sz="1200" b="0" kern="1200" dirty="0">
                        <a:solidFill>
                          <a:schemeClr val="tx1"/>
                        </a:solidFill>
                        <a:latin typeface="微软雅黑" panose="020B0503020204020204" charset="-122"/>
                        <a:ea typeface="微软雅黑" panose="020B0503020204020204" charset="-122"/>
                        <a:cs typeface="+mn-cs"/>
                      </a:endParaRPr>
                    </a:p>
                  </a:txBody>
                  <a:tcPr marL="0" marR="11327" marT="7079" marB="7079" anchor="ctr">
                    <a:solidFill>
                      <a:schemeClr val="accent1">
                        <a:lumMod val="60000"/>
                        <a:lumOff val="40000"/>
                      </a:schemeClr>
                    </a:solidFill>
                  </a:tcP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知识建模</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rowSpan="2">
                  <a:txBody>
                    <a:bodyPr/>
                    <a:lstStyle/>
                    <a:p>
                      <a:pPr marL="0" algn="ctr" defTabSz="914400" rtl="0" eaLnBrk="1" latinLnBrk="0" hangingPunct="1">
                        <a:buNone/>
                      </a:pPr>
                      <a:r>
                        <a:rPr lang="en-US" sz="1200" b="0" kern="100" dirty="0">
                          <a:solidFill>
                            <a:schemeClr val="dk1"/>
                          </a:solidFill>
                          <a:effectLst/>
                          <a:latin typeface="微软雅黑" panose="020B0503020204020204" charset="-122"/>
                          <a:ea typeface="微软雅黑" panose="020B0503020204020204" charset="-122"/>
                          <a:cs typeface="+mn-cs"/>
                        </a:rPr>
                        <a:t>2.0</a:t>
                      </a:r>
                      <a:endParaRPr lang="en-US" altLang="en-US" sz="1200" b="0" kern="100" dirty="0">
                        <a:solidFill>
                          <a:schemeClr val="dk1"/>
                        </a:solidFill>
                        <a:effectLst/>
                        <a:latin typeface="微软雅黑" panose="020B0503020204020204" charset="-122"/>
                        <a:ea typeface="微软雅黑" panose="020B0503020204020204" charset="-122"/>
                        <a:cs typeface="+mn-cs"/>
                      </a:endParaRPr>
                    </a:p>
                  </a:txBody>
                  <a:tcPr marL="11327" marR="0" marT="7079" marB="7079" anchor="ctr">
                    <a:solidFill>
                      <a:srgbClr val="E9EBF5"/>
                    </a:solidFill>
                  </a:tcP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知识存储</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rowSpan="3">
                  <a:txBody>
                    <a:bodyPr/>
                    <a:lstStyle/>
                    <a:p>
                      <a:pPr marL="0" algn="ctr" defTabSz="914400" rtl="0" eaLnBrk="1" latinLnBrk="0" hangingPunct="1">
                        <a:buNone/>
                      </a:pPr>
                      <a:r>
                        <a:rPr lang="zh-CN" altLang="zh-CN" sz="1200" b="0" kern="1200" dirty="0">
                          <a:solidFill>
                            <a:schemeClr val="tx1"/>
                          </a:solidFill>
                          <a:latin typeface="微软雅黑" panose="020B0503020204020204" charset="-122"/>
                          <a:ea typeface="微软雅黑" panose="020B0503020204020204" charset="-122"/>
                        </a:rPr>
                        <a:t>知识计算</a:t>
                      </a:r>
                      <a:endParaRPr lang="zh-CN" altLang="zh-CN" sz="1200" b="0" kern="1200" dirty="0">
                        <a:solidFill>
                          <a:schemeClr val="tx1"/>
                        </a:solidFill>
                        <a:latin typeface="微软雅黑" panose="020B0503020204020204" charset="-122"/>
                        <a:ea typeface="微软雅黑" panose="020B0503020204020204" charset="-122"/>
                        <a:cs typeface="+mn-cs"/>
                      </a:endParaRPr>
                    </a:p>
                  </a:txBody>
                  <a:tcPr marL="0" marR="11327" marT="7079" marB="7079" anchor="ctr">
                    <a:solidFill>
                      <a:schemeClr val="accent1">
                        <a:lumMod val="60000"/>
                        <a:lumOff val="40000"/>
                      </a:schemeClr>
                    </a:solidFill>
                  </a:tcP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知识检索</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rowSpan="3">
                  <a:txBody>
                    <a:bodyPr/>
                    <a:lstStyle/>
                    <a:p>
                      <a:pPr algn="ctr">
                        <a:buNone/>
                      </a:pPr>
                      <a:r>
                        <a:rPr lang="en-US" altLang="zh-CN" sz="1200" b="0" kern="100" dirty="0">
                          <a:effectLst/>
                          <a:latin typeface="微软雅黑" panose="020B0503020204020204" charset="-122"/>
                          <a:ea typeface="微软雅黑" panose="020B0503020204020204" charset="-122"/>
                          <a:cs typeface="Times New Roman" panose="02020503050405090304" pitchFamily="18" charset="0"/>
                        </a:rPr>
                        <a:t>2.7</a:t>
                      </a:r>
                      <a:endParaRPr lang="en-US" altLang="zh-CN" sz="1200" b="0" kern="100" dirty="0">
                        <a:effectLst/>
                        <a:latin typeface="微软雅黑" panose="020B0503020204020204" charset="-122"/>
                        <a:ea typeface="微软雅黑" panose="020B0503020204020204" charset="-122"/>
                        <a:cs typeface="Times New Roman" panose="02020503050405090304" pitchFamily="18" charset="0"/>
                      </a:endParaRPr>
                    </a:p>
                  </a:txBody>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知识计算</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分析推理</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rowSpan="5">
                  <a:txBody>
                    <a:bodyPr/>
                    <a:lstStyle/>
                    <a:p>
                      <a:pPr marL="0" algn="ctr" defTabSz="914400" rtl="0" eaLnBrk="1" latinLnBrk="0" hangingPunct="1">
                        <a:buNone/>
                      </a:pPr>
                      <a:r>
                        <a:rPr lang="zh-CN" altLang="zh-CN" sz="1200" b="0" kern="1200" dirty="0">
                          <a:solidFill>
                            <a:schemeClr val="tx1"/>
                          </a:solidFill>
                          <a:latin typeface="微软雅黑" panose="020B0503020204020204" charset="-122"/>
                          <a:ea typeface="微软雅黑" panose="020B0503020204020204" charset="-122"/>
                          <a:cs typeface="+mn-cs"/>
                        </a:rPr>
                        <a:t>知识管理</a:t>
                      </a:r>
                      <a:endParaRPr lang="zh-CN" altLang="zh-CN" sz="1200" b="0" kern="1200" dirty="0">
                        <a:solidFill>
                          <a:schemeClr val="tx1"/>
                        </a:solidFill>
                        <a:latin typeface="微软雅黑" panose="020B0503020204020204" charset="-122"/>
                        <a:ea typeface="微软雅黑" panose="020B0503020204020204" charset="-122"/>
                        <a:cs typeface="+mn-cs"/>
                      </a:endParaRPr>
                    </a:p>
                  </a:txBody>
                  <a:tcPr marL="0" marR="11327" marT="7079" marB="7079" anchor="ctr">
                    <a:solidFill>
                      <a:schemeClr val="accent1">
                        <a:lumMod val="60000"/>
                        <a:lumOff val="40000"/>
                      </a:schemeClr>
                    </a:solidFill>
                  </a:tcP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知识权限管理</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rowSpan="5">
                  <a:txBody>
                    <a:bodyPr/>
                    <a:lstStyle/>
                    <a:p>
                      <a:pPr marL="0" algn="ctr" defTabSz="914400" rtl="0" eaLnBrk="1" latinLnBrk="0" hangingPunct="1">
                        <a:buNone/>
                      </a:pPr>
                      <a:r>
                        <a:rPr lang="en-US" altLang="zh-CN" sz="1200" b="0" kern="100" dirty="0">
                          <a:solidFill>
                            <a:schemeClr val="dk1"/>
                          </a:solidFill>
                          <a:effectLst/>
                          <a:latin typeface="微软雅黑" panose="020B0503020204020204" charset="-122"/>
                          <a:ea typeface="微软雅黑" panose="020B0503020204020204" charset="-122"/>
                          <a:cs typeface="+mn-cs"/>
                        </a:rPr>
                        <a:t>1.5</a:t>
                      </a:r>
                      <a:endParaRPr lang="en-US" altLang="zh-CN" sz="1200" b="0" kern="100" dirty="0">
                        <a:solidFill>
                          <a:schemeClr val="dk1"/>
                        </a:solidFill>
                        <a:effectLst/>
                        <a:latin typeface="微软雅黑" panose="020B0503020204020204" charset="-122"/>
                        <a:ea typeface="微软雅黑" panose="020B0503020204020204" charset="-122"/>
                        <a:cs typeface="+mn-cs"/>
                      </a:endParaRPr>
                    </a:p>
                  </a:txBody>
                  <a:tcPr marL="11327" marR="0" marT="7079" marB="7079" anchor="ctr">
                    <a:solidFill>
                      <a:srgbClr val="E9EBF5"/>
                    </a:solidFill>
                  </a:tcP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知识分类管理</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vMerge="1">
                  <a:tcP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知识安全管理</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a:tc>
              </a:tr>
              <a:tr h="166370">
                <a:tc vMerge="1">
                  <a:tcPr marL="0" marR="11327" marT="7079" marB="7079" anchor="ctr"/>
                </a:tc>
                <a:tc>
                  <a:txBody>
                    <a:bodyPr/>
                    <a:lstStyle/>
                    <a:p>
                      <a:pPr marL="0" algn="l" defTabSz="914400" rtl="0" eaLnBrk="1" latinLnBrk="0" hangingPunct="1">
                        <a:buClrTx/>
                        <a:buSzTx/>
                        <a:buFontTx/>
                        <a:buNone/>
                      </a:pPr>
                      <a:r>
                        <a:rPr lang="en-US" sz="1000" b="0" dirty="0">
                          <a:latin typeface="微软雅黑" panose="020B0503020204020204" charset="-122"/>
                          <a:ea typeface="微软雅黑" panose="020B0503020204020204" charset="-122"/>
                          <a:sym typeface="+mn-ea"/>
                        </a:rPr>
                        <a:t>知识质量管理</a:t>
                      </a:r>
                      <a:endParaRPr lang="en-US" sz="1000" b="0" kern="1200" dirty="0">
                        <a:solidFill>
                          <a:schemeClr val="dk1"/>
                        </a:solidFill>
                        <a:latin typeface="微软雅黑" panose="020B0503020204020204" charset="-122"/>
                        <a:ea typeface="微软雅黑" panose="020B0503020204020204" charset="-122"/>
                        <a:cs typeface="+mn-cs"/>
                        <a:sym typeface="+mn-ea"/>
                      </a:endParaRPr>
                    </a:p>
                  </a:txBody>
                  <a:tcPr marL="0" marR="11327" marT="7079" marB="7079" anchor="ctr"/>
                </a:tc>
                <a:tc vMerge="1">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知识版本管理</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rowSpan="5">
                  <a:txBody>
                    <a:bodyPr/>
                    <a:lstStyle/>
                    <a:p>
                      <a:pPr marL="0" algn="ctr" defTabSz="914400" rtl="0" eaLnBrk="1" latinLnBrk="0" hangingPunct="1">
                        <a:buNone/>
                      </a:pPr>
                      <a:r>
                        <a:rPr lang="zh-CN" altLang="zh-CN" sz="1200" b="0" kern="1200" dirty="0">
                          <a:solidFill>
                            <a:schemeClr val="tx1"/>
                          </a:solidFill>
                          <a:latin typeface="微软雅黑" panose="020B0503020204020204" charset="-122"/>
                          <a:ea typeface="微软雅黑" panose="020B0503020204020204" charset="-122"/>
                          <a:cs typeface="+mn-cs"/>
                        </a:rPr>
                        <a:t>知识服务与应用</a:t>
                      </a:r>
                      <a:endParaRPr lang="zh-CN" altLang="zh-CN" sz="1200" b="0" kern="1200" dirty="0">
                        <a:solidFill>
                          <a:schemeClr val="tx1"/>
                        </a:solidFill>
                        <a:latin typeface="微软雅黑" panose="020B0503020204020204" charset="-122"/>
                        <a:ea typeface="微软雅黑" panose="020B0503020204020204" charset="-122"/>
                        <a:cs typeface="+mn-cs"/>
                      </a:endParaRPr>
                    </a:p>
                  </a:txBody>
                  <a:tcPr marL="0" marR="11327" marT="7079" marB="7079" anchor="ctr">
                    <a:solidFill>
                      <a:schemeClr val="accent1">
                        <a:lumMod val="60000"/>
                        <a:lumOff val="40000"/>
                      </a:schemeClr>
                    </a:solidFill>
                  </a:tcP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知识搜索及查阅</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rowSpan="5">
                  <a:txBody>
                    <a:bodyPr/>
                    <a:lstStyle/>
                    <a:p>
                      <a:pPr algn="ctr">
                        <a:buNone/>
                      </a:pPr>
                      <a:r>
                        <a:rPr lang="en-US" sz="1200" b="0" kern="100" dirty="0">
                          <a:effectLst/>
                          <a:latin typeface="微软雅黑" panose="020B0503020204020204" charset="-122"/>
                          <a:ea typeface="微软雅黑" panose="020B0503020204020204" charset="-122"/>
                        </a:rPr>
                        <a:t>1.8</a:t>
                      </a:r>
                      <a:endParaRPr lang="en-US" altLang="en-US" sz="1200" b="0" kern="100" dirty="0">
                        <a:solidFill>
                          <a:schemeClr val="dk1"/>
                        </a:solidFill>
                        <a:effectLst/>
                        <a:latin typeface="微软雅黑" panose="020B0503020204020204" charset="-122"/>
                        <a:ea typeface="微软雅黑" panose="020B0503020204020204" charset="-122"/>
                        <a:cs typeface="+mn-cs"/>
                      </a:endParaRPr>
                    </a:p>
                  </a:txBody>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知识共享及协作</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知识推荐</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知识问答及内容生成</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166370">
                <a:tc vMerge="1">
                  <a:tcPr marL="0" marR="11327" marT="7079" marB="7079" anchor="ctr"/>
                </a:tc>
                <a:tc>
                  <a:txBody>
                    <a:bodyPr/>
                    <a:lstStyle/>
                    <a:p>
                      <a:pPr marL="0" algn="l" defTabSz="914400" rtl="0" eaLnBrk="1" latinLnBrk="0" hangingPunct="1">
                        <a:buClrTx/>
                        <a:buSzTx/>
                        <a:buFontTx/>
                        <a:buNone/>
                      </a:pPr>
                      <a:r>
                        <a:rPr lang="en-US" sz="1000" b="0" kern="1200" dirty="0">
                          <a:solidFill>
                            <a:schemeClr val="dk1"/>
                          </a:solidFill>
                          <a:latin typeface="微软雅黑" panose="020B0503020204020204" charset="-122"/>
                          <a:ea typeface="微软雅黑" panose="020B0503020204020204" charset="-122"/>
                          <a:cs typeface="+mn-cs"/>
                        </a:rPr>
                        <a:t>智能体服务</a:t>
                      </a:r>
                      <a:endParaRPr lang="en-US" sz="1000" b="0" kern="1200" dirty="0">
                        <a:solidFill>
                          <a:schemeClr val="dk1"/>
                        </a:solidFill>
                        <a:latin typeface="微软雅黑" panose="020B0503020204020204" charset="-122"/>
                        <a:ea typeface="微软雅黑" panose="020B0503020204020204" charset="-122"/>
                        <a:cs typeface="+mn-cs"/>
                      </a:endParaRPr>
                    </a:p>
                  </a:txBody>
                  <a:tcPr marL="0" marR="11327" marT="7079" marB="7079" anchor="ctr"/>
                </a:tc>
                <a:tc vMerge="1">
                  <a:tcPr marL="11327" marR="0" marT="7079" marB="7079" anchor="ctr"/>
                </a:tc>
              </a:tr>
              <a:tr h="373380">
                <a:tc gridSpan="2">
                  <a:txBody>
                    <a:bodyPr/>
                    <a:lstStyle/>
                    <a:p>
                      <a:pPr marL="0" algn="ctr" defTabSz="914400" rtl="0" eaLnBrk="1" latinLnBrk="0" hangingPunct="1">
                        <a:buNone/>
                      </a:pPr>
                      <a:r>
                        <a:rPr lang="zh-CN" altLang="en-US" sz="1200" b="0" kern="1200" dirty="0">
                          <a:solidFill>
                            <a:schemeClr val="tx1"/>
                          </a:solidFill>
                          <a:latin typeface="微软雅黑" panose="020B0503020204020204" charset="-122"/>
                          <a:ea typeface="微软雅黑" panose="020B0503020204020204" charset="-122"/>
                          <a:cs typeface="+mn-cs"/>
                        </a:rPr>
                        <a:t>综合平均得分</a:t>
                      </a:r>
                      <a:endParaRPr lang="zh-CN" altLang="en-US" sz="1200" b="0" kern="1200" dirty="0">
                        <a:solidFill>
                          <a:schemeClr val="tx1"/>
                        </a:solidFill>
                        <a:latin typeface="微软雅黑" panose="020B0503020204020204" charset="-122"/>
                        <a:ea typeface="微软雅黑" panose="020B0503020204020204" charset="-122"/>
                        <a:cs typeface="+mn-cs"/>
                      </a:endParaRPr>
                    </a:p>
                  </a:txBody>
                  <a:tcPr marL="0" marR="152400" marT="95250" marB="95250" anchor="ctr">
                    <a:solidFill>
                      <a:schemeClr val="accent1">
                        <a:lumMod val="60000"/>
                        <a:lumOff val="40000"/>
                      </a:schemeClr>
                    </a:solidFill>
                  </a:tcPr>
                </a:tc>
                <a:tc hMerge="1">
                  <a:tcPr marL="152400" marR="152400" marT="95250" marB="9525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kern="100" dirty="0">
                          <a:solidFill>
                            <a:schemeClr val="dk1"/>
                          </a:solidFill>
                          <a:effectLst/>
                          <a:latin typeface="微软雅黑" panose="020B0503020204020204" charset="-122"/>
                          <a:ea typeface="微软雅黑" panose="020B0503020204020204" charset="-122"/>
                          <a:cs typeface="+mn-cs"/>
                        </a:rPr>
                        <a:t>1.9</a:t>
                      </a:r>
                      <a:endParaRPr lang="en-US" altLang="zh-CN" sz="1200" b="0" kern="100" dirty="0">
                        <a:solidFill>
                          <a:schemeClr val="dk1"/>
                        </a:solidFill>
                        <a:effectLst/>
                        <a:latin typeface="微软雅黑" panose="020B0503020204020204" charset="-122"/>
                        <a:ea typeface="微软雅黑" panose="020B0503020204020204" charset="-122"/>
                        <a:cs typeface="+mn-cs"/>
                      </a:endParaRPr>
                    </a:p>
                  </a:txBody>
                  <a:tcPr marL="152400" marR="152400" marT="95250" marB="95250" anchor="ctr"/>
                </a:tc>
              </a:tr>
            </a:tbl>
          </a:graphicData>
        </a:graphic>
      </p:graphicFrame>
      <p:sp>
        <p:nvSpPr>
          <p:cNvPr id="11" name="流程图: 手动输入 10"/>
          <p:cNvSpPr/>
          <p:nvPr/>
        </p:nvSpPr>
        <p:spPr>
          <a:xfrm rot="16200000" flipV="1">
            <a:off x="7895771" y="1467938"/>
            <a:ext cx="406400" cy="1905000"/>
          </a:xfrm>
          <a:prstGeom prst="flowChartManualInput">
            <a:avLst/>
          </a:prstGeom>
          <a:gradFill rotWithShape="0">
            <a:gsLst>
              <a:gs pos="0">
                <a:srgbClr val="1274A5">
                  <a:alpha val="100000"/>
                </a:srgbClr>
              </a:gs>
              <a:gs pos="100000">
                <a:srgbClr val="57A9FB">
                  <a:alpha val="100000"/>
                </a:srgbClr>
              </a:gs>
            </a:gsLst>
            <a:lin ang="2700000" scaled="1"/>
          </a:gradFill>
          <a:ln w="0"/>
        </p:spPr>
        <p:txBody>
          <a:bodyPr anchor="ctr"/>
          <a:lstStyle>
            <a:lvl1pPr marL="0" lvl="0" algn="l" defTabSz="914400">
              <a:lnSpc>
                <a:spcPct val="130000"/>
              </a:lnSpc>
              <a:defRPr sz="1800" kern="1200">
                <a:solidFill>
                  <a:schemeClr val="tx1"/>
                </a:solidFill>
                <a:latin typeface="Arial" panose="020B0604020202090204"/>
                <a:ea typeface="微软雅黑" panose="020B0503020204020204" charset="-122"/>
              </a:defRPr>
            </a:lvl1pPr>
            <a:lvl2pPr marL="457200" lvl="1" algn="l" defTabSz="914400">
              <a:lnSpc>
                <a:spcPct val="130000"/>
              </a:lnSpc>
              <a:defRPr sz="1800" kern="1200">
                <a:solidFill>
                  <a:schemeClr val="tx1"/>
                </a:solidFill>
                <a:latin typeface="Arial" panose="020B0604020202090204"/>
                <a:ea typeface="微软雅黑" panose="020B0503020204020204" charset="-122"/>
              </a:defRPr>
            </a:lvl2pPr>
            <a:lvl3pPr marL="914400" lvl="2" algn="l" defTabSz="914400">
              <a:lnSpc>
                <a:spcPct val="130000"/>
              </a:lnSpc>
              <a:defRPr sz="1800" kern="1200">
                <a:solidFill>
                  <a:schemeClr val="tx1"/>
                </a:solidFill>
                <a:latin typeface="Arial" panose="020B0604020202090204"/>
                <a:ea typeface="微软雅黑" panose="020B0503020204020204" charset="-122"/>
              </a:defRPr>
            </a:lvl3pPr>
            <a:lvl4pPr marL="1371600" lvl="3" algn="l" defTabSz="914400">
              <a:lnSpc>
                <a:spcPct val="130000"/>
              </a:lnSpc>
              <a:defRPr sz="1800" kern="1200">
                <a:solidFill>
                  <a:schemeClr val="tx1"/>
                </a:solidFill>
                <a:latin typeface="Arial" panose="020B0604020202090204"/>
                <a:ea typeface="微软雅黑" panose="020B0503020204020204" charset="-122"/>
              </a:defRPr>
            </a:lvl4pPr>
            <a:lvl5pPr marL="1828800" lvl="4" algn="l" defTabSz="914400">
              <a:lnSpc>
                <a:spcPct val="130000"/>
              </a:lnSpc>
              <a:defRPr sz="1800" kern="1200">
                <a:solidFill>
                  <a:schemeClr val="tx1"/>
                </a:solidFill>
                <a:latin typeface="Arial" panose="020B0604020202090204"/>
                <a:ea typeface="微软雅黑" panose="020B0503020204020204" charset="-122"/>
              </a:defRPr>
            </a:lvl5pPr>
            <a:lvl6pPr marL="2286000" lvl="5" algn="l" defTabSz="914400">
              <a:lnSpc>
                <a:spcPct val="130000"/>
              </a:lnSpc>
              <a:defRPr sz="1800" kern="1200">
                <a:solidFill>
                  <a:schemeClr val="tx1"/>
                </a:solidFill>
                <a:latin typeface="Arial" panose="020B0604020202090204"/>
                <a:ea typeface="微软雅黑" panose="020B0503020204020204" charset="-122"/>
              </a:defRPr>
            </a:lvl6pPr>
            <a:lvl7pPr marL="2743200" lvl="6" algn="l" defTabSz="914400">
              <a:lnSpc>
                <a:spcPct val="130000"/>
              </a:lnSpc>
              <a:defRPr sz="1800" kern="1200">
                <a:solidFill>
                  <a:schemeClr val="tx1"/>
                </a:solidFill>
                <a:latin typeface="Arial" panose="020B0604020202090204"/>
                <a:ea typeface="微软雅黑" panose="020B0503020204020204" charset="-122"/>
              </a:defRPr>
            </a:lvl7pPr>
            <a:lvl8pPr marL="3200400" lvl="7" algn="l" defTabSz="914400">
              <a:lnSpc>
                <a:spcPct val="130000"/>
              </a:lnSpc>
              <a:defRPr sz="1800" kern="1200">
                <a:solidFill>
                  <a:schemeClr val="tx1"/>
                </a:solidFill>
                <a:latin typeface="Arial" panose="020B0604020202090204"/>
                <a:ea typeface="微软雅黑" panose="020B0503020204020204" charset="-122"/>
              </a:defRPr>
            </a:lvl8pPr>
            <a:lvl9pPr marL="3657600" lvl="8" algn="l" defTabSz="914400">
              <a:lnSpc>
                <a:spcPct val="130000"/>
              </a:lnSpc>
              <a:defRPr sz="1800" kern="1200">
                <a:solidFill>
                  <a:schemeClr val="tx1"/>
                </a:solidFill>
                <a:latin typeface="Arial" panose="020B0604020202090204"/>
                <a:ea typeface="微软雅黑" panose="020B0503020204020204" charset="-122"/>
              </a:defRPr>
            </a:lvl9pPr>
          </a:lstStyle>
          <a:p>
            <a:pPr marL="0" marR="0" lvl="0" indent="0" algn="ctr" defTabSz="914400" rtl="0" eaLnBrk="1" fontAlgn="auto" latinLnBrk="0" hangingPunct="1">
              <a:lnSpc>
                <a:spcPct val="13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 name="文本框 474"/>
          <p:cNvSpPr txBox="1"/>
          <p:nvPr/>
        </p:nvSpPr>
        <p:spPr>
          <a:xfrm>
            <a:off x="7245540" y="2189298"/>
            <a:ext cx="1454150" cy="450850"/>
          </a:xfrm>
          <a:prstGeom prst="rect">
            <a:avLst/>
          </a:prstGeom>
          <a:ln w="12700">
            <a:prstDash val="solid"/>
            <a:miter lim="800000"/>
          </a:ln>
        </p:spPr>
        <p:txBody>
          <a:bodyPr>
            <a:spAutoFit/>
          </a:bodyPr>
          <a:lstStyle>
            <a:lvl1pPr marL="0" lvl="0" algn="l" defTabSz="914400">
              <a:lnSpc>
                <a:spcPct val="130000"/>
              </a:lnSpc>
              <a:defRPr sz="1800" kern="1200">
                <a:solidFill>
                  <a:schemeClr val="tx1"/>
                </a:solidFill>
                <a:latin typeface="Arial" panose="020B0604020202090204"/>
                <a:ea typeface="微软雅黑" panose="020B0503020204020204" charset="-122"/>
              </a:defRPr>
            </a:lvl1pPr>
            <a:lvl2pPr marL="457200" lvl="1" algn="l" defTabSz="914400">
              <a:lnSpc>
                <a:spcPct val="130000"/>
              </a:lnSpc>
              <a:defRPr sz="1800" kern="1200">
                <a:solidFill>
                  <a:schemeClr val="tx1"/>
                </a:solidFill>
                <a:latin typeface="Arial" panose="020B0604020202090204"/>
                <a:ea typeface="微软雅黑" panose="020B0503020204020204" charset="-122"/>
              </a:defRPr>
            </a:lvl2pPr>
            <a:lvl3pPr marL="914400" lvl="2" algn="l" defTabSz="914400">
              <a:lnSpc>
                <a:spcPct val="130000"/>
              </a:lnSpc>
              <a:defRPr sz="1800" kern="1200">
                <a:solidFill>
                  <a:schemeClr val="tx1"/>
                </a:solidFill>
                <a:latin typeface="Arial" panose="020B0604020202090204"/>
                <a:ea typeface="微软雅黑" panose="020B0503020204020204" charset="-122"/>
              </a:defRPr>
            </a:lvl3pPr>
            <a:lvl4pPr marL="1371600" lvl="3" algn="l" defTabSz="914400">
              <a:lnSpc>
                <a:spcPct val="130000"/>
              </a:lnSpc>
              <a:defRPr sz="1800" kern="1200">
                <a:solidFill>
                  <a:schemeClr val="tx1"/>
                </a:solidFill>
                <a:latin typeface="Arial" panose="020B0604020202090204"/>
                <a:ea typeface="微软雅黑" panose="020B0503020204020204" charset="-122"/>
              </a:defRPr>
            </a:lvl4pPr>
            <a:lvl5pPr marL="1828800" lvl="4" algn="l" defTabSz="914400">
              <a:lnSpc>
                <a:spcPct val="130000"/>
              </a:lnSpc>
              <a:defRPr sz="1800" kern="1200">
                <a:solidFill>
                  <a:schemeClr val="tx1"/>
                </a:solidFill>
                <a:latin typeface="Arial" panose="020B0604020202090204"/>
                <a:ea typeface="微软雅黑" panose="020B0503020204020204" charset="-122"/>
              </a:defRPr>
            </a:lvl5pPr>
            <a:lvl6pPr marL="2286000" lvl="5" algn="l" defTabSz="914400">
              <a:lnSpc>
                <a:spcPct val="130000"/>
              </a:lnSpc>
              <a:defRPr sz="1800" kern="1200">
                <a:solidFill>
                  <a:schemeClr val="tx1"/>
                </a:solidFill>
                <a:latin typeface="Arial" panose="020B0604020202090204"/>
                <a:ea typeface="微软雅黑" panose="020B0503020204020204" charset="-122"/>
              </a:defRPr>
            </a:lvl6pPr>
            <a:lvl7pPr marL="2743200" lvl="6" algn="l" defTabSz="914400">
              <a:lnSpc>
                <a:spcPct val="130000"/>
              </a:lnSpc>
              <a:defRPr sz="1800" kern="1200">
                <a:solidFill>
                  <a:schemeClr val="tx1"/>
                </a:solidFill>
                <a:latin typeface="Arial" panose="020B0604020202090204"/>
                <a:ea typeface="微软雅黑" panose="020B0503020204020204" charset="-122"/>
              </a:defRPr>
            </a:lvl7pPr>
            <a:lvl8pPr marL="3200400" lvl="7" algn="l" defTabSz="914400">
              <a:lnSpc>
                <a:spcPct val="130000"/>
              </a:lnSpc>
              <a:defRPr sz="1800" kern="1200">
                <a:solidFill>
                  <a:schemeClr val="tx1"/>
                </a:solidFill>
                <a:latin typeface="Arial" panose="020B0604020202090204"/>
                <a:ea typeface="微软雅黑" panose="020B0503020204020204" charset="-122"/>
              </a:defRPr>
            </a:lvl8pPr>
            <a:lvl9pPr marL="3657600" lvl="8" algn="l" defTabSz="914400">
              <a:lnSpc>
                <a:spcPct val="130000"/>
              </a:lnSpc>
              <a:defRPr sz="1800" kern="1200">
                <a:solidFill>
                  <a:schemeClr val="tx1"/>
                </a:solidFill>
                <a:latin typeface="Arial" panose="020B0604020202090204"/>
                <a:ea typeface="微软雅黑" panose="020B0503020204020204" charset="-122"/>
              </a:defRPr>
            </a:lvl9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b="1" i="0" u="none" strike="noStrike" kern="1200" cap="none" spc="0" normalizeH="0" baseline="0" noProof="0" dirty="0">
                <a:ln>
                  <a:noFill/>
                </a:ln>
                <a:solidFill>
                  <a:srgbClr val="FFFFFF">
                    <a:alpha val="100000"/>
                  </a:srgbClr>
                </a:solidFill>
                <a:effectLst/>
                <a:uLnTx/>
                <a:uFillTx/>
                <a:latin typeface="微软雅黑" panose="020B0503020204020204" charset="-122"/>
                <a:ea typeface="微软雅黑" panose="020B0503020204020204" charset="-122"/>
                <a:cs typeface="+mn-cs"/>
              </a:rPr>
              <a:t>主要问题</a:t>
            </a:r>
            <a:endParaRPr kumimoji="0" lang="zh-CN" altLang="en-US" b="1" i="0" u="none" strike="noStrike" kern="1200" cap="none" spc="0" normalizeH="0" baseline="0" noProof="0" dirty="0">
              <a:ln>
                <a:noFill/>
              </a:ln>
              <a:solidFill>
                <a:srgbClr val="FFFFFF">
                  <a:alpha val="100000"/>
                </a:srgbClr>
              </a:solidFill>
              <a:effectLst/>
              <a:uLnTx/>
              <a:uFillTx/>
              <a:latin typeface="微软雅黑" panose="020B0503020204020204" charset="-122"/>
              <a:ea typeface="微软雅黑" panose="020B0503020204020204" charset="-122"/>
              <a:cs typeface="+mn-cs"/>
            </a:endParaRPr>
          </a:p>
        </p:txBody>
      </p:sp>
      <p:sp>
        <p:nvSpPr>
          <p:cNvPr id="13" name="文本框 634"/>
          <p:cNvSpPr txBox="1"/>
          <p:nvPr/>
        </p:nvSpPr>
        <p:spPr>
          <a:xfrm>
            <a:off x="7039880" y="2472578"/>
            <a:ext cx="4809220" cy="4763135"/>
          </a:xfrm>
          <a:prstGeom prst="rect">
            <a:avLst/>
          </a:prstGeom>
          <a:ln w="12700">
            <a:prstDash val="solid"/>
            <a:miter lim="800000"/>
          </a:ln>
        </p:spPr>
        <p:txBody>
          <a:bodyPr wrap="square">
            <a:spAutoFit/>
          </a:bodyPr>
          <a:lstStyle>
            <a:lvl1pPr marL="0" lvl="0" algn="l" defTabSz="914400">
              <a:lnSpc>
                <a:spcPct val="130000"/>
              </a:lnSpc>
              <a:defRPr sz="1800" kern="1200">
                <a:solidFill>
                  <a:schemeClr val="tx1"/>
                </a:solidFill>
                <a:latin typeface="Arial" panose="020B0604020202090204"/>
                <a:ea typeface="微软雅黑" panose="020B0503020204020204" charset="-122"/>
              </a:defRPr>
            </a:lvl1pPr>
            <a:lvl2pPr marL="457200" lvl="1" algn="l" defTabSz="914400">
              <a:lnSpc>
                <a:spcPct val="130000"/>
              </a:lnSpc>
              <a:defRPr sz="1800" kern="1200">
                <a:solidFill>
                  <a:schemeClr val="tx1"/>
                </a:solidFill>
                <a:latin typeface="Arial" panose="020B0604020202090204"/>
                <a:ea typeface="微软雅黑" panose="020B0503020204020204" charset="-122"/>
              </a:defRPr>
            </a:lvl2pPr>
            <a:lvl3pPr marL="914400" lvl="2" algn="l" defTabSz="914400">
              <a:lnSpc>
                <a:spcPct val="130000"/>
              </a:lnSpc>
              <a:defRPr sz="1800" kern="1200">
                <a:solidFill>
                  <a:schemeClr val="tx1"/>
                </a:solidFill>
                <a:latin typeface="Arial" panose="020B0604020202090204"/>
                <a:ea typeface="微软雅黑" panose="020B0503020204020204" charset="-122"/>
              </a:defRPr>
            </a:lvl3pPr>
            <a:lvl4pPr marL="1371600" lvl="3" algn="l" defTabSz="914400">
              <a:lnSpc>
                <a:spcPct val="130000"/>
              </a:lnSpc>
              <a:defRPr sz="1800" kern="1200">
                <a:solidFill>
                  <a:schemeClr val="tx1"/>
                </a:solidFill>
                <a:latin typeface="Arial" panose="020B0604020202090204"/>
                <a:ea typeface="微软雅黑" panose="020B0503020204020204" charset="-122"/>
              </a:defRPr>
            </a:lvl4pPr>
            <a:lvl5pPr marL="1828800" lvl="4" algn="l" defTabSz="914400">
              <a:lnSpc>
                <a:spcPct val="130000"/>
              </a:lnSpc>
              <a:defRPr sz="1800" kern="1200">
                <a:solidFill>
                  <a:schemeClr val="tx1"/>
                </a:solidFill>
                <a:latin typeface="Arial" panose="020B0604020202090204"/>
                <a:ea typeface="微软雅黑" panose="020B0503020204020204" charset="-122"/>
              </a:defRPr>
            </a:lvl5pPr>
            <a:lvl6pPr marL="2286000" lvl="5" algn="l" defTabSz="914400">
              <a:lnSpc>
                <a:spcPct val="130000"/>
              </a:lnSpc>
              <a:defRPr sz="1800" kern="1200">
                <a:solidFill>
                  <a:schemeClr val="tx1"/>
                </a:solidFill>
                <a:latin typeface="Arial" panose="020B0604020202090204"/>
                <a:ea typeface="微软雅黑" panose="020B0503020204020204" charset="-122"/>
              </a:defRPr>
            </a:lvl6pPr>
            <a:lvl7pPr marL="2743200" lvl="6" algn="l" defTabSz="914400">
              <a:lnSpc>
                <a:spcPct val="130000"/>
              </a:lnSpc>
              <a:defRPr sz="1800" kern="1200">
                <a:solidFill>
                  <a:schemeClr val="tx1"/>
                </a:solidFill>
                <a:latin typeface="Arial" panose="020B0604020202090204"/>
                <a:ea typeface="微软雅黑" panose="020B0503020204020204" charset="-122"/>
              </a:defRPr>
            </a:lvl7pPr>
            <a:lvl8pPr marL="3200400" lvl="7" algn="l" defTabSz="914400">
              <a:lnSpc>
                <a:spcPct val="130000"/>
              </a:lnSpc>
              <a:defRPr sz="1800" kern="1200">
                <a:solidFill>
                  <a:schemeClr val="tx1"/>
                </a:solidFill>
                <a:latin typeface="Arial" panose="020B0604020202090204"/>
                <a:ea typeface="微软雅黑" panose="020B0503020204020204" charset="-122"/>
              </a:defRPr>
            </a:lvl8pPr>
            <a:lvl9pPr marL="3657600" lvl="8" algn="l" defTabSz="914400">
              <a:lnSpc>
                <a:spcPct val="130000"/>
              </a:lnSpc>
              <a:defRPr sz="1800" kern="1200">
                <a:solidFill>
                  <a:schemeClr val="tx1"/>
                </a:solidFill>
                <a:latin typeface="Arial" panose="020B0604020202090204"/>
                <a:ea typeface="微软雅黑" panose="020B0503020204020204" charset="-122"/>
              </a:defRPr>
            </a:lvl9pPr>
          </a:lstStyle>
          <a:p>
            <a:pPr marL="285750" marR="0" lvl="0" indent="-285750" algn="l" defTabSz="914400" rtl="0" eaLnBrk="1" fontAlgn="auto" latinLnBrk="0" hangingPunct="1">
              <a:lnSpc>
                <a:spcPct val="130000"/>
              </a:lnSpc>
              <a:spcBef>
                <a:spcPts val="0"/>
              </a:spcBef>
              <a:spcAft>
                <a:spcPts val="0"/>
              </a:spcAft>
              <a:buClr>
                <a:srgbClr val="1274A5">
                  <a:alpha val="100000"/>
                </a:srgbClr>
              </a:buClr>
              <a:buSzTx/>
              <a:buFont typeface="Wingdings" panose="05000000000000000000" pitchFamily="2" charset="2"/>
              <a:buChar char="n"/>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85750" marR="0" lvl="0" indent="-285750" algn="l" defTabSz="914400" rtl="0" fontAlgn="auto">
              <a:lnSpc>
                <a:spcPct val="200000"/>
              </a:lnSpc>
              <a:spcBef>
                <a:spcPts val="0"/>
              </a:spcBef>
              <a:spcAft>
                <a:spcPts val="0"/>
              </a:spcAft>
              <a:buClr>
                <a:srgbClr val="1274A5">
                  <a:alpha val="100000"/>
                </a:srgbClr>
              </a:buClr>
              <a:buSzTx/>
              <a:buFont typeface="Wingdings" panose="05000000000000000000" pitchFamily="2" charset="2"/>
              <a:buChar char="Ø"/>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规划方面：</a:t>
            </a:r>
            <a:r>
              <a:rPr kumimoji="0" lang="zh-CN" altLang="zh-CN"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企业级知识工程规划缺失</a:t>
            </a:r>
            <a:r>
              <a:rPr kumimoji="0" lang="en-US" altLang="zh-CN"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也没有专职团队负责</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85750" marR="0" lvl="0" indent="-285750" algn="l" defTabSz="914400" rtl="0" fontAlgn="auto">
              <a:lnSpc>
                <a:spcPct val="200000"/>
              </a:lnSpc>
              <a:spcBef>
                <a:spcPts val="0"/>
              </a:spcBef>
              <a:spcAft>
                <a:spcPts val="0"/>
              </a:spcAft>
              <a:buClr>
                <a:srgbClr val="1274A5">
                  <a:alpha val="100000"/>
                </a:srgbClr>
              </a:buClr>
              <a:buSzTx/>
              <a:buFont typeface="Wingdings" panose="05000000000000000000" pitchFamily="2" charset="2"/>
              <a:buChar char="Ø"/>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工具链：</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已搭建的知识加工平台落后社区</a:t>
            </a:r>
            <a:r>
              <a:rPr kumimoji="0" lang="en-US" altLang="zh-CN"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1</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年，知识加工缺乏规范性和专业性</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85750" lvl="0" indent="-285750">
              <a:lnSpc>
                <a:spcPct val="200000"/>
              </a:lnSpc>
              <a:buClr>
                <a:srgbClr val="1274A5">
                  <a:alpha val="100000"/>
                </a:srgbClr>
              </a:buClr>
              <a:buFont typeface="Wingdings" panose="05000000000000000000" pitchFamily="2" charset="2"/>
              <a:buChar char="Ø"/>
              <a:defRPr/>
            </a:pPr>
            <a:r>
              <a:rPr lang="zh-CN" altLang="en-US" sz="1600" b="1" dirty="0">
                <a:solidFill>
                  <a:prstClr val="black"/>
                </a:solidFill>
                <a:latin typeface="微软雅黑" panose="020B0503020204020204" charset="-122"/>
                <a:cs typeface="微软雅黑" panose="020B0503020204020204" charset="-122"/>
              </a:rPr>
              <a:t>知识服务：</a:t>
            </a:r>
            <a:r>
              <a:rPr lang="zh-CN" altLang="en-US" sz="1600" dirty="0">
                <a:solidFill>
                  <a:prstClr val="black"/>
                </a:solidFill>
                <a:latin typeface="微软雅黑" panose="020B0503020204020204" charset="-122"/>
                <a:cs typeface="微软雅黑" panose="020B0503020204020204" charset="-122"/>
              </a:rPr>
              <a:t>向量为主知识检索，缺乏结构化的语义图谱及本体</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知识，检索精度差</a:t>
            </a:r>
            <a:endPar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85750" marR="0" lvl="0" indent="-285750" algn="l" defTabSz="914400" rtl="0" fontAlgn="auto">
              <a:lnSpc>
                <a:spcPct val="200000"/>
              </a:lnSpc>
              <a:spcBef>
                <a:spcPts val="0"/>
              </a:spcBef>
              <a:spcAft>
                <a:spcPts val="0"/>
              </a:spcAft>
              <a:buClr>
                <a:srgbClr val="1274A5">
                  <a:alpha val="100000"/>
                </a:srgbClr>
              </a:buClr>
              <a:buSzTx/>
              <a:buFont typeface="Wingdings" panose="05000000000000000000" pitchFamily="2" charset="2"/>
              <a:buChar char="Ø"/>
              <a:defRPr/>
            </a:pPr>
            <a:r>
              <a:rPr kumimoji="0" lang="zh-CN" altLang="en-US"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知识运营：</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缺乏闭环管理</a:t>
            </a:r>
            <a:r>
              <a:rPr kumimoji="0" lang="en-US" altLang="zh-CN"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无法保鲜和自我迭代更新</a:t>
            </a:r>
            <a:endParaRPr kumimoji="0" lang="en-US" altLang="zh-CN"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85750" marR="0" lvl="0" indent="-285750" algn="l" defTabSz="914400" rtl="0" fontAlgn="auto">
              <a:lnSpc>
                <a:spcPct val="200000"/>
              </a:lnSpc>
              <a:spcBef>
                <a:spcPts val="0"/>
              </a:spcBef>
              <a:spcAft>
                <a:spcPts val="0"/>
              </a:spcAft>
              <a:buClr>
                <a:srgbClr val="1274A5">
                  <a:alpha val="100000"/>
                </a:srgbClr>
              </a:buClr>
              <a:buSzTx/>
              <a:buFont typeface="Wingdings" panose="05000000000000000000" pitchFamily="2" charset="2"/>
              <a:buChar char="Ø"/>
              <a:defRPr/>
            </a:pPr>
            <a:endParaRPr kumimoji="0" lang="zh-CN" altLang="en-US" sz="16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289560" y="842512"/>
            <a:ext cx="11559540" cy="1337945"/>
          </a:xfrm>
          <a:prstGeom prst="rect">
            <a:avLst/>
          </a:prstGeom>
          <a:noFill/>
        </p:spPr>
        <p:txBody>
          <a:bodyPr wrap="square">
            <a:spAutoFit/>
          </a:bodyPr>
          <a:lstStyle/>
          <a:p>
            <a:pPr indent="0" algn="l" fontAlgn="auto">
              <a:lnSpc>
                <a:spcPct val="150000"/>
              </a:lnSpc>
              <a:buClr>
                <a:srgbClr val="C00000"/>
              </a:buClr>
              <a:buSzTx/>
              <a:buFontTx/>
            </a:pPr>
            <a:r>
              <a:rPr lang="zh-CN" altLang="en-US" dirty="0">
                <a:latin typeface="微软雅黑" panose="020B0503020204020204" charset="-122"/>
                <a:ea typeface="微软雅黑" panose="020B0503020204020204" charset="-122"/>
              </a:rPr>
              <a:t>依据中国信通院《企业知识工程能力成熟度模型》标准，七大能力域，23个能力子项，结合我行知识工程现状客观分析评估，</a:t>
            </a:r>
            <a:r>
              <a:rPr lang="en-US" altLang="zh-CN" b="1" dirty="0">
                <a:solidFill>
                  <a:srgbClr val="C00000"/>
                </a:solidFill>
                <a:latin typeface="微软雅黑" panose="020B0503020204020204" charset="-122"/>
                <a:ea typeface="微软雅黑" panose="020B0503020204020204" charset="-122"/>
                <a:cs typeface="微软雅黑" panose="020B0503020204020204" charset="-122"/>
              </a:rPr>
              <a:t>2026</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年初我行知识工程得分</a:t>
            </a:r>
            <a:r>
              <a:rPr lang="en-US" altLang="zh-CN" b="1" dirty="0">
                <a:solidFill>
                  <a:srgbClr val="C00000"/>
                </a:solidFill>
                <a:latin typeface="微软雅黑" panose="020B0503020204020204" charset="-122"/>
                <a:ea typeface="微软雅黑" panose="020B0503020204020204" charset="-122"/>
                <a:cs typeface="微软雅黑" panose="020B0503020204020204" charset="-122"/>
              </a:rPr>
              <a:t>1.9</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，处于初始级。</a:t>
            </a:r>
            <a:r>
              <a:rPr lang="zh-CN" altLang="en-US" dirty="0">
                <a:latin typeface="微软雅黑" panose="020B0503020204020204" charset="-122"/>
                <a:ea typeface="微软雅黑" panose="020B0503020204020204" charset="-122"/>
              </a:rPr>
              <a:t>（五级为：初始级1-1.9、发展级2-2.9、良好级3-3.9、优秀级4-4.4、卓越级4.5-5）</a:t>
            </a:r>
            <a:endParaRPr lang="zh-CN" altLang="en-US" dirty="0">
              <a:latin typeface="微软雅黑" panose="020B0503020204020204" charset="-122"/>
              <a:ea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核心挑战和建设目标</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7" name="Rectangle 4"/>
          <p:cNvSpPr/>
          <p:nvPr/>
        </p:nvSpPr>
        <p:spPr bwMode="auto">
          <a:xfrm>
            <a:off x="566744" y="901127"/>
            <a:ext cx="11149537" cy="728162"/>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720000" rIns="360000" rtlCol="0" anchor="ctr">
            <a:noAutofit/>
          </a:bodyPr>
          <a:lstStyle/>
          <a:p>
            <a:pPr>
              <a:defRPr/>
            </a:pPr>
            <a:r>
              <a:rPr lang="zh-CN" altLang="en-US" sz="1600" b="1" dirty="0">
                <a:solidFill>
                  <a:srgbClr val="C00000"/>
                </a:solidFill>
                <a:latin typeface="微软雅黑" panose="020B0503020204020204" charset="-122"/>
                <a:ea typeface="微软雅黑" panose="020B0503020204020204" charset="-122"/>
                <a:cs typeface="微软雅黑" panose="020B0503020204020204" charset="-122"/>
              </a:rPr>
              <a:t>结合知识工程发展趋势及挑战，构建现代化的知识工程体系</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，实现从“被动响应”到“主动赋能”的质的飞跃，构建全链路、可自治、可迭代、可拓展的知识</a:t>
            </a:r>
            <a:r>
              <a:rPr lang="zh-CN" altLang="en-US" sz="1600" dirty="0">
                <a:solidFill>
                  <a:schemeClr val="tx1"/>
                </a:solidFill>
                <a:latin typeface="微软雅黑" panose="020B0503020204020204" charset="-122"/>
                <a:ea typeface="微软雅黑" panose="020B0503020204020204" charset="-122"/>
                <a:cs typeface="微软雅黑" panose="020B0503020204020204" charset="-122"/>
              </a:rPr>
              <a:t>工程体系。</a:t>
            </a:r>
            <a:endParaRPr lang="zh-CN" altLang="en-US" sz="16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8" name="golf-ball-and-tee_34950"/>
          <p:cNvSpPr/>
          <p:nvPr/>
        </p:nvSpPr>
        <p:spPr>
          <a:xfrm>
            <a:off x="789008" y="952801"/>
            <a:ext cx="341827" cy="516538"/>
          </a:xfrm>
          <a:custGeom>
            <a:avLst/>
            <a:gdLst>
              <a:gd name="connsiteX0" fmla="*/ 69177 w 400247"/>
              <a:gd name="connsiteY0" fmla="*/ 570662 h 604816"/>
              <a:gd name="connsiteX1" fmla="*/ 330891 w 400247"/>
              <a:gd name="connsiteY1" fmla="*/ 570662 h 604816"/>
              <a:gd name="connsiteX2" fmla="*/ 348099 w 400247"/>
              <a:gd name="connsiteY2" fmla="*/ 587650 h 604816"/>
              <a:gd name="connsiteX3" fmla="*/ 330891 w 400247"/>
              <a:gd name="connsiteY3" fmla="*/ 604816 h 604816"/>
              <a:gd name="connsiteX4" fmla="*/ 69177 w 400247"/>
              <a:gd name="connsiteY4" fmla="*/ 604816 h 604816"/>
              <a:gd name="connsiteX5" fmla="*/ 52148 w 400247"/>
              <a:gd name="connsiteY5" fmla="*/ 587650 h 604816"/>
              <a:gd name="connsiteX6" fmla="*/ 69177 w 400247"/>
              <a:gd name="connsiteY6" fmla="*/ 570662 h 604816"/>
              <a:gd name="connsiteX7" fmla="*/ 17028 w 400247"/>
              <a:gd name="connsiteY7" fmla="*/ 515692 h 604816"/>
              <a:gd name="connsiteX8" fmla="*/ 383219 w 400247"/>
              <a:gd name="connsiteY8" fmla="*/ 515692 h 604816"/>
              <a:gd name="connsiteX9" fmla="*/ 400247 w 400247"/>
              <a:gd name="connsiteY9" fmla="*/ 532858 h 604816"/>
              <a:gd name="connsiteX10" fmla="*/ 383219 w 400247"/>
              <a:gd name="connsiteY10" fmla="*/ 549846 h 604816"/>
              <a:gd name="connsiteX11" fmla="*/ 17028 w 400247"/>
              <a:gd name="connsiteY11" fmla="*/ 549846 h 604816"/>
              <a:gd name="connsiteX12" fmla="*/ 0 w 400247"/>
              <a:gd name="connsiteY12" fmla="*/ 532858 h 604816"/>
              <a:gd name="connsiteX13" fmla="*/ 17028 w 400247"/>
              <a:gd name="connsiteY13" fmla="*/ 515692 h 604816"/>
              <a:gd name="connsiteX14" fmla="*/ 259517 w 400247"/>
              <a:gd name="connsiteY14" fmla="*/ 303926 h 604816"/>
              <a:gd name="connsiteX15" fmla="*/ 140698 w 400247"/>
              <a:gd name="connsiteY15" fmla="*/ 304821 h 604816"/>
              <a:gd name="connsiteX16" fmla="*/ 200018 w 400247"/>
              <a:gd name="connsiteY16" fmla="*/ 440491 h 604816"/>
              <a:gd name="connsiteX17" fmla="*/ 111845 w 400247"/>
              <a:gd name="connsiteY17" fmla="*/ 264550 h 604816"/>
              <a:gd name="connsiteX18" fmla="*/ 133350 w 400247"/>
              <a:gd name="connsiteY18" fmla="*/ 264550 h 604816"/>
              <a:gd name="connsiteX19" fmla="*/ 142311 w 400247"/>
              <a:gd name="connsiteY19" fmla="*/ 267056 h 604816"/>
              <a:gd name="connsiteX20" fmla="*/ 255933 w 400247"/>
              <a:gd name="connsiteY20" fmla="*/ 267056 h 604816"/>
              <a:gd name="connsiteX21" fmla="*/ 265073 w 400247"/>
              <a:gd name="connsiteY21" fmla="*/ 264550 h 604816"/>
              <a:gd name="connsiteX22" fmla="*/ 288012 w 400247"/>
              <a:gd name="connsiteY22" fmla="*/ 264550 h 604816"/>
              <a:gd name="connsiteX23" fmla="*/ 302350 w 400247"/>
              <a:gd name="connsiteY23" fmla="*/ 272246 h 604816"/>
              <a:gd name="connsiteX24" fmla="*/ 303783 w 400247"/>
              <a:gd name="connsiteY24" fmla="*/ 288355 h 604816"/>
              <a:gd name="connsiteX25" fmla="*/ 215610 w 400247"/>
              <a:gd name="connsiteY25" fmla="*/ 490248 h 604816"/>
              <a:gd name="connsiteX26" fmla="*/ 200018 w 400247"/>
              <a:gd name="connsiteY26" fmla="*/ 500450 h 604816"/>
              <a:gd name="connsiteX27" fmla="*/ 184247 w 400247"/>
              <a:gd name="connsiteY27" fmla="*/ 490248 h 604816"/>
              <a:gd name="connsiteX28" fmla="*/ 96074 w 400247"/>
              <a:gd name="connsiteY28" fmla="*/ 288355 h 604816"/>
              <a:gd name="connsiteX29" fmla="*/ 97507 w 400247"/>
              <a:gd name="connsiteY29" fmla="*/ 272246 h 604816"/>
              <a:gd name="connsiteX30" fmla="*/ 111845 w 400247"/>
              <a:gd name="connsiteY30" fmla="*/ 264550 h 604816"/>
              <a:gd name="connsiteX31" fmla="*/ 254142 w 400247"/>
              <a:gd name="connsiteY31" fmla="*/ 169498 h 604816"/>
              <a:gd name="connsiteX32" fmla="*/ 254142 w 400247"/>
              <a:gd name="connsiteY32" fmla="*/ 191514 h 604816"/>
              <a:gd name="connsiteX33" fmla="*/ 254142 w 400247"/>
              <a:gd name="connsiteY33" fmla="*/ 169498 h 604816"/>
              <a:gd name="connsiteX34" fmla="*/ 215818 w 400247"/>
              <a:gd name="connsiteY34" fmla="*/ 56180 h 604816"/>
              <a:gd name="connsiteX35" fmla="*/ 271920 w 400247"/>
              <a:gd name="connsiteY35" fmla="*/ 143567 h 604816"/>
              <a:gd name="connsiteX36" fmla="*/ 250052 w 400247"/>
              <a:gd name="connsiteY36" fmla="*/ 143567 h 604816"/>
              <a:gd name="connsiteX37" fmla="*/ 210082 w 400247"/>
              <a:gd name="connsiteY37" fmla="*/ 77311 h 604816"/>
              <a:gd name="connsiteX38" fmla="*/ 215818 w 400247"/>
              <a:gd name="connsiteY38" fmla="*/ 56180 h 604816"/>
              <a:gd name="connsiteX39" fmla="*/ 199100 w 400247"/>
              <a:gd name="connsiteY39" fmla="*/ 34187 h 604816"/>
              <a:gd name="connsiteX40" fmla="*/ 98172 w 400247"/>
              <a:gd name="connsiteY40" fmla="*/ 134956 h 604816"/>
              <a:gd name="connsiteX41" fmla="*/ 199100 w 400247"/>
              <a:gd name="connsiteY41" fmla="*/ 235726 h 604816"/>
              <a:gd name="connsiteX42" fmla="*/ 300028 w 400247"/>
              <a:gd name="connsiteY42" fmla="*/ 134956 h 604816"/>
              <a:gd name="connsiteX43" fmla="*/ 199100 w 400247"/>
              <a:gd name="connsiteY43" fmla="*/ 34187 h 604816"/>
              <a:gd name="connsiteX44" fmla="*/ 199100 w 400247"/>
              <a:gd name="connsiteY44" fmla="*/ 0 h 604816"/>
              <a:gd name="connsiteX45" fmla="*/ 334268 w 400247"/>
              <a:gd name="connsiteY45" fmla="*/ 134956 h 604816"/>
              <a:gd name="connsiteX46" fmla="*/ 199100 w 400247"/>
              <a:gd name="connsiteY46" fmla="*/ 269913 h 604816"/>
              <a:gd name="connsiteX47" fmla="*/ 63932 w 400247"/>
              <a:gd name="connsiteY47" fmla="*/ 134956 h 604816"/>
              <a:gd name="connsiteX48" fmla="*/ 199100 w 400247"/>
              <a:gd name="connsiteY48" fmla="*/ 0 h 604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400247" h="604816">
                <a:moveTo>
                  <a:pt x="69177" y="570662"/>
                </a:moveTo>
                <a:lnTo>
                  <a:pt x="330891" y="570662"/>
                </a:lnTo>
                <a:cubicBezTo>
                  <a:pt x="340391" y="570662"/>
                  <a:pt x="348099" y="578172"/>
                  <a:pt x="348099" y="587650"/>
                </a:cubicBezTo>
                <a:cubicBezTo>
                  <a:pt x="348099" y="597127"/>
                  <a:pt x="340391" y="604816"/>
                  <a:pt x="330891" y="604816"/>
                </a:cubicBezTo>
                <a:lnTo>
                  <a:pt x="69177" y="604816"/>
                </a:lnTo>
                <a:cubicBezTo>
                  <a:pt x="59677" y="604816"/>
                  <a:pt x="52148" y="597127"/>
                  <a:pt x="52148" y="587650"/>
                </a:cubicBezTo>
                <a:cubicBezTo>
                  <a:pt x="52148" y="578172"/>
                  <a:pt x="59677" y="570662"/>
                  <a:pt x="69177" y="570662"/>
                </a:cubicBezTo>
                <a:close/>
                <a:moveTo>
                  <a:pt x="17028" y="515692"/>
                </a:moveTo>
                <a:lnTo>
                  <a:pt x="383219" y="515692"/>
                </a:lnTo>
                <a:cubicBezTo>
                  <a:pt x="392540" y="515692"/>
                  <a:pt x="400247" y="523381"/>
                  <a:pt x="400247" y="532858"/>
                </a:cubicBezTo>
                <a:cubicBezTo>
                  <a:pt x="400247" y="542336"/>
                  <a:pt x="392540" y="549846"/>
                  <a:pt x="383219" y="549846"/>
                </a:cubicBezTo>
                <a:lnTo>
                  <a:pt x="17028" y="549846"/>
                </a:lnTo>
                <a:cubicBezTo>
                  <a:pt x="7528" y="549846"/>
                  <a:pt x="0" y="542336"/>
                  <a:pt x="0" y="532858"/>
                </a:cubicBezTo>
                <a:cubicBezTo>
                  <a:pt x="0" y="523381"/>
                  <a:pt x="7528" y="515692"/>
                  <a:pt x="17028" y="515692"/>
                </a:cubicBezTo>
                <a:close/>
                <a:moveTo>
                  <a:pt x="259517" y="303926"/>
                </a:moveTo>
                <a:cubicBezTo>
                  <a:pt x="222420" y="321467"/>
                  <a:pt x="178154" y="321825"/>
                  <a:pt x="140698" y="304821"/>
                </a:cubicBezTo>
                <a:lnTo>
                  <a:pt x="200018" y="440491"/>
                </a:lnTo>
                <a:close/>
                <a:moveTo>
                  <a:pt x="111845" y="264550"/>
                </a:moveTo>
                <a:lnTo>
                  <a:pt x="133350" y="264550"/>
                </a:lnTo>
                <a:cubicBezTo>
                  <a:pt x="136397" y="264550"/>
                  <a:pt x="139623" y="265445"/>
                  <a:pt x="142311" y="267056"/>
                </a:cubicBezTo>
                <a:cubicBezTo>
                  <a:pt x="176720" y="288355"/>
                  <a:pt x="221703" y="288355"/>
                  <a:pt x="255933" y="267056"/>
                </a:cubicBezTo>
                <a:cubicBezTo>
                  <a:pt x="258800" y="265445"/>
                  <a:pt x="261847" y="264550"/>
                  <a:pt x="265073" y="264550"/>
                </a:cubicBezTo>
                <a:lnTo>
                  <a:pt x="288012" y="264550"/>
                </a:lnTo>
                <a:cubicBezTo>
                  <a:pt x="293747" y="264550"/>
                  <a:pt x="299303" y="267414"/>
                  <a:pt x="302350" y="272246"/>
                </a:cubicBezTo>
                <a:cubicBezTo>
                  <a:pt x="305575" y="277079"/>
                  <a:pt x="306113" y="283164"/>
                  <a:pt x="303783" y="288355"/>
                </a:cubicBezTo>
                <a:lnTo>
                  <a:pt x="215610" y="490248"/>
                </a:lnTo>
                <a:cubicBezTo>
                  <a:pt x="212922" y="496333"/>
                  <a:pt x="206828" y="500450"/>
                  <a:pt x="200018" y="500450"/>
                </a:cubicBezTo>
                <a:cubicBezTo>
                  <a:pt x="193208" y="500450"/>
                  <a:pt x="186935" y="496333"/>
                  <a:pt x="184247" y="490248"/>
                </a:cubicBezTo>
                <a:lnTo>
                  <a:pt x="96074" y="288355"/>
                </a:lnTo>
                <a:cubicBezTo>
                  <a:pt x="93923" y="283164"/>
                  <a:pt x="94282" y="277079"/>
                  <a:pt x="97507" y="272246"/>
                </a:cubicBezTo>
                <a:cubicBezTo>
                  <a:pt x="100733" y="267414"/>
                  <a:pt x="106110" y="264550"/>
                  <a:pt x="111845" y="264550"/>
                </a:cubicBezTo>
                <a:close/>
                <a:moveTo>
                  <a:pt x="254142" y="169498"/>
                </a:moveTo>
                <a:cubicBezTo>
                  <a:pt x="268290" y="169498"/>
                  <a:pt x="268290" y="191514"/>
                  <a:pt x="254142" y="191514"/>
                </a:cubicBezTo>
                <a:cubicBezTo>
                  <a:pt x="239993" y="191514"/>
                  <a:pt x="239993" y="169498"/>
                  <a:pt x="254142" y="169498"/>
                </a:cubicBezTo>
                <a:close/>
                <a:moveTo>
                  <a:pt x="215818" y="56180"/>
                </a:moveTo>
                <a:cubicBezTo>
                  <a:pt x="257043" y="65134"/>
                  <a:pt x="274429" y="104351"/>
                  <a:pt x="271920" y="143567"/>
                </a:cubicBezTo>
                <a:cubicBezTo>
                  <a:pt x="271024" y="157535"/>
                  <a:pt x="249156" y="157714"/>
                  <a:pt x="250052" y="143567"/>
                </a:cubicBezTo>
                <a:cubicBezTo>
                  <a:pt x="251845" y="113841"/>
                  <a:pt x="241987" y="84295"/>
                  <a:pt x="210082" y="77311"/>
                </a:cubicBezTo>
                <a:cubicBezTo>
                  <a:pt x="196101" y="74267"/>
                  <a:pt x="202016" y="53136"/>
                  <a:pt x="215818" y="56180"/>
                </a:cubicBezTo>
                <a:close/>
                <a:moveTo>
                  <a:pt x="199100" y="34187"/>
                </a:moveTo>
                <a:cubicBezTo>
                  <a:pt x="143527" y="34187"/>
                  <a:pt x="98172" y="79470"/>
                  <a:pt x="98172" y="134956"/>
                </a:cubicBezTo>
                <a:cubicBezTo>
                  <a:pt x="98172" y="190443"/>
                  <a:pt x="143527" y="235726"/>
                  <a:pt x="199100" y="235726"/>
                </a:cubicBezTo>
                <a:cubicBezTo>
                  <a:pt x="254852" y="235726"/>
                  <a:pt x="300028" y="190443"/>
                  <a:pt x="300028" y="134956"/>
                </a:cubicBezTo>
                <a:cubicBezTo>
                  <a:pt x="300028" y="79470"/>
                  <a:pt x="254852" y="34187"/>
                  <a:pt x="199100" y="34187"/>
                </a:cubicBezTo>
                <a:close/>
                <a:moveTo>
                  <a:pt x="199100" y="0"/>
                </a:moveTo>
                <a:cubicBezTo>
                  <a:pt x="273676" y="0"/>
                  <a:pt x="334268" y="60498"/>
                  <a:pt x="334268" y="134956"/>
                </a:cubicBezTo>
                <a:cubicBezTo>
                  <a:pt x="334268" y="209415"/>
                  <a:pt x="273676" y="269913"/>
                  <a:pt x="199100" y="269913"/>
                </a:cubicBezTo>
                <a:cubicBezTo>
                  <a:pt x="124704" y="269913"/>
                  <a:pt x="63932" y="209415"/>
                  <a:pt x="63932" y="134956"/>
                </a:cubicBezTo>
                <a:cubicBezTo>
                  <a:pt x="63932" y="60498"/>
                  <a:pt x="124704" y="0"/>
                  <a:pt x="1991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微软雅黑" panose="020B0503020204020204" charset="-122"/>
              <a:ea typeface="微软雅黑" panose="020B0503020204020204" charset="-122"/>
            </a:endParaRPr>
          </a:p>
        </p:txBody>
      </p:sp>
      <p:grpSp>
        <p:nvGrpSpPr>
          <p:cNvPr id="39" name="Group 67"/>
          <p:cNvGrpSpPr/>
          <p:nvPr/>
        </p:nvGrpSpPr>
        <p:grpSpPr>
          <a:xfrm>
            <a:off x="1459110" y="1715423"/>
            <a:ext cx="3371850" cy="360000"/>
            <a:chOff x="1301726" y="1919940"/>
            <a:chExt cx="3371850" cy="360000"/>
          </a:xfrm>
        </p:grpSpPr>
        <p:sp>
          <p:nvSpPr>
            <p:cNvPr id="40" name="Rectangle 47"/>
            <p:cNvSpPr/>
            <p:nvPr/>
          </p:nvSpPr>
          <p:spPr>
            <a:xfrm>
              <a:off x="1301726" y="1962797"/>
              <a:ext cx="3371850" cy="274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i="1" dirty="0">
                  <a:solidFill>
                    <a:schemeClr val="tx1"/>
                  </a:solidFill>
                  <a:latin typeface="微软雅黑" panose="020B0503020204020204" charset="-122"/>
                  <a:ea typeface="微软雅黑" panose="020B0503020204020204" charset="-122"/>
                </a:rPr>
                <a:t>五项挑战</a:t>
              </a:r>
              <a:endParaRPr lang="zh-CN" altLang="en-US" b="1" i="1" dirty="0">
                <a:solidFill>
                  <a:schemeClr val="tx1"/>
                </a:solidFill>
                <a:latin typeface="微软雅黑" panose="020B0503020204020204" charset="-122"/>
                <a:ea typeface="微软雅黑" panose="020B0503020204020204" charset="-122"/>
              </a:endParaRPr>
            </a:p>
          </p:txBody>
        </p:sp>
        <p:sp>
          <p:nvSpPr>
            <p:cNvPr id="41" name="Freeform 49"/>
            <p:cNvSpPr>
              <a:spLocks noEditPoints="1"/>
            </p:cNvSpPr>
            <p:nvPr/>
          </p:nvSpPr>
          <p:spPr bwMode="auto">
            <a:xfrm>
              <a:off x="1971699" y="1919940"/>
              <a:ext cx="396000" cy="360000"/>
            </a:xfrm>
            <a:custGeom>
              <a:avLst/>
              <a:gdLst>
                <a:gd name="T0" fmla="*/ 29 w 144"/>
                <a:gd name="T1" fmla="*/ 53 h 127"/>
                <a:gd name="T2" fmla="*/ 45 w 144"/>
                <a:gd name="T3" fmla="*/ 72 h 127"/>
                <a:gd name="T4" fmla="*/ 65 w 144"/>
                <a:gd name="T5" fmla="*/ 58 h 127"/>
                <a:gd name="T6" fmla="*/ 50 w 144"/>
                <a:gd name="T7" fmla="*/ 39 h 127"/>
                <a:gd name="T8" fmla="*/ 65 w 144"/>
                <a:gd name="T9" fmla="*/ 29 h 127"/>
                <a:gd name="T10" fmla="*/ 8 w 144"/>
                <a:gd name="T11" fmla="*/ 0 h 127"/>
                <a:gd name="T12" fmla="*/ 13 w 144"/>
                <a:gd name="T13" fmla="*/ 63 h 127"/>
                <a:gd name="T14" fmla="*/ 29 w 144"/>
                <a:gd name="T15" fmla="*/ 53 h 127"/>
                <a:gd name="T16" fmla="*/ 115 w 144"/>
                <a:gd name="T17" fmla="*/ 53 h 127"/>
                <a:gd name="T18" fmla="*/ 131 w 144"/>
                <a:gd name="T19" fmla="*/ 63 h 127"/>
                <a:gd name="T20" fmla="*/ 136 w 144"/>
                <a:gd name="T21" fmla="*/ 0 h 127"/>
                <a:gd name="T22" fmla="*/ 80 w 144"/>
                <a:gd name="T23" fmla="*/ 29 h 127"/>
                <a:gd name="T24" fmla="*/ 95 w 144"/>
                <a:gd name="T25" fmla="*/ 39 h 127"/>
                <a:gd name="T26" fmla="*/ 0 w 144"/>
                <a:gd name="T27" fmla="*/ 103 h 127"/>
                <a:gd name="T28" fmla="*/ 5 w 144"/>
                <a:gd name="T29" fmla="*/ 127 h 127"/>
                <a:gd name="T30" fmla="*/ 115 w 144"/>
                <a:gd name="T31" fmla="*/ 53 h 127"/>
                <a:gd name="T32" fmla="*/ 101 w 144"/>
                <a:gd name="T33" fmla="*/ 86 h 127"/>
                <a:gd name="T34" fmla="*/ 81 w 144"/>
                <a:gd name="T35" fmla="*/ 103 h 127"/>
                <a:gd name="T36" fmla="*/ 139 w 144"/>
                <a:gd name="T37" fmla="*/ 127 h 127"/>
                <a:gd name="T38" fmla="*/ 144 w 144"/>
                <a:gd name="T39" fmla="*/ 103 h 127"/>
                <a:gd name="T40" fmla="*/ 101 w 144"/>
                <a:gd name="T41" fmla="*/ 8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4" h="127">
                  <a:moveTo>
                    <a:pt x="29" y="53"/>
                  </a:moveTo>
                  <a:cubicBezTo>
                    <a:pt x="34" y="60"/>
                    <a:pt x="39" y="66"/>
                    <a:pt x="45" y="72"/>
                  </a:cubicBezTo>
                  <a:cubicBezTo>
                    <a:pt x="51" y="68"/>
                    <a:pt x="58" y="63"/>
                    <a:pt x="65" y="58"/>
                  </a:cubicBezTo>
                  <a:cubicBezTo>
                    <a:pt x="59" y="52"/>
                    <a:pt x="54" y="46"/>
                    <a:pt x="50" y="39"/>
                  </a:cubicBezTo>
                  <a:cubicBezTo>
                    <a:pt x="65" y="29"/>
                    <a:pt x="65" y="29"/>
                    <a:pt x="65" y="29"/>
                  </a:cubicBezTo>
                  <a:cubicBezTo>
                    <a:pt x="8" y="0"/>
                    <a:pt x="8" y="0"/>
                    <a:pt x="8" y="0"/>
                  </a:cubicBezTo>
                  <a:cubicBezTo>
                    <a:pt x="13" y="63"/>
                    <a:pt x="13" y="63"/>
                    <a:pt x="13" y="63"/>
                  </a:cubicBezTo>
                  <a:lnTo>
                    <a:pt x="29" y="53"/>
                  </a:lnTo>
                  <a:close/>
                  <a:moveTo>
                    <a:pt x="115" y="53"/>
                  </a:moveTo>
                  <a:cubicBezTo>
                    <a:pt x="131" y="63"/>
                    <a:pt x="131" y="63"/>
                    <a:pt x="131" y="63"/>
                  </a:cubicBezTo>
                  <a:cubicBezTo>
                    <a:pt x="136" y="0"/>
                    <a:pt x="136" y="0"/>
                    <a:pt x="136" y="0"/>
                  </a:cubicBezTo>
                  <a:cubicBezTo>
                    <a:pt x="80" y="29"/>
                    <a:pt x="80" y="29"/>
                    <a:pt x="80" y="29"/>
                  </a:cubicBezTo>
                  <a:cubicBezTo>
                    <a:pt x="95" y="39"/>
                    <a:pt x="95" y="39"/>
                    <a:pt x="95" y="39"/>
                  </a:cubicBezTo>
                  <a:cubicBezTo>
                    <a:pt x="61" y="90"/>
                    <a:pt x="1" y="103"/>
                    <a:pt x="0" y="103"/>
                  </a:cubicBezTo>
                  <a:cubicBezTo>
                    <a:pt x="5" y="127"/>
                    <a:pt x="5" y="127"/>
                    <a:pt x="5" y="127"/>
                  </a:cubicBezTo>
                  <a:cubicBezTo>
                    <a:pt x="8" y="127"/>
                    <a:pt x="75" y="112"/>
                    <a:pt x="115" y="53"/>
                  </a:cubicBezTo>
                  <a:close/>
                  <a:moveTo>
                    <a:pt x="101" y="86"/>
                  </a:moveTo>
                  <a:cubicBezTo>
                    <a:pt x="95" y="92"/>
                    <a:pt x="88" y="98"/>
                    <a:pt x="81" y="103"/>
                  </a:cubicBezTo>
                  <a:cubicBezTo>
                    <a:pt x="111" y="121"/>
                    <a:pt x="137" y="127"/>
                    <a:pt x="139" y="127"/>
                  </a:cubicBezTo>
                  <a:cubicBezTo>
                    <a:pt x="144" y="103"/>
                    <a:pt x="144" y="103"/>
                    <a:pt x="144" y="103"/>
                  </a:cubicBezTo>
                  <a:cubicBezTo>
                    <a:pt x="144" y="103"/>
                    <a:pt x="124" y="99"/>
                    <a:pt x="101" y="86"/>
                  </a:cubicBezTo>
                  <a:close/>
                </a:path>
              </a:pathLst>
            </a:custGeom>
            <a:solidFill>
              <a:schemeClr val="accent1"/>
            </a:solidFill>
            <a:ln>
              <a:noFill/>
            </a:ln>
          </p:spPr>
          <p:txBody>
            <a:bodyPr vert="horz" wrap="square" lIns="91440" tIns="45720" rIns="91440" bIns="45720" numCol="1" anchor="t" anchorCtr="0" compatLnSpc="1"/>
            <a:lstStyle/>
            <a:p>
              <a:endParaRPr lang="zh-CN" altLang="en-US">
                <a:solidFill>
                  <a:schemeClr val="tx1">
                    <a:lumMod val="85000"/>
                    <a:lumOff val="15000"/>
                  </a:schemeClr>
                </a:solidFill>
                <a:latin typeface="微软雅黑" panose="020B0503020204020204" charset="-122"/>
                <a:ea typeface="微软雅黑" panose="020B0503020204020204" charset="-122"/>
              </a:endParaRPr>
            </a:p>
          </p:txBody>
        </p:sp>
      </p:grpSp>
      <p:grpSp>
        <p:nvGrpSpPr>
          <p:cNvPr id="42" name="Group 86"/>
          <p:cNvGrpSpPr/>
          <p:nvPr/>
        </p:nvGrpSpPr>
        <p:grpSpPr>
          <a:xfrm>
            <a:off x="7089747" y="1700335"/>
            <a:ext cx="3371850" cy="389612"/>
            <a:chOff x="6833078" y="1885608"/>
            <a:chExt cx="3371850" cy="389612"/>
          </a:xfrm>
        </p:grpSpPr>
        <p:sp>
          <p:nvSpPr>
            <p:cNvPr id="43" name="Rectangle 69"/>
            <p:cNvSpPr/>
            <p:nvPr/>
          </p:nvSpPr>
          <p:spPr>
            <a:xfrm>
              <a:off x="6833078" y="1999268"/>
              <a:ext cx="3371850" cy="2742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i="1" dirty="0">
                  <a:solidFill>
                    <a:schemeClr val="tx1"/>
                  </a:solidFill>
                  <a:latin typeface="微软雅黑" panose="020B0503020204020204" charset="-122"/>
                  <a:ea typeface="微软雅黑" panose="020B0503020204020204" charset="-122"/>
                </a:rPr>
                <a:t>五项建设举措</a:t>
              </a:r>
              <a:endParaRPr lang="zh-CN" altLang="en-US" b="1" i="1" dirty="0">
                <a:solidFill>
                  <a:schemeClr val="tx1"/>
                </a:solidFill>
                <a:latin typeface="微软雅黑" panose="020B0503020204020204" charset="-122"/>
                <a:ea typeface="微软雅黑" panose="020B0503020204020204" charset="-122"/>
              </a:endParaRPr>
            </a:p>
          </p:txBody>
        </p:sp>
        <p:sp>
          <p:nvSpPr>
            <p:cNvPr id="44" name="Freeform 329"/>
            <p:cNvSpPr>
              <a:spLocks noEditPoints="1"/>
            </p:cNvSpPr>
            <p:nvPr/>
          </p:nvSpPr>
          <p:spPr bwMode="auto">
            <a:xfrm>
              <a:off x="7104373" y="1885608"/>
              <a:ext cx="550916" cy="389612"/>
            </a:xfrm>
            <a:custGeom>
              <a:avLst/>
              <a:gdLst>
                <a:gd name="T0" fmla="*/ 18 w 222"/>
                <a:gd name="T1" fmla="*/ 113 h 157"/>
                <a:gd name="T2" fmla="*/ 94 w 222"/>
                <a:gd name="T3" fmla="*/ 113 h 157"/>
                <a:gd name="T4" fmla="*/ 107 w 222"/>
                <a:gd name="T5" fmla="*/ 157 h 157"/>
                <a:gd name="T6" fmla="*/ 5 w 222"/>
                <a:gd name="T7" fmla="*/ 157 h 157"/>
                <a:gd name="T8" fmla="*/ 18 w 222"/>
                <a:gd name="T9" fmla="*/ 113 h 157"/>
                <a:gd name="T10" fmla="*/ 18 w 222"/>
                <a:gd name="T11" fmla="*/ 113 h 157"/>
                <a:gd name="T12" fmla="*/ 209 w 222"/>
                <a:gd name="T13" fmla="*/ 73 h 157"/>
                <a:gd name="T14" fmla="*/ 209 w 222"/>
                <a:gd name="T15" fmla="*/ 86 h 157"/>
                <a:gd name="T16" fmla="*/ 220 w 222"/>
                <a:gd name="T17" fmla="*/ 95 h 157"/>
                <a:gd name="T18" fmla="*/ 207 w 222"/>
                <a:gd name="T19" fmla="*/ 95 h 157"/>
                <a:gd name="T20" fmla="*/ 200 w 222"/>
                <a:gd name="T21" fmla="*/ 106 h 157"/>
                <a:gd name="T22" fmla="*/ 200 w 222"/>
                <a:gd name="T23" fmla="*/ 93 h 157"/>
                <a:gd name="T24" fmla="*/ 187 w 222"/>
                <a:gd name="T25" fmla="*/ 84 h 157"/>
                <a:gd name="T26" fmla="*/ 200 w 222"/>
                <a:gd name="T27" fmla="*/ 86 h 157"/>
                <a:gd name="T28" fmla="*/ 209 w 222"/>
                <a:gd name="T29" fmla="*/ 73 h 157"/>
                <a:gd name="T30" fmla="*/ 209 w 222"/>
                <a:gd name="T31" fmla="*/ 73 h 157"/>
                <a:gd name="T32" fmla="*/ 20 w 222"/>
                <a:gd name="T33" fmla="*/ 84 h 157"/>
                <a:gd name="T34" fmla="*/ 14 w 222"/>
                <a:gd name="T35" fmla="*/ 95 h 157"/>
                <a:gd name="T36" fmla="*/ 0 w 222"/>
                <a:gd name="T37" fmla="*/ 95 h 157"/>
                <a:gd name="T38" fmla="*/ 11 w 222"/>
                <a:gd name="T39" fmla="*/ 102 h 157"/>
                <a:gd name="T40" fmla="*/ 11 w 222"/>
                <a:gd name="T41" fmla="*/ 115 h 157"/>
                <a:gd name="T42" fmla="*/ 18 w 222"/>
                <a:gd name="T43" fmla="*/ 104 h 157"/>
                <a:gd name="T44" fmla="*/ 34 w 222"/>
                <a:gd name="T45" fmla="*/ 104 h 157"/>
                <a:gd name="T46" fmla="*/ 20 w 222"/>
                <a:gd name="T47" fmla="*/ 97 h 157"/>
                <a:gd name="T48" fmla="*/ 20 w 222"/>
                <a:gd name="T49" fmla="*/ 84 h 157"/>
                <a:gd name="T50" fmla="*/ 20 w 222"/>
                <a:gd name="T51" fmla="*/ 84 h 157"/>
                <a:gd name="T52" fmla="*/ 82 w 222"/>
                <a:gd name="T53" fmla="*/ 0 h 157"/>
                <a:gd name="T54" fmla="*/ 80 w 222"/>
                <a:gd name="T55" fmla="*/ 26 h 157"/>
                <a:gd name="T56" fmla="*/ 105 w 222"/>
                <a:gd name="T57" fmla="*/ 42 h 157"/>
                <a:gd name="T58" fmla="*/ 78 w 222"/>
                <a:gd name="T59" fmla="*/ 39 h 157"/>
                <a:gd name="T60" fmla="*/ 62 w 222"/>
                <a:gd name="T61" fmla="*/ 64 h 157"/>
                <a:gd name="T62" fmla="*/ 65 w 222"/>
                <a:gd name="T63" fmla="*/ 37 h 157"/>
                <a:gd name="T64" fmla="*/ 40 w 222"/>
                <a:gd name="T65" fmla="*/ 22 h 157"/>
                <a:gd name="T66" fmla="*/ 67 w 222"/>
                <a:gd name="T67" fmla="*/ 22 h 157"/>
                <a:gd name="T68" fmla="*/ 82 w 222"/>
                <a:gd name="T69" fmla="*/ 0 h 157"/>
                <a:gd name="T70" fmla="*/ 82 w 222"/>
                <a:gd name="T71" fmla="*/ 0 h 157"/>
                <a:gd name="T72" fmla="*/ 133 w 222"/>
                <a:gd name="T73" fmla="*/ 113 h 157"/>
                <a:gd name="T74" fmla="*/ 209 w 222"/>
                <a:gd name="T75" fmla="*/ 113 h 157"/>
                <a:gd name="T76" fmla="*/ 222 w 222"/>
                <a:gd name="T77" fmla="*/ 157 h 157"/>
                <a:gd name="T78" fmla="*/ 120 w 222"/>
                <a:gd name="T79" fmla="*/ 157 h 157"/>
                <a:gd name="T80" fmla="*/ 133 w 222"/>
                <a:gd name="T81" fmla="*/ 113 h 157"/>
                <a:gd name="T82" fmla="*/ 133 w 222"/>
                <a:gd name="T83" fmla="*/ 113 h 157"/>
                <a:gd name="T84" fmla="*/ 74 w 222"/>
                <a:gd name="T85" fmla="*/ 55 h 157"/>
                <a:gd name="T86" fmla="*/ 60 w 222"/>
                <a:gd name="T87" fmla="*/ 99 h 157"/>
                <a:gd name="T88" fmla="*/ 162 w 222"/>
                <a:gd name="T89" fmla="*/ 99 h 157"/>
                <a:gd name="T90" fmla="*/ 149 w 222"/>
                <a:gd name="T91" fmla="*/ 55 h 157"/>
                <a:gd name="T92" fmla="*/ 74 w 222"/>
                <a:gd name="T93" fmla="*/ 5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2" h="157">
                  <a:moveTo>
                    <a:pt x="18" y="113"/>
                  </a:moveTo>
                  <a:lnTo>
                    <a:pt x="94" y="113"/>
                  </a:lnTo>
                  <a:lnTo>
                    <a:pt x="107" y="157"/>
                  </a:lnTo>
                  <a:lnTo>
                    <a:pt x="5" y="157"/>
                  </a:lnTo>
                  <a:lnTo>
                    <a:pt x="18" y="113"/>
                  </a:lnTo>
                  <a:lnTo>
                    <a:pt x="18" y="113"/>
                  </a:lnTo>
                  <a:close/>
                  <a:moveTo>
                    <a:pt x="209" y="73"/>
                  </a:moveTo>
                  <a:lnTo>
                    <a:pt x="209" y="86"/>
                  </a:lnTo>
                  <a:lnTo>
                    <a:pt x="220" y="95"/>
                  </a:lnTo>
                  <a:lnTo>
                    <a:pt x="207" y="95"/>
                  </a:lnTo>
                  <a:lnTo>
                    <a:pt x="200" y="106"/>
                  </a:lnTo>
                  <a:lnTo>
                    <a:pt x="200" y="93"/>
                  </a:lnTo>
                  <a:lnTo>
                    <a:pt x="187" y="84"/>
                  </a:lnTo>
                  <a:lnTo>
                    <a:pt x="200" y="86"/>
                  </a:lnTo>
                  <a:lnTo>
                    <a:pt x="209" y="73"/>
                  </a:lnTo>
                  <a:lnTo>
                    <a:pt x="209" y="73"/>
                  </a:lnTo>
                  <a:close/>
                  <a:moveTo>
                    <a:pt x="20" y="84"/>
                  </a:moveTo>
                  <a:lnTo>
                    <a:pt x="14" y="95"/>
                  </a:lnTo>
                  <a:lnTo>
                    <a:pt x="0" y="95"/>
                  </a:lnTo>
                  <a:lnTo>
                    <a:pt x="11" y="102"/>
                  </a:lnTo>
                  <a:lnTo>
                    <a:pt x="11" y="115"/>
                  </a:lnTo>
                  <a:lnTo>
                    <a:pt x="18" y="104"/>
                  </a:lnTo>
                  <a:lnTo>
                    <a:pt x="34" y="104"/>
                  </a:lnTo>
                  <a:lnTo>
                    <a:pt x="20" y="97"/>
                  </a:lnTo>
                  <a:lnTo>
                    <a:pt x="20" y="84"/>
                  </a:lnTo>
                  <a:lnTo>
                    <a:pt x="20" y="84"/>
                  </a:lnTo>
                  <a:close/>
                  <a:moveTo>
                    <a:pt x="82" y="0"/>
                  </a:moveTo>
                  <a:lnTo>
                    <a:pt x="80" y="26"/>
                  </a:lnTo>
                  <a:lnTo>
                    <a:pt x="105" y="42"/>
                  </a:lnTo>
                  <a:lnTo>
                    <a:pt x="78" y="39"/>
                  </a:lnTo>
                  <a:lnTo>
                    <a:pt x="62" y="64"/>
                  </a:lnTo>
                  <a:lnTo>
                    <a:pt x="65" y="37"/>
                  </a:lnTo>
                  <a:lnTo>
                    <a:pt x="40" y="22"/>
                  </a:lnTo>
                  <a:lnTo>
                    <a:pt x="67" y="22"/>
                  </a:lnTo>
                  <a:lnTo>
                    <a:pt x="82" y="0"/>
                  </a:lnTo>
                  <a:lnTo>
                    <a:pt x="82" y="0"/>
                  </a:lnTo>
                  <a:close/>
                  <a:moveTo>
                    <a:pt x="133" y="113"/>
                  </a:moveTo>
                  <a:lnTo>
                    <a:pt x="209" y="113"/>
                  </a:lnTo>
                  <a:lnTo>
                    <a:pt x="222" y="157"/>
                  </a:lnTo>
                  <a:lnTo>
                    <a:pt x="120" y="157"/>
                  </a:lnTo>
                  <a:lnTo>
                    <a:pt x="133" y="113"/>
                  </a:lnTo>
                  <a:lnTo>
                    <a:pt x="133" y="113"/>
                  </a:lnTo>
                  <a:close/>
                  <a:moveTo>
                    <a:pt x="74" y="55"/>
                  </a:moveTo>
                  <a:lnTo>
                    <a:pt x="60" y="99"/>
                  </a:lnTo>
                  <a:lnTo>
                    <a:pt x="162" y="99"/>
                  </a:lnTo>
                  <a:lnTo>
                    <a:pt x="149" y="55"/>
                  </a:lnTo>
                  <a:lnTo>
                    <a:pt x="74" y="55"/>
                  </a:lnTo>
                  <a:close/>
                </a:path>
              </a:pathLst>
            </a:custGeom>
            <a:solidFill>
              <a:srgbClr val="C00000"/>
            </a:solidFill>
            <a:ln>
              <a:noFill/>
            </a:ln>
          </p:spPr>
          <p:txBody>
            <a:bodyPr vert="horz" wrap="square" lIns="91440" tIns="45720" rIns="91440" bIns="45720" numCol="1" anchor="t" anchorCtr="0" compatLnSpc="1"/>
            <a:lstStyle/>
            <a:p>
              <a:endParaRPr lang="zh-CN" altLang="en-US">
                <a:solidFill>
                  <a:prstClr val="black"/>
                </a:solidFill>
                <a:latin typeface="微软雅黑" panose="020B0503020204020204" charset="-122"/>
                <a:ea typeface="微软雅黑" panose="020B0503020204020204" charset="-122"/>
              </a:endParaRPr>
            </a:p>
          </p:txBody>
        </p:sp>
      </p:grpSp>
      <p:grpSp>
        <p:nvGrpSpPr>
          <p:cNvPr id="45" name="Group 130"/>
          <p:cNvGrpSpPr/>
          <p:nvPr/>
        </p:nvGrpSpPr>
        <p:grpSpPr>
          <a:xfrm>
            <a:off x="931248" y="2352468"/>
            <a:ext cx="4393999" cy="4124536"/>
            <a:chOff x="660621" y="2406258"/>
            <a:chExt cx="4804348" cy="1815384"/>
          </a:xfrm>
        </p:grpSpPr>
        <p:sp>
          <p:nvSpPr>
            <p:cNvPr id="46" name="Rectangle 39"/>
            <p:cNvSpPr/>
            <p:nvPr/>
          </p:nvSpPr>
          <p:spPr>
            <a:xfrm>
              <a:off x="660621" y="2406258"/>
              <a:ext cx="4804348" cy="332598"/>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lnSpc>
                  <a:spcPct val="125000"/>
                </a:lnSpc>
                <a:spcBef>
                  <a:spcPts val="1200"/>
                </a:spcBef>
                <a:defRPr/>
              </a:pP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挑战</a:t>
              </a:r>
              <a:r>
                <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1.</a:t>
              </a:r>
              <a:r>
                <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源端治理</a:t>
              </a: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标准化不足</a:t>
              </a:r>
              <a:endPar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a:p>
              <a:pPr marL="0" indent="0">
                <a:lnSpc>
                  <a:spcPct val="125000"/>
                </a:lnSpc>
                <a:defRPr/>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知识分散存储、标准不统一，存在版本混乱、合规溯源难问题。</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7" name="Rectangle 55"/>
            <p:cNvSpPr/>
            <p:nvPr/>
          </p:nvSpPr>
          <p:spPr>
            <a:xfrm>
              <a:off x="660621" y="2771862"/>
              <a:ext cx="4804348" cy="332598"/>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lnSpc>
                  <a:spcPct val="125000"/>
                </a:lnSpc>
                <a:spcBef>
                  <a:spcPts val="1200"/>
                </a:spcBef>
                <a:defRPr/>
              </a:pP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挑战</a:t>
              </a:r>
              <a:r>
                <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2.AI</a:t>
              </a: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知识原生化不足</a:t>
              </a:r>
              <a:endPar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a:p>
              <a:pPr marL="0" indent="0">
                <a:lnSpc>
                  <a:spcPct val="125000"/>
                </a:lnSpc>
                <a:defRPr/>
              </a:pPr>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仍以</a:t>
              </a:r>
              <a:r>
                <a:rPr lang="en-US" altLang="zh-CN" sz="1200" b="0" dirty="0">
                  <a:solidFill>
                    <a:srgbClr val="000000"/>
                  </a:solidFill>
                  <a:effectLst/>
                  <a:latin typeface="微软雅黑" panose="020B0503020204020204" charset="-122"/>
                  <a:ea typeface="微软雅黑" panose="020B0503020204020204" charset="-122"/>
                  <a:cs typeface="微软雅黑" panose="020B0503020204020204" charset="-122"/>
                </a:rPr>
                <a:t> FAQ</a:t>
              </a:r>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和向量加工模式为主，缺乏图</a:t>
              </a:r>
              <a:r>
                <a:rPr lang="en-US" altLang="zh-CN" sz="1200" b="0" dirty="0">
                  <a:solidFill>
                    <a:srgbClr val="000000"/>
                  </a:solidFill>
                  <a:effectLst/>
                  <a:latin typeface="微软雅黑" panose="020B0503020204020204" charset="-122"/>
                  <a:ea typeface="微软雅黑" panose="020B0503020204020204" charset="-122"/>
                  <a:cs typeface="微软雅黑" panose="020B0503020204020204" charset="-122"/>
                </a:rPr>
                <a:t> + </a:t>
              </a:r>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向量</a:t>
              </a:r>
              <a:r>
                <a:rPr lang="en-US" altLang="zh-CN" sz="1200" b="0" dirty="0">
                  <a:solidFill>
                    <a:srgbClr val="000000"/>
                  </a:solidFill>
                  <a:effectLst/>
                  <a:latin typeface="微软雅黑" panose="020B0503020204020204" charset="-122"/>
                  <a:ea typeface="微软雅黑" panose="020B0503020204020204" charset="-122"/>
                  <a:cs typeface="微软雅黑" panose="020B0503020204020204" charset="-122"/>
                </a:rPr>
                <a:t> AI </a:t>
              </a:r>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原生混合检索能力。</a:t>
              </a:r>
              <a:endParaRPr lang="en-US" altLang="zh-CN" sz="1200" dirty="0">
                <a:latin typeface="微软雅黑" panose="020B0503020204020204" charset="-122"/>
                <a:ea typeface="微软雅黑" panose="020B0503020204020204" charset="-122"/>
                <a:cs typeface="微软雅黑" panose="020B0503020204020204" charset="-122"/>
              </a:endParaRPr>
            </a:p>
          </p:txBody>
        </p:sp>
        <p:sp>
          <p:nvSpPr>
            <p:cNvPr id="48" name="Rectangle 56"/>
            <p:cNvSpPr/>
            <p:nvPr/>
          </p:nvSpPr>
          <p:spPr>
            <a:xfrm>
              <a:off x="660621" y="3137466"/>
              <a:ext cx="4804348" cy="332599"/>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lgn="l">
                <a:lnSpc>
                  <a:spcPct val="125000"/>
                </a:lnSpc>
                <a:spcBef>
                  <a:spcPts val="1200"/>
                </a:spcBef>
                <a:buClrTx/>
                <a:buSzTx/>
                <a:buFontTx/>
                <a:defRPr/>
              </a:pP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挑战3.智能编排能力不足</a:t>
              </a:r>
              <a:endPar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a:p>
              <a:pPr>
                <a:spcBef>
                  <a:spcPts val="1200"/>
                </a:spcBef>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知识服务形态老旧，仍以</a:t>
              </a:r>
              <a:r>
                <a:rPr lang="en-US" altLang="zh-CN" sz="1200" dirty="0">
                  <a:solidFill>
                    <a:schemeClr val="tx1"/>
                  </a:solidFill>
                  <a:latin typeface="微软雅黑" panose="020B0503020204020204" charset="-122"/>
                  <a:ea typeface="微软雅黑" panose="020B0503020204020204" charset="-122"/>
                  <a:cs typeface="微软雅黑" panose="020B0503020204020204" charset="-122"/>
                </a:rPr>
                <a:t>API</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服务为主</a:t>
              </a:r>
              <a:r>
                <a:rPr lang="en-US" altLang="zh-CN" sz="1200"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难以深度嵌入业务流程。</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9" name="Rectangle 57"/>
            <p:cNvSpPr/>
            <p:nvPr/>
          </p:nvSpPr>
          <p:spPr>
            <a:xfrm>
              <a:off x="660621" y="3503070"/>
              <a:ext cx="4804348" cy="288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lnSpc>
                  <a:spcPct val="125000"/>
                </a:lnSpc>
                <a:spcBef>
                  <a:spcPts val="1200"/>
                </a:spcBef>
                <a:defRPr/>
              </a:pP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挑战</a:t>
              </a:r>
              <a:r>
                <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4.</a:t>
              </a: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运营智能化不足</a:t>
              </a:r>
              <a:endPar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a:p>
              <a:pPr algn="l"/>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知识运营高度依赖人工，缺乏多</a:t>
              </a:r>
              <a:r>
                <a:rPr lang="en-US" altLang="zh-CN" sz="1200" b="0" dirty="0">
                  <a:solidFill>
                    <a:srgbClr val="000000"/>
                  </a:solidFill>
                  <a:effectLst/>
                  <a:latin typeface="微软雅黑" panose="020B0503020204020204" charset="-122"/>
                  <a:ea typeface="微软雅黑" panose="020B0503020204020204" charset="-122"/>
                  <a:cs typeface="微软雅黑" panose="020B0503020204020204" charset="-122"/>
                </a:rPr>
                <a:t> Agent </a:t>
              </a:r>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自闭环能力，迭代效率偏低。</a:t>
              </a:r>
              <a:endPar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endParaRPr>
            </a:p>
          </p:txBody>
        </p:sp>
        <p:sp>
          <p:nvSpPr>
            <p:cNvPr id="50" name="Rectangle 58"/>
            <p:cNvSpPr/>
            <p:nvPr/>
          </p:nvSpPr>
          <p:spPr>
            <a:xfrm>
              <a:off x="660621" y="3868674"/>
              <a:ext cx="4804348" cy="352968"/>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rtlCol="0" anchor="ctr"/>
            <a:lstStyle/>
            <a:p>
              <a:pPr>
                <a:spcBef>
                  <a:spcPts val="1200"/>
                </a:spcBef>
                <a:defRPr/>
              </a:pP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挑战</a:t>
              </a:r>
              <a:r>
                <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5.</a:t>
              </a:r>
              <a:r>
                <a:rPr lang="zh-CN" altLang="en-US"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rPr>
                <a:t>能力延展化不足 </a:t>
              </a:r>
              <a:endParaRPr lang="en-US" altLang="zh-CN" sz="1400" b="1"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a:p>
              <a:pPr>
                <a:spcBef>
                  <a:spcPts val="1200"/>
                </a:spcBef>
              </a:pPr>
              <a:r>
                <a:rPr lang="zh-CN" altLang="en-US" sz="1200" dirty="0">
                  <a:solidFill>
                    <a:schemeClr val="tx1"/>
                  </a:solidFill>
                  <a:effectLst/>
                  <a:latin typeface="微软雅黑" panose="020B0503020204020204" charset="-122"/>
                  <a:ea typeface="微软雅黑" panose="020B0503020204020204" charset="-122"/>
                  <a:cs typeface="微软雅黑" panose="020B0503020204020204" charset="-122"/>
                  <a:sym typeface="+mn-ea"/>
                </a:rPr>
                <a:t>缺乏与结构化数据</a:t>
              </a:r>
              <a:r>
                <a:rPr lang="en-US" altLang="zh-CN" sz="1200" dirty="0">
                  <a:solidFill>
                    <a:schemeClr val="tx1"/>
                  </a:solidFill>
                  <a:effectLs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chemeClr val="tx1"/>
                  </a:solidFill>
                  <a:effectLst/>
                  <a:latin typeface="微软雅黑" panose="020B0503020204020204" charset="-122"/>
                  <a:ea typeface="微软雅黑" panose="020B0503020204020204" charset="-122"/>
                  <a:cs typeface="微软雅黑" panose="020B0503020204020204" charset="-122"/>
                  <a:sym typeface="+mn-ea"/>
                </a:rPr>
                <a:t>业务系统接口对接</a:t>
              </a:r>
              <a:r>
                <a:rPr lang="zh-CN" altLang="en-US" sz="1200" dirty="0">
                  <a:solidFill>
                    <a:schemeClr val="tx1"/>
                  </a:solidFill>
                  <a:latin typeface="微软雅黑" panose="020B0503020204020204" charset="-122"/>
                  <a:ea typeface="微软雅黑" panose="020B0503020204020204" charset="-122"/>
                  <a:cs typeface="微软雅黑" panose="020B0503020204020204" charset="-122"/>
                </a:rPr>
                <a:t>，难以支撑信贷智能审批等智能决策应用。</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endParaRPr>
            </a:p>
          </p:txBody>
        </p:sp>
      </p:grpSp>
      <p:grpSp>
        <p:nvGrpSpPr>
          <p:cNvPr id="51" name="Group 238"/>
          <p:cNvGrpSpPr/>
          <p:nvPr/>
        </p:nvGrpSpPr>
        <p:grpSpPr>
          <a:xfrm>
            <a:off x="6803362" y="2174415"/>
            <a:ext cx="4000500" cy="4302593"/>
            <a:chOff x="6942999" y="2419895"/>
            <a:chExt cx="3993972" cy="1142828"/>
          </a:xfrm>
        </p:grpSpPr>
        <p:sp>
          <p:nvSpPr>
            <p:cNvPr id="52" name="Rectangle 71"/>
            <p:cNvSpPr/>
            <p:nvPr/>
          </p:nvSpPr>
          <p:spPr>
            <a:xfrm>
              <a:off x="6942999" y="2419895"/>
              <a:ext cx="3993971" cy="18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zh-CN" altLang="en-US" sz="1400"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举措</a:t>
              </a:r>
              <a:r>
                <a:rPr lang="en-US" altLang="zh-CN" sz="1400"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1</a:t>
              </a:r>
              <a:r>
                <a:rPr lang="zh-CN" altLang="en-US" sz="1400"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：资源汇聚标准化</a:t>
              </a:r>
              <a:endParaRPr lang="zh-CN" altLang="en-US" sz="1400" b="1" i="0" u="none" strike="noStrike"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统一知识归集规则与元数据标准，实现全量知识合规可溯源。</a:t>
              </a:r>
              <a:endParaRPr lang="en-US" altLang="zh-CN" sz="1100" dirty="0">
                <a:latin typeface="微软雅黑" panose="020B0503020204020204" charset="-122"/>
                <a:ea typeface="微软雅黑" panose="020B0503020204020204" charset="-122"/>
                <a:cs typeface="微软雅黑" panose="020B0503020204020204" charset="-122"/>
              </a:endParaRPr>
            </a:p>
          </p:txBody>
        </p:sp>
        <p:sp>
          <p:nvSpPr>
            <p:cNvPr id="53" name="Rectangle 71"/>
            <p:cNvSpPr/>
            <p:nvPr/>
          </p:nvSpPr>
          <p:spPr>
            <a:xfrm>
              <a:off x="6943000" y="2674388"/>
              <a:ext cx="3993971" cy="18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举措</a:t>
              </a:r>
              <a:r>
                <a:rPr lang="en-US" altLang="zh-CN"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2</a:t>
              </a:r>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：知识语义索引化</a:t>
              </a:r>
              <a:endPar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r>
                <a:rPr lang="zh-CN" altLang="en-US" sz="1200" dirty="0">
                  <a:solidFill>
                    <a:srgbClr val="000000"/>
                  </a:solidFill>
                  <a:latin typeface="微软雅黑" panose="020B0503020204020204" charset="-122"/>
                  <a:ea typeface="微软雅黑" panose="020B0503020204020204" charset="-122"/>
                  <a:cs typeface="微软雅黑" panose="020B0503020204020204" charset="-122"/>
                </a:rPr>
                <a:t>构建统一语义</a:t>
              </a:r>
              <a:r>
                <a:rPr lang="zh-CN" altLang="en-US" sz="1200" dirty="0">
                  <a:solidFill>
                    <a:srgbClr val="000000"/>
                  </a:solidFill>
                  <a:latin typeface="微软雅黑" panose="020B0503020204020204" charset="-122"/>
                  <a:ea typeface="微软雅黑" panose="020B0503020204020204" charset="-122"/>
                  <a:cs typeface="微软雅黑" panose="020B0503020204020204" charset="-122"/>
                </a:rPr>
                <a:t>图谱索引和知识向量索引</a:t>
              </a:r>
              <a:r>
                <a:rPr lang="en-US" altLang="zh-CN" sz="1200"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200" dirty="0">
                  <a:solidFill>
                    <a:srgbClr val="000000"/>
                  </a:solidFill>
                  <a:latin typeface="微软雅黑" panose="020B0503020204020204" charset="-122"/>
                  <a:ea typeface="微软雅黑" panose="020B0503020204020204" charset="-122"/>
                  <a:cs typeface="微软雅黑" panose="020B0503020204020204" charset="-122"/>
                </a:rPr>
                <a:t>实现全域知识精准高效检索。</a:t>
              </a:r>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4" name="Rectangle 71"/>
            <p:cNvSpPr/>
            <p:nvPr/>
          </p:nvSpPr>
          <p:spPr>
            <a:xfrm>
              <a:off x="6943000" y="2908523"/>
              <a:ext cx="3993971" cy="18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举措</a:t>
              </a:r>
              <a:r>
                <a:rPr lang="en-US" altLang="zh-CN"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3</a:t>
              </a:r>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：智能服务多元化</a:t>
              </a:r>
              <a:endPar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r>
                <a:rPr lang="zh-CN" altLang="en-US" sz="1200" dirty="0">
                  <a:solidFill>
                    <a:srgbClr val="000000"/>
                  </a:solidFill>
                  <a:latin typeface="微软雅黑" panose="020B0503020204020204" charset="-122"/>
                  <a:ea typeface="微软雅黑" panose="020B0503020204020204" charset="-122"/>
                  <a:cs typeface="微软雅黑" panose="020B0503020204020204" charset="-122"/>
                </a:rPr>
                <a:t>封装标准化</a:t>
              </a:r>
              <a:r>
                <a:rPr lang="en-US" altLang="zh-CN" sz="1200" dirty="0">
                  <a:solidFill>
                    <a:srgbClr val="000000"/>
                  </a:solidFill>
                  <a:latin typeface="微软雅黑" panose="020B0503020204020204" charset="-122"/>
                  <a:ea typeface="微软雅黑" panose="020B0503020204020204" charset="-122"/>
                  <a:cs typeface="微软雅黑" panose="020B0503020204020204" charset="-122"/>
                </a:rPr>
                <a:t> RAG Skill </a:t>
              </a:r>
              <a:r>
                <a:rPr lang="zh-CN" altLang="en-US" sz="1200" dirty="0">
                  <a:solidFill>
                    <a:srgbClr val="000000"/>
                  </a:solidFill>
                  <a:latin typeface="微软雅黑" panose="020B0503020204020204" charset="-122"/>
                  <a:ea typeface="微软雅黑" panose="020B0503020204020204" charset="-122"/>
                  <a:cs typeface="微软雅黑" panose="020B0503020204020204" charset="-122"/>
                </a:rPr>
                <a:t>服务能力，实现智能供给深度融入业务场景。</a:t>
              </a:r>
              <a:endParaRPr lang="en-US" altLang="zh-CN"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5" name="Rectangle 71"/>
            <p:cNvSpPr/>
            <p:nvPr/>
          </p:nvSpPr>
          <p:spPr>
            <a:xfrm>
              <a:off x="6943000" y="3136731"/>
              <a:ext cx="3993971" cy="18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举措</a:t>
              </a:r>
              <a:r>
                <a:rPr lang="en-US" altLang="zh-CN"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4</a:t>
              </a:r>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：运营管理智能化</a:t>
              </a:r>
              <a:endPar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搭建多</a:t>
              </a:r>
              <a:r>
                <a:rPr lang="en-US" altLang="zh-CN" sz="1200" b="0" dirty="0">
                  <a:solidFill>
                    <a:srgbClr val="000000"/>
                  </a:solidFill>
                  <a:effectLst/>
                  <a:latin typeface="微软雅黑" panose="020B0503020204020204" charset="-122"/>
                  <a:ea typeface="微软雅黑" panose="020B0503020204020204" charset="-122"/>
                  <a:cs typeface="微软雅黑" panose="020B0503020204020204" charset="-122"/>
                </a:rPr>
                <a:t> Agent </a:t>
              </a:r>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自闭环运营体系，实现知识全生命周期自治迭代。</a:t>
              </a:r>
              <a:endParaRPr lang="en-US" altLang="zh-CN" sz="1200" dirty="0">
                <a:solidFill>
                  <a:schemeClr val="tx1"/>
                </a:solidFill>
                <a:latin typeface="微软雅黑" panose="020B0503020204020204" charset="-122"/>
                <a:ea typeface="微软雅黑" panose="020B0503020204020204" charset="-122"/>
                <a:cs typeface="微软雅黑" panose="020B0503020204020204" charset="-122"/>
              </a:endParaRPr>
            </a:p>
            <a:p>
              <a:endParaRPr lang="zh-CN" altLang="en-US" sz="1200" dirty="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6" name="Rectangle 71"/>
            <p:cNvSpPr/>
            <p:nvPr/>
          </p:nvSpPr>
          <p:spPr>
            <a:xfrm>
              <a:off x="6943000" y="3382723"/>
              <a:ext cx="3993971" cy="18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52000" rtlCol="0" anchor="ctr"/>
            <a:lstStyle/>
            <a:p>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举措</a:t>
              </a:r>
              <a:r>
                <a:rPr lang="en-US" altLang="zh-CN"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5</a:t>
              </a:r>
              <a:r>
                <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：体系拓展全域化</a:t>
              </a:r>
              <a:endParaRPr lang="zh-CN" altLang="en-US" sz="1400"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r>
                <a:rPr lang="zh-CN" altLang="en-US" sz="1200" b="0" dirty="0">
                  <a:solidFill>
                    <a:srgbClr val="000000"/>
                  </a:solidFill>
                  <a:effectLst/>
                  <a:latin typeface="微软雅黑" panose="020B0503020204020204" charset="-122"/>
                  <a:ea typeface="微软雅黑" panose="020B0503020204020204" charset="-122"/>
                  <a:cs typeface="微软雅黑" panose="020B0503020204020204" charset="-122"/>
                </a:rPr>
                <a:t>打通跨系统能力边界，实现结构化数据融合、场景专家模型内化升级</a:t>
              </a:r>
              <a:r>
                <a:rPr lang="en-US" altLang="zh-CN" sz="1200" b="0" dirty="0">
                  <a:solidFill>
                    <a:srgbClr val="000000"/>
                  </a:solidFill>
                  <a:effectLst/>
                  <a:latin typeface="微软雅黑" panose="020B0503020204020204" charset="-122"/>
                  <a:ea typeface="微软雅黑" panose="020B0503020204020204" charset="-122"/>
                  <a:cs typeface="微软雅黑" panose="020B0503020204020204" charset="-122"/>
                </a:rPr>
                <a:t>。</a:t>
              </a:r>
              <a:endParaRPr lang="en-US" altLang="zh-CN" sz="1200" b="0" dirty="0">
                <a:solidFill>
                  <a:srgbClr val="000000"/>
                </a:solidFill>
                <a:effectLst/>
                <a:latin typeface="微软雅黑" panose="020B0503020204020204" charset="-122"/>
                <a:ea typeface="微软雅黑" panose="020B0503020204020204" charset="-122"/>
                <a:cs typeface="微软雅黑" panose="020B0503020204020204" charset="-122"/>
              </a:endParaRPr>
            </a:p>
          </p:txBody>
        </p:sp>
      </p:grpSp>
      <p:cxnSp>
        <p:nvCxnSpPr>
          <p:cNvPr id="63" name="直线箭头连接符 62"/>
          <p:cNvCxnSpPr/>
          <p:nvPr/>
        </p:nvCxnSpPr>
        <p:spPr>
          <a:xfrm>
            <a:off x="5325247" y="2679634"/>
            <a:ext cx="1478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线箭头连接符 63"/>
          <p:cNvCxnSpPr/>
          <p:nvPr/>
        </p:nvCxnSpPr>
        <p:spPr>
          <a:xfrm>
            <a:off x="5366810" y="3500516"/>
            <a:ext cx="1478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线箭头连接符 64"/>
          <p:cNvCxnSpPr/>
          <p:nvPr/>
        </p:nvCxnSpPr>
        <p:spPr>
          <a:xfrm>
            <a:off x="5356420" y="4342180"/>
            <a:ext cx="1478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线箭头连接符 65"/>
          <p:cNvCxnSpPr/>
          <p:nvPr/>
        </p:nvCxnSpPr>
        <p:spPr>
          <a:xfrm>
            <a:off x="5346029" y="5152671"/>
            <a:ext cx="1478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线箭头连接符 66"/>
          <p:cNvCxnSpPr/>
          <p:nvPr/>
        </p:nvCxnSpPr>
        <p:spPr>
          <a:xfrm>
            <a:off x="5387592" y="6025507"/>
            <a:ext cx="14781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562292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indent="0"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2.1 </a:t>
            </a:r>
            <a:r>
              <a:rPr kumimoji="0" lang="zh-CN" altLang="en-US"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a:t>
            </a:r>
            <a:r>
              <a:rPr kumimoji="0" lang="zh-CN" altLang="en-US"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整体规划</a:t>
            </a:r>
            <a:endParaRPr kumimoji="0" lang="zh-CN" altLang="en-US"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indent="0"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2.2 </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资源层规划方案</a:t>
            </a:r>
            <a:endPar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2.3 加工层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2.4 服务层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2.5 监运层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2.6 拓展层规划方案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知识工程平台总体规划思路</a:t>
            </a:r>
            <a:endParaRPr lang="zh-CN" altLang="en-US"/>
          </a:p>
        </p:txBody>
      </p:sp>
      <p:sp>
        <p:nvSpPr>
          <p:cNvPr id="4" name="Rounded Rectangle 3"/>
          <p:cNvSpPr/>
          <p:nvPr/>
        </p:nvSpPr>
        <p:spPr>
          <a:xfrm>
            <a:off x="321945" y="1089660"/>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b="1">
                <a:solidFill>
                  <a:srgbClr val="FFFFFF"/>
                </a:solidFill>
                <a:latin typeface="微软雅黑" panose="020B0503020204020204" charset="-122"/>
                <a:ea typeface="微软雅黑" panose="020B0503020204020204" charset="-122"/>
              </a:rPr>
              <a:t>AI应用</a:t>
            </a:r>
            <a:endParaRPr b="1">
              <a:solidFill>
                <a:srgbClr val="FFFFFF"/>
              </a:solidFill>
              <a:latin typeface="微软雅黑" panose="020B0503020204020204" charset="-122"/>
              <a:ea typeface="微软雅黑" panose="020B0503020204020204" charset="-122"/>
            </a:endParaRPr>
          </a:p>
          <a:p>
            <a:pPr algn="ctr"/>
            <a:r>
              <a:rPr sz="1000" b="0">
                <a:solidFill>
                  <a:srgbClr val="D8E4F5"/>
                </a:solidFill>
                <a:latin typeface="微软雅黑" panose="020B0503020204020204" charset="-122"/>
                <a:ea typeface="微软雅黑" panose="020B0503020204020204" charset="-122"/>
              </a:rPr>
              <a:t>业务应用场景</a:t>
            </a:r>
            <a:endParaRPr sz="1000" b="0">
              <a:solidFill>
                <a:srgbClr val="D8E4F5"/>
              </a:solidFill>
              <a:latin typeface="微软雅黑" panose="020B0503020204020204" charset="-122"/>
              <a:ea typeface="微软雅黑" panose="020B0503020204020204" charset="-122"/>
            </a:endParaRPr>
          </a:p>
        </p:txBody>
      </p:sp>
      <p:sp>
        <p:nvSpPr>
          <p:cNvPr id="5" name="Rounded Rectangle 4"/>
          <p:cNvSpPr/>
          <p:nvPr/>
        </p:nvSpPr>
        <p:spPr>
          <a:xfrm>
            <a:off x="3409950" y="1089660"/>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零售金融</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智能客服 · 财富顾问 · 零售信贷助手 · 营销知识问答</a:t>
            </a:r>
            <a:endParaRPr sz="1000" b="0">
              <a:solidFill>
                <a:srgbClr val="5A6B84"/>
              </a:solidFill>
              <a:latin typeface="微软雅黑" panose="020B0503020204020204" charset="-122"/>
              <a:ea typeface="微软雅黑" panose="020B0503020204020204" charset="-122"/>
            </a:endParaRPr>
          </a:p>
        </p:txBody>
      </p:sp>
      <p:sp>
        <p:nvSpPr>
          <p:cNvPr id="6" name="Rounded Rectangle 5"/>
          <p:cNvSpPr/>
          <p:nvPr/>
        </p:nvSpPr>
        <p:spPr>
          <a:xfrm>
            <a:off x="1563370" y="1089660"/>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对公金融</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尽调报告生成 · 授信审查 · 合同审核 · 行业研究</a:t>
            </a:r>
            <a:endParaRPr sz="1000" b="0">
              <a:solidFill>
                <a:srgbClr val="5A6B84"/>
              </a:solidFill>
              <a:latin typeface="微软雅黑" panose="020B0503020204020204" charset="-122"/>
              <a:ea typeface="微软雅黑" panose="020B0503020204020204" charset="-122"/>
            </a:endParaRPr>
          </a:p>
        </p:txBody>
      </p:sp>
      <p:sp>
        <p:nvSpPr>
          <p:cNvPr id="7" name="Rounded Rectangle 6"/>
          <p:cNvSpPr/>
          <p:nvPr/>
        </p:nvSpPr>
        <p:spPr>
          <a:xfrm>
            <a:off x="5266690" y="1089660"/>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金融市场</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投研分析 · 交易合规 · 资讯洞察 · 风险监测</a:t>
            </a:r>
            <a:endParaRPr sz="1000" b="0">
              <a:solidFill>
                <a:srgbClr val="5A6B84"/>
              </a:solidFill>
              <a:latin typeface="微软雅黑" panose="020B0503020204020204" charset="-122"/>
              <a:ea typeface="微软雅黑" panose="020B0503020204020204" charset="-122"/>
            </a:endParaRPr>
          </a:p>
        </p:txBody>
      </p:sp>
      <p:sp>
        <p:nvSpPr>
          <p:cNvPr id="8" name="Rounded Rectangle 7"/>
          <p:cNvSpPr/>
          <p:nvPr/>
        </p:nvSpPr>
        <p:spPr>
          <a:xfrm>
            <a:off x="7123430" y="1089660"/>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科技金融</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科创企业评估 · 政策匹配 · 产业链图谱洞察</a:t>
            </a:r>
            <a:endParaRPr sz="1000" b="0">
              <a:solidFill>
                <a:srgbClr val="5A6B84"/>
              </a:solidFill>
              <a:latin typeface="微软雅黑" panose="020B0503020204020204" charset="-122"/>
              <a:ea typeface="微软雅黑" panose="020B0503020204020204" charset="-122"/>
            </a:endParaRPr>
          </a:p>
        </p:txBody>
      </p:sp>
      <p:sp>
        <p:nvSpPr>
          <p:cNvPr id="9" name="Rounded Rectangle 8"/>
          <p:cNvSpPr/>
          <p:nvPr/>
        </p:nvSpPr>
        <p:spPr>
          <a:xfrm>
            <a:off x="321945" y="2454275"/>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b="1">
                <a:solidFill>
                  <a:srgbClr val="FFFFFF"/>
                </a:solidFill>
                <a:latin typeface="微软雅黑" panose="020B0503020204020204" charset="-122"/>
                <a:ea typeface="微软雅黑" panose="020B0503020204020204" charset="-122"/>
              </a:rPr>
              <a:t>L3</a:t>
            </a:r>
            <a:endParaRPr b="1">
              <a:solidFill>
                <a:srgbClr val="FFFFFF"/>
              </a:solidFill>
              <a:latin typeface="微软雅黑" panose="020B0503020204020204" charset="-122"/>
              <a:ea typeface="微软雅黑" panose="020B0503020204020204" charset="-122"/>
            </a:endParaRPr>
          </a:p>
          <a:p>
            <a:pPr algn="ctr"/>
            <a:r>
              <a:rPr b="1">
                <a:solidFill>
                  <a:srgbClr val="FFFFFF"/>
                </a:solidFill>
                <a:latin typeface="微软雅黑" panose="020B0503020204020204" charset="-122"/>
                <a:ea typeface="微软雅黑" panose="020B0503020204020204" charset="-122"/>
              </a:rPr>
              <a:t>服务层</a:t>
            </a:r>
            <a:endParaRPr b="1">
              <a:solidFill>
                <a:srgbClr val="FFFFFF"/>
              </a:solidFill>
              <a:latin typeface="微软雅黑" panose="020B0503020204020204" charset="-122"/>
              <a:ea typeface="微软雅黑" panose="020B0503020204020204" charset="-122"/>
            </a:endParaRPr>
          </a:p>
          <a:p>
            <a:pPr algn="ctr"/>
            <a:r>
              <a:rPr lang="zh-CN" sz="1000" b="0">
                <a:solidFill>
                  <a:srgbClr val="D8E4F5"/>
                </a:solidFill>
                <a:latin typeface="微软雅黑" panose="020B0503020204020204" charset="-122"/>
                <a:ea typeface="微软雅黑" panose="020B0503020204020204" charset="-122"/>
              </a:rPr>
              <a:t>智能服务多元</a:t>
            </a:r>
            <a:r>
              <a:rPr sz="1000" b="0">
                <a:solidFill>
                  <a:srgbClr val="D8E4F5"/>
                </a:solidFill>
                <a:latin typeface="微软雅黑" panose="020B0503020204020204" charset="-122"/>
                <a:ea typeface="微软雅黑" panose="020B0503020204020204" charset="-122"/>
              </a:rPr>
              <a:t>化</a:t>
            </a:r>
            <a:endParaRPr sz="1000" b="0">
              <a:solidFill>
                <a:srgbClr val="D8E4F5"/>
              </a:solidFill>
              <a:latin typeface="微软雅黑" panose="020B0503020204020204" charset="-122"/>
              <a:ea typeface="微软雅黑" panose="020B0503020204020204" charset="-122"/>
            </a:endParaRPr>
          </a:p>
          <a:p>
            <a:pPr algn="ctr"/>
            <a:r>
              <a:rPr sz="1050" b="1">
                <a:solidFill>
                  <a:srgbClr val="FFD966"/>
                </a:solidFill>
                <a:latin typeface="微软雅黑" panose="020B0503020204020204" charset="-122"/>
                <a:ea typeface="微软雅黑" panose="020B0503020204020204" charset="-122"/>
              </a:rPr>
              <a:t>供给可生成</a:t>
            </a:r>
            <a:endParaRPr sz="1050" b="1">
              <a:solidFill>
                <a:srgbClr val="FFD966"/>
              </a:solidFill>
              <a:latin typeface="微软雅黑" panose="020B0503020204020204" charset="-122"/>
              <a:ea typeface="微软雅黑" panose="020B0503020204020204" charset="-122"/>
            </a:endParaRPr>
          </a:p>
        </p:txBody>
      </p:sp>
      <p:sp>
        <p:nvSpPr>
          <p:cNvPr id="10" name="Rounded Rectangle 9"/>
          <p:cNvSpPr/>
          <p:nvPr/>
        </p:nvSpPr>
        <p:spPr>
          <a:xfrm>
            <a:off x="1554480" y="245427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SKILL 标准化 RAG 服务</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图↔向量异步迭代 RAG 自动化服务，形成企业级知识 RAG 的标准化 Skill 服务体系</a:t>
            </a:r>
            <a:endParaRPr sz="1000" b="0">
              <a:solidFill>
                <a:srgbClr val="5A6B84"/>
              </a:solidFill>
              <a:latin typeface="微软雅黑" panose="020B0503020204020204" charset="-122"/>
              <a:ea typeface="微软雅黑" panose="020B0503020204020204" charset="-122"/>
            </a:endParaRPr>
          </a:p>
        </p:txBody>
      </p:sp>
      <p:sp>
        <p:nvSpPr>
          <p:cNvPr id="11" name="Rounded Rectangle 10"/>
          <p:cNvSpPr/>
          <p:nvPr/>
        </p:nvSpPr>
        <p:spPr>
          <a:xfrm>
            <a:off x="4029710" y="245427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MCP /</a:t>
            </a:r>
            <a:r>
              <a:rPr lang="en-US" sz="1200" b="1">
                <a:solidFill>
                  <a:srgbClr val="1B3E73"/>
                </a:solidFill>
                <a:latin typeface="微软雅黑" panose="020B0503020204020204" charset="-122"/>
                <a:ea typeface="微软雅黑" panose="020B0503020204020204" charset="-122"/>
              </a:rPr>
              <a:t>API</a:t>
            </a:r>
            <a:r>
              <a:rPr sz="1200" b="1">
                <a:solidFill>
                  <a:srgbClr val="1B3E73"/>
                </a:solidFill>
                <a:latin typeface="微软雅黑" panose="020B0503020204020204" charset="-122"/>
                <a:ea typeface="微软雅黑" panose="020B0503020204020204" charset="-122"/>
              </a:rPr>
              <a:t> 服务编排</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对接 OA、AI 桌面端、移动 IM 等基础设施，实现 AI 业务流程自动化编排</a:t>
            </a:r>
            <a:endParaRPr sz="1000" b="0">
              <a:solidFill>
                <a:srgbClr val="5A6B84"/>
              </a:solidFill>
              <a:latin typeface="微软雅黑" panose="020B0503020204020204" charset="-122"/>
              <a:ea typeface="微软雅黑" panose="020B0503020204020204" charset="-122"/>
            </a:endParaRPr>
          </a:p>
        </p:txBody>
      </p:sp>
      <p:sp>
        <p:nvSpPr>
          <p:cNvPr id="12" name="Rounded Rectangle 11"/>
          <p:cNvSpPr/>
          <p:nvPr/>
        </p:nvSpPr>
        <p:spPr>
          <a:xfrm>
            <a:off x="6504305" y="245427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SaaS 化 Agentic AI 服务</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运用 SKILL、Context Engineering 等 Agent 原生技术，构建 AI Automation 体系</a:t>
            </a:r>
            <a:endParaRPr sz="1000" b="0">
              <a:solidFill>
                <a:srgbClr val="5A6B84"/>
              </a:solidFill>
              <a:latin typeface="微软雅黑" panose="020B0503020204020204" charset="-122"/>
              <a:ea typeface="微软雅黑" panose="020B0503020204020204" charset="-122"/>
            </a:endParaRPr>
          </a:p>
        </p:txBody>
      </p:sp>
      <p:sp>
        <p:nvSpPr>
          <p:cNvPr id="13" name="Rounded Rectangle 12"/>
          <p:cNvSpPr/>
          <p:nvPr/>
        </p:nvSpPr>
        <p:spPr>
          <a:xfrm>
            <a:off x="321945" y="3818255"/>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b="1">
                <a:solidFill>
                  <a:srgbClr val="FFFFFF"/>
                </a:solidFill>
                <a:latin typeface="微软雅黑" panose="020B0503020204020204" charset="-122"/>
                <a:ea typeface="微软雅黑" panose="020B0503020204020204" charset="-122"/>
              </a:rPr>
              <a:t>L2</a:t>
            </a:r>
            <a:endParaRPr b="1">
              <a:solidFill>
                <a:srgbClr val="FFFFFF"/>
              </a:solidFill>
              <a:latin typeface="微软雅黑" panose="020B0503020204020204" charset="-122"/>
              <a:ea typeface="微软雅黑" panose="020B0503020204020204" charset="-122"/>
            </a:endParaRPr>
          </a:p>
          <a:p>
            <a:pPr algn="ctr"/>
            <a:r>
              <a:rPr b="1">
                <a:solidFill>
                  <a:srgbClr val="FFFFFF"/>
                </a:solidFill>
                <a:latin typeface="微软雅黑" panose="020B0503020204020204" charset="-122"/>
                <a:ea typeface="微软雅黑" panose="020B0503020204020204" charset="-122"/>
              </a:rPr>
              <a:t>加工层</a:t>
            </a:r>
            <a:endParaRPr b="1">
              <a:solidFill>
                <a:srgbClr val="FFFFFF"/>
              </a:solidFill>
              <a:latin typeface="微软雅黑" panose="020B0503020204020204" charset="-122"/>
              <a:ea typeface="微软雅黑" panose="020B0503020204020204" charset="-122"/>
            </a:endParaRPr>
          </a:p>
          <a:p>
            <a:pPr algn="ctr"/>
            <a:r>
              <a:rPr lang="zh-CN" sz="1000" b="0">
                <a:solidFill>
                  <a:srgbClr val="D8E4F5"/>
                </a:solidFill>
                <a:latin typeface="微软雅黑" panose="020B0503020204020204" charset="-122"/>
                <a:ea typeface="微软雅黑" panose="020B0503020204020204" charset="-122"/>
              </a:rPr>
              <a:t>知识语义</a:t>
            </a:r>
            <a:r>
              <a:rPr sz="1000" b="0">
                <a:solidFill>
                  <a:srgbClr val="D8E4F5"/>
                </a:solidFill>
                <a:latin typeface="微软雅黑" panose="020B0503020204020204" charset="-122"/>
                <a:ea typeface="微软雅黑" panose="020B0503020204020204" charset="-122"/>
              </a:rPr>
              <a:t>索引化</a:t>
            </a:r>
            <a:endParaRPr sz="1000" b="0">
              <a:solidFill>
                <a:srgbClr val="D8E4F5"/>
              </a:solidFill>
              <a:latin typeface="微软雅黑" panose="020B0503020204020204" charset="-122"/>
              <a:ea typeface="微软雅黑" panose="020B0503020204020204" charset="-122"/>
            </a:endParaRPr>
          </a:p>
          <a:p>
            <a:pPr algn="ctr"/>
            <a:r>
              <a:rPr sz="1050" b="1">
                <a:solidFill>
                  <a:srgbClr val="FFD966"/>
                </a:solidFill>
                <a:latin typeface="微软雅黑" panose="020B0503020204020204" charset="-122"/>
                <a:ea typeface="微软雅黑" panose="020B0503020204020204" charset="-122"/>
              </a:rPr>
              <a:t>内容可查找</a:t>
            </a:r>
            <a:endParaRPr sz="1050" b="1">
              <a:solidFill>
                <a:srgbClr val="FFD966"/>
              </a:solidFill>
              <a:latin typeface="微软雅黑" panose="020B0503020204020204" charset="-122"/>
              <a:ea typeface="微软雅黑" panose="020B0503020204020204" charset="-122"/>
            </a:endParaRPr>
          </a:p>
        </p:txBody>
      </p:sp>
      <p:sp>
        <p:nvSpPr>
          <p:cNvPr id="14" name="Rounded Rectangle 13"/>
          <p:cNvSpPr/>
          <p:nvPr/>
        </p:nvSpPr>
        <p:spPr>
          <a:xfrm>
            <a:off x="1554480"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统一语义</a:t>
            </a:r>
            <a:r>
              <a:rPr lang="zh-CN" sz="1200" b="1">
                <a:solidFill>
                  <a:srgbClr val="1B3E73"/>
                </a:solidFill>
                <a:latin typeface="微软雅黑" panose="020B0503020204020204" charset="-122"/>
                <a:ea typeface="微软雅黑" panose="020B0503020204020204" charset="-122"/>
              </a:rPr>
              <a:t>知识图谱</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场景·活动·对象·术语四类语义对象，FEA 图本体限定生成，全量+分域两级架构</a:t>
            </a:r>
            <a:endParaRPr sz="1000" b="0">
              <a:solidFill>
                <a:srgbClr val="5A6B84"/>
              </a:solidFill>
              <a:latin typeface="微软雅黑" panose="020B0503020204020204" charset="-122"/>
              <a:ea typeface="微软雅黑" panose="020B0503020204020204" charset="-122"/>
            </a:endParaRPr>
          </a:p>
        </p:txBody>
      </p:sp>
      <p:sp>
        <p:nvSpPr>
          <p:cNvPr id="15" name="Rounded Rectangle 14"/>
          <p:cNvSpPr/>
          <p:nvPr/>
        </p:nvSpPr>
        <p:spPr>
          <a:xfrm>
            <a:off x="3410585"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lang="zh-CN" sz="1200" b="1">
                <a:solidFill>
                  <a:srgbClr val="1B3E73"/>
                </a:solidFill>
                <a:latin typeface="微软雅黑" panose="020B0503020204020204" charset="-122"/>
                <a:ea typeface="微软雅黑" panose="020B0503020204020204" charset="-122"/>
              </a:rPr>
              <a:t>向量知识库</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业务术语与关键词向量抽取，关联文档与 CHUNK，提升召回、降低算力成本</a:t>
            </a:r>
            <a:endParaRPr sz="1000" b="0">
              <a:solidFill>
                <a:srgbClr val="5A6B84"/>
              </a:solidFill>
              <a:latin typeface="微软雅黑" panose="020B0503020204020204" charset="-122"/>
              <a:ea typeface="微软雅黑" panose="020B0503020204020204" charset="-122"/>
            </a:endParaRPr>
          </a:p>
        </p:txBody>
      </p:sp>
      <p:sp>
        <p:nvSpPr>
          <p:cNvPr id="16" name="Rounded Rectangle 15"/>
          <p:cNvSpPr/>
          <p:nvPr/>
        </p:nvSpPr>
        <p:spPr>
          <a:xfrm>
            <a:off x="7086600"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混合</a:t>
            </a:r>
            <a:r>
              <a:rPr lang="zh-CN" sz="1200" b="1">
                <a:solidFill>
                  <a:srgbClr val="1B3E73"/>
                </a:solidFill>
                <a:latin typeface="微软雅黑" panose="020B0503020204020204" charset="-122"/>
                <a:ea typeface="微软雅黑" panose="020B0503020204020204" charset="-122"/>
              </a:rPr>
              <a:t>索引</a:t>
            </a:r>
            <a:r>
              <a:rPr sz="1200" b="1">
                <a:solidFill>
                  <a:srgbClr val="1B3E73"/>
                </a:solidFill>
                <a:latin typeface="微软雅黑" panose="020B0503020204020204" charset="-122"/>
                <a:ea typeface="微软雅黑" panose="020B0503020204020204" charset="-122"/>
              </a:rPr>
              <a:t>模式</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图统一语义查找+向量语义</a:t>
            </a:r>
            <a:r>
              <a:rPr lang="en-US" sz="1000" b="0">
                <a:solidFill>
                  <a:srgbClr val="5A6B84"/>
                </a:solidFill>
                <a:latin typeface="微软雅黑" panose="020B0503020204020204" charset="-122"/>
                <a:ea typeface="微软雅黑" panose="020B0503020204020204" charset="-122"/>
              </a:rPr>
              <a:t>/</a:t>
            </a:r>
            <a:r>
              <a:rPr lang="zh-CN" altLang="en-US" sz="1000" b="0">
                <a:solidFill>
                  <a:srgbClr val="5A6B84"/>
                </a:solidFill>
                <a:latin typeface="微软雅黑" panose="020B0503020204020204" charset="-122"/>
                <a:ea typeface="微软雅黑" panose="020B0503020204020204" charset="-122"/>
              </a:rPr>
              <a:t>子图</a:t>
            </a:r>
            <a:r>
              <a:rPr sz="1000" b="0">
                <a:solidFill>
                  <a:srgbClr val="5A6B84"/>
                </a:solidFill>
                <a:latin typeface="微软雅黑" panose="020B0503020204020204" charset="-122"/>
                <a:ea typeface="微软雅黑" panose="020B0503020204020204" charset="-122"/>
              </a:rPr>
              <a:t>查找，解决超大规模检索效率与准确性</a:t>
            </a:r>
            <a:endParaRPr sz="1000" b="0">
              <a:solidFill>
                <a:srgbClr val="5A6B84"/>
              </a:solidFill>
              <a:latin typeface="微软雅黑" panose="020B0503020204020204" charset="-122"/>
              <a:ea typeface="微软雅黑" panose="020B0503020204020204" charset="-122"/>
            </a:endParaRPr>
          </a:p>
        </p:txBody>
      </p:sp>
      <p:sp>
        <p:nvSpPr>
          <p:cNvPr id="17" name="Rounded Rectangle 16"/>
          <p:cNvSpPr/>
          <p:nvPr/>
        </p:nvSpPr>
        <p:spPr>
          <a:xfrm>
            <a:off x="5240020"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专题知识图谱</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格式合同·报告·工单等批量文档，同类文档一张图，直挂索引快速查询</a:t>
            </a:r>
            <a:endParaRPr sz="1000" b="0">
              <a:solidFill>
                <a:srgbClr val="5A6B84"/>
              </a:solidFill>
              <a:latin typeface="微软雅黑" panose="020B0503020204020204" charset="-122"/>
              <a:ea typeface="微软雅黑" panose="020B0503020204020204" charset="-122"/>
            </a:endParaRPr>
          </a:p>
        </p:txBody>
      </p:sp>
      <p:sp>
        <p:nvSpPr>
          <p:cNvPr id="18" name="Rounded Rectangle 17"/>
          <p:cNvSpPr/>
          <p:nvPr/>
        </p:nvSpPr>
        <p:spPr>
          <a:xfrm>
            <a:off x="321945" y="5182235"/>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altLang="zh-CN" b="1">
                <a:solidFill>
                  <a:srgbClr val="FFFFFF"/>
                </a:solidFill>
                <a:latin typeface="微软雅黑" panose="020B0503020204020204" charset="-122"/>
                <a:ea typeface="微软雅黑" panose="020B0503020204020204" charset="-122"/>
              </a:rPr>
              <a:t>L1</a:t>
            </a:r>
            <a:endParaRPr lang="zh-CN" b="1">
              <a:solidFill>
                <a:srgbClr val="FFFFFF"/>
              </a:solidFill>
              <a:latin typeface="微软雅黑" panose="020B0503020204020204" charset="-122"/>
              <a:ea typeface="微软雅黑" panose="020B0503020204020204" charset="-122"/>
            </a:endParaRPr>
          </a:p>
          <a:p>
            <a:pPr algn="ctr"/>
            <a:r>
              <a:rPr lang="zh-CN" b="1">
                <a:solidFill>
                  <a:srgbClr val="FFFFFF"/>
                </a:solidFill>
                <a:latin typeface="微软雅黑" panose="020B0503020204020204" charset="-122"/>
                <a:ea typeface="微软雅黑" panose="020B0503020204020204" charset="-122"/>
              </a:rPr>
              <a:t>资源</a:t>
            </a:r>
            <a:r>
              <a:rPr b="1">
                <a:solidFill>
                  <a:srgbClr val="FFFFFF"/>
                </a:solidFill>
                <a:latin typeface="微软雅黑" panose="020B0503020204020204" charset="-122"/>
                <a:ea typeface="微软雅黑" panose="020B0503020204020204" charset="-122"/>
              </a:rPr>
              <a:t>层</a:t>
            </a:r>
            <a:endParaRPr b="1">
              <a:solidFill>
                <a:srgbClr val="FFFFFF"/>
              </a:solidFill>
              <a:latin typeface="微软雅黑" panose="020B0503020204020204" charset="-122"/>
              <a:ea typeface="微软雅黑" panose="020B0503020204020204" charset="-122"/>
            </a:endParaRPr>
          </a:p>
          <a:p>
            <a:pPr algn="ctr"/>
            <a:r>
              <a:rPr lang="zh-CN" altLang="en-US" sz="1000" b="0">
                <a:solidFill>
                  <a:srgbClr val="D8E4F5"/>
                </a:solidFill>
                <a:latin typeface="微软雅黑" panose="020B0503020204020204" charset="-122"/>
                <a:ea typeface="微软雅黑" panose="020B0503020204020204" charset="-122"/>
              </a:rPr>
              <a:t>资源汇聚标准化</a:t>
            </a:r>
            <a:endParaRPr lang="zh-CN" altLang="en-US" sz="1000" b="0">
              <a:solidFill>
                <a:srgbClr val="D8E4F5"/>
              </a:solidFill>
              <a:latin typeface="微软雅黑" panose="020B0503020204020204" charset="-122"/>
              <a:ea typeface="微软雅黑" panose="020B0503020204020204" charset="-122"/>
            </a:endParaRPr>
          </a:p>
          <a:p>
            <a:pPr algn="ctr"/>
            <a:r>
              <a:rPr sz="1050" b="1">
                <a:solidFill>
                  <a:srgbClr val="FFD966"/>
                </a:solidFill>
                <a:latin typeface="微软雅黑" panose="020B0503020204020204" charset="-122"/>
                <a:ea typeface="微软雅黑" panose="020B0503020204020204" charset="-122"/>
              </a:rPr>
              <a:t>来源可溯源</a:t>
            </a:r>
            <a:endParaRPr sz="1050" b="1">
              <a:solidFill>
                <a:srgbClr val="FFD966"/>
              </a:solidFill>
              <a:latin typeface="微软雅黑" panose="020B0503020204020204" charset="-122"/>
              <a:ea typeface="微软雅黑" panose="020B0503020204020204" charset="-122"/>
            </a:endParaRPr>
          </a:p>
        </p:txBody>
      </p:sp>
      <p:sp>
        <p:nvSpPr>
          <p:cNvPr id="19" name="Rounded Rectangle 18"/>
          <p:cNvSpPr/>
          <p:nvPr/>
        </p:nvSpPr>
        <p:spPr>
          <a:xfrm>
            <a:off x="1554480" y="518223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lang="zh-CN" altLang="en-US" sz="1200" b="1">
                <a:solidFill>
                  <a:srgbClr val="1B3E73"/>
                </a:solidFill>
                <a:latin typeface="微软雅黑" panose="020B0503020204020204" charset="-122"/>
                <a:ea typeface="微软雅黑" panose="020B0503020204020204" charset="-122"/>
              </a:rPr>
              <a:t>文档及相关资产归集</a:t>
            </a:r>
            <a:endParaRPr lang="zh-CN" altLang="en-US"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基于数据湖对象存储，非结构化文档合规接入·存储·注册，构建溯源根节点</a:t>
            </a:r>
            <a:endParaRPr sz="1000" b="0">
              <a:solidFill>
                <a:srgbClr val="5A6B84"/>
              </a:solidFill>
              <a:latin typeface="微软雅黑" panose="020B0503020204020204" charset="-122"/>
              <a:ea typeface="微软雅黑" panose="020B0503020204020204" charset="-122"/>
            </a:endParaRPr>
          </a:p>
        </p:txBody>
      </p:sp>
      <p:sp>
        <p:nvSpPr>
          <p:cNvPr id="20" name="Rounded Rectangle 19"/>
          <p:cNvSpPr/>
          <p:nvPr/>
        </p:nvSpPr>
        <p:spPr>
          <a:xfrm>
            <a:off x="4029710" y="518223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lang="zh-CN" altLang="en-US" sz="1200" b="1">
                <a:solidFill>
                  <a:srgbClr val="1B3E73"/>
                </a:solidFill>
                <a:latin typeface="微软雅黑" panose="020B0503020204020204" charset="-122"/>
                <a:ea typeface="微软雅黑" panose="020B0503020204020204" charset="-122"/>
              </a:rPr>
              <a:t>文档标准化元数据采集</a:t>
            </a:r>
            <a:endParaRPr lang="zh-CN" altLang="en-US"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业务元信息｜管理元信息｜技术元信息</a:t>
            </a:r>
            <a:endParaRPr sz="1000" b="0">
              <a:solidFill>
                <a:srgbClr val="5A6B84"/>
              </a:solidFill>
              <a:latin typeface="微软雅黑" panose="020B0503020204020204" charset="-122"/>
              <a:ea typeface="微软雅黑" panose="020B0503020204020204" charset="-122"/>
            </a:endParaRPr>
          </a:p>
        </p:txBody>
      </p:sp>
      <p:sp>
        <p:nvSpPr>
          <p:cNvPr id="21" name="Rounded Rectangle 20"/>
          <p:cNvSpPr/>
          <p:nvPr/>
        </p:nvSpPr>
        <p:spPr>
          <a:xfrm>
            <a:off x="6504305" y="518223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lang="zh-CN" altLang="en-US" sz="1200" b="1">
                <a:solidFill>
                  <a:srgbClr val="1B3E73"/>
                </a:solidFill>
                <a:latin typeface="微软雅黑" panose="020B0503020204020204" charset="-122"/>
                <a:ea typeface="微软雅黑" panose="020B0503020204020204" charset="-122"/>
              </a:rPr>
              <a:t>基于标准元数据的目录构建</a:t>
            </a:r>
            <a:endParaRPr lang="zh-CN" altLang="en-US" sz="1200" b="1">
              <a:solidFill>
                <a:srgbClr val="1B3E73"/>
              </a:solidFill>
              <a:latin typeface="微软雅黑" panose="020B0503020204020204" charset="-122"/>
              <a:ea typeface="微软雅黑" panose="020B0503020204020204" charset="-122"/>
            </a:endParaRPr>
          </a:p>
          <a:p>
            <a:pPr algn="ctr"/>
            <a:r>
              <a:rPr lang="zh-CN" altLang="en-US" sz="1000" b="0">
                <a:solidFill>
                  <a:srgbClr val="5A6B84"/>
                </a:solidFill>
                <a:latin typeface="微软雅黑" panose="020B0503020204020204" charset="-122"/>
                <a:ea typeface="微软雅黑" panose="020B0503020204020204" charset="-122"/>
              </a:rPr>
              <a:t>搭建统一的目录索引，并提供文档智能检索与申请授权</a:t>
            </a:r>
            <a:endParaRPr lang="zh-CN" altLang="en-US" sz="1000" b="0">
              <a:solidFill>
                <a:srgbClr val="5A6B84"/>
              </a:solidFill>
              <a:latin typeface="微软雅黑" panose="020B0503020204020204" charset="-122"/>
              <a:ea typeface="微软雅黑" panose="020B0503020204020204" charset="-122"/>
            </a:endParaRPr>
          </a:p>
        </p:txBody>
      </p:sp>
      <p:sp>
        <p:nvSpPr>
          <p:cNvPr id="22" name="Rounded Rectangle 21"/>
          <p:cNvSpPr/>
          <p:nvPr/>
        </p:nvSpPr>
        <p:spPr>
          <a:xfrm>
            <a:off x="9006840" y="1089660"/>
            <a:ext cx="1371600" cy="5384165"/>
          </a:xfrm>
          <a:prstGeom prst="roundRect">
            <a:avLst>
              <a:gd name="adj" fmla="val 4000"/>
            </a:avLst>
          </a:prstGeom>
          <a:solidFill>
            <a:srgbClr val="F7FAFD"/>
          </a:solidFill>
          <a:ln w="9525">
            <a:solidFill>
              <a:srgbClr val="3A6C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ounded Rectangle 22"/>
          <p:cNvSpPr/>
          <p:nvPr/>
        </p:nvSpPr>
        <p:spPr>
          <a:xfrm>
            <a:off x="9070975" y="1153795"/>
            <a:ext cx="1243330" cy="826770"/>
          </a:xfrm>
          <a:prstGeom prst="roundRect">
            <a:avLst>
              <a:gd name="adj" fmla="val 1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600" b="1">
                <a:solidFill>
                  <a:srgbClr val="FFFFFF"/>
                </a:solidFill>
                <a:latin typeface="微软雅黑" panose="020B0503020204020204" charset="-122"/>
                <a:ea typeface="微软雅黑" panose="020B0503020204020204" charset="-122"/>
              </a:rPr>
              <a:t>L4</a:t>
            </a:r>
            <a:endParaRPr sz="1600" b="1">
              <a:solidFill>
                <a:srgbClr val="FFFFFF"/>
              </a:solidFill>
              <a:latin typeface="微软雅黑" panose="020B0503020204020204" charset="-122"/>
              <a:ea typeface="微软雅黑" panose="020B0503020204020204" charset="-122"/>
            </a:endParaRPr>
          </a:p>
          <a:p>
            <a:pPr algn="ctr"/>
            <a:r>
              <a:rPr sz="1600" b="1">
                <a:solidFill>
                  <a:srgbClr val="FFFFFF"/>
                </a:solidFill>
                <a:latin typeface="微软雅黑" panose="020B0503020204020204" charset="-122"/>
                <a:ea typeface="微软雅黑" panose="020B0503020204020204" charset="-122"/>
              </a:rPr>
              <a:t>监运层</a:t>
            </a:r>
            <a:endParaRPr sz="1600" b="1">
              <a:solidFill>
                <a:srgbClr val="FFFFFF"/>
              </a:solidFill>
              <a:latin typeface="微软雅黑" panose="020B0503020204020204" charset="-122"/>
              <a:ea typeface="微软雅黑" panose="020B0503020204020204" charset="-122"/>
            </a:endParaRPr>
          </a:p>
          <a:p>
            <a:pPr algn="ctr"/>
            <a:r>
              <a:rPr lang="zh-CN" sz="950" b="0">
                <a:solidFill>
                  <a:srgbClr val="D8E4F5"/>
                </a:solidFill>
                <a:latin typeface="微软雅黑" panose="020B0503020204020204" charset="-122"/>
                <a:ea typeface="微软雅黑" panose="020B0503020204020204" charset="-122"/>
              </a:rPr>
              <a:t>运营管理智能</a:t>
            </a:r>
            <a:r>
              <a:rPr sz="950" b="0">
                <a:solidFill>
                  <a:srgbClr val="D8E4F5"/>
                </a:solidFill>
                <a:latin typeface="微软雅黑" panose="020B0503020204020204" charset="-122"/>
                <a:ea typeface="微软雅黑" panose="020B0503020204020204" charset="-122"/>
              </a:rPr>
              <a:t>化 </a:t>
            </a:r>
            <a:endParaRPr sz="950" b="0">
              <a:solidFill>
                <a:srgbClr val="D8E4F5"/>
              </a:solidFill>
              <a:latin typeface="微软雅黑" panose="020B0503020204020204" charset="-122"/>
              <a:ea typeface="微软雅黑" panose="020B0503020204020204" charset="-122"/>
            </a:endParaRPr>
          </a:p>
          <a:p>
            <a:pPr algn="ctr"/>
            <a:r>
              <a:rPr sz="950" b="1">
                <a:solidFill>
                  <a:srgbClr val="FFFF00"/>
                </a:solidFill>
                <a:latin typeface="微软雅黑" panose="020B0503020204020204" charset="-122"/>
                <a:ea typeface="微软雅黑" panose="020B0503020204020204" charset="-122"/>
              </a:rPr>
              <a:t>智力可进化</a:t>
            </a:r>
            <a:endParaRPr sz="950" b="1">
              <a:solidFill>
                <a:srgbClr val="FFFF00"/>
              </a:solidFill>
              <a:latin typeface="微软雅黑" panose="020B0503020204020204" charset="-122"/>
              <a:ea typeface="微软雅黑" panose="020B0503020204020204" charset="-122"/>
            </a:endParaRPr>
          </a:p>
        </p:txBody>
      </p:sp>
      <p:grpSp>
        <p:nvGrpSpPr>
          <p:cNvPr id="30" name="组合 29"/>
          <p:cNvGrpSpPr/>
          <p:nvPr/>
        </p:nvGrpSpPr>
        <p:grpSpPr>
          <a:xfrm>
            <a:off x="9070975" y="2157730"/>
            <a:ext cx="1243330" cy="4175760"/>
            <a:chOff x="14285" y="3100"/>
            <a:chExt cx="1958" cy="6874"/>
          </a:xfrm>
        </p:grpSpPr>
        <p:sp>
          <p:nvSpPr>
            <p:cNvPr id="24" name="Rounded Rectangle 23"/>
            <p:cNvSpPr/>
            <p:nvPr/>
          </p:nvSpPr>
          <p:spPr>
            <a:xfrm>
              <a:off x="14285" y="310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可控制 C</a:t>
              </a:r>
              <a:endParaRPr sz="1200" b="1">
                <a:solidFill>
                  <a:srgbClr val="1B3E73"/>
                </a:solidFill>
                <a:latin typeface="微软雅黑" panose="020B0503020204020204" charset="-122"/>
                <a:ea typeface="微软雅黑" panose="020B0503020204020204" charset="-122"/>
              </a:endParaRPr>
            </a:p>
            <a:p>
              <a:pPr algn="ctr"/>
              <a:r>
                <a:rPr lang="zh-CN" sz="1000" b="0">
                  <a:solidFill>
                    <a:srgbClr val="5A6B84"/>
                  </a:solidFill>
                  <a:latin typeface="微软雅黑" panose="020B0503020204020204" charset="-122"/>
                  <a:ea typeface="微软雅黑" panose="020B0503020204020204" charset="-122"/>
                </a:rPr>
                <a:t>知识资产</a:t>
              </a:r>
              <a:r>
                <a:rPr sz="1000" b="0">
                  <a:solidFill>
                    <a:srgbClr val="5A6B84"/>
                  </a:solidFill>
                  <a:latin typeface="微软雅黑" panose="020B0503020204020204" charset="-122"/>
                  <a:ea typeface="微软雅黑" panose="020B0503020204020204" charset="-122"/>
                </a:rPr>
                <a:t>精准权限控制</a:t>
              </a:r>
              <a:endParaRPr sz="1000" b="0">
                <a:solidFill>
                  <a:srgbClr val="5A6B84"/>
                </a:solidFill>
                <a:latin typeface="微软雅黑" panose="020B0503020204020204" charset="-122"/>
                <a:ea typeface="微软雅黑" panose="020B0503020204020204" charset="-122"/>
              </a:endParaRPr>
            </a:p>
          </p:txBody>
        </p:sp>
        <p:sp>
          <p:nvSpPr>
            <p:cNvPr id="25" name="Rounded Rectangle 24"/>
            <p:cNvSpPr/>
            <p:nvPr/>
          </p:nvSpPr>
          <p:spPr>
            <a:xfrm>
              <a:off x="14285" y="426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可观测 O</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全过程观测，破解向量黑盒</a:t>
              </a:r>
              <a:endParaRPr sz="1000" b="0">
                <a:solidFill>
                  <a:srgbClr val="5A6B84"/>
                </a:solidFill>
                <a:latin typeface="微软雅黑" panose="020B0503020204020204" charset="-122"/>
                <a:ea typeface="微软雅黑" panose="020B0503020204020204" charset="-122"/>
              </a:endParaRPr>
            </a:p>
          </p:txBody>
        </p:sp>
        <p:sp>
          <p:nvSpPr>
            <p:cNvPr id="26" name="Rounded Rectangle 25"/>
            <p:cNvSpPr/>
            <p:nvPr/>
          </p:nvSpPr>
          <p:spPr>
            <a:xfrm>
              <a:off x="14285" y="542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可溯源 T</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生成内容业务援引审计</a:t>
              </a:r>
              <a:endParaRPr sz="1000" b="0">
                <a:solidFill>
                  <a:srgbClr val="5A6B84"/>
                </a:solidFill>
                <a:latin typeface="微软雅黑" panose="020B0503020204020204" charset="-122"/>
                <a:ea typeface="微软雅黑" panose="020B0503020204020204" charset="-122"/>
              </a:endParaRPr>
            </a:p>
          </p:txBody>
        </p:sp>
        <p:sp>
          <p:nvSpPr>
            <p:cNvPr id="27" name="Rounded Rectangle 26"/>
            <p:cNvSpPr/>
            <p:nvPr/>
          </p:nvSpPr>
          <p:spPr>
            <a:xfrm>
              <a:off x="14285" y="658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可解释 E</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冲突识别·权威源评估</a:t>
              </a:r>
              <a:endParaRPr sz="1000" b="0">
                <a:solidFill>
                  <a:srgbClr val="5A6B84"/>
                </a:solidFill>
                <a:latin typeface="微软雅黑" panose="020B0503020204020204" charset="-122"/>
                <a:ea typeface="微软雅黑" panose="020B0503020204020204" charset="-122"/>
              </a:endParaRPr>
            </a:p>
          </p:txBody>
        </p:sp>
        <p:sp>
          <p:nvSpPr>
            <p:cNvPr id="28" name="Rounded Rectangle 27"/>
            <p:cNvSpPr/>
            <p:nvPr/>
          </p:nvSpPr>
          <p:spPr>
            <a:xfrm>
              <a:off x="14285" y="774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可演进 E</a:t>
              </a:r>
              <a:endParaRPr sz="14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知识合并·版本自动迭代</a:t>
              </a:r>
              <a:endParaRPr sz="1000" b="0">
                <a:solidFill>
                  <a:srgbClr val="5A6B84"/>
                </a:solidFill>
                <a:latin typeface="微软雅黑" panose="020B0503020204020204" charset="-122"/>
                <a:ea typeface="微软雅黑" panose="020B0503020204020204" charset="-122"/>
              </a:endParaRPr>
            </a:p>
          </p:txBody>
        </p:sp>
        <p:sp>
          <p:nvSpPr>
            <p:cNvPr id="29" name="Rounded Rectangle 28"/>
            <p:cNvSpPr/>
            <p:nvPr/>
          </p:nvSpPr>
          <p:spPr>
            <a:xfrm>
              <a:off x="14285" y="890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可闭环 L</a:t>
              </a:r>
              <a:endParaRPr sz="14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采集加工应用闭环学习</a:t>
              </a:r>
              <a:endParaRPr sz="1000" b="0">
                <a:solidFill>
                  <a:srgbClr val="5A6B84"/>
                </a:solidFill>
                <a:latin typeface="微软雅黑" panose="020B0503020204020204" charset="-122"/>
                <a:ea typeface="微软雅黑" panose="020B0503020204020204" charset="-122"/>
              </a:endParaRPr>
            </a:p>
          </p:txBody>
        </p:sp>
      </p:grpSp>
      <p:sp>
        <p:nvSpPr>
          <p:cNvPr id="31" name="Rounded Rectangle 30"/>
          <p:cNvSpPr/>
          <p:nvPr/>
        </p:nvSpPr>
        <p:spPr>
          <a:xfrm>
            <a:off x="10488295" y="1089660"/>
            <a:ext cx="1371600" cy="5384165"/>
          </a:xfrm>
          <a:prstGeom prst="roundRect">
            <a:avLst>
              <a:gd name="adj" fmla="val 4000"/>
            </a:avLst>
          </a:prstGeom>
          <a:solidFill>
            <a:srgbClr val="F7FAFD"/>
          </a:solidFill>
          <a:ln w="9525">
            <a:solidFill>
              <a:srgbClr val="5E8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2" name="Rounded Rectangle 31"/>
          <p:cNvSpPr/>
          <p:nvPr/>
        </p:nvSpPr>
        <p:spPr>
          <a:xfrm>
            <a:off x="10552430" y="1153795"/>
            <a:ext cx="1243330" cy="826770"/>
          </a:xfrm>
          <a:prstGeom prst="roundRect">
            <a:avLst>
              <a:gd name="adj" fmla="val 1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600" b="1">
                <a:solidFill>
                  <a:srgbClr val="FFFFFF"/>
                </a:solidFill>
                <a:latin typeface="微软雅黑" panose="020B0503020204020204" charset="-122"/>
                <a:ea typeface="微软雅黑" panose="020B0503020204020204" charset="-122"/>
              </a:rPr>
              <a:t>L5</a:t>
            </a:r>
            <a:endParaRPr sz="1600" b="1">
              <a:solidFill>
                <a:srgbClr val="FFFFFF"/>
              </a:solidFill>
              <a:latin typeface="微软雅黑" panose="020B0503020204020204" charset="-122"/>
              <a:ea typeface="微软雅黑" panose="020B0503020204020204" charset="-122"/>
            </a:endParaRPr>
          </a:p>
          <a:p>
            <a:pPr algn="ctr"/>
            <a:r>
              <a:rPr sz="1600" b="1">
                <a:solidFill>
                  <a:srgbClr val="FFFFFF"/>
                </a:solidFill>
                <a:latin typeface="微软雅黑" panose="020B0503020204020204" charset="-122"/>
                <a:ea typeface="微软雅黑" panose="020B0503020204020204" charset="-122"/>
              </a:rPr>
              <a:t>拓展层</a:t>
            </a:r>
            <a:endParaRPr sz="1600" b="1">
              <a:solidFill>
                <a:srgbClr val="FFFFFF"/>
              </a:solidFill>
              <a:latin typeface="微软雅黑" panose="020B0503020204020204" charset="-122"/>
              <a:ea typeface="微软雅黑" panose="020B0503020204020204" charset="-122"/>
            </a:endParaRPr>
          </a:p>
          <a:p>
            <a:pPr algn="ctr"/>
            <a:r>
              <a:rPr lang="zh-CN" sz="950" b="0">
                <a:solidFill>
                  <a:srgbClr val="D8E4F5"/>
                </a:solidFill>
                <a:latin typeface="微软雅黑" panose="020B0503020204020204" charset="-122"/>
                <a:ea typeface="微软雅黑" panose="020B0503020204020204" charset="-122"/>
              </a:rPr>
              <a:t>体系拓展全域</a:t>
            </a:r>
            <a:r>
              <a:rPr sz="950" b="0">
                <a:solidFill>
                  <a:srgbClr val="D8E4F5"/>
                </a:solidFill>
                <a:latin typeface="微软雅黑" panose="020B0503020204020204" charset="-122"/>
                <a:ea typeface="微软雅黑" panose="020B0503020204020204" charset="-122"/>
              </a:rPr>
              <a:t>化 </a:t>
            </a:r>
            <a:endParaRPr sz="950" b="0">
              <a:solidFill>
                <a:srgbClr val="D8E4F5"/>
              </a:solidFill>
              <a:latin typeface="微软雅黑" panose="020B0503020204020204" charset="-122"/>
              <a:ea typeface="微软雅黑" panose="020B0503020204020204" charset="-122"/>
            </a:endParaRPr>
          </a:p>
          <a:p>
            <a:pPr algn="ctr"/>
            <a:r>
              <a:rPr sz="950" b="1">
                <a:solidFill>
                  <a:srgbClr val="FFFF00"/>
                </a:solidFill>
                <a:latin typeface="微软雅黑" panose="020B0503020204020204" charset="-122"/>
                <a:ea typeface="微软雅黑" panose="020B0503020204020204" charset="-122"/>
              </a:rPr>
              <a:t> 支撑可拓展</a:t>
            </a:r>
            <a:endParaRPr sz="950" b="1">
              <a:solidFill>
                <a:srgbClr val="FFFF00"/>
              </a:solidFill>
              <a:latin typeface="微软雅黑" panose="020B0503020204020204" charset="-122"/>
              <a:ea typeface="微软雅黑" panose="020B0503020204020204" charset="-122"/>
            </a:endParaRPr>
          </a:p>
        </p:txBody>
      </p:sp>
      <p:grpSp>
        <p:nvGrpSpPr>
          <p:cNvPr id="3" name="组合 2"/>
          <p:cNvGrpSpPr/>
          <p:nvPr/>
        </p:nvGrpSpPr>
        <p:grpSpPr>
          <a:xfrm>
            <a:off x="10552430" y="2158365"/>
            <a:ext cx="1243330" cy="4115435"/>
            <a:chOff x="16618" y="2851"/>
            <a:chExt cx="1958" cy="4761"/>
          </a:xfrm>
        </p:grpSpPr>
        <p:sp>
          <p:nvSpPr>
            <p:cNvPr id="33" name="Rounded Rectangle 32"/>
            <p:cNvSpPr/>
            <p:nvPr/>
          </p:nvSpPr>
          <p:spPr>
            <a:xfrm>
              <a:off x="16618" y="2851"/>
              <a:ext cx="1958" cy="2323"/>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200"/>
                </a:spcAft>
              </a:pPr>
              <a:r>
                <a:rPr lang="zh-CN" altLang="en-US" sz="1200" b="1">
                  <a:solidFill>
                    <a:srgbClr val="1B3E73"/>
                  </a:solidFill>
                  <a:latin typeface="微软雅黑" panose="020B0503020204020204" charset="-122"/>
                  <a:ea typeface="微软雅黑" panose="020B0503020204020204" charset="-122"/>
                  <a:cs typeface="微软雅黑" panose="020B0503020204020204" charset="-122"/>
                  <a:sym typeface="+mn-ea"/>
                </a:rPr>
                <a:t>业务语义向数字化全域场景延伸</a:t>
              </a:r>
              <a:endParaRPr lang="zh-CN" altLang="en-US" sz="1200" b="1">
                <a:solidFill>
                  <a:srgbClr val="1B3E73"/>
                </a:solidFill>
                <a:latin typeface="微软雅黑" panose="020B0503020204020204" charset="-122"/>
                <a:ea typeface="微软雅黑" panose="020B0503020204020204" charset="-122"/>
                <a:cs typeface="微软雅黑" panose="020B0503020204020204" charset="-122"/>
              </a:endParaRPr>
            </a:p>
            <a:p>
              <a:pPr algn="l"/>
              <a:r>
                <a:rPr sz="1000">
                  <a:solidFill>
                    <a:srgbClr val="5A6B84"/>
                  </a:solidFill>
                  <a:latin typeface="微软雅黑" panose="020B0503020204020204" charset="-122"/>
                  <a:ea typeface="微软雅黑" panose="020B0503020204020204" charset="-122"/>
                  <a:cs typeface="微软雅黑" panose="020B0503020204020204" charset="-122"/>
                  <a:sym typeface="+mn-ea"/>
                </a:rPr>
                <a:t>统一语义对象对齐结构化 Data / Logic / Action 知识，实现业务语义环境与数字化生产环境的知识对齐</a:t>
              </a:r>
              <a:endParaRPr sz="1000" b="0">
                <a:solidFill>
                  <a:srgbClr val="5A6B84"/>
                </a:solidFill>
                <a:latin typeface="微软雅黑" panose="020B0503020204020204" charset="-122"/>
                <a:ea typeface="微软雅黑" panose="020B0503020204020204" charset="-122"/>
                <a:cs typeface="微软雅黑" panose="020B0503020204020204" charset="-122"/>
                <a:sym typeface="+mn-ea"/>
              </a:endParaRPr>
            </a:p>
          </p:txBody>
        </p:sp>
        <p:sp>
          <p:nvSpPr>
            <p:cNvPr id="34" name="Rounded Rectangle 33"/>
            <p:cNvSpPr/>
            <p:nvPr/>
          </p:nvSpPr>
          <p:spPr>
            <a:xfrm>
              <a:off x="16618" y="5290"/>
              <a:ext cx="1958" cy="2323"/>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l">
                <a:spcAft>
                  <a:spcPts val="200"/>
                </a:spcAft>
              </a:pPr>
              <a:r>
                <a:rPr lang="zh-CN" altLang="en-US" sz="1200" b="1">
                  <a:solidFill>
                    <a:srgbClr val="1B3E73"/>
                  </a:solidFill>
                  <a:latin typeface="微软雅黑" panose="020B0503020204020204" charset="-122"/>
                  <a:ea typeface="微软雅黑" panose="020B0503020204020204" charset="-122"/>
                  <a:cs typeface="微软雅黑" panose="020B0503020204020204" charset="-122"/>
                  <a:sym typeface="+mn-ea"/>
                </a:rPr>
                <a:t>模型外挂</a:t>
              </a:r>
              <a:r>
                <a:rPr lang="en-US" altLang="zh-CN" sz="1200" b="1">
                  <a:solidFill>
                    <a:srgbClr val="1B3E73"/>
                  </a:solidFill>
                  <a:latin typeface="微软雅黑" panose="020B0503020204020204" charset="-122"/>
                  <a:ea typeface="微软雅黑" panose="020B0503020204020204" charset="-122"/>
                  <a:cs typeface="微软雅黑" panose="020B0503020204020204" charset="-122"/>
                  <a:sym typeface="+mn-ea"/>
                </a:rPr>
                <a:t>RAG</a:t>
              </a:r>
              <a:r>
                <a:rPr lang="zh-CN" altLang="en-US" sz="1200" b="1">
                  <a:solidFill>
                    <a:srgbClr val="1B3E73"/>
                  </a:solidFill>
                  <a:latin typeface="微软雅黑" panose="020B0503020204020204" charset="-122"/>
                  <a:ea typeface="微软雅黑" panose="020B0503020204020204" charset="-122"/>
                  <a:cs typeface="微软雅黑" panose="020B0503020204020204" charset="-122"/>
                  <a:sym typeface="+mn-ea"/>
                </a:rPr>
                <a:t>向模型内化重构升级</a:t>
              </a:r>
              <a:endParaRPr lang="zh-CN" altLang="en-US" sz="1000" b="1">
                <a:solidFill>
                  <a:srgbClr val="1B3E73"/>
                </a:solidFill>
                <a:latin typeface="微软雅黑" panose="020B0503020204020204" charset="-122"/>
                <a:ea typeface="微软雅黑" panose="020B0503020204020204" charset="-122"/>
                <a:cs typeface="微软雅黑" panose="020B0503020204020204" charset="-122"/>
              </a:endParaRPr>
            </a:p>
            <a:p>
              <a:pPr algn="l"/>
              <a:r>
                <a:rPr sz="1000">
                  <a:solidFill>
                    <a:srgbClr val="5A6B84"/>
                  </a:solidFill>
                  <a:latin typeface="微软雅黑" panose="020B0503020204020204" charset="-122"/>
                  <a:ea typeface="微软雅黑" panose="020B0503020204020204" charset="-122"/>
                  <a:cs typeface="微软雅黑" panose="020B0503020204020204" charset="-122"/>
                  <a:sym typeface="+mn-ea"/>
                </a:rPr>
                <a:t>小参数场景专家模型训练，MOE 稀疏架构实现多专家模型可插拔集成运营，</a:t>
              </a:r>
              <a:r>
                <a:rPr lang="zh-CN" altLang="en-US" sz="1000">
                  <a:solidFill>
                    <a:srgbClr val="5A6B84"/>
                  </a:solidFill>
                  <a:latin typeface="微软雅黑" panose="020B0503020204020204" charset="-122"/>
                  <a:ea typeface="微软雅黑" panose="020B0503020204020204" charset="-122"/>
                  <a:cs typeface="微软雅黑" panose="020B0503020204020204" charset="-122"/>
                  <a:sym typeface="+mn-ea"/>
                </a:rPr>
                <a:t>构建从</a:t>
              </a:r>
              <a:r>
                <a:rPr lang="en-US" altLang="zh-CN" sz="1000">
                  <a:solidFill>
                    <a:srgbClr val="5A6B84"/>
                  </a:solidFill>
                  <a:latin typeface="微软雅黑" panose="020B0503020204020204" charset="-122"/>
                  <a:ea typeface="微软雅黑" panose="020B0503020204020204" charset="-122"/>
                  <a:cs typeface="微软雅黑" panose="020B0503020204020204" charset="-122"/>
                  <a:sym typeface="+mn-ea"/>
                </a:rPr>
                <a:t> Rag</a:t>
              </a:r>
              <a:r>
                <a:rPr lang="zh-CN" altLang="en-US" sz="1000">
                  <a:solidFill>
                    <a:srgbClr val="5A6B84"/>
                  </a:solidFill>
                  <a:latin typeface="微软雅黑" panose="020B0503020204020204" charset="-122"/>
                  <a:ea typeface="微软雅黑" panose="020B0503020204020204" charset="-122"/>
                  <a:cs typeface="微软雅黑" panose="020B0503020204020204" charset="-122"/>
                  <a:sym typeface="+mn-ea"/>
                </a:rPr>
                <a:t>到专家模型到</a:t>
              </a:r>
              <a:r>
                <a:rPr lang="en-US" altLang="zh-CN" sz="1000">
                  <a:solidFill>
                    <a:srgbClr val="5A6B84"/>
                  </a:solidFill>
                  <a:latin typeface="微软雅黑" panose="020B0503020204020204" charset="-122"/>
                  <a:ea typeface="微软雅黑" panose="020B0503020204020204" charset="-122"/>
                  <a:cs typeface="微软雅黑" panose="020B0503020204020204" charset="-122"/>
                  <a:sym typeface="+mn-ea"/>
                </a:rPr>
                <a:t> MOE </a:t>
              </a:r>
              <a:r>
                <a:rPr lang="zh-CN" altLang="en-US" sz="1000">
                  <a:solidFill>
                    <a:srgbClr val="5A6B84"/>
                  </a:solidFill>
                  <a:latin typeface="微软雅黑" panose="020B0503020204020204" charset="-122"/>
                  <a:ea typeface="微软雅黑" panose="020B0503020204020204" charset="-122"/>
                  <a:cs typeface="微软雅黑" panose="020B0503020204020204" charset="-122"/>
                  <a:sym typeface="+mn-ea"/>
                </a:rPr>
                <a:t>的拓展业务环境</a:t>
              </a:r>
              <a:endParaRPr lang="zh-CN" altLang="en-US" sz="1000" b="0">
                <a:solidFill>
                  <a:srgbClr val="5A6B84"/>
                </a:solidFill>
                <a:latin typeface="微软雅黑" panose="020B0503020204020204" charset="-122"/>
                <a:ea typeface="微软雅黑" panose="020B0503020204020204" charset="-122"/>
                <a:cs typeface="微软雅黑" panose="020B0503020204020204" charset="-122"/>
                <a:sym typeface="+mn-ea"/>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err="1">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知识工程平台总体规划思路</a:t>
            </a:r>
            <a:endParaRPr lang="zh-CN" altLang="en-US" dirty="0"/>
          </a:p>
        </p:txBody>
      </p:sp>
      <p:sp>
        <p:nvSpPr>
          <p:cNvPr id="4" name="Rounded Rectangle 3"/>
          <p:cNvSpPr/>
          <p:nvPr/>
        </p:nvSpPr>
        <p:spPr>
          <a:xfrm>
            <a:off x="321945" y="1089660"/>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AI应用</a:t>
            </a:r>
            <a:endPar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业务应用场景</a:t>
            </a:r>
            <a:endPar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endParaRPr>
          </a:p>
        </p:txBody>
      </p:sp>
      <p:sp>
        <p:nvSpPr>
          <p:cNvPr id="9" name="Rounded Rectangle 8"/>
          <p:cNvSpPr/>
          <p:nvPr/>
        </p:nvSpPr>
        <p:spPr>
          <a:xfrm>
            <a:off x="321945" y="2454275"/>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L3</a:t>
            </a:r>
            <a:endPar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服务层</a:t>
            </a:r>
            <a:endPar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智能服务多元</a:t>
            </a:r>
            <a:r>
              <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化</a:t>
            </a:r>
            <a:endPar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50" b="1" i="0" u="none" strike="noStrike" kern="1200" cap="none" spc="0" normalizeH="0" baseline="0" noProof="0">
                <a:ln>
                  <a:noFill/>
                </a:ln>
                <a:solidFill>
                  <a:srgbClr val="FFD966"/>
                </a:solidFill>
                <a:effectLst/>
                <a:uLnTx/>
                <a:uFillTx/>
                <a:latin typeface="微软雅黑" panose="020B0503020204020204" charset="-122"/>
                <a:ea typeface="微软雅黑" panose="020B0503020204020204" charset="-122"/>
                <a:cs typeface="+mn-cs"/>
              </a:rPr>
              <a:t>供给可生成</a:t>
            </a:r>
            <a:endParaRPr kumimoji="0" sz="1050" b="1" i="0" u="none" strike="noStrike" kern="1200" cap="none" spc="0" normalizeH="0" baseline="0" noProof="0">
              <a:ln>
                <a:noFill/>
              </a:ln>
              <a:solidFill>
                <a:srgbClr val="FFD966"/>
              </a:solidFill>
              <a:effectLst/>
              <a:uLnTx/>
              <a:uFillTx/>
              <a:latin typeface="微软雅黑" panose="020B0503020204020204" charset="-122"/>
              <a:ea typeface="微软雅黑" panose="020B0503020204020204" charset="-122"/>
              <a:cs typeface="+mn-cs"/>
            </a:endParaRPr>
          </a:p>
        </p:txBody>
      </p:sp>
      <p:sp>
        <p:nvSpPr>
          <p:cNvPr id="10" name="Rounded Rectangle 9"/>
          <p:cNvSpPr/>
          <p:nvPr/>
        </p:nvSpPr>
        <p:spPr>
          <a:xfrm>
            <a:off x="1554480" y="245427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SKILL 标准化 RAG 服务</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图↔向量异步迭代 RAG 自动化服务，形成企业级知识 RAG 的标准化 Skill 服务体系</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11" name="Rounded Rectangle 10"/>
          <p:cNvSpPr/>
          <p:nvPr/>
        </p:nvSpPr>
        <p:spPr>
          <a:xfrm>
            <a:off x="4029710" y="245427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MCP /</a:t>
            </a:r>
            <a:r>
              <a:rPr kumimoji="0" 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API</a:t>
            </a: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 服务编排</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对接 OA、AI 桌面端、移动 IM 等基础设施，实现 AI 业务流程自动化编排</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12" name="Rounded Rectangle 11"/>
          <p:cNvSpPr/>
          <p:nvPr/>
        </p:nvSpPr>
        <p:spPr>
          <a:xfrm>
            <a:off x="6504305" y="245427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SaaS 化 Agentic AI 服务</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运用 SKILL、Context Engineering 等 Agent 原生技术，构建 AI Automation 体系</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13" name="Rounded Rectangle 12"/>
          <p:cNvSpPr/>
          <p:nvPr/>
        </p:nvSpPr>
        <p:spPr>
          <a:xfrm>
            <a:off x="321945" y="3818255"/>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L2</a:t>
            </a:r>
            <a:endPar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加工层</a:t>
            </a:r>
            <a:endPar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知识语义</a:t>
            </a:r>
            <a:r>
              <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索引化</a:t>
            </a:r>
            <a:endPar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50" b="1" i="0" u="none" strike="noStrike" kern="1200" cap="none" spc="0" normalizeH="0" baseline="0" noProof="0">
                <a:ln>
                  <a:noFill/>
                </a:ln>
                <a:solidFill>
                  <a:srgbClr val="FFD966"/>
                </a:solidFill>
                <a:effectLst/>
                <a:uLnTx/>
                <a:uFillTx/>
                <a:latin typeface="微软雅黑" panose="020B0503020204020204" charset="-122"/>
                <a:ea typeface="微软雅黑" panose="020B0503020204020204" charset="-122"/>
                <a:cs typeface="+mn-cs"/>
              </a:rPr>
              <a:t>内容可查找</a:t>
            </a:r>
            <a:endParaRPr kumimoji="0" sz="1050" b="1" i="0" u="none" strike="noStrike" kern="1200" cap="none" spc="0" normalizeH="0" baseline="0" noProof="0">
              <a:ln>
                <a:noFill/>
              </a:ln>
              <a:solidFill>
                <a:srgbClr val="FFD966"/>
              </a:solidFill>
              <a:effectLst/>
              <a:uLnTx/>
              <a:uFillTx/>
              <a:latin typeface="微软雅黑" panose="020B0503020204020204" charset="-122"/>
              <a:ea typeface="微软雅黑" panose="020B0503020204020204" charset="-122"/>
              <a:cs typeface="+mn-cs"/>
            </a:endParaRPr>
          </a:p>
        </p:txBody>
      </p:sp>
      <p:sp>
        <p:nvSpPr>
          <p:cNvPr id="14" name="Rounded Rectangle 13"/>
          <p:cNvSpPr/>
          <p:nvPr/>
        </p:nvSpPr>
        <p:spPr>
          <a:xfrm>
            <a:off x="1554480"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统一语义</a:t>
            </a: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知识图谱</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场景·活动·对象·术语四类语义对象，FEA 图本体限定生成，全量+分域两级架构</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15" name="Rounded Rectangle 14"/>
          <p:cNvSpPr/>
          <p:nvPr/>
        </p:nvSpPr>
        <p:spPr>
          <a:xfrm>
            <a:off x="3410585"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向量知识库</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业务术语与关键词向量抽取，关联文档与 CHUNK，提升召回、降低算力成本</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16" name="Rounded Rectangle 15"/>
          <p:cNvSpPr/>
          <p:nvPr/>
        </p:nvSpPr>
        <p:spPr>
          <a:xfrm>
            <a:off x="7086600"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混合检索模式</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图统一语义查找+向量语义</a:t>
            </a:r>
            <a:r>
              <a:rPr kumimoji="0" 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a:t>
            </a:r>
            <a:r>
              <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子图</a:t>
            </a: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查找，解决超大规模检索效率与准确性</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17" name="Rounded Rectangle 16"/>
          <p:cNvSpPr/>
          <p:nvPr/>
        </p:nvSpPr>
        <p:spPr>
          <a:xfrm>
            <a:off x="5240020" y="3818255"/>
            <a:ext cx="1746250"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专题知识图谱</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格式合同·报告·工单等批量文档，同类文档一张图，直挂索引快速查询</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18" name="Rounded Rectangle 17"/>
          <p:cNvSpPr/>
          <p:nvPr/>
        </p:nvSpPr>
        <p:spPr>
          <a:xfrm>
            <a:off x="321945" y="5182235"/>
            <a:ext cx="1141095" cy="1291590"/>
          </a:xfrm>
          <a:prstGeom prst="roundRect">
            <a:avLst>
              <a:gd name="adj" fmla="val 8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L1</a:t>
            </a:r>
            <a:endPar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资源</a:t>
            </a:r>
            <a:r>
              <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层</a:t>
            </a:r>
            <a:endParaRPr kumimoji="0" sz="18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资源汇聚</a:t>
            </a:r>
            <a:r>
              <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标准化</a:t>
            </a:r>
            <a:endParaRPr kumimoji="0" sz="100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50" b="1" i="0" u="none" strike="noStrike" kern="1200" cap="none" spc="0" normalizeH="0" baseline="0" noProof="0">
                <a:ln>
                  <a:noFill/>
                </a:ln>
                <a:solidFill>
                  <a:srgbClr val="FFD966"/>
                </a:solidFill>
                <a:effectLst/>
                <a:uLnTx/>
                <a:uFillTx/>
                <a:latin typeface="微软雅黑" panose="020B0503020204020204" charset="-122"/>
                <a:ea typeface="微软雅黑" panose="020B0503020204020204" charset="-122"/>
                <a:cs typeface="+mn-cs"/>
              </a:rPr>
              <a:t>来源可溯源</a:t>
            </a:r>
            <a:endParaRPr kumimoji="0" sz="1050" b="1" i="0" u="none" strike="noStrike" kern="1200" cap="none" spc="0" normalizeH="0" baseline="0" noProof="0">
              <a:ln>
                <a:noFill/>
              </a:ln>
              <a:solidFill>
                <a:srgbClr val="FFD966"/>
              </a:solidFill>
              <a:effectLst/>
              <a:uLnTx/>
              <a:uFillTx/>
              <a:latin typeface="微软雅黑" panose="020B0503020204020204" charset="-122"/>
              <a:ea typeface="微软雅黑" panose="020B0503020204020204" charset="-122"/>
              <a:cs typeface="+mn-cs"/>
            </a:endParaRPr>
          </a:p>
        </p:txBody>
      </p:sp>
      <p:sp>
        <p:nvSpPr>
          <p:cNvPr id="19" name="Rounded Rectangle 18"/>
          <p:cNvSpPr/>
          <p:nvPr/>
        </p:nvSpPr>
        <p:spPr>
          <a:xfrm>
            <a:off x="1554480" y="518223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文档及相关资产归集</a:t>
            </a:r>
            <a:endPar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基于数据湖对象存储，非结构化文档合规接入·存储·注册，构建溯源根节点</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0" name="Rounded Rectangle 19"/>
          <p:cNvSpPr/>
          <p:nvPr/>
        </p:nvSpPr>
        <p:spPr>
          <a:xfrm>
            <a:off x="4029710" y="518223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文档标准化元数据采集</a:t>
            </a:r>
            <a:endPar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业务元信息｜管理元信息｜技术元信息</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1" name="Rounded Rectangle 20"/>
          <p:cNvSpPr/>
          <p:nvPr/>
        </p:nvSpPr>
        <p:spPr>
          <a:xfrm>
            <a:off x="6504305" y="5182235"/>
            <a:ext cx="2365375" cy="1291590"/>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基于标准元数据的目录构建</a:t>
            </a:r>
            <a:endPar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搭建统一的目录索引，并提供文档智能检索与申请授权</a:t>
            </a:r>
            <a:endPar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2" name="Rounded Rectangle 21"/>
          <p:cNvSpPr/>
          <p:nvPr/>
        </p:nvSpPr>
        <p:spPr>
          <a:xfrm>
            <a:off x="9006840" y="1089660"/>
            <a:ext cx="1371600" cy="5384165"/>
          </a:xfrm>
          <a:prstGeom prst="roundRect">
            <a:avLst>
              <a:gd name="adj" fmla="val 4000"/>
            </a:avLst>
          </a:prstGeom>
          <a:solidFill>
            <a:srgbClr val="F7FAFD"/>
          </a:solidFill>
          <a:ln w="9525">
            <a:solidFill>
              <a:srgbClr val="3A6C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3" name="Rounded Rectangle 22"/>
          <p:cNvSpPr/>
          <p:nvPr/>
        </p:nvSpPr>
        <p:spPr>
          <a:xfrm>
            <a:off x="9070975" y="1153795"/>
            <a:ext cx="1243330" cy="826770"/>
          </a:xfrm>
          <a:prstGeom prst="roundRect">
            <a:avLst>
              <a:gd name="adj" fmla="val 1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L4</a:t>
            </a:r>
            <a:endParaRPr kumimoji="0"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监运层</a:t>
            </a:r>
            <a:endParaRPr kumimoji="0"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5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运营管理智能</a:t>
            </a:r>
            <a:r>
              <a:rPr kumimoji="0" sz="95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化 </a:t>
            </a:r>
            <a:endParaRPr kumimoji="0" sz="95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950" b="1" i="0" u="none" strike="noStrike" kern="1200" cap="none" spc="0" normalizeH="0" baseline="0" noProof="0">
                <a:ln>
                  <a:noFill/>
                </a:ln>
                <a:solidFill>
                  <a:srgbClr val="FFFF00"/>
                </a:solidFill>
                <a:effectLst/>
                <a:uLnTx/>
                <a:uFillTx/>
                <a:latin typeface="微软雅黑" panose="020B0503020204020204" charset="-122"/>
                <a:ea typeface="微软雅黑" panose="020B0503020204020204" charset="-122"/>
                <a:cs typeface="+mn-cs"/>
              </a:rPr>
              <a:t>智力可进化</a:t>
            </a:r>
            <a:endParaRPr kumimoji="0" sz="950" b="1" i="0" u="none" strike="noStrike" kern="1200" cap="none" spc="0" normalizeH="0" baseline="0" noProof="0">
              <a:ln>
                <a:noFill/>
              </a:ln>
              <a:solidFill>
                <a:srgbClr val="FFFF00"/>
              </a:solidFill>
              <a:effectLst/>
              <a:uLnTx/>
              <a:uFillTx/>
              <a:latin typeface="微软雅黑" panose="020B0503020204020204" charset="-122"/>
              <a:ea typeface="微软雅黑" panose="020B0503020204020204" charset="-122"/>
              <a:cs typeface="+mn-cs"/>
            </a:endParaRPr>
          </a:p>
        </p:txBody>
      </p:sp>
      <p:grpSp>
        <p:nvGrpSpPr>
          <p:cNvPr id="30" name="组合 29"/>
          <p:cNvGrpSpPr/>
          <p:nvPr/>
        </p:nvGrpSpPr>
        <p:grpSpPr>
          <a:xfrm>
            <a:off x="9070975" y="2157730"/>
            <a:ext cx="1243330" cy="4175760"/>
            <a:chOff x="14285" y="3100"/>
            <a:chExt cx="1958" cy="6874"/>
          </a:xfrm>
        </p:grpSpPr>
        <p:sp>
          <p:nvSpPr>
            <p:cNvPr id="24" name="Rounded Rectangle 23"/>
            <p:cNvSpPr/>
            <p:nvPr/>
          </p:nvSpPr>
          <p:spPr>
            <a:xfrm>
              <a:off x="14285" y="310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可控制 C</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知识资产</a:t>
              </a: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精准权限控制</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5" name="Rounded Rectangle 24"/>
            <p:cNvSpPr/>
            <p:nvPr/>
          </p:nvSpPr>
          <p:spPr>
            <a:xfrm>
              <a:off x="14285" y="426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可观测 O</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全过程观测，破解向量黑盒</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6" name="Rounded Rectangle 25"/>
            <p:cNvSpPr/>
            <p:nvPr/>
          </p:nvSpPr>
          <p:spPr>
            <a:xfrm>
              <a:off x="14285" y="542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可溯源 T</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生成内容业务援引审计</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7" name="Rounded Rectangle 26"/>
            <p:cNvSpPr/>
            <p:nvPr/>
          </p:nvSpPr>
          <p:spPr>
            <a:xfrm>
              <a:off x="14285" y="658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可解释 E</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冲突识别·权威源评估</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8" name="Rounded Rectangle 27"/>
            <p:cNvSpPr/>
            <p:nvPr/>
          </p:nvSpPr>
          <p:spPr>
            <a:xfrm>
              <a:off x="14285" y="774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可演进 E</a:t>
              </a:r>
              <a:endParaRPr kumimoji="0" sz="14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知识合并·版本自动迭代</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29" name="Rounded Rectangle 28"/>
            <p:cNvSpPr/>
            <p:nvPr/>
          </p:nvSpPr>
          <p:spPr>
            <a:xfrm>
              <a:off x="14285" y="890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可闭环 L</a:t>
              </a:r>
              <a:endParaRPr kumimoji="0" sz="14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采集加工应用闭环学习</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grpSp>
      <p:sp>
        <p:nvSpPr>
          <p:cNvPr id="31" name="Rounded Rectangle 30"/>
          <p:cNvSpPr/>
          <p:nvPr/>
        </p:nvSpPr>
        <p:spPr>
          <a:xfrm>
            <a:off x="10488295" y="1089660"/>
            <a:ext cx="1371600" cy="5384165"/>
          </a:xfrm>
          <a:prstGeom prst="roundRect">
            <a:avLst>
              <a:gd name="adj" fmla="val 4000"/>
            </a:avLst>
          </a:prstGeom>
          <a:solidFill>
            <a:srgbClr val="F7FAFD"/>
          </a:solidFill>
          <a:ln w="9525">
            <a:solidFill>
              <a:srgbClr val="5E88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32" name="Rounded Rectangle 31"/>
          <p:cNvSpPr/>
          <p:nvPr/>
        </p:nvSpPr>
        <p:spPr>
          <a:xfrm>
            <a:off x="10552430" y="1153795"/>
            <a:ext cx="1243330" cy="826770"/>
          </a:xfrm>
          <a:prstGeom prst="roundRect">
            <a:avLst>
              <a:gd name="adj" fmla="val 1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L5</a:t>
            </a:r>
            <a:endParaRPr kumimoji="0"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拓展层</a:t>
            </a:r>
            <a:endParaRPr kumimoji="0"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5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体系拓展全域</a:t>
            </a:r>
            <a:r>
              <a:rPr kumimoji="0" sz="95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rPr>
              <a:t>化 </a:t>
            </a:r>
            <a:endParaRPr kumimoji="0" sz="950" b="0" i="0" u="none" strike="noStrike" kern="1200" cap="none" spc="0" normalizeH="0" baseline="0" noProof="0">
              <a:ln>
                <a:noFill/>
              </a:ln>
              <a:solidFill>
                <a:srgbClr val="D8E4F5"/>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950" b="1" i="0" u="none" strike="noStrike" kern="1200" cap="none" spc="0" normalizeH="0" baseline="0" noProof="0">
                <a:ln>
                  <a:noFill/>
                </a:ln>
                <a:solidFill>
                  <a:srgbClr val="FFFF00"/>
                </a:solidFill>
                <a:effectLst/>
                <a:uLnTx/>
                <a:uFillTx/>
                <a:latin typeface="微软雅黑" panose="020B0503020204020204" charset="-122"/>
                <a:ea typeface="微软雅黑" panose="020B0503020204020204" charset="-122"/>
                <a:cs typeface="+mn-cs"/>
              </a:rPr>
              <a:t> 支撑可拓展</a:t>
            </a:r>
            <a:endParaRPr kumimoji="0" sz="950" b="1" i="0" u="none" strike="noStrike" kern="1200" cap="none" spc="0" normalizeH="0" baseline="0" noProof="0">
              <a:ln>
                <a:noFill/>
              </a:ln>
              <a:solidFill>
                <a:srgbClr val="FFFF00"/>
              </a:solidFill>
              <a:effectLst/>
              <a:uLnTx/>
              <a:uFillTx/>
              <a:latin typeface="微软雅黑" panose="020B0503020204020204" charset="-122"/>
              <a:ea typeface="微软雅黑" panose="020B0503020204020204" charset="-122"/>
              <a:cs typeface="+mn-cs"/>
            </a:endParaRPr>
          </a:p>
        </p:txBody>
      </p:sp>
      <p:grpSp>
        <p:nvGrpSpPr>
          <p:cNvPr id="3" name="组合 2"/>
          <p:cNvGrpSpPr/>
          <p:nvPr/>
        </p:nvGrpSpPr>
        <p:grpSpPr>
          <a:xfrm>
            <a:off x="10552430" y="2158365"/>
            <a:ext cx="1243330" cy="4115435"/>
            <a:chOff x="16618" y="2851"/>
            <a:chExt cx="1958" cy="4761"/>
          </a:xfrm>
        </p:grpSpPr>
        <p:sp>
          <p:nvSpPr>
            <p:cNvPr id="33" name="Rounded Rectangle 32"/>
            <p:cNvSpPr/>
            <p:nvPr/>
          </p:nvSpPr>
          <p:spPr>
            <a:xfrm>
              <a:off x="16618" y="2851"/>
              <a:ext cx="1958" cy="2323"/>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l" defTabSz="914400" rtl="0" eaLnBrk="1" fontAlgn="auto" latinLnBrk="0" hangingPunct="1">
                <a:lnSpc>
                  <a:spcPct val="100000"/>
                </a:lnSpc>
                <a:spcBef>
                  <a:spcPts val="0"/>
                </a:spcBef>
                <a:spcAft>
                  <a:spcPts val="200"/>
                </a:spcAft>
                <a:buClrTx/>
                <a:buSzTx/>
                <a:buFontTx/>
                <a:buNone/>
                <a:defRPr/>
              </a:pP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微软雅黑" panose="020B0503020204020204" charset="-122"/>
                  <a:sym typeface="+mn-ea"/>
                </a:rPr>
                <a:t>业务语义向数字化全域场景延伸</a:t>
              </a:r>
              <a:endPar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rPr>
                <a:t>统一语义对象对齐结构化 Data / Logic / Action 知识，实现业务语义环境与数字化生产环境的知识对齐</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4" name="Rounded Rectangle 33"/>
            <p:cNvSpPr/>
            <p:nvPr/>
          </p:nvSpPr>
          <p:spPr>
            <a:xfrm>
              <a:off x="16618" y="5290"/>
              <a:ext cx="1958" cy="2323"/>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l" defTabSz="914400" rtl="0" eaLnBrk="1" fontAlgn="auto" latinLnBrk="0" hangingPunct="1">
                <a:lnSpc>
                  <a:spcPct val="100000"/>
                </a:lnSpc>
                <a:spcBef>
                  <a:spcPts val="0"/>
                </a:spcBef>
                <a:spcAft>
                  <a:spcPts val="200"/>
                </a:spcAft>
                <a:buClrTx/>
                <a:buSzTx/>
                <a:buFontTx/>
                <a:buNone/>
                <a:defRPr/>
              </a:pP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微软雅黑" panose="020B0503020204020204" charset="-122"/>
                  <a:sym typeface="+mn-ea"/>
                </a:rPr>
                <a:t>模型外挂</a:t>
              </a:r>
              <a:r>
                <a:rPr kumimoji="0" lang="en-US" altLang="zh-CN"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微软雅黑" panose="020B0503020204020204" charset="-122"/>
                  <a:sym typeface="+mn-ea"/>
                </a:rPr>
                <a:t>RAG</a:t>
              </a:r>
              <a:r>
                <a:rPr kumimoji="0" lang="zh-CN" altLang="en-US"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微软雅黑" panose="020B0503020204020204" charset="-122"/>
                  <a:sym typeface="+mn-ea"/>
                </a:rPr>
                <a:t>向模型内化重构升级</a:t>
              </a:r>
              <a:endParaRPr kumimoji="0" lang="zh-CN" altLang="en-US" sz="10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rPr>
                <a:t>小参数场景专家模型训练，MOE 稀疏架构实现多专家模型可插拔集成运营，</a:t>
              </a:r>
              <a:r>
                <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rPr>
                <a:t>构建从</a:t>
              </a:r>
              <a:r>
                <a:rPr kumimoji="0" lang="en-US" altLang="zh-CN"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rPr>
                <a:t> Rag</a:t>
              </a:r>
              <a:r>
                <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rPr>
                <a:t>到专家模型到</a:t>
              </a:r>
              <a:r>
                <a:rPr kumimoji="0" lang="en-US" altLang="zh-CN"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rPr>
                <a:t> MOE </a:t>
              </a:r>
              <a:r>
                <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rPr>
                <a:t>的拓展业务环境</a:t>
              </a:r>
              <a:endParaRPr kumimoji="0" lang="zh-CN" altLang="en-US"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sp>
        <p:nvSpPr>
          <p:cNvPr id="5" name="Rounded Rectangle 4"/>
          <p:cNvSpPr/>
          <p:nvPr/>
        </p:nvSpPr>
        <p:spPr>
          <a:xfrm>
            <a:off x="3409950" y="1086485"/>
            <a:ext cx="1746250" cy="1290955"/>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零售金融</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智能客服 · 财富顾问 · 零售信贷助手 · 营销知识问答</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6" name="Rounded Rectangle 5"/>
          <p:cNvSpPr/>
          <p:nvPr/>
        </p:nvSpPr>
        <p:spPr>
          <a:xfrm>
            <a:off x="1563370" y="1086485"/>
            <a:ext cx="1746250" cy="1290955"/>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对公金融</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尽调报告生成 · 授信审查 · 合同审核 · 行业研究</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7" name="Rounded Rectangle 6"/>
          <p:cNvSpPr/>
          <p:nvPr/>
        </p:nvSpPr>
        <p:spPr>
          <a:xfrm>
            <a:off x="5266690" y="1086485"/>
            <a:ext cx="1746250" cy="1290955"/>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金融市场</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投研分析 · 交易合规 · 资讯洞察 · 风险监测</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sp>
        <p:nvSpPr>
          <p:cNvPr id="8" name="Rounded Rectangle 7"/>
          <p:cNvSpPr/>
          <p:nvPr/>
        </p:nvSpPr>
        <p:spPr>
          <a:xfrm>
            <a:off x="7123430" y="1086485"/>
            <a:ext cx="1746250" cy="1290955"/>
          </a:xfrm>
          <a:prstGeom prst="roundRect">
            <a:avLst>
              <a:gd name="adj" fmla="val 10000"/>
            </a:avLst>
          </a:prstGeom>
          <a:solidFill>
            <a:srgbClr val="EFF4FA"/>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marL="0" marR="0" lvl="0" indent="0" algn="ctr" defTabSz="914400" rtl="0" eaLnBrk="1" fontAlgn="auto" latinLnBrk="0" hangingPunct="1">
              <a:lnSpc>
                <a:spcPct val="100000"/>
              </a:lnSpc>
              <a:spcBef>
                <a:spcPts val="0"/>
              </a:spcBef>
              <a:spcAft>
                <a:spcPts val="200"/>
              </a:spcAft>
              <a:buClrTx/>
              <a:buSzTx/>
              <a:buFontTx/>
              <a:buNone/>
              <a:defRPr/>
            </a:pPr>
            <a:r>
              <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rPr>
              <a:t>科技金融</a:t>
            </a:r>
            <a:endParaRPr kumimoji="0" sz="1200" b="1" i="0" u="none" strike="noStrike" kern="1200" cap="none" spc="0" normalizeH="0" baseline="0" noProof="0">
              <a:ln>
                <a:noFill/>
              </a:ln>
              <a:solidFill>
                <a:srgbClr val="1B3E73"/>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rPr>
              <a:t>科创企业评估 · 政策匹配 · 产业链图谱洞察</a:t>
            </a:r>
            <a:endParaRPr kumimoji="0" sz="1000" b="0" i="0" u="none" strike="noStrike" kern="1200" cap="none" spc="0" normalizeH="0" baseline="0" noProof="0">
              <a:ln>
                <a:noFill/>
              </a:ln>
              <a:solidFill>
                <a:srgbClr val="5A6B84"/>
              </a:solidFill>
              <a:effectLst/>
              <a:uLnTx/>
              <a:uFillTx/>
              <a:latin typeface="微软雅黑" panose="020B0503020204020204" charset="-122"/>
              <a:ea typeface="微软雅黑" panose="020B0503020204020204" charset="-122"/>
              <a:cs typeface="+mn-cs"/>
            </a:endParaRPr>
          </a:p>
        </p:txBody>
      </p:sp>
      <p:grpSp>
        <p:nvGrpSpPr>
          <p:cNvPr id="55" name="组合 54"/>
          <p:cNvGrpSpPr/>
          <p:nvPr/>
        </p:nvGrpSpPr>
        <p:grpSpPr>
          <a:xfrm>
            <a:off x="1515745" y="5182235"/>
            <a:ext cx="7366000" cy="1377950"/>
            <a:chOff x="2387" y="8161"/>
            <a:chExt cx="11600" cy="2170"/>
          </a:xfrm>
        </p:grpSpPr>
        <p:grpSp>
          <p:nvGrpSpPr>
            <p:cNvPr id="35" name="组合 34"/>
            <p:cNvGrpSpPr/>
            <p:nvPr/>
          </p:nvGrpSpPr>
          <p:grpSpPr>
            <a:xfrm>
              <a:off x="2387" y="8161"/>
              <a:ext cx="11600" cy="2170"/>
              <a:chOff x="6332" y="9114"/>
              <a:chExt cx="11600" cy="2170"/>
            </a:xfrm>
          </p:grpSpPr>
          <p:sp>
            <p:nvSpPr>
              <p:cNvPr id="117" name="AutoShape 11"/>
              <p:cNvSpPr/>
              <p:nvPr/>
            </p:nvSpPr>
            <p:spPr>
              <a:xfrm>
                <a:off x="6332" y="9114"/>
                <a:ext cx="11600" cy="2170"/>
              </a:xfrm>
              <a:prstGeom prst="roundRect">
                <a:avLst>
                  <a:gd name="adj" fmla="val 0"/>
                </a:avLst>
              </a:prstGeom>
              <a:solidFill>
                <a:schemeClr val="bg1"/>
              </a:solidFill>
              <a:ln w="12700" cap="flat" cmpd="sng">
                <a:solidFill>
                  <a:srgbClr val="BFDBFE">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sz="14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Arial" panose="020B0604020202090204"/>
                  <a:sym typeface="Arial" panose="020B0604020202090204"/>
                </a:endParaRPr>
              </a:p>
            </p:txBody>
          </p:sp>
          <p:pic>
            <p:nvPicPr>
              <p:cNvPr id="118"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32" y="9638"/>
                <a:ext cx="560" cy="560"/>
              </a:xfrm>
              <a:prstGeom prst="rect">
                <a:avLst/>
              </a:prstGeom>
            </p:spPr>
          </p:pic>
          <p:sp>
            <p:nvSpPr>
              <p:cNvPr id="119" name="AutoShape 13"/>
              <p:cNvSpPr/>
              <p:nvPr/>
            </p:nvSpPr>
            <p:spPr>
              <a:xfrm>
                <a:off x="7332" y="9547"/>
                <a:ext cx="10400" cy="1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90204"/>
                  <a:buNone/>
                  <a:defRPr/>
                </a:pPr>
                <a:r>
                  <a:rPr kumimoji="0" lang="en-US" sz="1500" b="1" i="0" u="none" strike="noStrike" kern="1200" cap="none" spc="0" normalizeH="0" baseline="0" noProof="0" dirty="0" err="1">
                    <a:ln>
                      <a:noFill/>
                    </a:ln>
                    <a:solidFill>
                      <a:srgbClr val="1E40AF"/>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资源层</a:t>
                </a:r>
                <a:r>
                  <a:rPr kumimoji="0" lang="en-US" sz="1500" b="1" i="0" u="none" strike="noStrike" kern="1200" cap="none" spc="0" normalizeH="0" baseline="0" noProof="0" dirty="0">
                    <a:ln>
                      <a:noFill/>
                    </a:ln>
                    <a:solidFill>
                      <a:srgbClr val="1E40AF"/>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kumimoji="0" lang="zh-CN" altLang="en-US" sz="1500" b="1" i="0" u="none" strike="noStrike" kern="1200" cap="none" spc="0" normalizeH="0" baseline="0" noProof="0" dirty="0">
                    <a:ln>
                      <a:noFill/>
                    </a:ln>
                    <a:solidFill>
                      <a:srgbClr val="1E40AF"/>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资源汇聚标准化</a:t>
                </a:r>
                <a:r>
                  <a:rPr kumimoji="0" lang="zh-CN" altLang="en-US" sz="1300" b="1"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r>
                  <a:rPr kumimoji="0" lang="en-US" sz="1300" b="0" i="0" u="none" strike="noStrike" kern="1200" cap="none" spc="0" normalizeH="0" baseline="0" noProof="0" dirty="0" err="1">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统一纳管全量</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文档资源</a:t>
                </a:r>
                <a:r>
                  <a:rPr kumimoji="0" 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r>
                  <a:rPr kumimoji="0" lang="en-US" sz="1300" b="0" i="0" u="none" strike="noStrike" kern="1200" cap="none" spc="0" normalizeH="0" baseline="0" noProof="0" dirty="0" err="1">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建立</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以文档为核心的元数据标准体系，开展文档资源基于业务、技术、管理视角的的规范分级分类、描述定义、权责归属和去重提质，为后续知识服务提供统一支撑和准确溯源</a:t>
                </a:r>
                <a:r>
                  <a:rPr kumimoji="0" 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kumimoji="0" 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90204"/>
                </a:endParaRPr>
              </a:p>
            </p:txBody>
          </p:sp>
        </p:grpSp>
        <p:sp>
          <p:nvSpPr>
            <p:cNvPr id="44" name="文本框 43"/>
            <p:cNvSpPr txBox="1"/>
            <p:nvPr/>
          </p:nvSpPr>
          <p:spPr>
            <a:xfrm>
              <a:off x="3387" y="9637"/>
              <a:ext cx="10260" cy="483"/>
            </a:xfrm>
            <a:prstGeom prst="rect">
              <a:avLst/>
            </a:prstGeom>
          </p:spPr>
          <p:txBody>
            <a:bodyPr wrap="square">
              <a:spAutoFit/>
            </a:bodyPr>
            <a:p>
              <a:pPr defTabSz="266700"/>
              <a:r>
                <a:rPr lang="zh-CN" altLang="en-US" sz="1400" b="1">
                  <a:solidFill>
                    <a:srgbClr val="C00000"/>
                  </a:solidFill>
                  <a:latin typeface="微软雅黑"/>
                  <a:ea typeface="微软雅黑"/>
                </a:rPr>
                <a:t>解决文档零散、封闭、重复的问题</a:t>
              </a:r>
              <a:endParaRPr lang="zh-CN" altLang="en-US" sz="1400" b="1">
                <a:solidFill>
                  <a:srgbClr val="C00000"/>
                </a:solidFill>
                <a:latin typeface="微软雅黑"/>
                <a:ea typeface="微软雅黑"/>
              </a:endParaRPr>
            </a:p>
          </p:txBody>
        </p:sp>
      </p:grpSp>
      <p:grpSp>
        <p:nvGrpSpPr>
          <p:cNvPr id="54" name="组合 53"/>
          <p:cNvGrpSpPr/>
          <p:nvPr/>
        </p:nvGrpSpPr>
        <p:grpSpPr>
          <a:xfrm>
            <a:off x="1534160" y="3811905"/>
            <a:ext cx="7366000" cy="1299845"/>
            <a:chOff x="2416" y="6003"/>
            <a:chExt cx="11600" cy="2047"/>
          </a:xfrm>
        </p:grpSpPr>
        <p:grpSp>
          <p:nvGrpSpPr>
            <p:cNvPr id="36" name="组合 35"/>
            <p:cNvGrpSpPr/>
            <p:nvPr/>
          </p:nvGrpSpPr>
          <p:grpSpPr>
            <a:xfrm>
              <a:off x="2416" y="6003"/>
              <a:ext cx="11600" cy="2034"/>
              <a:chOff x="6320" y="7300"/>
              <a:chExt cx="11600" cy="2034"/>
            </a:xfrm>
          </p:grpSpPr>
          <p:sp>
            <p:nvSpPr>
              <p:cNvPr id="120" name="AutoShape 14"/>
              <p:cNvSpPr/>
              <p:nvPr/>
            </p:nvSpPr>
            <p:spPr>
              <a:xfrm>
                <a:off x="6320" y="7300"/>
                <a:ext cx="11600" cy="2034"/>
              </a:xfrm>
              <a:prstGeom prst="roundRect">
                <a:avLst>
                  <a:gd name="adj" fmla="val 0"/>
                </a:avLst>
              </a:prstGeom>
              <a:solidFill>
                <a:schemeClr val="bg1"/>
              </a:solidFill>
              <a:ln w="12700" cap="flat" cmpd="sng">
                <a:solidFill>
                  <a:srgbClr val="BFDBFE">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sz="14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Arial" panose="020B0604020202090204"/>
                  <a:sym typeface="Arial" panose="020B0604020202090204"/>
                </a:endParaRPr>
              </a:p>
            </p:txBody>
          </p:sp>
          <p:pic>
            <p:nvPicPr>
              <p:cNvPr id="121"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0" y="7910"/>
                <a:ext cx="560" cy="560"/>
              </a:xfrm>
              <a:prstGeom prst="rect">
                <a:avLst/>
              </a:prstGeom>
            </p:spPr>
          </p:pic>
          <p:sp>
            <p:nvSpPr>
              <p:cNvPr id="122" name="AutoShape 16"/>
              <p:cNvSpPr/>
              <p:nvPr/>
            </p:nvSpPr>
            <p:spPr>
              <a:xfrm>
                <a:off x="7320" y="7839"/>
                <a:ext cx="10400" cy="1083"/>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90204"/>
                  <a:buNone/>
                  <a:defRPr/>
                </a:pPr>
                <a:r>
                  <a:rPr kumimoji="0" lang="en-US" sz="1500" b="1" i="0" u="none" strike="noStrike" kern="1200" cap="none" spc="0" normalizeH="0" baseline="0" noProof="0" dirty="0" err="1">
                    <a:ln>
                      <a:noFill/>
                    </a:ln>
                    <a:solidFill>
                      <a:srgbClr val="2563E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加工层</a:t>
                </a:r>
                <a:r>
                  <a:rPr kumimoji="0" lang="en-US" sz="1500" b="1" i="0" u="none" strike="noStrike" kern="1200" cap="none" spc="0" normalizeH="0" baseline="0" noProof="0" dirty="0">
                    <a:ln>
                      <a:noFill/>
                    </a:ln>
                    <a:solidFill>
                      <a:srgbClr val="2563E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kumimoji="0" lang="zh-CN" altLang="en-US" sz="1500" b="1" i="0" u="none" strike="noStrike" kern="1200" cap="none" spc="0" normalizeH="0" baseline="0" noProof="0" dirty="0">
                    <a:ln>
                      <a:noFill/>
                    </a:ln>
                    <a:solidFill>
                      <a:srgbClr val="2563E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知识语义索引化</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：统一开展非结构化知识资产</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AI</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原生化加工，充分基于文档元数据和内容数据，开展面向</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AI</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原生能力的知识加工，形成面向</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Agentic AI</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服务体系的本体知识和向量知识表达，并通过全行级统一语义实现关联。</a:t>
                </a:r>
                <a:endParaRPr kumimoji="0" 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90204"/>
                </a:endParaRPr>
              </a:p>
            </p:txBody>
          </p:sp>
        </p:grpSp>
        <p:sp>
          <p:nvSpPr>
            <p:cNvPr id="46" name="文本框 45"/>
            <p:cNvSpPr txBox="1"/>
            <p:nvPr/>
          </p:nvSpPr>
          <p:spPr>
            <a:xfrm>
              <a:off x="3387" y="7568"/>
              <a:ext cx="10260" cy="483"/>
            </a:xfrm>
            <a:prstGeom prst="rect">
              <a:avLst/>
            </a:prstGeom>
          </p:spPr>
          <p:txBody>
            <a:bodyPr wrap="square">
              <a:spAutoFit/>
            </a:bodyPr>
            <a:p>
              <a:pPr defTabSz="266700"/>
              <a:r>
                <a:rPr lang="zh-CN" altLang="en-US" sz="1400" b="1">
                  <a:solidFill>
                    <a:srgbClr val="C00000"/>
                  </a:solidFill>
                  <a:latin typeface="微软雅黑"/>
                  <a:ea typeface="微软雅黑"/>
                </a:rPr>
                <a:t>提升知识检索准确性和完整性</a:t>
              </a:r>
              <a:endParaRPr lang="zh-CN" altLang="en-US" sz="1400" b="1">
                <a:solidFill>
                  <a:srgbClr val="C00000"/>
                </a:solidFill>
                <a:latin typeface="微软雅黑"/>
                <a:ea typeface="微软雅黑"/>
              </a:endParaRPr>
            </a:p>
          </p:txBody>
        </p:sp>
      </p:grpSp>
      <p:grpSp>
        <p:nvGrpSpPr>
          <p:cNvPr id="53" name="组合 52"/>
          <p:cNvGrpSpPr/>
          <p:nvPr/>
        </p:nvGrpSpPr>
        <p:grpSpPr>
          <a:xfrm>
            <a:off x="1525270" y="2733040"/>
            <a:ext cx="7366000" cy="996950"/>
            <a:chOff x="2402" y="4304"/>
            <a:chExt cx="11600" cy="1570"/>
          </a:xfrm>
        </p:grpSpPr>
        <p:grpSp>
          <p:nvGrpSpPr>
            <p:cNvPr id="37" name="组合 36"/>
            <p:cNvGrpSpPr/>
            <p:nvPr/>
          </p:nvGrpSpPr>
          <p:grpSpPr>
            <a:xfrm>
              <a:off x="2402" y="4304"/>
              <a:ext cx="11600" cy="1571"/>
              <a:chOff x="6320" y="5947"/>
              <a:chExt cx="11600" cy="1571"/>
            </a:xfrm>
          </p:grpSpPr>
          <p:sp>
            <p:nvSpPr>
              <p:cNvPr id="123" name="AutoShape 17"/>
              <p:cNvSpPr/>
              <p:nvPr/>
            </p:nvSpPr>
            <p:spPr>
              <a:xfrm>
                <a:off x="6320" y="5947"/>
                <a:ext cx="11600" cy="1571"/>
              </a:xfrm>
              <a:prstGeom prst="roundRect">
                <a:avLst>
                  <a:gd name="adj" fmla="val 0"/>
                </a:avLst>
              </a:prstGeom>
              <a:solidFill>
                <a:schemeClr val="bg1"/>
              </a:solidFill>
              <a:ln w="12700" cap="flat" cmpd="sng">
                <a:solidFill>
                  <a:srgbClr val="BFDBFE">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sz="14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Arial" panose="020B0604020202090204"/>
                  <a:sym typeface="Arial" panose="020B0604020202090204"/>
                </a:endParaRPr>
              </a:p>
            </p:txBody>
          </p:sp>
          <p:pic>
            <p:nvPicPr>
              <p:cNvPr id="124"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20" y="6391"/>
                <a:ext cx="560" cy="560"/>
              </a:xfrm>
              <a:prstGeom prst="rect">
                <a:avLst/>
              </a:prstGeom>
            </p:spPr>
          </p:pic>
          <p:sp>
            <p:nvSpPr>
              <p:cNvPr id="125" name="AutoShape 19"/>
              <p:cNvSpPr/>
              <p:nvPr/>
            </p:nvSpPr>
            <p:spPr>
              <a:xfrm>
                <a:off x="7320" y="6065"/>
                <a:ext cx="10400" cy="1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90204"/>
                  <a:buNone/>
                  <a:defRPr/>
                </a:pPr>
                <a:r>
                  <a:rPr kumimoji="0" lang="en-US" sz="1500" b="1" i="0" u="none" strike="noStrike" kern="1200" cap="none" spc="0" normalizeH="0" baseline="0" noProof="0" dirty="0" err="1">
                    <a:ln>
                      <a:noFill/>
                    </a:ln>
                    <a:solidFill>
                      <a:srgbClr val="3B82F6"/>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服务层</a:t>
                </a:r>
                <a:r>
                  <a:rPr kumimoji="0" lang="en-US" sz="1500" b="1" i="0" u="none" strike="noStrike" kern="1200" cap="none" spc="0" normalizeH="0" baseline="0" noProof="0" dirty="0">
                    <a:ln>
                      <a:noFill/>
                    </a:ln>
                    <a:solidFill>
                      <a:srgbClr val="3B82F6"/>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a:t>
                </a:r>
                <a:r>
                  <a:rPr kumimoji="0" lang="zh-CN" altLang="en-US" sz="1500" b="1" i="0" u="none" strike="noStrike" kern="1200" cap="none" spc="0" normalizeH="0" baseline="0" noProof="0" dirty="0">
                    <a:ln>
                      <a:noFill/>
                    </a:ln>
                    <a:solidFill>
                      <a:srgbClr val="3B82F6"/>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智能服务多元</a:t>
                </a:r>
                <a:r>
                  <a:rPr kumimoji="0" lang="en-US" sz="1500" b="1" i="0" u="none" strike="noStrike" kern="1200" cap="none" spc="0" normalizeH="0" baseline="0" noProof="0" dirty="0">
                    <a:ln>
                      <a:noFill/>
                    </a:ln>
                    <a:solidFill>
                      <a:srgbClr val="3B82F6"/>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化</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r>
                  <a:rPr kumimoji="0" 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基于加工层基础知识索引服务，全面对接全行级</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Agentic AI</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服务能力体系，开展</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MCP</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和</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SKILL</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等多种形式的能力封装，实现对图</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向量的企业级</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RAG</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服务管理，同时支持基于非结构化文档的</a:t>
                </a:r>
                <a:r>
                  <a:rPr kumimoji="0" lang="en-US" altLang="zh-CN" sz="1300" b="0" i="0" u="none" strike="noStrike" kern="1200" cap="none" spc="0" normalizeH="0" baseline="0" noProof="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Agent</a:t>
                </a:r>
                <a:r>
                  <a:rPr kumimoji="0" lang="zh-CN" altLang="en-US" sz="1300" b="0" i="0" u="none" strike="noStrike" kern="1200" cap="none" spc="0" normalizeH="0" baseline="0" noProof="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自动化</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编排服务能力。</a:t>
                </a:r>
                <a:endParaRPr kumimoji="0" 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90204"/>
                </a:endParaRPr>
              </a:p>
            </p:txBody>
          </p:sp>
        </p:grpSp>
        <p:sp>
          <p:nvSpPr>
            <p:cNvPr id="47" name="文本框 46"/>
            <p:cNvSpPr txBox="1"/>
            <p:nvPr/>
          </p:nvSpPr>
          <p:spPr>
            <a:xfrm>
              <a:off x="3402" y="5364"/>
              <a:ext cx="10260" cy="483"/>
            </a:xfrm>
            <a:prstGeom prst="rect">
              <a:avLst/>
            </a:prstGeom>
          </p:spPr>
          <p:txBody>
            <a:bodyPr wrap="square">
              <a:spAutoFit/>
            </a:bodyPr>
            <a:p>
              <a:pPr defTabSz="266700"/>
              <a:r>
                <a:rPr lang="zh-CN" altLang="en-US" sz="1400" b="1">
                  <a:solidFill>
                    <a:srgbClr val="C00000"/>
                  </a:solidFill>
                  <a:latin typeface="微软雅黑"/>
                  <a:ea typeface="微软雅黑"/>
                </a:rPr>
                <a:t>解决各业务场景按需调用、快速落地，避免重复建设</a:t>
              </a:r>
              <a:endParaRPr lang="zh-CN" altLang="en-US" sz="1400" b="1">
                <a:solidFill>
                  <a:srgbClr val="C00000"/>
                </a:solidFill>
                <a:latin typeface="微软雅黑"/>
                <a:ea typeface="微软雅黑"/>
              </a:endParaRPr>
            </a:p>
          </p:txBody>
        </p:sp>
      </p:grpSp>
      <p:grpSp>
        <p:nvGrpSpPr>
          <p:cNvPr id="52" name="组合 51"/>
          <p:cNvGrpSpPr/>
          <p:nvPr/>
        </p:nvGrpSpPr>
        <p:grpSpPr>
          <a:xfrm>
            <a:off x="1515745" y="836295"/>
            <a:ext cx="9008745" cy="951865"/>
            <a:chOff x="2402" y="1290"/>
            <a:chExt cx="14187" cy="1499"/>
          </a:xfrm>
        </p:grpSpPr>
        <p:grpSp>
          <p:nvGrpSpPr>
            <p:cNvPr id="41" name="组合 40"/>
            <p:cNvGrpSpPr/>
            <p:nvPr/>
          </p:nvGrpSpPr>
          <p:grpSpPr>
            <a:xfrm rot="0">
              <a:off x="2402" y="1290"/>
              <a:ext cx="11600" cy="1399"/>
              <a:chOff x="2276" y="1572"/>
              <a:chExt cx="11600" cy="1240"/>
            </a:xfrm>
          </p:grpSpPr>
          <p:sp>
            <p:nvSpPr>
              <p:cNvPr id="129" name="AutoShape 23"/>
              <p:cNvSpPr/>
              <p:nvPr/>
            </p:nvSpPr>
            <p:spPr>
              <a:xfrm>
                <a:off x="2276" y="1572"/>
                <a:ext cx="11600" cy="1240"/>
              </a:xfrm>
              <a:prstGeom prst="roundRect">
                <a:avLst>
                  <a:gd name="adj" fmla="val 0"/>
                </a:avLst>
              </a:prstGeom>
              <a:solidFill>
                <a:schemeClr val="bg1"/>
              </a:solidFill>
              <a:ln w="12700" cap="flat" cmpd="sng">
                <a:solidFill>
                  <a:srgbClr val="BFDBFE">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sz="14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Arial" panose="020B0604020202090204"/>
                  <a:sym typeface="Arial" panose="020B0604020202090204"/>
                </a:endParaRPr>
              </a:p>
            </p:txBody>
          </p:sp>
          <p:pic>
            <p:nvPicPr>
              <p:cNvPr id="130" name="Picture 2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576" y="1912"/>
                <a:ext cx="560" cy="560"/>
              </a:xfrm>
              <a:prstGeom prst="rect">
                <a:avLst/>
              </a:prstGeom>
            </p:spPr>
          </p:pic>
          <p:sp>
            <p:nvSpPr>
              <p:cNvPr id="131" name="AutoShape 25"/>
              <p:cNvSpPr/>
              <p:nvPr/>
            </p:nvSpPr>
            <p:spPr>
              <a:xfrm>
                <a:off x="3276" y="1587"/>
                <a:ext cx="10400" cy="1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90204"/>
                  <a:buNone/>
                  <a:defRPr/>
                </a:pPr>
                <a:r>
                  <a:rPr kumimoji="0" lang="en-US" sz="1500" b="1" i="0" u="none" strike="noStrike" kern="1200" cap="none" spc="0" normalizeH="0" baseline="0" noProof="0" dirty="0" err="1">
                    <a:ln>
                      <a:noFill/>
                    </a:ln>
                    <a:solidFill>
                      <a:srgbClr val="1E40AF"/>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拓展层</a:t>
                </a:r>
                <a:r>
                  <a:rPr kumimoji="0" lang="en-US" sz="1500" b="1" i="0" u="none" strike="noStrike" kern="1200" cap="none" spc="0" normalizeH="0" baseline="0" noProof="0" dirty="0">
                    <a:ln>
                      <a:noFill/>
                    </a:ln>
                    <a:solidFill>
                      <a:srgbClr val="1E40AF"/>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kumimoji="0" lang="zh-CN" altLang="en-US" sz="1500" b="1" i="0" u="none" strike="noStrike" kern="1200" cap="none" spc="0" normalizeH="0" baseline="0" noProof="0" dirty="0">
                    <a:ln>
                      <a:noFill/>
                    </a:ln>
                    <a:solidFill>
                      <a:srgbClr val="1E40AF"/>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体系拓展全域</a:t>
                </a:r>
                <a:r>
                  <a:rPr kumimoji="0" lang="en-US" sz="1500" b="1" i="0" u="none" strike="noStrike" kern="1200" cap="none" spc="0" normalizeH="0" baseline="0" noProof="0" dirty="0">
                    <a:ln>
                      <a:noFill/>
                    </a:ln>
                    <a:solidFill>
                      <a:srgbClr val="1E40AF"/>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化</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r>
                  <a:rPr kumimoji="0" 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针对此次构建的非结构化数据知识工程平台建设成果，应用本体建模方法，面向结构化体系数字化生产环境的知识对接和融入能力，并开展面向文档的高质量标注样本和专题知识的专家模型训练的可拓展服务接口。</a:t>
                </a:r>
                <a:endParaRPr kumimoji="0" 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90204"/>
                </a:endParaRPr>
              </a:p>
            </p:txBody>
          </p:sp>
        </p:grpSp>
        <p:cxnSp>
          <p:nvCxnSpPr>
            <p:cNvPr id="42" name="直接箭头连接符 41"/>
            <p:cNvCxnSpPr/>
            <p:nvPr/>
          </p:nvCxnSpPr>
          <p:spPr>
            <a:xfrm>
              <a:off x="13816" y="1636"/>
              <a:ext cx="2773" cy="3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3387" y="2306"/>
              <a:ext cx="10260" cy="483"/>
            </a:xfrm>
            <a:prstGeom prst="rect">
              <a:avLst/>
            </a:prstGeom>
          </p:spPr>
          <p:txBody>
            <a:bodyPr wrap="square">
              <a:spAutoFit/>
            </a:bodyPr>
            <a:p>
              <a:pPr defTabSz="266700"/>
              <a:r>
                <a:rPr lang="zh-CN" altLang="en-US" sz="1400" b="1">
                  <a:solidFill>
                    <a:srgbClr val="C00000"/>
                  </a:solidFill>
                  <a:latin typeface="微软雅黑"/>
                  <a:ea typeface="微软雅黑"/>
                </a:rPr>
                <a:t>支撑深度智能化决策、推理、自动化</a:t>
              </a:r>
              <a:r>
                <a:rPr lang="zh-CN" altLang="en-US" sz="1400" b="1">
                  <a:solidFill>
                    <a:srgbClr val="C00000"/>
                  </a:solidFill>
                  <a:latin typeface="微软雅黑"/>
                  <a:ea typeface="微软雅黑"/>
                </a:rPr>
                <a:t>等业务场景</a:t>
              </a:r>
              <a:endParaRPr lang="zh-CN" altLang="en-US" sz="1400" b="1">
                <a:solidFill>
                  <a:srgbClr val="C00000"/>
                </a:solidFill>
                <a:latin typeface="微软雅黑"/>
                <a:ea typeface="微软雅黑"/>
              </a:endParaRPr>
            </a:p>
          </p:txBody>
        </p:sp>
      </p:grpSp>
      <p:grpSp>
        <p:nvGrpSpPr>
          <p:cNvPr id="51" name="组合 50"/>
          <p:cNvGrpSpPr/>
          <p:nvPr/>
        </p:nvGrpSpPr>
        <p:grpSpPr>
          <a:xfrm>
            <a:off x="1525270" y="1750060"/>
            <a:ext cx="7437755" cy="1010285"/>
            <a:chOff x="2402" y="2756"/>
            <a:chExt cx="11713" cy="1591"/>
          </a:xfrm>
        </p:grpSpPr>
        <p:grpSp>
          <p:nvGrpSpPr>
            <p:cNvPr id="38" name="组合 37"/>
            <p:cNvGrpSpPr/>
            <p:nvPr/>
          </p:nvGrpSpPr>
          <p:grpSpPr>
            <a:xfrm rot="0">
              <a:off x="2402" y="2756"/>
              <a:ext cx="11600" cy="1485"/>
              <a:chOff x="6332" y="4252"/>
              <a:chExt cx="11600" cy="1316"/>
            </a:xfrm>
          </p:grpSpPr>
          <p:sp>
            <p:nvSpPr>
              <p:cNvPr id="126" name="AutoShape 20"/>
              <p:cNvSpPr/>
              <p:nvPr/>
            </p:nvSpPr>
            <p:spPr>
              <a:xfrm>
                <a:off x="6332" y="4252"/>
                <a:ext cx="11600" cy="1316"/>
              </a:xfrm>
              <a:prstGeom prst="roundRect">
                <a:avLst>
                  <a:gd name="adj" fmla="val 0"/>
                </a:avLst>
              </a:prstGeom>
              <a:solidFill>
                <a:schemeClr val="bg1"/>
              </a:solidFill>
              <a:ln w="12700" cap="flat" cmpd="sng">
                <a:solidFill>
                  <a:srgbClr val="BFDBFE">
                    <a:alpha val="100000"/>
                  </a:srgbClr>
                </a:solid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90204"/>
                  <a:buNone/>
                  <a:defRPr/>
                </a:pPr>
                <a:endParaRPr kumimoji="0" sz="14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Arial" panose="020B0604020202090204"/>
                  <a:sym typeface="Arial" panose="020B0604020202090204"/>
                </a:endParaRPr>
              </a:p>
            </p:txBody>
          </p:sp>
          <p:pic>
            <p:nvPicPr>
              <p:cNvPr id="127"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32" y="4592"/>
                <a:ext cx="560" cy="560"/>
              </a:xfrm>
              <a:prstGeom prst="rect">
                <a:avLst/>
              </a:prstGeom>
            </p:spPr>
          </p:pic>
          <p:sp>
            <p:nvSpPr>
              <p:cNvPr id="128" name="AutoShape 22"/>
              <p:cNvSpPr/>
              <p:nvPr/>
            </p:nvSpPr>
            <p:spPr>
              <a:xfrm>
                <a:off x="7332" y="4284"/>
                <a:ext cx="10400" cy="1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pPr marL="0" marR="0" lvl="0" indent="0" algn="l" defTabSz="914400" rtl="0" eaLnBrk="1" fontAlgn="auto" latinLnBrk="0" hangingPunct="1">
                  <a:lnSpc>
                    <a:spcPct val="92000"/>
                  </a:lnSpc>
                  <a:spcBef>
                    <a:spcPts val="0"/>
                  </a:spcBef>
                  <a:spcAft>
                    <a:spcPts val="0"/>
                  </a:spcAft>
                  <a:buClr>
                    <a:srgbClr val="000000"/>
                  </a:buClr>
                  <a:buSzTx/>
                  <a:buFont typeface="Arial" panose="020B0604020202090204"/>
                  <a:buNone/>
                  <a:defRPr/>
                </a:pPr>
                <a:r>
                  <a:rPr kumimoji="0" lang="en-US" sz="1500" b="1" i="0" u="none" strike="noStrike" kern="1200" cap="none" spc="0" normalizeH="0" baseline="0" noProof="0" dirty="0" err="1">
                    <a:ln>
                      <a:noFill/>
                    </a:ln>
                    <a:solidFill>
                      <a:srgbClr val="60A5FA"/>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监运层</a:t>
                </a:r>
                <a:r>
                  <a:rPr kumimoji="0" lang="en-US" sz="1500" b="1" i="0" u="none" strike="noStrike" kern="1200" cap="none" spc="0" normalizeH="0" baseline="0" noProof="0" dirty="0">
                    <a:ln>
                      <a:noFill/>
                    </a:ln>
                    <a:solidFill>
                      <a:srgbClr val="60A5FA"/>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kumimoji="0" lang="en-US" sz="1500" b="1" i="0" u="none" strike="noStrike" kern="1200" cap="none" spc="0" normalizeH="0" baseline="0" noProof="0" dirty="0" err="1">
                    <a:ln>
                      <a:noFill/>
                    </a:ln>
                    <a:solidFill>
                      <a:srgbClr val="60A5FA"/>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运营管理</a:t>
                </a:r>
                <a:r>
                  <a:rPr kumimoji="0" lang="zh-CN" altLang="en-US" sz="1500" b="1" i="0" u="none" strike="noStrike" kern="1200" cap="none" spc="0" normalizeH="0" baseline="0" noProof="0" dirty="0">
                    <a:ln>
                      <a:noFill/>
                    </a:ln>
                    <a:solidFill>
                      <a:srgbClr val="60A5FA"/>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智能</a:t>
                </a:r>
                <a:r>
                  <a:rPr kumimoji="0" lang="en-US" sz="1500" b="1" i="0" u="none" strike="noStrike" kern="1200" cap="none" spc="0" normalizeH="0" baseline="0" noProof="0" dirty="0">
                    <a:ln>
                      <a:noFill/>
                    </a:ln>
                    <a:solidFill>
                      <a:srgbClr val="60A5FA"/>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化</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：充分引入基于多智能体，实现知识汇聚、加工、服务全流程的可观测、可溯源、可控制、可解释、可演化、可闭环的</a:t>
                </a:r>
                <a:r>
                  <a:rPr kumimoji="0" lang="en-US" altLang="zh-CN"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AI</a:t>
                </a:r>
                <a:r>
                  <a:rPr kumimoji="0" lang="zh-CN" altLang="en-US" sz="1300" b="0" i="0" u="none" strike="noStrike" kern="1200" cap="none" spc="0" normalizeH="0" baseline="0" noProof="0" dirty="0">
                    <a:ln>
                      <a:noFill/>
                    </a:ln>
                    <a:solidFill>
                      <a:srgbClr val="4B556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自治能力，实现人工智能自动化监运，充分降低运行成本，提升运营效率。</a:t>
                </a:r>
                <a:endParaRPr kumimoji="0" lang="en-US" sz="11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90204"/>
                </a:endParaRPr>
              </a:p>
            </p:txBody>
          </p:sp>
        </p:grpSp>
        <p:sp>
          <p:nvSpPr>
            <p:cNvPr id="50" name="文本框 49"/>
            <p:cNvSpPr txBox="1"/>
            <p:nvPr/>
          </p:nvSpPr>
          <p:spPr>
            <a:xfrm>
              <a:off x="3387" y="3865"/>
              <a:ext cx="10260" cy="483"/>
            </a:xfrm>
            <a:prstGeom prst="rect">
              <a:avLst/>
            </a:prstGeom>
          </p:spPr>
          <p:txBody>
            <a:bodyPr wrap="square">
              <a:spAutoFit/>
            </a:bodyPr>
            <a:p>
              <a:pPr defTabSz="266700"/>
              <a:r>
                <a:rPr lang="zh-CN" altLang="en-US" sz="1400" b="1">
                  <a:solidFill>
                    <a:srgbClr val="C00000"/>
                  </a:solidFill>
                  <a:latin typeface="微软雅黑"/>
                  <a:ea typeface="微软雅黑"/>
                </a:rPr>
                <a:t>实现知识全生命周期的自动化监控、评估、更新和反馈</a:t>
              </a:r>
              <a:endParaRPr lang="zh-CN" altLang="en-US" sz="1400" b="1">
                <a:solidFill>
                  <a:srgbClr val="C00000"/>
                </a:solidFill>
                <a:latin typeface="微软雅黑"/>
                <a:ea typeface="微软雅黑"/>
              </a:endParaRPr>
            </a:p>
          </p:txBody>
        </p:sp>
        <p:cxnSp>
          <p:nvCxnSpPr>
            <p:cNvPr id="39" name="直接箭头连接符 38"/>
            <p:cNvCxnSpPr/>
            <p:nvPr/>
          </p:nvCxnSpPr>
          <p:spPr>
            <a:xfrm flipV="1">
              <a:off x="13647" y="2937"/>
              <a:ext cx="469" cy="26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fontScale="90000"/>
          </a:bodyPr>
          <a:lstStyle/>
          <a:p>
            <a:pPr lvl="0" algn="l">
              <a:buClrTx/>
              <a:buSzTx/>
              <a:buFontTx/>
            </a:pPr>
            <a:r>
              <a:rPr dirty="0" err="1">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知识工程平台</a:t>
            </a:r>
            <a:r>
              <a:rPr lang="zh-CN"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整体功能架构</a:t>
            </a:r>
            <a:r>
              <a:rPr lang="zh-CN" altLang="en-US"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规划</a:t>
            </a:r>
            <a:endParaRPr lang="zh-CN"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79" name="矩形 78"/>
          <p:cNvSpPr/>
          <p:nvPr/>
        </p:nvSpPr>
        <p:spPr>
          <a:xfrm>
            <a:off x="8130706" y="6459220"/>
            <a:ext cx="1692529" cy="350520"/>
          </a:xfrm>
          <a:prstGeom prst="rect">
            <a:avLst/>
          </a:prstGeom>
          <a:solidFill>
            <a:schemeClr val="bg1">
              <a:lumMod val="75000"/>
            </a:schemeClr>
          </a:solidFill>
          <a:ln w="19050">
            <a:solidFill>
              <a:srgbClr val="C00000"/>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dirty="0">
                <a:solidFill>
                  <a:prstClr val="black"/>
                </a:solidFill>
                <a:latin typeface="微软雅黑" panose="020B0503020204020204" charset="-122"/>
                <a:ea typeface="微软雅黑" panose="020B0503020204020204" charset="-122"/>
              </a:rPr>
              <a:t>现状已具备能力</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0" name="矩形 79"/>
          <p:cNvSpPr/>
          <p:nvPr/>
        </p:nvSpPr>
        <p:spPr>
          <a:xfrm>
            <a:off x="10066972" y="6432973"/>
            <a:ext cx="1504315" cy="3505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规划新增能力</a:t>
            </a:r>
            <a:endParaRPr kumimoji="0" lang="zh-CN"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nvGrpSpPr>
          <p:cNvPr id="19" name="组合 18"/>
          <p:cNvGrpSpPr/>
          <p:nvPr/>
        </p:nvGrpSpPr>
        <p:grpSpPr>
          <a:xfrm>
            <a:off x="155575" y="5909310"/>
            <a:ext cx="11838910" cy="374015"/>
            <a:chOff x="245" y="9306"/>
            <a:chExt cx="19319" cy="589"/>
          </a:xfrm>
        </p:grpSpPr>
        <p:sp>
          <p:nvSpPr>
            <p:cNvPr id="84" name="矩形 83"/>
            <p:cNvSpPr/>
            <p:nvPr/>
          </p:nvSpPr>
          <p:spPr>
            <a:xfrm>
              <a:off x="245" y="9306"/>
              <a:ext cx="15913" cy="589"/>
            </a:xfrm>
            <a:prstGeom prst="rect">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微软雅黑" panose="020B0503020204020204" charset="-122"/>
                </a:rPr>
                <a:t>知识源</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7" name="组合 16"/>
            <p:cNvGrpSpPr/>
            <p:nvPr/>
          </p:nvGrpSpPr>
          <p:grpSpPr>
            <a:xfrm>
              <a:off x="1414" y="9383"/>
              <a:ext cx="14526" cy="446"/>
              <a:chOff x="1414" y="9383"/>
              <a:chExt cx="14864" cy="446"/>
            </a:xfrm>
          </p:grpSpPr>
          <p:sp>
            <p:nvSpPr>
              <p:cNvPr id="86" name="矩形 85"/>
              <p:cNvSpPr/>
              <p:nvPr/>
            </p:nvSpPr>
            <p:spPr>
              <a:xfrm>
                <a:off x="1414" y="9386"/>
                <a:ext cx="2368" cy="44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en-US" sz="1000" b="1" i="0" u="none" strike="noStrike" kern="1200" cap="none" spc="0" normalizeH="0" baseline="0" noProof="0" dirty="0" err="1">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一线知识云</a:t>
                </a:r>
                <a:endParaRPr kumimoji="0" lang="en-US" altLang="en-US" sz="1000" b="1" i="0" u="none" strike="noStrike" kern="1200" cap="none" spc="0" normalizeH="0" baseline="0" noProof="0" dirty="0" err="1">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7" name="矩形 86"/>
              <p:cNvSpPr/>
              <p:nvPr/>
            </p:nvSpPr>
            <p:spPr>
              <a:xfrm>
                <a:off x="3919" y="9389"/>
                <a:ext cx="2244" cy="44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内容管理平台</a:t>
                </a:r>
                <a:endPar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8" name="矩形 87"/>
              <p:cNvSpPr/>
              <p:nvPr/>
            </p:nvSpPr>
            <p:spPr>
              <a:xfrm>
                <a:off x="6295" y="9383"/>
                <a:ext cx="2306" cy="44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制度中台</a:t>
                </a:r>
                <a:endPar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9" name="矩形 88"/>
              <p:cNvSpPr/>
              <p:nvPr/>
            </p:nvSpPr>
            <p:spPr>
              <a:xfrm>
                <a:off x="8728" y="9384"/>
                <a:ext cx="2610" cy="44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AI Coding平台</a:t>
                </a:r>
                <a:endPar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0" name="矩形 89"/>
              <p:cNvSpPr/>
              <p:nvPr/>
            </p:nvSpPr>
            <p:spPr>
              <a:xfrm>
                <a:off x="11478" y="9383"/>
                <a:ext cx="2306" cy="44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外部数据平台</a:t>
                </a:r>
                <a:endPar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1" name="矩形 90"/>
              <p:cNvSpPr/>
              <p:nvPr/>
            </p:nvSpPr>
            <p:spPr>
              <a:xfrm>
                <a:off x="13860" y="9383"/>
                <a:ext cx="2418" cy="44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财务管理系统</a:t>
                </a:r>
                <a:endPar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53" name="矩形 52"/>
            <p:cNvSpPr/>
            <p:nvPr/>
          </p:nvSpPr>
          <p:spPr>
            <a:xfrm>
              <a:off x="16181" y="9306"/>
              <a:ext cx="3383" cy="589"/>
            </a:xfrm>
            <a:prstGeom prst="rect">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8" name="矩形 17"/>
          <p:cNvSpPr/>
          <p:nvPr/>
        </p:nvSpPr>
        <p:spPr>
          <a:xfrm>
            <a:off x="10028555" y="5946140"/>
            <a:ext cx="919480" cy="2927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数据湖</a:t>
            </a:r>
            <a:endPar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50" name="组合 49"/>
          <p:cNvGrpSpPr/>
          <p:nvPr/>
        </p:nvGrpSpPr>
        <p:grpSpPr>
          <a:xfrm>
            <a:off x="10336530" y="979805"/>
            <a:ext cx="1657350" cy="2966720"/>
            <a:chOff x="17580" y="1543"/>
            <a:chExt cx="1496" cy="7696"/>
          </a:xfrm>
        </p:grpSpPr>
        <p:sp>
          <p:nvSpPr>
            <p:cNvPr id="145" name="矩形 144"/>
            <p:cNvSpPr/>
            <p:nvPr/>
          </p:nvSpPr>
          <p:spPr>
            <a:xfrm>
              <a:off x="17580" y="1543"/>
              <a:ext cx="1496" cy="769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监运层</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p:txBody>
        </p:sp>
        <p:sp>
          <p:nvSpPr>
            <p:cNvPr id="4" name="矩形 3"/>
            <p:cNvSpPr/>
            <p:nvPr/>
          </p:nvSpPr>
          <p:spPr>
            <a:xfrm>
              <a:off x="17738" y="2280"/>
              <a:ext cx="1155" cy="118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知识权限管控</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 name="矩形 4"/>
            <p:cNvSpPr/>
            <p:nvPr/>
          </p:nvSpPr>
          <p:spPr>
            <a:xfrm>
              <a:off x="17738" y="3733"/>
              <a:ext cx="1155" cy="142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全链路日志管理</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custDataLst>
                <p:tags r:id="rId1"/>
              </p:custDataLst>
            </p:nvPr>
          </p:nvSpPr>
          <p:spPr>
            <a:xfrm>
              <a:off x="17738" y="6745"/>
              <a:ext cx="1155" cy="105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策略中心</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 name="矩形 8"/>
            <p:cNvSpPr/>
            <p:nvPr>
              <p:custDataLst>
                <p:tags r:id="rId2"/>
              </p:custDataLst>
            </p:nvPr>
          </p:nvSpPr>
          <p:spPr>
            <a:xfrm>
              <a:off x="17738" y="8035"/>
              <a:ext cx="1155" cy="953"/>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任务管理</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 name="矩形 6"/>
            <p:cNvSpPr/>
            <p:nvPr/>
          </p:nvSpPr>
          <p:spPr>
            <a:xfrm>
              <a:off x="17793" y="5455"/>
              <a:ext cx="1100" cy="104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运营分析报表</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20" name="组合 19"/>
          <p:cNvGrpSpPr/>
          <p:nvPr/>
        </p:nvGrpSpPr>
        <p:grpSpPr>
          <a:xfrm>
            <a:off x="155575" y="979170"/>
            <a:ext cx="10104755" cy="4886960"/>
            <a:chOff x="245" y="1542"/>
            <a:chExt cx="17222" cy="7696"/>
          </a:xfrm>
        </p:grpSpPr>
        <p:sp>
          <p:nvSpPr>
            <p:cNvPr id="27" name="矩形 26"/>
            <p:cNvSpPr/>
            <p:nvPr/>
          </p:nvSpPr>
          <p:spPr>
            <a:xfrm>
              <a:off x="245" y="6270"/>
              <a:ext cx="17197" cy="296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资</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源</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层</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p:txBody>
        </p:sp>
        <p:grpSp>
          <p:nvGrpSpPr>
            <p:cNvPr id="48" name="组合 47"/>
            <p:cNvGrpSpPr/>
            <p:nvPr/>
          </p:nvGrpSpPr>
          <p:grpSpPr>
            <a:xfrm>
              <a:off x="1251" y="7497"/>
              <a:ext cx="15980" cy="1683"/>
              <a:chOff x="1341" y="5785"/>
              <a:chExt cx="16490" cy="1625"/>
            </a:xfrm>
          </p:grpSpPr>
          <p:sp>
            <p:nvSpPr>
              <p:cNvPr id="29" name="矩形 28"/>
              <p:cNvSpPr/>
              <p:nvPr/>
            </p:nvSpPr>
            <p:spPr>
              <a:xfrm>
                <a:off x="1341" y="5785"/>
                <a:ext cx="1843" cy="161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资源接入</a:t>
                </a:r>
                <a:endParaRPr kumimoji="0" 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30" name="组合 29"/>
              <p:cNvGrpSpPr/>
              <p:nvPr/>
            </p:nvGrpSpPr>
            <p:grpSpPr>
              <a:xfrm>
                <a:off x="1518" y="6193"/>
                <a:ext cx="1458" cy="1129"/>
                <a:chOff x="1518" y="6193"/>
                <a:chExt cx="1458" cy="1078"/>
              </a:xfrm>
            </p:grpSpPr>
            <p:sp>
              <p:nvSpPr>
                <p:cNvPr id="31" name="矩形 30"/>
                <p:cNvSpPr/>
                <p:nvPr/>
              </p:nvSpPr>
              <p:spPr>
                <a:xfrm>
                  <a:off x="1518" y="6945"/>
                  <a:ext cx="1459" cy="3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配置管理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3" name="矩形 32"/>
                <p:cNvSpPr/>
                <p:nvPr/>
              </p:nvSpPr>
              <p:spPr>
                <a:xfrm>
                  <a:off x="1518" y="6562"/>
                  <a:ext cx="1459" cy="3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目录同步</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4" name="矩形 33"/>
                <p:cNvSpPr/>
                <p:nvPr/>
              </p:nvSpPr>
              <p:spPr>
                <a:xfrm>
                  <a:off x="1518" y="6193"/>
                  <a:ext cx="1459" cy="3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文档探察</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60" name="矩形 59"/>
              <p:cNvSpPr/>
              <p:nvPr/>
            </p:nvSpPr>
            <p:spPr>
              <a:xfrm>
                <a:off x="3336" y="5798"/>
                <a:ext cx="3291"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文档预处理</a:t>
                </a:r>
                <a:endParaRPr kumimoji="0" 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36" name="组合 35"/>
              <p:cNvGrpSpPr/>
              <p:nvPr/>
            </p:nvGrpSpPr>
            <p:grpSpPr>
              <a:xfrm>
                <a:off x="3474" y="6290"/>
                <a:ext cx="2989" cy="934"/>
                <a:chOff x="3474" y="6290"/>
                <a:chExt cx="2758" cy="934"/>
              </a:xfrm>
            </p:grpSpPr>
            <p:sp>
              <p:nvSpPr>
                <p:cNvPr id="35" name="矩形 34"/>
                <p:cNvSpPr/>
                <p:nvPr/>
              </p:nvSpPr>
              <p:spPr>
                <a:xfrm>
                  <a:off x="3474" y="6290"/>
                  <a:ext cx="863"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文档导入</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7" name="矩形 36"/>
                <p:cNvSpPr/>
                <p:nvPr/>
              </p:nvSpPr>
              <p:spPr>
                <a:xfrm>
                  <a:off x="4429" y="6290"/>
                  <a:ext cx="863"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摘要生成</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8" name="矩形 37"/>
                <p:cNvSpPr/>
                <p:nvPr/>
              </p:nvSpPr>
              <p:spPr>
                <a:xfrm>
                  <a:off x="5370" y="6290"/>
                  <a:ext cx="863"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智能解析</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sp>
            <p:nvSpPr>
              <p:cNvPr id="39" name="矩形 38"/>
              <p:cNvSpPr/>
              <p:nvPr/>
            </p:nvSpPr>
            <p:spPr>
              <a:xfrm>
                <a:off x="6779" y="5829"/>
                <a:ext cx="4124"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文档元数据采集</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0" name="矩形 39"/>
              <p:cNvSpPr/>
              <p:nvPr/>
            </p:nvSpPr>
            <p:spPr>
              <a:xfrm>
                <a:off x="6852" y="6298"/>
                <a:ext cx="918"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元数据</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采集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1" name="矩形 40"/>
              <p:cNvSpPr/>
              <p:nvPr/>
            </p:nvSpPr>
            <p:spPr>
              <a:xfrm>
                <a:off x="7881" y="6313"/>
                <a:ext cx="919"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管理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元数据</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采集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2" name="矩形 41"/>
              <p:cNvSpPr/>
              <p:nvPr/>
            </p:nvSpPr>
            <p:spPr>
              <a:xfrm>
                <a:off x="8880" y="6299"/>
                <a:ext cx="91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技术</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元数据</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采集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3" name="矩形 42"/>
              <p:cNvSpPr/>
              <p:nvPr/>
            </p:nvSpPr>
            <p:spPr>
              <a:xfrm>
                <a:off x="11041" y="5815"/>
                <a:ext cx="3077"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文档校验注册</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4" name="矩形 43"/>
              <p:cNvSpPr/>
              <p:nvPr/>
            </p:nvSpPr>
            <p:spPr>
              <a:xfrm>
                <a:off x="11108" y="6314"/>
                <a:ext cx="770"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标准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校验</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5" name="矩形 44"/>
              <p:cNvSpPr/>
              <p:nvPr/>
            </p:nvSpPr>
            <p:spPr>
              <a:xfrm>
                <a:off x="11987" y="6329"/>
                <a:ext cx="768" cy="90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手工</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补全</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6" name="矩形 45"/>
              <p:cNvSpPr/>
              <p:nvPr/>
            </p:nvSpPr>
            <p:spPr>
              <a:xfrm>
                <a:off x="12982" y="6329"/>
                <a:ext cx="905" cy="90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登记</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注册</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7" name="矩形 46"/>
              <p:cNvSpPr/>
              <p:nvPr/>
            </p:nvSpPr>
            <p:spPr>
              <a:xfrm>
                <a:off x="14258" y="5806"/>
                <a:ext cx="3573"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文档校验存储</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 name="矩形 48"/>
              <p:cNvSpPr/>
              <p:nvPr/>
            </p:nvSpPr>
            <p:spPr>
              <a:xfrm>
                <a:off x="14374" y="6308"/>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摘要</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比对</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1" name="矩形 50"/>
              <p:cNvSpPr/>
              <p:nvPr/>
            </p:nvSpPr>
            <p:spPr>
              <a:xfrm>
                <a:off x="15522" y="6323"/>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内容</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比对</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2" name="矩形 51"/>
              <p:cNvSpPr/>
              <p:nvPr/>
            </p:nvSpPr>
            <p:spPr>
              <a:xfrm>
                <a:off x="16653" y="6323"/>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文档</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存储</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246" name="矩形 245"/>
            <p:cNvSpPr/>
            <p:nvPr/>
          </p:nvSpPr>
          <p:spPr>
            <a:xfrm>
              <a:off x="1264" y="6652"/>
              <a:ext cx="5164" cy="4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知识目录体系</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2" name="矩形 81"/>
            <p:cNvSpPr/>
            <p:nvPr/>
          </p:nvSpPr>
          <p:spPr>
            <a:xfrm>
              <a:off x="6663" y="6652"/>
              <a:ext cx="5164" cy="4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文档库管理</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3" name="矩形 82"/>
            <p:cNvSpPr/>
            <p:nvPr/>
          </p:nvSpPr>
          <p:spPr>
            <a:xfrm>
              <a:off x="12080" y="6652"/>
              <a:ext cx="5074" cy="4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元数据标签管理</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6" name="矩形 95"/>
            <p:cNvSpPr/>
            <p:nvPr/>
          </p:nvSpPr>
          <p:spPr>
            <a:xfrm>
              <a:off x="271" y="2823"/>
              <a:ext cx="17196" cy="339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加</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工</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层</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p:txBody>
        </p:sp>
        <p:grpSp>
          <p:nvGrpSpPr>
            <p:cNvPr id="59" name="组合 58"/>
            <p:cNvGrpSpPr/>
            <p:nvPr/>
          </p:nvGrpSpPr>
          <p:grpSpPr>
            <a:xfrm>
              <a:off x="1251" y="3312"/>
              <a:ext cx="16029" cy="1050"/>
              <a:chOff x="1802" y="3085"/>
              <a:chExt cx="15478" cy="1112"/>
            </a:xfrm>
          </p:grpSpPr>
          <p:sp>
            <p:nvSpPr>
              <p:cNvPr id="152" name="圆角矩形 151"/>
              <p:cNvSpPr/>
              <p:nvPr/>
            </p:nvSpPr>
            <p:spPr>
              <a:xfrm>
                <a:off x="1802" y="3085"/>
                <a:ext cx="4942" cy="1112"/>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统一语义知识图谱（文档级）</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7" name="圆角矩形 156"/>
              <p:cNvSpPr/>
              <p:nvPr/>
            </p:nvSpPr>
            <p:spPr>
              <a:xfrm>
                <a:off x="6880" y="3085"/>
                <a:ext cx="5073" cy="1112"/>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专题知识内容图谱（文档要素级）</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2" name="圆角矩形 161"/>
              <p:cNvSpPr/>
              <p:nvPr/>
            </p:nvSpPr>
            <p:spPr>
              <a:xfrm>
                <a:off x="12208" y="3085"/>
                <a:ext cx="5073" cy="1112"/>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向量知识库（文档</a:t>
                </a:r>
                <a:r>
                  <a:rPr kumimoji="0" lang="en-US" altLang="zh-CN"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Chunk</a:t>
                </a: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级）</a:t>
                </a:r>
                <a:endParaRPr kumimoji="0" lang="en-US" altLang="zh-CN"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113" name="组合 112"/>
              <p:cNvGrpSpPr/>
              <p:nvPr/>
            </p:nvGrpSpPr>
            <p:grpSpPr>
              <a:xfrm>
                <a:off x="1906" y="3499"/>
                <a:ext cx="4693" cy="516"/>
                <a:chOff x="1891" y="5372"/>
                <a:chExt cx="2748" cy="497"/>
              </a:xfrm>
            </p:grpSpPr>
            <p:sp>
              <p:nvSpPr>
                <p:cNvPr id="114" name="矩形 113"/>
                <p:cNvSpPr/>
                <p:nvPr/>
              </p:nvSpPr>
              <p:spPr>
                <a:xfrm>
                  <a:off x="1891"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业务场景</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5" name="矩形 114"/>
                <p:cNvSpPr/>
                <p:nvPr/>
              </p:nvSpPr>
              <p:spPr>
                <a:xfrm>
                  <a:off x="2585"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业务活动</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6" name="矩形 115"/>
                <p:cNvSpPr/>
                <p:nvPr/>
              </p:nvSpPr>
              <p:spPr>
                <a:xfrm>
                  <a:off x="3286"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业务对象</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7" name="矩形 116"/>
                <p:cNvSpPr/>
                <p:nvPr/>
              </p:nvSpPr>
              <p:spPr>
                <a:xfrm>
                  <a:off x="3987"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业务术语</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8" name="矩形 117"/>
                <p:cNvSpPr/>
                <p:nvPr/>
              </p:nvSpPr>
              <p:spPr>
                <a:xfrm>
                  <a:off x="1891" y="5643"/>
                  <a:ext cx="1345"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文档对象</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9" name="矩形 118"/>
                <p:cNvSpPr/>
                <p:nvPr/>
              </p:nvSpPr>
              <p:spPr>
                <a:xfrm>
                  <a:off x="3294" y="5643"/>
                  <a:ext cx="1345"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专题知识图谱对象</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120" name="组合 119"/>
              <p:cNvGrpSpPr/>
              <p:nvPr/>
            </p:nvGrpSpPr>
            <p:grpSpPr>
              <a:xfrm>
                <a:off x="6966" y="3501"/>
                <a:ext cx="4860" cy="514"/>
                <a:chOff x="7563" y="4050"/>
                <a:chExt cx="4173" cy="518"/>
              </a:xfrm>
            </p:grpSpPr>
            <p:sp>
              <p:nvSpPr>
                <p:cNvPr id="121" name="矩形 120"/>
                <p:cNvSpPr/>
                <p:nvPr/>
              </p:nvSpPr>
              <p:spPr>
                <a:xfrm>
                  <a:off x="7563"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合同知识图谱</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3" name="矩形 122"/>
                <p:cNvSpPr/>
                <p:nvPr/>
              </p:nvSpPr>
              <p:spPr>
                <a:xfrm>
                  <a:off x="8402"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征信</a:t>
                  </a: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知识图谱</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5" name="矩形 124"/>
                <p:cNvSpPr/>
                <p:nvPr/>
              </p:nvSpPr>
              <p:spPr>
                <a:xfrm>
                  <a:off x="9258"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司法</a:t>
                  </a: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知识图谱</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6" name="矩形 125"/>
                <p:cNvSpPr/>
                <p:nvPr/>
              </p:nvSpPr>
              <p:spPr>
                <a:xfrm>
                  <a:off x="10137"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报告</a:t>
                  </a:r>
                  <a:r>
                    <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知识图谱</a:t>
                  </a:r>
                  <a:endParaRPr kumimoji="0" lang="zh-CN" altLang="en-US"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7" name="矩形 126"/>
                <p:cNvSpPr/>
                <p:nvPr/>
              </p:nvSpPr>
              <p:spPr>
                <a:xfrm>
                  <a:off x="10972"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endParaRPr kumimoji="0" lang="en-US" altLang="zh-CN" sz="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28" name="左右箭头 127"/>
              <p:cNvSpPr/>
              <p:nvPr/>
            </p:nvSpPr>
            <p:spPr>
              <a:xfrm>
                <a:off x="11879" y="3810"/>
                <a:ext cx="511" cy="261"/>
              </a:xfrm>
              <a:prstGeom prst="leftRightArrow">
                <a:avLst/>
              </a:prstGeom>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129" name="组合 128"/>
              <p:cNvGrpSpPr/>
              <p:nvPr/>
            </p:nvGrpSpPr>
            <p:grpSpPr>
              <a:xfrm>
                <a:off x="12396" y="3531"/>
                <a:ext cx="4722" cy="540"/>
                <a:chOff x="13476" y="4220"/>
                <a:chExt cx="4067" cy="518"/>
              </a:xfrm>
            </p:grpSpPr>
            <p:sp>
              <p:nvSpPr>
                <p:cNvPr id="130" name="矩形 129"/>
                <p:cNvSpPr/>
                <p:nvPr/>
              </p:nvSpPr>
              <p:spPr>
                <a:xfrm>
                  <a:off x="13476" y="4220"/>
                  <a:ext cx="1303" cy="519"/>
                </a:xfrm>
                <a:prstGeom prst="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企业知识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31" name="矩形 130"/>
                <p:cNvSpPr/>
                <p:nvPr/>
              </p:nvSpPr>
              <p:spPr>
                <a:xfrm>
                  <a:off x="14859" y="4220"/>
                  <a:ext cx="1303" cy="519"/>
                </a:xfrm>
                <a:prstGeom prst="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条线知识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32" name="矩形 131"/>
                <p:cNvSpPr/>
                <p:nvPr/>
              </p:nvSpPr>
              <p:spPr>
                <a:xfrm>
                  <a:off x="16241" y="4220"/>
                  <a:ext cx="1303" cy="519"/>
                </a:xfrm>
                <a:prstGeom prst="rect">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任务知识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sp>
          <p:nvSpPr>
            <p:cNvPr id="139" name="矩形 138"/>
            <p:cNvSpPr/>
            <p:nvPr/>
          </p:nvSpPr>
          <p:spPr>
            <a:xfrm>
              <a:off x="271" y="1542"/>
              <a:ext cx="17196" cy="120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服</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务</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层</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p:txBody>
        </p:sp>
        <p:sp>
          <p:nvSpPr>
            <p:cNvPr id="140" name="矩形 139"/>
            <p:cNvSpPr/>
            <p:nvPr/>
          </p:nvSpPr>
          <p:spPr>
            <a:xfrm>
              <a:off x="1289" y="1613"/>
              <a:ext cx="15864" cy="4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endParaRPr kumimoji="0" lang="en-US" altLang="zh-CN"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矩形 9"/>
            <p:cNvSpPr/>
            <p:nvPr>
              <p:custDataLst>
                <p:tags r:id="rId3"/>
              </p:custDataLst>
            </p:nvPr>
          </p:nvSpPr>
          <p:spPr>
            <a:xfrm>
              <a:off x="9523" y="8019"/>
              <a:ext cx="891" cy="96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元数据标准管理</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5" name="文本框 64" descr="{&quot;isTemplate&quot;:true,&quot;type&quot;:&quot;text&quot;}"/>
            <p:cNvSpPr txBox="1"/>
            <p:nvPr>
              <p:custDataLst>
                <p:tags r:id="rId4"/>
              </p:custDataLst>
            </p:nvPr>
          </p:nvSpPr>
          <p:spPr>
            <a:xfrm>
              <a:off x="1251" y="7128"/>
              <a:ext cx="1680" cy="283"/>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rPr>
                <a:t>资源汇聚流水线</a:t>
              </a:r>
              <a:endPar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endParaRPr>
            </a:p>
          </p:txBody>
        </p:sp>
        <p:sp>
          <p:nvSpPr>
            <p:cNvPr id="12" name="文本框 11" descr="{&quot;isTemplate&quot;:true,&quot;type&quot;:&quot;text&quot;}"/>
            <p:cNvSpPr txBox="1"/>
            <p:nvPr>
              <p:custDataLst>
                <p:tags r:id="rId5"/>
              </p:custDataLst>
            </p:nvPr>
          </p:nvSpPr>
          <p:spPr>
            <a:xfrm>
              <a:off x="1264" y="6270"/>
              <a:ext cx="1680" cy="283"/>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rPr>
                <a:t>资源管理</a:t>
              </a:r>
              <a:endPar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endParaRPr>
            </a:p>
          </p:txBody>
        </p:sp>
        <p:sp>
          <p:nvSpPr>
            <p:cNvPr id="58" name="文本框 57" descr="{&quot;isTemplate&quot;:true,&quot;type&quot;:&quot;text&quot;}"/>
            <p:cNvSpPr txBox="1"/>
            <p:nvPr>
              <p:custDataLst>
                <p:tags r:id="rId6"/>
              </p:custDataLst>
            </p:nvPr>
          </p:nvSpPr>
          <p:spPr>
            <a:xfrm>
              <a:off x="1251" y="4491"/>
              <a:ext cx="1680" cy="283"/>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rPr>
                <a:t>知识加工流水线</a:t>
              </a:r>
              <a:endPar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endParaRPr>
            </a:p>
          </p:txBody>
        </p:sp>
        <p:sp>
          <p:nvSpPr>
            <p:cNvPr id="61" name="文本框 60" descr="{&quot;isTemplate&quot;:true,&quot;type&quot;:&quot;text&quot;}"/>
            <p:cNvSpPr txBox="1"/>
            <p:nvPr>
              <p:custDataLst>
                <p:tags r:id="rId7"/>
              </p:custDataLst>
            </p:nvPr>
          </p:nvSpPr>
          <p:spPr>
            <a:xfrm>
              <a:off x="1264" y="2912"/>
              <a:ext cx="1680" cy="283"/>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F1F3A"/>
                  </a:solidFill>
                  <a:effectLst/>
                  <a:uLnTx/>
                  <a:uFillTx/>
                  <a:latin typeface="微软雅黑" panose="020B0503020204020204" charset="-122"/>
                  <a:ea typeface="微软雅黑" panose="020B0503020204020204" charset="-122"/>
                  <a:cs typeface="+mn-cs"/>
                </a:rPr>
                <a:t>知识资产管理</a:t>
              </a:r>
              <a:endParaRPr kumimoji="0" lang="zh-CN" altLang="en-US" sz="1600" b="0" i="0" u="none" strike="noStrike" kern="1200" cap="none" spc="0" normalizeH="0" baseline="0" noProof="0" dirty="0">
                <a:ln>
                  <a:noFill/>
                </a:ln>
                <a:solidFill>
                  <a:srgbClr val="0F1F3A"/>
                </a:solidFill>
                <a:effectLst/>
                <a:uLnTx/>
                <a:uFillTx/>
                <a:latin typeface="微软雅黑" panose="020B0503020204020204" charset="-122"/>
                <a:ea typeface="微软雅黑" panose="020B0503020204020204" charset="-122"/>
                <a:cs typeface="+mn-cs"/>
              </a:endParaRPr>
            </a:p>
          </p:txBody>
        </p:sp>
        <p:sp>
          <p:nvSpPr>
            <p:cNvPr id="62" name="文本框 61" descr="{&quot;isTemplate&quot;:true,&quot;type&quot;:&quot;text&quot;}"/>
            <p:cNvSpPr txBox="1"/>
            <p:nvPr>
              <p:custDataLst>
                <p:tags r:id="rId8"/>
              </p:custDataLst>
            </p:nvPr>
          </p:nvSpPr>
          <p:spPr>
            <a:xfrm>
              <a:off x="1824" y="1713"/>
              <a:ext cx="1850" cy="284"/>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rPr>
                <a:t>知识服务接入</a:t>
              </a:r>
              <a:endPar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endParaRPr>
            </a:p>
          </p:txBody>
        </p:sp>
        <p:sp>
          <p:nvSpPr>
            <p:cNvPr id="63" name="矩形 62"/>
            <p:cNvSpPr/>
            <p:nvPr>
              <p:custDataLst>
                <p:tags r:id="rId9"/>
              </p:custDataLst>
            </p:nvPr>
          </p:nvSpPr>
          <p:spPr>
            <a:xfrm>
              <a:off x="1263" y="2189"/>
              <a:ext cx="15863" cy="4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7" name="文本框 66" descr="{&quot;isTemplate&quot;:true,&quot;type&quot;:&quot;text&quot;}"/>
            <p:cNvSpPr txBox="1"/>
            <p:nvPr>
              <p:custDataLst>
                <p:tags r:id="rId10"/>
              </p:custDataLst>
            </p:nvPr>
          </p:nvSpPr>
          <p:spPr>
            <a:xfrm>
              <a:off x="1824" y="2294"/>
              <a:ext cx="1850" cy="284"/>
            </a:xfrm>
            <a:prstGeom prst="rect">
              <a:avLst/>
            </a:prstGeom>
          </p:spPr>
          <p:txBody>
            <a:bodyPr wrap="none"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rPr>
                <a:t>知识服务内容</a:t>
              </a:r>
              <a:endParaRPr kumimoji="0" lang="zh-CN" altLang="en-US" sz="1600" b="0" i="0" u="none" strike="noStrike" kern="1200" cap="none" spc="0" normalizeH="0" baseline="0" noProof="0">
                <a:ln>
                  <a:noFill/>
                </a:ln>
                <a:solidFill>
                  <a:srgbClr val="0F1F3A"/>
                </a:solidFill>
                <a:effectLst/>
                <a:uLnTx/>
                <a:uFillTx/>
                <a:latin typeface="微软雅黑" panose="020B0503020204020204" charset="-122"/>
                <a:ea typeface="微软雅黑" panose="020B0503020204020204" charset="-122"/>
                <a:cs typeface="+mn-cs"/>
              </a:endParaRPr>
            </a:p>
          </p:txBody>
        </p:sp>
        <p:grpSp>
          <p:nvGrpSpPr>
            <p:cNvPr id="6" name="组合 5"/>
            <p:cNvGrpSpPr/>
            <p:nvPr/>
          </p:nvGrpSpPr>
          <p:grpSpPr>
            <a:xfrm>
              <a:off x="4980" y="1672"/>
              <a:ext cx="11670" cy="944"/>
              <a:chOff x="6422" y="1584"/>
              <a:chExt cx="9673" cy="1001"/>
            </a:xfrm>
          </p:grpSpPr>
          <p:sp>
            <p:nvSpPr>
              <p:cNvPr id="21" name="矩形 20"/>
              <p:cNvSpPr/>
              <p:nvPr>
                <p:custDataLst>
                  <p:tags r:id="rId11"/>
                </p:custDataLst>
              </p:nvPr>
            </p:nvSpPr>
            <p:spPr>
              <a:xfrm>
                <a:off x="6422" y="1584"/>
                <a:ext cx="2220" cy="39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MCP</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2" name="矩形 21"/>
              <p:cNvSpPr/>
              <p:nvPr>
                <p:custDataLst>
                  <p:tags r:id="rId12"/>
                </p:custDataLst>
              </p:nvPr>
            </p:nvSpPr>
            <p:spPr>
              <a:xfrm>
                <a:off x="10770" y="1584"/>
                <a:ext cx="1762" cy="39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API</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3" name="矩形 22"/>
              <p:cNvSpPr/>
              <p:nvPr>
                <p:custDataLst>
                  <p:tags r:id="rId13"/>
                </p:custDataLst>
              </p:nvPr>
            </p:nvSpPr>
            <p:spPr>
              <a:xfrm>
                <a:off x="14012" y="1584"/>
                <a:ext cx="2077" cy="39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Skill</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矩形 23"/>
              <p:cNvSpPr/>
              <p:nvPr>
                <p:custDataLst>
                  <p:tags r:id="rId14"/>
                </p:custDataLst>
              </p:nvPr>
            </p:nvSpPr>
            <p:spPr>
              <a:xfrm>
                <a:off x="6428" y="2193"/>
                <a:ext cx="2077" cy="39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统一语义知识图谱检索</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5" name="矩形 24"/>
              <p:cNvSpPr/>
              <p:nvPr>
                <p:custDataLst>
                  <p:tags r:id="rId15"/>
                </p:custDataLst>
              </p:nvPr>
            </p:nvSpPr>
            <p:spPr>
              <a:xfrm>
                <a:off x="8959" y="2193"/>
                <a:ext cx="2076" cy="39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知识向量检索</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矩形 25"/>
              <p:cNvSpPr/>
              <p:nvPr>
                <p:custDataLst>
                  <p:tags r:id="rId16"/>
                </p:custDataLst>
              </p:nvPr>
            </p:nvSpPr>
            <p:spPr>
              <a:xfrm>
                <a:off x="14019" y="2193"/>
                <a:ext cx="2076" cy="39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向量</a:t>
                </a: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图谱混合检索</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8" name="矩形 27"/>
              <p:cNvSpPr/>
              <p:nvPr>
                <p:custDataLst>
                  <p:tags r:id="rId17"/>
                </p:custDataLst>
              </p:nvPr>
            </p:nvSpPr>
            <p:spPr>
              <a:xfrm>
                <a:off x="11489" y="2193"/>
                <a:ext cx="2076" cy="39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专题知识图谱检索</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00" name="圆角矩形 99"/>
            <p:cNvSpPr/>
            <p:nvPr/>
          </p:nvSpPr>
          <p:spPr>
            <a:xfrm>
              <a:off x="4701" y="4896"/>
              <a:ext cx="5769" cy="1201"/>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知识图谱加工</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1" name="圆角矩形 100"/>
            <p:cNvSpPr/>
            <p:nvPr/>
          </p:nvSpPr>
          <p:spPr>
            <a:xfrm>
              <a:off x="10641" y="4896"/>
              <a:ext cx="6717" cy="1201"/>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文档向量加工</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94" name="组合 93"/>
            <p:cNvGrpSpPr/>
            <p:nvPr/>
          </p:nvGrpSpPr>
          <p:grpSpPr>
            <a:xfrm>
              <a:off x="10820" y="5334"/>
              <a:ext cx="6307" cy="672"/>
              <a:chOff x="9406" y="5334"/>
              <a:chExt cx="6797" cy="672"/>
            </a:xfrm>
          </p:grpSpPr>
          <p:sp>
            <p:nvSpPr>
              <p:cNvPr id="111" name="圆角矩形 110"/>
              <p:cNvSpPr/>
              <p:nvPr/>
            </p:nvSpPr>
            <p:spPr>
              <a:xfrm>
                <a:off x="9406" y="5334"/>
                <a:ext cx="1520" cy="672"/>
              </a:xfrm>
              <a:prstGeom prst="roundRect">
                <a:avLst>
                  <a:gd name="adj" fmla="val 0"/>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文档解析</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2" name="圆角矩形 111"/>
              <p:cNvSpPr/>
              <p:nvPr/>
            </p:nvSpPr>
            <p:spPr>
              <a:xfrm>
                <a:off x="14683" y="5334"/>
                <a:ext cx="1520" cy="672"/>
              </a:xfrm>
              <a:prstGeom prst="roundRect">
                <a:avLst>
                  <a:gd name="adj" fmla="val 0"/>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向量生成</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2" name="圆角矩形 31"/>
              <p:cNvSpPr/>
              <p:nvPr>
                <p:custDataLst>
                  <p:tags r:id="rId18"/>
                </p:custDataLst>
              </p:nvPr>
            </p:nvSpPr>
            <p:spPr>
              <a:xfrm>
                <a:off x="11126" y="5334"/>
                <a:ext cx="1520" cy="672"/>
              </a:xfrm>
              <a:prstGeom prst="roundRect">
                <a:avLst>
                  <a:gd name="adj" fmla="val 0"/>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文档切片</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 name="圆角矩形 54"/>
              <p:cNvSpPr/>
              <p:nvPr>
                <p:custDataLst>
                  <p:tags r:id="rId19"/>
                </p:custDataLst>
              </p:nvPr>
            </p:nvSpPr>
            <p:spPr>
              <a:xfrm>
                <a:off x="12903" y="5334"/>
                <a:ext cx="1520" cy="672"/>
              </a:xfrm>
              <a:prstGeom prst="roundRect">
                <a:avLst>
                  <a:gd name="adj" fmla="val 0"/>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知识挖掘</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95" name="组合 94"/>
            <p:cNvGrpSpPr/>
            <p:nvPr/>
          </p:nvGrpSpPr>
          <p:grpSpPr>
            <a:xfrm>
              <a:off x="4979" y="5334"/>
              <a:ext cx="5251" cy="673"/>
              <a:chOff x="3108" y="5334"/>
              <a:chExt cx="5444" cy="673"/>
            </a:xfrm>
          </p:grpSpPr>
          <p:sp>
            <p:nvSpPr>
              <p:cNvPr id="106" name="圆角矩形 105"/>
              <p:cNvSpPr/>
              <p:nvPr/>
            </p:nvSpPr>
            <p:spPr>
              <a:xfrm>
                <a:off x="3108" y="5334"/>
                <a:ext cx="1256" cy="672"/>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文档解析</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7" name="圆角矩形 106"/>
              <p:cNvSpPr/>
              <p:nvPr/>
            </p:nvSpPr>
            <p:spPr>
              <a:xfrm>
                <a:off x="4514" y="5335"/>
                <a:ext cx="1256" cy="672"/>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知识抽取</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8" name="圆角矩形 107"/>
              <p:cNvSpPr/>
              <p:nvPr/>
            </p:nvSpPr>
            <p:spPr>
              <a:xfrm>
                <a:off x="7296" y="5335"/>
                <a:ext cx="1256" cy="672"/>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图谱构建</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3" name="圆角矩形 92"/>
              <p:cNvSpPr/>
              <p:nvPr/>
            </p:nvSpPr>
            <p:spPr>
              <a:xfrm>
                <a:off x="5888" y="5334"/>
                <a:ext cx="1256" cy="672"/>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知识融合</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sp>
          <p:nvSpPr>
            <p:cNvPr id="11" name="矩形 10"/>
            <p:cNvSpPr/>
            <p:nvPr/>
          </p:nvSpPr>
          <p:spPr>
            <a:xfrm>
              <a:off x="10594" y="4787"/>
              <a:ext cx="6802" cy="1428"/>
            </a:xfrm>
            <a:prstGeom prst="rect">
              <a:avLst/>
            </a:prstGeom>
            <a:noFill/>
            <a:ln w="3492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4" name="矩形 13"/>
            <p:cNvSpPr/>
            <p:nvPr/>
          </p:nvSpPr>
          <p:spPr>
            <a:xfrm>
              <a:off x="12027" y="3078"/>
              <a:ext cx="5370" cy="1713"/>
            </a:xfrm>
            <a:prstGeom prst="rect">
              <a:avLst/>
            </a:prstGeom>
            <a:noFill/>
            <a:ln w="3492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8" name="圆角矩形 7"/>
            <p:cNvSpPr/>
            <p:nvPr/>
          </p:nvSpPr>
          <p:spPr>
            <a:xfrm>
              <a:off x="1251" y="4896"/>
              <a:ext cx="3190" cy="1201"/>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图谱本体建模</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3" name="右箭头 12"/>
            <p:cNvSpPr/>
            <p:nvPr/>
          </p:nvSpPr>
          <p:spPr>
            <a:xfrm>
              <a:off x="4420" y="5325"/>
              <a:ext cx="281" cy="484"/>
            </a:xfrm>
            <a:prstGeom prst="rightArrow">
              <a:avLst/>
            </a:prstGeom>
          </p:spPr>
          <p:style>
            <a:lnRef idx="0">
              <a:srgbClr val="FFFFFF"/>
            </a:lnRef>
            <a:fillRef idx="2">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sym typeface="+mn-ea"/>
              </a:endParaRPr>
            </a:p>
          </p:txBody>
        </p:sp>
        <p:sp>
          <p:nvSpPr>
            <p:cNvPr id="15" name="圆角矩形 14"/>
            <p:cNvSpPr/>
            <p:nvPr/>
          </p:nvSpPr>
          <p:spPr>
            <a:xfrm>
              <a:off x="1334" y="5334"/>
              <a:ext cx="1414" cy="672"/>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语义知识图谱本体建模</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 name="圆角矩形 15"/>
            <p:cNvSpPr/>
            <p:nvPr/>
          </p:nvSpPr>
          <p:spPr>
            <a:xfrm>
              <a:off x="2886" y="5334"/>
              <a:ext cx="1414" cy="672"/>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专题知识图谱本体建模</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71" name="组合 70"/>
          <p:cNvGrpSpPr/>
          <p:nvPr/>
        </p:nvGrpSpPr>
        <p:grpSpPr>
          <a:xfrm>
            <a:off x="10336530" y="3998595"/>
            <a:ext cx="1657350" cy="1844040"/>
            <a:chOff x="17686" y="4361"/>
            <a:chExt cx="1304" cy="4867"/>
          </a:xfrm>
        </p:grpSpPr>
        <p:sp>
          <p:nvSpPr>
            <p:cNvPr id="54" name="矩形 53"/>
            <p:cNvSpPr/>
            <p:nvPr/>
          </p:nvSpPr>
          <p:spPr>
            <a:xfrm>
              <a:off x="17686" y="4361"/>
              <a:ext cx="1304" cy="4867"/>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rPr>
                <a:t>本体推理</a:t>
              </a:r>
              <a:endParaRPr kumimoji="0" lang="zh-CN" altLang="en-US" sz="1400" b="1" i="0" u="none" strike="noStrike" kern="1200" cap="none" spc="0" normalizeH="0" baseline="0" noProof="0" dirty="0">
                <a:ln>
                  <a:noFill/>
                </a:ln>
                <a:solidFill>
                  <a:srgbClr val="44546A"/>
                </a:solidFill>
                <a:effectLst/>
                <a:uLnTx/>
                <a:uFillTx/>
                <a:latin typeface="微软雅黑" panose="020B0503020204020204" charset="-122"/>
                <a:ea typeface="微软雅黑" panose="020B0503020204020204" charset="-122"/>
                <a:cs typeface="+mn-cs"/>
              </a:endParaRPr>
            </a:p>
          </p:txBody>
        </p:sp>
        <p:grpSp>
          <p:nvGrpSpPr>
            <p:cNvPr id="70" name="组合 69"/>
            <p:cNvGrpSpPr/>
            <p:nvPr/>
          </p:nvGrpSpPr>
          <p:grpSpPr>
            <a:xfrm>
              <a:off x="17824" y="5414"/>
              <a:ext cx="1007" cy="3582"/>
              <a:chOff x="17824" y="6067"/>
              <a:chExt cx="1007" cy="2929"/>
            </a:xfrm>
          </p:grpSpPr>
          <p:sp>
            <p:nvSpPr>
              <p:cNvPr id="57" name="矩形 56"/>
              <p:cNvSpPr/>
              <p:nvPr/>
            </p:nvSpPr>
            <p:spPr>
              <a:xfrm>
                <a:off x="17824" y="8087"/>
                <a:ext cx="1007" cy="909"/>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决策</a:t>
                </a: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本体构建</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9" name="矩形 68"/>
              <p:cNvSpPr/>
              <p:nvPr/>
            </p:nvSpPr>
            <p:spPr>
              <a:xfrm>
                <a:off x="17824" y="6067"/>
                <a:ext cx="1007" cy="863"/>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本体推理服务</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2" name="矩形 71"/>
              <p:cNvSpPr/>
              <p:nvPr/>
            </p:nvSpPr>
            <p:spPr>
              <a:xfrm>
                <a:off x="17824" y="7083"/>
                <a:ext cx="1007" cy="823"/>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rPr>
                  <a:t>决策本体萃取</a:t>
                </a:r>
                <a:endParaRPr kumimoji="0" lang="zh-CN" altLang="en-US" sz="12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sp>
        <p:nvSpPr>
          <p:cNvPr id="56" name="矩形 55"/>
          <p:cNvSpPr/>
          <p:nvPr/>
        </p:nvSpPr>
        <p:spPr>
          <a:xfrm>
            <a:off x="10984230" y="5946140"/>
            <a:ext cx="919480" cy="29273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rPr>
              <a:t>业务系统</a:t>
            </a:r>
            <a:endParaRPr kumimoji="0" lang="zh-CN" altLang="en-US" sz="1000" b="1" i="0" u="none" strike="noStrike" kern="1200" cap="none" spc="0" normalizeH="0" baseline="0" noProof="0" dirty="0">
              <a:ln>
                <a:noFill/>
              </a:ln>
              <a:solidFill>
                <a:srgbClr val="0047AB"/>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4" name="上下箭头 63"/>
          <p:cNvSpPr/>
          <p:nvPr/>
        </p:nvSpPr>
        <p:spPr>
          <a:xfrm>
            <a:off x="11041380" y="5743575"/>
            <a:ext cx="164465" cy="202565"/>
          </a:xfrm>
          <a:prstGeom prst="upDownArrow">
            <a:avLst/>
          </a:prstGeom>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fontScale="90000"/>
          </a:bodyPr>
          <a:lstStyle/>
          <a:p>
            <a:pPr lvl="0" algn="l">
              <a:buClrTx/>
              <a:buSzTx/>
              <a:buFontTx/>
            </a:pPr>
            <a:r>
              <a:rPr lang="zh-CN" altLang="en-US"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与现状比较，</a:t>
            </a:r>
            <a:r>
              <a:rPr lang="zh-CN"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知识工程平台</a:t>
            </a:r>
            <a:r>
              <a:rPr lang="zh-CN" altLang="en-US"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规划主要能力</a:t>
            </a:r>
            <a:r>
              <a:rPr lang="zh-CN"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提升</a:t>
            </a:r>
            <a:r>
              <a:rPr lang="zh-CN" altLang="en-US"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点</a:t>
            </a:r>
            <a:endParaRPr lang="zh-CN"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4" name="组合 3"/>
          <p:cNvGrpSpPr/>
          <p:nvPr/>
        </p:nvGrpSpPr>
        <p:grpSpPr>
          <a:xfrm>
            <a:off x="508000" y="1651000"/>
            <a:ext cx="11165840" cy="4768215"/>
            <a:chOff x="800" y="2600"/>
            <a:chExt cx="17120" cy="7000"/>
          </a:xfrm>
        </p:grpSpPr>
        <p:sp>
          <p:nvSpPr>
            <p:cNvPr id="5" name="AutoShape 5"/>
            <p:cNvSpPr/>
            <p:nvPr/>
          </p:nvSpPr>
          <p:spPr>
            <a:xfrm>
              <a:off x="800" y="2600"/>
              <a:ext cx="2293" cy="800"/>
            </a:xfrm>
            <a:prstGeom prst="roundRect">
              <a:avLst>
                <a:gd name="adj" fmla="val 0"/>
              </a:avLst>
            </a:prstGeom>
            <a:solidFill>
              <a:srgbClr val="165DFF">
                <a:alpha val="100000"/>
              </a:srgbClr>
            </a:solidFill>
            <a:ln cap="flat" cmpd="sng">
              <a:solidFill>
                <a:srgbClr val="004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 name="AutoShape 6"/>
            <p:cNvSpPr/>
            <p:nvPr/>
          </p:nvSpPr>
          <p:spPr>
            <a:xfrm>
              <a:off x="800" y="2600"/>
              <a:ext cx="2293" cy="800"/>
            </a:xfrm>
            <a:prstGeom prst="rect">
              <a:avLst/>
            </a:prstGeom>
            <a:solidFill>
              <a:srgbClr val="4472C4"/>
            </a:solid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标准</a:t>
              </a: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元数据体系</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9" name="AutoShape 9"/>
            <p:cNvSpPr/>
            <p:nvPr/>
          </p:nvSpPr>
          <p:spPr>
            <a:xfrm>
              <a:off x="800" y="3840"/>
              <a:ext cx="2293" cy="800"/>
            </a:xfrm>
            <a:prstGeom prst="roundRect">
              <a:avLst>
                <a:gd name="adj" fmla="val 0"/>
              </a:avLst>
            </a:prstGeom>
            <a:solidFill>
              <a:srgbClr val="165DFF">
                <a:alpha val="100000"/>
              </a:srgbClr>
            </a:solidFill>
            <a:ln cap="flat" cmpd="sng">
              <a:solidFill>
                <a:srgbClr val="004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 name="AutoShape 10"/>
            <p:cNvSpPr/>
            <p:nvPr/>
          </p:nvSpPr>
          <p:spPr>
            <a:xfrm>
              <a:off x="800" y="3840"/>
              <a:ext cx="2293" cy="800"/>
            </a:xfrm>
            <a:prstGeom prst="rect">
              <a:avLst/>
            </a:prstGeom>
            <a:solidFill>
              <a:srgbClr val="4472C4"/>
            </a:solid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语义</a:t>
              </a:r>
              <a:r>
                <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图谱</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3" name="AutoShape 13"/>
            <p:cNvSpPr/>
            <p:nvPr/>
          </p:nvSpPr>
          <p:spPr>
            <a:xfrm>
              <a:off x="800" y="5080"/>
              <a:ext cx="2293" cy="800"/>
            </a:xfrm>
            <a:prstGeom prst="roundRect">
              <a:avLst>
                <a:gd name="adj" fmla="val 0"/>
              </a:avLst>
            </a:prstGeom>
            <a:solidFill>
              <a:srgbClr val="165DFF">
                <a:alpha val="100000"/>
              </a:srgbClr>
            </a:solidFill>
            <a:ln cap="flat" cmpd="sng">
              <a:solidFill>
                <a:srgbClr val="004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 name="AutoShape 14"/>
            <p:cNvSpPr/>
            <p:nvPr/>
          </p:nvSpPr>
          <p:spPr>
            <a:xfrm>
              <a:off x="800" y="5080"/>
              <a:ext cx="2293" cy="800"/>
            </a:xfrm>
            <a:prstGeom prst="rect">
              <a:avLst/>
            </a:prstGeom>
            <a:solidFill>
              <a:srgbClr val="4472C4"/>
            </a:solid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专题</a:t>
              </a:r>
              <a:r>
                <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图谱</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7" name="AutoShape 17"/>
            <p:cNvSpPr/>
            <p:nvPr/>
          </p:nvSpPr>
          <p:spPr>
            <a:xfrm>
              <a:off x="800" y="6320"/>
              <a:ext cx="2293" cy="800"/>
            </a:xfrm>
            <a:prstGeom prst="roundRect">
              <a:avLst>
                <a:gd name="adj" fmla="val 0"/>
              </a:avLst>
            </a:prstGeom>
            <a:solidFill>
              <a:srgbClr val="165DFF">
                <a:alpha val="100000"/>
              </a:srgbClr>
            </a:solidFill>
            <a:ln cap="flat" cmpd="sng">
              <a:solidFill>
                <a:srgbClr val="004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8" name="AutoShape 18"/>
            <p:cNvSpPr/>
            <p:nvPr/>
          </p:nvSpPr>
          <p:spPr>
            <a:xfrm>
              <a:off x="800" y="6320"/>
              <a:ext cx="2293" cy="800"/>
            </a:xfrm>
            <a:prstGeom prst="rect">
              <a:avLst/>
            </a:prstGeom>
            <a:solidFill>
              <a:srgbClr val="4472C4"/>
            </a:solid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自治运营</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1" name="AutoShape 21"/>
            <p:cNvSpPr/>
            <p:nvPr/>
          </p:nvSpPr>
          <p:spPr>
            <a:xfrm>
              <a:off x="800" y="7560"/>
              <a:ext cx="2293" cy="800"/>
            </a:xfrm>
            <a:prstGeom prst="roundRect">
              <a:avLst>
                <a:gd name="adj" fmla="val 0"/>
              </a:avLst>
            </a:prstGeom>
            <a:solidFill>
              <a:srgbClr val="4472C4"/>
            </a:solidFill>
            <a:ln cap="flat" cmpd="sng">
              <a:solidFill>
                <a:srgbClr val="004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2" name="AutoShape 22"/>
            <p:cNvSpPr/>
            <p:nvPr/>
          </p:nvSpPr>
          <p:spPr>
            <a:xfrm>
              <a:off x="800" y="7560"/>
              <a:ext cx="2293" cy="8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决策</a:t>
              </a:r>
              <a:r>
                <a:rPr kumimoji="0" 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本体模型</a:t>
              </a:r>
              <a:endParaRPr kumimoji="0" lang="en-US" sz="11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5" name="AutoShape 25"/>
            <p:cNvSpPr/>
            <p:nvPr/>
          </p:nvSpPr>
          <p:spPr>
            <a:xfrm>
              <a:off x="800" y="8800"/>
              <a:ext cx="2293" cy="800"/>
            </a:xfrm>
            <a:prstGeom prst="roundRect">
              <a:avLst>
                <a:gd name="adj" fmla="val 0"/>
              </a:avLst>
            </a:prstGeom>
            <a:solidFill>
              <a:srgbClr val="165DFF">
                <a:alpha val="100000"/>
              </a:srgbClr>
            </a:solidFill>
            <a:ln cap="flat" cmpd="sng">
              <a:solidFill>
                <a:srgbClr val="004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6" name="AutoShape 26"/>
            <p:cNvSpPr/>
            <p:nvPr/>
          </p:nvSpPr>
          <p:spPr>
            <a:xfrm>
              <a:off x="800" y="8800"/>
              <a:ext cx="2293" cy="800"/>
            </a:xfrm>
            <a:prstGeom prst="rect">
              <a:avLst/>
            </a:prstGeom>
            <a:solidFill>
              <a:srgbClr val="4472C4"/>
            </a:solid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Tx/>
                <a:buSzTx/>
                <a:buFontTx/>
                <a:buNone/>
                <a:defRPr/>
              </a:pPr>
              <a:r>
                <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知识服务</a:t>
              </a:r>
              <a:r>
                <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多元化</a:t>
              </a:r>
              <a:endParaRPr kumimoji="0" lang="zh-CN" altLang="en-US" sz="1600" b="1"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pSp>
          <p:nvGrpSpPr>
            <p:cNvPr id="3" name="组合 2"/>
            <p:cNvGrpSpPr/>
            <p:nvPr/>
          </p:nvGrpSpPr>
          <p:grpSpPr>
            <a:xfrm>
              <a:off x="3552" y="2600"/>
              <a:ext cx="14368" cy="7000"/>
              <a:chOff x="2880" y="2600"/>
              <a:chExt cx="15040" cy="7000"/>
            </a:xfrm>
          </p:grpSpPr>
          <p:sp>
            <p:nvSpPr>
              <p:cNvPr id="7" name="AutoShape 7"/>
              <p:cNvSpPr/>
              <p:nvPr/>
            </p:nvSpPr>
            <p:spPr>
              <a:xfrm>
                <a:off x="2880" y="2600"/>
                <a:ext cx="15040" cy="800"/>
              </a:xfrm>
              <a:prstGeom prst="roundRect">
                <a:avLst>
                  <a:gd name="adj" fmla="val 0"/>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 name="AutoShape 8"/>
              <p:cNvSpPr/>
              <p:nvPr/>
            </p:nvSpPr>
            <p:spPr>
              <a:xfrm>
                <a:off x="3280" y="2600"/>
                <a:ext cx="14240" cy="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err="1">
                    <a:ln>
                      <a:noFill/>
                    </a:ln>
                    <a:solidFill>
                      <a:srgbClr val="333333"/>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构建全行统一的非结构化知识元数据标准体系，实现全量知识资产统一纳管、全生命周期可追溯，</a:t>
                </a:r>
                <a:r>
                  <a:rPr kumimoji="0" lang="en-US" sz="1400" b="1"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解决知识标准不</a:t>
                </a:r>
                <a:r>
                  <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统</a:t>
                </a:r>
                <a:r>
                  <a:rPr kumimoji="0" 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一、</a:t>
                </a:r>
                <a:r>
                  <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kumimoji="0" lang="en-US" sz="1400" b="1"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治理</a:t>
                </a:r>
                <a:r>
                  <a:rPr kumimoji="0" lang="zh-CN" alt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难</a:t>
                </a:r>
                <a:r>
                  <a:rPr kumimoji="0" lang="en-US" sz="1400" b="1" i="0" u="none" strike="noStrike" kern="1200" cap="none" spc="0" normalizeH="0" baseline="0" noProof="0" dirty="0" err="1">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的问题</a:t>
                </a:r>
                <a:r>
                  <a:rPr kumimoji="0" 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kumimoji="0" 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1" name="AutoShape 11"/>
              <p:cNvSpPr/>
              <p:nvPr/>
            </p:nvSpPr>
            <p:spPr>
              <a:xfrm>
                <a:off x="2880" y="3840"/>
                <a:ext cx="15040" cy="800"/>
              </a:xfrm>
              <a:prstGeom prst="roundRect">
                <a:avLst>
                  <a:gd name="adj" fmla="val 0"/>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 name="AutoShape 12"/>
              <p:cNvSpPr/>
              <p:nvPr/>
            </p:nvSpPr>
            <p:spPr>
              <a:xfrm>
                <a:off x="3280" y="3840"/>
                <a:ext cx="14240" cy="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dirty="0">
                    <a:ln>
                      <a:noFill/>
                    </a:ln>
                    <a:solidFill>
                      <a:srgbClr val="333333"/>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构建全行级统一语义关联网络，打通文档与业务对象、场景、术语的语义关联，大幅提升复杂问题检索准确率，</a:t>
                </a:r>
                <a:r>
                  <a:rPr kumimoji="0" 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解决传统检索不懂语义、关联断裂、跨文档知识找不准的问题。</a:t>
                </a:r>
                <a:endParaRPr kumimoji="0" lang="en-US" sz="14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5" name="AutoShape 15"/>
              <p:cNvSpPr/>
              <p:nvPr/>
            </p:nvSpPr>
            <p:spPr>
              <a:xfrm>
                <a:off x="2880" y="5080"/>
                <a:ext cx="15040" cy="800"/>
              </a:xfrm>
              <a:prstGeom prst="roundRect">
                <a:avLst>
                  <a:gd name="adj" fmla="val 0"/>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6" name="AutoShape 16"/>
              <p:cNvSpPr/>
              <p:nvPr/>
            </p:nvSpPr>
            <p:spPr>
              <a:xfrm>
                <a:off x="3280" y="5080"/>
                <a:ext cx="14240" cy="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面向</a:t>
                </a:r>
                <a:r>
                  <a:rPr kumimoji="0" lang="zh-CN" alt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特定场景抽取文档内容要素</a:t>
                </a:r>
                <a:r>
                  <a:rPr kumimoji="0" 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构建专题知识图谱，</a:t>
                </a:r>
                <a:r>
                  <a:rPr kumimoji="0" lang="zh-CN" alt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区别于传统向量检索模式，直接基于图谱进行内容检索，</a:t>
                </a:r>
                <a:r>
                  <a:rPr kumimoji="0" lang="zh-CN" alt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解决明授信报告</a:t>
                </a:r>
                <a:r>
                  <a:rPr kumimoji="0" lang="en-US" altLang="zh-CN"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r>
                  <a:rPr kumimoji="0" lang="zh-CN" alt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合同等文档纯向量检索准确性的问题</a:t>
                </a:r>
                <a:r>
                  <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9" name="AutoShape 19"/>
              <p:cNvSpPr/>
              <p:nvPr/>
            </p:nvSpPr>
            <p:spPr>
              <a:xfrm>
                <a:off x="2880" y="6320"/>
                <a:ext cx="15040" cy="800"/>
              </a:xfrm>
              <a:prstGeom prst="roundRect">
                <a:avLst>
                  <a:gd name="adj" fmla="val 0"/>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0" name="AutoShape 20"/>
              <p:cNvSpPr/>
              <p:nvPr/>
            </p:nvSpPr>
            <p:spPr>
              <a:xfrm>
                <a:off x="3280" y="6320"/>
                <a:ext cx="14240" cy="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构建AI为主、人为辅的人机协同运营体系，实现知识自我演进、知识保鲜的全生命周期闭环管理，</a:t>
                </a:r>
                <a:r>
                  <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解决传统知识运营依赖人工维护、更新滞后、质量不可控的问题。</a:t>
                </a:r>
                <a:endPar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3" name="AutoShape 23"/>
              <p:cNvSpPr/>
              <p:nvPr/>
            </p:nvSpPr>
            <p:spPr>
              <a:xfrm>
                <a:off x="2880" y="7560"/>
                <a:ext cx="15040" cy="800"/>
              </a:xfrm>
              <a:prstGeom prst="roundRect">
                <a:avLst>
                  <a:gd name="adj" fmla="val 0"/>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4" name="AutoShape 24"/>
              <p:cNvSpPr/>
              <p:nvPr/>
            </p:nvSpPr>
            <p:spPr>
              <a:xfrm>
                <a:off x="3280" y="7560"/>
                <a:ext cx="14240" cy="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构建符合银行业务逻辑的</a:t>
                </a:r>
                <a:r>
                  <a:rPr kumimoji="0" lang="zh-CN" alt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决策</a:t>
                </a:r>
                <a:r>
                  <a:rPr kumimoji="0" 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本体模型，对齐业务数据、规则与操作，为智能体复杂推理提供支撑、驱动业务流程自动化，</a:t>
                </a:r>
                <a:r>
                  <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解决AI只会问答不会推理、难以支撑业务</a:t>
                </a:r>
                <a:r>
                  <a:rPr kumimoji="0" lang="zh-CN" alt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流程</a:t>
                </a:r>
                <a:r>
                  <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自动化的问题。</a:t>
                </a:r>
                <a:endPar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7" name="AutoShape 27"/>
              <p:cNvSpPr/>
              <p:nvPr/>
            </p:nvSpPr>
            <p:spPr>
              <a:xfrm>
                <a:off x="2880" y="8800"/>
                <a:ext cx="15040" cy="800"/>
              </a:xfrm>
              <a:prstGeom prst="roundRect">
                <a:avLst>
                  <a:gd name="adj" fmla="val 0"/>
                </a:avLst>
              </a:prstGeom>
              <a:solidFill>
                <a:srgbClr val="F5F7FA">
                  <a:alpha val="100000"/>
                </a:srgbClr>
              </a:solidFill>
              <a:ln cap="flat" cmpd="sng">
                <a:solidFill>
                  <a:srgbClr val="C6D0E1">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8" name="AutoShape 28"/>
              <p:cNvSpPr/>
              <p:nvPr/>
            </p:nvSpPr>
            <p:spPr>
              <a:xfrm>
                <a:off x="3280" y="8800"/>
                <a:ext cx="14240" cy="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defRPr/>
                </a:pPr>
                <a:r>
                  <a:rPr kumimoji="0" lang="en-US" sz="1400" b="0" i="0" u="none" strike="noStrike" kern="1200" cap="none" spc="0" normalizeH="0" baseline="0" noProof="0">
                    <a:ln>
                      <a:noFill/>
                    </a:ln>
                    <a:solidFill>
                      <a:srgbClr val="333333"/>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构建全行级Agentic AI标准服务体系，通过Skill、MCP、API多形态输出能力、实现一次建设全行复用，</a:t>
                </a:r>
                <a:r>
                  <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解决各场景重复建设、对接成本高、AI应用落地慢的问题。</a:t>
                </a:r>
                <a:endParaRPr kumimoji="0" lang="en-US" sz="1400" b="1" i="0" u="none" strike="noStrike" kern="1200" cap="none" spc="0" normalizeH="0" baseline="0" noProof="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sp>
        <p:nvSpPr>
          <p:cNvPr id="31" name="文本框 30"/>
          <p:cNvSpPr txBox="1"/>
          <p:nvPr/>
        </p:nvSpPr>
        <p:spPr>
          <a:xfrm>
            <a:off x="508000" y="1045208"/>
            <a:ext cx="5080000" cy="337185"/>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charset="-122"/>
              </a:rPr>
              <a:t>六大核心能力提升，筑牢全行</a:t>
            </a:r>
            <a:r>
              <a:rPr kumimoji="0" lang="en-US" altLang="zh-CN"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charset="-122"/>
              </a:rPr>
              <a:t>AI</a:t>
            </a:r>
            <a:r>
              <a:rPr kumimoji="0" lang="zh-CN" altLang="en-US"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charset="-122"/>
              </a:rPr>
              <a:t>知识底座</a:t>
            </a:r>
            <a:endParaRPr kumimoji="0" lang="zh-CN" altLang="en-US" sz="16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562292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indent="0"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2.1 </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整体规划</a:t>
            </a:r>
            <a:endPar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2.2 资源层规划方案</a:t>
            </a:r>
            <a:endPar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2.3 加工层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2.4 服务层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2.5 监运层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2.6 拓展层规划方案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 </a:t>
            </a:r>
            <a:r>
              <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资源</a:t>
            </a:r>
            <a:r>
              <a:rPr kumimoji="0" sz="2400" b="0" kern="1200" dirty="0" err="1">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层建设背景及目标</a:t>
            </a:r>
            <a:endParaRPr kumimoji="0"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320675" y="922020"/>
            <a:ext cx="11461115" cy="1002665"/>
          </a:xfrm>
          <a:prstGeom prst="rect">
            <a:avLst/>
          </a:prstGeom>
          <a:ln w="9525" cmpd="sng">
            <a:solidFill>
              <a:srgbClr val="409175"/>
            </a:solidFill>
            <a:prstDash val="dash"/>
          </a:ln>
        </p:spPr>
        <p:txBody>
          <a:bodyPr vert="horz" tIns="45708" rtlCol="0" anchor="ctr">
            <a:noAutofit/>
          </a:bodyPr>
          <a:lstStyle/>
          <a:p>
            <a:pPr indent="457200" algn="l" fontAlgn="auto">
              <a:lnSpc>
                <a:spcPct val="92000"/>
              </a:lnSpc>
              <a:defRPr/>
            </a:pP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资源层的核心目标是</a:t>
            </a:r>
            <a:r>
              <a:rPr lang="en-US" b="1" dirty="0" err="1">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统一纳管全量</a:t>
            </a:r>
            <a:r>
              <a:rPr lang="zh-CN" altLang="en-US"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文档资源</a:t>
            </a:r>
            <a:r>
              <a:rPr lang="en-US"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b="1" dirty="0" err="1">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建立</a:t>
            </a:r>
            <a:r>
              <a:rPr lang="zh-CN" altLang="en-US"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以文档为核心的元数据标准体系</a:t>
            </a:r>
            <a:r>
              <a:rPr lang="zh-CN" altLang="en-US" dirty="0">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，开展文档资源基于业务、技术、管理视角的的规范分级分类、描述定义、权责归属和去重提质，</a:t>
            </a:r>
            <a:r>
              <a:rPr lang="en-US" b="1" dirty="0" err="1">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解决</a:t>
            </a:r>
            <a:r>
              <a:rPr lang="zh-CN" altLang="en-US" b="1" dirty="0">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“零散、封闭、重复”问题</a:t>
            </a:r>
            <a:r>
              <a:rPr lang="en-US" dirty="0">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dirty="0">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为后续知识服务提供统一支撑和准确溯源</a:t>
            </a:r>
            <a:r>
              <a:rPr lang="en-US" dirty="0">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4" name="AutoShape 5"/>
          <p:cNvSpPr/>
          <p:nvPr>
            <p:custDataLst>
              <p:tags r:id="rId1"/>
            </p:custDataLst>
          </p:nvPr>
        </p:nvSpPr>
        <p:spPr>
          <a:xfrm>
            <a:off x="3810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 name="AutoShape 6"/>
          <p:cNvSpPr/>
          <p:nvPr>
            <p:custDataLst>
              <p:tags r:id="rId2"/>
            </p:custDataLst>
          </p:nvPr>
        </p:nvSpPr>
        <p:spPr>
          <a:xfrm>
            <a:off x="5080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为什么建</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 name="AutoShape 7"/>
          <p:cNvSpPr/>
          <p:nvPr>
            <p:custDataLst>
              <p:tags r:id="rId3"/>
            </p:custDataLst>
          </p:nvPr>
        </p:nvSpPr>
        <p:spPr>
          <a:xfrm>
            <a:off x="3810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目前知识资源分散，缺乏统一标准，难以支持知识建设</a:t>
            </a:r>
            <a:endPar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9" name="AutoShape 23"/>
          <p:cNvSpPr/>
          <p:nvPr>
            <p:custDataLst>
              <p:tags r:id="rId4"/>
            </p:custDataLst>
          </p:nvPr>
        </p:nvSpPr>
        <p:spPr>
          <a:xfrm>
            <a:off x="42672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0" name="AutoShape 24"/>
          <p:cNvSpPr/>
          <p:nvPr>
            <p:custDataLst>
              <p:tags r:id="rId5"/>
            </p:custDataLst>
          </p:nvPr>
        </p:nvSpPr>
        <p:spPr>
          <a:xfrm>
            <a:off x="43942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建设内容</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1" name="AutoShape 25"/>
          <p:cNvSpPr/>
          <p:nvPr>
            <p:custDataLst>
              <p:tags r:id="rId6"/>
            </p:custDataLst>
          </p:nvPr>
        </p:nvSpPr>
        <p:spPr>
          <a:xfrm>
            <a:off x="42672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a:t>
            </a:r>
            <a:r>
              <a:rPr lang="zh-CN" altLang="en-US" sz="11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元数据标准体系，促进文档资源的规范化管理</a:t>
            </a:r>
            <a:endParaRPr lang="zh-CN" altLang="en-US" sz="11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5" name="AutoShape 38"/>
          <p:cNvSpPr/>
          <p:nvPr>
            <p:custDataLst>
              <p:tags r:id="rId7"/>
            </p:custDataLst>
          </p:nvPr>
        </p:nvSpPr>
        <p:spPr>
          <a:xfrm>
            <a:off x="81534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6" name="AutoShape 39"/>
          <p:cNvSpPr/>
          <p:nvPr>
            <p:custDataLst>
              <p:tags r:id="rId8"/>
            </p:custDataLst>
          </p:nvPr>
        </p:nvSpPr>
        <p:spPr>
          <a:xfrm>
            <a:off x="82804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核心价值</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7" name="AutoShape 40"/>
          <p:cNvSpPr/>
          <p:nvPr>
            <p:custDataLst>
              <p:tags r:id="rId9"/>
            </p:custDataLst>
          </p:nvPr>
        </p:nvSpPr>
        <p:spPr>
          <a:xfrm>
            <a:off x="81534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为知识建设提供统一的资源底座，夯实基础。</a:t>
            </a:r>
            <a:endPar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72" name="直接连接符 71"/>
          <p:cNvCxnSpPr/>
          <p:nvPr/>
        </p:nvCxnSpPr>
        <p:spPr>
          <a:xfrm>
            <a:off x="4149725" y="2135505"/>
            <a:ext cx="0" cy="4408170"/>
          </a:xfrm>
          <a:prstGeom prst="line">
            <a:avLst/>
          </a:prstGeom>
          <a:ln>
            <a:prstDash val="dash"/>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a:off x="8001635" y="2135505"/>
            <a:ext cx="0" cy="4408170"/>
          </a:xfrm>
          <a:prstGeom prst="line">
            <a:avLst/>
          </a:prstGeom>
          <a:ln>
            <a:prstDash val="dash"/>
          </a:ln>
        </p:spPr>
        <p:style>
          <a:lnRef idx="2">
            <a:schemeClr val="accent1"/>
          </a:lnRef>
          <a:fillRef idx="0">
            <a:srgbClr val="FFFFFF"/>
          </a:fillRef>
          <a:effectRef idx="0">
            <a:srgbClr val="FFFFFF"/>
          </a:effectRef>
          <a:fontRef idx="minor">
            <a:schemeClr val="tx1"/>
          </a:fontRef>
        </p:style>
      </p:cxnSp>
      <p:grpSp>
        <p:nvGrpSpPr>
          <p:cNvPr id="20" name="组合 19"/>
          <p:cNvGrpSpPr/>
          <p:nvPr/>
        </p:nvGrpSpPr>
        <p:grpSpPr>
          <a:xfrm>
            <a:off x="369570" y="5354955"/>
            <a:ext cx="3632200" cy="1079500"/>
            <a:chOff x="582" y="4695"/>
            <a:chExt cx="5720" cy="1700"/>
          </a:xfrm>
        </p:grpSpPr>
        <p:sp>
          <p:nvSpPr>
            <p:cNvPr id="16" name="AutoShape 8"/>
            <p:cNvSpPr/>
            <p:nvPr/>
          </p:nvSpPr>
          <p:spPr>
            <a:xfrm>
              <a:off x="582" y="4695"/>
              <a:ext cx="5720" cy="17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13" name="AutoShape 9"/>
            <p:cNvSpPr/>
            <p:nvPr/>
          </p:nvSpPr>
          <p:spPr>
            <a:xfrm>
              <a:off x="840" y="4863"/>
              <a:ext cx="360" cy="360"/>
            </a:xfrm>
            <a:prstGeom prst="ellips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r>
                <a:rPr lang="en-US" sz="1600">
                  <a:latin typeface="微软雅黑" panose="020B0503020204020204" charset="-122"/>
                  <a:ea typeface="微软雅黑" panose="020B0503020204020204" charset="-122"/>
                </a:rPr>
                <a:t>3</a:t>
              </a:r>
              <a:endParaRPr lang="en-US" sz="1600">
                <a:latin typeface="微软雅黑" panose="020B0503020204020204" charset="-122"/>
                <a:ea typeface="微软雅黑" panose="020B0503020204020204" charset="-122"/>
              </a:endParaRPr>
            </a:p>
          </p:txBody>
        </p:sp>
        <p:sp>
          <p:nvSpPr>
            <p:cNvPr id="14" name="AutoShape 11"/>
            <p:cNvSpPr/>
            <p:nvPr/>
          </p:nvSpPr>
          <p:spPr>
            <a:xfrm>
              <a:off x="1360" y="4823"/>
              <a:ext cx="476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知识的汇聚需要实现高效自动化</a:t>
              </a:r>
              <a:endParaRPr lang="zh-CN"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5" name="AutoShape 12"/>
            <p:cNvSpPr/>
            <p:nvPr/>
          </p:nvSpPr>
          <p:spPr>
            <a:xfrm>
              <a:off x="840" y="5363"/>
              <a:ext cx="5240" cy="9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zh-CN" altLang="en-US" sz="1200" dirty="0">
                  <a:latin typeface="微软雅黑" panose="020B0503020204020204" charset="-122"/>
                  <a:ea typeface="微软雅黑" panose="020B0503020204020204" charset="-122"/>
                  <a:cs typeface="微软雅黑" panose="020B0503020204020204" charset="-122"/>
                  <a:sym typeface="Noto Sans SC" panose="020B0200000000000000" charset="-122"/>
                </a:rPr>
                <a:t>汇聚过程要避免过去人力堆积的问题，要采用人工智能和标准化系统服务逻辑，提升汇聚效率，是实现源头保障。</a:t>
              </a:r>
              <a:endParaRPr lang="zh-CN" altLang="en-US" sz="1200" dirty="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21" name="组合 20"/>
          <p:cNvGrpSpPr/>
          <p:nvPr/>
        </p:nvGrpSpPr>
        <p:grpSpPr>
          <a:xfrm>
            <a:off x="358140" y="4137025"/>
            <a:ext cx="3632200" cy="1079500"/>
            <a:chOff x="582" y="4695"/>
            <a:chExt cx="5720" cy="1700"/>
          </a:xfrm>
        </p:grpSpPr>
        <p:sp>
          <p:nvSpPr>
            <p:cNvPr id="22" name="AutoShape 8"/>
            <p:cNvSpPr/>
            <p:nvPr/>
          </p:nvSpPr>
          <p:spPr>
            <a:xfrm>
              <a:off x="582" y="4695"/>
              <a:ext cx="5720" cy="17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23" name="AutoShape 9"/>
            <p:cNvSpPr/>
            <p:nvPr/>
          </p:nvSpPr>
          <p:spPr>
            <a:xfrm>
              <a:off x="840" y="4863"/>
              <a:ext cx="360" cy="360"/>
            </a:xfrm>
            <a:prstGeom prst="ellips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r>
                <a:rPr lang="en-US" sz="1600">
                  <a:latin typeface="微软雅黑" panose="020B0503020204020204" charset="-122"/>
                  <a:ea typeface="微软雅黑" panose="020B0503020204020204" charset="-122"/>
                </a:rPr>
                <a:t>2</a:t>
              </a:r>
              <a:endParaRPr lang="en-US" sz="1600">
                <a:latin typeface="微软雅黑" panose="020B0503020204020204" charset="-122"/>
                <a:ea typeface="微软雅黑" panose="020B0503020204020204" charset="-122"/>
              </a:endParaRPr>
            </a:p>
          </p:txBody>
        </p:sp>
        <p:sp>
          <p:nvSpPr>
            <p:cNvPr id="24" name="AutoShape 11"/>
            <p:cNvSpPr/>
            <p:nvPr/>
          </p:nvSpPr>
          <p:spPr>
            <a:xfrm>
              <a:off x="1360" y="4823"/>
              <a:ext cx="476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知识的建设需要统一的数据规范标准</a:t>
              </a:r>
              <a:endParaRPr lang="zh-CN"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5" name="AutoShape 12"/>
            <p:cNvSpPr/>
            <p:nvPr/>
          </p:nvSpPr>
          <p:spPr>
            <a:xfrm>
              <a:off x="840" y="5363"/>
              <a:ext cx="5240" cy="9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dirty="0">
                  <a:latin typeface="微软雅黑" panose="020B0503020204020204" charset="-122"/>
                  <a:ea typeface="微软雅黑" panose="020B0503020204020204" charset="-122"/>
                  <a:cs typeface="微软雅黑" panose="020B0503020204020204" charset="-122"/>
                  <a:sym typeface="+mn-ea"/>
                </a:rPr>
                <a:t>行内结构化数据已汇聚到湖仓，面向非结构化纳管，需要统一的数据管理规范标准，避免数据源头的无法追溯，为知识治理和知识加工提供保障。</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26" name="组合 25"/>
          <p:cNvGrpSpPr/>
          <p:nvPr/>
        </p:nvGrpSpPr>
        <p:grpSpPr>
          <a:xfrm>
            <a:off x="392430" y="2861945"/>
            <a:ext cx="3632200" cy="1079500"/>
            <a:chOff x="582" y="4695"/>
            <a:chExt cx="5720" cy="1700"/>
          </a:xfrm>
        </p:grpSpPr>
        <p:sp>
          <p:nvSpPr>
            <p:cNvPr id="31" name="AutoShape 8"/>
            <p:cNvSpPr/>
            <p:nvPr/>
          </p:nvSpPr>
          <p:spPr>
            <a:xfrm>
              <a:off x="582" y="4695"/>
              <a:ext cx="5720" cy="17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36" name="AutoShape 9"/>
            <p:cNvSpPr/>
            <p:nvPr/>
          </p:nvSpPr>
          <p:spPr>
            <a:xfrm>
              <a:off x="840" y="4863"/>
              <a:ext cx="360" cy="360"/>
            </a:xfrm>
            <a:prstGeom prst="ellips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r>
                <a:rPr lang="en-US" sz="1600">
                  <a:latin typeface="微软雅黑" panose="020B0503020204020204" charset="-122"/>
                  <a:ea typeface="微软雅黑" panose="020B0503020204020204" charset="-122"/>
                </a:rPr>
                <a:t>1</a:t>
              </a:r>
              <a:endParaRPr lang="en-US" sz="1600">
                <a:latin typeface="微软雅黑" panose="020B0503020204020204" charset="-122"/>
                <a:ea typeface="微软雅黑" panose="020B0503020204020204" charset="-122"/>
              </a:endParaRPr>
            </a:p>
          </p:txBody>
        </p:sp>
        <p:sp>
          <p:nvSpPr>
            <p:cNvPr id="66" name="AutoShape 11"/>
            <p:cNvSpPr/>
            <p:nvPr/>
          </p:nvSpPr>
          <p:spPr>
            <a:xfrm>
              <a:off x="1360" y="4823"/>
              <a:ext cx="476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AI</a:t>
              </a:r>
              <a:r>
                <a:rPr lang="zh-CN"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智能体赋能需要统一的知识底座</a:t>
              </a:r>
              <a:endParaRPr lang="zh-CN"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7" name="AutoShape 12"/>
            <p:cNvSpPr/>
            <p:nvPr/>
          </p:nvSpPr>
          <p:spPr>
            <a:xfrm>
              <a:off x="840" y="5363"/>
              <a:ext cx="5240" cy="900"/>
            </a:xfrm>
            <a:prstGeom prst="rect">
              <a:avLst/>
            </a:prstGeom>
            <a:noFill/>
            <a:ln w="12700" cap="flat" cmpd="sng">
              <a:noFill/>
              <a:prstDash val="solid"/>
              <a:round/>
            </a:ln>
          </p:spPr>
          <p:txBody>
            <a:bodyPr vert="horz" wrap="square" lIns="0" tIns="0" rIns="0" bIns="0" rtlCol="0" anchor="ctr" anchorCtr="0"/>
            <a:lstStyle/>
            <a:p>
              <a:pPr lvl="0">
                <a:lnSpc>
                  <a:spcPct val="100000"/>
                </a:lnSpc>
                <a:spcBef>
                  <a:spcPct val="0"/>
                </a:spcBef>
                <a:spcAft>
                  <a:spcPct val="35000"/>
                </a:spcAft>
              </a:pPr>
              <a:r>
                <a:rPr lang="zh-CN" altLang="en-US" sz="1200" dirty="0">
                  <a:latin typeface="微软雅黑" panose="020B0503020204020204" charset="-122"/>
                  <a:ea typeface="微软雅黑" panose="020B0503020204020204" charset="-122"/>
                  <a:cs typeface="微软雅黑" panose="020B0503020204020204" charset="-122"/>
                  <a:sym typeface="+mn-ea"/>
                </a:rPr>
                <a:t>面向全行级统一</a:t>
              </a:r>
              <a:r>
                <a:rPr lang="en-US" altLang="zh-CN" sz="1200" dirty="0">
                  <a:latin typeface="微软雅黑" panose="020B0503020204020204" charset="-122"/>
                  <a:ea typeface="微软雅黑" panose="020B0503020204020204" charset="-122"/>
                  <a:cs typeface="微软雅黑" panose="020B0503020204020204" charset="-122"/>
                  <a:sym typeface="+mn-ea"/>
                </a:rPr>
                <a:t>Agentic AI</a:t>
              </a:r>
              <a:r>
                <a:rPr lang="zh-CN" altLang="en-US" sz="1200" dirty="0">
                  <a:latin typeface="微软雅黑" panose="020B0503020204020204" charset="-122"/>
                  <a:ea typeface="微软雅黑" panose="020B0503020204020204" charset="-122"/>
                  <a:cs typeface="微软雅黑" panose="020B0503020204020204" charset="-122"/>
                  <a:sym typeface="+mn-ea"/>
                </a:rPr>
                <a:t>服务运行，需要统一知识底座，避免数据分散导致的</a:t>
              </a:r>
              <a:r>
                <a:rPr lang="en-US" altLang="zh-CN" sz="1200" dirty="0">
                  <a:latin typeface="微软雅黑" panose="020B0503020204020204" charset="-122"/>
                  <a:ea typeface="微软雅黑" panose="020B0503020204020204" charset="-122"/>
                  <a:cs typeface="微软雅黑" panose="020B0503020204020204" charset="-122"/>
                  <a:sym typeface="+mn-ea"/>
                </a:rPr>
                <a:t>AI</a:t>
              </a:r>
              <a:r>
                <a:rPr lang="zh-CN" altLang="en-US" sz="1200" dirty="0">
                  <a:latin typeface="微软雅黑" panose="020B0503020204020204" charset="-122"/>
                  <a:ea typeface="微软雅黑" panose="020B0503020204020204" charset="-122"/>
                  <a:cs typeface="微软雅黑" panose="020B0503020204020204" charset="-122"/>
                  <a:sym typeface="+mn-ea"/>
                </a:rPr>
                <a:t>服务体系分化，是核心目标。</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68" name="组合 67"/>
          <p:cNvGrpSpPr/>
          <p:nvPr/>
        </p:nvGrpSpPr>
        <p:grpSpPr>
          <a:xfrm>
            <a:off x="4267200" y="2935605"/>
            <a:ext cx="3632200" cy="3442335"/>
            <a:chOff x="6720" y="4623"/>
            <a:chExt cx="5720" cy="5240"/>
          </a:xfrm>
        </p:grpSpPr>
        <p:sp>
          <p:nvSpPr>
            <p:cNvPr id="69" name="AutoShape 26"/>
            <p:cNvSpPr/>
            <p:nvPr/>
          </p:nvSpPr>
          <p:spPr>
            <a:xfrm>
              <a:off x="6720" y="4623"/>
              <a:ext cx="5720" cy="52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71" name="AutoShape 27"/>
            <p:cNvSpPr/>
            <p:nvPr/>
          </p:nvSpPr>
          <p:spPr>
            <a:xfrm>
              <a:off x="6880" y="4623"/>
              <a:ext cx="5400" cy="5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01 </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文档资产自动归集</a:t>
              </a:r>
              <a:endPar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3" name="AutoShape 28"/>
            <p:cNvSpPr/>
            <p:nvPr/>
          </p:nvSpPr>
          <p:spPr>
            <a:xfrm>
              <a:off x="6720" y="5143"/>
              <a:ext cx="5720" cy="116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74" name="AutoShape 29"/>
            <p:cNvSpPr/>
            <p:nvPr/>
          </p:nvSpPr>
          <p:spPr>
            <a:xfrm>
              <a:off x="6880" y="5223"/>
              <a:ext cx="5400" cy="108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实现源系统文件对接，进行文档资源的统一纳管，通过</a:t>
              </a:r>
              <a:r>
                <a:rPr lang="en-US" altLang="zh-CN"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AI</a:t>
              </a:r>
              <a:r>
                <a:rPr lang="zh-CN" alt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生成文档摘要，实现文档的规范性管理</a:t>
              </a:r>
              <a:endParaRPr lang="zh-CN" alt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5" name="AutoShape 30"/>
            <p:cNvSpPr/>
            <p:nvPr/>
          </p:nvSpPr>
          <p:spPr>
            <a:xfrm>
              <a:off x="6720" y="6403"/>
              <a:ext cx="5720" cy="520"/>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76" name="AutoShape 31"/>
            <p:cNvSpPr/>
            <p:nvPr/>
          </p:nvSpPr>
          <p:spPr>
            <a:xfrm>
              <a:off x="6880" y="6403"/>
              <a:ext cx="5400" cy="5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02 </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标准化元数据采集</a:t>
              </a:r>
              <a:endPar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7" name="AutoShape 32"/>
            <p:cNvSpPr/>
            <p:nvPr/>
          </p:nvSpPr>
          <p:spPr>
            <a:xfrm>
              <a:off x="6720" y="6923"/>
              <a:ext cx="5720" cy="116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78" name="AutoShape 33"/>
            <p:cNvSpPr/>
            <p:nvPr/>
          </p:nvSpPr>
          <p:spPr>
            <a:xfrm>
              <a:off x="6880" y="7003"/>
              <a:ext cx="5400" cy="108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统一规范以文档为核心的元数据标准体系，实现业务属性、管理属性、技术属性的元数据采集，为后续知识加工提供保障</a:t>
              </a:r>
              <a:r>
                <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9" name="AutoShape 34"/>
            <p:cNvSpPr/>
            <p:nvPr/>
          </p:nvSpPr>
          <p:spPr>
            <a:xfrm>
              <a:off x="6720" y="8183"/>
              <a:ext cx="5720" cy="520"/>
            </a:xfrm>
            <a:prstGeom prst="roundRect">
              <a:avLst>
                <a:gd name="adj" fmla="val 0"/>
              </a:avLst>
            </a:prstGeom>
            <a:solidFill>
              <a:srgbClr val="69B1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80" name="AutoShape 35"/>
            <p:cNvSpPr/>
            <p:nvPr/>
          </p:nvSpPr>
          <p:spPr>
            <a:xfrm>
              <a:off x="6880" y="8183"/>
              <a:ext cx="5400" cy="5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03 </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文档标准目录建设</a:t>
              </a:r>
              <a:endPar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1" name="AutoShape 36"/>
            <p:cNvSpPr/>
            <p:nvPr/>
          </p:nvSpPr>
          <p:spPr>
            <a:xfrm>
              <a:off x="6720" y="8703"/>
              <a:ext cx="5720" cy="116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82" name="AutoShape 37"/>
            <p:cNvSpPr/>
            <p:nvPr/>
          </p:nvSpPr>
          <p:spPr>
            <a:xfrm>
              <a:off x="6880" y="8783"/>
              <a:ext cx="5400" cy="1080"/>
            </a:xfrm>
            <a:prstGeom prst="rect">
              <a:avLst/>
            </a:prstGeom>
            <a:noFill/>
            <a:ln w="12700" cap="flat" cmpd="sng">
              <a:noFill/>
              <a:prstDash val="solid"/>
              <a:round/>
            </a:ln>
          </p:spPr>
          <p:txBody>
            <a:bodyPr vert="horz" wrap="square" lIns="0" tIns="0" rIns="0" bIns="0" rtlCol="0" anchor="ctr" anchorCtr="0"/>
            <a:lstStyle/>
            <a:p>
              <a:pPr marL="0" algn="l">
                <a:lnSpc>
                  <a:spcPct val="100000"/>
                </a:lnSpc>
                <a:buClrTx/>
                <a:buSzTx/>
                <a:buFontTx/>
                <a:defRPr/>
              </a:pP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mn-ea"/>
                </a:rPr>
                <a:t>形成标准的文档编目服务，能够从不同视角开展目录管理。既能满足业务应用的知识加工要求，又能实现知识的追溯与查看</a:t>
              </a:r>
              <a:endParaRPr lang="zh-CN" alt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mn-ea"/>
              </a:endParaRPr>
            </a:p>
          </p:txBody>
        </p:sp>
      </p:grpSp>
      <p:sp>
        <p:nvSpPr>
          <p:cNvPr id="83" name="AutoShape 41"/>
          <p:cNvSpPr/>
          <p:nvPr/>
        </p:nvSpPr>
        <p:spPr>
          <a:xfrm>
            <a:off x="8200390" y="2834640"/>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84" name="AutoShape 42"/>
          <p:cNvSpPr/>
          <p:nvPr/>
        </p:nvSpPr>
        <p:spPr>
          <a:xfrm>
            <a:off x="8200390" y="2834640"/>
            <a:ext cx="38100" cy="1151255"/>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85" name="AutoShape 43"/>
          <p:cNvSpPr/>
          <p:nvPr/>
        </p:nvSpPr>
        <p:spPr>
          <a:xfrm>
            <a:off x="8352790" y="2929255"/>
            <a:ext cx="3378200" cy="29781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统一资源纳管，实现知识源的规范管理</a:t>
            </a:r>
            <a:endPar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86" name="AutoShape 44"/>
          <p:cNvSpPr/>
          <p:nvPr/>
        </p:nvSpPr>
        <p:spPr>
          <a:xfrm>
            <a:off x="8352790" y="3281680"/>
            <a:ext cx="3378200" cy="650240"/>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altLang="zh-CN" sz="1200" b="0" i="0" u="none" strike="noStrike" dirty="0">
                <a:latin typeface="微软雅黑" panose="020B0503020204020204" charset="-122"/>
                <a:ea typeface="微软雅黑" panose="020B0503020204020204" charset="-122"/>
                <a:cs typeface="微软雅黑" panose="020B0503020204020204" charset="-122"/>
                <a:sym typeface="Noto Sans SC" panose="020B0200000000000000" charset="-122"/>
              </a:rPr>
              <a:t>通过智能化手段实现文档资源的内容识别与统一纳管，解决文档零散，封闭、重复问题。</a:t>
            </a:r>
            <a:endParaRPr lang="en-US" altLang="zh-CN" sz="1200" b="0" i="0" u="none" strike="noStrike" dirty="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7" name="AutoShape 45"/>
          <p:cNvSpPr/>
          <p:nvPr/>
        </p:nvSpPr>
        <p:spPr>
          <a:xfrm>
            <a:off x="8200390" y="4081145"/>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88" name="AutoShape 46"/>
          <p:cNvSpPr/>
          <p:nvPr/>
        </p:nvSpPr>
        <p:spPr>
          <a:xfrm>
            <a:off x="8200390" y="4081145"/>
            <a:ext cx="38100" cy="1151255"/>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89" name="AutoShape 47"/>
          <p:cNvSpPr/>
          <p:nvPr/>
        </p:nvSpPr>
        <p:spPr>
          <a:xfrm>
            <a:off x="8352790" y="4175760"/>
            <a:ext cx="3476625" cy="297815"/>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zh-CN"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统一数据标准</a:t>
            </a:r>
            <a:r>
              <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，为知识加工提供保障</a:t>
            </a:r>
            <a:endPar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90" name="AutoShape 48"/>
          <p:cNvSpPr/>
          <p:nvPr/>
        </p:nvSpPr>
        <p:spPr>
          <a:xfrm>
            <a:off x="8352790" y="4528185"/>
            <a:ext cx="3378200" cy="65024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200" dirty="0">
                <a:latin typeface="微软雅黑" panose="020B0503020204020204" charset="-122"/>
                <a:ea typeface="微软雅黑" panose="020B0503020204020204" charset="-122"/>
                <a:cs typeface="微软雅黑" panose="020B0503020204020204" charset="-122"/>
                <a:sym typeface="+mn-ea"/>
              </a:rPr>
              <a:t>实现基于文档数据的标准元数据规范汇聚，对文档进行业务、技术、管理的全量多维度</a:t>
            </a:r>
            <a:r>
              <a:rPr lang="zh-CN" sz="1200" dirty="0">
                <a:latin typeface="微软雅黑" panose="020B0503020204020204" charset="-122"/>
                <a:ea typeface="微软雅黑" panose="020B0503020204020204" charset="-122"/>
                <a:cs typeface="微软雅黑" panose="020B0503020204020204" charset="-122"/>
                <a:sym typeface="+mn-ea"/>
              </a:rPr>
              <a:t>标签建设，为知识加工与知识管理提供数据基础。</a:t>
            </a:r>
            <a:endParaRPr lang="zh-CN" sz="1200" b="0" i="0" u="none" strike="noStrike" dirty="0">
              <a:solidFill>
                <a:srgbClr val="666666"/>
              </a:solidFill>
              <a:latin typeface="微软雅黑" panose="020B0503020204020204" charset="-122"/>
              <a:ea typeface="微软雅黑" panose="020B0503020204020204" charset="-122"/>
              <a:cs typeface="微软雅黑" panose="020B0503020204020204" charset="-122"/>
              <a:sym typeface="+mn-ea"/>
            </a:endParaRPr>
          </a:p>
        </p:txBody>
      </p:sp>
      <p:sp>
        <p:nvSpPr>
          <p:cNvPr id="91" name="AutoShape 45"/>
          <p:cNvSpPr/>
          <p:nvPr/>
        </p:nvSpPr>
        <p:spPr>
          <a:xfrm>
            <a:off x="8200390" y="5365115"/>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92" name="AutoShape 46"/>
          <p:cNvSpPr/>
          <p:nvPr/>
        </p:nvSpPr>
        <p:spPr>
          <a:xfrm>
            <a:off x="8200390" y="5365115"/>
            <a:ext cx="38100" cy="1151255"/>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93" name="AutoShape 47"/>
          <p:cNvSpPr/>
          <p:nvPr/>
        </p:nvSpPr>
        <p:spPr>
          <a:xfrm>
            <a:off x="8352790" y="5459730"/>
            <a:ext cx="3476625" cy="297815"/>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zh-CN"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统一文档</a:t>
            </a:r>
            <a:r>
              <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目录，支持应用级知识加工</a:t>
            </a:r>
            <a:endPar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94" name="AutoShape 48"/>
          <p:cNvSpPr/>
          <p:nvPr/>
        </p:nvSpPr>
        <p:spPr>
          <a:xfrm>
            <a:off x="8352790" y="5812155"/>
            <a:ext cx="3378200" cy="65024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altLang="zh-CN" sz="1200" dirty="0">
                <a:latin typeface="微软雅黑" panose="020B0503020204020204" charset="-122"/>
                <a:ea typeface="微软雅黑" panose="020B0503020204020204" charset="-122"/>
                <a:cs typeface="微软雅黑" panose="020B0503020204020204" charset="-122"/>
                <a:sym typeface="+mn-ea"/>
              </a:rPr>
              <a:t>面向上层知识加工逻辑，要形成服务于技术实现的文档归集分类，形成服务于AI原生化的系统级文档主目录。</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 L1资源层整体建设框架</a:t>
            </a:r>
            <a:endParaRPr kumimoji="0"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矩形 3"/>
          <p:cNvSpPr/>
          <p:nvPr/>
        </p:nvSpPr>
        <p:spPr>
          <a:xfrm>
            <a:off x="154940" y="5606415"/>
            <a:ext cx="11891010" cy="1074420"/>
          </a:xfrm>
          <a:prstGeom prst="rect">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  知识源</a:t>
            </a:r>
            <a:endParaRPr lang="zh-CN" altLang="en-US" sz="1400" b="1" dirty="0">
              <a:solidFill>
                <a:schemeClr val="tx2"/>
              </a:solidFill>
              <a:latin typeface="微软雅黑" panose="020B0503020204020204" charset="-122"/>
              <a:ea typeface="微软雅黑" panose="020B0503020204020204" charset="-122"/>
            </a:endParaRPr>
          </a:p>
        </p:txBody>
      </p:sp>
      <p:grpSp>
        <p:nvGrpSpPr>
          <p:cNvPr id="32" name="组合 31"/>
          <p:cNvGrpSpPr/>
          <p:nvPr/>
        </p:nvGrpSpPr>
        <p:grpSpPr>
          <a:xfrm>
            <a:off x="963295" y="5746115"/>
            <a:ext cx="10822305" cy="815975"/>
            <a:chOff x="1860" y="8863"/>
            <a:chExt cx="13783" cy="1447"/>
          </a:xfrm>
        </p:grpSpPr>
        <p:sp>
          <p:nvSpPr>
            <p:cNvPr id="6" name="矩形 5"/>
            <p:cNvSpPr/>
            <p:nvPr/>
          </p:nvSpPr>
          <p:spPr>
            <a:xfrm>
              <a:off x="1860" y="8872"/>
              <a:ext cx="2196" cy="142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indent="0" algn="ctr">
                <a:lnSpc>
                  <a:spcPct val="125000"/>
                </a:lnSpc>
                <a:defRPr/>
              </a:pPr>
              <a:r>
                <a:rPr lang="en-US" sz="1000" b="1" dirty="0" err="1">
                  <a:solidFill>
                    <a:srgbClr val="0047AB"/>
                  </a:solidFill>
                  <a:latin typeface="微软雅黑" panose="020B0503020204020204" charset="-122"/>
                  <a:ea typeface="微软雅黑" panose="020B0503020204020204" charset="-122"/>
                  <a:cs typeface="微软雅黑" panose="020B0503020204020204" charset="-122"/>
                  <a:sym typeface="Noto Sans SC" panose="020B0200000000000000" charset="-122"/>
                </a:rPr>
                <a:t>一线知识云</a:t>
              </a:r>
              <a:endParaRPr lang="en-US" sz="1000" dirty="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业务文档</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手维</a:t>
              </a:r>
              <a:r>
                <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 FAQ</a:t>
              </a:r>
              <a:endParaRPr lang="en-US" altLang="zh-CN" sz="10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000" dirty="0">
                <a:solidFill>
                  <a:schemeClr val="tx2"/>
                </a:solidFill>
                <a:latin typeface="微软雅黑" panose="020B0503020204020204" charset="-122"/>
                <a:ea typeface="微软雅黑" panose="020B0503020204020204" charset="-122"/>
              </a:endParaRPr>
            </a:p>
          </p:txBody>
        </p:sp>
        <p:sp>
          <p:nvSpPr>
            <p:cNvPr id="7" name="矩形 6"/>
            <p:cNvSpPr/>
            <p:nvPr/>
          </p:nvSpPr>
          <p:spPr>
            <a:xfrm>
              <a:off x="4183" y="8882"/>
              <a:ext cx="2081" cy="142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indent="0" algn="ctr">
                <a:lnSpc>
                  <a:spcPct val="125000"/>
                </a:lnSpc>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Noto Sans SC" panose="020B0200000000000000" charset="-122"/>
                </a:rPr>
                <a:t>内容管理平台</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业务系统</a:t>
              </a:r>
              <a:endPar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生成格式文档</a:t>
              </a:r>
              <a:endPar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000" dirty="0">
                <a:solidFill>
                  <a:schemeClr val="tx2"/>
                </a:solidFill>
                <a:latin typeface="微软雅黑" panose="020B0503020204020204" charset="-122"/>
                <a:ea typeface="微软雅黑" panose="020B0503020204020204" charset="-122"/>
              </a:endParaRPr>
            </a:p>
          </p:txBody>
        </p:sp>
        <p:sp>
          <p:nvSpPr>
            <p:cNvPr id="8" name="矩形 7"/>
            <p:cNvSpPr/>
            <p:nvPr/>
          </p:nvSpPr>
          <p:spPr>
            <a:xfrm>
              <a:off x="6386" y="8863"/>
              <a:ext cx="2138" cy="142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indent="0" algn="ctr">
                <a:lnSpc>
                  <a:spcPct val="125000"/>
                </a:lnSpc>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Noto Sans SC" panose="020B0200000000000000" charset="-122"/>
                </a:rPr>
                <a:t>制度中台</a:t>
              </a:r>
              <a:endParaRPr lang="en-US" altLang="zh-CN" sz="1000" b="1" dirty="0">
                <a:solidFill>
                  <a:srgbClr val="0047AB"/>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algn="ctr">
                <a:lnSpc>
                  <a:spcPct val="100000"/>
                </a:lnSpc>
                <a:buClrTx/>
                <a:buSzTx/>
                <a:buFontTx/>
              </a:pPr>
              <a:r>
                <a:rPr lang="zh-CN" altLang="en-US" sz="1000" dirty="0">
                  <a:solidFill>
                    <a:srgbClr val="555555"/>
                  </a:solidFill>
                  <a:latin typeface="微软雅黑" panose="020B0503020204020204" charset="-122"/>
                  <a:ea typeface="微软雅黑" panose="020B0503020204020204" charset="-122"/>
                  <a:cs typeface="微软雅黑" panose="020B0503020204020204" charset="-122"/>
                </a:rPr>
                <a:t>外部政策文件</a:t>
              </a:r>
              <a:endParaRPr lang="zh-CN" altLang="en-US" sz="1000" dirty="0">
                <a:solidFill>
                  <a:srgbClr val="555555"/>
                </a:solidFill>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行内规章制度</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000" dirty="0">
                <a:solidFill>
                  <a:schemeClr val="tx2"/>
                </a:solidFill>
                <a:latin typeface="微软雅黑" panose="020B0503020204020204" charset="-122"/>
                <a:ea typeface="微软雅黑" panose="020B0503020204020204" charset="-122"/>
              </a:endParaRPr>
            </a:p>
          </p:txBody>
        </p:sp>
        <p:sp>
          <p:nvSpPr>
            <p:cNvPr id="9" name="矩形 8"/>
            <p:cNvSpPr/>
            <p:nvPr/>
          </p:nvSpPr>
          <p:spPr>
            <a:xfrm>
              <a:off x="8642" y="8867"/>
              <a:ext cx="2420" cy="142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rPr>
                <a:t>AI Coding平台</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endParaRPr>
            </a:p>
            <a:p>
              <a:pPr marL="0" indent="0" algn="ctr">
                <a:lnSpc>
                  <a:spcPct val="125000"/>
                </a:lnSpc>
                <a:defRPr/>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开发规范</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25000"/>
                </a:lnSpc>
                <a:defRPr/>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业务需求</a:t>
              </a:r>
              <a:endPar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000" dirty="0">
                <a:solidFill>
                  <a:schemeClr val="tx2"/>
                </a:solidFill>
                <a:latin typeface="微软雅黑" panose="020B0503020204020204" charset="-122"/>
                <a:ea typeface="微软雅黑" panose="020B0503020204020204" charset="-122"/>
              </a:endParaRPr>
            </a:p>
          </p:txBody>
        </p:sp>
        <p:sp>
          <p:nvSpPr>
            <p:cNvPr id="10" name="矩形 9"/>
            <p:cNvSpPr/>
            <p:nvPr/>
          </p:nvSpPr>
          <p:spPr>
            <a:xfrm>
              <a:off x="11192" y="8864"/>
              <a:ext cx="2138" cy="142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indent="0" algn="ctr">
                <a:lnSpc>
                  <a:spcPct val="125000"/>
                </a:lnSpc>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rPr>
                <a:t>外部数据平台</a:t>
              </a:r>
              <a:endParaRPr lang="zh-CN" altLang="en-US" sz="1000" dirty="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行业报告</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征信数据</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涉诉数据</a:t>
              </a:r>
              <a:endPar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000" dirty="0">
                <a:solidFill>
                  <a:schemeClr val="tx2"/>
                </a:solidFill>
                <a:latin typeface="微软雅黑" panose="020B0503020204020204" charset="-122"/>
                <a:ea typeface="微软雅黑" panose="020B0503020204020204" charset="-122"/>
              </a:endParaRPr>
            </a:p>
          </p:txBody>
        </p:sp>
        <p:sp>
          <p:nvSpPr>
            <p:cNvPr id="12" name="矩形 11"/>
            <p:cNvSpPr/>
            <p:nvPr/>
          </p:nvSpPr>
          <p:spPr>
            <a:xfrm>
              <a:off x="13401" y="8863"/>
              <a:ext cx="2242" cy="142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rPr>
                <a:t>财务管理系统</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合同文档</a:t>
              </a:r>
              <a:endParaRPr lang="en-US" altLang="zh-CN"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财务业务文档</a:t>
              </a:r>
              <a:endParaRPr lang="zh-CN" altLang="en-US" sz="1000" b="0" i="0" u="none" strike="noStrike"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zh-CN" altLang="en-US" sz="10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000" dirty="0">
                <a:solidFill>
                  <a:schemeClr val="tx2"/>
                </a:solidFill>
                <a:latin typeface="微软雅黑" panose="020B0503020204020204" charset="-122"/>
                <a:ea typeface="微软雅黑" panose="020B0503020204020204" charset="-122"/>
              </a:endParaRPr>
            </a:p>
          </p:txBody>
        </p:sp>
      </p:grpSp>
      <p:sp>
        <p:nvSpPr>
          <p:cNvPr id="14" name="矩形 13"/>
          <p:cNvSpPr/>
          <p:nvPr/>
        </p:nvSpPr>
        <p:spPr>
          <a:xfrm>
            <a:off x="155575" y="4834255"/>
            <a:ext cx="11890375" cy="53657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接口</a:t>
            </a:r>
            <a:endParaRPr lang="zh-CN" altLang="en-US" sz="1400" b="1" dirty="0">
              <a:solidFill>
                <a:schemeClr val="tx2"/>
              </a:solidFill>
              <a:latin typeface="微软雅黑" panose="020B0503020204020204" charset="-122"/>
              <a:ea typeface="微软雅黑" panose="020B0503020204020204" charset="-122"/>
            </a:endParaRPr>
          </a:p>
        </p:txBody>
      </p:sp>
      <p:grpSp>
        <p:nvGrpSpPr>
          <p:cNvPr id="13" name="组合 12"/>
          <p:cNvGrpSpPr/>
          <p:nvPr/>
        </p:nvGrpSpPr>
        <p:grpSpPr>
          <a:xfrm>
            <a:off x="949325" y="4945380"/>
            <a:ext cx="6715760" cy="346075"/>
            <a:chOff x="1495" y="7872"/>
            <a:chExt cx="10932" cy="545"/>
          </a:xfrm>
        </p:grpSpPr>
        <p:sp>
          <p:nvSpPr>
            <p:cNvPr id="24" name="矩形 23"/>
            <p:cNvSpPr/>
            <p:nvPr/>
          </p:nvSpPr>
          <p:spPr>
            <a:xfrm>
              <a:off x="1495" y="7873"/>
              <a:ext cx="3546" cy="544"/>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dirty="0">
                  <a:solidFill>
                    <a:srgbClr val="0047AB"/>
                  </a:solidFill>
                  <a:latin typeface="微软雅黑" panose="020B0503020204020204" charset="-122"/>
                  <a:ea typeface="微软雅黑" panose="020B0503020204020204" charset="-122"/>
                  <a:cs typeface="微软雅黑" panose="020B0503020204020204" charset="-122"/>
                </a:rPr>
                <a:t>数据同步服务</a:t>
              </a:r>
              <a:endParaRPr lang="zh-CN" altLang="en-US" sz="1200"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5" name="矩形 24"/>
            <p:cNvSpPr/>
            <p:nvPr/>
          </p:nvSpPr>
          <p:spPr>
            <a:xfrm>
              <a:off x="5332" y="7872"/>
              <a:ext cx="3402" cy="537"/>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25000"/>
                </a:lnSpc>
                <a:buClrTx/>
                <a:buSzTx/>
                <a:buFontTx/>
                <a:defRPr/>
              </a:pPr>
              <a:r>
                <a:rPr lang="zh-CN" altLang="en-US" sz="1200" dirty="0">
                  <a:solidFill>
                    <a:srgbClr val="0047AB"/>
                  </a:solidFill>
                  <a:latin typeface="微软雅黑" panose="020B0503020204020204" charset="-122"/>
                  <a:ea typeface="微软雅黑" panose="020B0503020204020204" charset="-122"/>
                  <a:cs typeface="微软雅黑" panose="020B0503020204020204" charset="-122"/>
                  <a:sym typeface="+mn-ea"/>
                </a:rPr>
                <a:t>大模型引用服务</a:t>
              </a:r>
              <a:endParaRPr lang="zh-CN" altLang="en-US" sz="1200"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28" name="矩形 27"/>
            <p:cNvSpPr/>
            <p:nvPr/>
          </p:nvSpPr>
          <p:spPr>
            <a:xfrm>
              <a:off x="9025" y="7872"/>
              <a:ext cx="3402" cy="537"/>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25000"/>
                </a:lnSpc>
                <a:buClrTx/>
                <a:buSzTx/>
                <a:buFontTx/>
                <a:defRPr/>
              </a:pPr>
              <a:r>
                <a:rPr lang="zh-CN" altLang="en-US" sz="1200" dirty="0">
                  <a:solidFill>
                    <a:srgbClr val="0047AB"/>
                  </a:solidFill>
                  <a:latin typeface="微软雅黑" panose="020B0503020204020204" charset="-122"/>
                  <a:ea typeface="微软雅黑" panose="020B0503020204020204" charset="-122"/>
                  <a:cs typeface="微软雅黑" panose="020B0503020204020204" charset="-122"/>
                  <a:sym typeface="+mn-ea"/>
                </a:rPr>
                <a:t>元数据采集服务</a:t>
              </a:r>
              <a:endParaRPr lang="zh-CN" altLang="en-US" sz="1200"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pSp>
      <p:sp>
        <p:nvSpPr>
          <p:cNvPr id="22" name="矩形 21"/>
          <p:cNvSpPr/>
          <p:nvPr/>
        </p:nvSpPr>
        <p:spPr>
          <a:xfrm>
            <a:off x="7990205" y="4941570"/>
            <a:ext cx="3795395" cy="34099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l">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元数据标准管理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124" name="组合 123"/>
          <p:cNvGrpSpPr/>
          <p:nvPr/>
        </p:nvGrpSpPr>
        <p:grpSpPr>
          <a:xfrm>
            <a:off x="9257665" y="5004435"/>
            <a:ext cx="2394585" cy="207645"/>
            <a:chOff x="14838" y="7881"/>
            <a:chExt cx="3257" cy="327"/>
          </a:xfrm>
        </p:grpSpPr>
        <p:sp>
          <p:nvSpPr>
            <p:cNvPr id="50" name="矩形 49"/>
            <p:cNvSpPr/>
            <p:nvPr/>
          </p:nvSpPr>
          <p:spPr>
            <a:xfrm>
              <a:off x="14838" y="7881"/>
              <a:ext cx="1477" cy="327"/>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标准维护</a:t>
              </a:r>
              <a:endParaRPr lang="zh-CN" altLang="en-US" sz="1200" dirty="0">
                <a:solidFill>
                  <a:schemeClr val="tx1"/>
                </a:solidFill>
                <a:latin typeface="微软雅黑" panose="020B0503020204020204" charset="-122"/>
                <a:ea typeface="微软雅黑" panose="020B0503020204020204" charset="-122"/>
              </a:endParaRPr>
            </a:p>
          </p:txBody>
        </p:sp>
        <p:sp>
          <p:nvSpPr>
            <p:cNvPr id="5" name="矩形 4"/>
            <p:cNvSpPr/>
            <p:nvPr/>
          </p:nvSpPr>
          <p:spPr>
            <a:xfrm>
              <a:off x="16619" y="7882"/>
              <a:ext cx="1477" cy="327"/>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标准同步</a:t>
              </a:r>
              <a:endParaRPr lang="zh-CN" altLang="en-US" sz="1200" dirty="0">
                <a:solidFill>
                  <a:schemeClr val="tx1"/>
                </a:solidFill>
                <a:latin typeface="微软雅黑" panose="020B0503020204020204" charset="-122"/>
                <a:ea typeface="微软雅黑" panose="020B0503020204020204" charset="-122"/>
              </a:endParaRPr>
            </a:p>
          </p:txBody>
        </p:sp>
      </p:grpSp>
      <p:sp>
        <p:nvSpPr>
          <p:cNvPr id="16" name="矩形 15"/>
          <p:cNvSpPr/>
          <p:nvPr/>
        </p:nvSpPr>
        <p:spPr>
          <a:xfrm>
            <a:off x="155575" y="3636645"/>
            <a:ext cx="11890375" cy="110553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知识</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汇聚</a:t>
            </a:r>
            <a:endParaRPr lang="zh-CN" altLang="en-US" sz="1400" b="1" dirty="0">
              <a:solidFill>
                <a:schemeClr val="tx2"/>
              </a:solidFill>
              <a:latin typeface="微软雅黑" panose="020B0503020204020204" charset="-122"/>
              <a:ea typeface="微软雅黑" panose="020B0503020204020204" charset="-122"/>
            </a:endParaRPr>
          </a:p>
        </p:txBody>
      </p:sp>
      <p:grpSp>
        <p:nvGrpSpPr>
          <p:cNvPr id="48" name="组合 47"/>
          <p:cNvGrpSpPr/>
          <p:nvPr/>
        </p:nvGrpSpPr>
        <p:grpSpPr>
          <a:xfrm>
            <a:off x="851535" y="3673475"/>
            <a:ext cx="11049035" cy="1031875"/>
            <a:chOff x="1341" y="5785"/>
            <a:chExt cx="16490" cy="1625"/>
          </a:xfrm>
        </p:grpSpPr>
        <p:sp>
          <p:nvSpPr>
            <p:cNvPr id="17" name="矩形 16"/>
            <p:cNvSpPr/>
            <p:nvPr/>
          </p:nvSpPr>
          <p:spPr>
            <a:xfrm>
              <a:off x="1341" y="5785"/>
              <a:ext cx="1843" cy="161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源端</a:t>
              </a:r>
              <a:r>
                <a:rPr lang="en-US" sz="1200" b="1" dirty="0" err="1">
                  <a:solidFill>
                    <a:srgbClr val="0047AB"/>
                  </a:solidFill>
                  <a:latin typeface="微软雅黑" panose="020B0503020204020204" charset="-122"/>
                  <a:ea typeface="微软雅黑" panose="020B0503020204020204" charset="-122"/>
                  <a:cs typeface="微软雅黑" panose="020B0503020204020204" charset="-122"/>
                </a:rPr>
                <a:t>配置</a:t>
              </a:r>
              <a:endParaRPr lang="en-US" sz="1200" b="1" dirty="0">
                <a:solidFill>
                  <a:srgbClr val="0047AB"/>
                </a:solidFill>
                <a:latin typeface="微软雅黑" panose="020B0503020204020204" charset="-122"/>
                <a:ea typeface="微软雅黑" panose="020B0503020204020204" charset="-122"/>
                <a:cs typeface="微软雅黑" panose="020B0503020204020204" charset="-122"/>
              </a:endParaRPr>
            </a:p>
            <a:p>
              <a:pPr marL="0" indent="0" algn="ctr">
                <a:lnSpc>
                  <a:spcPct val="100000"/>
                </a:lnSpc>
              </a:pPr>
              <a:endParaRPr lang="en-US"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27" name="组合 26"/>
            <p:cNvGrpSpPr/>
            <p:nvPr/>
          </p:nvGrpSpPr>
          <p:grpSpPr>
            <a:xfrm>
              <a:off x="1518" y="6193"/>
              <a:ext cx="1458" cy="1129"/>
              <a:chOff x="1518" y="6193"/>
              <a:chExt cx="1458" cy="1078"/>
            </a:xfrm>
          </p:grpSpPr>
          <p:sp>
            <p:nvSpPr>
              <p:cNvPr id="18" name="矩形 17"/>
              <p:cNvSpPr/>
              <p:nvPr/>
            </p:nvSpPr>
            <p:spPr>
              <a:xfrm>
                <a:off x="1518" y="6945"/>
                <a:ext cx="1459" cy="3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配置管理</a:t>
                </a:r>
                <a:endParaRPr lang="zh-CN" altLang="en-US" sz="1000" dirty="0">
                  <a:solidFill>
                    <a:schemeClr val="tx1"/>
                  </a:solidFill>
                  <a:latin typeface="微软雅黑" panose="020B0503020204020204" charset="-122"/>
                  <a:ea typeface="微软雅黑" panose="020B0503020204020204" charset="-122"/>
                </a:endParaRPr>
              </a:p>
            </p:txBody>
          </p:sp>
          <p:sp>
            <p:nvSpPr>
              <p:cNvPr id="20" name="矩形 19"/>
              <p:cNvSpPr/>
              <p:nvPr/>
            </p:nvSpPr>
            <p:spPr>
              <a:xfrm>
                <a:off x="1518" y="6562"/>
                <a:ext cx="1459" cy="3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目录同步</a:t>
                </a:r>
                <a:endParaRPr lang="zh-CN" altLang="en-US" sz="1000" dirty="0">
                  <a:solidFill>
                    <a:schemeClr val="tx1"/>
                  </a:solidFill>
                  <a:latin typeface="微软雅黑" panose="020B0503020204020204" charset="-122"/>
                  <a:ea typeface="微软雅黑" panose="020B0503020204020204" charset="-122"/>
                </a:endParaRPr>
              </a:p>
            </p:txBody>
          </p:sp>
          <p:sp>
            <p:nvSpPr>
              <p:cNvPr id="21" name="矩形 20"/>
              <p:cNvSpPr/>
              <p:nvPr/>
            </p:nvSpPr>
            <p:spPr>
              <a:xfrm>
                <a:off x="1518" y="6193"/>
                <a:ext cx="1459" cy="3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文档探察</a:t>
                </a:r>
                <a:endParaRPr lang="zh-CN" altLang="en-US" sz="1000" dirty="0">
                  <a:solidFill>
                    <a:schemeClr val="tx1"/>
                  </a:solidFill>
                  <a:latin typeface="微软雅黑" panose="020B0503020204020204" charset="-122"/>
                  <a:ea typeface="微软雅黑" panose="020B0503020204020204" charset="-122"/>
                </a:endParaRPr>
              </a:p>
            </p:txBody>
          </p:sp>
        </p:grpSp>
        <p:sp>
          <p:nvSpPr>
            <p:cNvPr id="60" name="矩形 59"/>
            <p:cNvSpPr/>
            <p:nvPr/>
          </p:nvSpPr>
          <p:spPr>
            <a:xfrm>
              <a:off x="3336" y="5798"/>
              <a:ext cx="3291"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文档预处理</a:t>
              </a:r>
              <a:endParaRPr lang="en-US" sz="1200" b="1" dirty="0">
                <a:solidFill>
                  <a:srgbClr val="0047AB"/>
                </a:solidFill>
                <a:latin typeface="微软雅黑" panose="020B0503020204020204" charset="-122"/>
                <a:ea typeface="微软雅黑" panose="020B0503020204020204" charset="-122"/>
                <a:cs typeface="微软雅黑" panose="020B0503020204020204" charset="-122"/>
              </a:endParaRPr>
            </a:p>
            <a:p>
              <a:pPr marL="0" indent="0" algn="ctr">
                <a:lnSpc>
                  <a:spcPct val="100000"/>
                </a:lnSpc>
              </a:pPr>
              <a:endParaRPr lang="en-US"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36" name="组合 35"/>
            <p:cNvGrpSpPr/>
            <p:nvPr/>
          </p:nvGrpSpPr>
          <p:grpSpPr>
            <a:xfrm>
              <a:off x="3474" y="6290"/>
              <a:ext cx="2989" cy="934"/>
              <a:chOff x="3474" y="6290"/>
              <a:chExt cx="2758" cy="934"/>
            </a:xfrm>
          </p:grpSpPr>
          <p:sp>
            <p:nvSpPr>
              <p:cNvPr id="31" name="矩形 30"/>
              <p:cNvSpPr/>
              <p:nvPr/>
            </p:nvSpPr>
            <p:spPr>
              <a:xfrm>
                <a:off x="3474" y="6290"/>
                <a:ext cx="863"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文档导入</a:t>
                </a:r>
                <a:endParaRPr lang="zh-CN" altLang="en-US" sz="1000" dirty="0">
                  <a:solidFill>
                    <a:schemeClr val="tx1"/>
                  </a:solidFill>
                  <a:latin typeface="微软雅黑" panose="020B0503020204020204" charset="-122"/>
                  <a:ea typeface="微软雅黑" panose="020B0503020204020204" charset="-122"/>
                </a:endParaRPr>
              </a:p>
            </p:txBody>
          </p:sp>
          <p:sp>
            <p:nvSpPr>
              <p:cNvPr id="29" name="矩形 28"/>
              <p:cNvSpPr/>
              <p:nvPr/>
            </p:nvSpPr>
            <p:spPr>
              <a:xfrm>
                <a:off x="4429" y="6290"/>
                <a:ext cx="863"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摘要生成</a:t>
                </a:r>
                <a:endParaRPr lang="zh-CN" altLang="en-US" sz="1000" dirty="0">
                  <a:solidFill>
                    <a:schemeClr val="tx1"/>
                  </a:solidFill>
                  <a:latin typeface="微软雅黑" panose="020B0503020204020204" charset="-122"/>
                  <a:ea typeface="微软雅黑" panose="020B0503020204020204" charset="-122"/>
                </a:endParaRPr>
              </a:p>
            </p:txBody>
          </p:sp>
          <p:sp>
            <p:nvSpPr>
              <p:cNvPr id="33" name="矩形 32"/>
              <p:cNvSpPr/>
              <p:nvPr/>
            </p:nvSpPr>
            <p:spPr>
              <a:xfrm>
                <a:off x="5370" y="6290"/>
                <a:ext cx="863"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智能解析</a:t>
                </a:r>
                <a:endParaRPr lang="zh-CN" altLang="en-US" sz="1000" dirty="0">
                  <a:solidFill>
                    <a:schemeClr val="tx1"/>
                  </a:solidFill>
                  <a:latin typeface="微软雅黑" panose="020B0503020204020204" charset="-122"/>
                  <a:ea typeface="微软雅黑" panose="020B0503020204020204" charset="-122"/>
                </a:endParaRPr>
              </a:p>
            </p:txBody>
          </p:sp>
        </p:grpSp>
        <p:sp>
          <p:nvSpPr>
            <p:cNvPr id="34" name="矩形 33"/>
            <p:cNvSpPr/>
            <p:nvPr/>
          </p:nvSpPr>
          <p:spPr>
            <a:xfrm>
              <a:off x="6779" y="5829"/>
              <a:ext cx="3646"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indent="0" algn="ctr">
                <a:lnSpc>
                  <a:spcPct val="100000"/>
                </a:lnSpc>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元数据自动化采集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5" name="矩形 34"/>
            <p:cNvSpPr/>
            <p:nvPr/>
          </p:nvSpPr>
          <p:spPr>
            <a:xfrm>
              <a:off x="6912" y="6298"/>
              <a:ext cx="1069"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采集</a:t>
              </a:r>
              <a:endParaRPr lang="zh-CN" altLang="en-US" sz="1000" dirty="0">
                <a:solidFill>
                  <a:schemeClr val="tx1"/>
                </a:solidFill>
                <a:latin typeface="微软雅黑" panose="020B0503020204020204" charset="-122"/>
                <a:ea typeface="微软雅黑" panose="020B0503020204020204" charset="-122"/>
              </a:endParaRPr>
            </a:p>
          </p:txBody>
        </p:sp>
        <p:sp>
          <p:nvSpPr>
            <p:cNvPr id="37" name="矩形 36"/>
            <p:cNvSpPr/>
            <p:nvPr/>
          </p:nvSpPr>
          <p:spPr>
            <a:xfrm>
              <a:off x="8091" y="6313"/>
              <a:ext cx="1069"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采集</a:t>
              </a:r>
              <a:endParaRPr lang="zh-CN" altLang="en-US" sz="1000" dirty="0">
                <a:solidFill>
                  <a:schemeClr val="tx1"/>
                </a:solidFill>
                <a:latin typeface="微软雅黑" panose="020B0503020204020204" charset="-122"/>
                <a:ea typeface="微软雅黑" panose="020B0503020204020204" charset="-122"/>
              </a:endParaRPr>
            </a:p>
          </p:txBody>
        </p:sp>
        <p:sp>
          <p:nvSpPr>
            <p:cNvPr id="38" name="矩形 37"/>
            <p:cNvSpPr/>
            <p:nvPr/>
          </p:nvSpPr>
          <p:spPr>
            <a:xfrm>
              <a:off x="9270" y="6299"/>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采集</a:t>
              </a:r>
              <a:endParaRPr lang="zh-CN" altLang="en-US" sz="1000" dirty="0">
                <a:solidFill>
                  <a:schemeClr val="tx1"/>
                </a:solidFill>
                <a:latin typeface="微软雅黑" panose="020B0503020204020204" charset="-122"/>
                <a:ea typeface="微软雅黑" panose="020B0503020204020204" charset="-122"/>
              </a:endParaRPr>
            </a:p>
          </p:txBody>
        </p:sp>
        <p:sp>
          <p:nvSpPr>
            <p:cNvPr id="40" name="矩形 39"/>
            <p:cNvSpPr/>
            <p:nvPr/>
          </p:nvSpPr>
          <p:spPr>
            <a:xfrm>
              <a:off x="10568" y="5815"/>
              <a:ext cx="3573"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indent="0" algn="ctr">
                <a:lnSpc>
                  <a:spcPct val="100000"/>
                </a:lnSpc>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元数据校验注册</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1" name="矩形 40"/>
            <p:cNvSpPr/>
            <p:nvPr/>
          </p:nvSpPr>
          <p:spPr>
            <a:xfrm>
              <a:off x="10684" y="6299"/>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标准</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校验</a:t>
              </a:r>
              <a:endParaRPr lang="zh-CN" altLang="en-US" sz="1000" dirty="0">
                <a:solidFill>
                  <a:schemeClr val="tx1"/>
                </a:solidFill>
                <a:latin typeface="微软雅黑" panose="020B0503020204020204" charset="-122"/>
                <a:ea typeface="微软雅黑" panose="020B0503020204020204" charset="-122"/>
              </a:endParaRPr>
            </a:p>
          </p:txBody>
        </p:sp>
        <p:sp>
          <p:nvSpPr>
            <p:cNvPr id="42" name="矩形 41"/>
            <p:cNvSpPr/>
            <p:nvPr/>
          </p:nvSpPr>
          <p:spPr>
            <a:xfrm>
              <a:off x="11832" y="6314"/>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手工</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补全</a:t>
              </a:r>
              <a:endParaRPr lang="zh-CN" altLang="en-US" sz="1000" dirty="0">
                <a:solidFill>
                  <a:schemeClr val="tx1"/>
                </a:solidFill>
                <a:latin typeface="微软雅黑" panose="020B0503020204020204" charset="-122"/>
                <a:ea typeface="微软雅黑" panose="020B0503020204020204" charset="-122"/>
              </a:endParaRPr>
            </a:p>
          </p:txBody>
        </p:sp>
        <p:sp>
          <p:nvSpPr>
            <p:cNvPr id="43" name="矩形 42"/>
            <p:cNvSpPr/>
            <p:nvPr/>
          </p:nvSpPr>
          <p:spPr>
            <a:xfrm>
              <a:off x="12963" y="6314"/>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登记</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注册</a:t>
              </a:r>
              <a:endParaRPr lang="zh-CN" altLang="en-US" sz="1000" dirty="0">
                <a:solidFill>
                  <a:schemeClr val="tx1"/>
                </a:solidFill>
                <a:latin typeface="微软雅黑" panose="020B0503020204020204" charset="-122"/>
                <a:ea typeface="微软雅黑" panose="020B0503020204020204" charset="-122"/>
              </a:endParaRPr>
            </a:p>
          </p:txBody>
        </p:sp>
        <p:sp>
          <p:nvSpPr>
            <p:cNvPr id="44" name="矩形 43"/>
            <p:cNvSpPr/>
            <p:nvPr/>
          </p:nvSpPr>
          <p:spPr>
            <a:xfrm>
              <a:off x="14258" y="5806"/>
              <a:ext cx="3573" cy="1581"/>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indent="0" algn="ctr">
                <a:lnSpc>
                  <a:spcPct val="100000"/>
                </a:lnSpc>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文档校验存储</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5" name="矩形 44"/>
            <p:cNvSpPr/>
            <p:nvPr/>
          </p:nvSpPr>
          <p:spPr>
            <a:xfrm>
              <a:off x="14374" y="6308"/>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摘要</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比对</a:t>
              </a:r>
              <a:endParaRPr lang="zh-CN" altLang="en-US" sz="1000" dirty="0">
                <a:solidFill>
                  <a:schemeClr val="tx1"/>
                </a:solidFill>
                <a:latin typeface="微软雅黑" panose="020B0503020204020204" charset="-122"/>
                <a:ea typeface="微软雅黑" panose="020B0503020204020204" charset="-122"/>
              </a:endParaRPr>
            </a:p>
          </p:txBody>
        </p:sp>
        <p:sp>
          <p:nvSpPr>
            <p:cNvPr id="46" name="矩形 45"/>
            <p:cNvSpPr/>
            <p:nvPr/>
          </p:nvSpPr>
          <p:spPr>
            <a:xfrm>
              <a:off x="15522" y="6323"/>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内容</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比对</a:t>
              </a:r>
              <a:endParaRPr lang="zh-CN" altLang="en-US" sz="1000" dirty="0">
                <a:solidFill>
                  <a:schemeClr val="tx1"/>
                </a:solidFill>
                <a:latin typeface="微软雅黑" panose="020B0503020204020204" charset="-122"/>
                <a:ea typeface="微软雅黑" panose="020B0503020204020204" charset="-122"/>
              </a:endParaRPr>
            </a:p>
          </p:txBody>
        </p:sp>
        <p:sp>
          <p:nvSpPr>
            <p:cNvPr id="47" name="矩形 46"/>
            <p:cNvSpPr/>
            <p:nvPr/>
          </p:nvSpPr>
          <p:spPr>
            <a:xfrm>
              <a:off x="16653" y="6323"/>
              <a:ext cx="1069" cy="932"/>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存储</a:t>
              </a:r>
              <a:endParaRPr lang="zh-CN" altLang="en-US" sz="1000" dirty="0">
                <a:solidFill>
                  <a:schemeClr val="tx1"/>
                </a:solidFill>
                <a:latin typeface="微软雅黑" panose="020B0503020204020204" charset="-122"/>
                <a:ea typeface="微软雅黑" panose="020B0503020204020204" charset="-122"/>
              </a:endParaRPr>
            </a:p>
          </p:txBody>
        </p:sp>
      </p:grpSp>
      <p:sp>
        <p:nvSpPr>
          <p:cNvPr id="49" name="矩形 48"/>
          <p:cNvSpPr/>
          <p:nvPr/>
        </p:nvSpPr>
        <p:spPr>
          <a:xfrm>
            <a:off x="155213" y="2176838"/>
            <a:ext cx="11881574" cy="136304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资源</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管理</a:t>
            </a:r>
            <a:endParaRPr lang="zh-CN" altLang="en-US" sz="1400" b="1" dirty="0">
              <a:solidFill>
                <a:schemeClr val="tx2"/>
              </a:solidFill>
              <a:latin typeface="微软雅黑" panose="020B0503020204020204" charset="-122"/>
              <a:ea typeface="微软雅黑" panose="020B0503020204020204" charset="-122"/>
            </a:endParaRPr>
          </a:p>
        </p:txBody>
      </p:sp>
      <p:sp>
        <p:nvSpPr>
          <p:cNvPr id="266" name="矩形 265"/>
          <p:cNvSpPr/>
          <p:nvPr/>
        </p:nvSpPr>
        <p:spPr>
          <a:xfrm>
            <a:off x="155213" y="993972"/>
            <a:ext cx="11881574" cy="1082551"/>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知识</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目录</a:t>
            </a:r>
            <a:endParaRPr lang="zh-CN" altLang="en-US" sz="1400" b="1" dirty="0">
              <a:solidFill>
                <a:schemeClr val="tx2"/>
              </a:solidFill>
              <a:latin typeface="微软雅黑" panose="020B0503020204020204" charset="-122"/>
              <a:ea typeface="微软雅黑" panose="020B0503020204020204" charset="-122"/>
            </a:endParaRPr>
          </a:p>
        </p:txBody>
      </p:sp>
      <p:sp>
        <p:nvSpPr>
          <p:cNvPr id="267" name="矩形 266"/>
          <p:cNvSpPr/>
          <p:nvPr/>
        </p:nvSpPr>
        <p:spPr>
          <a:xfrm>
            <a:off x="870585" y="1104265"/>
            <a:ext cx="2232660" cy="8826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知识目录管理</a:t>
            </a:r>
            <a:endParaRPr lang="en-US"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68" name="矩形 267"/>
          <p:cNvSpPr/>
          <p:nvPr/>
        </p:nvSpPr>
        <p:spPr>
          <a:xfrm>
            <a:off x="951230" y="1442720"/>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文档目录编辑</a:t>
            </a:r>
            <a:endParaRPr lang="zh-CN" altLang="en-US" sz="1000" dirty="0">
              <a:solidFill>
                <a:schemeClr val="tx1"/>
              </a:solidFill>
              <a:latin typeface="微软雅黑" panose="020B0503020204020204" charset="-122"/>
              <a:ea typeface="微软雅黑" panose="020B0503020204020204" charset="-122"/>
            </a:endParaRPr>
          </a:p>
        </p:txBody>
      </p:sp>
      <p:sp>
        <p:nvSpPr>
          <p:cNvPr id="269" name="矩形 268"/>
          <p:cNvSpPr/>
          <p:nvPr/>
        </p:nvSpPr>
        <p:spPr>
          <a:xfrm>
            <a:off x="1652905" y="1441450"/>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文档目录审核</a:t>
            </a:r>
            <a:endParaRPr lang="zh-CN" altLang="en-US" sz="1000" dirty="0">
              <a:solidFill>
                <a:schemeClr val="tx1"/>
              </a:solidFill>
              <a:latin typeface="微软雅黑" panose="020B0503020204020204" charset="-122"/>
              <a:ea typeface="微软雅黑" panose="020B0503020204020204" charset="-122"/>
            </a:endParaRPr>
          </a:p>
        </p:txBody>
      </p:sp>
      <p:sp>
        <p:nvSpPr>
          <p:cNvPr id="270" name="矩形 269"/>
          <p:cNvSpPr/>
          <p:nvPr/>
        </p:nvSpPr>
        <p:spPr>
          <a:xfrm>
            <a:off x="2355215" y="1438910"/>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文档目录发布</a:t>
            </a:r>
            <a:endParaRPr lang="zh-CN" altLang="en-US" sz="1000" dirty="0">
              <a:solidFill>
                <a:schemeClr val="tx1"/>
              </a:solidFill>
              <a:latin typeface="微软雅黑" panose="020B0503020204020204" charset="-122"/>
              <a:ea typeface="微软雅黑" panose="020B0503020204020204" charset="-122"/>
            </a:endParaRPr>
          </a:p>
        </p:txBody>
      </p:sp>
      <p:sp>
        <p:nvSpPr>
          <p:cNvPr id="271" name="矩形 270"/>
          <p:cNvSpPr/>
          <p:nvPr/>
        </p:nvSpPr>
        <p:spPr>
          <a:xfrm>
            <a:off x="3171825" y="1094105"/>
            <a:ext cx="4498340" cy="8826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目录视图</a:t>
            </a:r>
            <a:endParaRPr lang="en-US"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72" name="矩形 271"/>
          <p:cNvSpPr/>
          <p:nvPr/>
        </p:nvSpPr>
        <p:spPr>
          <a:xfrm>
            <a:off x="3275965" y="1445895"/>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源端目录视图</a:t>
            </a:r>
            <a:endParaRPr lang="en-US" altLang="zh-CN" sz="1000" dirty="0">
              <a:solidFill>
                <a:schemeClr val="tx1"/>
              </a:solidFill>
              <a:latin typeface="微软雅黑" panose="020B0503020204020204" charset="-122"/>
              <a:ea typeface="微软雅黑" panose="020B0503020204020204" charset="-122"/>
            </a:endParaRPr>
          </a:p>
        </p:txBody>
      </p:sp>
      <p:sp>
        <p:nvSpPr>
          <p:cNvPr id="273" name="矩形 272"/>
          <p:cNvSpPr/>
          <p:nvPr/>
        </p:nvSpPr>
        <p:spPr>
          <a:xfrm>
            <a:off x="4006215" y="1438910"/>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业务目录视图</a:t>
            </a:r>
            <a:endParaRPr lang="zh-CN" altLang="en-US" sz="1000" dirty="0">
              <a:solidFill>
                <a:schemeClr val="tx1"/>
              </a:solidFill>
              <a:latin typeface="微软雅黑" panose="020B0503020204020204" charset="-122"/>
              <a:ea typeface="微软雅黑" panose="020B0503020204020204" charset="-122"/>
            </a:endParaRPr>
          </a:p>
        </p:txBody>
      </p:sp>
      <p:sp>
        <p:nvSpPr>
          <p:cNvPr id="274" name="矩形 273"/>
          <p:cNvSpPr/>
          <p:nvPr/>
        </p:nvSpPr>
        <p:spPr>
          <a:xfrm>
            <a:off x="4737100" y="1440180"/>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管理目录视图</a:t>
            </a:r>
            <a:endParaRPr lang="zh-CN" altLang="en-US" sz="1000" dirty="0">
              <a:solidFill>
                <a:schemeClr val="tx1"/>
              </a:solidFill>
              <a:latin typeface="微软雅黑" panose="020B0503020204020204" charset="-122"/>
              <a:ea typeface="微软雅黑" panose="020B0503020204020204" charset="-122"/>
            </a:endParaRPr>
          </a:p>
        </p:txBody>
      </p:sp>
      <p:sp>
        <p:nvSpPr>
          <p:cNvPr id="275" name="矩形 274"/>
          <p:cNvSpPr/>
          <p:nvPr/>
        </p:nvSpPr>
        <p:spPr>
          <a:xfrm>
            <a:off x="5467985" y="1447800"/>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技术目录视图</a:t>
            </a:r>
            <a:endParaRPr lang="zh-CN" altLang="en-US" sz="1000" dirty="0">
              <a:solidFill>
                <a:schemeClr val="tx1"/>
              </a:solidFill>
              <a:latin typeface="微软雅黑" panose="020B0503020204020204" charset="-122"/>
              <a:ea typeface="微软雅黑" panose="020B0503020204020204" charset="-122"/>
            </a:endParaRPr>
          </a:p>
        </p:txBody>
      </p:sp>
      <p:sp>
        <p:nvSpPr>
          <p:cNvPr id="276" name="矩形 275"/>
          <p:cNvSpPr/>
          <p:nvPr/>
        </p:nvSpPr>
        <p:spPr>
          <a:xfrm>
            <a:off x="6198235" y="1442085"/>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sz="1000" dirty="0">
                <a:solidFill>
                  <a:schemeClr val="tx1"/>
                </a:solidFill>
                <a:latin typeface="微软雅黑" panose="020B0503020204020204" charset="-122"/>
                <a:ea typeface="微软雅黑" panose="020B0503020204020204" charset="-122"/>
              </a:rPr>
              <a:t>应用</a:t>
            </a:r>
            <a:r>
              <a:rPr lang="zh-CN" altLang="en-US" sz="1000" dirty="0">
                <a:solidFill>
                  <a:schemeClr val="tx1"/>
                </a:solidFill>
                <a:latin typeface="微软雅黑" panose="020B0503020204020204" charset="-122"/>
                <a:ea typeface="微软雅黑" panose="020B0503020204020204" charset="-122"/>
              </a:rPr>
              <a:t>目录视图</a:t>
            </a:r>
            <a:endParaRPr lang="zh-CN" altLang="en-US" sz="1000" dirty="0">
              <a:solidFill>
                <a:schemeClr val="tx1"/>
              </a:solidFill>
              <a:latin typeface="微软雅黑" panose="020B0503020204020204" charset="-122"/>
              <a:ea typeface="微软雅黑" panose="020B0503020204020204" charset="-122"/>
            </a:endParaRPr>
          </a:p>
        </p:txBody>
      </p:sp>
      <p:sp>
        <p:nvSpPr>
          <p:cNvPr id="277" name="矩形 276"/>
          <p:cNvSpPr/>
          <p:nvPr/>
        </p:nvSpPr>
        <p:spPr>
          <a:xfrm>
            <a:off x="6929120" y="1436370"/>
            <a:ext cx="64897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个人目录视图</a:t>
            </a:r>
            <a:endParaRPr lang="zh-CN" altLang="en-US" sz="1000" dirty="0">
              <a:solidFill>
                <a:schemeClr val="tx1"/>
              </a:solidFill>
              <a:latin typeface="微软雅黑" panose="020B0503020204020204" charset="-122"/>
              <a:ea typeface="微软雅黑" panose="020B0503020204020204" charset="-122"/>
            </a:endParaRPr>
          </a:p>
        </p:txBody>
      </p:sp>
      <p:sp>
        <p:nvSpPr>
          <p:cNvPr id="278" name="矩形 277"/>
          <p:cNvSpPr/>
          <p:nvPr/>
        </p:nvSpPr>
        <p:spPr>
          <a:xfrm>
            <a:off x="7753350" y="1099820"/>
            <a:ext cx="4197985" cy="8826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检索及授权服务</a:t>
            </a:r>
            <a:endParaRPr lang="en-US"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79" name="矩形 278"/>
          <p:cNvSpPr/>
          <p:nvPr/>
        </p:nvSpPr>
        <p:spPr>
          <a:xfrm>
            <a:off x="7847965" y="1438910"/>
            <a:ext cx="1022350"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知识</a:t>
            </a:r>
            <a:endParaRPr lang="en-US" altLang="zh-CN"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档案服务</a:t>
            </a:r>
            <a:endParaRPr lang="en-US" altLang="zh-CN" sz="1000" dirty="0">
              <a:solidFill>
                <a:schemeClr val="tx1"/>
              </a:solidFill>
              <a:latin typeface="微软雅黑" panose="020B0503020204020204" charset="-122"/>
              <a:ea typeface="微软雅黑" panose="020B0503020204020204" charset="-122"/>
            </a:endParaRPr>
          </a:p>
        </p:txBody>
      </p:sp>
      <p:sp>
        <p:nvSpPr>
          <p:cNvPr id="280" name="矩形 279"/>
          <p:cNvSpPr/>
          <p:nvPr/>
        </p:nvSpPr>
        <p:spPr>
          <a:xfrm>
            <a:off x="8935085" y="1433195"/>
            <a:ext cx="678815"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基础索引服务</a:t>
            </a:r>
            <a:endParaRPr lang="en-US" altLang="zh-CN" sz="1000" dirty="0">
              <a:solidFill>
                <a:schemeClr val="tx1"/>
              </a:solidFill>
              <a:latin typeface="微软雅黑" panose="020B0503020204020204" charset="-122"/>
              <a:ea typeface="微软雅黑" panose="020B0503020204020204" charset="-122"/>
            </a:endParaRPr>
          </a:p>
        </p:txBody>
      </p:sp>
      <p:sp>
        <p:nvSpPr>
          <p:cNvPr id="281" name="矩形 280"/>
          <p:cNvSpPr/>
          <p:nvPr/>
        </p:nvSpPr>
        <p:spPr>
          <a:xfrm>
            <a:off x="9678035" y="1438910"/>
            <a:ext cx="678815"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标签索引服务</a:t>
            </a:r>
            <a:endParaRPr lang="en-US" altLang="zh-CN" sz="1000" dirty="0">
              <a:solidFill>
                <a:schemeClr val="tx1"/>
              </a:solidFill>
              <a:latin typeface="微软雅黑" panose="020B0503020204020204" charset="-122"/>
              <a:ea typeface="微软雅黑" panose="020B0503020204020204" charset="-122"/>
            </a:endParaRPr>
          </a:p>
        </p:txBody>
      </p:sp>
      <p:sp>
        <p:nvSpPr>
          <p:cNvPr id="282" name="矩形 281"/>
          <p:cNvSpPr/>
          <p:nvPr/>
        </p:nvSpPr>
        <p:spPr>
          <a:xfrm>
            <a:off x="10420350" y="1438910"/>
            <a:ext cx="678815"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文档申请服务</a:t>
            </a:r>
            <a:endParaRPr lang="en-US" altLang="zh-CN" sz="1000" dirty="0">
              <a:solidFill>
                <a:schemeClr val="tx1"/>
              </a:solidFill>
              <a:latin typeface="微软雅黑" panose="020B0503020204020204" charset="-122"/>
              <a:ea typeface="微软雅黑" panose="020B0503020204020204" charset="-122"/>
            </a:endParaRPr>
          </a:p>
        </p:txBody>
      </p:sp>
      <p:sp>
        <p:nvSpPr>
          <p:cNvPr id="283" name="矩形 282"/>
          <p:cNvSpPr/>
          <p:nvPr/>
        </p:nvSpPr>
        <p:spPr>
          <a:xfrm>
            <a:off x="11163935" y="1437005"/>
            <a:ext cx="678815" cy="4870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文档授权服务</a:t>
            </a:r>
            <a:endParaRPr lang="en-US" altLang="zh-CN" sz="1000" dirty="0">
              <a:solidFill>
                <a:schemeClr val="tx1"/>
              </a:solidFill>
              <a:latin typeface="微软雅黑" panose="020B0503020204020204" charset="-122"/>
              <a:ea typeface="微软雅黑" panose="020B0503020204020204" charset="-122"/>
            </a:endParaRPr>
          </a:p>
        </p:txBody>
      </p:sp>
      <p:cxnSp>
        <p:nvCxnSpPr>
          <p:cNvPr id="57" name="肘形连接符 56"/>
          <p:cNvCxnSpPr>
            <a:stCxn id="24" idx="0"/>
            <a:endCxn id="17" idx="2"/>
          </p:cNvCxnSpPr>
          <p:nvPr/>
        </p:nvCxnSpPr>
        <p:spPr>
          <a:xfrm rot="16200000" flipV="1">
            <a:off x="1631633" y="4538663"/>
            <a:ext cx="245110" cy="569595"/>
          </a:xfrm>
          <a:prstGeom prst="bentConnector3">
            <a:avLst>
              <a:gd name="adj1" fmla="val 50130"/>
            </a:avLst>
          </a:prstGeom>
          <a:ln>
            <a:solidFill>
              <a:schemeClr val="bg2">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59" name="肘形连接符 58"/>
          <p:cNvCxnSpPr>
            <a:stCxn id="19" idx="0"/>
            <a:endCxn id="24" idx="2"/>
          </p:cNvCxnSpPr>
          <p:nvPr/>
        </p:nvCxnSpPr>
        <p:spPr>
          <a:xfrm rot="16200000" flipV="1">
            <a:off x="3807143" y="3523298"/>
            <a:ext cx="403225" cy="3939540"/>
          </a:xfrm>
          <a:prstGeom prst="bentConnector3">
            <a:avLst>
              <a:gd name="adj1" fmla="val 50000"/>
            </a:avLst>
          </a:prstGeom>
          <a:ln>
            <a:solidFill>
              <a:schemeClr val="bg2">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61" name="肘形连接符 60"/>
          <p:cNvCxnSpPr>
            <a:stCxn id="25" idx="0"/>
            <a:endCxn id="60" idx="2"/>
          </p:cNvCxnSpPr>
          <p:nvPr/>
        </p:nvCxnSpPr>
        <p:spPr>
          <a:xfrm rot="16200000" flipV="1">
            <a:off x="3691573" y="4285298"/>
            <a:ext cx="259715" cy="1060450"/>
          </a:xfrm>
          <a:prstGeom prst="bentConnector3">
            <a:avLst>
              <a:gd name="adj1" fmla="val 50000"/>
            </a:avLst>
          </a:prstGeom>
          <a:ln>
            <a:solidFill>
              <a:schemeClr val="bg2">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62" name="肘形连接符 61"/>
          <p:cNvCxnSpPr>
            <a:stCxn id="19" idx="0"/>
            <a:endCxn id="28" idx="2"/>
          </p:cNvCxnSpPr>
          <p:nvPr/>
        </p:nvCxnSpPr>
        <p:spPr>
          <a:xfrm rot="16200000">
            <a:off x="6095365" y="5169535"/>
            <a:ext cx="408305" cy="641985"/>
          </a:xfrm>
          <a:prstGeom prst="bentConnector3">
            <a:avLst>
              <a:gd name="adj1" fmla="val 49922"/>
            </a:avLst>
          </a:prstGeom>
          <a:ln>
            <a:solidFill>
              <a:schemeClr val="bg2">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21" name="肘形连接符 120"/>
          <p:cNvCxnSpPr>
            <a:stCxn id="28" idx="0"/>
            <a:endCxn id="34" idx="2"/>
          </p:cNvCxnSpPr>
          <p:nvPr/>
        </p:nvCxnSpPr>
        <p:spPr>
          <a:xfrm rot="16200000" flipV="1">
            <a:off x="6048693" y="4373563"/>
            <a:ext cx="240030" cy="903605"/>
          </a:xfrm>
          <a:prstGeom prst="bentConnector3">
            <a:avLst>
              <a:gd name="adj1" fmla="val 50132"/>
            </a:avLst>
          </a:prstGeom>
          <a:ln>
            <a:solidFill>
              <a:schemeClr val="bg2">
                <a:lumMod val="75000"/>
              </a:schemeClr>
            </a:solidFill>
            <a:tailEnd type="arrow"/>
          </a:ln>
        </p:spPr>
        <p:style>
          <a:lnRef idx="2">
            <a:schemeClr val="accent1"/>
          </a:lnRef>
          <a:fillRef idx="0">
            <a:srgbClr val="FFFFFF"/>
          </a:fillRef>
          <a:effectRef idx="0">
            <a:srgbClr val="FFFFFF"/>
          </a:effectRef>
          <a:fontRef idx="minor">
            <a:schemeClr val="tx1"/>
          </a:fontRef>
        </p:style>
      </p:cxnSp>
      <p:cxnSp>
        <p:nvCxnSpPr>
          <p:cNvPr id="122" name="直接箭头连接符 121"/>
          <p:cNvCxnSpPr>
            <a:stCxn id="22" idx="1"/>
            <a:endCxn id="28" idx="3"/>
          </p:cNvCxnSpPr>
          <p:nvPr/>
        </p:nvCxnSpPr>
        <p:spPr>
          <a:xfrm flipH="1">
            <a:off x="7665085" y="5112385"/>
            <a:ext cx="325120" cy="3810"/>
          </a:xfrm>
          <a:prstGeom prst="straightConnector1">
            <a:avLst/>
          </a:prstGeom>
          <a:ln>
            <a:solidFill>
              <a:schemeClr val="bg2">
                <a:lumMod val="75000"/>
              </a:schemeClr>
            </a:solidFill>
            <a:tailEnd type="arrow"/>
          </a:ln>
        </p:spPr>
        <p:style>
          <a:lnRef idx="2">
            <a:schemeClr val="accent1"/>
          </a:lnRef>
          <a:fillRef idx="0">
            <a:srgbClr val="FFFFFF"/>
          </a:fillRef>
          <a:effectRef idx="0">
            <a:srgbClr val="FFFFFF"/>
          </a:effectRef>
          <a:fontRef idx="minor">
            <a:schemeClr val="tx1"/>
          </a:fontRef>
        </p:style>
      </p:cxnSp>
      <p:grpSp>
        <p:nvGrpSpPr>
          <p:cNvPr id="3" name="组合 2"/>
          <p:cNvGrpSpPr/>
          <p:nvPr/>
        </p:nvGrpSpPr>
        <p:grpSpPr>
          <a:xfrm>
            <a:off x="864870" y="2235835"/>
            <a:ext cx="10921655" cy="1248287"/>
            <a:chOff x="1362" y="3521"/>
            <a:chExt cx="13778" cy="1966"/>
          </a:xfrm>
        </p:grpSpPr>
        <p:cxnSp>
          <p:nvCxnSpPr>
            <p:cNvPr id="181" name="直接连接符 180"/>
            <p:cNvCxnSpPr/>
            <p:nvPr/>
          </p:nvCxnSpPr>
          <p:spPr>
            <a:xfrm>
              <a:off x="7503" y="3738"/>
              <a:ext cx="0" cy="169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7722" y="3541"/>
              <a:ext cx="4948" cy="1908"/>
              <a:chOff x="9297" y="3541"/>
              <a:chExt cx="5842" cy="1908"/>
            </a:xfrm>
          </p:grpSpPr>
          <p:sp>
            <p:nvSpPr>
              <p:cNvPr id="183" name="文本框 182"/>
              <p:cNvSpPr txBox="1"/>
              <p:nvPr/>
            </p:nvSpPr>
            <p:spPr>
              <a:xfrm>
                <a:off x="11028" y="3541"/>
                <a:ext cx="2396" cy="434"/>
              </a:xfrm>
              <a:prstGeom prst="rect">
                <a:avLst/>
              </a:prstGeom>
              <a:noFill/>
            </p:spPr>
            <p:txBody>
              <a:bodyPr wrap="square" rtlCol="0">
                <a:spAutoFit/>
              </a:bodyPr>
              <a:lstStyle/>
              <a:p>
                <a:r>
                  <a:rPr lang="zh-CN" altLang="en-US" sz="1200" b="1" dirty="0">
                    <a:solidFill>
                      <a:schemeClr val="tx2"/>
                    </a:solidFill>
                    <a:latin typeface="微软雅黑" panose="020B0503020204020204" charset="-122"/>
                    <a:ea typeface="微软雅黑" panose="020B0503020204020204" charset="-122"/>
                  </a:rPr>
                  <a:t>知识标签管理</a:t>
                </a:r>
                <a:endParaRPr lang="zh-CN" altLang="en-US" sz="1200" b="1" dirty="0">
                  <a:solidFill>
                    <a:schemeClr val="tx2"/>
                  </a:solidFill>
                  <a:latin typeface="微软雅黑" panose="020B0503020204020204" charset="-122"/>
                  <a:ea typeface="微软雅黑" panose="020B0503020204020204" charset="-122"/>
                </a:endParaRPr>
              </a:p>
            </p:txBody>
          </p:sp>
          <p:grpSp>
            <p:nvGrpSpPr>
              <p:cNvPr id="52" name="组合 51"/>
              <p:cNvGrpSpPr/>
              <p:nvPr/>
            </p:nvGrpSpPr>
            <p:grpSpPr>
              <a:xfrm>
                <a:off x="9297" y="4029"/>
                <a:ext cx="5842" cy="1420"/>
                <a:chOff x="11919" y="4029"/>
                <a:chExt cx="6900" cy="1420"/>
              </a:xfrm>
            </p:grpSpPr>
            <p:sp>
              <p:nvSpPr>
                <p:cNvPr id="256" name="矩形 255"/>
                <p:cNvSpPr/>
                <p:nvPr/>
              </p:nvSpPr>
              <p:spPr>
                <a:xfrm>
                  <a:off x="11919" y="4047"/>
                  <a:ext cx="2227" cy="140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rPr>
                    <a:t>业务属性标签</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57" name="矩形 256"/>
                <p:cNvSpPr/>
                <p:nvPr/>
              </p:nvSpPr>
              <p:spPr>
                <a:xfrm>
                  <a:off x="14256" y="4029"/>
                  <a:ext cx="2227" cy="140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rPr>
                    <a:t>管理属性标签</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58" name="矩形 257"/>
                <p:cNvSpPr/>
                <p:nvPr/>
              </p:nvSpPr>
              <p:spPr>
                <a:xfrm>
                  <a:off x="16593" y="4033"/>
                  <a:ext cx="2227" cy="140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rPr>
                    <a:t>技术属性标签</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60" name="矩形 259"/>
                <p:cNvSpPr/>
                <p:nvPr/>
              </p:nvSpPr>
              <p:spPr>
                <a:xfrm>
                  <a:off x="12089" y="4576"/>
                  <a:ext cx="1893" cy="33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业务归属类</a:t>
                  </a:r>
                  <a:endParaRPr lang="en-US" altLang="zh-CN" sz="1000" dirty="0">
                    <a:solidFill>
                      <a:schemeClr val="tx1"/>
                    </a:solidFill>
                    <a:latin typeface="微软雅黑" panose="020B0503020204020204" charset="-122"/>
                    <a:ea typeface="微软雅黑" panose="020B0503020204020204" charset="-122"/>
                  </a:endParaRPr>
                </a:p>
              </p:txBody>
            </p:sp>
            <p:sp>
              <p:nvSpPr>
                <p:cNvPr id="261" name="矩形 260"/>
                <p:cNvSpPr/>
                <p:nvPr/>
              </p:nvSpPr>
              <p:spPr>
                <a:xfrm>
                  <a:off x="12086" y="4973"/>
                  <a:ext cx="1893" cy="33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业务术语类</a:t>
                  </a:r>
                  <a:endParaRPr lang="en-US" altLang="zh-CN" sz="1000" dirty="0">
                    <a:solidFill>
                      <a:schemeClr val="tx1"/>
                    </a:solidFill>
                    <a:latin typeface="微软雅黑" panose="020B0503020204020204" charset="-122"/>
                    <a:ea typeface="微软雅黑" panose="020B0503020204020204" charset="-122"/>
                  </a:endParaRPr>
                </a:p>
              </p:txBody>
            </p:sp>
            <p:sp>
              <p:nvSpPr>
                <p:cNvPr id="262" name="矩形 261"/>
                <p:cNvSpPr/>
                <p:nvPr/>
              </p:nvSpPr>
              <p:spPr>
                <a:xfrm>
                  <a:off x="14448" y="4569"/>
                  <a:ext cx="1893" cy="33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管理等级类</a:t>
                  </a:r>
                  <a:endParaRPr lang="en-US" altLang="zh-CN" sz="1000" dirty="0">
                    <a:solidFill>
                      <a:schemeClr val="tx1"/>
                    </a:solidFill>
                    <a:latin typeface="微软雅黑" panose="020B0503020204020204" charset="-122"/>
                    <a:ea typeface="微软雅黑" panose="020B0503020204020204" charset="-122"/>
                  </a:endParaRPr>
                </a:p>
              </p:txBody>
            </p:sp>
            <p:sp>
              <p:nvSpPr>
                <p:cNvPr id="263" name="矩形 262"/>
                <p:cNvSpPr/>
                <p:nvPr/>
              </p:nvSpPr>
              <p:spPr>
                <a:xfrm>
                  <a:off x="14460" y="4965"/>
                  <a:ext cx="1893" cy="33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管理权属类</a:t>
                  </a:r>
                  <a:endParaRPr lang="en-US" altLang="zh-CN" sz="1000" dirty="0">
                    <a:solidFill>
                      <a:schemeClr val="tx1"/>
                    </a:solidFill>
                    <a:latin typeface="微软雅黑" panose="020B0503020204020204" charset="-122"/>
                    <a:ea typeface="微软雅黑" panose="020B0503020204020204" charset="-122"/>
                  </a:endParaRPr>
                </a:p>
              </p:txBody>
            </p:sp>
            <p:sp>
              <p:nvSpPr>
                <p:cNvPr id="264" name="矩形 263"/>
                <p:cNvSpPr/>
                <p:nvPr/>
              </p:nvSpPr>
              <p:spPr>
                <a:xfrm>
                  <a:off x="16760" y="4580"/>
                  <a:ext cx="1893" cy="33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技术特征类</a:t>
                  </a:r>
                  <a:endParaRPr lang="en-US" altLang="zh-CN" sz="1000" dirty="0">
                    <a:solidFill>
                      <a:schemeClr val="tx1"/>
                    </a:solidFill>
                    <a:latin typeface="微软雅黑" panose="020B0503020204020204" charset="-122"/>
                    <a:ea typeface="微软雅黑" panose="020B0503020204020204" charset="-122"/>
                  </a:endParaRPr>
                </a:p>
              </p:txBody>
            </p:sp>
            <p:sp>
              <p:nvSpPr>
                <p:cNvPr id="265" name="矩形 264"/>
                <p:cNvSpPr/>
                <p:nvPr/>
              </p:nvSpPr>
              <p:spPr>
                <a:xfrm>
                  <a:off x="16771" y="4988"/>
                  <a:ext cx="1893" cy="33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技术指标类</a:t>
                  </a:r>
                  <a:endParaRPr lang="en-US" altLang="zh-CN" sz="1000" dirty="0">
                    <a:solidFill>
                      <a:schemeClr val="tx1"/>
                    </a:solidFill>
                    <a:latin typeface="微软雅黑" panose="020B0503020204020204" charset="-122"/>
                    <a:ea typeface="微软雅黑" panose="020B0503020204020204" charset="-122"/>
                  </a:endParaRPr>
                </a:p>
              </p:txBody>
            </p:sp>
          </p:grpSp>
        </p:grpSp>
        <p:sp>
          <p:nvSpPr>
            <p:cNvPr id="182" name="文本框 181"/>
            <p:cNvSpPr txBox="1"/>
            <p:nvPr/>
          </p:nvSpPr>
          <p:spPr>
            <a:xfrm>
              <a:off x="3067" y="3521"/>
              <a:ext cx="2980" cy="409"/>
            </a:xfrm>
            <a:prstGeom prst="rect">
              <a:avLst/>
            </a:prstGeom>
            <a:noFill/>
          </p:spPr>
          <p:txBody>
            <a:bodyPr wrap="square" rtlCol="0">
              <a:noAutofit/>
            </a:bodyPr>
            <a:lstStyle/>
            <a:p>
              <a:r>
                <a:rPr lang="zh-CN" altLang="en-US" sz="1200" b="1" dirty="0">
                  <a:solidFill>
                    <a:schemeClr val="tx2"/>
                  </a:solidFill>
                  <a:latin typeface="微软雅黑" panose="020B0503020204020204" charset="-122"/>
                  <a:ea typeface="微软雅黑" panose="020B0503020204020204" charset="-122"/>
                </a:rPr>
                <a:t>文档库管理（分类存储）</a:t>
              </a:r>
              <a:endParaRPr lang="zh-CN" altLang="en-US" sz="1200" b="1" dirty="0">
                <a:solidFill>
                  <a:schemeClr val="tx2"/>
                </a:solidFill>
                <a:latin typeface="微软雅黑" panose="020B0503020204020204" charset="-122"/>
                <a:ea typeface="微软雅黑" panose="020B0503020204020204" charset="-122"/>
              </a:endParaRPr>
            </a:p>
          </p:txBody>
        </p:sp>
        <p:sp>
          <p:nvSpPr>
            <p:cNvPr id="246" name="矩形 245"/>
            <p:cNvSpPr/>
            <p:nvPr/>
          </p:nvSpPr>
          <p:spPr>
            <a:xfrm>
              <a:off x="1362" y="4033"/>
              <a:ext cx="5976" cy="13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84" name="组合 83"/>
            <p:cNvGrpSpPr/>
            <p:nvPr/>
          </p:nvGrpSpPr>
          <p:grpSpPr>
            <a:xfrm>
              <a:off x="1484" y="4741"/>
              <a:ext cx="5699" cy="536"/>
              <a:chOff x="1509" y="4598"/>
              <a:chExt cx="5493" cy="664"/>
            </a:xfrm>
          </p:grpSpPr>
          <p:sp>
            <p:nvSpPr>
              <p:cNvPr id="70" name="圆柱形 69"/>
              <p:cNvSpPr/>
              <p:nvPr/>
            </p:nvSpPr>
            <p:spPr>
              <a:xfrm>
                <a:off x="15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合同类</a:t>
                </a:r>
                <a:endParaRPr lang="zh-CN" altLang="en-US" sz="1000">
                  <a:solidFill>
                    <a:schemeClr val="tx1"/>
                  </a:solidFill>
                  <a:latin typeface="微软雅黑" panose="020B0503020204020204" charset="-122"/>
                  <a:ea typeface="微软雅黑" panose="020B0503020204020204" charset="-122"/>
                </a:endParaRPr>
              </a:p>
            </p:txBody>
          </p:sp>
          <p:sp>
            <p:nvSpPr>
              <p:cNvPr id="71" name="圆柱形 70"/>
              <p:cNvSpPr/>
              <p:nvPr/>
            </p:nvSpPr>
            <p:spPr>
              <a:xfrm>
                <a:off x="261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征信类</a:t>
                </a:r>
                <a:endParaRPr lang="zh-CN" altLang="en-US" sz="1000">
                  <a:solidFill>
                    <a:schemeClr val="tx1"/>
                  </a:solidFill>
                  <a:latin typeface="微软雅黑" panose="020B0503020204020204" charset="-122"/>
                  <a:ea typeface="微软雅黑" panose="020B0503020204020204" charset="-122"/>
                </a:endParaRPr>
              </a:p>
            </p:txBody>
          </p:sp>
          <p:sp>
            <p:nvSpPr>
              <p:cNvPr id="72" name="圆柱形 71"/>
              <p:cNvSpPr/>
              <p:nvPr/>
            </p:nvSpPr>
            <p:spPr>
              <a:xfrm>
                <a:off x="372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司法类</a:t>
                </a:r>
                <a:endParaRPr lang="zh-CN" altLang="en-US" sz="1000">
                  <a:solidFill>
                    <a:schemeClr val="tx1"/>
                  </a:solidFill>
                  <a:latin typeface="微软雅黑" panose="020B0503020204020204" charset="-122"/>
                  <a:ea typeface="微软雅黑" panose="020B0503020204020204" charset="-122"/>
                </a:endParaRPr>
              </a:p>
            </p:txBody>
          </p:sp>
          <p:sp>
            <p:nvSpPr>
              <p:cNvPr id="74" name="圆柱形 73"/>
              <p:cNvSpPr/>
              <p:nvPr/>
            </p:nvSpPr>
            <p:spPr>
              <a:xfrm>
                <a:off x="4886"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报告类</a:t>
                </a:r>
                <a:endParaRPr lang="zh-CN" altLang="en-US" sz="1000">
                  <a:solidFill>
                    <a:schemeClr val="tx1"/>
                  </a:solidFill>
                  <a:latin typeface="微软雅黑" panose="020B0503020204020204" charset="-122"/>
                  <a:ea typeface="微软雅黑" panose="020B0503020204020204" charset="-122"/>
                </a:endParaRPr>
              </a:p>
            </p:txBody>
          </p:sp>
          <p:sp>
            <p:nvSpPr>
              <p:cNvPr id="75" name="圆柱形 74"/>
              <p:cNvSpPr/>
              <p:nvPr/>
            </p:nvSpPr>
            <p:spPr>
              <a:xfrm>
                <a:off x="598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grpSp>
          <p:nvGrpSpPr>
            <p:cNvPr id="87" name="组合 86"/>
            <p:cNvGrpSpPr/>
            <p:nvPr/>
          </p:nvGrpSpPr>
          <p:grpSpPr>
            <a:xfrm>
              <a:off x="1504" y="4174"/>
              <a:ext cx="5699" cy="536"/>
              <a:chOff x="1498" y="4598"/>
              <a:chExt cx="5493" cy="664"/>
            </a:xfrm>
          </p:grpSpPr>
          <p:sp>
            <p:nvSpPr>
              <p:cNvPr id="88" name="圆柱形 87"/>
              <p:cNvSpPr/>
              <p:nvPr/>
            </p:nvSpPr>
            <p:spPr>
              <a:xfrm>
                <a:off x="1498"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规划类</a:t>
                </a:r>
                <a:endParaRPr lang="zh-CN" altLang="en-US" sz="1000">
                  <a:solidFill>
                    <a:schemeClr val="tx1"/>
                  </a:solidFill>
                  <a:latin typeface="微软雅黑" panose="020B0503020204020204" charset="-122"/>
                  <a:ea typeface="微软雅黑" panose="020B0503020204020204" charset="-122"/>
                </a:endParaRPr>
              </a:p>
            </p:txBody>
          </p:sp>
          <p:sp>
            <p:nvSpPr>
              <p:cNvPr id="89" name="圆柱形 88"/>
              <p:cNvSpPr/>
              <p:nvPr/>
            </p:nvSpPr>
            <p:spPr>
              <a:xfrm>
                <a:off x="2603"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方案类</a:t>
                </a:r>
                <a:endParaRPr lang="zh-CN" altLang="en-US" sz="1000">
                  <a:solidFill>
                    <a:schemeClr val="tx1"/>
                  </a:solidFill>
                  <a:latin typeface="微软雅黑" panose="020B0503020204020204" charset="-122"/>
                  <a:ea typeface="微软雅黑" panose="020B0503020204020204" charset="-122"/>
                </a:endParaRPr>
              </a:p>
            </p:txBody>
          </p:sp>
          <p:sp>
            <p:nvSpPr>
              <p:cNvPr id="90" name="圆柱形 89"/>
              <p:cNvSpPr/>
              <p:nvPr/>
            </p:nvSpPr>
            <p:spPr>
              <a:xfrm>
                <a:off x="37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法规类</a:t>
                </a:r>
                <a:endParaRPr lang="zh-CN" altLang="en-US" sz="1000">
                  <a:solidFill>
                    <a:schemeClr val="tx1"/>
                  </a:solidFill>
                  <a:latin typeface="微软雅黑" panose="020B0503020204020204" charset="-122"/>
                  <a:ea typeface="微软雅黑" panose="020B0503020204020204" charset="-122"/>
                </a:endParaRPr>
              </a:p>
            </p:txBody>
          </p:sp>
          <p:sp>
            <p:nvSpPr>
              <p:cNvPr id="91" name="圆柱形 90"/>
              <p:cNvSpPr/>
              <p:nvPr/>
            </p:nvSpPr>
            <p:spPr>
              <a:xfrm>
                <a:off x="486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制度类</a:t>
                </a:r>
                <a:endParaRPr lang="zh-CN" altLang="en-US" sz="1000">
                  <a:solidFill>
                    <a:schemeClr val="tx1"/>
                  </a:solidFill>
                  <a:latin typeface="微软雅黑" panose="020B0503020204020204" charset="-122"/>
                  <a:ea typeface="微软雅黑" panose="020B0503020204020204" charset="-122"/>
                </a:endParaRPr>
              </a:p>
            </p:txBody>
          </p:sp>
          <p:sp>
            <p:nvSpPr>
              <p:cNvPr id="92" name="圆柱形 91"/>
              <p:cNvSpPr/>
              <p:nvPr/>
            </p:nvSpPr>
            <p:spPr>
              <a:xfrm>
                <a:off x="596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调研类</a:t>
                </a:r>
                <a:endParaRPr lang="zh-CN" altLang="en-US" sz="1000">
                  <a:solidFill>
                    <a:schemeClr val="tx1"/>
                  </a:solidFill>
                  <a:latin typeface="微软雅黑" panose="020B0503020204020204" charset="-122"/>
                  <a:ea typeface="微软雅黑" panose="020B0503020204020204" charset="-122"/>
                </a:endParaRPr>
              </a:p>
            </p:txBody>
          </p:sp>
        </p:grpSp>
        <p:cxnSp>
          <p:nvCxnSpPr>
            <p:cNvPr id="15" name="直接连接符 14"/>
            <p:cNvCxnSpPr/>
            <p:nvPr/>
          </p:nvCxnSpPr>
          <p:spPr>
            <a:xfrm>
              <a:off x="12825" y="3795"/>
              <a:ext cx="0" cy="169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3419" y="3611"/>
              <a:ext cx="1252" cy="434"/>
            </a:xfrm>
            <a:prstGeom prst="rect">
              <a:avLst/>
            </a:prstGeom>
            <a:noFill/>
          </p:spPr>
          <p:txBody>
            <a:bodyPr wrap="square" rtlCol="0">
              <a:spAutoFit/>
            </a:bodyPr>
            <a:lstStyle/>
            <a:p>
              <a:pPr lvl="0" algn="l">
                <a:buClrTx/>
                <a:buSzTx/>
                <a:buFontTx/>
              </a:pPr>
              <a:r>
                <a:rPr lang="zh-CN" altLang="en-US" sz="1200" b="1" dirty="0">
                  <a:solidFill>
                    <a:schemeClr val="tx2"/>
                  </a:solidFill>
                  <a:latin typeface="微软雅黑" panose="020B0503020204020204" charset="-122"/>
                  <a:ea typeface="微软雅黑" panose="020B0503020204020204" charset="-122"/>
                  <a:sym typeface="+mn-ea"/>
                </a:rPr>
                <a:t>租户管理</a:t>
              </a:r>
              <a:endParaRPr lang="zh-CN" altLang="en-US" sz="1200" b="1" dirty="0">
                <a:solidFill>
                  <a:schemeClr val="tx2"/>
                </a:solidFill>
                <a:latin typeface="微软雅黑" panose="020B0503020204020204" charset="-122"/>
                <a:ea typeface="微软雅黑" panose="020B0503020204020204" charset="-122"/>
                <a:sym typeface="+mn-ea"/>
              </a:endParaRPr>
            </a:p>
          </p:txBody>
        </p:sp>
        <p:grpSp>
          <p:nvGrpSpPr>
            <p:cNvPr id="26" name="组合 25"/>
            <p:cNvGrpSpPr/>
            <p:nvPr/>
          </p:nvGrpSpPr>
          <p:grpSpPr>
            <a:xfrm>
              <a:off x="12962" y="4047"/>
              <a:ext cx="2178" cy="1402"/>
              <a:chOff x="15438" y="3977"/>
              <a:chExt cx="2790" cy="1402"/>
            </a:xfrm>
          </p:grpSpPr>
          <p:sp>
            <p:nvSpPr>
              <p:cNvPr id="30" name="矩形 29"/>
              <p:cNvSpPr/>
              <p:nvPr/>
            </p:nvSpPr>
            <p:spPr>
              <a:xfrm>
                <a:off x="15438" y="3977"/>
                <a:ext cx="2790" cy="140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租户管理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9" name="矩形 38"/>
              <p:cNvSpPr/>
              <p:nvPr/>
            </p:nvSpPr>
            <p:spPr>
              <a:xfrm>
                <a:off x="15528" y="4479"/>
                <a:ext cx="1149" cy="79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租户</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管理</a:t>
                </a:r>
                <a:endParaRPr lang="zh-CN" altLang="en-US" sz="1000" dirty="0">
                  <a:solidFill>
                    <a:schemeClr val="tx1"/>
                  </a:solidFill>
                  <a:latin typeface="微软雅黑" panose="020B0503020204020204" charset="-122"/>
                  <a:ea typeface="微软雅黑" panose="020B0503020204020204" charset="-122"/>
                </a:endParaRPr>
              </a:p>
            </p:txBody>
          </p:sp>
          <p:sp>
            <p:nvSpPr>
              <p:cNvPr id="54" name="矩形 53"/>
              <p:cNvSpPr/>
              <p:nvPr/>
            </p:nvSpPr>
            <p:spPr>
              <a:xfrm>
                <a:off x="16819" y="4479"/>
                <a:ext cx="1149" cy="79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空间</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管理</a:t>
                </a:r>
                <a:endParaRPr lang="zh-CN" altLang="en-US" sz="1000" dirty="0">
                  <a:solidFill>
                    <a:schemeClr val="tx1"/>
                  </a:solidFill>
                  <a:latin typeface="微软雅黑" panose="020B0503020204020204" charset="-122"/>
                  <a:ea typeface="微软雅黑" panose="020B0503020204020204" charset="-122"/>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  L1资源层文档汇聚流程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8" name="矩形 7"/>
          <p:cNvSpPr/>
          <p:nvPr/>
        </p:nvSpPr>
        <p:spPr>
          <a:xfrm>
            <a:off x="487680" y="5988050"/>
            <a:ext cx="7049135" cy="537210"/>
          </a:xfrm>
          <a:prstGeom prst="rect">
            <a:avLst/>
          </a:prstGeom>
          <a:solidFill>
            <a:schemeClr val="bg1">
              <a:lumMod val="65000"/>
            </a:schemeClr>
          </a:solidFill>
        </p:spPr>
        <p:style>
          <a:lnRef idx="2">
            <a:schemeClr val="lt1"/>
          </a:lnRef>
          <a:fillRef idx="1">
            <a:schemeClr val="accent1"/>
          </a:fillRef>
          <a:effectRef idx="1">
            <a:schemeClr val="accent1"/>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源端系统</a:t>
            </a:r>
            <a:endParaRPr lang="zh-CN" altLang="en-US">
              <a:latin typeface="微软雅黑" panose="020B0503020204020204" charset="-122"/>
              <a:ea typeface="微软雅黑" panose="020B0503020204020204" charset="-122"/>
            </a:endParaRPr>
          </a:p>
        </p:txBody>
      </p:sp>
      <p:sp>
        <p:nvSpPr>
          <p:cNvPr id="9" name="矩形 8"/>
          <p:cNvSpPr/>
          <p:nvPr/>
        </p:nvSpPr>
        <p:spPr>
          <a:xfrm>
            <a:off x="486410" y="5086985"/>
            <a:ext cx="1732915" cy="53784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600" dirty="0">
                <a:solidFill>
                  <a:srgbClr val="0047AB"/>
                </a:solidFill>
                <a:latin typeface="微软雅黑" panose="020B0503020204020204" charset="-122"/>
                <a:ea typeface="微软雅黑" panose="020B0503020204020204" charset="-122"/>
                <a:cs typeface="微软雅黑" panose="020B0503020204020204" charset="-122"/>
              </a:rPr>
              <a:t>数据同步服务</a:t>
            </a:r>
            <a:endParaRPr lang="zh-CN" altLang="en-US" sz="1600"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12" name="矩形 11"/>
          <p:cNvSpPr/>
          <p:nvPr/>
        </p:nvSpPr>
        <p:spPr>
          <a:xfrm>
            <a:off x="3107690" y="5086985"/>
            <a:ext cx="1732915" cy="53784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600" dirty="0">
                <a:solidFill>
                  <a:srgbClr val="0047AB"/>
                </a:solidFill>
                <a:latin typeface="微软雅黑" panose="020B0503020204020204" charset="-122"/>
                <a:ea typeface="微软雅黑" panose="020B0503020204020204" charset="-122"/>
                <a:cs typeface="微软雅黑" panose="020B0503020204020204" charset="-122"/>
              </a:rPr>
              <a:t>大模型引用服务</a:t>
            </a:r>
            <a:endParaRPr lang="zh-CN" altLang="en-US" sz="1600"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22" name="矩形 21"/>
          <p:cNvSpPr/>
          <p:nvPr/>
        </p:nvSpPr>
        <p:spPr>
          <a:xfrm>
            <a:off x="5372100" y="5087620"/>
            <a:ext cx="2164080" cy="537845"/>
          </a:xfrm>
          <a:prstGeom prst="rect">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600" dirty="0">
                <a:solidFill>
                  <a:srgbClr val="0047AB"/>
                </a:solidFill>
                <a:latin typeface="微软雅黑" panose="020B0503020204020204" charset="-122"/>
                <a:ea typeface="微软雅黑" panose="020B0503020204020204" charset="-122"/>
                <a:cs typeface="微软雅黑" panose="020B0503020204020204" charset="-122"/>
              </a:rPr>
              <a:t>元数据采集服务</a:t>
            </a:r>
            <a:endParaRPr lang="zh-CN" altLang="en-US" sz="1600" dirty="0">
              <a:solidFill>
                <a:srgbClr val="0047AB"/>
              </a:solidFill>
              <a:latin typeface="微软雅黑" panose="020B0503020204020204" charset="-122"/>
              <a:ea typeface="微软雅黑" panose="020B0503020204020204" charset="-122"/>
              <a:cs typeface="微软雅黑" panose="020B0503020204020204" charset="-122"/>
            </a:endParaRPr>
          </a:p>
        </p:txBody>
      </p:sp>
      <p:cxnSp>
        <p:nvCxnSpPr>
          <p:cNvPr id="28" name="肘形连接符 27"/>
          <p:cNvCxnSpPr>
            <a:stCxn id="8" idx="0"/>
            <a:endCxn id="9" idx="2"/>
          </p:cNvCxnSpPr>
          <p:nvPr/>
        </p:nvCxnSpPr>
        <p:spPr>
          <a:xfrm rot="16200000" flipV="1">
            <a:off x="2500630" y="4476115"/>
            <a:ext cx="363855" cy="265938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5" name="肘形连接符 34"/>
          <p:cNvCxnSpPr>
            <a:stCxn id="8" idx="0"/>
            <a:endCxn id="22" idx="2"/>
          </p:cNvCxnSpPr>
          <p:nvPr/>
        </p:nvCxnSpPr>
        <p:spPr>
          <a:xfrm rot="16200000">
            <a:off x="5052060" y="4585335"/>
            <a:ext cx="363220" cy="2442210"/>
          </a:xfrm>
          <a:prstGeom prst="bentConnector3">
            <a:avLst>
              <a:gd name="adj1" fmla="val 49909"/>
            </a:avLst>
          </a:prstGeom>
          <a:ln>
            <a:tailEnd type="arrow"/>
          </a:ln>
        </p:spPr>
        <p:style>
          <a:lnRef idx="2">
            <a:schemeClr val="accent1"/>
          </a:lnRef>
          <a:fillRef idx="0">
            <a:srgbClr val="FFFFFF"/>
          </a:fillRef>
          <a:effectRef idx="0">
            <a:srgbClr val="FFFFFF"/>
          </a:effectRef>
          <a:fontRef idx="minor">
            <a:schemeClr val="tx1"/>
          </a:fontRef>
        </p:style>
      </p:cxnSp>
      <p:sp>
        <p:nvSpPr>
          <p:cNvPr id="36" name="文本框 35"/>
          <p:cNvSpPr txBox="1"/>
          <p:nvPr/>
        </p:nvSpPr>
        <p:spPr>
          <a:xfrm>
            <a:off x="2140585" y="5608955"/>
            <a:ext cx="1216660" cy="229870"/>
          </a:xfrm>
          <a:prstGeom prst="rect">
            <a:avLst/>
          </a:prstGeom>
          <a:noFill/>
        </p:spPr>
        <p:txBody>
          <a:bodyPr wrap="square" rtlCol="0">
            <a:sp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源文档接入</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42" name="文本框 41"/>
          <p:cNvSpPr txBox="1"/>
          <p:nvPr/>
        </p:nvSpPr>
        <p:spPr>
          <a:xfrm>
            <a:off x="4840605" y="5621020"/>
            <a:ext cx="1216660" cy="213995"/>
          </a:xfrm>
          <a:prstGeom prst="rect">
            <a:avLst/>
          </a:prstGeom>
          <a:noFill/>
        </p:spPr>
        <p:txBody>
          <a:bodyPr wrap="square" rtlCol="0">
            <a:spAutoFit/>
          </a:bodyPr>
          <a:lstStyle/>
          <a:p>
            <a:pPr algn="ctr"/>
            <a:r>
              <a:rPr lang="zh-CN" altLang="en-US" sz="800" dirty="0">
                <a:solidFill>
                  <a:schemeClr val="bg1">
                    <a:lumMod val="50000"/>
                  </a:schemeClr>
                </a:solidFill>
                <a:latin typeface="微软雅黑" panose="020B0503020204020204" charset="-122"/>
                <a:ea typeface="微软雅黑" panose="020B0503020204020204" charset="-122"/>
              </a:rPr>
              <a:t>元数据接入</a:t>
            </a:r>
            <a:endParaRPr lang="zh-CN" altLang="en-US" sz="800" dirty="0">
              <a:solidFill>
                <a:schemeClr val="bg1">
                  <a:lumMod val="50000"/>
                </a:schemeClr>
              </a:solidFill>
              <a:latin typeface="微软雅黑" panose="020B0503020204020204" charset="-122"/>
              <a:ea typeface="微软雅黑" panose="020B0503020204020204" charset="-122"/>
            </a:endParaRPr>
          </a:p>
        </p:txBody>
      </p:sp>
      <p:sp>
        <p:nvSpPr>
          <p:cNvPr id="46" name="矩形 45"/>
          <p:cNvSpPr/>
          <p:nvPr/>
        </p:nvSpPr>
        <p:spPr>
          <a:xfrm>
            <a:off x="8121015" y="5088890"/>
            <a:ext cx="2789555" cy="52006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元数据标准管理</a:t>
            </a:r>
            <a:endParaRPr lang="zh-CN" altLang="en-US" sz="1600" dirty="0">
              <a:solidFill>
                <a:schemeClr val="tx1"/>
              </a:solidFill>
              <a:latin typeface="微软雅黑" panose="020B0503020204020204" charset="-122"/>
              <a:ea typeface="微软雅黑" panose="020B0503020204020204" charset="-122"/>
            </a:endParaRPr>
          </a:p>
        </p:txBody>
      </p:sp>
      <p:cxnSp>
        <p:nvCxnSpPr>
          <p:cNvPr id="48" name="直接箭头连接符 47"/>
          <p:cNvCxnSpPr>
            <a:stCxn id="46" idx="1"/>
            <a:endCxn id="63" idx="3"/>
          </p:cNvCxnSpPr>
          <p:nvPr/>
        </p:nvCxnSpPr>
        <p:spPr>
          <a:xfrm flipH="1" flipV="1">
            <a:off x="7624445" y="5337810"/>
            <a:ext cx="496570" cy="114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55" name="组合 54"/>
          <p:cNvGrpSpPr/>
          <p:nvPr/>
        </p:nvGrpSpPr>
        <p:grpSpPr>
          <a:xfrm>
            <a:off x="488315" y="1044569"/>
            <a:ext cx="604520" cy="3378206"/>
            <a:chOff x="1573" y="-555"/>
            <a:chExt cx="1091" cy="6224"/>
          </a:xfrm>
        </p:grpSpPr>
        <p:sp>
          <p:nvSpPr>
            <p:cNvPr id="56" name="矩形 55"/>
            <p:cNvSpPr/>
            <p:nvPr/>
          </p:nvSpPr>
          <p:spPr>
            <a:xfrm>
              <a:off x="1573" y="3978"/>
              <a:ext cx="1074" cy="1691"/>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配置管理</a:t>
              </a:r>
              <a:endParaRPr lang="zh-CN" altLang="en-US" sz="1600" dirty="0">
                <a:solidFill>
                  <a:schemeClr val="tx1"/>
                </a:solidFill>
                <a:latin typeface="微软雅黑" panose="020B0503020204020204" charset="-122"/>
                <a:ea typeface="微软雅黑" panose="020B0503020204020204" charset="-122"/>
              </a:endParaRPr>
            </a:p>
          </p:txBody>
        </p:sp>
        <p:sp>
          <p:nvSpPr>
            <p:cNvPr id="57" name="矩形 56"/>
            <p:cNvSpPr/>
            <p:nvPr/>
          </p:nvSpPr>
          <p:spPr>
            <a:xfrm>
              <a:off x="1590" y="1760"/>
              <a:ext cx="1074" cy="169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存储路径同步</a:t>
              </a:r>
              <a:endParaRPr lang="zh-CN" altLang="en-US" sz="1600" dirty="0">
                <a:solidFill>
                  <a:schemeClr val="tx1"/>
                </a:solidFill>
                <a:latin typeface="微软雅黑" panose="020B0503020204020204" charset="-122"/>
                <a:ea typeface="微软雅黑" panose="020B0503020204020204" charset="-122"/>
              </a:endParaRPr>
            </a:p>
          </p:txBody>
        </p:sp>
        <p:sp>
          <p:nvSpPr>
            <p:cNvPr id="67" name="矩形 66"/>
            <p:cNvSpPr/>
            <p:nvPr/>
          </p:nvSpPr>
          <p:spPr>
            <a:xfrm>
              <a:off x="1581" y="-555"/>
              <a:ext cx="1074" cy="169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文档探察</a:t>
              </a:r>
              <a:endParaRPr lang="zh-CN" altLang="en-US" sz="1600" dirty="0">
                <a:solidFill>
                  <a:schemeClr val="tx1"/>
                </a:solidFill>
                <a:latin typeface="微软雅黑" panose="020B0503020204020204" charset="-122"/>
                <a:ea typeface="微软雅黑" panose="020B0503020204020204" charset="-122"/>
              </a:endParaRPr>
            </a:p>
          </p:txBody>
        </p:sp>
      </p:grpSp>
      <p:cxnSp>
        <p:nvCxnSpPr>
          <p:cNvPr id="68" name="肘形连接符 67"/>
          <p:cNvCxnSpPr>
            <a:stCxn id="57" idx="3"/>
            <a:endCxn id="75" idx="1"/>
          </p:cNvCxnSpPr>
          <p:nvPr/>
        </p:nvCxnSpPr>
        <p:spPr>
          <a:xfrm>
            <a:off x="1092835" y="2760345"/>
            <a:ext cx="1257300" cy="69024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1323340" y="3501390"/>
            <a:ext cx="594995" cy="93726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手工上传</a:t>
            </a:r>
            <a:endParaRPr lang="zh-CN" altLang="en-US" sz="1600" dirty="0">
              <a:solidFill>
                <a:schemeClr val="tx1"/>
              </a:solidFill>
              <a:latin typeface="微软雅黑" panose="020B0503020204020204" charset="-122"/>
              <a:ea typeface="微软雅黑" panose="020B0503020204020204" charset="-122"/>
            </a:endParaRPr>
          </a:p>
        </p:txBody>
      </p:sp>
      <p:cxnSp>
        <p:nvCxnSpPr>
          <p:cNvPr id="70" name="肘形连接符 69"/>
          <p:cNvCxnSpPr>
            <a:stCxn id="69" idx="3"/>
            <a:endCxn id="75" idx="1"/>
          </p:cNvCxnSpPr>
          <p:nvPr/>
        </p:nvCxnSpPr>
        <p:spPr>
          <a:xfrm flipV="1">
            <a:off x="1918335" y="3450590"/>
            <a:ext cx="431800" cy="51943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71" name="肘形连接符 70"/>
          <p:cNvCxnSpPr>
            <a:stCxn id="56" idx="2"/>
            <a:endCxn id="9" idx="0"/>
          </p:cNvCxnSpPr>
          <p:nvPr/>
        </p:nvCxnSpPr>
        <p:spPr>
          <a:xfrm rot="5400000" flipV="1">
            <a:off x="737553" y="4471353"/>
            <a:ext cx="664210" cy="567055"/>
          </a:xfrm>
          <a:prstGeom prst="bentConnector3">
            <a:avLst>
              <a:gd name="adj1" fmla="val 49952"/>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72" name="直接箭头连接符 71"/>
          <p:cNvCxnSpPr/>
          <p:nvPr/>
        </p:nvCxnSpPr>
        <p:spPr>
          <a:xfrm flipV="1">
            <a:off x="786130" y="3218815"/>
            <a:ext cx="8890" cy="2863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3" name="文本框 72"/>
          <p:cNvSpPr txBox="1"/>
          <p:nvPr/>
        </p:nvSpPr>
        <p:spPr>
          <a:xfrm>
            <a:off x="1076960" y="2581275"/>
            <a:ext cx="1216660" cy="229870"/>
          </a:xfrm>
          <a:prstGeom prst="rect">
            <a:avLst/>
          </a:prstGeom>
          <a:noFill/>
        </p:spPr>
        <p:txBody>
          <a:bodyPr wrap="square" rtlCol="0">
            <a:sp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源文档接入</a:t>
            </a:r>
            <a:endParaRPr lang="zh-CN" altLang="en-US" sz="900" dirty="0">
              <a:solidFill>
                <a:schemeClr val="bg1">
                  <a:lumMod val="50000"/>
                </a:schemeClr>
              </a:solidFill>
              <a:latin typeface="微软雅黑" panose="020B0503020204020204" charset="-122"/>
              <a:ea typeface="微软雅黑" panose="020B0503020204020204" charset="-122"/>
            </a:endParaRPr>
          </a:p>
        </p:txBody>
      </p:sp>
      <p:cxnSp>
        <p:nvCxnSpPr>
          <p:cNvPr id="74" name="直接箭头连接符 73"/>
          <p:cNvCxnSpPr/>
          <p:nvPr/>
        </p:nvCxnSpPr>
        <p:spPr>
          <a:xfrm>
            <a:off x="790575" y="1962150"/>
            <a:ext cx="5080" cy="33909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75" name="矩形 74"/>
          <p:cNvSpPr/>
          <p:nvPr/>
        </p:nvSpPr>
        <p:spPr>
          <a:xfrm>
            <a:off x="2350135" y="2481580"/>
            <a:ext cx="347980"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文档导入</a:t>
            </a:r>
            <a:endParaRPr lang="zh-CN" altLang="en-US" sz="1600" dirty="0">
              <a:solidFill>
                <a:schemeClr val="tx1"/>
              </a:solidFill>
              <a:latin typeface="微软雅黑" panose="020B0503020204020204" charset="-122"/>
              <a:ea typeface="微软雅黑" panose="020B0503020204020204" charset="-122"/>
            </a:endParaRPr>
          </a:p>
        </p:txBody>
      </p:sp>
      <p:sp>
        <p:nvSpPr>
          <p:cNvPr id="76" name="矩形 75"/>
          <p:cNvSpPr/>
          <p:nvPr/>
        </p:nvSpPr>
        <p:spPr>
          <a:xfrm>
            <a:off x="2865755" y="2481580"/>
            <a:ext cx="347980"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摘要生成</a:t>
            </a:r>
            <a:endParaRPr lang="zh-CN" altLang="en-US" sz="1600" dirty="0">
              <a:solidFill>
                <a:schemeClr val="tx1"/>
              </a:solidFill>
              <a:latin typeface="微软雅黑" panose="020B0503020204020204" charset="-122"/>
              <a:ea typeface="微软雅黑" panose="020B0503020204020204" charset="-122"/>
            </a:endParaRPr>
          </a:p>
        </p:txBody>
      </p:sp>
      <p:cxnSp>
        <p:nvCxnSpPr>
          <p:cNvPr id="77" name="直接箭头连接符 76"/>
          <p:cNvCxnSpPr>
            <a:stCxn id="75" idx="3"/>
            <a:endCxn id="76" idx="1"/>
          </p:cNvCxnSpPr>
          <p:nvPr/>
        </p:nvCxnSpPr>
        <p:spPr>
          <a:xfrm>
            <a:off x="2698115" y="3450590"/>
            <a:ext cx="16764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8" name="矩形 77"/>
          <p:cNvSpPr/>
          <p:nvPr/>
        </p:nvSpPr>
        <p:spPr>
          <a:xfrm>
            <a:off x="3381375" y="2481580"/>
            <a:ext cx="347980"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智能解析</a:t>
            </a:r>
            <a:endParaRPr lang="zh-CN" altLang="en-US" sz="1600" dirty="0">
              <a:solidFill>
                <a:schemeClr val="tx1"/>
              </a:solidFill>
              <a:latin typeface="微软雅黑" panose="020B0503020204020204" charset="-122"/>
              <a:ea typeface="微软雅黑" panose="020B0503020204020204" charset="-122"/>
            </a:endParaRPr>
          </a:p>
        </p:txBody>
      </p:sp>
      <p:cxnSp>
        <p:nvCxnSpPr>
          <p:cNvPr id="79" name="直接箭头连接符 78"/>
          <p:cNvCxnSpPr>
            <a:stCxn id="76" idx="3"/>
            <a:endCxn id="78" idx="1"/>
          </p:cNvCxnSpPr>
          <p:nvPr/>
        </p:nvCxnSpPr>
        <p:spPr>
          <a:xfrm>
            <a:off x="3213735" y="3450590"/>
            <a:ext cx="16764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0" name="矩形 79"/>
          <p:cNvSpPr/>
          <p:nvPr/>
        </p:nvSpPr>
        <p:spPr>
          <a:xfrm>
            <a:off x="3964940" y="3062605"/>
            <a:ext cx="594995" cy="11957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业务元数据采集</a:t>
            </a:r>
            <a:endParaRPr lang="zh-CN" altLang="en-US" sz="1600" dirty="0">
              <a:solidFill>
                <a:schemeClr val="tx1"/>
              </a:solidFill>
              <a:latin typeface="微软雅黑" panose="020B0503020204020204" charset="-122"/>
              <a:ea typeface="微软雅黑" panose="020B0503020204020204" charset="-122"/>
            </a:endParaRPr>
          </a:p>
        </p:txBody>
      </p:sp>
      <p:sp>
        <p:nvSpPr>
          <p:cNvPr id="81" name="矩形 80"/>
          <p:cNvSpPr/>
          <p:nvPr/>
        </p:nvSpPr>
        <p:spPr>
          <a:xfrm>
            <a:off x="4698365" y="3062605"/>
            <a:ext cx="594995" cy="11957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管理元数据采集</a:t>
            </a:r>
            <a:endParaRPr lang="zh-CN" altLang="en-US" sz="1600" dirty="0">
              <a:solidFill>
                <a:schemeClr val="tx1"/>
              </a:solidFill>
              <a:latin typeface="微软雅黑" panose="020B0503020204020204" charset="-122"/>
              <a:ea typeface="微软雅黑" panose="020B0503020204020204" charset="-122"/>
            </a:endParaRPr>
          </a:p>
        </p:txBody>
      </p:sp>
      <p:sp>
        <p:nvSpPr>
          <p:cNvPr id="82" name="矩形 81"/>
          <p:cNvSpPr/>
          <p:nvPr/>
        </p:nvSpPr>
        <p:spPr>
          <a:xfrm>
            <a:off x="5431790" y="3062605"/>
            <a:ext cx="594995" cy="119570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技术元数据采集</a:t>
            </a:r>
            <a:endParaRPr lang="zh-CN" altLang="en-US" sz="1600" dirty="0">
              <a:solidFill>
                <a:schemeClr val="tx1"/>
              </a:solidFill>
              <a:latin typeface="微软雅黑" panose="020B0503020204020204" charset="-122"/>
              <a:ea typeface="微软雅黑" panose="020B0503020204020204" charset="-122"/>
            </a:endParaRPr>
          </a:p>
        </p:txBody>
      </p:sp>
      <p:sp>
        <p:nvSpPr>
          <p:cNvPr id="83" name="矩形 82"/>
          <p:cNvSpPr/>
          <p:nvPr/>
        </p:nvSpPr>
        <p:spPr>
          <a:xfrm>
            <a:off x="3868420" y="2489835"/>
            <a:ext cx="2276475" cy="1948815"/>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b="1">
                <a:latin typeface="微软雅黑" panose="020B0503020204020204" charset="-122"/>
                <a:ea typeface="微软雅黑" panose="020B0503020204020204" charset="-122"/>
              </a:rPr>
              <a:t>元数据自动化采集</a:t>
            </a:r>
            <a:endParaRPr lang="zh-CN" altLang="en-US" b="1">
              <a:latin typeface="微软雅黑" panose="020B0503020204020204" charset="-122"/>
              <a:ea typeface="微软雅黑" panose="020B0503020204020204" charset="-122"/>
            </a:endParaRPr>
          </a:p>
        </p:txBody>
      </p:sp>
      <p:cxnSp>
        <p:nvCxnSpPr>
          <p:cNvPr id="84" name="直接箭头连接符 83"/>
          <p:cNvCxnSpPr>
            <a:stCxn id="83" idx="3"/>
            <a:endCxn id="91" idx="1"/>
          </p:cNvCxnSpPr>
          <p:nvPr/>
        </p:nvCxnSpPr>
        <p:spPr>
          <a:xfrm>
            <a:off x="6144895" y="3464560"/>
            <a:ext cx="17970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5" name="直接箭头连接符 84"/>
          <p:cNvCxnSpPr>
            <a:stCxn id="78" idx="3"/>
            <a:endCxn id="83" idx="1"/>
          </p:cNvCxnSpPr>
          <p:nvPr/>
        </p:nvCxnSpPr>
        <p:spPr>
          <a:xfrm>
            <a:off x="3729355" y="3450590"/>
            <a:ext cx="139065" cy="139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6" name="肘形连接符 85"/>
          <p:cNvCxnSpPr>
            <a:stCxn id="12" idx="0"/>
            <a:endCxn id="76" idx="2"/>
          </p:cNvCxnSpPr>
          <p:nvPr/>
        </p:nvCxnSpPr>
        <p:spPr>
          <a:xfrm rot="16200000" flipV="1">
            <a:off x="3173095" y="4285615"/>
            <a:ext cx="667385" cy="934720"/>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87" name="肘形连接符 86"/>
          <p:cNvCxnSpPr>
            <a:stCxn id="12" idx="0"/>
            <a:endCxn id="78" idx="2"/>
          </p:cNvCxnSpPr>
          <p:nvPr/>
        </p:nvCxnSpPr>
        <p:spPr>
          <a:xfrm rot="16200000" flipV="1">
            <a:off x="3430905" y="4543425"/>
            <a:ext cx="667385" cy="419100"/>
          </a:xfrm>
          <a:prstGeom prst="bentConnector3">
            <a:avLst>
              <a:gd name="adj1" fmla="val 50000"/>
            </a:avLst>
          </a:prstGeom>
          <a:ln>
            <a:headEnd type="arrow"/>
            <a:tailEnd type="arrow"/>
          </a:ln>
        </p:spPr>
        <p:style>
          <a:lnRef idx="2">
            <a:schemeClr val="accent1"/>
          </a:lnRef>
          <a:fillRef idx="0">
            <a:srgbClr val="FFFFFF"/>
          </a:fillRef>
          <a:effectRef idx="0">
            <a:srgbClr val="FFFFFF"/>
          </a:effectRef>
          <a:fontRef idx="minor">
            <a:schemeClr val="tx1"/>
          </a:fontRef>
        </p:style>
      </p:cxnSp>
      <p:sp>
        <p:nvSpPr>
          <p:cNvPr id="88" name="文本框 87"/>
          <p:cNvSpPr txBox="1"/>
          <p:nvPr/>
        </p:nvSpPr>
        <p:spPr>
          <a:xfrm>
            <a:off x="2698115" y="4765040"/>
            <a:ext cx="1216660" cy="229870"/>
          </a:xfrm>
          <a:prstGeom prst="rect">
            <a:avLst/>
          </a:prstGeom>
          <a:noFill/>
        </p:spPr>
        <p:txBody>
          <a:bodyPr wrap="square" rtlCol="0">
            <a:sp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大模型服务调用</a:t>
            </a:r>
            <a:endParaRPr lang="zh-CN" altLang="en-US" sz="900" dirty="0">
              <a:solidFill>
                <a:schemeClr val="bg1">
                  <a:lumMod val="50000"/>
                </a:schemeClr>
              </a:solidFill>
              <a:latin typeface="微软雅黑" panose="020B0503020204020204" charset="-122"/>
              <a:ea typeface="微软雅黑" panose="020B0503020204020204" charset="-122"/>
            </a:endParaRPr>
          </a:p>
        </p:txBody>
      </p:sp>
      <p:cxnSp>
        <p:nvCxnSpPr>
          <p:cNvPr id="89" name="肘形连接符 88"/>
          <p:cNvCxnSpPr>
            <a:stCxn id="22" idx="0"/>
            <a:endCxn id="83" idx="2"/>
          </p:cNvCxnSpPr>
          <p:nvPr/>
        </p:nvCxnSpPr>
        <p:spPr>
          <a:xfrm rot="16200000" flipV="1">
            <a:off x="5405755" y="4039870"/>
            <a:ext cx="648970" cy="1447165"/>
          </a:xfrm>
          <a:prstGeom prst="bentConnector3">
            <a:avLst>
              <a:gd name="adj1" fmla="val 50049"/>
            </a:avLst>
          </a:prstGeom>
          <a:ln>
            <a:tailEnd type="arrow"/>
          </a:ln>
        </p:spPr>
        <p:style>
          <a:lnRef idx="2">
            <a:schemeClr val="accent1"/>
          </a:lnRef>
          <a:fillRef idx="0">
            <a:srgbClr val="FFFFFF"/>
          </a:fillRef>
          <a:effectRef idx="0">
            <a:srgbClr val="FFFFFF"/>
          </a:effectRef>
          <a:fontRef idx="minor">
            <a:schemeClr val="tx1"/>
          </a:fontRef>
        </p:style>
      </p:cxnSp>
      <p:sp>
        <p:nvSpPr>
          <p:cNvPr id="91" name="矩形 90"/>
          <p:cNvSpPr/>
          <p:nvPr/>
        </p:nvSpPr>
        <p:spPr>
          <a:xfrm>
            <a:off x="6324600" y="2501265"/>
            <a:ext cx="380365"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rPr>
              <a:t>元数据标准校验</a:t>
            </a:r>
            <a:endParaRPr lang="zh-CN" altLang="en-US" sz="1600" dirty="0">
              <a:solidFill>
                <a:schemeClr val="tx1"/>
              </a:solidFill>
              <a:latin typeface="微软雅黑" panose="020B0503020204020204" charset="-122"/>
              <a:ea typeface="微软雅黑" panose="020B0503020204020204" charset="-122"/>
            </a:endParaRPr>
          </a:p>
        </p:txBody>
      </p:sp>
      <p:sp>
        <p:nvSpPr>
          <p:cNvPr id="92" name="菱形 91"/>
          <p:cNvSpPr/>
          <p:nvPr/>
        </p:nvSpPr>
        <p:spPr>
          <a:xfrm>
            <a:off x="6880860" y="3062605"/>
            <a:ext cx="486410" cy="826770"/>
          </a:xfrm>
          <a:prstGeom prst="diamond">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dirty="0">
                <a:solidFill>
                  <a:schemeClr val="tx1"/>
                </a:solidFill>
                <a:latin typeface="微软雅黑" panose="020B0503020204020204" charset="-122"/>
                <a:ea typeface="微软雅黑" panose="020B0503020204020204" charset="-122"/>
                <a:sym typeface="+mn-ea"/>
              </a:rPr>
              <a:t>是否通过</a:t>
            </a:r>
            <a:endParaRPr lang="zh-CN" altLang="en-US" sz="1000" dirty="0">
              <a:solidFill>
                <a:schemeClr val="tx1"/>
              </a:solidFill>
              <a:latin typeface="微软雅黑" panose="020B0503020204020204" charset="-122"/>
              <a:ea typeface="微软雅黑" panose="020B0503020204020204" charset="-122"/>
              <a:sym typeface="+mn-ea"/>
            </a:endParaRPr>
          </a:p>
        </p:txBody>
      </p:sp>
      <p:cxnSp>
        <p:nvCxnSpPr>
          <p:cNvPr id="93" name="直接箭头连接符 92"/>
          <p:cNvCxnSpPr>
            <a:stCxn id="91" idx="3"/>
            <a:endCxn id="92" idx="1"/>
          </p:cNvCxnSpPr>
          <p:nvPr/>
        </p:nvCxnSpPr>
        <p:spPr>
          <a:xfrm>
            <a:off x="6704965" y="3470275"/>
            <a:ext cx="17589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4" name="肘形连接符 93"/>
          <p:cNvCxnSpPr>
            <a:stCxn id="46" idx="0"/>
            <a:endCxn id="91" idx="2"/>
          </p:cNvCxnSpPr>
          <p:nvPr/>
        </p:nvCxnSpPr>
        <p:spPr>
          <a:xfrm rot="16200000" flipV="1">
            <a:off x="7690485" y="3263265"/>
            <a:ext cx="649605" cy="300101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95" name="文本框 94"/>
          <p:cNvSpPr txBox="1"/>
          <p:nvPr/>
        </p:nvSpPr>
        <p:spPr>
          <a:xfrm>
            <a:off x="5137785" y="4765040"/>
            <a:ext cx="812165" cy="22987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元数据接入</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96" name="文本框 95"/>
          <p:cNvSpPr txBox="1"/>
          <p:nvPr/>
        </p:nvSpPr>
        <p:spPr>
          <a:xfrm>
            <a:off x="8244205" y="4765040"/>
            <a:ext cx="1123315" cy="22987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元数据标准应用</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97" name="矩形 96"/>
          <p:cNvSpPr/>
          <p:nvPr/>
        </p:nvSpPr>
        <p:spPr>
          <a:xfrm>
            <a:off x="7536815" y="2501265"/>
            <a:ext cx="380365"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sym typeface="+mn-ea"/>
              </a:rPr>
              <a:t>元数据手工补录</a:t>
            </a:r>
            <a:endParaRPr lang="zh-CN" altLang="en-US" sz="1600" dirty="0">
              <a:solidFill>
                <a:schemeClr val="tx1"/>
              </a:solidFill>
              <a:latin typeface="微软雅黑" panose="020B0503020204020204" charset="-122"/>
              <a:ea typeface="微软雅黑" panose="020B0503020204020204" charset="-122"/>
            </a:endParaRPr>
          </a:p>
        </p:txBody>
      </p:sp>
      <p:cxnSp>
        <p:nvCxnSpPr>
          <p:cNvPr id="98" name="直接箭头连接符 97"/>
          <p:cNvCxnSpPr>
            <a:stCxn id="92" idx="3"/>
            <a:endCxn id="97" idx="1"/>
          </p:cNvCxnSpPr>
          <p:nvPr/>
        </p:nvCxnSpPr>
        <p:spPr>
          <a:xfrm flipV="1">
            <a:off x="7367270" y="3470275"/>
            <a:ext cx="16954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0" name="矩形 99"/>
          <p:cNvSpPr/>
          <p:nvPr/>
        </p:nvSpPr>
        <p:spPr>
          <a:xfrm>
            <a:off x="8121015" y="2501265"/>
            <a:ext cx="380365"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sym typeface="+mn-ea"/>
              </a:rPr>
              <a:t>文档登记注册</a:t>
            </a:r>
            <a:endParaRPr lang="zh-CN" altLang="en-US" sz="1600" dirty="0">
              <a:solidFill>
                <a:schemeClr val="tx1"/>
              </a:solidFill>
              <a:latin typeface="微软雅黑" panose="020B0503020204020204" charset="-122"/>
              <a:ea typeface="微软雅黑" panose="020B0503020204020204" charset="-122"/>
            </a:endParaRPr>
          </a:p>
        </p:txBody>
      </p:sp>
      <p:cxnSp>
        <p:nvCxnSpPr>
          <p:cNvPr id="101" name="直接箭头连接符 100"/>
          <p:cNvCxnSpPr>
            <a:stCxn id="97" idx="3"/>
            <a:endCxn id="100" idx="1"/>
          </p:cNvCxnSpPr>
          <p:nvPr/>
        </p:nvCxnSpPr>
        <p:spPr>
          <a:xfrm>
            <a:off x="7917180" y="3470275"/>
            <a:ext cx="2038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2" name="矩形 101"/>
          <p:cNvSpPr/>
          <p:nvPr/>
        </p:nvSpPr>
        <p:spPr>
          <a:xfrm>
            <a:off x="8679815" y="2501265"/>
            <a:ext cx="380365"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sym typeface="+mn-ea"/>
              </a:rPr>
              <a:t>文档摘要比对</a:t>
            </a:r>
            <a:endParaRPr lang="zh-CN" altLang="en-US" sz="1600" dirty="0">
              <a:solidFill>
                <a:schemeClr val="tx1"/>
              </a:solidFill>
              <a:latin typeface="微软雅黑" panose="020B0503020204020204" charset="-122"/>
              <a:ea typeface="微软雅黑" panose="020B0503020204020204" charset="-122"/>
            </a:endParaRPr>
          </a:p>
          <a:p>
            <a:pPr algn="ctr"/>
            <a:endParaRPr lang="zh-CN" altLang="en-US" sz="1600" dirty="0">
              <a:solidFill>
                <a:schemeClr val="tx1"/>
              </a:solidFill>
              <a:latin typeface="微软雅黑" panose="020B0503020204020204" charset="-122"/>
              <a:ea typeface="微软雅黑" panose="020B0503020204020204" charset="-122"/>
            </a:endParaRPr>
          </a:p>
        </p:txBody>
      </p:sp>
      <p:cxnSp>
        <p:nvCxnSpPr>
          <p:cNvPr id="103" name="直接箭头连接符 102"/>
          <p:cNvCxnSpPr>
            <a:stCxn id="100" idx="3"/>
            <a:endCxn id="102" idx="1"/>
          </p:cNvCxnSpPr>
          <p:nvPr/>
        </p:nvCxnSpPr>
        <p:spPr>
          <a:xfrm>
            <a:off x="8501380" y="3470275"/>
            <a:ext cx="1784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4" name="菱形 103"/>
          <p:cNvSpPr/>
          <p:nvPr/>
        </p:nvSpPr>
        <p:spPr>
          <a:xfrm>
            <a:off x="9218930" y="3062605"/>
            <a:ext cx="486410" cy="826770"/>
          </a:xfrm>
          <a:prstGeom prst="diamond">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dirty="0">
                <a:solidFill>
                  <a:schemeClr val="tx1"/>
                </a:solidFill>
                <a:latin typeface="微软雅黑" panose="020B0503020204020204" charset="-122"/>
                <a:ea typeface="微软雅黑" panose="020B0503020204020204" charset="-122"/>
                <a:sym typeface="+mn-ea"/>
              </a:rPr>
              <a:t>是否一致</a:t>
            </a:r>
            <a:endParaRPr lang="zh-CN" altLang="en-US" sz="1000" dirty="0">
              <a:solidFill>
                <a:schemeClr val="tx1"/>
              </a:solidFill>
              <a:latin typeface="微软雅黑" panose="020B0503020204020204" charset="-122"/>
              <a:ea typeface="微软雅黑" panose="020B0503020204020204" charset="-122"/>
              <a:sym typeface="+mn-ea"/>
            </a:endParaRPr>
          </a:p>
        </p:txBody>
      </p:sp>
      <p:cxnSp>
        <p:nvCxnSpPr>
          <p:cNvPr id="105" name="直接箭头连接符 104"/>
          <p:cNvCxnSpPr>
            <a:stCxn id="102" idx="3"/>
            <a:endCxn id="104" idx="1"/>
          </p:cNvCxnSpPr>
          <p:nvPr/>
        </p:nvCxnSpPr>
        <p:spPr>
          <a:xfrm>
            <a:off x="9060180" y="3470275"/>
            <a:ext cx="158750"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6" name="矩形 105"/>
          <p:cNvSpPr/>
          <p:nvPr/>
        </p:nvSpPr>
        <p:spPr>
          <a:xfrm>
            <a:off x="9865360" y="2501265"/>
            <a:ext cx="380365" cy="193802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sym typeface="+mn-ea"/>
              </a:rPr>
              <a:t>文档内容比对</a:t>
            </a:r>
            <a:endParaRPr lang="zh-CN" altLang="en-US" sz="1600" dirty="0">
              <a:solidFill>
                <a:schemeClr val="tx1"/>
              </a:solidFill>
              <a:latin typeface="微软雅黑" panose="020B0503020204020204" charset="-122"/>
              <a:ea typeface="微软雅黑" panose="020B0503020204020204" charset="-122"/>
            </a:endParaRPr>
          </a:p>
        </p:txBody>
      </p:sp>
      <p:cxnSp>
        <p:nvCxnSpPr>
          <p:cNvPr id="107" name="直接箭头连接符 106"/>
          <p:cNvCxnSpPr>
            <a:stCxn id="104" idx="3"/>
            <a:endCxn id="106" idx="1"/>
          </p:cNvCxnSpPr>
          <p:nvPr/>
        </p:nvCxnSpPr>
        <p:spPr>
          <a:xfrm flipV="1">
            <a:off x="9705340" y="3470275"/>
            <a:ext cx="160020"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8" name="菱形 107"/>
          <p:cNvSpPr/>
          <p:nvPr/>
        </p:nvSpPr>
        <p:spPr>
          <a:xfrm>
            <a:off x="10424160" y="3062605"/>
            <a:ext cx="486410" cy="826770"/>
          </a:xfrm>
          <a:prstGeom prst="diamond">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dirty="0">
                <a:solidFill>
                  <a:schemeClr val="tx1"/>
                </a:solidFill>
                <a:latin typeface="微软雅黑" panose="020B0503020204020204" charset="-122"/>
                <a:ea typeface="微软雅黑" panose="020B0503020204020204" charset="-122"/>
                <a:sym typeface="+mn-ea"/>
              </a:rPr>
              <a:t>是否一致</a:t>
            </a:r>
            <a:endParaRPr lang="zh-CN" altLang="en-US" sz="1000" dirty="0">
              <a:solidFill>
                <a:schemeClr val="tx1"/>
              </a:solidFill>
              <a:latin typeface="微软雅黑" panose="020B0503020204020204" charset="-122"/>
              <a:ea typeface="微软雅黑" panose="020B0503020204020204" charset="-122"/>
              <a:sym typeface="+mn-ea"/>
            </a:endParaRPr>
          </a:p>
        </p:txBody>
      </p:sp>
      <p:cxnSp>
        <p:nvCxnSpPr>
          <p:cNvPr id="109" name="直接箭头连接符 108"/>
          <p:cNvCxnSpPr>
            <a:stCxn id="106" idx="3"/>
            <a:endCxn id="108" idx="1"/>
          </p:cNvCxnSpPr>
          <p:nvPr/>
        </p:nvCxnSpPr>
        <p:spPr>
          <a:xfrm>
            <a:off x="10245725" y="3470275"/>
            <a:ext cx="178435" cy="571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2" name="矩形 111"/>
          <p:cNvSpPr/>
          <p:nvPr/>
        </p:nvSpPr>
        <p:spPr>
          <a:xfrm>
            <a:off x="11196320" y="2430145"/>
            <a:ext cx="380365" cy="104013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sym typeface="+mn-ea"/>
              </a:rPr>
              <a:t>独立存储</a:t>
            </a:r>
            <a:endParaRPr lang="zh-CN" altLang="en-US" sz="1600" dirty="0">
              <a:solidFill>
                <a:schemeClr val="tx1"/>
              </a:solidFill>
              <a:latin typeface="微软雅黑" panose="020B0503020204020204" charset="-122"/>
              <a:ea typeface="微软雅黑" panose="020B0503020204020204" charset="-122"/>
            </a:endParaRPr>
          </a:p>
        </p:txBody>
      </p:sp>
      <p:sp>
        <p:nvSpPr>
          <p:cNvPr id="113" name="矩形 112"/>
          <p:cNvSpPr/>
          <p:nvPr/>
        </p:nvSpPr>
        <p:spPr>
          <a:xfrm>
            <a:off x="11196320" y="3622040"/>
            <a:ext cx="380365" cy="104013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dirty="0">
                <a:solidFill>
                  <a:schemeClr val="tx1"/>
                </a:solidFill>
                <a:latin typeface="微软雅黑" panose="020B0503020204020204" charset="-122"/>
                <a:ea typeface="微软雅黑" panose="020B0503020204020204" charset="-122"/>
                <a:sym typeface="+mn-ea"/>
              </a:rPr>
              <a:t>合并存储</a:t>
            </a:r>
            <a:endParaRPr lang="zh-CN" altLang="en-US" sz="1600" dirty="0">
              <a:solidFill>
                <a:schemeClr val="tx1"/>
              </a:solidFill>
              <a:latin typeface="微软雅黑" panose="020B0503020204020204" charset="-122"/>
              <a:ea typeface="微软雅黑" panose="020B0503020204020204" charset="-122"/>
            </a:endParaRPr>
          </a:p>
        </p:txBody>
      </p:sp>
      <p:sp>
        <p:nvSpPr>
          <p:cNvPr id="114" name="矩形 113"/>
          <p:cNvSpPr/>
          <p:nvPr/>
        </p:nvSpPr>
        <p:spPr>
          <a:xfrm>
            <a:off x="11067415" y="1699895"/>
            <a:ext cx="673735" cy="3145790"/>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b="1">
                <a:latin typeface="微软雅黑" panose="020B0503020204020204" charset="-122"/>
                <a:ea typeface="微软雅黑" panose="020B0503020204020204" charset="-122"/>
              </a:rPr>
              <a:t>文档存储</a:t>
            </a:r>
            <a:endParaRPr lang="zh-CN" altLang="en-US" b="1">
              <a:latin typeface="微软雅黑" panose="020B0503020204020204" charset="-122"/>
              <a:ea typeface="微软雅黑" panose="020B0503020204020204" charset="-122"/>
            </a:endParaRPr>
          </a:p>
        </p:txBody>
      </p:sp>
      <p:cxnSp>
        <p:nvCxnSpPr>
          <p:cNvPr id="115" name="肘形连接符 114"/>
          <p:cNvCxnSpPr>
            <a:stCxn id="92" idx="0"/>
            <a:endCxn id="100" idx="0"/>
          </p:cNvCxnSpPr>
          <p:nvPr/>
        </p:nvCxnSpPr>
        <p:spPr>
          <a:xfrm rot="16200000">
            <a:off x="7437120" y="2188210"/>
            <a:ext cx="561340" cy="1187450"/>
          </a:xfrm>
          <a:prstGeom prst="bentConnector3">
            <a:avLst>
              <a:gd name="adj1" fmla="val 142421"/>
            </a:avLst>
          </a:prstGeom>
          <a:ln>
            <a:tailEnd type="arrow"/>
          </a:ln>
        </p:spPr>
        <p:style>
          <a:lnRef idx="2">
            <a:schemeClr val="accent1"/>
          </a:lnRef>
          <a:fillRef idx="0">
            <a:srgbClr val="FFFFFF"/>
          </a:fillRef>
          <a:effectRef idx="0">
            <a:srgbClr val="FFFFFF"/>
          </a:effectRef>
          <a:fontRef idx="minor">
            <a:schemeClr val="tx1"/>
          </a:fontRef>
        </p:style>
      </p:cxnSp>
      <p:sp>
        <p:nvSpPr>
          <p:cNvPr id="116" name="文本框 115"/>
          <p:cNvSpPr txBox="1"/>
          <p:nvPr/>
        </p:nvSpPr>
        <p:spPr>
          <a:xfrm>
            <a:off x="7084060" y="2618105"/>
            <a:ext cx="350520" cy="25146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是</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117" name="文本框 116"/>
          <p:cNvSpPr txBox="1"/>
          <p:nvPr/>
        </p:nvSpPr>
        <p:spPr>
          <a:xfrm>
            <a:off x="7226300" y="3627755"/>
            <a:ext cx="350520" cy="25146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否</a:t>
            </a:r>
            <a:endParaRPr lang="zh-CN" altLang="en-US" sz="900" dirty="0">
              <a:solidFill>
                <a:schemeClr val="bg1">
                  <a:lumMod val="50000"/>
                </a:schemeClr>
              </a:solidFill>
              <a:latin typeface="微软雅黑" panose="020B0503020204020204" charset="-122"/>
              <a:ea typeface="微软雅黑" panose="020B0503020204020204" charset="-122"/>
            </a:endParaRPr>
          </a:p>
        </p:txBody>
      </p:sp>
      <p:cxnSp>
        <p:nvCxnSpPr>
          <p:cNvPr id="118" name="肘形连接符 117"/>
          <p:cNvCxnSpPr>
            <a:stCxn id="104" idx="0"/>
            <a:endCxn id="112" idx="0"/>
          </p:cNvCxnSpPr>
          <p:nvPr/>
        </p:nvCxnSpPr>
        <p:spPr>
          <a:xfrm rot="16200000">
            <a:off x="10107930" y="1784350"/>
            <a:ext cx="632460" cy="1924685"/>
          </a:xfrm>
          <a:prstGeom prst="bentConnector3">
            <a:avLst>
              <a:gd name="adj1" fmla="val 120732"/>
            </a:avLst>
          </a:prstGeom>
          <a:ln>
            <a:tailEnd type="arrow"/>
          </a:ln>
        </p:spPr>
        <p:style>
          <a:lnRef idx="2">
            <a:schemeClr val="accent1"/>
          </a:lnRef>
          <a:fillRef idx="0">
            <a:srgbClr val="FFFFFF"/>
          </a:fillRef>
          <a:effectRef idx="0">
            <a:srgbClr val="FFFFFF"/>
          </a:effectRef>
          <a:fontRef idx="minor">
            <a:schemeClr val="tx1"/>
          </a:fontRef>
        </p:style>
      </p:cxnSp>
      <p:sp>
        <p:nvSpPr>
          <p:cNvPr id="119" name="文本框 118"/>
          <p:cNvSpPr txBox="1"/>
          <p:nvPr/>
        </p:nvSpPr>
        <p:spPr>
          <a:xfrm>
            <a:off x="9516110" y="2329815"/>
            <a:ext cx="350520" cy="25146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否</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120" name="文本框 119"/>
          <p:cNvSpPr txBox="1"/>
          <p:nvPr/>
        </p:nvSpPr>
        <p:spPr>
          <a:xfrm>
            <a:off x="9589770" y="3581400"/>
            <a:ext cx="350520" cy="25146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是</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121" name="文本框 120"/>
          <p:cNvSpPr txBox="1"/>
          <p:nvPr/>
        </p:nvSpPr>
        <p:spPr>
          <a:xfrm>
            <a:off x="10716895" y="3832860"/>
            <a:ext cx="350520" cy="25146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是</a:t>
            </a:r>
            <a:endParaRPr lang="zh-CN" altLang="en-US" sz="900" dirty="0">
              <a:solidFill>
                <a:schemeClr val="bg1">
                  <a:lumMod val="50000"/>
                </a:schemeClr>
              </a:solidFill>
              <a:latin typeface="微软雅黑" panose="020B0503020204020204" charset="-122"/>
              <a:ea typeface="微软雅黑" panose="020B0503020204020204" charset="-122"/>
            </a:endParaRPr>
          </a:p>
        </p:txBody>
      </p:sp>
      <p:cxnSp>
        <p:nvCxnSpPr>
          <p:cNvPr id="122" name="肘形连接符 121"/>
          <p:cNvCxnSpPr>
            <a:stCxn id="108" idx="0"/>
            <a:endCxn id="112" idx="1"/>
          </p:cNvCxnSpPr>
          <p:nvPr/>
        </p:nvCxnSpPr>
        <p:spPr>
          <a:xfrm rot="16200000">
            <a:off x="10875010" y="2741930"/>
            <a:ext cx="112395" cy="52895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23" name="肘形连接符 122"/>
          <p:cNvCxnSpPr>
            <a:stCxn id="108" idx="2"/>
            <a:endCxn id="113" idx="1"/>
          </p:cNvCxnSpPr>
          <p:nvPr/>
        </p:nvCxnSpPr>
        <p:spPr>
          <a:xfrm rot="5400000" flipV="1">
            <a:off x="10805160" y="3750945"/>
            <a:ext cx="252730" cy="52895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24" name="文本框 123"/>
          <p:cNvSpPr txBox="1"/>
          <p:nvPr/>
        </p:nvSpPr>
        <p:spPr>
          <a:xfrm>
            <a:off x="10694035" y="2648585"/>
            <a:ext cx="350520" cy="251460"/>
          </a:xfrm>
          <a:prstGeom prst="rect">
            <a:avLst/>
          </a:prstGeom>
          <a:noFill/>
        </p:spPr>
        <p:txBody>
          <a:bodyPr wrap="square" rtlCol="0">
            <a:no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否</a:t>
            </a:r>
            <a:endParaRPr lang="zh-CN" altLang="en-US" sz="900" dirty="0">
              <a:solidFill>
                <a:schemeClr val="bg1">
                  <a:lumMod val="50000"/>
                </a:schemeClr>
              </a:solidFill>
              <a:latin typeface="微软雅黑" panose="020B0503020204020204" charset="-122"/>
              <a:ea typeface="微软雅黑" panose="020B0503020204020204" charset="-122"/>
            </a:endParaRPr>
          </a:p>
        </p:txBody>
      </p:sp>
      <p:cxnSp>
        <p:nvCxnSpPr>
          <p:cNvPr id="125" name="肘形连接符 124"/>
          <p:cNvCxnSpPr>
            <a:stCxn id="114" idx="0"/>
            <a:endCxn id="67" idx="3"/>
          </p:cNvCxnSpPr>
          <p:nvPr/>
        </p:nvCxnSpPr>
        <p:spPr>
          <a:xfrm rot="16200000" flipV="1">
            <a:off x="6148070" y="-3556635"/>
            <a:ext cx="196215" cy="1031684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26" name="肘形连接符 125"/>
          <p:cNvCxnSpPr>
            <a:stCxn id="76" idx="0"/>
            <a:endCxn id="102" idx="0"/>
          </p:cNvCxnSpPr>
          <p:nvPr/>
        </p:nvCxnSpPr>
        <p:spPr>
          <a:xfrm rot="16200000" flipH="1">
            <a:off x="5944870" y="-424180"/>
            <a:ext cx="19685" cy="5830570"/>
          </a:xfrm>
          <a:prstGeom prst="bentConnector3">
            <a:avLst>
              <a:gd name="adj1" fmla="val -1917741"/>
            </a:avLst>
          </a:prstGeom>
          <a:ln>
            <a:tailEnd type="arrow"/>
          </a:ln>
        </p:spPr>
        <p:style>
          <a:lnRef idx="2">
            <a:schemeClr val="accent1"/>
          </a:lnRef>
          <a:fillRef idx="0">
            <a:srgbClr val="FFFFFF"/>
          </a:fillRef>
          <a:effectRef idx="0">
            <a:srgbClr val="FFFFFF"/>
          </a:effectRef>
          <a:fontRef idx="minor">
            <a:schemeClr val="tx1"/>
          </a:fontRef>
        </p:style>
      </p:cxnSp>
      <p:sp>
        <p:nvSpPr>
          <p:cNvPr id="63" name="矩形 62"/>
          <p:cNvSpPr/>
          <p:nvPr/>
        </p:nvSpPr>
        <p:spPr>
          <a:xfrm>
            <a:off x="2967990" y="5005705"/>
            <a:ext cx="4656455" cy="663575"/>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  L1资源层文档汇聚流程（示例）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62" name="组合 61"/>
          <p:cNvGrpSpPr/>
          <p:nvPr/>
        </p:nvGrpSpPr>
        <p:grpSpPr>
          <a:xfrm>
            <a:off x="162560" y="913130"/>
            <a:ext cx="11713845" cy="4926156"/>
            <a:chOff x="256" y="1438"/>
            <a:chExt cx="18447" cy="6038"/>
          </a:xfrm>
        </p:grpSpPr>
        <p:cxnSp>
          <p:nvCxnSpPr>
            <p:cNvPr id="3" name="直接连接符 2"/>
            <p:cNvCxnSpPr/>
            <p:nvPr/>
          </p:nvCxnSpPr>
          <p:spPr>
            <a:xfrm>
              <a:off x="7125" y="2229"/>
              <a:ext cx="0" cy="393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6" name="AutoShape 7"/>
            <p:cNvSpPr/>
            <p:nvPr/>
          </p:nvSpPr>
          <p:spPr>
            <a:xfrm>
              <a:off x="4003" y="2415"/>
              <a:ext cx="2564"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altLang="en-US" sz="1200" b="1">
                  <a:latin typeface="Calibri" panose="020F0502020204030204" pitchFamily="34" charset="0"/>
                  <a:ea typeface="Calibri" panose="020F0502020204030204" pitchFamily="34" charset="0"/>
                  <a:sym typeface="+mn-ea"/>
                </a:rPr>
                <a:t>①</a:t>
              </a: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一线知识云</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 name="AutoShape 7"/>
            <p:cNvSpPr/>
            <p:nvPr/>
          </p:nvSpPr>
          <p:spPr>
            <a:xfrm>
              <a:off x="4003" y="4391"/>
              <a:ext cx="2564"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Overflow="overflow" horzOverflow="overflow" vert="horz" wrap="square" lIns="63500" tIns="63500" rIns="63500" bIns="63500" numCol="1" spcCol="0" rtlCol="0" fromWordArt="0" anchor="ctr" anchorCtr="0" forceAA="0" compatLnSpc="1">
              <a:noAutofit/>
            </a:bodyPr>
            <a:lstStyle/>
            <a:p>
              <a:pPr lvl="0" algn="ctr">
                <a:buClrTx/>
                <a:buSzTx/>
                <a:buFontTx/>
                <a:defRPr/>
              </a:pPr>
              <a:r>
                <a:rPr lang="zh-CN" altLang="en-US" sz="1200" b="1">
                  <a:latin typeface="Calibri" panose="020F0502020204030204" pitchFamily="34" charset="0"/>
                  <a:ea typeface="Calibri" panose="020F0502020204030204" pitchFamily="34" charset="0"/>
                  <a:sym typeface="+mn-ea"/>
                </a:rPr>
                <a:t>②文档</a:t>
              </a:r>
              <a:r>
                <a:rPr lang="zh-CN" altLang="en-US" sz="1200" b="1">
                  <a:latin typeface="微软雅黑" panose="020B0503020204020204" charset="-122"/>
                  <a:ea typeface="微软雅黑" panose="020B0503020204020204" charset="-122"/>
                  <a:sym typeface="+mn-ea"/>
                </a:rPr>
                <a:t>源系统</a:t>
              </a:r>
              <a:endParaRPr lang="zh-CN" altLang="en-US" sz="1200" b="1">
                <a:latin typeface="微软雅黑" panose="020B0503020204020204" charset="-122"/>
                <a:ea typeface="微软雅黑" panose="020B0503020204020204" charset="-122"/>
                <a:sym typeface="+mn-ea"/>
              </a:endParaRPr>
            </a:p>
          </p:txBody>
        </p:sp>
        <p:cxnSp>
          <p:nvCxnSpPr>
            <p:cNvPr id="5" name="直接连接符 4"/>
            <p:cNvCxnSpPr/>
            <p:nvPr/>
          </p:nvCxnSpPr>
          <p:spPr>
            <a:xfrm>
              <a:off x="3445" y="2229"/>
              <a:ext cx="0" cy="393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 name="肘形连接符 10"/>
            <p:cNvCxnSpPr>
              <a:stCxn id="10" idx="3"/>
              <a:endCxn id="6" idx="1"/>
            </p:cNvCxnSpPr>
            <p:nvPr/>
          </p:nvCxnSpPr>
          <p:spPr>
            <a:xfrm flipV="1">
              <a:off x="1818" y="2655"/>
              <a:ext cx="2185" cy="1238"/>
            </a:xfrm>
            <a:prstGeom prst="bentConnector3">
              <a:avLst>
                <a:gd name="adj1" fmla="val 50023"/>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肘形连接符 12"/>
            <p:cNvCxnSpPr>
              <a:stCxn id="10" idx="3"/>
              <a:endCxn id="4" idx="1"/>
            </p:cNvCxnSpPr>
            <p:nvPr/>
          </p:nvCxnSpPr>
          <p:spPr>
            <a:xfrm>
              <a:off x="1818" y="3893"/>
              <a:ext cx="2185" cy="738"/>
            </a:xfrm>
            <a:prstGeom prst="bentConnector3">
              <a:avLst>
                <a:gd name="adj1" fmla="val 50023"/>
              </a:avLst>
            </a:prstGeom>
            <a:ln>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505" y="2175"/>
              <a:ext cx="2261" cy="886"/>
            </a:xfrm>
            <a:prstGeom prst="rect">
              <a:avLst/>
            </a:prstGeom>
            <a:noFill/>
          </p:spPr>
          <p:txBody>
            <a:bodyPr wrap="square" rtlCol="0">
              <a:noAutofit/>
            </a:bodyPr>
            <a:lstStyle/>
            <a:p>
              <a:pPr algn="l"/>
              <a:r>
                <a:rPr lang="zh-CN" altLang="en-US" sz="1000" dirty="0">
                  <a:solidFill>
                    <a:schemeClr val="bg1">
                      <a:lumMod val="50000"/>
                    </a:schemeClr>
                  </a:solidFill>
                  <a:latin typeface="微软雅黑" panose="020B0503020204020204" charset="-122"/>
                  <a:ea typeface="微软雅黑" panose="020B0503020204020204" charset="-122"/>
                </a:rPr>
                <a:t>各业务团队负责</a:t>
              </a:r>
              <a:endParaRPr lang="zh-CN" altLang="en-US" sz="1000" dirty="0">
                <a:solidFill>
                  <a:schemeClr val="bg1">
                    <a:lumMod val="50000"/>
                  </a:schemeClr>
                </a:solidFill>
                <a:latin typeface="微软雅黑" panose="020B0503020204020204" charset="-122"/>
                <a:ea typeface="微软雅黑" panose="020B0503020204020204" charset="-122"/>
              </a:endParaRPr>
            </a:p>
            <a:p>
              <a:pPr algn="l"/>
              <a:r>
                <a:rPr lang="zh-CN" altLang="en-US" sz="1000" dirty="0">
                  <a:solidFill>
                    <a:schemeClr val="bg1">
                      <a:lumMod val="50000"/>
                    </a:schemeClr>
                  </a:solidFill>
                  <a:latin typeface="微软雅黑" panose="020B0503020204020204" charset="-122"/>
                  <a:ea typeface="微软雅黑" panose="020B0503020204020204" charset="-122"/>
                </a:rPr>
                <a:t>正式文档上传提交、负责版本的有效性与真实性</a:t>
              </a:r>
              <a:endParaRPr lang="zh-CN" altLang="en-US" sz="1000" dirty="0">
                <a:solidFill>
                  <a:schemeClr val="bg1">
                    <a:lumMod val="50000"/>
                  </a:schemeClr>
                </a:solidFill>
                <a:latin typeface="微软雅黑" panose="020B0503020204020204" charset="-122"/>
                <a:ea typeface="微软雅黑" panose="020B0503020204020204" charset="-122"/>
              </a:endParaRPr>
            </a:p>
          </p:txBody>
        </p:sp>
        <p:sp>
          <p:nvSpPr>
            <p:cNvPr id="16" name="五边形 15"/>
            <p:cNvSpPr/>
            <p:nvPr/>
          </p:nvSpPr>
          <p:spPr>
            <a:xfrm>
              <a:off x="256" y="1438"/>
              <a:ext cx="3297" cy="541"/>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文档上传</a:t>
              </a:r>
              <a:endParaRPr lang="zh-CN" altLang="en-US" sz="1000">
                <a:latin typeface="微软雅黑" panose="020B0503020204020204" charset="-122"/>
                <a:ea typeface="微软雅黑" panose="020B0503020204020204" charset="-122"/>
              </a:endParaRPr>
            </a:p>
          </p:txBody>
        </p:sp>
        <p:sp>
          <p:nvSpPr>
            <p:cNvPr id="17" name="燕尾形 16"/>
            <p:cNvSpPr/>
            <p:nvPr/>
          </p:nvSpPr>
          <p:spPr>
            <a:xfrm>
              <a:off x="3538" y="1439"/>
              <a:ext cx="3727" cy="532"/>
            </a:xfrm>
            <a:prstGeom prst="chevron">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源端系统存储</a:t>
              </a:r>
              <a:endParaRPr lang="zh-CN" altLang="en-US" sz="1000">
                <a:latin typeface="微软雅黑" panose="020B0503020204020204" charset="-122"/>
                <a:ea typeface="微软雅黑" panose="020B0503020204020204" charset="-122"/>
                <a:sym typeface="+mn-ea"/>
              </a:endParaRPr>
            </a:p>
          </p:txBody>
        </p:sp>
        <p:sp>
          <p:nvSpPr>
            <p:cNvPr id="20" name="矩形 19"/>
            <p:cNvSpPr/>
            <p:nvPr/>
          </p:nvSpPr>
          <p:spPr>
            <a:xfrm>
              <a:off x="4022" y="2911"/>
              <a:ext cx="2522" cy="1202"/>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000">
                  <a:solidFill>
                    <a:schemeClr val="tx1"/>
                  </a:solidFill>
                  <a:latin typeface="微软雅黑" panose="020B0503020204020204" charset="-122"/>
                  <a:ea typeface="微软雅黑" panose="020B0503020204020204" charset="-122"/>
                </a:rPr>
                <a:t>文档存储、文件源数据管理、文件传输接口提供，元数据信息接口提供，目录接口提供</a:t>
              </a:r>
              <a:endParaRPr lang="zh-CN" altLang="en-US" sz="1000">
                <a:solidFill>
                  <a:schemeClr val="tx1"/>
                </a:solidFill>
                <a:latin typeface="微软雅黑" panose="020B0503020204020204" charset="-122"/>
                <a:ea typeface="微软雅黑" panose="020B0503020204020204" charset="-122"/>
              </a:endParaRPr>
            </a:p>
          </p:txBody>
        </p:sp>
        <p:sp>
          <p:nvSpPr>
            <p:cNvPr id="21" name="矩形 20"/>
            <p:cNvSpPr/>
            <p:nvPr/>
          </p:nvSpPr>
          <p:spPr>
            <a:xfrm>
              <a:off x="4024" y="4871"/>
              <a:ext cx="2522" cy="1012"/>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000">
                  <a:solidFill>
                    <a:schemeClr val="tx1"/>
                  </a:solidFill>
                  <a:latin typeface="微软雅黑" panose="020B0503020204020204" charset="-122"/>
                  <a:ea typeface="微软雅黑" panose="020B0503020204020204" charset="-122"/>
                </a:rPr>
                <a:t>文档存储、文件源数据管理、文件传输接口提供，元数据接口提供，目录接口提供</a:t>
              </a:r>
              <a:endParaRPr lang="zh-CN" altLang="en-US" sz="1000">
                <a:solidFill>
                  <a:schemeClr val="tx1"/>
                </a:solidFill>
                <a:latin typeface="微软雅黑" panose="020B0503020204020204" charset="-122"/>
                <a:ea typeface="微软雅黑" panose="020B0503020204020204" charset="-122"/>
              </a:endParaRPr>
            </a:p>
          </p:txBody>
        </p:sp>
        <p:sp>
          <p:nvSpPr>
            <p:cNvPr id="23" name="燕尾形 22"/>
            <p:cNvSpPr/>
            <p:nvPr/>
          </p:nvSpPr>
          <p:spPr>
            <a:xfrm>
              <a:off x="7265" y="1439"/>
              <a:ext cx="3727" cy="532"/>
            </a:xfrm>
            <a:prstGeom prst="chevron">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源端配置</a:t>
              </a:r>
              <a:endParaRPr lang="zh-CN" altLang="en-US" sz="1000">
                <a:latin typeface="微软雅黑" panose="020B0503020204020204" charset="-122"/>
                <a:ea typeface="微软雅黑" panose="020B0503020204020204" charset="-122"/>
                <a:sym typeface="+mn-ea"/>
              </a:endParaRPr>
            </a:p>
          </p:txBody>
        </p:sp>
        <p:cxnSp>
          <p:nvCxnSpPr>
            <p:cNvPr id="24" name="直接连接符 23"/>
            <p:cNvCxnSpPr/>
            <p:nvPr/>
          </p:nvCxnSpPr>
          <p:spPr>
            <a:xfrm>
              <a:off x="10971" y="2229"/>
              <a:ext cx="0" cy="393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nvGrpSpPr>
            <p:cNvPr id="7" name="组合 6"/>
            <p:cNvGrpSpPr/>
            <p:nvPr/>
          </p:nvGrpSpPr>
          <p:grpSpPr>
            <a:xfrm>
              <a:off x="11239" y="2175"/>
              <a:ext cx="3259" cy="1508"/>
              <a:chOff x="7438" y="2471"/>
              <a:chExt cx="3259" cy="1508"/>
            </a:xfrm>
          </p:grpSpPr>
          <p:sp>
            <p:nvSpPr>
              <p:cNvPr id="25" name="AutoShape 7"/>
              <p:cNvSpPr/>
              <p:nvPr/>
            </p:nvSpPr>
            <p:spPr>
              <a:xfrm>
                <a:off x="7439" y="2471"/>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知识工程平台</a:t>
                </a:r>
                <a:r>
                  <a:rPr lang="en-US" altLang="zh-CN" sz="1000" b="1">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文档导入</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0" name="矩形 29"/>
              <p:cNvSpPr/>
              <p:nvPr/>
            </p:nvSpPr>
            <p:spPr>
              <a:xfrm>
                <a:off x="7438" y="2951"/>
                <a:ext cx="3258" cy="1028"/>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000">
                    <a:solidFill>
                      <a:schemeClr val="tx1"/>
                    </a:solidFill>
                    <a:latin typeface="微软雅黑" panose="020B0503020204020204" charset="-122"/>
                    <a:ea typeface="微软雅黑" panose="020B0503020204020204" charset="-122"/>
                  </a:rPr>
                  <a:t>导入目录文件，文档摘要生成，进行智能解析</a:t>
                </a:r>
                <a:endParaRPr lang="zh-CN" altLang="en-US" sz="1000">
                  <a:solidFill>
                    <a:schemeClr val="tx1"/>
                  </a:solidFill>
                  <a:latin typeface="微软雅黑" panose="020B0503020204020204" charset="-122"/>
                  <a:ea typeface="微软雅黑" panose="020B0503020204020204" charset="-122"/>
                </a:endParaRPr>
              </a:p>
            </p:txBody>
          </p:sp>
        </p:grpSp>
        <p:sp>
          <p:nvSpPr>
            <p:cNvPr id="9" name="AutoShape 7"/>
            <p:cNvSpPr/>
            <p:nvPr/>
          </p:nvSpPr>
          <p:spPr>
            <a:xfrm>
              <a:off x="11247" y="4027"/>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知识工程平台</a:t>
              </a:r>
              <a:r>
                <a:rPr lang="en-US" altLang="zh-CN" sz="1000" b="1">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元数据自动化采集</a:t>
              </a:r>
              <a:endParaRPr lang="en-US" altLang="zh-CN"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2" name="矩形 11"/>
            <p:cNvSpPr/>
            <p:nvPr/>
          </p:nvSpPr>
          <p:spPr>
            <a:xfrm>
              <a:off x="11246" y="4488"/>
              <a:ext cx="3258" cy="693"/>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000">
                  <a:solidFill>
                    <a:schemeClr val="tx1"/>
                  </a:solidFill>
                  <a:latin typeface="微软雅黑" panose="020B0503020204020204" charset="-122"/>
                  <a:ea typeface="微软雅黑" panose="020B0503020204020204" charset="-122"/>
                </a:rPr>
                <a:t>业务元数据、管理元数据、技术元数据</a:t>
              </a:r>
              <a:endParaRPr lang="zh-CN" altLang="en-US" sz="1000">
                <a:solidFill>
                  <a:schemeClr val="tx1"/>
                </a:solidFill>
                <a:latin typeface="微软雅黑" panose="020B0503020204020204" charset="-122"/>
                <a:ea typeface="微软雅黑" panose="020B0503020204020204" charset="-122"/>
              </a:endParaRPr>
            </a:p>
          </p:txBody>
        </p:sp>
        <p:sp>
          <p:nvSpPr>
            <p:cNvPr id="26" name="文本框 25"/>
            <p:cNvSpPr txBox="1"/>
            <p:nvPr/>
          </p:nvSpPr>
          <p:spPr>
            <a:xfrm>
              <a:off x="5519" y="2027"/>
              <a:ext cx="2088" cy="300"/>
            </a:xfrm>
            <a:prstGeom prst="rect">
              <a:avLst/>
            </a:prstGeom>
            <a:noFill/>
          </p:spPr>
          <p:txBody>
            <a:bodyPr wrap="square" rtlCol="0" anchor="t">
              <a:spAutoFit/>
            </a:bodyPr>
            <a:lstStyle/>
            <a:p>
              <a:pPr algn="ctr"/>
              <a:r>
                <a:rPr lang="zh-CN" altLang="en-US" sz="1000" dirty="0">
                  <a:solidFill>
                    <a:schemeClr val="bg1">
                      <a:lumMod val="50000"/>
                    </a:schemeClr>
                  </a:solidFill>
                  <a:latin typeface="微软雅黑" panose="020B0503020204020204" charset="-122"/>
                  <a:ea typeface="微软雅黑" panose="020B0503020204020204" charset="-122"/>
                  <a:sym typeface="+mn-ea"/>
                </a:rPr>
                <a:t>文档、元数据对接</a:t>
              </a:r>
              <a:endParaRPr lang="zh-CN" altLang="en-US" sz="1000" dirty="0">
                <a:solidFill>
                  <a:schemeClr val="bg1">
                    <a:lumMod val="50000"/>
                  </a:schemeClr>
                </a:solidFill>
                <a:latin typeface="微软雅黑" panose="020B0503020204020204" charset="-122"/>
                <a:ea typeface="微软雅黑" panose="020B0503020204020204" charset="-122"/>
                <a:sym typeface="+mn-ea"/>
              </a:endParaRPr>
            </a:p>
          </p:txBody>
        </p:sp>
        <p:sp>
          <p:nvSpPr>
            <p:cNvPr id="32" name="燕尾形 31"/>
            <p:cNvSpPr/>
            <p:nvPr/>
          </p:nvSpPr>
          <p:spPr>
            <a:xfrm>
              <a:off x="10971" y="1439"/>
              <a:ext cx="3727" cy="532"/>
            </a:xfrm>
            <a:prstGeom prst="chevron">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SzTx/>
                <a:defRPr/>
              </a:pP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文档导入及元数据采集</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34" name="直接连接符 33"/>
            <p:cNvCxnSpPr/>
            <p:nvPr/>
          </p:nvCxnSpPr>
          <p:spPr>
            <a:xfrm>
              <a:off x="14689" y="2229"/>
              <a:ext cx="0" cy="3935"/>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35" name="燕尾形 34"/>
            <p:cNvSpPr/>
            <p:nvPr/>
          </p:nvSpPr>
          <p:spPr>
            <a:xfrm>
              <a:off x="14704" y="1439"/>
              <a:ext cx="3727" cy="532"/>
            </a:xfrm>
            <a:prstGeom prst="chevron">
              <a:avLst/>
            </a:prstGeom>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SzTx/>
                <a:defRPr/>
              </a:pP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文档存储</a:t>
              </a:r>
              <a:endParaRPr lang="zh-CN" altLang="en-US" sz="1000">
                <a:latin typeface="微软雅黑" panose="020B0503020204020204" charset="-122"/>
                <a:ea typeface="微软雅黑" panose="020B0503020204020204" charset="-122"/>
                <a:sym typeface="+mn-ea"/>
              </a:endParaRPr>
            </a:p>
          </p:txBody>
        </p:sp>
        <p:sp>
          <p:nvSpPr>
            <p:cNvPr id="36" name="AutoShape 7"/>
            <p:cNvSpPr/>
            <p:nvPr/>
          </p:nvSpPr>
          <p:spPr>
            <a:xfrm>
              <a:off x="11246" y="5441"/>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知识工程平台</a:t>
              </a:r>
              <a:r>
                <a:rPr lang="en-US" altLang="zh-CN" sz="1000" b="1">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元数据标准检核与注册</a:t>
              </a:r>
              <a:endParaRPr lang="en-US" altLang="zh-CN"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7" name="矩形 36"/>
            <p:cNvSpPr/>
            <p:nvPr/>
          </p:nvSpPr>
          <p:spPr>
            <a:xfrm>
              <a:off x="11246" y="5882"/>
              <a:ext cx="3258" cy="1171"/>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en-US" altLang="zh-CN" sz="1000" dirty="0">
                  <a:solidFill>
                    <a:schemeClr val="tx1"/>
                  </a:solidFill>
                  <a:latin typeface="微软雅黑" panose="020B0503020204020204" charset="-122"/>
                  <a:ea typeface="微软雅黑" panose="020B0503020204020204" charset="-122"/>
                  <a:sym typeface="+mn-ea"/>
                </a:rPr>
                <a:t>IT</a:t>
              </a:r>
              <a:r>
                <a:rPr lang="zh-CN" altLang="en-US" sz="1000" dirty="0">
                  <a:solidFill>
                    <a:schemeClr val="tx1"/>
                  </a:solidFill>
                  <a:latin typeface="微软雅黑" panose="020B0503020204020204" charset="-122"/>
                  <a:ea typeface="微软雅黑" panose="020B0503020204020204" charset="-122"/>
                  <a:sym typeface="+mn-ea"/>
                </a:rPr>
                <a:t>知识运营团队负责元数据标准的配置，系统自动进行校验（接口数据不满足标准则打回）、非必填信息手工补录、系统文档注册</a:t>
              </a:r>
              <a:endParaRPr lang="zh-CN" altLang="en-US" sz="1000">
                <a:solidFill>
                  <a:schemeClr val="tx1"/>
                </a:solidFill>
                <a:latin typeface="微软雅黑" panose="020B0503020204020204" charset="-122"/>
                <a:ea typeface="微软雅黑" panose="020B0503020204020204" charset="-122"/>
              </a:endParaRPr>
            </a:p>
          </p:txBody>
        </p:sp>
        <p:sp>
          <p:nvSpPr>
            <p:cNvPr id="44" name="AutoShape 7"/>
            <p:cNvSpPr/>
            <p:nvPr/>
          </p:nvSpPr>
          <p:spPr>
            <a:xfrm>
              <a:off x="15056" y="2471"/>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sz="1000" b="1">
                  <a:solidFill>
                    <a:schemeClr val="bg1"/>
                  </a:solidFill>
                  <a:latin typeface="微软雅黑" panose="020B0503020204020204" charset="-122"/>
                  <a:ea typeface="微软雅黑" panose="020B0503020204020204" charset="-122"/>
                  <a:cs typeface="微软雅黑" panose="020B0503020204020204" charset="-122"/>
                  <a:sym typeface="+mn-ea"/>
                </a:rPr>
                <a:t>文档摘要比对</a:t>
              </a:r>
              <a:endParaRPr lang="zh-CN"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5" name="矩形 44"/>
            <p:cNvSpPr/>
            <p:nvPr/>
          </p:nvSpPr>
          <p:spPr>
            <a:xfrm>
              <a:off x="15056" y="2951"/>
              <a:ext cx="3258" cy="647"/>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sym typeface="+mn-ea"/>
                </a:rPr>
                <a:t>文档摘要比对</a:t>
              </a:r>
              <a:endParaRPr lang="zh-CN" altLang="en-US" sz="1000">
                <a:solidFill>
                  <a:schemeClr val="tx1"/>
                </a:solidFill>
                <a:latin typeface="微软雅黑" panose="020B0503020204020204" charset="-122"/>
                <a:ea typeface="微软雅黑" panose="020B0503020204020204" charset="-122"/>
              </a:endParaRPr>
            </a:p>
          </p:txBody>
        </p:sp>
        <p:cxnSp>
          <p:nvCxnSpPr>
            <p:cNvPr id="47" name="直接箭头连接符 46"/>
            <p:cNvCxnSpPr>
              <a:stCxn id="12" idx="2"/>
              <a:endCxn id="36" idx="0"/>
            </p:cNvCxnSpPr>
            <p:nvPr/>
          </p:nvCxnSpPr>
          <p:spPr>
            <a:xfrm>
              <a:off x="12875" y="5181"/>
              <a:ext cx="0" cy="2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50" name="AutoShape 7"/>
            <p:cNvSpPr/>
            <p:nvPr/>
          </p:nvSpPr>
          <p:spPr>
            <a:xfrm>
              <a:off x="15056" y="4054"/>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sz="1000" b="1">
                  <a:solidFill>
                    <a:schemeClr val="bg1"/>
                  </a:solidFill>
                  <a:latin typeface="微软雅黑" panose="020B0503020204020204" charset="-122"/>
                  <a:ea typeface="微软雅黑" panose="020B0503020204020204" charset="-122"/>
                  <a:cs typeface="微软雅黑" panose="020B0503020204020204" charset="-122"/>
                  <a:sym typeface="+mn-ea"/>
                </a:rPr>
                <a:t>文档内容比对</a:t>
              </a:r>
              <a:endParaRPr lang="zh-CN"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1" name="矩形 50"/>
            <p:cNvSpPr/>
            <p:nvPr/>
          </p:nvSpPr>
          <p:spPr>
            <a:xfrm>
              <a:off x="15056" y="4534"/>
              <a:ext cx="3258" cy="647"/>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sym typeface="+mn-ea"/>
                </a:rPr>
                <a:t>文档内容比对</a:t>
              </a:r>
              <a:endParaRPr lang="zh-CN" altLang="en-US" sz="1000">
                <a:solidFill>
                  <a:schemeClr val="tx1"/>
                </a:solidFill>
                <a:latin typeface="微软雅黑" panose="020B0503020204020204" charset="-122"/>
                <a:ea typeface="微软雅黑" panose="020B0503020204020204" charset="-122"/>
              </a:endParaRPr>
            </a:p>
          </p:txBody>
        </p:sp>
        <p:sp>
          <p:nvSpPr>
            <p:cNvPr id="52" name="AutoShape 7"/>
            <p:cNvSpPr/>
            <p:nvPr/>
          </p:nvSpPr>
          <p:spPr>
            <a:xfrm>
              <a:off x="15056" y="5832"/>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sz="1000" b="1">
                  <a:solidFill>
                    <a:schemeClr val="bg1"/>
                  </a:solidFill>
                  <a:latin typeface="微软雅黑" panose="020B0503020204020204" charset="-122"/>
                  <a:ea typeface="微软雅黑" panose="020B0503020204020204" charset="-122"/>
                  <a:cs typeface="微软雅黑" panose="020B0503020204020204" charset="-122"/>
                  <a:sym typeface="+mn-ea"/>
                </a:rPr>
                <a:t>文档存储</a:t>
              </a:r>
              <a:endParaRPr lang="zh-CN"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53" name="矩形 52"/>
            <p:cNvSpPr/>
            <p:nvPr/>
          </p:nvSpPr>
          <p:spPr>
            <a:xfrm>
              <a:off x="15056" y="6312"/>
              <a:ext cx="3258" cy="647"/>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sym typeface="+mn-ea"/>
                </a:rPr>
                <a:t>合并存储</a:t>
              </a:r>
              <a:endParaRPr lang="zh-CN" altLang="en-US" sz="1000">
                <a:solidFill>
                  <a:schemeClr val="tx1"/>
                </a:solidFill>
                <a:latin typeface="微软雅黑" panose="020B0503020204020204" charset="-122"/>
                <a:ea typeface="微软雅黑" panose="020B0503020204020204" charset="-122"/>
              </a:endParaRPr>
            </a:p>
          </p:txBody>
        </p:sp>
        <p:cxnSp>
          <p:nvCxnSpPr>
            <p:cNvPr id="54" name="直接箭头连接符 53"/>
            <p:cNvCxnSpPr>
              <a:stCxn id="45" idx="2"/>
              <a:endCxn id="50" idx="0"/>
            </p:cNvCxnSpPr>
            <p:nvPr/>
          </p:nvCxnSpPr>
          <p:spPr>
            <a:xfrm>
              <a:off x="16685" y="3598"/>
              <a:ext cx="0" cy="45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5" name="直接箭头连接符 54"/>
            <p:cNvCxnSpPr>
              <a:stCxn id="51" idx="2"/>
              <a:endCxn id="52" idx="0"/>
            </p:cNvCxnSpPr>
            <p:nvPr/>
          </p:nvCxnSpPr>
          <p:spPr>
            <a:xfrm>
              <a:off x="16685" y="5181"/>
              <a:ext cx="0" cy="65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6" name="肘形连接符 55"/>
            <p:cNvCxnSpPr>
              <a:stCxn id="36" idx="3"/>
              <a:endCxn id="44" idx="0"/>
            </p:cNvCxnSpPr>
            <p:nvPr/>
          </p:nvCxnSpPr>
          <p:spPr>
            <a:xfrm flipV="1">
              <a:off x="14504" y="2471"/>
              <a:ext cx="2181" cy="3211"/>
            </a:xfrm>
            <a:prstGeom prst="bentConnector4">
              <a:avLst>
                <a:gd name="adj1" fmla="val 12655"/>
                <a:gd name="adj2" fmla="val 109091"/>
              </a:avLst>
            </a:prstGeom>
            <a:ln>
              <a:tailEnd type="arrow"/>
            </a:ln>
          </p:spPr>
          <p:style>
            <a:lnRef idx="2">
              <a:schemeClr val="accent1"/>
            </a:lnRef>
            <a:fillRef idx="0">
              <a:srgbClr val="FFFFFF"/>
            </a:fillRef>
            <a:effectRef idx="0">
              <a:srgbClr val="FFFFFF"/>
            </a:effectRef>
            <a:fontRef idx="minor">
              <a:schemeClr val="tx1"/>
            </a:fontRef>
          </p:style>
        </p:cxnSp>
        <p:sp>
          <p:nvSpPr>
            <p:cNvPr id="57" name="文本框 56"/>
            <p:cNvSpPr txBox="1"/>
            <p:nvPr/>
          </p:nvSpPr>
          <p:spPr>
            <a:xfrm>
              <a:off x="16842" y="2029"/>
              <a:ext cx="1861" cy="300"/>
            </a:xfrm>
            <a:prstGeom prst="rect">
              <a:avLst/>
            </a:prstGeom>
            <a:noFill/>
          </p:spPr>
          <p:txBody>
            <a:bodyPr wrap="square" rtlCol="0" anchor="t">
              <a:spAutoFit/>
            </a:bodyPr>
            <a:lstStyle/>
            <a:p>
              <a:pPr algn="ctr"/>
              <a:r>
                <a:rPr lang="zh-CN" altLang="en-US" sz="1000" dirty="0">
                  <a:solidFill>
                    <a:schemeClr val="bg1">
                      <a:lumMod val="50000"/>
                    </a:schemeClr>
                  </a:solidFill>
                  <a:latin typeface="微软雅黑" panose="020B0503020204020204" charset="-122"/>
                  <a:ea typeface="微软雅黑" panose="020B0503020204020204" charset="-122"/>
                  <a:sym typeface="+mn-ea"/>
                </a:rPr>
                <a:t>摘要输出</a:t>
              </a:r>
              <a:r>
                <a:rPr lang="en-US" altLang="zh-CN" sz="1000" dirty="0">
                  <a:solidFill>
                    <a:schemeClr val="bg1">
                      <a:lumMod val="50000"/>
                    </a:schemeClr>
                  </a:solidFill>
                  <a:latin typeface="微软雅黑" panose="020B0503020204020204" charset="-122"/>
                  <a:ea typeface="微软雅黑" panose="020B0503020204020204" charset="-122"/>
                  <a:sym typeface="+mn-ea"/>
                </a:rPr>
                <a:t> </a:t>
              </a:r>
              <a:endParaRPr lang="zh-CN" altLang="en-US" sz="1000" dirty="0">
                <a:solidFill>
                  <a:schemeClr val="bg1">
                    <a:lumMod val="50000"/>
                  </a:schemeClr>
                </a:solidFill>
                <a:latin typeface="微软雅黑" panose="020B0503020204020204" charset="-122"/>
                <a:ea typeface="微软雅黑" panose="020B0503020204020204" charset="-122"/>
                <a:sym typeface="+mn-ea"/>
              </a:endParaRPr>
            </a:p>
          </p:txBody>
        </p:sp>
        <p:cxnSp>
          <p:nvCxnSpPr>
            <p:cNvPr id="58" name="肘形连接符 57"/>
            <p:cNvCxnSpPr>
              <a:stCxn id="36" idx="3"/>
              <a:endCxn id="44" idx="1"/>
            </p:cNvCxnSpPr>
            <p:nvPr/>
          </p:nvCxnSpPr>
          <p:spPr>
            <a:xfrm flipV="1">
              <a:off x="14504" y="2711"/>
              <a:ext cx="552" cy="2970"/>
            </a:xfrm>
            <a:prstGeom prst="bentConnector3">
              <a:avLst>
                <a:gd name="adj1" fmla="val 50000"/>
              </a:avLst>
            </a:prstGeom>
            <a:ln>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a:stCxn id="30" idx="2"/>
              <a:endCxn id="9" idx="0"/>
            </p:cNvCxnSpPr>
            <p:nvPr/>
          </p:nvCxnSpPr>
          <p:spPr>
            <a:xfrm>
              <a:off x="12868" y="3683"/>
              <a:ext cx="8" cy="344"/>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18" name="组合 17"/>
            <p:cNvGrpSpPr/>
            <p:nvPr/>
          </p:nvGrpSpPr>
          <p:grpSpPr>
            <a:xfrm>
              <a:off x="7464" y="2413"/>
              <a:ext cx="3259" cy="5063"/>
              <a:chOff x="7438" y="2471"/>
              <a:chExt cx="3259" cy="5063"/>
            </a:xfrm>
          </p:grpSpPr>
          <p:sp>
            <p:nvSpPr>
              <p:cNvPr id="22" name="AutoShape 7"/>
              <p:cNvSpPr/>
              <p:nvPr/>
            </p:nvSpPr>
            <p:spPr>
              <a:xfrm>
                <a:off x="7439" y="2471"/>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知识工程平台</a:t>
                </a:r>
                <a:r>
                  <a:rPr lang="en-US" altLang="zh-CN" sz="1000" b="1">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源端配置</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28"/>
              <p:cNvSpPr/>
              <p:nvPr/>
            </p:nvSpPr>
            <p:spPr>
              <a:xfrm>
                <a:off x="7438" y="2951"/>
                <a:ext cx="3258" cy="1028"/>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000">
                    <a:solidFill>
                      <a:schemeClr val="tx1"/>
                    </a:solidFill>
                    <a:latin typeface="微软雅黑" panose="020B0503020204020204" charset="-122"/>
                    <a:ea typeface="微软雅黑" panose="020B0503020204020204" charset="-122"/>
                  </a:rPr>
                  <a:t>知识工程平台提供源端系统对接配置，为源系统提供元数据接口规范</a:t>
                </a:r>
                <a:endParaRPr lang="zh-CN" altLang="en-US" sz="1000">
                  <a:solidFill>
                    <a:schemeClr val="tx1"/>
                  </a:solidFill>
                  <a:latin typeface="微软雅黑" panose="020B0503020204020204" charset="-122"/>
                  <a:ea typeface="微软雅黑" panose="020B0503020204020204" charset="-122"/>
                </a:endParaRPr>
              </a:p>
              <a:p>
                <a:pPr algn="l"/>
                <a:endParaRPr lang="zh-CN" altLang="en-US" sz="1000">
                  <a:solidFill>
                    <a:schemeClr val="tx1"/>
                  </a:solidFill>
                  <a:latin typeface="微软雅黑" panose="020B0503020204020204" charset="-122"/>
                  <a:ea typeface="微软雅黑" panose="020B0503020204020204" charset="-122"/>
                </a:endParaRPr>
              </a:p>
            </p:txBody>
          </p:sp>
          <p:sp>
            <p:nvSpPr>
              <p:cNvPr id="27" name="AutoShape 7"/>
              <p:cNvSpPr/>
              <p:nvPr/>
            </p:nvSpPr>
            <p:spPr>
              <a:xfrm>
                <a:off x="7439" y="6011"/>
                <a:ext cx="3258" cy="48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zh-CN" altLang="en-US" sz="1200" b="1">
                    <a:latin typeface="Calibri" panose="020F0502020204030204" pitchFamily="34" charset="0"/>
                    <a:ea typeface="Calibri" panose="020F0502020204030204" pitchFamily="34" charset="0"/>
                    <a:sym typeface="+mn-ea"/>
                  </a:rPr>
                  <a:t>③</a:t>
                </a: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知识工程平台</a:t>
                </a:r>
                <a:r>
                  <a:rPr lang="en-US" altLang="zh-CN" sz="1000" b="1">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rPr>
                  <a:t>手工上传</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8" name="矩形 27"/>
              <p:cNvSpPr/>
              <p:nvPr/>
            </p:nvSpPr>
            <p:spPr>
              <a:xfrm>
                <a:off x="7438" y="6506"/>
                <a:ext cx="3258" cy="1028"/>
              </a:xfrm>
              <a:prstGeom prst="rect">
                <a:avLst/>
              </a:prstGeom>
              <a:solidFill>
                <a:schemeClr val="bg1">
                  <a:lumMod val="95000"/>
                </a:schemeClr>
              </a:solidFill>
              <a:ln w="31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000">
                    <a:solidFill>
                      <a:schemeClr val="tx1"/>
                    </a:solidFill>
                    <a:latin typeface="微软雅黑" panose="020B0503020204020204" charset="-122"/>
                    <a:ea typeface="微软雅黑" panose="020B0503020204020204" charset="-122"/>
                  </a:rPr>
                  <a:t>业务团队通过知识工程平台手工上传功能界面上传文件</a:t>
                </a:r>
                <a:endParaRPr lang="zh-CN" altLang="en-US" sz="1000">
                  <a:solidFill>
                    <a:schemeClr val="tx1"/>
                  </a:solidFill>
                  <a:latin typeface="微软雅黑" panose="020B0503020204020204" charset="-122"/>
                  <a:ea typeface="微软雅黑" panose="020B0503020204020204" charset="-122"/>
                </a:endParaRPr>
              </a:p>
            </p:txBody>
          </p:sp>
        </p:grpSp>
        <p:cxnSp>
          <p:nvCxnSpPr>
            <p:cNvPr id="31" name="肘形连接符 30"/>
            <p:cNvCxnSpPr>
              <a:stCxn id="4" idx="3"/>
              <a:endCxn id="22" idx="1"/>
            </p:cNvCxnSpPr>
            <p:nvPr/>
          </p:nvCxnSpPr>
          <p:spPr>
            <a:xfrm flipV="1">
              <a:off x="6567" y="2653"/>
              <a:ext cx="898" cy="1978"/>
            </a:xfrm>
            <a:prstGeom prst="bentConnector3">
              <a:avLst>
                <a:gd name="adj1" fmla="val 50000"/>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8" name="直接箭头连接符 37"/>
            <p:cNvCxnSpPr>
              <a:stCxn id="6" idx="3"/>
              <a:endCxn id="22" idx="1"/>
            </p:cNvCxnSpPr>
            <p:nvPr/>
          </p:nvCxnSpPr>
          <p:spPr>
            <a:xfrm flipV="1">
              <a:off x="6567" y="2653"/>
              <a:ext cx="898" cy="2"/>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8" name="肘形连接符 47"/>
            <p:cNvCxnSpPr>
              <a:stCxn id="22" idx="3"/>
              <a:endCxn id="25" idx="1"/>
            </p:cNvCxnSpPr>
            <p:nvPr/>
          </p:nvCxnSpPr>
          <p:spPr>
            <a:xfrm flipV="1">
              <a:off x="10723" y="2415"/>
              <a:ext cx="517" cy="238"/>
            </a:xfrm>
            <a:prstGeom prst="bentConnector3">
              <a:avLst>
                <a:gd name="adj1" fmla="val 50097"/>
              </a:avLst>
            </a:prstGeom>
            <a:ln>
              <a:tailEnd type="arrow"/>
            </a:ln>
          </p:spPr>
          <p:style>
            <a:lnRef idx="2">
              <a:schemeClr val="accent1"/>
            </a:lnRef>
            <a:fillRef idx="0">
              <a:srgbClr val="FFFFFF"/>
            </a:fillRef>
            <a:effectRef idx="0">
              <a:srgbClr val="FFFFFF"/>
            </a:effectRef>
            <a:fontRef idx="minor">
              <a:schemeClr val="tx1"/>
            </a:fontRef>
          </p:style>
        </p:cxnSp>
        <p:cxnSp>
          <p:nvCxnSpPr>
            <p:cNvPr id="40" name="肘形连接符 39"/>
            <p:cNvCxnSpPr>
              <a:stCxn id="22" idx="3"/>
              <a:endCxn id="25" idx="1"/>
            </p:cNvCxnSpPr>
            <p:nvPr/>
          </p:nvCxnSpPr>
          <p:spPr>
            <a:xfrm flipV="1">
              <a:off x="10723" y="2415"/>
              <a:ext cx="517" cy="238"/>
            </a:xfrm>
            <a:prstGeom prst="bentConnector3">
              <a:avLst>
                <a:gd name="adj1" fmla="val 50097"/>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59" name="肘形连接符 58"/>
            <p:cNvCxnSpPr>
              <a:stCxn id="22" idx="3"/>
              <a:endCxn id="9" idx="1"/>
            </p:cNvCxnSpPr>
            <p:nvPr/>
          </p:nvCxnSpPr>
          <p:spPr>
            <a:xfrm>
              <a:off x="10723" y="2653"/>
              <a:ext cx="524" cy="1614"/>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49" name="肘形连接符 48"/>
            <p:cNvCxnSpPr>
              <a:stCxn id="22" idx="3"/>
              <a:endCxn id="9" idx="1"/>
            </p:cNvCxnSpPr>
            <p:nvPr/>
          </p:nvCxnSpPr>
          <p:spPr>
            <a:xfrm>
              <a:off x="10723" y="2653"/>
              <a:ext cx="524" cy="1614"/>
            </a:xfrm>
            <a:prstGeom prst="bentConnector3">
              <a:avLst>
                <a:gd name="adj1" fmla="val 50000"/>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grpSp>
      <p:cxnSp>
        <p:nvCxnSpPr>
          <p:cNvPr id="65" name="直接箭头连接符 64"/>
          <p:cNvCxnSpPr/>
          <p:nvPr/>
        </p:nvCxnSpPr>
        <p:spPr>
          <a:xfrm flipV="1">
            <a:off x="661035" y="6028089"/>
            <a:ext cx="570230" cy="1632"/>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7" name="文本框 66"/>
          <p:cNvSpPr txBox="1"/>
          <p:nvPr/>
        </p:nvSpPr>
        <p:spPr>
          <a:xfrm>
            <a:off x="1395095" y="5877560"/>
            <a:ext cx="5177790" cy="306705"/>
          </a:xfrm>
          <a:prstGeom prst="rect">
            <a:avLst/>
          </a:prstGeom>
          <a:noFill/>
        </p:spPr>
        <p:txBody>
          <a:bodyPr wrap="square" rtlCol="0">
            <a:spAutoFit/>
          </a:bodyPr>
          <a:lstStyle/>
          <a:p>
            <a:r>
              <a:rPr lang="zh-CN" altLang="en-US" sz="1400">
                <a:latin typeface="Calibri" panose="020F0502020204030204" pitchFamily="34" charset="0"/>
                <a:ea typeface="Calibri" panose="020F0502020204030204" pitchFamily="34" charset="0"/>
              </a:rPr>
              <a:t>①</a:t>
            </a:r>
            <a:r>
              <a:rPr lang="zh-CN" altLang="en-US" sz="1400">
                <a:latin typeface="微软雅黑" panose="020B0503020204020204" charset="-122"/>
                <a:ea typeface="微软雅黑" panose="020B0503020204020204" charset="-122"/>
              </a:rPr>
              <a:t>一线知识云汇聚</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适用于符合一线知识云管理范围的文档</a:t>
            </a:r>
            <a:r>
              <a:rPr lang="en-US" altLang="zh-CN" sz="1400">
                <a:latin typeface="微软雅黑" panose="020B0503020204020204" charset="-122"/>
                <a:ea typeface="微软雅黑" panose="020B0503020204020204" charset="-122"/>
              </a:rPr>
              <a:t>）</a:t>
            </a:r>
            <a:endParaRPr lang="en-US" altLang="zh-CN" sz="1400">
              <a:latin typeface="微软雅黑" panose="020B0503020204020204" charset="-122"/>
              <a:ea typeface="微软雅黑" panose="020B0503020204020204" charset="-122"/>
            </a:endParaRPr>
          </a:p>
        </p:txBody>
      </p:sp>
      <p:cxnSp>
        <p:nvCxnSpPr>
          <p:cNvPr id="68" name="直接箭头连接符 67"/>
          <p:cNvCxnSpPr/>
          <p:nvPr/>
        </p:nvCxnSpPr>
        <p:spPr>
          <a:xfrm flipV="1">
            <a:off x="661035" y="6333524"/>
            <a:ext cx="570230" cy="1632"/>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sp>
        <p:nvSpPr>
          <p:cNvPr id="69" name="文本框 68"/>
          <p:cNvSpPr txBox="1"/>
          <p:nvPr/>
        </p:nvSpPr>
        <p:spPr>
          <a:xfrm>
            <a:off x="1395095" y="6182995"/>
            <a:ext cx="4122420" cy="297180"/>
          </a:xfrm>
          <a:prstGeom prst="rect">
            <a:avLst/>
          </a:prstGeom>
          <a:noFill/>
        </p:spPr>
        <p:txBody>
          <a:bodyPr wrap="square" rtlCol="0">
            <a:noAutofit/>
          </a:bodyPr>
          <a:lstStyle/>
          <a:p>
            <a:r>
              <a:rPr lang="zh-CN" altLang="en-US" sz="1400">
                <a:latin typeface="Calibri" panose="020F0502020204030204" pitchFamily="34" charset="0"/>
                <a:ea typeface="Calibri" panose="020F0502020204030204" pitchFamily="34" charset="0"/>
              </a:rPr>
              <a:t>②</a:t>
            </a:r>
            <a:r>
              <a:rPr lang="zh-CN" altLang="en-US" sz="1400">
                <a:latin typeface="微软雅黑" panose="020B0503020204020204" charset="-122"/>
                <a:ea typeface="微软雅黑" panose="020B0503020204020204" charset="-122"/>
              </a:rPr>
              <a:t>源系统直接汇聚</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如制度中台直接对接</a:t>
            </a:r>
            <a:r>
              <a:rPr lang="en-US" altLang="zh-CN" sz="1400">
                <a:latin typeface="微软雅黑" panose="020B0503020204020204" charset="-122"/>
                <a:ea typeface="微软雅黑" panose="020B0503020204020204" charset="-122"/>
              </a:rPr>
              <a:t>）</a:t>
            </a:r>
            <a:endParaRPr lang="en-US" altLang="zh-CN" sz="1400">
              <a:latin typeface="微软雅黑" panose="020B0503020204020204" charset="-122"/>
              <a:ea typeface="微软雅黑" panose="020B0503020204020204" charset="-122"/>
            </a:endParaRPr>
          </a:p>
        </p:txBody>
      </p:sp>
      <p:cxnSp>
        <p:nvCxnSpPr>
          <p:cNvPr id="15" name="直接箭头连接符 14"/>
          <p:cNvCxnSpPr/>
          <p:nvPr/>
        </p:nvCxnSpPr>
        <p:spPr>
          <a:xfrm flipV="1">
            <a:off x="661035" y="6631339"/>
            <a:ext cx="570230" cy="1632"/>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1395095" y="6480810"/>
            <a:ext cx="5412740" cy="306705"/>
          </a:xfrm>
          <a:prstGeom prst="rect">
            <a:avLst/>
          </a:prstGeom>
          <a:noFill/>
        </p:spPr>
        <p:txBody>
          <a:bodyPr wrap="square" rtlCol="0">
            <a:spAutoFit/>
          </a:bodyPr>
          <a:lstStyle/>
          <a:p>
            <a:r>
              <a:rPr lang="zh-CN" altLang="en-US" sz="1400">
                <a:latin typeface="Calibri" panose="020F0502020204030204" pitchFamily="34" charset="0"/>
                <a:ea typeface="Calibri" panose="020F0502020204030204" pitchFamily="34" charset="0"/>
              </a:rPr>
              <a:t>③</a:t>
            </a:r>
            <a:r>
              <a:rPr lang="zh-CN" altLang="en-US" sz="1400">
                <a:latin typeface="微软雅黑" panose="020B0503020204020204" charset="-122"/>
                <a:ea typeface="微软雅黑" panose="020B0503020204020204" charset="-122"/>
              </a:rPr>
              <a:t>知识工程平台</a:t>
            </a:r>
            <a:r>
              <a:rPr lang="zh-CN" altLang="en-US" sz="1400">
                <a:latin typeface="微软雅黑" panose="020B0503020204020204" charset="-122"/>
                <a:ea typeface="微软雅黑" panose="020B0503020204020204" charset="-122"/>
              </a:rPr>
              <a:t>上传汇聚（适用于无系统管理的特定场景文档汇聚）</a:t>
            </a:r>
            <a:endParaRPr lang="zh-CN" altLang="en-US" sz="1400">
              <a:latin typeface="微软雅黑" panose="020B0503020204020204" charset="-122"/>
              <a:ea typeface="微软雅黑" panose="020B0503020204020204" charset="-122"/>
            </a:endParaRPr>
          </a:p>
        </p:txBody>
      </p:sp>
      <p:cxnSp>
        <p:nvCxnSpPr>
          <p:cNvPr id="39" name="肘形连接符 38"/>
          <p:cNvCxnSpPr>
            <a:stCxn id="10" idx="3"/>
            <a:endCxn id="27" idx="1"/>
          </p:cNvCxnSpPr>
          <p:nvPr/>
        </p:nvCxnSpPr>
        <p:spPr>
          <a:xfrm>
            <a:off x="1154430" y="2915920"/>
            <a:ext cx="3585845" cy="1876425"/>
          </a:xfrm>
          <a:prstGeom prst="bentConnector3">
            <a:avLst>
              <a:gd name="adj1" fmla="val 19727"/>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cxnSp>
        <p:nvCxnSpPr>
          <p:cNvPr id="41" name="肘形连接符 40"/>
          <p:cNvCxnSpPr>
            <a:stCxn id="27" idx="3"/>
            <a:endCxn id="25" idx="1"/>
          </p:cNvCxnSpPr>
          <p:nvPr/>
        </p:nvCxnSpPr>
        <p:spPr>
          <a:xfrm flipV="1">
            <a:off x="6809105" y="1710055"/>
            <a:ext cx="328295" cy="3082290"/>
          </a:xfrm>
          <a:prstGeom prst="bentConnector3">
            <a:avLst>
              <a:gd name="adj1" fmla="val 50097"/>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cxnSp>
        <p:nvCxnSpPr>
          <p:cNvPr id="42" name="肘形连接符 41"/>
          <p:cNvCxnSpPr>
            <a:stCxn id="27" idx="3"/>
            <a:endCxn id="9" idx="1"/>
          </p:cNvCxnSpPr>
          <p:nvPr/>
        </p:nvCxnSpPr>
        <p:spPr>
          <a:xfrm flipV="1">
            <a:off x="6809105" y="3221355"/>
            <a:ext cx="332740" cy="1570990"/>
          </a:xfrm>
          <a:prstGeom prst="bentConnector3">
            <a:avLst>
              <a:gd name="adj1" fmla="val 50000"/>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694690" y="5438140"/>
            <a:ext cx="2810510"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三种文档汇聚方式</a:t>
            </a:r>
            <a:r>
              <a:rPr lang="en-US" altLang="zh-CN">
                <a:latin typeface="微软雅黑" panose="020B0503020204020204" charset="-122"/>
                <a:ea typeface="微软雅黑" panose="020B0503020204020204" charset="-122"/>
              </a:rPr>
              <a:t>：</a:t>
            </a:r>
            <a:endParaRPr lang="en-US" altLang="zh-CN">
              <a:latin typeface="微软雅黑" panose="020B0503020204020204" charset="-122"/>
              <a:ea typeface="微软雅黑" panose="020B0503020204020204" charset="-122"/>
            </a:endParaRPr>
          </a:p>
        </p:txBody>
      </p:sp>
      <p:pic>
        <p:nvPicPr>
          <p:cNvPr id="61" name="图片 60" descr="文档"/>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0030" y="2399030"/>
            <a:ext cx="914400" cy="9144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2.2.1 元数据标准管理（业务元数据）</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建立全行统一的业务元数据标准，通过规范化定义业务语义类元数据的核心字段、层级分类体系与权威数据来源，</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从源头解决跨部门、跨系统间</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业务语义无法对齐、概念理解不一致</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的痛点</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，实现业务数据的标准化描述与统一管理，</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为数据治理、业务协同和智能应用提供坚实的语义基础。</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3" name="AutoShape 9"/>
          <p:cNvSpPr/>
          <p:nvPr/>
        </p:nvSpPr>
        <p:spPr>
          <a:xfrm>
            <a:off x="508000" y="2016760"/>
            <a:ext cx="1270000" cy="304800"/>
          </a:xfrm>
          <a:prstGeom prst="roundRect">
            <a:avLst>
              <a:gd name="adj" fmla="val 0"/>
            </a:avLst>
          </a:prstGeom>
          <a:solidFill>
            <a:srgbClr val="2E75B6">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4" name="AutoShape 10"/>
          <p:cNvSpPr/>
          <p:nvPr/>
        </p:nvSpPr>
        <p:spPr>
          <a:xfrm>
            <a:off x="508000" y="2016760"/>
            <a:ext cx="127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业务归属类</a:t>
            </a:r>
            <a:endParaRPr 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aphicFrame>
        <p:nvGraphicFramePr>
          <p:cNvPr id="5" name="Table 11"/>
          <p:cNvGraphicFramePr>
            <a:graphicFrameLocks noGrp="1"/>
          </p:cNvGraphicFramePr>
          <p:nvPr>
            <p:custDataLst>
              <p:tags r:id="rId1"/>
            </p:custDataLst>
          </p:nvPr>
        </p:nvGraphicFramePr>
        <p:xfrm>
          <a:off x="508000" y="2349500"/>
          <a:ext cx="6096000" cy="1717040"/>
        </p:xfrm>
        <a:graphic>
          <a:graphicData uri="http://schemas.openxmlformats.org/drawingml/2006/table">
            <a:tbl>
              <a:tblPr>
                <a:effectLst/>
              </a:tblPr>
              <a:tblGrid>
                <a:gridCol w="1524000"/>
                <a:gridCol w="4572000"/>
              </a:tblGrid>
              <a:tr h="355600">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字段名称</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2E75B6"/>
                      </a:solidFill>
                      <a:prstDash val="solid"/>
                      <a:round/>
                      <a:headEnd type="none" w="med" len="med"/>
                      <a:tailEnd type="none" w="med" len="med"/>
                    </a:lnB>
                    <a:solidFill>
                      <a:srgbClr val="F0F5FB">
                        <a:alpha val="100000"/>
                      </a:srgbClr>
                    </a:solidFill>
                  </a:tcPr>
                </a:tc>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数据标准规范</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2E75B6"/>
                      </a:solidFill>
                      <a:prstDash val="solid"/>
                      <a:round/>
                      <a:headEnd type="none" w="med" len="med"/>
                      <a:tailEnd type="none" w="med" len="med"/>
                    </a:lnB>
                    <a:solidFill>
                      <a:srgbClr val="F0F5FB">
                        <a:alpha val="100000"/>
                      </a:srgbClr>
                    </a:solidFill>
                  </a:tcPr>
                </a:tc>
              </a:tr>
              <a:tr h="340360">
                <a:tc>
                  <a:txBody>
                    <a:bodyPr/>
                    <a:lstStyle/>
                    <a:p>
                      <a:pPr marL="0" indent="0" algn="ctr">
                        <a:lnSpc>
                          <a:spcPct val="100000"/>
                        </a:lnSpc>
                        <a:buNone/>
                        <a:defRPr/>
                      </a:pPr>
                      <a:r>
                        <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文档名称</a:t>
                      </a:r>
                      <a:endPar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2E75B6"/>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buNone/>
                        <a:defRPr/>
                      </a:pPr>
                      <a:r>
                        <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文档名称</a:t>
                      </a:r>
                      <a:endPar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2E75B6"/>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40360">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业务领域</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公司金融、零售金融、金融市场、风险管理、运营管理等一级</a:t>
                      </a:r>
                      <a:r>
                        <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a:t>
                      </a:r>
                      <a:r>
                        <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域</a:t>
                      </a:r>
                      <a:endPar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40360">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知识类型</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a:noFill/>
                    </a:lnB>
                    <a:noFill/>
                  </a:tcPr>
                </a:tc>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制度办法、操作规程、业务指引、产品手册、合同文本、风险案例</a:t>
                      </a:r>
                      <a:r>
                        <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等</a:t>
                      </a:r>
                      <a:endPar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a:noFill/>
                    </a:lnB>
                    <a:noFill/>
                  </a:tcPr>
                </a:tc>
              </a:tr>
              <a:tr h="340360">
                <a:tc>
                  <a:txBody>
                    <a:bodyPr/>
                    <a:lstStyle/>
                    <a:p>
                      <a:pPr marL="0" indent="0" algn="ctr">
                        <a:lnSpc>
                          <a:spcPct val="100000"/>
                        </a:lnSpc>
                        <a:buNone/>
                        <a:defRPr/>
                      </a:pPr>
                      <a:r>
                        <a:rPr lang="zh-CN" alt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noFill/>
                      <a:prstDash val="solid"/>
                      <a:round/>
                      <a:headEnd type="none" w="med" len="med"/>
                      <a:tailEnd type="none" w="med" len="med"/>
                    </a:lnT>
                    <a:lnB>
                      <a:noFill/>
                    </a:lnB>
                    <a:noFill/>
                  </a:tcPr>
                </a:tc>
                <a:tc>
                  <a:txBody>
                    <a:bodyPr/>
                    <a:lstStyle/>
                    <a:p>
                      <a:pPr marL="0" indent="0" algn="ctr">
                        <a:lnSpc>
                          <a:spcPct val="100000"/>
                        </a:lnSpc>
                        <a:buNone/>
                        <a:defRPr/>
                      </a:pPr>
                      <a:r>
                        <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noFill/>
                      <a:prstDash val="solid"/>
                      <a:round/>
                      <a:headEnd type="none" w="med" len="med"/>
                      <a:tailEnd type="none" w="med" len="med"/>
                    </a:lnT>
                    <a:lnB>
                      <a:noFill/>
                    </a:lnB>
                    <a:noFill/>
                  </a:tcPr>
                </a:tc>
              </a:tr>
            </a:tbl>
          </a:graphicData>
        </a:graphic>
      </p:graphicFrame>
      <p:sp>
        <p:nvSpPr>
          <p:cNvPr id="6" name="AutoShape 12"/>
          <p:cNvSpPr/>
          <p:nvPr/>
        </p:nvSpPr>
        <p:spPr>
          <a:xfrm>
            <a:off x="508000" y="4064000"/>
            <a:ext cx="1270000" cy="304800"/>
          </a:xfrm>
          <a:prstGeom prst="roundRect">
            <a:avLst>
              <a:gd name="adj" fmla="val 0"/>
            </a:avLst>
          </a:prstGeom>
          <a:solidFill>
            <a:srgbClr val="2E75B6">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17" name="AutoShape 13"/>
          <p:cNvSpPr/>
          <p:nvPr/>
        </p:nvSpPr>
        <p:spPr>
          <a:xfrm>
            <a:off x="508000" y="4064000"/>
            <a:ext cx="127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业务术语类</a:t>
            </a:r>
            <a:endParaRPr 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aphicFrame>
        <p:nvGraphicFramePr>
          <p:cNvPr id="18" name="Table 14"/>
          <p:cNvGraphicFramePr>
            <a:graphicFrameLocks noGrp="1"/>
          </p:cNvGraphicFramePr>
          <p:nvPr/>
        </p:nvGraphicFramePr>
        <p:xfrm>
          <a:off x="508000" y="4445000"/>
          <a:ext cx="6096000" cy="2397760"/>
        </p:xfrm>
        <a:graphic>
          <a:graphicData uri="http://schemas.openxmlformats.org/drawingml/2006/table">
            <a:tbl>
              <a:tblPr>
                <a:effectLst/>
              </a:tblPr>
              <a:tblGrid>
                <a:gridCol w="1524000"/>
                <a:gridCol w="4572000"/>
              </a:tblGrid>
              <a:tr h="279400">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字段名称</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2E75B6"/>
                      </a:solidFill>
                      <a:prstDash val="solid"/>
                      <a:round/>
                      <a:headEnd type="none" w="med" len="med"/>
                      <a:tailEnd type="none" w="med" len="med"/>
                    </a:lnB>
                    <a:solidFill>
                      <a:srgbClr val="F0F5FB">
                        <a:alpha val="100000"/>
                      </a:srgbClr>
                    </a:solidFill>
                  </a:tcPr>
                </a:tc>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数据标准规范</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2E75B6"/>
                      </a:solidFill>
                      <a:prstDash val="solid"/>
                      <a:round/>
                      <a:headEnd type="none" w="med" len="med"/>
                      <a:tailEnd type="none" w="med" len="med"/>
                    </a:lnB>
                    <a:solidFill>
                      <a:srgbClr val="F0F5FB">
                        <a:alpha val="100000"/>
                      </a:srgbClr>
                    </a:solidFill>
                  </a:tcPr>
                </a:tc>
              </a:tr>
              <a:tr h="266700">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2E75B6"/>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对公/零售客户、小微企业、同业机构、内部员工、合作方</a:t>
                      </a:r>
                      <a:endPar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2E75B6"/>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266700">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业务场景</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授信审批、贷后管理、客户开户、产品营销、风险预警、系统开发</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266700">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申请受理、调查评估、审查审批、合同签署、放款支付、档案管理</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266700">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业务术语</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从全行统一术语库自动匹配标注，支持多值关联与智能推荐</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266700">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关联关系</a:t>
                      </a:r>
                      <a:endParaRPr 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记录关联知识ID及类型：引用、被引、配套支撑、修订、替代、补充</a:t>
                      </a:r>
                      <a:endParaRPr 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266700">
                <a:tc>
                  <a:txBody>
                    <a:bodyPr/>
                    <a:lstStyle/>
                    <a:p>
                      <a:pPr marL="0" indent="0" algn="ctr">
                        <a:lnSpc>
                          <a:spcPct val="100000"/>
                        </a:lnSpc>
                        <a:buNone/>
                        <a:defRPr/>
                      </a:pPr>
                      <a:r>
                        <a:rPr lang="zh-CN" alt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9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a:noFill/>
                    </a:lnB>
                    <a:noFill/>
                  </a:tcPr>
                </a:tc>
                <a:tc>
                  <a:txBody>
                    <a:bodyPr/>
                    <a:lstStyle/>
                    <a:p>
                      <a:pPr marL="0" indent="0" algn="ctr">
                        <a:lnSpc>
                          <a:spcPct val="100000"/>
                        </a:lnSpc>
                        <a:buNone/>
                        <a:defRPr/>
                      </a:pPr>
                      <a:r>
                        <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a:noFill/>
                    </a:lnB>
                    <a:noFill/>
                  </a:tcPr>
                </a:tc>
              </a:tr>
            </a:tbl>
          </a:graphicData>
        </a:graphic>
      </p:graphicFrame>
      <p:sp>
        <p:nvSpPr>
          <p:cNvPr id="19" name="AutoShape 15"/>
          <p:cNvSpPr/>
          <p:nvPr/>
        </p:nvSpPr>
        <p:spPr>
          <a:xfrm>
            <a:off x="6807200" y="1968500"/>
            <a:ext cx="48768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rPr>
              <a:t>01 / 业务归属类 · 标准依据</a:t>
            </a:r>
            <a:endParaRPr lang="en-US" sz="14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nvGrpSpPr>
          <p:cNvPr id="25" name="组合 24"/>
          <p:cNvGrpSpPr/>
          <p:nvPr/>
        </p:nvGrpSpPr>
        <p:grpSpPr>
          <a:xfrm>
            <a:off x="6807200" y="2349500"/>
            <a:ext cx="4876800" cy="1741805"/>
            <a:chOff x="10720" y="3700"/>
            <a:chExt cx="7680" cy="2500"/>
          </a:xfrm>
        </p:grpSpPr>
        <p:sp>
          <p:nvSpPr>
            <p:cNvPr id="20" name="AutoShape 16"/>
            <p:cNvSpPr/>
            <p:nvPr/>
          </p:nvSpPr>
          <p:spPr>
            <a:xfrm>
              <a:off x="10720" y="3700"/>
              <a:ext cx="7680" cy="2500"/>
            </a:xfrm>
            <a:prstGeom prst="roundRect">
              <a:avLst>
                <a:gd name="adj" fmla="val 0"/>
              </a:avLst>
            </a:prstGeom>
            <a:solidFill>
              <a:srgbClr val="F0F5FB">
                <a:alpha val="100000"/>
              </a:srgbClr>
            </a:solidFill>
            <a:ln w="12700" cap="flat" cmpd="sng">
              <a:solidFill>
                <a:srgbClr val="D9E2F3">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1" name="AutoShape 17"/>
            <p:cNvSpPr/>
            <p:nvPr/>
          </p:nvSpPr>
          <p:spPr>
            <a:xfrm>
              <a:off x="10920" y="3840"/>
              <a:ext cx="7280" cy="23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编码规则：</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基于企业级数据资产管理规范设计，采用时间戳+顺序号机制，确保知识资产的全局唯一性与全生命周期可追溯性。</a:t>
              </a:r>
              <a:b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分类依据：</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业务领域与主题直接映射行内现行的组织架构与业务条线划分，与部门职能和管理口径保持严格一致，确保业务协同。</a:t>
              </a:r>
              <a:b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类型定义：</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根据银行业通用的知识类型分类</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进行文档分类</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22" name="AutoShape 18"/>
          <p:cNvSpPr/>
          <p:nvPr/>
        </p:nvSpPr>
        <p:spPr>
          <a:xfrm>
            <a:off x="6807200" y="4172585"/>
            <a:ext cx="48768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rPr>
              <a:t>02 / 业务术语类 · 标准依据</a:t>
            </a:r>
            <a:endParaRPr lang="en-US" sz="14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nvGrpSpPr>
          <p:cNvPr id="26" name="组合 25"/>
          <p:cNvGrpSpPr/>
          <p:nvPr/>
        </p:nvGrpSpPr>
        <p:grpSpPr>
          <a:xfrm>
            <a:off x="6807200" y="4553585"/>
            <a:ext cx="4876800" cy="2024593"/>
            <a:chOff x="10720" y="7171"/>
            <a:chExt cx="7680" cy="3001"/>
          </a:xfrm>
        </p:grpSpPr>
        <p:sp>
          <p:nvSpPr>
            <p:cNvPr id="23" name="AutoShape 19"/>
            <p:cNvSpPr/>
            <p:nvPr/>
          </p:nvSpPr>
          <p:spPr>
            <a:xfrm>
              <a:off x="10720" y="7171"/>
              <a:ext cx="7680" cy="2963"/>
            </a:xfrm>
            <a:prstGeom prst="roundRect">
              <a:avLst>
                <a:gd name="adj" fmla="val 0"/>
              </a:avLst>
            </a:prstGeom>
            <a:solidFill>
              <a:srgbClr val="F0F5FB">
                <a:alpha val="100000"/>
              </a:srgbClr>
            </a:solidFill>
            <a:ln w="12700" cap="flat" cmpd="sng">
              <a:solidFill>
                <a:srgbClr val="D9E2F3">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4" name="AutoShape 20"/>
            <p:cNvSpPr/>
            <p:nvPr/>
          </p:nvSpPr>
          <p:spPr>
            <a:xfrm>
              <a:off x="10920" y="7311"/>
              <a:ext cx="7280" cy="2861"/>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业务对象、</a:t>
              </a:r>
              <a:r>
                <a:rPr lang="zh-CN" alt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业务场景</a:t>
              </a:r>
              <a:r>
                <a:rPr lang="en-US" altLang="zh-CN"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业务活动</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依据行内EA</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架构</a:t>
              </a:r>
              <a:r>
                <a:rPr lang="en-US" altLang="zh-CN"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源端系统功能点</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及ISO标准流程（如信贷全流程）进行拆解，确保与业务系统的字段定义对齐。</a:t>
              </a:r>
              <a:b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术语标准化：</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从非结构化文档中抽取，基于</a:t>
              </a:r>
              <a:r>
                <a:rPr lang="en-US" altLang="zh-CN"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FIBO</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Financial Industry Business Ontology，</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金融行业业务本体）</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及ISO相关金融服务术语，消除“一词多义”或“多词一义”。</a:t>
              </a:r>
              <a:b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关联</a:t>
              </a:r>
              <a:r>
                <a:rPr lang="zh-CN" alt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关系</a:t>
              </a:r>
              <a:r>
                <a:rPr lang="en-US" sz="1200" b="1"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关联关系</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根据文档间的关联关系类型</a:t>
              </a:r>
              <a:r>
                <a:rPr lang="en-US" altLang="zh-CN"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定义引用、被引、配套支撑、修订、替代、补充等关系类型</a:t>
              </a:r>
              <a:r>
                <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7" name="矩形 6"/>
          <p:cNvSpPr/>
          <p:nvPr/>
        </p:nvSpPr>
        <p:spPr>
          <a:xfrm>
            <a:off x="957199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数据接入</a:t>
            </a:r>
            <a:endParaRPr lang="zh-CN" altLang="en-US" sz="1000">
              <a:latin typeface="微软雅黑" panose="020B0503020204020204" charset="-122"/>
              <a:ea typeface="微软雅黑" panose="020B0503020204020204" charset="-122"/>
            </a:endParaRPr>
          </a:p>
        </p:txBody>
      </p:sp>
      <p:sp>
        <p:nvSpPr>
          <p:cNvPr id="8" name="矩形 7"/>
          <p:cNvSpPr/>
          <p:nvPr/>
        </p:nvSpPr>
        <p:spPr>
          <a:xfrm>
            <a:off x="8618220" y="22225"/>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9" name="矩形 8"/>
          <p:cNvSpPr/>
          <p:nvPr/>
        </p:nvSpPr>
        <p:spPr>
          <a:xfrm>
            <a:off x="10556240" y="21590"/>
            <a:ext cx="842645" cy="15240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校验与存储</a:t>
            </a:r>
            <a:endParaRPr lang="zh-CN" altLang="en-US" sz="1000">
              <a:latin typeface="微软雅黑" panose="020B0503020204020204" charset="-122"/>
              <a:ea typeface="微软雅黑" panose="020B0503020204020204" charset="-122"/>
            </a:endParaRPr>
          </a:p>
        </p:txBody>
      </p:sp>
      <p:sp>
        <p:nvSpPr>
          <p:cNvPr id="10" name="矩形 9"/>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文档目录</a:t>
            </a:r>
            <a:endParaRPr lang="zh-CN" altLang="en-US" sz="1000">
              <a:latin typeface="微软雅黑" panose="020B0503020204020204" charset="-122"/>
              <a:ea typeface="微软雅黑" panose="020B0503020204020204" charset="-122"/>
            </a:endParaRPr>
          </a:p>
        </p:txBody>
      </p:sp>
      <p:sp>
        <p:nvSpPr>
          <p:cNvPr id="11" name="文本框 10"/>
          <p:cNvSpPr txBox="1"/>
          <p:nvPr/>
        </p:nvSpPr>
        <p:spPr>
          <a:xfrm>
            <a:off x="6807835" y="6525895"/>
            <a:ext cx="4876165" cy="331470"/>
          </a:xfrm>
          <a:prstGeom prst="rect">
            <a:avLst/>
          </a:prstGeom>
          <a:noFill/>
        </p:spPr>
        <p:txBody>
          <a:bodyPr wrap="square" rtlCol="0">
            <a:noAutofit/>
          </a:bodyPr>
          <a:lstStyle/>
          <a:p>
            <a:r>
              <a:rPr lang="en-US" altLang="zh-CN" sz="900">
                <a:solidFill>
                  <a:schemeClr val="bg1">
                    <a:lumMod val="50000"/>
                  </a:schemeClr>
                </a:solidFill>
                <a:latin typeface="微软雅黑" panose="020B0503020204020204" charset="-122"/>
                <a:ea typeface="微软雅黑" panose="020B0503020204020204" charset="-122"/>
              </a:rPr>
              <a:t>FIBO:OMG（Object Management Group）</a:t>
            </a:r>
            <a:r>
              <a:rPr lang="zh-CN" altLang="en-US" sz="900">
                <a:solidFill>
                  <a:schemeClr val="bg1">
                    <a:lumMod val="50000"/>
                  </a:schemeClr>
                </a:solidFill>
                <a:latin typeface="微软雅黑" panose="020B0503020204020204" charset="-122"/>
                <a:ea typeface="微软雅黑" panose="020B0503020204020204" charset="-122"/>
              </a:rPr>
              <a:t>发布的金融行业标准语义本体，是目前全球最权威的金融领域知识建模参考框架。</a:t>
            </a:r>
            <a:endParaRPr lang="zh-CN" altLang="en-US" sz="900">
              <a:solidFill>
                <a:schemeClr val="bg1">
                  <a:lumMod val="50000"/>
                </a:schemeClr>
              </a:solidFill>
              <a:latin typeface="微软雅黑" panose="020B0503020204020204" charset="-122"/>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2.2.1 元数据标准管理（管理&amp;技术元数据）</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矩形 3"/>
          <p:cNvSpPr/>
          <p:nvPr/>
        </p:nvSpPr>
        <p:spPr>
          <a:xfrm>
            <a:off x="464185" y="2143125"/>
            <a:ext cx="5113655" cy="4715510"/>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8" name="文本占位符 1"/>
          <p:cNvSpPr>
            <a:spLocks noGrp="1"/>
          </p:cNvSpPr>
          <p:nvPr/>
        </p:nvSpPr>
        <p:spPr>
          <a:xfrm>
            <a:off x="410845" y="922020"/>
            <a:ext cx="11370945" cy="101600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建议全行统一的管理元数据和技术元数据</a:t>
            </a:r>
            <a:r>
              <a:rPr kumimoji="0" lang="en-US" altLang="zh-CN" sz="18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管理元数据聚焦业务视角，支撑文档全生命周期管理与安全合规管控，明确文档的业务属性与权限边界；</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技术元数据聚焦系统视角，支撑文档存储运维与质量评估，保障物理存储的规范与可用性。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7" name="AutoShape 7"/>
          <p:cNvSpPr/>
          <p:nvPr/>
        </p:nvSpPr>
        <p:spPr>
          <a:xfrm>
            <a:off x="1283970" y="2305685"/>
            <a:ext cx="3175635" cy="304800"/>
          </a:xfrm>
          <a:prstGeom prst="roundRect">
            <a:avLst>
              <a:gd name="adj" fmla="val 0"/>
            </a:avLst>
          </a:prstGeom>
          <a:noFill/>
          <a:ln w="25400" cap="flat" cmpd="sng">
            <a:noFill/>
            <a:prstDash val="solid"/>
            <a:round/>
          </a:ln>
          <a:extLst>
            <a:ext uri="{909E8E84-426E-40DD-AFC4-6F175D3DCCD1}">
              <a14:hiddenFill xmlns:a14="http://schemas.microsoft.com/office/drawing/2010/main">
                <a:solidFill>
                  <a:srgbClr val="2E75B6">
                    <a:alpha val="100000"/>
                  </a:srgbClr>
                </a:solidFill>
              </a14:hiddenFill>
            </a:ext>
          </a:extLst>
        </p:spPr>
        <p:txBody>
          <a:bodyPr vert="horz" wrap="square" lIns="63500" tIns="63500" rIns="63500" bIns="63500" rtlCol="0" anchor="ctr">
            <a:noAutofit/>
          </a:bodyPr>
          <a:lstStyle/>
          <a:p>
            <a:pPr lvl="0" algn="ctr">
              <a:buSzTx/>
              <a:defRPr/>
            </a:pPr>
            <a:r>
              <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rPr>
              <a:t> 管理等级类 · 文档生命周期与版本管控</a:t>
            </a:r>
            <a:endPar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9" name="Table 9"/>
          <p:cNvGraphicFramePr>
            <a:graphicFrameLocks noGrp="1"/>
          </p:cNvGraphicFramePr>
          <p:nvPr>
            <p:custDataLst>
              <p:tags r:id="rId1"/>
            </p:custDataLst>
          </p:nvPr>
        </p:nvGraphicFramePr>
        <p:xfrm>
          <a:off x="751205" y="2616835"/>
          <a:ext cx="4614545" cy="1767205"/>
        </p:xfrm>
        <a:graphic>
          <a:graphicData uri="http://schemas.openxmlformats.org/drawingml/2006/table">
            <a:tbl>
              <a:tblPr>
                <a:effectLst/>
              </a:tblPr>
              <a:tblGrid>
                <a:gridCol w="1144905"/>
                <a:gridCol w="3469640"/>
              </a:tblGrid>
              <a:tr h="355600">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字段名称</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标准规则 / 枚举值定义</a:t>
                      </a:r>
                      <a:endParaRPr lang="en-US" sz="10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r>
              <a:tr h="347980">
                <a:tc>
                  <a:txBody>
                    <a:bodyPr/>
                    <a:lstStyle/>
                    <a:p>
                      <a:pPr marL="0" indent="0" algn="ctr">
                        <a:lnSpc>
                          <a:spcPct val="100000"/>
                        </a:lnSpc>
                        <a:defRPr/>
                      </a:pPr>
                      <a:r>
                        <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版本号</a:t>
                      </a:r>
                      <a:endPar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规则：V+主版本号.次版本号（如V2.1）</a:t>
                      </a:r>
                      <a:endParaRPr 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r>
              <a:tr h="347980">
                <a:tc>
                  <a:txBody>
                    <a:bodyPr/>
                    <a:lstStyle/>
                    <a:p>
                      <a:pPr marL="0" indent="0" algn="ctr">
                        <a:lnSpc>
                          <a:spcPct val="100000"/>
                        </a:lnSpc>
                        <a:defRPr/>
                      </a:pPr>
                      <a:r>
                        <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文档状态</a:t>
                      </a:r>
                      <a:endPar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已生效、</a:t>
                      </a: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已归档</a:t>
                      </a:r>
                      <a:r>
                        <a:rPr lang="en-US" altLang="zh-CN"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已废止</a:t>
                      </a:r>
                      <a:endPar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58140">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生效</a:t>
                      </a:r>
                      <a:r>
                        <a:rPr lang="en-US" altLang="zh-CN"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时效时间</a:t>
                      </a:r>
                      <a:endPar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制度类文档生效时间为必填项，未废止则失效时间为空</a:t>
                      </a:r>
                      <a:endPar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57505">
                <a:tc>
                  <a:txBody>
                    <a:bodyPr/>
                    <a:lstStyle/>
                    <a:p>
                      <a:pPr marL="0" indent="0" algn="ctr">
                        <a:lnSpc>
                          <a:spcPct val="100000"/>
                        </a:lnSpc>
                        <a:buNone/>
                        <a:defRPr/>
                      </a:pP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buNone/>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bl>
          </a:graphicData>
        </a:graphic>
      </p:graphicFrame>
      <p:sp>
        <p:nvSpPr>
          <p:cNvPr id="10" name="AutoShape 10"/>
          <p:cNvSpPr/>
          <p:nvPr/>
        </p:nvSpPr>
        <p:spPr>
          <a:xfrm>
            <a:off x="1259840" y="4403725"/>
            <a:ext cx="3247390" cy="304800"/>
          </a:xfrm>
          <a:prstGeom prst="roundRect">
            <a:avLst>
              <a:gd name="adj" fmla="val 0"/>
            </a:avLst>
          </a:prstGeom>
          <a:noFill/>
          <a:ln w="25400" cap="flat" cmpd="sng">
            <a:noFill/>
            <a:prstDash val="solid"/>
            <a:round/>
          </a:ln>
          <a:extLst>
            <a:ext uri="{909E8E84-426E-40DD-AFC4-6F175D3DCCD1}">
              <a14:hiddenFill xmlns:a14="http://schemas.microsoft.com/office/drawing/2010/main">
                <a:solidFill>
                  <a:srgbClr val="2E75B6">
                    <a:alpha val="100000"/>
                  </a:srgbClr>
                </a:solidFill>
              </a14:hiddenFill>
            </a:ext>
          </a:extLst>
        </p:spPr>
        <p:txBody>
          <a:bodyPr vert="horz" wrap="square" lIns="63500" tIns="63500" rIns="63500" bIns="63500" rtlCol="0" anchor="ctr">
            <a:noAutofit/>
          </a:bodyPr>
          <a:lstStyle/>
          <a:p>
            <a:pPr lvl="0" algn="ctr">
              <a:buClrTx/>
              <a:buSzTx/>
              <a:buFontTx/>
              <a:defRPr/>
            </a:pPr>
            <a:r>
              <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rPr>
              <a:t>管理权属类 · 安全合规与权责界定</a:t>
            </a:r>
            <a:endPar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2" name="Table 12"/>
          <p:cNvGraphicFramePr>
            <a:graphicFrameLocks noGrp="1"/>
          </p:cNvGraphicFramePr>
          <p:nvPr>
            <p:custDataLst>
              <p:tags r:id="rId2"/>
            </p:custDataLst>
          </p:nvPr>
        </p:nvGraphicFramePr>
        <p:xfrm>
          <a:off x="751205" y="4686935"/>
          <a:ext cx="4615180" cy="2095500"/>
        </p:xfrm>
        <a:graphic>
          <a:graphicData uri="http://schemas.openxmlformats.org/drawingml/2006/table">
            <a:tbl>
              <a:tblPr>
                <a:effectLst/>
              </a:tblPr>
              <a:tblGrid>
                <a:gridCol w="995680"/>
                <a:gridCol w="3619500"/>
              </a:tblGrid>
              <a:tr h="355600">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字段名称</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标准规则 / 枚举值定义</a:t>
                      </a:r>
                      <a:endParaRPr lang="en-US" sz="1000" b="1" i="0" u="none" strike="noStrike">
                        <a:solidFill>
                          <a:srgbClr val="1F4E7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r>
              <a:tr h="347980">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主管部门</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zh-CN" altLang="en-US" sz="950">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风险管理部、授信管理部、公司金融部、法律合规部等</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r>
              <a:tr h="347980">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适用部门</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风险管理部、授信管理部、公司金融部、法律合规部等</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47980">
                <a:tc>
                  <a:txBody>
                    <a:bodyPr/>
                    <a:lstStyle/>
                    <a:p>
                      <a:pPr marL="0" indent="0" algn="ctr">
                        <a:lnSpc>
                          <a:spcPct val="100000"/>
                        </a:lnSpc>
                        <a:buNone/>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适用岗位</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buNone/>
                        <a:defRPr/>
                      </a:pPr>
                      <a:r>
                        <a:rPr lang="zh-CN" altLang="en-US" sz="95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客户经理</a:t>
                      </a:r>
                      <a:r>
                        <a:rPr lang="en-US" altLang="zh-CN" sz="95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95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授信审查岗</a:t>
                      </a:r>
                      <a:r>
                        <a:rPr lang="en-US" altLang="zh-CN" sz="95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95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贷后管理岗等</a:t>
                      </a:r>
                      <a:endParaRPr lang="zh-CN" altLang="en-US" sz="95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47980">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安全密级</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根据非结构化文档安全分级分类划分公开</a:t>
                      </a:r>
                      <a:r>
                        <a:rPr lang="en-US" altLang="zh-CN"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内部</a:t>
                      </a:r>
                      <a:r>
                        <a:rPr lang="en-US" altLang="zh-CN"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秘密</a:t>
                      </a:r>
                      <a:endPar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47980">
                <a:tc>
                  <a:txBody>
                    <a:bodyPr/>
                    <a:lstStyle/>
                    <a:p>
                      <a:pPr marL="0" indent="0" algn="ctr">
                        <a:lnSpc>
                          <a:spcPct val="100000"/>
                        </a:lnSpc>
                        <a:buNone/>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buNone/>
                        <a:defRPr/>
                      </a:pP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bl>
          </a:graphicData>
        </a:graphic>
      </p:graphicFrame>
      <p:sp>
        <p:nvSpPr>
          <p:cNvPr id="13" name="AutoShape 13"/>
          <p:cNvSpPr/>
          <p:nvPr/>
        </p:nvSpPr>
        <p:spPr>
          <a:xfrm>
            <a:off x="6908800" y="2293620"/>
            <a:ext cx="3175000" cy="304800"/>
          </a:xfrm>
          <a:prstGeom prst="roundRect">
            <a:avLst>
              <a:gd name="adj" fmla="val 0"/>
            </a:avLst>
          </a:prstGeom>
          <a:noFill/>
          <a:ln w="25400" cap="flat" cmpd="sng">
            <a:noFill/>
            <a:prstDash val="solid"/>
            <a:round/>
          </a:ln>
          <a:extLst>
            <a:ext uri="{909E8E84-426E-40DD-AFC4-6F175D3DCCD1}">
              <a14:hiddenFill xmlns:a14="http://schemas.microsoft.com/office/drawing/2010/main">
                <a:solidFill>
                  <a:srgbClr val="2E75B6">
                    <a:alpha val="100000"/>
                  </a:srgbClr>
                </a:solidFill>
              </a14:hiddenFill>
            </a:ext>
          </a:extLst>
        </p:spPr>
        <p:txBody>
          <a:bodyPr vert="horz" wrap="square" lIns="63500" tIns="63500" rIns="63500" bIns="63500" rtlCol="0" anchor="ctr">
            <a:noAutofit/>
          </a:bodyPr>
          <a:lstStyle/>
          <a:p>
            <a:pPr lvl="0" algn="ctr">
              <a:buClrTx/>
              <a:buSzTx/>
              <a:buFontTx/>
              <a:defRPr/>
            </a:pPr>
            <a:r>
              <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rPr>
              <a:t>技术特征类 · 物理属性</a:t>
            </a:r>
            <a:endPar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5" name="Table 15"/>
          <p:cNvGraphicFramePr>
            <a:graphicFrameLocks noGrp="1"/>
          </p:cNvGraphicFramePr>
          <p:nvPr>
            <p:custDataLst>
              <p:tags r:id="rId3"/>
            </p:custDataLst>
          </p:nvPr>
        </p:nvGraphicFramePr>
        <p:xfrm>
          <a:off x="6360160" y="2649220"/>
          <a:ext cx="4615180" cy="2133600"/>
        </p:xfrm>
        <a:graphic>
          <a:graphicData uri="http://schemas.openxmlformats.org/drawingml/2006/table">
            <a:tbl>
              <a:tblPr>
                <a:effectLst/>
              </a:tblPr>
              <a:tblGrid>
                <a:gridCol w="1334770"/>
                <a:gridCol w="3280410"/>
              </a:tblGrid>
              <a:tr h="355600">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字段</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标准规则</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r>
              <a:tr h="355600">
                <a:tc>
                  <a:txBody>
                    <a:bodyPr/>
                    <a:lstStyle/>
                    <a:p>
                      <a:pPr marL="0" algn="ctr">
                        <a:lnSpc>
                          <a:spcPct val="100000"/>
                        </a:lnSpc>
                        <a:buSzTx/>
                        <a:buNone/>
                        <a:defRPr/>
                      </a:pPr>
                      <a:r>
                        <a:rPr lang="en-US" sz="1000">
                          <a:solidFill>
                            <a:srgbClr val="595959"/>
                          </a:solidFill>
                          <a:latin typeface="微软雅黑" panose="020B0503020204020204" charset="-122"/>
                          <a:ea typeface="微软雅黑" panose="020B0503020204020204" charset="-122"/>
                          <a:cs typeface="Noto Sans SC" panose="020B0200000000000000" charset="-122"/>
                        </a:rPr>
                        <a:t>知识来源</a:t>
                      </a:r>
                      <a:endParaRPr lang="en-US" sz="1000">
                        <a:solidFill>
                          <a:srgbClr val="595959"/>
                        </a:solidFill>
                        <a:latin typeface="微软雅黑" panose="020B0503020204020204" charset="-122"/>
                        <a:ea typeface="微软雅黑" panose="020B0503020204020204" charset="-122"/>
                        <a:cs typeface="Noto Sans SC" panose="020B0200000000000000"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c>
                  <a:txBody>
                    <a:bodyPr/>
                    <a:lstStyle/>
                    <a:p>
                      <a:pPr marL="0" algn="ctr">
                        <a:lnSpc>
                          <a:spcPct val="100000"/>
                        </a:lnSpc>
                        <a:buSzTx/>
                        <a:buNone/>
                        <a:defRPr/>
                      </a:pPr>
                      <a:r>
                        <a:rPr lang="en-US" sz="1000">
                          <a:solidFill>
                            <a:srgbClr val="595959"/>
                          </a:solidFill>
                          <a:latin typeface="微软雅黑" panose="020B0503020204020204" charset="-122"/>
                          <a:ea typeface="微软雅黑" panose="020B0503020204020204" charset="-122"/>
                          <a:cs typeface="微软雅黑" panose="020B0503020204020204" charset="-122"/>
                        </a:rPr>
                        <a:t>来源：一线知识云/制度中台/AI Coding/外部数据等；</a:t>
                      </a:r>
                      <a:endParaRPr lang="en-US" sz="1000">
                        <a:solidFill>
                          <a:srgbClr val="595959"/>
                        </a:solidFill>
                        <a:latin typeface="微软雅黑" panose="020B0503020204020204" charset="-122"/>
                        <a:ea typeface="微软雅黑" panose="020B0503020204020204" charset="-122"/>
                        <a:cs typeface="微软雅黑" panose="020B0503020204020204"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r>
              <a:tr h="355600">
                <a:tc>
                  <a:txBody>
                    <a:bodyPr/>
                    <a:lstStyle/>
                    <a:p>
                      <a:pPr marL="0" indent="0" algn="ctr">
                        <a:lnSpc>
                          <a:spcPct val="100000"/>
                        </a:lnSpc>
                        <a:defRPr/>
                      </a:pPr>
                      <a:r>
                        <a:rPr 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格式</a:t>
                      </a:r>
                      <a:endParaRPr 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10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DOC/PDF/PPT/图片/音频等</a:t>
                      </a:r>
                      <a:endParaRPr lang="en-US" sz="10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55600">
                <a:tc>
                  <a:txBody>
                    <a:bodyPr/>
                    <a:lstStyle/>
                    <a:p>
                      <a:pPr marL="0" indent="0" algn="ctr">
                        <a:lnSpc>
                          <a:spcPct val="100000"/>
                        </a:lnSpc>
                        <a:defRPr/>
                      </a:pPr>
                      <a:r>
                        <a:rPr 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存储路径</a:t>
                      </a:r>
                      <a:endParaRPr 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zh-CN" alt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存储数据库及路径</a:t>
                      </a:r>
                      <a:endParaRPr lang="zh-CN" alt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55600">
                <a:tc>
                  <a:txBody>
                    <a:bodyPr/>
                    <a:lstStyle/>
                    <a:p>
                      <a:pPr marL="0" indent="0" algn="ctr">
                        <a:lnSpc>
                          <a:spcPct val="100000"/>
                        </a:lnSpc>
                        <a:defRPr/>
                      </a:pPr>
                      <a:r>
                        <a:rPr 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基础指标</a:t>
                      </a:r>
                      <a:endParaRPr 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en-US" sz="10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大小(KB/MB)、页数/时长</a:t>
                      </a:r>
                      <a:endParaRPr lang="en-US" sz="10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355600">
                <a:tc>
                  <a:txBody>
                    <a:bodyPr/>
                    <a:lstStyle/>
                    <a:p>
                      <a:pPr marL="0" indent="0" algn="ctr">
                        <a:lnSpc>
                          <a:spcPct val="100000"/>
                        </a:lnSpc>
                        <a:buNone/>
                        <a:defRPr/>
                      </a:pPr>
                      <a:r>
                        <a:rPr lang="zh-CN" alt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00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buNone/>
                        <a:defRPr/>
                      </a:pPr>
                      <a:r>
                        <a:rPr lang="zh-CN" altLang="en-US" sz="10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00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bl>
          </a:graphicData>
        </a:graphic>
      </p:graphicFrame>
      <p:sp>
        <p:nvSpPr>
          <p:cNvPr id="16" name="AutoShape 16"/>
          <p:cNvSpPr/>
          <p:nvPr/>
        </p:nvSpPr>
        <p:spPr>
          <a:xfrm>
            <a:off x="6932930" y="4838700"/>
            <a:ext cx="3175000" cy="304800"/>
          </a:xfrm>
          <a:prstGeom prst="roundRect">
            <a:avLst>
              <a:gd name="adj" fmla="val 0"/>
            </a:avLst>
          </a:prstGeom>
          <a:noFill/>
          <a:ln w="25400" cap="flat" cmpd="sng">
            <a:noFill/>
            <a:prstDash val="solid"/>
            <a:round/>
          </a:ln>
          <a:extLst>
            <a:ext uri="{909E8E84-426E-40DD-AFC4-6F175D3DCCD1}">
              <a14:hiddenFill xmlns:a14="http://schemas.microsoft.com/office/drawing/2010/main">
                <a:solidFill>
                  <a:srgbClr val="2E75B6">
                    <a:alpha val="100000"/>
                  </a:srgbClr>
                </a:solidFill>
              </a14:hiddenFill>
            </a:ext>
          </a:extLst>
        </p:spPr>
        <p:txBody>
          <a:bodyPr vert="horz" wrap="square" lIns="63500" tIns="63500" rIns="63500" bIns="63500" rtlCol="0" anchor="ctr">
            <a:noAutofit/>
          </a:bodyPr>
          <a:lstStyle/>
          <a:p>
            <a:pPr lvl="0" algn="ctr">
              <a:buClrTx/>
              <a:buSzTx/>
              <a:buFontTx/>
              <a:defRPr/>
            </a:pPr>
            <a:r>
              <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rPr>
              <a:t>技术指标类 · 价值评估</a:t>
            </a:r>
            <a:endParaRPr lang="en-US" altLang="zh-CN" sz="1200" b="1">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8" name="Table 18"/>
          <p:cNvGraphicFramePr>
            <a:graphicFrameLocks noGrp="1"/>
          </p:cNvGraphicFramePr>
          <p:nvPr>
            <p:custDataLst>
              <p:tags r:id="rId4"/>
            </p:custDataLst>
          </p:nvPr>
        </p:nvGraphicFramePr>
        <p:xfrm>
          <a:off x="6360160" y="5166360"/>
          <a:ext cx="4615180" cy="1614170"/>
        </p:xfrm>
        <a:graphic>
          <a:graphicData uri="http://schemas.openxmlformats.org/drawingml/2006/table">
            <a:tbl>
              <a:tblPr>
                <a:effectLst/>
              </a:tblPr>
              <a:tblGrid>
                <a:gridCol w="1334770"/>
                <a:gridCol w="3280410"/>
              </a:tblGrid>
              <a:tr h="410210">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字段</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c>
                  <a:txBody>
                    <a:bodyPr/>
                    <a:lstStyle/>
                    <a:p>
                      <a:pPr marL="0" indent="0" algn="ctr">
                        <a:lnSpc>
                          <a:spcPct val="100000"/>
                        </a:lnSpc>
                        <a:defRPr/>
                      </a:pPr>
                      <a:r>
                        <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rPr>
                        <a:t>标准规则</a:t>
                      </a:r>
                      <a:endParaRPr lang="en-US" sz="1000" b="1" i="0" u="none" strike="noStrike">
                        <a:solidFill>
                          <a:srgbClr val="1F4E7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rgbClr val="F0F5FB">
                        <a:alpha val="100000"/>
                      </a:srgbClr>
                    </a:solidFill>
                  </a:tcPr>
                </a:tc>
              </a:tr>
              <a:tr h="401955">
                <a:tc>
                  <a:txBody>
                    <a:bodyPr/>
                    <a:lstStyle/>
                    <a:p>
                      <a:pPr marL="0" indent="0" algn="ctr">
                        <a:lnSpc>
                          <a:spcPct val="100000"/>
                        </a:lnSpc>
                        <a:defRPr/>
                      </a:pPr>
                      <a:r>
                        <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冷热分级</a:t>
                      </a:r>
                      <a:endPar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根据数据热度划分</a:t>
                      </a:r>
                      <a:r>
                        <a:rPr 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热/温/冷</a:t>
                      </a:r>
                      <a:endParaRPr 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w="12700" cap="flat" cmpd="sng" algn="ctr">
                      <a:solidFill>
                        <a:srgbClr val="D9E2F3"/>
                      </a:solidFill>
                      <a:prstDash val="solid"/>
                      <a:round/>
                      <a:headEnd type="none" w="med" len="med"/>
                      <a:tailEnd type="none" w="med" len="med"/>
                    </a:lnB>
                    <a:noFill/>
                  </a:tcPr>
                </a:tc>
              </a:tr>
              <a:tr h="400685">
                <a:tc>
                  <a:txBody>
                    <a:bodyPr/>
                    <a:lstStyle/>
                    <a:p>
                      <a:pPr marL="0" indent="0" algn="ctr">
                        <a:lnSpc>
                          <a:spcPct val="100000"/>
                        </a:lnSpc>
                        <a:defRPr/>
                      </a:pPr>
                      <a:r>
                        <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权威度</a:t>
                      </a:r>
                      <a:endParaRPr 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根据知识来源和版本情况进行判断</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r h="401320">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950" b="0" i="0" u="none" strike="noStrike">
                        <a:solidFill>
                          <a:srgbClr val="59595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c>
                  <a:txBody>
                    <a:bodyPr/>
                    <a:lstStyle/>
                    <a:p>
                      <a:pPr marL="0" indent="0" algn="ctr">
                        <a:lnSpc>
                          <a:spcPct val="100000"/>
                        </a:lnSpc>
                        <a:defRPr/>
                      </a:pPr>
                      <a:r>
                        <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50" b="0" i="0" u="none" strike="noStrike">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noFill/>
                  </a:tcPr>
                </a:tc>
              </a:tr>
            </a:tbl>
          </a:graphicData>
        </a:graphic>
      </p:graphicFrame>
      <p:sp>
        <p:nvSpPr>
          <p:cNvPr id="5" name="矩形 4"/>
          <p:cNvSpPr/>
          <p:nvPr/>
        </p:nvSpPr>
        <p:spPr>
          <a:xfrm>
            <a:off x="6149340" y="2143125"/>
            <a:ext cx="5113655" cy="4715510"/>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AutoShape 7"/>
          <p:cNvSpPr/>
          <p:nvPr/>
        </p:nvSpPr>
        <p:spPr>
          <a:xfrm>
            <a:off x="1331595" y="1988820"/>
            <a:ext cx="3175635" cy="30480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en-US" altLang="zh-CN" sz="1200" b="1">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管理元数据标准</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8" name="AutoShape 7"/>
          <p:cNvSpPr/>
          <p:nvPr/>
        </p:nvSpPr>
        <p:spPr>
          <a:xfrm>
            <a:off x="6932930" y="1963420"/>
            <a:ext cx="3175635" cy="304800"/>
          </a:xfrm>
          <a:prstGeom prst="roundRect">
            <a:avLst>
              <a:gd name="adj" fmla="val 0"/>
            </a:avLst>
          </a:prstGeom>
          <a:extLst>
            <a:ext uri="{909E8E84-426E-40DD-AFC4-6F175D3DCCD1}">
              <a14:hiddenFill xmlns:a14="http://schemas.microsoft.com/office/drawing/2010/main">
                <a:solidFill>
                  <a:srgbClr val="2E75B6">
                    <a:alpha val="100000"/>
                  </a:srgbClr>
                </a:solidFill>
              </a14:hiddenFill>
            </a:ext>
          </a:extLst>
        </p:spPr>
        <p:style>
          <a:lnRef idx="0">
            <a:srgbClr val="FFFFFF"/>
          </a:lnRef>
          <a:fillRef idx="3">
            <a:schemeClr val="accent1"/>
          </a:fillRef>
          <a:effectRef idx="0">
            <a:srgbClr val="FFFFFF"/>
          </a:effectRef>
          <a:fontRef idx="minor">
            <a:schemeClr val="lt1"/>
          </a:fontRef>
        </p:style>
        <p:txBody>
          <a:bodyPr vert="horz" wrap="square" lIns="63500" tIns="63500" rIns="63500" bIns="63500" rtlCol="0" anchor="ctr">
            <a:noAutofit/>
          </a:bodyPr>
          <a:lstStyle/>
          <a:p>
            <a:pPr lvl="0" algn="ctr">
              <a:buSzTx/>
              <a:defRPr/>
            </a:pPr>
            <a:r>
              <a:rPr lang="en-US" altLang="zh-CN" sz="1200" b="1">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技术元数据标准</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2" name="矩形 31"/>
          <p:cNvSpPr/>
          <p:nvPr/>
        </p:nvSpPr>
        <p:spPr>
          <a:xfrm>
            <a:off x="8705215" y="21590"/>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33" name="矩形 32"/>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5" name="矩形 34"/>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graphicFrame>
        <p:nvGraphicFramePr>
          <p:cNvPr id="3" name="对象 2">
            <a:hlinkClick r:id="" action="ppaction://ole?verb=0"/>
          </p:cNvPr>
          <p:cNvGraphicFramePr>
            <a:graphicFrameLocks noChangeAspect="1"/>
          </p:cNvGraphicFramePr>
          <p:nvPr/>
        </p:nvGraphicFramePr>
        <p:xfrm>
          <a:off x="11398885" y="6020435"/>
          <a:ext cx="762000" cy="762000"/>
        </p:xfrm>
        <a:graphic>
          <a:graphicData uri="http://schemas.openxmlformats.org/presentationml/2006/ole">
            <mc:AlternateContent xmlns:mc="http://schemas.openxmlformats.org/markup-compatibility/2006">
              <mc:Choice xmlns:v="urn:schemas-microsoft-com:vml" Requires="v">
                <p:oleObj spid="_x0000_s1026" name="" showAsIcon="1" r:id="rId5" imgW="1524000" imgH="1524000" progId="Excel.Sheet.12">
                  <p:embed/>
                </p:oleObj>
              </mc:Choice>
              <mc:Fallback>
                <p:oleObj name="" showAsIcon="1" r:id="rId5" imgW="1524000" imgH="1524000" progId="Excel.Sheet.12">
                  <p:embed/>
                  <p:pic>
                    <p:nvPicPr>
                      <p:cNvPr id="0" name="图片 1024"/>
                      <p:cNvPicPr/>
                      <p:nvPr/>
                    </p:nvPicPr>
                    <p:blipFill>
                      <a:blip r:embed="rId6"/>
                      <a:stretch>
                        <a:fillRect/>
                      </a:stretch>
                    </p:blipFill>
                    <p:spPr>
                      <a:xfrm>
                        <a:off x="11398885" y="6020435"/>
                        <a:ext cx="762000" cy="762000"/>
                      </a:xfrm>
                      <a:prstGeom prst="rect">
                        <a:avLst/>
                      </a:prstGeom>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2.2.1 元数据标准审核、发布、更新</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AutoShape 4"/>
          <p:cNvSpPr/>
          <p:nvPr/>
        </p:nvSpPr>
        <p:spPr>
          <a:xfrm>
            <a:off x="508000" y="1778000"/>
            <a:ext cx="1524000" cy="762000"/>
          </a:xfrm>
          <a:prstGeom prst="roundRect">
            <a:avLst>
              <a:gd name="adj" fmla="val 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00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a:t>
            </a:r>
            <a:b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标准设计</a:t>
            </a:r>
            <a:endParaRPr lang="en-US" sz="1100">
              <a:latin typeface="微软雅黑" panose="020B0503020204020204" charset="-122"/>
              <a:ea typeface="微软雅黑" panose="020B0503020204020204" charset="-122"/>
              <a:cs typeface="微软雅黑" panose="020B0503020204020204" charset="-122"/>
            </a:endParaRPr>
          </a:p>
        </p:txBody>
      </p:sp>
      <p:sp>
        <p:nvSpPr>
          <p:cNvPr id="5" name="AutoShape 5"/>
          <p:cNvSpPr/>
          <p:nvPr/>
        </p:nvSpPr>
        <p:spPr>
          <a:xfrm>
            <a:off x="508000" y="2794000"/>
            <a:ext cx="1524000" cy="762000"/>
          </a:xfrm>
          <a:prstGeom prst="rect">
            <a:avLst/>
          </a:prstGeom>
          <a:noFill/>
          <a:ln w="12700" cap="flat" cmpd="sng">
            <a:noFill/>
            <a:prstDash val="solid"/>
            <a:round/>
          </a:ln>
        </p:spPr>
        <p:txBody>
          <a:bodyPr vert="horz" wrap="square" lIns="0" tIns="0" rIns="0" bIns="0" rtlCol="0" anchor="ctr" anchorCtr="0"/>
          <a:lstStyle/>
          <a:p>
            <a:pPr algn="ctr">
              <a:defRPr/>
            </a:pPr>
            <a:r>
              <a:rPr lang="en-US" altLang="zh-CN" sz="1200"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IT</a:t>
            </a:r>
            <a:r>
              <a:rPr lang="zh-CN" altLang="en-US" sz="1200"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融合团队联合</a:t>
            </a:r>
            <a:r>
              <a:rPr lang="en-US" altLang="zh-CN" sz="1200"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IT</a:t>
            </a:r>
            <a:r>
              <a:rPr lang="zh-CN" altLang="en-US" sz="1200"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知识工程团队</a:t>
            </a:r>
            <a:r>
              <a:rPr lang="en-US" sz="1200" b="0" i="0" u="none" strike="noStrike" dirty="0" err="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定义元数据项、类型、规则，形成</a:t>
            </a:r>
            <a:r>
              <a:rPr lang="zh-CN" altLang="en-US" sz="1200" b="0"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元数据标准设计</a:t>
            </a:r>
            <a:endParaRPr lang="zh-CN" altLang="en-US" sz="1200" b="0" i="0" u="none" strike="noStrike" dirty="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6" name="Connector 6"/>
          <p:cNvCxnSpPr/>
          <p:nvPr/>
        </p:nvCxnSpPr>
        <p:spPr>
          <a:xfrm rot="-114549">
            <a:off x="2159106" y="2152650"/>
            <a:ext cx="3810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arrow" w="med" len="med"/>
          </a:ln>
        </p:spPr>
      </p:cxnSp>
      <p:sp>
        <p:nvSpPr>
          <p:cNvPr id="7" name="AutoShape 7"/>
          <p:cNvSpPr/>
          <p:nvPr/>
        </p:nvSpPr>
        <p:spPr>
          <a:xfrm>
            <a:off x="2667000" y="1778000"/>
            <a:ext cx="1524000" cy="762000"/>
          </a:xfrm>
          <a:prstGeom prst="roundRect">
            <a:avLst>
              <a:gd name="adj" fmla="val 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00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a:t>
            </a:r>
            <a:b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标准审核</a:t>
            </a:r>
            <a:endParaRPr lang="en-US" sz="1100">
              <a:latin typeface="微软雅黑" panose="020B0503020204020204" charset="-122"/>
              <a:ea typeface="微软雅黑" panose="020B0503020204020204" charset="-122"/>
              <a:cs typeface="微软雅黑" panose="020B0503020204020204" charset="-122"/>
            </a:endParaRPr>
          </a:p>
        </p:txBody>
      </p:sp>
      <p:sp>
        <p:nvSpPr>
          <p:cNvPr id="8" name="AutoShape 8"/>
          <p:cNvSpPr/>
          <p:nvPr/>
        </p:nvSpPr>
        <p:spPr>
          <a:xfrm>
            <a:off x="2667000" y="2794000"/>
            <a:ext cx="152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zh-CN" altLang="en-US" sz="1200"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提交中心</a:t>
            </a:r>
            <a:r>
              <a:rPr lang="zh-CN" altLang="en-US" sz="1200" b="0" i="0" u="none" strike="noStrike"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审核知识元数据标准</a:t>
            </a:r>
            <a:r>
              <a:rPr lang="en-US" sz="1200" b="0" i="0" u="none" strike="noStrike"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en-US" sz="1200" b="0" i="0" u="none" strike="noStrike" dirty="0" err="1">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审批通过后进入发布</a:t>
            </a:r>
            <a:endParaRPr lang="en-US" sz="1200" b="0" i="0" u="none" strike="noStrike"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9" name="Connector 9"/>
          <p:cNvCxnSpPr/>
          <p:nvPr/>
        </p:nvCxnSpPr>
        <p:spPr>
          <a:xfrm rot="-114549">
            <a:off x="4318106" y="2152650"/>
            <a:ext cx="3810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arrow" w="med" len="med"/>
          </a:ln>
        </p:spPr>
      </p:cxnSp>
      <p:sp>
        <p:nvSpPr>
          <p:cNvPr id="10" name="AutoShape 10"/>
          <p:cNvSpPr/>
          <p:nvPr/>
        </p:nvSpPr>
        <p:spPr>
          <a:xfrm>
            <a:off x="4826000" y="1778000"/>
            <a:ext cx="1778000" cy="762000"/>
          </a:xfrm>
          <a:prstGeom prst="roundRect">
            <a:avLst>
              <a:gd name="adj" fmla="val 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00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元数据标准</a:t>
            </a:r>
            <a:b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发布（更新）</a:t>
            </a:r>
            <a:endParaRPr lang="en-US" sz="1100">
              <a:latin typeface="微软雅黑" panose="020B0503020204020204" charset="-122"/>
              <a:ea typeface="微软雅黑" panose="020B0503020204020204" charset="-122"/>
              <a:cs typeface="微软雅黑" panose="020B0503020204020204" charset="-122"/>
            </a:endParaRPr>
          </a:p>
        </p:txBody>
      </p:sp>
      <p:sp>
        <p:nvSpPr>
          <p:cNvPr id="11" name="AutoShape 11"/>
          <p:cNvSpPr/>
          <p:nvPr/>
        </p:nvSpPr>
        <p:spPr>
          <a:xfrm>
            <a:off x="4826000" y="2794000"/>
            <a:ext cx="177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dirty="0" err="1">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正式发布标准版本，支持迭代更新，历史版本可追溯</a:t>
            </a:r>
            <a:r>
              <a:rPr lang="zh-CN" altLang="en-US" sz="1200" b="0" i="0" u="none" strike="noStrike"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（谁制定、谁发布）</a:t>
            </a:r>
            <a:endParaRPr lang="en-US" sz="1200" b="0" i="0" u="none" strike="noStrike" dirty="0">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12" name="Connector 12"/>
          <p:cNvCxnSpPr/>
          <p:nvPr/>
        </p:nvCxnSpPr>
        <p:spPr>
          <a:xfrm rot="-114549">
            <a:off x="6731106" y="2152650"/>
            <a:ext cx="3810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arrow" w="med" len="med"/>
          </a:ln>
        </p:spPr>
      </p:cxnSp>
      <p:sp>
        <p:nvSpPr>
          <p:cNvPr id="13" name="AutoShape 13"/>
          <p:cNvSpPr/>
          <p:nvPr/>
        </p:nvSpPr>
        <p:spPr>
          <a:xfrm>
            <a:off x="7239000" y="1778000"/>
            <a:ext cx="1524000" cy="762000"/>
          </a:xfrm>
          <a:prstGeom prst="roundRect">
            <a:avLst>
              <a:gd name="adj" fmla="val 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00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a:t>
            </a:r>
            <a:b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标准引用</a:t>
            </a:r>
            <a:endParaRPr lang="en-US" sz="1100">
              <a:latin typeface="微软雅黑" panose="020B0503020204020204" charset="-122"/>
              <a:ea typeface="微软雅黑" panose="020B0503020204020204" charset="-122"/>
              <a:cs typeface="微软雅黑" panose="020B0503020204020204" charset="-122"/>
            </a:endParaRPr>
          </a:p>
        </p:txBody>
      </p:sp>
      <p:sp>
        <p:nvSpPr>
          <p:cNvPr id="14" name="AutoShape 14"/>
          <p:cNvSpPr/>
          <p:nvPr/>
        </p:nvSpPr>
        <p:spPr>
          <a:xfrm>
            <a:off x="7239000" y="2794000"/>
            <a:ext cx="152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各服务调用接口引用，确保</a:t>
            </a:r>
            <a:r>
              <a:rPr lang="zh-CN" altLang="en-US" sz="12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元数据标准</a:t>
            </a:r>
            <a:r>
              <a:rPr lang="en-US" sz="12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一致</a:t>
            </a:r>
            <a:endParaRPr lang="en-US" sz="12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15" name="Connector 15"/>
          <p:cNvCxnSpPr/>
          <p:nvPr/>
        </p:nvCxnSpPr>
        <p:spPr>
          <a:xfrm rot="-114549">
            <a:off x="8890106" y="2152650"/>
            <a:ext cx="3810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none" w="lg" len="lg"/>
          </a:ln>
        </p:spPr>
      </p:cxnSp>
      <p:cxnSp>
        <p:nvCxnSpPr>
          <p:cNvPr id="16" name="Connector 16"/>
          <p:cNvCxnSpPr/>
          <p:nvPr/>
        </p:nvCxnSpPr>
        <p:spPr>
          <a:xfrm rot="-5537436">
            <a:off x="9112250" y="1993773"/>
            <a:ext cx="3175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none" w="lg" len="lg"/>
          </a:ln>
        </p:spPr>
      </p:cxnSp>
      <p:cxnSp>
        <p:nvCxnSpPr>
          <p:cNvPr id="17" name="Connector 17"/>
          <p:cNvCxnSpPr/>
          <p:nvPr/>
        </p:nvCxnSpPr>
        <p:spPr>
          <a:xfrm rot="-171744">
            <a:off x="9271159" y="1835150"/>
            <a:ext cx="2540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arrow" w="med" len="med"/>
          </a:ln>
        </p:spPr>
      </p:cxnSp>
      <p:cxnSp>
        <p:nvCxnSpPr>
          <p:cNvPr id="18" name="Connector 18"/>
          <p:cNvCxnSpPr/>
          <p:nvPr/>
        </p:nvCxnSpPr>
        <p:spPr>
          <a:xfrm rot="5262563">
            <a:off x="9112250" y="2311527"/>
            <a:ext cx="3175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none" w="lg" len="lg"/>
          </a:ln>
        </p:spPr>
      </p:cxnSp>
      <p:cxnSp>
        <p:nvCxnSpPr>
          <p:cNvPr id="19" name="Connector 19"/>
          <p:cNvCxnSpPr/>
          <p:nvPr/>
        </p:nvCxnSpPr>
        <p:spPr>
          <a:xfrm rot="-171744">
            <a:off x="9271159" y="2470150"/>
            <a:ext cx="254000" cy="12700"/>
          </a:xfrm>
          <a:prstGeom prst="line">
            <a:avLst/>
          </a:prstGeom>
          <a:solidFill>
            <a:srgbClr val="DEE0E3">
              <a:alpha val="100000"/>
            </a:srgbClr>
          </a:solidFill>
          <a:ln w="25400" cap="flat" cmpd="sng">
            <a:solidFill>
              <a:srgbClr val="2E75B6">
                <a:alpha val="100000"/>
              </a:srgbClr>
            </a:solidFill>
            <a:prstDash val="solid"/>
            <a:round/>
            <a:headEnd type="none" w="lg" len="lg"/>
            <a:tailEnd type="arrow" w="med" len="med"/>
          </a:ln>
        </p:spPr>
      </p:cxnSp>
      <p:sp>
        <p:nvSpPr>
          <p:cNvPr id="20" name="AutoShape 20"/>
          <p:cNvSpPr/>
          <p:nvPr/>
        </p:nvSpPr>
        <p:spPr>
          <a:xfrm>
            <a:off x="9652000" y="1587500"/>
            <a:ext cx="2032000" cy="558800"/>
          </a:xfrm>
          <a:prstGeom prst="roundRect">
            <a:avLst>
              <a:gd name="adj" fmla="val 0"/>
            </a:avLst>
          </a:prstGeom>
          <a:solidFill>
            <a:srgbClr val="5B9BD5">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大模型引用</a:t>
            </a:r>
            <a:br>
              <a:rPr lang="en-US" sz="13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3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服务接口</a:t>
            </a:r>
            <a:endParaRPr lang="en-US" sz="1100">
              <a:latin typeface="微软雅黑" panose="020B0503020204020204" charset="-122"/>
              <a:ea typeface="微软雅黑" panose="020B0503020204020204" charset="-122"/>
              <a:cs typeface="微软雅黑" panose="020B0503020204020204" charset="-122"/>
            </a:endParaRPr>
          </a:p>
        </p:txBody>
      </p:sp>
      <p:cxnSp>
        <p:nvCxnSpPr>
          <p:cNvPr id="22" name="Connector 22"/>
          <p:cNvCxnSpPr/>
          <p:nvPr/>
        </p:nvCxnSpPr>
        <p:spPr>
          <a:xfrm rot="-3906">
            <a:off x="508004" y="4184650"/>
            <a:ext cx="11176000" cy="12700"/>
          </a:xfrm>
          <a:prstGeom prst="line">
            <a:avLst/>
          </a:prstGeom>
          <a:solidFill>
            <a:srgbClr val="DEE0E3">
              <a:alpha val="100000"/>
            </a:srgbClr>
          </a:solidFill>
          <a:ln w="12700" cap="flat" cmpd="sng">
            <a:solidFill>
              <a:srgbClr val="1F4E79">
                <a:alpha val="20000"/>
              </a:srgbClr>
            </a:solidFill>
            <a:prstDash val="solid"/>
            <a:round/>
            <a:headEnd type="none" w="med" len="med"/>
            <a:tailEnd type="none" w="med" len="med"/>
          </a:ln>
        </p:spPr>
      </p:cxnSp>
      <p:sp>
        <p:nvSpPr>
          <p:cNvPr id="3" name="AutoShape 20"/>
          <p:cNvSpPr/>
          <p:nvPr/>
        </p:nvSpPr>
        <p:spPr>
          <a:xfrm>
            <a:off x="9652000" y="2319020"/>
            <a:ext cx="2032000" cy="558800"/>
          </a:xfrm>
          <a:prstGeom prst="roundRect">
            <a:avLst>
              <a:gd name="adj" fmla="val 0"/>
            </a:avLst>
          </a:prstGeom>
          <a:solidFill>
            <a:srgbClr val="5B9BD5">
              <a:alpha val="100000"/>
            </a:srgbClr>
          </a:solidFill>
          <a:ln w="25400" cap="flat" cmpd="sng">
            <a:noFill/>
            <a:prstDash val="solid"/>
            <a:round/>
          </a:ln>
        </p:spPr>
        <p:txBody>
          <a:bodyPr vert="horz" wrap="square" lIns="0" tIns="0" rIns="0" bIns="0" rtlCol="0" anchor="ctr" anchorCtr="0"/>
          <a:lstStyle/>
          <a:p>
            <a:pPr marL="0" indent="0" algn="ctr">
              <a:lnSpc>
                <a:spcPct val="100000"/>
              </a:lnSpc>
              <a:defRPr/>
            </a:pPr>
            <a:r>
              <a:rPr lang="zh-CN" altLang="en-US" sz="13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元数据采集</a:t>
            </a:r>
            <a:endParaRPr lang="zh-CN" altLang="en-US" sz="13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ctr">
              <a:lnSpc>
                <a:spcPct val="100000"/>
              </a:lnSpc>
              <a:defRPr/>
            </a:pPr>
            <a:r>
              <a:rPr lang="en-US" sz="13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服务接口</a:t>
            </a:r>
            <a:endParaRPr lang="en-US" sz="1100">
              <a:latin typeface="微软雅黑" panose="020B0503020204020204" charset="-122"/>
              <a:ea typeface="微软雅黑" panose="020B0503020204020204" charset="-122"/>
            </a:endParaRPr>
          </a:p>
        </p:txBody>
      </p:sp>
      <p:pic>
        <p:nvPicPr>
          <p:cNvPr id="21" name="图片 20"/>
          <p:cNvPicPr>
            <a:picLocks noChangeAspect="1"/>
          </p:cNvPicPr>
          <p:nvPr/>
        </p:nvPicPr>
        <p:blipFill>
          <a:blip r:embed="rId1"/>
          <a:stretch>
            <a:fillRect/>
          </a:stretch>
        </p:blipFill>
        <p:spPr>
          <a:xfrm>
            <a:off x="6101715" y="4346575"/>
            <a:ext cx="4577715" cy="2254885"/>
          </a:xfrm>
          <a:prstGeom prst="rect">
            <a:avLst/>
          </a:prstGeom>
        </p:spPr>
      </p:pic>
      <p:pic>
        <p:nvPicPr>
          <p:cNvPr id="23" name="图片 22"/>
          <p:cNvPicPr>
            <a:picLocks noChangeAspect="1"/>
          </p:cNvPicPr>
          <p:nvPr/>
        </p:nvPicPr>
        <p:blipFill>
          <a:blip r:embed="rId2"/>
          <a:stretch>
            <a:fillRect/>
          </a:stretch>
        </p:blipFill>
        <p:spPr>
          <a:xfrm>
            <a:off x="640715" y="4346575"/>
            <a:ext cx="4577715" cy="2285365"/>
          </a:xfrm>
          <a:prstGeom prst="rect">
            <a:avLst/>
          </a:prstGeom>
        </p:spPr>
      </p:pic>
      <p:sp>
        <p:nvSpPr>
          <p:cNvPr id="32" name="矩形 31"/>
          <p:cNvSpPr/>
          <p:nvPr/>
        </p:nvSpPr>
        <p:spPr>
          <a:xfrm>
            <a:off x="8705215" y="21590"/>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33" name="矩形 32"/>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5" name="矩形 34"/>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2.2.2 知识汇聚--源端配置</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Shape 5"/>
          <p:cNvSpPr/>
          <p:nvPr>
            <p:custDataLst>
              <p:tags r:id="rId1"/>
            </p:custDataLst>
          </p:nvPr>
        </p:nvSpPr>
        <p:spPr>
          <a:xfrm>
            <a:off x="427355" y="2356485"/>
            <a:ext cx="3714750" cy="3938905"/>
          </a:xfrm>
          <a:prstGeom prst="roundRect">
            <a:avLst>
              <a:gd name="adj" fmla="val 3000"/>
            </a:avLst>
          </a:prstGeom>
          <a:solidFill>
            <a:srgbClr val="EFF6FF"/>
          </a:solidFill>
          <a:ln w="12700">
            <a:solidFill>
              <a:srgbClr val="93C5FD"/>
            </a:solidFill>
            <a:prstDash val="solid"/>
          </a:ln>
        </p:spPr>
      </p:sp>
      <p:sp>
        <p:nvSpPr>
          <p:cNvPr id="4" name="Shape 6"/>
          <p:cNvSpPr/>
          <p:nvPr>
            <p:custDataLst>
              <p:tags r:id="rId2"/>
            </p:custDataLst>
          </p:nvPr>
        </p:nvSpPr>
        <p:spPr>
          <a:xfrm>
            <a:off x="427355" y="2356485"/>
            <a:ext cx="3714750" cy="381000"/>
          </a:xfrm>
          <a:prstGeom prst="roundRect">
            <a:avLst>
              <a:gd name="adj" fmla="val 3000"/>
            </a:avLst>
          </a:prstGeom>
        </p:spPr>
        <p:style>
          <a:lnRef idx="0">
            <a:srgbClr val="FFFFFF"/>
          </a:lnRef>
          <a:fillRef idx="3">
            <a:schemeClr val="accent1"/>
          </a:fillRef>
          <a:effectRef idx="0">
            <a:srgbClr val="FFFFFF"/>
          </a:effectRef>
          <a:fontRef idx="minor">
            <a:schemeClr val="lt1"/>
          </a:fontRef>
        </p:style>
      </p:sp>
      <p:sp>
        <p:nvSpPr>
          <p:cNvPr id="5" name="Shape 7"/>
          <p:cNvSpPr/>
          <p:nvPr>
            <p:custDataLst>
              <p:tags r:id="rId3"/>
            </p:custDataLst>
          </p:nvPr>
        </p:nvSpPr>
        <p:spPr>
          <a:xfrm>
            <a:off x="579755" y="2413635"/>
            <a:ext cx="266700" cy="266700"/>
          </a:xfrm>
          <a:custGeom>
            <a:avLst/>
            <a:gdLst/>
            <a:ahLst/>
            <a:cxnLst/>
            <a:rect l="l" t="t" r="r" b="b"/>
            <a:pathLst>
              <a:path w="355600" h="355600">
                <a:moveTo>
                  <a:pt x="50800" y="22225"/>
                </a:moveTo>
                <a:cubicBezTo>
                  <a:pt x="22781" y="22225"/>
                  <a:pt x="0" y="42158"/>
                  <a:pt x="0" y="66675"/>
                </a:cubicBezTo>
                <a:lnTo>
                  <a:pt x="0" y="111125"/>
                </a:lnTo>
                <a:cubicBezTo>
                  <a:pt x="0" y="135642"/>
                  <a:pt x="22781" y="155575"/>
                  <a:pt x="50800" y="155575"/>
                </a:cubicBezTo>
                <a:lnTo>
                  <a:pt x="304800" y="155575"/>
                </a:lnTo>
                <a:cubicBezTo>
                  <a:pt x="332819" y="155575"/>
                  <a:pt x="355600" y="135642"/>
                  <a:pt x="355600" y="111125"/>
                </a:cubicBezTo>
                <a:lnTo>
                  <a:pt x="355600" y="66675"/>
                </a:lnTo>
                <a:cubicBezTo>
                  <a:pt x="355600" y="42158"/>
                  <a:pt x="332819" y="22225"/>
                  <a:pt x="304800" y="22225"/>
                </a:cubicBezTo>
                <a:lnTo>
                  <a:pt x="50800" y="22225"/>
                </a:lnTo>
                <a:close/>
                <a:moveTo>
                  <a:pt x="222250" y="72231"/>
                </a:moveTo>
                <a:cubicBezTo>
                  <a:pt x="232764" y="72231"/>
                  <a:pt x="241300" y="79700"/>
                  <a:pt x="241300" y="88900"/>
                </a:cubicBezTo>
                <a:cubicBezTo>
                  <a:pt x="241300" y="98100"/>
                  <a:pt x="232764" y="105569"/>
                  <a:pt x="222250" y="105569"/>
                </a:cubicBezTo>
                <a:cubicBezTo>
                  <a:pt x="211736" y="105569"/>
                  <a:pt x="203200" y="98100"/>
                  <a:pt x="203200" y="88900"/>
                </a:cubicBezTo>
                <a:cubicBezTo>
                  <a:pt x="203200" y="79700"/>
                  <a:pt x="211736" y="72231"/>
                  <a:pt x="222250" y="72231"/>
                </a:cubicBezTo>
                <a:close/>
                <a:moveTo>
                  <a:pt x="266700" y="88900"/>
                </a:moveTo>
                <a:cubicBezTo>
                  <a:pt x="266700" y="79700"/>
                  <a:pt x="275236" y="72231"/>
                  <a:pt x="285750" y="72231"/>
                </a:cubicBezTo>
                <a:cubicBezTo>
                  <a:pt x="296264" y="72231"/>
                  <a:pt x="304800" y="79700"/>
                  <a:pt x="304800" y="88900"/>
                </a:cubicBezTo>
                <a:cubicBezTo>
                  <a:pt x="304800" y="98100"/>
                  <a:pt x="296264" y="105569"/>
                  <a:pt x="285750" y="105569"/>
                </a:cubicBezTo>
                <a:cubicBezTo>
                  <a:pt x="275236" y="105569"/>
                  <a:pt x="266700" y="98100"/>
                  <a:pt x="266700" y="88900"/>
                </a:cubicBezTo>
                <a:close/>
                <a:moveTo>
                  <a:pt x="50800" y="200025"/>
                </a:moveTo>
                <a:cubicBezTo>
                  <a:pt x="22781" y="200025"/>
                  <a:pt x="0" y="219958"/>
                  <a:pt x="0" y="244475"/>
                </a:cubicBezTo>
                <a:lnTo>
                  <a:pt x="0" y="288925"/>
                </a:lnTo>
                <a:cubicBezTo>
                  <a:pt x="0" y="313442"/>
                  <a:pt x="22781" y="333375"/>
                  <a:pt x="50800" y="333375"/>
                </a:cubicBezTo>
                <a:lnTo>
                  <a:pt x="304800" y="333375"/>
                </a:lnTo>
                <a:cubicBezTo>
                  <a:pt x="332819" y="333375"/>
                  <a:pt x="355600" y="313442"/>
                  <a:pt x="355600" y="288925"/>
                </a:cubicBezTo>
                <a:lnTo>
                  <a:pt x="355600" y="244475"/>
                </a:lnTo>
                <a:cubicBezTo>
                  <a:pt x="355600" y="219958"/>
                  <a:pt x="332819" y="200025"/>
                  <a:pt x="304800" y="200025"/>
                </a:cubicBezTo>
                <a:lnTo>
                  <a:pt x="50800" y="200025"/>
                </a:lnTo>
                <a:close/>
                <a:moveTo>
                  <a:pt x="222250" y="250031"/>
                </a:moveTo>
                <a:cubicBezTo>
                  <a:pt x="232764" y="250031"/>
                  <a:pt x="241300" y="257500"/>
                  <a:pt x="241300" y="266700"/>
                </a:cubicBezTo>
                <a:cubicBezTo>
                  <a:pt x="241300" y="275900"/>
                  <a:pt x="232764" y="283369"/>
                  <a:pt x="222250" y="283369"/>
                </a:cubicBezTo>
                <a:cubicBezTo>
                  <a:pt x="211736" y="283369"/>
                  <a:pt x="203200" y="275900"/>
                  <a:pt x="203200" y="266700"/>
                </a:cubicBezTo>
                <a:cubicBezTo>
                  <a:pt x="203200" y="257500"/>
                  <a:pt x="211736" y="250031"/>
                  <a:pt x="222250" y="250031"/>
                </a:cubicBezTo>
                <a:close/>
                <a:moveTo>
                  <a:pt x="266700" y="266700"/>
                </a:moveTo>
                <a:cubicBezTo>
                  <a:pt x="266700" y="257500"/>
                  <a:pt x="275236" y="250031"/>
                  <a:pt x="285750" y="250031"/>
                </a:cubicBezTo>
                <a:cubicBezTo>
                  <a:pt x="296264" y="250031"/>
                  <a:pt x="304800" y="257500"/>
                  <a:pt x="304800" y="266700"/>
                </a:cubicBezTo>
                <a:cubicBezTo>
                  <a:pt x="304800" y="275900"/>
                  <a:pt x="296264" y="283369"/>
                  <a:pt x="285750" y="283369"/>
                </a:cubicBezTo>
                <a:cubicBezTo>
                  <a:pt x="275236" y="283369"/>
                  <a:pt x="266700" y="275900"/>
                  <a:pt x="266700" y="266700"/>
                </a:cubicBezTo>
                <a:close/>
              </a:path>
            </a:pathLst>
          </a:custGeom>
          <a:solidFill>
            <a:srgbClr val="FFFFFF"/>
          </a:solidFill>
        </p:spPr>
      </p:sp>
      <p:sp>
        <p:nvSpPr>
          <p:cNvPr id="6" name="Text 8"/>
          <p:cNvSpPr/>
          <p:nvPr>
            <p:custDataLst>
              <p:tags r:id="rId4"/>
            </p:custDataLst>
          </p:nvPr>
        </p:nvSpPr>
        <p:spPr>
          <a:xfrm>
            <a:off x="922655" y="2413635"/>
            <a:ext cx="3048000" cy="266700"/>
          </a:xfrm>
          <a:prstGeom prst="rect">
            <a:avLst/>
          </a:prstGeom>
          <a:noFill/>
        </p:spPr>
        <p:txBody>
          <a:bodyPr wrap="none" lIns="0" tIns="0" rIns="0" bIns="0" rtlCol="0" anchor="ctr"/>
          <a:lstStyle/>
          <a:p>
            <a:pPr algn="l">
              <a:lnSpc>
                <a:spcPct val="120000"/>
              </a:lnSpc>
            </a:pPr>
            <a:r>
              <a:rPr lang="en-US" sz="1350" b="1" dirty="0">
                <a:solidFill>
                  <a:srgbClr val="FFFFFF"/>
                </a:solidFill>
                <a:latin typeface="微软雅黑" panose="020B0503020204020204" charset="-122"/>
                <a:ea typeface="微软雅黑" panose="020B0503020204020204" charset="-122"/>
                <a:cs typeface="MiSans" pitchFamily="34" charset="-120"/>
              </a:rPr>
              <a:t>系统基础信息采集</a:t>
            </a:r>
            <a:endParaRPr lang="en-US" sz="1350" b="1" dirty="0">
              <a:solidFill>
                <a:srgbClr val="FFFFFF"/>
              </a:solidFill>
              <a:latin typeface="微软雅黑" panose="020B0503020204020204" charset="-122"/>
              <a:ea typeface="微软雅黑" panose="020B0503020204020204" charset="-122"/>
              <a:cs typeface="MiSans" pitchFamily="34" charset="-120"/>
            </a:endParaRPr>
          </a:p>
        </p:txBody>
      </p:sp>
      <p:sp>
        <p:nvSpPr>
          <p:cNvPr id="22" name="Text 9"/>
          <p:cNvSpPr/>
          <p:nvPr>
            <p:custDataLst>
              <p:tags r:id="rId5"/>
            </p:custDataLst>
          </p:nvPr>
        </p:nvSpPr>
        <p:spPr>
          <a:xfrm>
            <a:off x="579755" y="2870835"/>
            <a:ext cx="3409950" cy="3562350"/>
          </a:xfrm>
          <a:prstGeom prst="rect">
            <a:avLst/>
          </a:prstGeom>
          <a:noFill/>
        </p:spPr>
        <p:txBody>
          <a:bodyPr wrap="square" lIns="0" tIns="0" rIns="0" bIns="0" rtlCol="0" anchor="t"/>
          <a:lstStyle/>
          <a:p>
            <a:pPr algn="l">
              <a:lnSpc>
                <a:spcPct val="160000"/>
              </a:lnSpc>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基础信息</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源端系统名称</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系统类型</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部署地址</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鉴权配置</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账号密码</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Token / API Key</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密钥认证</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连通性测试</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一键验证接口可用性</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系统描述与接入状态</a:t>
            </a:r>
            <a:endParaRPr lang="en-US" sz="1050" dirty="0">
              <a:latin typeface="微软雅黑" panose="020B0503020204020204" charset="-122"/>
              <a:ea typeface="微软雅黑" panose="020B0503020204020204" charset="-122"/>
              <a:cs typeface="微软雅黑" panose="020B0503020204020204" charset="-122"/>
            </a:endParaRPr>
          </a:p>
        </p:txBody>
      </p:sp>
      <p:sp>
        <p:nvSpPr>
          <p:cNvPr id="23" name="Shape 10"/>
          <p:cNvSpPr/>
          <p:nvPr>
            <p:custDataLst>
              <p:tags r:id="rId6"/>
            </p:custDataLst>
          </p:nvPr>
        </p:nvSpPr>
        <p:spPr>
          <a:xfrm>
            <a:off x="4284980" y="2356485"/>
            <a:ext cx="3714750" cy="3938905"/>
          </a:xfrm>
          <a:prstGeom prst="roundRect">
            <a:avLst>
              <a:gd name="adj" fmla="val 3000"/>
            </a:avLst>
          </a:prstGeom>
          <a:solidFill>
            <a:srgbClr val="EFF6FF"/>
          </a:solidFill>
          <a:ln w="12700">
            <a:solidFill>
              <a:srgbClr val="93C5FD"/>
            </a:solidFill>
            <a:prstDash val="solid"/>
          </a:ln>
        </p:spPr>
      </p:sp>
      <p:sp>
        <p:nvSpPr>
          <p:cNvPr id="24" name="Shape 11"/>
          <p:cNvSpPr/>
          <p:nvPr>
            <p:custDataLst>
              <p:tags r:id="rId7"/>
            </p:custDataLst>
          </p:nvPr>
        </p:nvSpPr>
        <p:spPr>
          <a:xfrm>
            <a:off x="4284980" y="2356485"/>
            <a:ext cx="3714750" cy="381000"/>
          </a:xfrm>
          <a:prstGeom prst="roundRect">
            <a:avLst>
              <a:gd name="adj" fmla="val 3000"/>
            </a:avLst>
          </a:prstGeom>
        </p:spPr>
        <p:style>
          <a:lnRef idx="0">
            <a:srgbClr val="FFFFFF"/>
          </a:lnRef>
          <a:fillRef idx="3">
            <a:schemeClr val="accent1"/>
          </a:fillRef>
          <a:effectRef idx="0">
            <a:srgbClr val="FFFFFF"/>
          </a:effectRef>
          <a:fontRef idx="minor">
            <a:schemeClr val="lt1"/>
          </a:fontRef>
        </p:style>
      </p:sp>
      <p:sp>
        <p:nvSpPr>
          <p:cNvPr id="25" name="Shape 12"/>
          <p:cNvSpPr/>
          <p:nvPr>
            <p:custDataLst>
              <p:tags r:id="rId8"/>
            </p:custDataLst>
          </p:nvPr>
        </p:nvSpPr>
        <p:spPr>
          <a:xfrm>
            <a:off x="4437380" y="2413635"/>
            <a:ext cx="266700" cy="266700"/>
          </a:xfrm>
          <a:custGeom>
            <a:avLst/>
            <a:gdLst/>
            <a:ahLst/>
            <a:cxnLst/>
            <a:rect l="l" t="t" r="r" b="b"/>
            <a:pathLst>
              <a:path w="355600" h="355600">
                <a:moveTo>
                  <a:pt x="258983" y="66675"/>
                </a:moveTo>
                <a:cubicBezTo>
                  <a:pt x="248735" y="66675"/>
                  <a:pt x="238795" y="69800"/>
                  <a:pt x="230090" y="75496"/>
                </a:cubicBezTo>
                <a:cubicBezTo>
                  <a:pt x="220336" y="64383"/>
                  <a:pt x="208977" y="55076"/>
                  <a:pt x="196444" y="48062"/>
                </a:cubicBezTo>
                <a:cubicBezTo>
                  <a:pt x="213854" y="31393"/>
                  <a:pt x="236017" y="22225"/>
                  <a:pt x="258983" y="22225"/>
                </a:cubicBezTo>
                <a:cubicBezTo>
                  <a:pt x="312323" y="22225"/>
                  <a:pt x="355600" y="70842"/>
                  <a:pt x="355600" y="130919"/>
                </a:cubicBezTo>
                <a:cubicBezTo>
                  <a:pt x="355600" y="159742"/>
                  <a:pt x="345414" y="187385"/>
                  <a:pt x="327325" y="207734"/>
                </a:cubicBezTo>
                <a:lnTo>
                  <a:pt x="283430" y="257115"/>
                </a:lnTo>
                <a:cubicBezTo>
                  <a:pt x="265342" y="277465"/>
                  <a:pt x="240771" y="288925"/>
                  <a:pt x="215150" y="288925"/>
                </a:cubicBezTo>
                <a:cubicBezTo>
                  <a:pt x="161810" y="288925"/>
                  <a:pt x="118533" y="240308"/>
                  <a:pt x="118533" y="180231"/>
                </a:cubicBezTo>
                <a:cubicBezTo>
                  <a:pt x="118533" y="179189"/>
                  <a:pt x="118533" y="178147"/>
                  <a:pt x="118595" y="177105"/>
                </a:cubicBezTo>
                <a:cubicBezTo>
                  <a:pt x="118904" y="164812"/>
                  <a:pt x="127979" y="155158"/>
                  <a:pt x="138906" y="155506"/>
                </a:cubicBezTo>
                <a:cubicBezTo>
                  <a:pt x="149834" y="155853"/>
                  <a:pt x="158415" y="166062"/>
                  <a:pt x="158106" y="178356"/>
                </a:cubicBezTo>
                <a:cubicBezTo>
                  <a:pt x="158106" y="178981"/>
                  <a:pt x="158106" y="179606"/>
                  <a:pt x="158106" y="180161"/>
                </a:cubicBezTo>
                <a:cubicBezTo>
                  <a:pt x="158106" y="215652"/>
                  <a:pt x="183665" y="244406"/>
                  <a:pt x="215212" y="244406"/>
                </a:cubicBezTo>
                <a:cubicBezTo>
                  <a:pt x="230337" y="244406"/>
                  <a:pt x="244845" y="237669"/>
                  <a:pt x="255588" y="225584"/>
                </a:cubicBezTo>
                <a:lnTo>
                  <a:pt x="299482" y="176203"/>
                </a:lnTo>
                <a:cubicBezTo>
                  <a:pt x="310162" y="164187"/>
                  <a:pt x="316212" y="147796"/>
                  <a:pt x="316212" y="130780"/>
                </a:cubicBezTo>
                <a:cubicBezTo>
                  <a:pt x="316212" y="95290"/>
                  <a:pt x="290654" y="66536"/>
                  <a:pt x="259106" y="66536"/>
                </a:cubicBezTo>
                <a:close/>
                <a:moveTo>
                  <a:pt x="169898" y="120362"/>
                </a:moveTo>
                <a:cubicBezTo>
                  <a:pt x="168725" y="119807"/>
                  <a:pt x="167552" y="119043"/>
                  <a:pt x="166502" y="118209"/>
                </a:cubicBezTo>
                <a:cubicBezTo>
                  <a:pt x="158724" y="113695"/>
                  <a:pt x="149834" y="111125"/>
                  <a:pt x="140511" y="111125"/>
                </a:cubicBezTo>
                <a:cubicBezTo>
                  <a:pt x="125386" y="111125"/>
                  <a:pt x="110878" y="117862"/>
                  <a:pt x="100136" y="129947"/>
                </a:cubicBezTo>
                <a:lnTo>
                  <a:pt x="56242" y="179328"/>
                </a:lnTo>
                <a:cubicBezTo>
                  <a:pt x="45561" y="191343"/>
                  <a:pt x="39511" y="207734"/>
                  <a:pt x="39511" y="224750"/>
                </a:cubicBezTo>
                <a:cubicBezTo>
                  <a:pt x="39511" y="260241"/>
                  <a:pt x="65070" y="288994"/>
                  <a:pt x="96617" y="288994"/>
                </a:cubicBezTo>
                <a:cubicBezTo>
                  <a:pt x="106803" y="288994"/>
                  <a:pt x="116743" y="285939"/>
                  <a:pt x="125448" y="280243"/>
                </a:cubicBezTo>
                <a:cubicBezTo>
                  <a:pt x="135202" y="291356"/>
                  <a:pt x="146562" y="300663"/>
                  <a:pt x="159156" y="307677"/>
                </a:cubicBezTo>
                <a:cubicBezTo>
                  <a:pt x="141746" y="324277"/>
                  <a:pt x="119645" y="333514"/>
                  <a:pt x="96617" y="333514"/>
                </a:cubicBezTo>
                <a:cubicBezTo>
                  <a:pt x="43277" y="333514"/>
                  <a:pt x="0" y="284897"/>
                  <a:pt x="0" y="224820"/>
                </a:cubicBezTo>
                <a:cubicBezTo>
                  <a:pt x="0" y="195997"/>
                  <a:pt x="10186" y="168354"/>
                  <a:pt x="28275" y="148005"/>
                </a:cubicBezTo>
                <a:lnTo>
                  <a:pt x="72170" y="98623"/>
                </a:lnTo>
                <a:cubicBezTo>
                  <a:pt x="90258" y="78274"/>
                  <a:pt x="114829" y="66814"/>
                  <a:pt x="140450" y="66814"/>
                </a:cubicBezTo>
                <a:cubicBezTo>
                  <a:pt x="193913" y="66814"/>
                  <a:pt x="237067" y="115848"/>
                  <a:pt x="237067" y="175786"/>
                </a:cubicBezTo>
                <a:cubicBezTo>
                  <a:pt x="237067" y="176689"/>
                  <a:pt x="237067" y="177592"/>
                  <a:pt x="237067" y="178495"/>
                </a:cubicBezTo>
                <a:cubicBezTo>
                  <a:pt x="236820" y="190788"/>
                  <a:pt x="227745" y="200442"/>
                  <a:pt x="216817" y="200164"/>
                </a:cubicBezTo>
                <a:cubicBezTo>
                  <a:pt x="205890" y="199886"/>
                  <a:pt x="197309" y="189676"/>
                  <a:pt x="197556" y="177383"/>
                </a:cubicBezTo>
                <a:cubicBezTo>
                  <a:pt x="197556" y="176828"/>
                  <a:pt x="197556" y="176341"/>
                  <a:pt x="197556" y="175786"/>
                </a:cubicBezTo>
                <a:cubicBezTo>
                  <a:pt x="197556" y="152380"/>
                  <a:pt x="186443" y="131822"/>
                  <a:pt x="169898" y="120501"/>
                </a:cubicBezTo>
                <a:close/>
              </a:path>
            </a:pathLst>
          </a:custGeom>
          <a:solidFill>
            <a:srgbClr val="FFFFFF"/>
          </a:solidFill>
        </p:spPr>
      </p:sp>
      <p:sp>
        <p:nvSpPr>
          <p:cNvPr id="26" name="Text 13"/>
          <p:cNvSpPr/>
          <p:nvPr>
            <p:custDataLst>
              <p:tags r:id="rId9"/>
            </p:custDataLst>
          </p:nvPr>
        </p:nvSpPr>
        <p:spPr>
          <a:xfrm>
            <a:off x="4780280" y="2413635"/>
            <a:ext cx="3048000" cy="266700"/>
          </a:xfrm>
          <a:prstGeom prst="rect">
            <a:avLst/>
          </a:prstGeom>
          <a:noFill/>
        </p:spPr>
        <p:txBody>
          <a:bodyPr wrap="none" lIns="0" tIns="0" rIns="0" bIns="0" rtlCol="0" anchor="ctr"/>
          <a:lstStyle/>
          <a:p>
            <a:pPr algn="l">
              <a:lnSpc>
                <a:spcPct val="120000"/>
              </a:lnSpc>
            </a:pPr>
            <a:r>
              <a:rPr lang="en-US" sz="1350" b="1" dirty="0">
                <a:solidFill>
                  <a:srgbClr val="FFFFFF"/>
                </a:solidFill>
                <a:latin typeface="微软雅黑" panose="020B0503020204020204" charset="-122"/>
                <a:ea typeface="微软雅黑" panose="020B0503020204020204" charset="-122"/>
                <a:cs typeface="MiSans" pitchFamily="34" charset="-120"/>
              </a:rPr>
              <a:t>接口连接管理</a:t>
            </a:r>
            <a:endParaRPr lang="en-US" sz="1350" b="1" dirty="0">
              <a:solidFill>
                <a:srgbClr val="FFFFFF"/>
              </a:solidFill>
              <a:latin typeface="微软雅黑" panose="020B0503020204020204" charset="-122"/>
              <a:ea typeface="微软雅黑" panose="020B0503020204020204" charset="-122"/>
              <a:cs typeface="MiSans" pitchFamily="34" charset="-120"/>
            </a:endParaRPr>
          </a:p>
        </p:txBody>
      </p:sp>
      <p:sp>
        <p:nvSpPr>
          <p:cNvPr id="27" name="Text 14"/>
          <p:cNvSpPr/>
          <p:nvPr>
            <p:custDataLst>
              <p:tags r:id="rId10"/>
            </p:custDataLst>
          </p:nvPr>
        </p:nvSpPr>
        <p:spPr>
          <a:xfrm>
            <a:off x="4437380" y="2870835"/>
            <a:ext cx="3409950" cy="3562350"/>
          </a:xfrm>
          <a:prstGeom prst="rect">
            <a:avLst/>
          </a:prstGeom>
          <a:noFill/>
        </p:spPr>
        <p:txBody>
          <a:bodyPr wrap="square" lIns="0" tIns="0" rIns="0" bIns="0" rtlCol="0" anchor="t"/>
          <a:lstStyle/>
          <a:p>
            <a:pPr algn="l">
              <a:lnSpc>
                <a:spcPct val="160000"/>
              </a:lnSpc>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源端直连接口</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REST API接口</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消息事件订阅</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SFTP中转接口</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文件批量传输目录</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文件命名规则</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传输周期配置</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接口参数</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接口地址、端口号</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认证账号/密钥</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超时时间与重试策略</a:t>
            </a:r>
            <a:endParaRPr lang="en-US" sz="1050" dirty="0">
              <a:latin typeface="微软雅黑" panose="020B0503020204020204" charset="-122"/>
              <a:ea typeface="微软雅黑" panose="020B0503020204020204" charset="-122"/>
              <a:cs typeface="微软雅黑" panose="020B0503020204020204" charset="-122"/>
            </a:endParaRPr>
          </a:p>
        </p:txBody>
      </p:sp>
      <p:sp>
        <p:nvSpPr>
          <p:cNvPr id="28" name="Shape 15"/>
          <p:cNvSpPr/>
          <p:nvPr>
            <p:custDataLst>
              <p:tags r:id="rId11"/>
            </p:custDataLst>
          </p:nvPr>
        </p:nvSpPr>
        <p:spPr>
          <a:xfrm>
            <a:off x="8142605" y="2356485"/>
            <a:ext cx="3714750" cy="3938905"/>
          </a:xfrm>
          <a:prstGeom prst="roundRect">
            <a:avLst>
              <a:gd name="adj" fmla="val 3000"/>
            </a:avLst>
          </a:prstGeom>
          <a:solidFill>
            <a:srgbClr val="EFF6FF"/>
          </a:solidFill>
          <a:ln w="12700">
            <a:solidFill>
              <a:srgbClr val="93C5FD"/>
            </a:solidFill>
            <a:prstDash val="solid"/>
          </a:ln>
        </p:spPr>
      </p:sp>
      <p:sp>
        <p:nvSpPr>
          <p:cNvPr id="29" name="Shape 16"/>
          <p:cNvSpPr/>
          <p:nvPr>
            <p:custDataLst>
              <p:tags r:id="rId12"/>
            </p:custDataLst>
          </p:nvPr>
        </p:nvSpPr>
        <p:spPr>
          <a:xfrm>
            <a:off x="8142605" y="2356485"/>
            <a:ext cx="3714750" cy="381000"/>
          </a:xfrm>
          <a:prstGeom prst="roundRect">
            <a:avLst>
              <a:gd name="adj" fmla="val 3000"/>
            </a:avLst>
          </a:prstGeom>
        </p:spPr>
        <p:style>
          <a:lnRef idx="0">
            <a:srgbClr val="FFFFFF"/>
          </a:lnRef>
          <a:fillRef idx="3">
            <a:schemeClr val="accent1"/>
          </a:fillRef>
          <a:effectRef idx="0">
            <a:srgbClr val="FFFFFF"/>
          </a:effectRef>
          <a:fontRef idx="minor">
            <a:schemeClr val="lt1"/>
          </a:fontRef>
        </p:style>
      </p:sp>
      <p:sp>
        <p:nvSpPr>
          <p:cNvPr id="30" name="Shape 17"/>
          <p:cNvSpPr/>
          <p:nvPr>
            <p:custDataLst>
              <p:tags r:id="rId13"/>
            </p:custDataLst>
          </p:nvPr>
        </p:nvSpPr>
        <p:spPr>
          <a:xfrm>
            <a:off x="8295005" y="2413635"/>
            <a:ext cx="266700" cy="266700"/>
          </a:xfrm>
          <a:custGeom>
            <a:avLst/>
            <a:gdLst/>
            <a:ahLst/>
            <a:cxnLst/>
            <a:rect l="l" t="t" r="r" b="b"/>
            <a:pathLst>
              <a:path w="355600" h="355600">
                <a:moveTo>
                  <a:pt x="177800" y="44450"/>
                </a:moveTo>
                <a:cubicBezTo>
                  <a:pt x="243240" y="44450"/>
                  <a:pt x="296333" y="104180"/>
                  <a:pt x="296333" y="177800"/>
                </a:cubicBezTo>
                <a:cubicBezTo>
                  <a:pt x="296333" y="251420"/>
                  <a:pt x="243240" y="311150"/>
                  <a:pt x="177800" y="311150"/>
                </a:cubicBezTo>
                <a:cubicBezTo>
                  <a:pt x="137548" y="311150"/>
                  <a:pt x="101926" y="288578"/>
                  <a:pt x="80504" y="253990"/>
                </a:cubicBezTo>
                <a:cubicBezTo>
                  <a:pt x="74269" y="243919"/>
                  <a:pt x="61921" y="241489"/>
                  <a:pt x="52970" y="248503"/>
                </a:cubicBezTo>
                <a:cubicBezTo>
                  <a:pt x="44018" y="255518"/>
                  <a:pt x="41857" y="269409"/>
                  <a:pt x="48092" y="279479"/>
                </a:cubicBezTo>
                <a:cubicBezTo>
                  <a:pt x="76615" y="325457"/>
                  <a:pt x="124090" y="355600"/>
                  <a:pt x="177800" y="355600"/>
                </a:cubicBezTo>
                <a:cubicBezTo>
                  <a:pt x="265095" y="355600"/>
                  <a:pt x="335844" y="276007"/>
                  <a:pt x="335844" y="177800"/>
                </a:cubicBezTo>
                <a:cubicBezTo>
                  <a:pt x="335844" y="79593"/>
                  <a:pt x="265095" y="0"/>
                  <a:pt x="177800" y="0"/>
                </a:cubicBezTo>
                <a:cubicBezTo>
                  <a:pt x="124892" y="0"/>
                  <a:pt x="78096" y="29240"/>
                  <a:pt x="49389" y="74106"/>
                </a:cubicBezTo>
                <a:lnTo>
                  <a:pt x="49389" y="55563"/>
                </a:lnTo>
                <a:cubicBezTo>
                  <a:pt x="49389" y="43269"/>
                  <a:pt x="40561" y="33337"/>
                  <a:pt x="29633" y="33337"/>
                </a:cubicBezTo>
                <a:cubicBezTo>
                  <a:pt x="18706" y="33337"/>
                  <a:pt x="9878" y="43269"/>
                  <a:pt x="9878" y="55563"/>
                </a:cubicBezTo>
                <a:lnTo>
                  <a:pt x="9878" y="133350"/>
                </a:lnTo>
                <a:cubicBezTo>
                  <a:pt x="9878" y="145643"/>
                  <a:pt x="18706" y="155575"/>
                  <a:pt x="29633" y="155575"/>
                </a:cubicBezTo>
                <a:lnTo>
                  <a:pt x="44820" y="155575"/>
                </a:lnTo>
                <a:cubicBezTo>
                  <a:pt x="45129" y="155575"/>
                  <a:pt x="45438" y="155575"/>
                  <a:pt x="45746" y="155575"/>
                </a:cubicBezTo>
                <a:lnTo>
                  <a:pt x="98840" y="155575"/>
                </a:lnTo>
                <a:cubicBezTo>
                  <a:pt x="109767" y="155575"/>
                  <a:pt x="118595" y="145643"/>
                  <a:pt x="118595" y="133350"/>
                </a:cubicBezTo>
                <a:cubicBezTo>
                  <a:pt x="118595" y="121057"/>
                  <a:pt x="109767" y="111125"/>
                  <a:pt x="98840" y="111125"/>
                </a:cubicBezTo>
                <a:lnTo>
                  <a:pt x="75195" y="111125"/>
                </a:lnTo>
                <a:cubicBezTo>
                  <a:pt x="95629" y="71259"/>
                  <a:pt x="133967" y="44450"/>
                  <a:pt x="177800" y="44450"/>
                </a:cubicBezTo>
                <a:close/>
                <a:moveTo>
                  <a:pt x="192617" y="105569"/>
                </a:moveTo>
                <a:cubicBezTo>
                  <a:pt x="192617" y="96331"/>
                  <a:pt x="186011" y="88900"/>
                  <a:pt x="177800" y="88900"/>
                </a:cubicBezTo>
                <a:cubicBezTo>
                  <a:pt x="169589" y="88900"/>
                  <a:pt x="162983" y="96331"/>
                  <a:pt x="162983" y="105569"/>
                </a:cubicBezTo>
                <a:lnTo>
                  <a:pt x="162983" y="177800"/>
                </a:lnTo>
                <a:cubicBezTo>
                  <a:pt x="162983" y="182245"/>
                  <a:pt x="164527" y="186482"/>
                  <a:pt x="167305" y="189607"/>
                </a:cubicBezTo>
                <a:lnTo>
                  <a:pt x="211755" y="239613"/>
                </a:lnTo>
                <a:cubicBezTo>
                  <a:pt x="217558" y="246142"/>
                  <a:pt x="226942" y="246142"/>
                  <a:pt x="232683" y="239613"/>
                </a:cubicBezTo>
                <a:cubicBezTo>
                  <a:pt x="238425" y="233085"/>
                  <a:pt x="238487" y="222528"/>
                  <a:pt x="232683" y="216069"/>
                </a:cubicBezTo>
                <a:lnTo>
                  <a:pt x="192555" y="170924"/>
                </a:lnTo>
                <a:lnTo>
                  <a:pt x="192555" y="105569"/>
                </a:lnTo>
                <a:close/>
              </a:path>
            </a:pathLst>
          </a:custGeom>
          <a:solidFill>
            <a:srgbClr val="FFFFFF"/>
          </a:solidFill>
        </p:spPr>
      </p:sp>
      <p:sp>
        <p:nvSpPr>
          <p:cNvPr id="31" name="Text 18"/>
          <p:cNvSpPr/>
          <p:nvPr>
            <p:custDataLst>
              <p:tags r:id="rId14"/>
            </p:custDataLst>
          </p:nvPr>
        </p:nvSpPr>
        <p:spPr>
          <a:xfrm>
            <a:off x="8637905" y="2413635"/>
            <a:ext cx="3048000" cy="266700"/>
          </a:xfrm>
          <a:prstGeom prst="rect">
            <a:avLst/>
          </a:prstGeom>
          <a:noFill/>
        </p:spPr>
        <p:txBody>
          <a:bodyPr wrap="none" lIns="0" tIns="0" rIns="0" bIns="0" rtlCol="0" anchor="ctr"/>
          <a:lstStyle/>
          <a:p>
            <a:pPr algn="l">
              <a:lnSpc>
                <a:spcPct val="120000"/>
              </a:lnSpc>
            </a:pPr>
            <a:r>
              <a:rPr lang="en-US" sz="1350" b="1" dirty="0">
                <a:solidFill>
                  <a:srgbClr val="FFFFFF"/>
                </a:solidFill>
                <a:latin typeface="微软雅黑" panose="020B0503020204020204" charset="-122"/>
                <a:ea typeface="微软雅黑" panose="020B0503020204020204" charset="-122"/>
                <a:cs typeface="MiSans" pitchFamily="34" charset="-120"/>
              </a:rPr>
              <a:t>同步任务配置</a:t>
            </a:r>
            <a:endParaRPr lang="en-US" sz="1350" b="1" dirty="0">
              <a:solidFill>
                <a:srgbClr val="FFFFFF"/>
              </a:solidFill>
              <a:latin typeface="微软雅黑" panose="020B0503020204020204" charset="-122"/>
              <a:ea typeface="微软雅黑" panose="020B0503020204020204" charset="-122"/>
              <a:cs typeface="MiSans" pitchFamily="34" charset="-120"/>
            </a:endParaRPr>
          </a:p>
        </p:txBody>
      </p:sp>
      <p:sp>
        <p:nvSpPr>
          <p:cNvPr id="32" name="Text 19"/>
          <p:cNvSpPr/>
          <p:nvPr>
            <p:custDataLst>
              <p:tags r:id="rId15"/>
            </p:custDataLst>
          </p:nvPr>
        </p:nvSpPr>
        <p:spPr>
          <a:xfrm>
            <a:off x="8295005" y="2870835"/>
            <a:ext cx="3409950" cy="3562350"/>
          </a:xfrm>
          <a:prstGeom prst="rect">
            <a:avLst/>
          </a:prstGeom>
          <a:noFill/>
        </p:spPr>
        <p:txBody>
          <a:bodyPr wrap="square" lIns="0" tIns="0" rIns="0" bIns="0" rtlCol="0" anchor="t"/>
          <a:lstStyle/>
          <a:p>
            <a:pPr algn="l">
              <a:lnSpc>
                <a:spcPct val="160000"/>
              </a:lnSpc>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文档新增任务</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触发方式：</a:t>
            </a:r>
            <a:r>
              <a:rPr lang="zh-CN" altLang="en-US" sz="1050" dirty="0">
                <a:solidFill>
                  <a:srgbClr val="1E293B"/>
                </a:solidFill>
                <a:latin typeface="微软雅黑" panose="020B0503020204020204" charset="-122"/>
                <a:ea typeface="微软雅黑" panose="020B0503020204020204" charset="-122"/>
                <a:cs typeface="微软雅黑" panose="020B0503020204020204" charset="-122"/>
              </a:rPr>
              <a:t>文档探察</a:t>
            </a:r>
            <a:r>
              <a:rPr lang="en-US" sz="1050" dirty="0">
                <a:solidFill>
                  <a:srgbClr val="1E293B"/>
                </a:solidFill>
                <a:latin typeface="微软雅黑" panose="020B0503020204020204" charset="-122"/>
                <a:ea typeface="微软雅黑" panose="020B0503020204020204" charset="-122"/>
                <a:cs typeface="微软雅黑" panose="020B0503020204020204" charset="-122"/>
              </a:rPr>
              <a:t> / 定时拉取 / 手动触发</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同步目录范围</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文件类型过滤</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同步频率：小时级/天级</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pPr>
            <a:r>
              <a:rPr lang="en-US" sz="1050" b="1" dirty="0">
                <a:solidFill>
                  <a:srgbClr val="1E293B"/>
                </a:solidFill>
                <a:latin typeface="微软雅黑" panose="020B0503020204020204" charset="-122"/>
                <a:ea typeface="微软雅黑" panose="020B0503020204020204" charset="-122"/>
                <a:cs typeface="微软雅黑" panose="020B0503020204020204" charset="-122"/>
              </a:rPr>
              <a:t>文档更新任务</a:t>
            </a:r>
            <a:endParaRPr lang="en-US" sz="105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检测策略：版本号比对 / 修改时间比对 </a:t>
            </a:r>
            <a:endParaRPr lang="en-US" sz="1050" dirty="0">
              <a:solidFill>
                <a:srgbClr val="1E293B"/>
              </a:solidFill>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rPr>
              <a:t>• 增量同步/全量覆盖</a:t>
            </a:r>
            <a:endParaRPr lang="en-US" sz="1050" dirty="0">
              <a:solidFill>
                <a:srgbClr val="1E293B"/>
              </a:solidFill>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buClrTx/>
              <a:buSzTx/>
              <a:buFontTx/>
            </a:pPr>
            <a:r>
              <a:rPr lang="zh-CN" altLang="en-US" sz="1050" b="1" dirty="0">
                <a:solidFill>
                  <a:srgbClr val="1E293B"/>
                </a:solidFill>
                <a:latin typeface="微软雅黑" panose="020B0503020204020204" charset="-122"/>
                <a:ea typeface="微软雅黑" panose="020B0503020204020204" charset="-122"/>
                <a:cs typeface="微软雅黑" panose="020B0503020204020204" charset="-122"/>
              </a:rPr>
              <a:t>元数据接口</a:t>
            </a:r>
            <a:r>
              <a:rPr lang="en-US" sz="1050" b="1" dirty="0">
                <a:solidFill>
                  <a:srgbClr val="1E293B"/>
                </a:solidFill>
                <a:latin typeface="微软雅黑" panose="020B0503020204020204" charset="-122"/>
                <a:ea typeface="微软雅黑" panose="020B0503020204020204" charset="-122"/>
                <a:cs typeface="微软雅黑" panose="020B0503020204020204" charset="-122"/>
              </a:rPr>
              <a:t>同步</a:t>
            </a:r>
            <a:endParaRPr lang="en-US" sz="1050" b="1" dirty="0">
              <a:solidFill>
                <a:srgbClr val="1E293B"/>
              </a:solidFill>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050" dirty="0">
                <a:solidFill>
                  <a:srgbClr val="1E293B"/>
                </a:solidFill>
                <a:latin typeface="微软雅黑" panose="020B0503020204020204" charset="-122"/>
                <a:ea typeface="微软雅黑" panose="020B0503020204020204" charset="-122"/>
                <a:cs typeface="微软雅黑" panose="020B0503020204020204" charset="-122"/>
                <a:sym typeface="+mn-ea"/>
              </a:rPr>
              <a:t>文档名称</a:t>
            </a:r>
            <a:r>
              <a:rPr lang="en-US" altLang="zh-CN" sz="1050" dirty="0">
                <a:solidFill>
                  <a:srgbClr val="1E293B"/>
                </a:solidFill>
                <a:latin typeface="微软雅黑" panose="020B0503020204020204" charset="-122"/>
                <a:ea typeface="微软雅黑" panose="020B0503020204020204" charset="-122"/>
                <a:cs typeface="微软雅黑" panose="020B0503020204020204" charset="-122"/>
                <a:sym typeface="+mn-ea"/>
              </a:rPr>
              <a:t>/</a:t>
            </a:r>
            <a:r>
              <a:rPr lang="zh-CN" altLang="en-US" sz="1050" dirty="0">
                <a:solidFill>
                  <a:srgbClr val="1E293B"/>
                </a:solidFill>
                <a:latin typeface="微软雅黑" panose="020B0503020204020204" charset="-122"/>
                <a:ea typeface="微软雅黑" panose="020B0503020204020204" charset="-122"/>
                <a:cs typeface="微软雅黑" panose="020B0503020204020204" charset="-122"/>
                <a:sym typeface="+mn-ea"/>
              </a:rPr>
              <a:t>提交时间</a:t>
            </a:r>
            <a:r>
              <a:rPr lang="en-US" altLang="zh-CN" sz="1050" dirty="0">
                <a:solidFill>
                  <a:srgbClr val="1E293B"/>
                </a:solidFill>
                <a:latin typeface="微软雅黑" panose="020B0503020204020204" charset="-122"/>
                <a:ea typeface="微软雅黑" panose="020B0503020204020204" charset="-122"/>
                <a:cs typeface="微软雅黑" panose="020B0503020204020204" charset="-122"/>
                <a:sym typeface="+mn-ea"/>
              </a:rPr>
              <a:t>/</a:t>
            </a:r>
            <a:r>
              <a:rPr lang="zh-CN" altLang="en-US" sz="1050" dirty="0">
                <a:solidFill>
                  <a:srgbClr val="1E293B"/>
                </a:solidFill>
                <a:latin typeface="微软雅黑" panose="020B0503020204020204" charset="-122"/>
                <a:ea typeface="微软雅黑" panose="020B0503020204020204" charset="-122"/>
                <a:cs typeface="微软雅黑" panose="020B0503020204020204" charset="-122"/>
                <a:sym typeface="+mn-ea"/>
              </a:rPr>
              <a:t>提交部门</a:t>
            </a:r>
            <a:r>
              <a:rPr lang="en-US" sz="1050" dirty="0">
                <a:solidFill>
                  <a:srgbClr val="1E293B"/>
                </a:solidFill>
                <a:latin typeface="微软雅黑" panose="020B0503020204020204" charset="-122"/>
                <a:ea typeface="微软雅黑" panose="020B0503020204020204" charset="-122"/>
                <a:cs typeface="微软雅黑" panose="020B0503020204020204" charset="-122"/>
                <a:sym typeface="+mn-ea"/>
              </a:rPr>
              <a:t> </a:t>
            </a:r>
            <a:endParaRPr lang="en-US" sz="1050" dirty="0">
              <a:solidFill>
                <a:srgbClr val="1E293B"/>
              </a:solidFill>
              <a:latin typeface="微软雅黑" panose="020B0503020204020204" charset="-122"/>
              <a:ea typeface="微软雅黑" panose="020B0503020204020204" charset="-122"/>
              <a:cs typeface="微软雅黑" panose="020B0503020204020204" charset="-122"/>
            </a:endParaRPr>
          </a:p>
          <a:p>
            <a:pPr algn="l">
              <a:lnSpc>
                <a:spcPct val="160000"/>
              </a:lnSpc>
            </a:pPr>
            <a:r>
              <a:rPr lang="en-US" sz="1050" dirty="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050" dirty="0">
                <a:solidFill>
                  <a:srgbClr val="1E293B"/>
                </a:solidFill>
                <a:latin typeface="微软雅黑" panose="020B0503020204020204" charset="-122"/>
                <a:ea typeface="微软雅黑" panose="020B0503020204020204" charset="-122"/>
                <a:cs typeface="微软雅黑" panose="020B0503020204020204" charset="-122"/>
                <a:sym typeface="+mn-ea"/>
              </a:rPr>
              <a:t>基础元数据信息</a:t>
            </a:r>
            <a:endParaRPr lang="zh-CN" altLang="en-US" sz="1050" dirty="0">
              <a:solidFill>
                <a:srgbClr val="1E293B"/>
              </a:solidFill>
              <a:latin typeface="微软雅黑" panose="020B0503020204020204" charset="-122"/>
              <a:ea typeface="微软雅黑" panose="020B0503020204020204" charset="-122"/>
              <a:cs typeface="微软雅黑" panose="020B0503020204020204"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提供可视化的源端配置能力，</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支持各源端系统通过标准化接口快速接入，并内置自动化连通性校验机制，</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大幅降低多源异构系统的对接成本与技术门槛，</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实现源端资源的高效汇聚与统一管控。</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7" name="矩形 6"/>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33" name="矩形 32"/>
          <p:cNvSpPr/>
          <p:nvPr/>
        </p:nvSpPr>
        <p:spPr>
          <a:xfrm>
            <a:off x="9668510" y="21590"/>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5" name="矩形 34"/>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2.2.2 知识汇聚--文档预处理</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源端数据接入后，首先进行自动化预处理</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完成多源文档的统一导入、</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智能摘要生成与内容解析提取，</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将原始转化为可加工的标准化原料，</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为后续元数据采集与质量校验筑牢数据基础。</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7" name="Shape 5"/>
          <p:cNvSpPr/>
          <p:nvPr/>
        </p:nvSpPr>
        <p:spPr>
          <a:xfrm>
            <a:off x="381000" y="1993900"/>
            <a:ext cx="11430000" cy="1296035"/>
          </a:xfrm>
          <a:prstGeom prst="roundRect">
            <a:avLst>
              <a:gd name="adj" fmla="val 3000"/>
            </a:avLst>
          </a:prstGeom>
          <a:solidFill>
            <a:srgbClr val="EFF6FF"/>
          </a:solidFill>
          <a:ln w="12700">
            <a:solidFill>
              <a:srgbClr val="93C5FD"/>
            </a:solidFill>
            <a:prstDash val="solid"/>
          </a:ln>
        </p:spPr>
      </p:sp>
      <p:sp>
        <p:nvSpPr>
          <p:cNvPr id="8" name="Shape 6"/>
          <p:cNvSpPr/>
          <p:nvPr/>
        </p:nvSpPr>
        <p:spPr>
          <a:xfrm>
            <a:off x="381000" y="1993900"/>
            <a:ext cx="1524000" cy="1294765"/>
          </a:xfrm>
          <a:prstGeom prst="roundRect">
            <a:avLst>
              <a:gd name="adj" fmla="val 5000"/>
            </a:avLst>
          </a:prstGeom>
        </p:spPr>
        <p:style>
          <a:lnRef idx="0">
            <a:srgbClr val="FFFFFF"/>
          </a:lnRef>
          <a:fillRef idx="3">
            <a:schemeClr val="accent1"/>
          </a:fillRef>
          <a:effectRef idx="0">
            <a:srgbClr val="FFFFFF"/>
          </a:effectRef>
          <a:fontRef idx="minor">
            <a:schemeClr val="lt1"/>
          </a:fontRef>
        </p:style>
        <p:txBody>
          <a:bodyPr/>
          <a:lstStyle/>
          <a:p>
            <a:endParaRPr lang="zh-CN" altLang="en-US"/>
          </a:p>
        </p:txBody>
      </p:sp>
      <p:sp>
        <p:nvSpPr>
          <p:cNvPr id="3" name="Shape 7"/>
          <p:cNvSpPr/>
          <p:nvPr/>
        </p:nvSpPr>
        <p:spPr>
          <a:xfrm>
            <a:off x="914400" y="2283460"/>
            <a:ext cx="457200" cy="457200"/>
          </a:xfrm>
          <a:custGeom>
            <a:avLst/>
            <a:gdLst/>
            <a:ahLst/>
            <a:cxnLst/>
            <a:rect l="l" t="t" r="r" b="b"/>
            <a:pathLst>
              <a:path w="609600" h="609600">
                <a:moveTo>
                  <a:pt x="101600" y="0"/>
                </a:moveTo>
                <a:cubicBezTo>
                  <a:pt x="45561" y="0"/>
                  <a:pt x="0" y="34171"/>
                  <a:pt x="0" y="76200"/>
                </a:cubicBezTo>
                <a:lnTo>
                  <a:pt x="0" y="361950"/>
                </a:lnTo>
                <a:lnTo>
                  <a:pt x="289084" y="361950"/>
                </a:lnTo>
                <a:lnTo>
                  <a:pt x="239871" y="325041"/>
                </a:lnTo>
                <a:cubicBezTo>
                  <a:pt x="224949" y="313849"/>
                  <a:pt x="224949" y="295751"/>
                  <a:pt x="239871" y="284678"/>
                </a:cubicBezTo>
                <a:cubicBezTo>
                  <a:pt x="254794" y="273606"/>
                  <a:pt x="278924" y="273487"/>
                  <a:pt x="293688" y="284678"/>
                </a:cubicBezTo>
                <a:lnTo>
                  <a:pt x="407988" y="370403"/>
                </a:lnTo>
                <a:cubicBezTo>
                  <a:pt x="422910" y="381595"/>
                  <a:pt x="422910" y="399693"/>
                  <a:pt x="407988" y="410766"/>
                </a:cubicBezTo>
                <a:lnTo>
                  <a:pt x="293688" y="496491"/>
                </a:lnTo>
                <a:cubicBezTo>
                  <a:pt x="278765" y="507683"/>
                  <a:pt x="254635" y="507683"/>
                  <a:pt x="239871" y="496491"/>
                </a:cubicBezTo>
                <a:cubicBezTo>
                  <a:pt x="225107" y="485299"/>
                  <a:pt x="224949" y="467201"/>
                  <a:pt x="239871" y="456128"/>
                </a:cubicBezTo>
                <a:lnTo>
                  <a:pt x="289084" y="419219"/>
                </a:lnTo>
                <a:lnTo>
                  <a:pt x="0" y="419219"/>
                </a:lnTo>
                <a:lnTo>
                  <a:pt x="0" y="533519"/>
                </a:lnTo>
                <a:cubicBezTo>
                  <a:pt x="0" y="575548"/>
                  <a:pt x="45561" y="609719"/>
                  <a:pt x="101600" y="609719"/>
                </a:cubicBezTo>
                <a:lnTo>
                  <a:pt x="508000" y="609719"/>
                </a:lnTo>
                <a:cubicBezTo>
                  <a:pt x="564039" y="609719"/>
                  <a:pt x="609600" y="575548"/>
                  <a:pt x="609600" y="533519"/>
                </a:cubicBezTo>
                <a:lnTo>
                  <a:pt x="609600" y="203121"/>
                </a:lnTo>
                <a:cubicBezTo>
                  <a:pt x="609600" y="182880"/>
                  <a:pt x="598964" y="163473"/>
                  <a:pt x="579914" y="149185"/>
                </a:cubicBezTo>
                <a:lnTo>
                  <a:pt x="410686" y="22265"/>
                </a:lnTo>
                <a:cubicBezTo>
                  <a:pt x="391636" y="7977"/>
                  <a:pt x="365919" y="0"/>
                  <a:pt x="338931" y="0"/>
                </a:cubicBezTo>
                <a:lnTo>
                  <a:pt x="101600" y="0"/>
                </a:lnTo>
                <a:close/>
                <a:moveTo>
                  <a:pt x="516731" y="209550"/>
                </a:moveTo>
                <a:lnTo>
                  <a:pt x="368300" y="209550"/>
                </a:lnTo>
                <a:cubicBezTo>
                  <a:pt x="347186" y="209550"/>
                  <a:pt x="330200" y="196810"/>
                  <a:pt x="330200" y="180975"/>
                </a:cubicBezTo>
                <a:lnTo>
                  <a:pt x="330200" y="69652"/>
                </a:lnTo>
                <a:lnTo>
                  <a:pt x="516731" y="209550"/>
                </a:lnTo>
                <a:close/>
              </a:path>
            </a:pathLst>
          </a:custGeom>
          <a:solidFill>
            <a:srgbClr val="FFFFFF"/>
          </a:solidFill>
        </p:spPr>
      </p:sp>
      <p:sp>
        <p:nvSpPr>
          <p:cNvPr id="4" name="Text 8"/>
          <p:cNvSpPr/>
          <p:nvPr/>
        </p:nvSpPr>
        <p:spPr>
          <a:xfrm>
            <a:off x="533400" y="2797810"/>
            <a:ext cx="1219200" cy="228600"/>
          </a:xfrm>
          <a:prstGeom prst="rect">
            <a:avLst/>
          </a:prstGeom>
          <a:noFill/>
        </p:spPr>
        <p:txBody>
          <a:bodyPr wrap="none" lIns="0" tIns="0" rIns="0" bIns="0" rtlCol="0" anchor="ctr"/>
          <a:lstStyle/>
          <a:p>
            <a:pPr algn="ctr">
              <a:lnSpc>
                <a:spcPct val="120000"/>
              </a:lnSpc>
            </a:pPr>
            <a:r>
              <a:rPr lang="en-US" sz="1200" b="1" dirty="0">
                <a:solidFill>
                  <a:srgbClr val="FFFFFF"/>
                </a:solidFill>
                <a:latin typeface="微软雅黑" panose="020B0503020204020204" charset="-122"/>
                <a:ea typeface="微软雅黑" panose="020B0503020204020204" charset="-122"/>
                <a:cs typeface="MiSans" pitchFamily="34" charset="-120"/>
              </a:rPr>
              <a:t>导入</a:t>
            </a:r>
            <a:endParaRPr lang="en-US" sz="1200" b="1" dirty="0">
              <a:solidFill>
                <a:srgbClr val="FFFFFF"/>
              </a:solidFill>
              <a:latin typeface="微软雅黑" panose="020B0503020204020204" charset="-122"/>
              <a:ea typeface="微软雅黑" panose="020B0503020204020204" charset="-122"/>
              <a:cs typeface="MiSans" pitchFamily="34" charset="-120"/>
            </a:endParaRPr>
          </a:p>
        </p:txBody>
      </p:sp>
      <p:sp>
        <p:nvSpPr>
          <p:cNvPr id="5" name="Text 9"/>
          <p:cNvSpPr/>
          <p:nvPr/>
        </p:nvSpPr>
        <p:spPr>
          <a:xfrm>
            <a:off x="2095500" y="2108200"/>
            <a:ext cx="4572000" cy="247650"/>
          </a:xfrm>
          <a:prstGeom prst="rect">
            <a:avLst/>
          </a:prstGeom>
          <a:noFill/>
        </p:spPr>
        <p:txBody>
          <a:bodyPr wrap="none" lIns="0" tIns="0" rIns="0" bIns="0" rtlCol="0" anchor="t"/>
          <a:lstStyle/>
          <a:p>
            <a:pPr algn="l">
              <a:lnSpc>
                <a:spcPct val="120000"/>
              </a:lnSpc>
            </a:pPr>
            <a:r>
              <a:rPr lang="en-US" sz="1200" b="1" dirty="0">
                <a:solidFill>
                  <a:srgbClr val="0F2B5B"/>
                </a:solidFill>
                <a:latin typeface="微软雅黑" panose="020B0503020204020204" charset="-122"/>
                <a:ea typeface="微软雅黑" panose="020B0503020204020204" charset="-122"/>
                <a:cs typeface="MiSans" pitchFamily="34" charset="-120"/>
              </a:rPr>
              <a:t>基于目录</a:t>
            </a:r>
            <a:r>
              <a:rPr lang="zh-CN" altLang="en-US" sz="1200" b="1" dirty="0">
                <a:solidFill>
                  <a:srgbClr val="0F2B5B"/>
                </a:solidFill>
                <a:latin typeface="微软雅黑" panose="020B0503020204020204" charset="-122"/>
                <a:ea typeface="微软雅黑" panose="020B0503020204020204" charset="-122"/>
                <a:cs typeface="MiSans" pitchFamily="34" charset="-120"/>
              </a:rPr>
              <a:t>自动</a:t>
            </a:r>
            <a:r>
              <a:rPr lang="en-US" sz="1200" b="1" dirty="0">
                <a:solidFill>
                  <a:srgbClr val="0F2B5B"/>
                </a:solidFill>
                <a:latin typeface="微软雅黑" panose="020B0503020204020204" charset="-122"/>
                <a:ea typeface="微软雅黑" panose="020B0503020204020204" charset="-122"/>
                <a:cs typeface="MiSans" pitchFamily="34" charset="-120"/>
              </a:rPr>
              <a:t>导入</a:t>
            </a:r>
            <a:endParaRPr lang="en-US" sz="1200" b="1" dirty="0">
              <a:solidFill>
                <a:srgbClr val="0F2B5B"/>
              </a:solidFill>
              <a:latin typeface="微软雅黑" panose="020B0503020204020204" charset="-122"/>
              <a:ea typeface="微软雅黑" panose="020B0503020204020204" charset="-122"/>
              <a:cs typeface="MiSans" pitchFamily="34" charset="-120"/>
            </a:endParaRPr>
          </a:p>
        </p:txBody>
      </p:sp>
      <p:sp>
        <p:nvSpPr>
          <p:cNvPr id="6" name="Text 10"/>
          <p:cNvSpPr/>
          <p:nvPr/>
        </p:nvSpPr>
        <p:spPr>
          <a:xfrm>
            <a:off x="2095500" y="2374900"/>
            <a:ext cx="4572000" cy="914400"/>
          </a:xfrm>
          <a:prstGeom prst="rect">
            <a:avLst/>
          </a:prstGeom>
          <a:noFill/>
        </p:spPr>
        <p:txBody>
          <a:bodyPr wrap="square" lIns="0" tIns="0" rIns="0" bIns="0" rtlCol="0" anchor="t"/>
          <a:lstStyle/>
          <a:p>
            <a:pPr marL="171450" indent="-171450" algn="l">
              <a:lnSpc>
                <a:spcPct val="160000"/>
              </a:lnSpc>
              <a:buFont typeface="Arial" panose="020B0604020202090204" pitchFamily="34" charset="0"/>
              <a:buChar char="•"/>
            </a:pPr>
            <a:r>
              <a:rPr lang="en-US" sz="1200" dirty="0">
                <a:solidFill>
                  <a:srgbClr val="1E293B"/>
                </a:solidFill>
                <a:latin typeface="微软雅黑" panose="020B0503020204020204" charset="-122"/>
                <a:ea typeface="微软雅黑" panose="020B0503020204020204" charset="-122"/>
                <a:cs typeface="微软雅黑" panose="020B0503020204020204" charset="-122"/>
              </a:rPr>
              <a:t> 按源端配置的同步目录，自动批量拉取新增/更新文档</a:t>
            </a:r>
            <a:endParaRPr lang="en-US" sz="1200" dirty="0">
              <a:latin typeface="微软雅黑" panose="020B0503020204020204" charset="-122"/>
              <a:ea typeface="微软雅黑" panose="020B0503020204020204" charset="-122"/>
              <a:cs typeface="微软雅黑" panose="020B0503020204020204" charset="-122"/>
            </a:endParaRPr>
          </a:p>
          <a:p>
            <a:pPr marL="171450" indent="-171450" algn="l">
              <a:lnSpc>
                <a:spcPct val="160000"/>
              </a:lnSpc>
              <a:buFont typeface="Arial" panose="020B0604020202090204" pitchFamily="34" charset="0"/>
              <a:buChar char="•"/>
            </a:pPr>
            <a:r>
              <a:rPr lang="en-US" sz="1200" dirty="0">
                <a:solidFill>
                  <a:srgbClr val="1E293B"/>
                </a:solidFill>
                <a:latin typeface="微软雅黑" panose="020B0503020204020204" charset="-122"/>
                <a:ea typeface="微软雅黑" panose="020B0503020204020204" charset="-122"/>
                <a:cs typeface="微软雅黑" panose="020B0503020204020204" charset="-122"/>
              </a:rPr>
              <a:t>支持首次接入时全量初始化导入</a:t>
            </a:r>
            <a:endParaRPr lang="en-US" sz="1200" dirty="0">
              <a:latin typeface="微软雅黑" panose="020B0503020204020204" charset="-122"/>
              <a:ea typeface="微软雅黑" panose="020B0503020204020204" charset="-122"/>
              <a:cs typeface="微软雅黑" panose="020B0503020204020204" charset="-122"/>
            </a:endParaRPr>
          </a:p>
          <a:p>
            <a:pPr marL="171450" indent="-171450" algn="l">
              <a:lnSpc>
                <a:spcPct val="160000"/>
              </a:lnSpc>
              <a:buFont typeface="Arial" panose="020B0604020202090204" pitchFamily="34" charset="0"/>
              <a:buChar char="•"/>
            </a:pPr>
            <a:r>
              <a:rPr lang="en-US" sz="1200" dirty="0">
                <a:solidFill>
                  <a:srgbClr val="1E293B"/>
                </a:solidFill>
                <a:latin typeface="微软雅黑" panose="020B0503020204020204" charset="-122"/>
                <a:ea typeface="微软雅黑" panose="020B0503020204020204" charset="-122"/>
                <a:cs typeface="微软雅黑" panose="020B0503020204020204" charset="-122"/>
              </a:rPr>
              <a:t>支持日常增量同步</a:t>
            </a:r>
            <a:endParaRPr 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17" name="Shape 11"/>
          <p:cNvSpPr/>
          <p:nvPr/>
        </p:nvSpPr>
        <p:spPr>
          <a:xfrm>
            <a:off x="6858000" y="2165350"/>
            <a:ext cx="0" cy="1047750"/>
          </a:xfrm>
          <a:prstGeom prst="straightConnector1">
            <a:avLst/>
          </a:prstGeom>
          <a:noFill/>
          <a:ln w="12700">
            <a:solidFill>
              <a:srgbClr val="E2E8F0"/>
            </a:solidFill>
            <a:prstDash val="solid"/>
            <a:headEnd type="none"/>
            <a:tailEnd type="none"/>
          </a:ln>
        </p:spPr>
      </p:sp>
      <p:sp>
        <p:nvSpPr>
          <p:cNvPr id="18" name="Text 12"/>
          <p:cNvSpPr/>
          <p:nvPr/>
        </p:nvSpPr>
        <p:spPr>
          <a:xfrm>
            <a:off x="7048500" y="2108200"/>
            <a:ext cx="4572000" cy="247650"/>
          </a:xfrm>
          <a:prstGeom prst="rect">
            <a:avLst/>
          </a:prstGeom>
          <a:noFill/>
        </p:spPr>
        <p:txBody>
          <a:bodyPr wrap="none" lIns="0" tIns="0" rIns="0" bIns="0" rtlCol="0" anchor="t"/>
          <a:lstStyle/>
          <a:p>
            <a:pPr algn="l">
              <a:lnSpc>
                <a:spcPct val="120000"/>
              </a:lnSpc>
            </a:pPr>
            <a:r>
              <a:rPr lang="en-US" sz="1200" b="1" dirty="0">
                <a:solidFill>
                  <a:srgbClr val="0F2B5B"/>
                </a:solidFill>
                <a:latin typeface="微软雅黑" panose="020B0503020204020204" charset="-122"/>
                <a:ea typeface="微软雅黑" panose="020B0503020204020204" charset="-122"/>
                <a:cs typeface="MiSans" pitchFamily="34" charset="-120"/>
              </a:rPr>
              <a:t>手动上传导入</a:t>
            </a:r>
            <a:endParaRPr lang="en-US" sz="1200" b="1" dirty="0">
              <a:solidFill>
                <a:srgbClr val="0F2B5B"/>
              </a:solidFill>
              <a:latin typeface="微软雅黑" panose="020B0503020204020204" charset="-122"/>
              <a:ea typeface="微软雅黑" panose="020B0503020204020204" charset="-122"/>
              <a:cs typeface="MiSans" pitchFamily="34" charset="-120"/>
            </a:endParaRPr>
          </a:p>
        </p:txBody>
      </p:sp>
      <p:sp>
        <p:nvSpPr>
          <p:cNvPr id="25" name="Text 13"/>
          <p:cNvSpPr/>
          <p:nvPr/>
        </p:nvSpPr>
        <p:spPr>
          <a:xfrm>
            <a:off x="7048500" y="2374900"/>
            <a:ext cx="4572000" cy="914400"/>
          </a:xfrm>
          <a:prstGeom prst="rect">
            <a:avLst/>
          </a:prstGeom>
          <a:noFill/>
        </p:spPr>
        <p:txBody>
          <a:bodyPr wrap="square" lIns="0" tIns="0" rIns="0" bIns="0" rtlCol="0" anchor="t"/>
          <a:lstStyle/>
          <a:p>
            <a:pPr marL="171450" indent="-171450" algn="l">
              <a:lnSpc>
                <a:spcPct val="160000"/>
              </a:lnSpc>
              <a:buFont typeface="Arial" panose="020B0604020202090204" pitchFamily="34" charset="0"/>
              <a:buChar char="•"/>
            </a:pPr>
            <a:r>
              <a:rPr lang="en-US" sz="1200" dirty="0">
                <a:solidFill>
                  <a:srgbClr val="1E293B"/>
                </a:solidFill>
                <a:latin typeface="微软雅黑" panose="020B0503020204020204" charset="-122"/>
                <a:ea typeface="微软雅黑" panose="020B0503020204020204" charset="-122"/>
                <a:cs typeface="微软雅黑" panose="020B0503020204020204" charset="-122"/>
              </a:rPr>
              <a:t>PC端Web上传入口</a:t>
            </a:r>
            <a:endParaRPr lang="en-US" sz="1200" dirty="0">
              <a:latin typeface="微软雅黑" panose="020B0503020204020204" charset="-122"/>
              <a:ea typeface="微软雅黑" panose="020B0503020204020204" charset="-122"/>
              <a:cs typeface="微软雅黑" panose="020B0503020204020204" charset="-122"/>
            </a:endParaRPr>
          </a:p>
          <a:p>
            <a:pPr marL="171450" indent="-171450" algn="l">
              <a:lnSpc>
                <a:spcPct val="160000"/>
              </a:lnSpc>
              <a:buFont typeface="Arial" panose="020B0604020202090204" pitchFamily="34" charset="0"/>
              <a:buChar char="•"/>
            </a:pPr>
            <a:r>
              <a:rPr lang="en-US" sz="1200" dirty="0">
                <a:solidFill>
                  <a:srgbClr val="1E293B"/>
                </a:solidFill>
                <a:latin typeface="微软雅黑" panose="020B0503020204020204" charset="-122"/>
                <a:ea typeface="微软雅黑" panose="020B0503020204020204" charset="-122"/>
                <a:cs typeface="微软雅黑" panose="020B0503020204020204" charset="-122"/>
              </a:rPr>
              <a:t>支持单篇上传、批量上传、文件夹拖拽</a:t>
            </a:r>
            <a:endParaRPr lang="en-US" sz="1200" dirty="0">
              <a:latin typeface="微软雅黑" panose="020B0503020204020204" charset="-122"/>
              <a:ea typeface="微软雅黑" panose="020B0503020204020204" charset="-122"/>
              <a:cs typeface="微软雅黑" panose="020B0503020204020204" charset="-122"/>
            </a:endParaRPr>
          </a:p>
          <a:p>
            <a:pPr marL="171450" indent="-171450" algn="l">
              <a:lnSpc>
                <a:spcPct val="160000"/>
              </a:lnSpc>
              <a:buFont typeface="Arial" panose="020B0604020202090204" pitchFamily="34" charset="0"/>
              <a:buChar char="•"/>
            </a:pPr>
            <a:r>
              <a:rPr lang="en-US" sz="1200" dirty="0">
                <a:solidFill>
                  <a:srgbClr val="1E293B"/>
                </a:solidFill>
                <a:latin typeface="微软雅黑" panose="020B0503020204020204" charset="-122"/>
                <a:ea typeface="微软雅黑" panose="020B0503020204020204" charset="-122"/>
                <a:cs typeface="微软雅黑" panose="020B0503020204020204" charset="-122"/>
              </a:rPr>
              <a:t>上传时同步填写必填元数据（密级、业务领域等）</a:t>
            </a:r>
            <a:endParaRPr 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26" name="Shape 14"/>
          <p:cNvSpPr/>
          <p:nvPr/>
        </p:nvSpPr>
        <p:spPr>
          <a:xfrm>
            <a:off x="5822315" y="3244691"/>
            <a:ext cx="381000" cy="228600"/>
          </a:xfrm>
          <a:prstGeom prst="downArrow">
            <a:avLst>
              <a:gd name="adj1" fmla="val 50000"/>
              <a:gd name="adj2" fmla="val 50000"/>
            </a:avLst>
          </a:prstGeom>
          <a:solidFill>
            <a:srgbClr val="DBEAFE"/>
          </a:solidFill>
        </p:spPr>
      </p:sp>
      <p:sp>
        <p:nvSpPr>
          <p:cNvPr id="27" name="Shape 15"/>
          <p:cNvSpPr/>
          <p:nvPr/>
        </p:nvSpPr>
        <p:spPr>
          <a:xfrm>
            <a:off x="381000" y="5005070"/>
            <a:ext cx="11430000" cy="1457960"/>
          </a:xfrm>
          <a:prstGeom prst="roundRect">
            <a:avLst>
              <a:gd name="adj" fmla="val 3000"/>
            </a:avLst>
          </a:prstGeom>
          <a:solidFill>
            <a:srgbClr val="EFF6FF"/>
          </a:solidFill>
          <a:ln w="12700">
            <a:solidFill>
              <a:srgbClr val="93C5FD"/>
            </a:solidFill>
            <a:prstDash val="solid"/>
          </a:ln>
        </p:spPr>
      </p:sp>
      <p:sp>
        <p:nvSpPr>
          <p:cNvPr id="28" name="Shape 16"/>
          <p:cNvSpPr/>
          <p:nvPr/>
        </p:nvSpPr>
        <p:spPr>
          <a:xfrm>
            <a:off x="381000" y="4982210"/>
            <a:ext cx="1524000" cy="1480185"/>
          </a:xfrm>
          <a:prstGeom prst="roundRect">
            <a:avLst>
              <a:gd name="adj" fmla="val 5000"/>
            </a:avLst>
          </a:prstGeom>
        </p:spPr>
        <p:style>
          <a:lnRef idx="0">
            <a:srgbClr val="FFFFFF"/>
          </a:lnRef>
          <a:fillRef idx="3">
            <a:schemeClr val="accent1"/>
          </a:fillRef>
          <a:effectRef idx="0">
            <a:srgbClr val="FFFFFF"/>
          </a:effectRef>
          <a:fontRef idx="minor">
            <a:schemeClr val="lt1"/>
          </a:fontRef>
        </p:style>
      </p:sp>
      <p:sp>
        <p:nvSpPr>
          <p:cNvPr id="29" name="Shape 17"/>
          <p:cNvSpPr/>
          <p:nvPr/>
        </p:nvSpPr>
        <p:spPr>
          <a:xfrm>
            <a:off x="914400" y="5420995"/>
            <a:ext cx="457200" cy="457200"/>
          </a:xfrm>
          <a:custGeom>
            <a:avLst/>
            <a:gdLst/>
            <a:ahLst/>
            <a:cxnLst/>
            <a:rect l="l" t="t" r="r" b="b"/>
            <a:pathLst>
              <a:path w="609600" h="609600">
                <a:moveTo>
                  <a:pt x="495300" y="247650"/>
                </a:moveTo>
                <a:cubicBezTo>
                  <a:pt x="495300" y="302300"/>
                  <a:pt x="477560" y="352782"/>
                  <a:pt x="447675" y="393740"/>
                </a:cubicBezTo>
                <a:lnTo>
                  <a:pt x="598408" y="544592"/>
                </a:lnTo>
                <a:cubicBezTo>
                  <a:pt x="613291" y="559475"/>
                  <a:pt x="613291" y="583644"/>
                  <a:pt x="598408" y="598527"/>
                </a:cubicBezTo>
                <a:cubicBezTo>
                  <a:pt x="583525" y="613410"/>
                  <a:pt x="559356" y="613410"/>
                  <a:pt x="544473" y="598527"/>
                </a:cubicBezTo>
                <a:lnTo>
                  <a:pt x="393740" y="447675"/>
                </a:lnTo>
                <a:cubicBezTo>
                  <a:pt x="352782" y="477560"/>
                  <a:pt x="302300" y="495300"/>
                  <a:pt x="247650" y="495300"/>
                </a:cubicBezTo>
                <a:cubicBezTo>
                  <a:pt x="110847" y="495300"/>
                  <a:pt x="0" y="384453"/>
                  <a:pt x="0" y="247650"/>
                </a:cubicBezTo>
                <a:cubicBezTo>
                  <a:pt x="0" y="110847"/>
                  <a:pt x="110847" y="0"/>
                  <a:pt x="247650" y="0"/>
                </a:cubicBezTo>
                <a:cubicBezTo>
                  <a:pt x="384453" y="0"/>
                  <a:pt x="495300" y="110847"/>
                  <a:pt x="495300" y="247650"/>
                </a:cubicBezTo>
                <a:close/>
                <a:moveTo>
                  <a:pt x="123825" y="257175"/>
                </a:moveTo>
                <a:lnTo>
                  <a:pt x="123825" y="333375"/>
                </a:lnTo>
                <a:cubicBezTo>
                  <a:pt x="123825" y="349210"/>
                  <a:pt x="136565" y="361950"/>
                  <a:pt x="152400" y="361950"/>
                </a:cubicBezTo>
                <a:cubicBezTo>
                  <a:pt x="168235" y="361950"/>
                  <a:pt x="180975" y="349210"/>
                  <a:pt x="180975" y="333375"/>
                </a:cubicBezTo>
                <a:lnTo>
                  <a:pt x="180975" y="257175"/>
                </a:lnTo>
                <a:cubicBezTo>
                  <a:pt x="180975" y="241340"/>
                  <a:pt x="168235" y="228600"/>
                  <a:pt x="152400" y="228600"/>
                </a:cubicBezTo>
                <a:cubicBezTo>
                  <a:pt x="136565" y="228600"/>
                  <a:pt x="123825" y="241340"/>
                  <a:pt x="123825" y="257175"/>
                </a:cubicBezTo>
                <a:close/>
                <a:moveTo>
                  <a:pt x="219075" y="142875"/>
                </a:moveTo>
                <a:lnTo>
                  <a:pt x="219075" y="333375"/>
                </a:lnTo>
                <a:cubicBezTo>
                  <a:pt x="219075" y="349210"/>
                  <a:pt x="231815" y="361950"/>
                  <a:pt x="247650" y="361950"/>
                </a:cubicBezTo>
                <a:cubicBezTo>
                  <a:pt x="263485" y="361950"/>
                  <a:pt x="276225" y="349210"/>
                  <a:pt x="276225" y="333375"/>
                </a:cubicBezTo>
                <a:lnTo>
                  <a:pt x="276225" y="142875"/>
                </a:lnTo>
                <a:cubicBezTo>
                  <a:pt x="276225" y="127040"/>
                  <a:pt x="263485" y="114300"/>
                  <a:pt x="247650" y="114300"/>
                </a:cubicBezTo>
                <a:cubicBezTo>
                  <a:pt x="231815" y="114300"/>
                  <a:pt x="219075" y="127040"/>
                  <a:pt x="219075" y="142875"/>
                </a:cubicBezTo>
                <a:close/>
                <a:moveTo>
                  <a:pt x="314325" y="219075"/>
                </a:moveTo>
                <a:lnTo>
                  <a:pt x="314325" y="333375"/>
                </a:lnTo>
                <a:cubicBezTo>
                  <a:pt x="314325" y="349210"/>
                  <a:pt x="327065" y="361950"/>
                  <a:pt x="342900" y="361950"/>
                </a:cubicBezTo>
                <a:cubicBezTo>
                  <a:pt x="358735" y="361950"/>
                  <a:pt x="371475" y="349210"/>
                  <a:pt x="371475" y="333375"/>
                </a:cubicBezTo>
                <a:lnTo>
                  <a:pt x="371475" y="219075"/>
                </a:lnTo>
                <a:cubicBezTo>
                  <a:pt x="371475" y="203240"/>
                  <a:pt x="358735" y="190500"/>
                  <a:pt x="342900" y="190500"/>
                </a:cubicBezTo>
                <a:cubicBezTo>
                  <a:pt x="327065" y="190500"/>
                  <a:pt x="314325" y="203240"/>
                  <a:pt x="314325" y="219075"/>
                </a:cubicBezTo>
                <a:close/>
              </a:path>
            </a:pathLst>
          </a:custGeom>
          <a:solidFill>
            <a:srgbClr val="FFFFFF"/>
          </a:solidFill>
        </p:spPr>
      </p:sp>
      <p:sp>
        <p:nvSpPr>
          <p:cNvPr id="30" name="Text 18"/>
          <p:cNvSpPr/>
          <p:nvPr/>
        </p:nvSpPr>
        <p:spPr>
          <a:xfrm>
            <a:off x="533400" y="5954395"/>
            <a:ext cx="1219200" cy="228600"/>
          </a:xfrm>
          <a:prstGeom prst="rect">
            <a:avLst/>
          </a:prstGeom>
          <a:noFill/>
        </p:spPr>
        <p:txBody>
          <a:bodyPr wrap="none" lIns="0" tIns="0" rIns="0" bIns="0" rtlCol="0" anchor="ctr"/>
          <a:lstStyle/>
          <a:p>
            <a:pPr algn="ctr">
              <a:lnSpc>
                <a:spcPct val="120000"/>
              </a:lnSpc>
            </a:pPr>
            <a:r>
              <a:rPr lang="zh-CN" altLang="en-US" sz="1200" b="1" dirty="0">
                <a:solidFill>
                  <a:srgbClr val="FFFFFF"/>
                </a:solidFill>
                <a:latin typeface="微软雅黑" panose="020B0503020204020204" charset="-122"/>
                <a:ea typeface="微软雅黑" panose="020B0503020204020204" charset="-122"/>
                <a:cs typeface="MiSans" pitchFamily="34" charset="-120"/>
              </a:rPr>
              <a:t>智能</a:t>
            </a:r>
            <a:r>
              <a:rPr lang="en-US" sz="1200" b="1" dirty="0">
                <a:solidFill>
                  <a:srgbClr val="FFFFFF"/>
                </a:solidFill>
                <a:latin typeface="微软雅黑" panose="020B0503020204020204" charset="-122"/>
                <a:ea typeface="微软雅黑" panose="020B0503020204020204" charset="-122"/>
                <a:cs typeface="MiSans" pitchFamily="34" charset="-120"/>
              </a:rPr>
              <a:t>解析</a:t>
            </a:r>
            <a:endParaRPr lang="en-US" sz="1200" b="1" dirty="0">
              <a:solidFill>
                <a:srgbClr val="FFFFFF"/>
              </a:solidFill>
              <a:latin typeface="微软雅黑" panose="020B0503020204020204" charset="-122"/>
              <a:ea typeface="微软雅黑" panose="020B0503020204020204" charset="-122"/>
              <a:cs typeface="MiSans" pitchFamily="34" charset="-120"/>
            </a:endParaRPr>
          </a:p>
        </p:txBody>
      </p:sp>
      <p:sp>
        <p:nvSpPr>
          <p:cNvPr id="31" name="Text 19"/>
          <p:cNvSpPr/>
          <p:nvPr/>
        </p:nvSpPr>
        <p:spPr>
          <a:xfrm>
            <a:off x="2095500" y="5191601"/>
            <a:ext cx="4572000" cy="247650"/>
          </a:xfrm>
          <a:prstGeom prst="rect">
            <a:avLst/>
          </a:prstGeom>
          <a:noFill/>
        </p:spPr>
        <p:txBody>
          <a:bodyPr wrap="none" lIns="0" tIns="0" rIns="0" bIns="0" rtlCol="0" anchor="t"/>
          <a:lstStyle/>
          <a:p>
            <a:pPr algn="l">
              <a:lnSpc>
                <a:spcPct val="120000"/>
              </a:lnSpc>
            </a:pPr>
            <a:r>
              <a:rPr lang="en-US" sz="1200" b="1" dirty="0">
                <a:solidFill>
                  <a:srgbClr val="0F2B5B"/>
                </a:solidFill>
                <a:latin typeface="微软雅黑" panose="020B0503020204020204" charset="-122"/>
                <a:ea typeface="微软雅黑" panose="020B0503020204020204" charset="-122"/>
                <a:cs typeface="MiSans" pitchFamily="34" charset="-120"/>
              </a:rPr>
              <a:t>管理元数据解析</a:t>
            </a:r>
            <a:endParaRPr lang="en-US" sz="1200" b="1" dirty="0">
              <a:solidFill>
                <a:srgbClr val="0F2B5B"/>
              </a:solidFill>
              <a:latin typeface="微软雅黑" panose="020B0503020204020204" charset="-122"/>
              <a:ea typeface="微软雅黑" panose="020B0503020204020204" charset="-122"/>
              <a:cs typeface="MiSans" pitchFamily="34" charset="-120"/>
            </a:endParaRPr>
          </a:p>
        </p:txBody>
      </p:sp>
      <p:sp>
        <p:nvSpPr>
          <p:cNvPr id="32" name="Text 20"/>
          <p:cNvSpPr/>
          <p:nvPr/>
        </p:nvSpPr>
        <p:spPr>
          <a:xfrm>
            <a:off x="2095500" y="5458301"/>
            <a:ext cx="4572000" cy="819150"/>
          </a:xfrm>
          <a:prstGeom prst="rect">
            <a:avLst/>
          </a:prstGeom>
          <a:noFill/>
        </p:spPr>
        <p:txBody>
          <a:bodyPr wrap="square" lIns="0" tIns="0" rIns="0" bIns="0" rtlCol="0" anchor="t"/>
          <a:lstStyle/>
          <a:p>
            <a:pPr algn="l">
              <a:lnSpc>
                <a:spcPct val="160000"/>
              </a:lnSpc>
            </a:pPr>
            <a:r>
              <a:rPr lang="en-US" sz="1200" b="1" dirty="0">
                <a:solidFill>
                  <a:srgbClr val="1E293B"/>
                </a:solidFill>
                <a:latin typeface="微软雅黑" panose="020B0503020204020204" charset="-122"/>
                <a:ea typeface="微软雅黑" panose="020B0503020204020204" charset="-122"/>
                <a:cs typeface="MiSans" pitchFamily="34" charset="-120"/>
              </a:rPr>
              <a:t>管理等级信息</a:t>
            </a:r>
            <a:r>
              <a:rPr lang="en-US" sz="1200" dirty="0">
                <a:solidFill>
                  <a:srgbClr val="1E293B"/>
                </a:solidFill>
                <a:latin typeface="微软雅黑" panose="020B0503020204020204" charset="-122"/>
                <a:ea typeface="微软雅黑" panose="020B0503020204020204" charset="-122"/>
                <a:cs typeface="MiSans" pitchFamily="34" charset="-120"/>
              </a:rPr>
              <a:t>：</a:t>
            </a:r>
            <a:r>
              <a:rPr lang="zh-CN" altLang="en-US" sz="1200" dirty="0">
                <a:solidFill>
                  <a:srgbClr val="1E293B"/>
                </a:solidFill>
                <a:latin typeface="微软雅黑" panose="020B0503020204020204" charset="-122"/>
                <a:ea typeface="微软雅黑" panose="020B0503020204020204" charset="-122"/>
                <a:cs typeface="MiSans" pitchFamily="34" charset="-120"/>
              </a:rPr>
              <a:t>文档安全等级</a:t>
            </a:r>
            <a:r>
              <a:rPr lang="en-US" altLang="zh-CN" sz="1200" dirty="0">
                <a:solidFill>
                  <a:srgbClr val="1E293B"/>
                </a:solidFill>
                <a:latin typeface="微软雅黑" panose="020B0503020204020204" charset="-122"/>
                <a:ea typeface="微软雅黑" panose="020B0503020204020204" charset="-122"/>
                <a:cs typeface="MiSans" pitchFamily="34" charset="-120"/>
              </a:rPr>
              <a:t>、</a:t>
            </a:r>
            <a:r>
              <a:rPr lang="zh-CN" altLang="en-US" sz="1200" dirty="0">
                <a:solidFill>
                  <a:srgbClr val="1E293B"/>
                </a:solidFill>
                <a:latin typeface="微软雅黑" panose="020B0503020204020204" charset="-122"/>
                <a:ea typeface="微软雅黑" panose="020B0503020204020204" charset="-122"/>
                <a:cs typeface="MiSans" pitchFamily="34" charset="-120"/>
              </a:rPr>
              <a:t>版本号</a:t>
            </a:r>
            <a:r>
              <a:rPr lang="en-US" altLang="zh-CN" sz="1200" dirty="0">
                <a:solidFill>
                  <a:srgbClr val="1E293B"/>
                </a:solidFill>
                <a:latin typeface="微软雅黑" panose="020B0503020204020204" charset="-122"/>
                <a:ea typeface="微软雅黑" panose="020B0503020204020204" charset="-122"/>
                <a:cs typeface="MiSans" pitchFamily="34" charset="-120"/>
              </a:rPr>
              <a:t>、</a:t>
            </a:r>
            <a:r>
              <a:rPr lang="zh-CN" altLang="en-US" sz="1200" dirty="0">
                <a:solidFill>
                  <a:srgbClr val="1E293B"/>
                </a:solidFill>
                <a:latin typeface="微软雅黑" panose="020B0503020204020204" charset="-122"/>
                <a:ea typeface="微软雅黑" panose="020B0503020204020204" charset="-122"/>
                <a:cs typeface="MiSans" pitchFamily="34" charset="-120"/>
              </a:rPr>
              <a:t>生效时间</a:t>
            </a:r>
            <a:r>
              <a:rPr lang="en-US" altLang="zh-CN" sz="1200" dirty="0">
                <a:solidFill>
                  <a:srgbClr val="1E293B"/>
                </a:solidFill>
                <a:latin typeface="微软雅黑" panose="020B0503020204020204" charset="-122"/>
                <a:ea typeface="微软雅黑" panose="020B0503020204020204" charset="-122"/>
                <a:cs typeface="MiSans" pitchFamily="34" charset="-120"/>
              </a:rPr>
              <a:t>、</a:t>
            </a:r>
            <a:r>
              <a:rPr lang="zh-CN" altLang="en-US" sz="1200" dirty="0">
                <a:solidFill>
                  <a:srgbClr val="1E293B"/>
                </a:solidFill>
                <a:latin typeface="微软雅黑" panose="020B0503020204020204" charset="-122"/>
                <a:ea typeface="微软雅黑" panose="020B0503020204020204" charset="-122"/>
                <a:cs typeface="MiSans" pitchFamily="34" charset="-120"/>
              </a:rPr>
              <a:t>时效时间等</a:t>
            </a:r>
            <a:endParaRPr lang="en-US" sz="1200" dirty="0">
              <a:latin typeface="微软雅黑" panose="020B0503020204020204" charset="-122"/>
              <a:ea typeface="微软雅黑" panose="020B0503020204020204" charset="-122"/>
            </a:endParaRPr>
          </a:p>
          <a:p>
            <a:pPr algn="l">
              <a:lnSpc>
                <a:spcPct val="160000"/>
              </a:lnSpc>
            </a:pPr>
            <a:r>
              <a:rPr lang="en-US" sz="1200" b="1" dirty="0">
                <a:solidFill>
                  <a:srgbClr val="1E293B"/>
                </a:solidFill>
                <a:latin typeface="微软雅黑" panose="020B0503020204020204" charset="-122"/>
                <a:ea typeface="微软雅黑" panose="020B0503020204020204" charset="-122"/>
                <a:cs typeface="MiSans" pitchFamily="34" charset="-120"/>
              </a:rPr>
              <a:t>管理权属信息</a:t>
            </a:r>
            <a:r>
              <a:rPr lang="en-US" sz="1200" dirty="0">
                <a:solidFill>
                  <a:srgbClr val="1E293B"/>
                </a:solidFill>
                <a:latin typeface="微软雅黑" panose="020B0503020204020204" charset="-122"/>
                <a:ea typeface="微软雅黑" panose="020B0503020204020204" charset="-122"/>
                <a:cs typeface="MiSans" pitchFamily="34" charset="-120"/>
              </a:rPr>
              <a:t>：文档创建人、</a:t>
            </a:r>
            <a:r>
              <a:rPr lang="zh-CN" altLang="en-US" sz="1200" dirty="0">
                <a:solidFill>
                  <a:srgbClr val="1E293B"/>
                </a:solidFill>
                <a:latin typeface="微软雅黑" panose="020B0503020204020204" charset="-122"/>
                <a:ea typeface="微软雅黑" panose="020B0503020204020204" charset="-122"/>
                <a:cs typeface="MiSans" pitchFamily="34" charset="-120"/>
              </a:rPr>
              <a:t>主管部门</a:t>
            </a:r>
            <a:r>
              <a:rPr lang="en-US" sz="1200" dirty="0">
                <a:solidFill>
                  <a:srgbClr val="1E293B"/>
                </a:solidFill>
                <a:latin typeface="微软雅黑" panose="020B0503020204020204" charset="-122"/>
                <a:ea typeface="微软雅黑" panose="020B0503020204020204" charset="-122"/>
                <a:cs typeface="MiSans" pitchFamily="34" charset="-120"/>
              </a:rPr>
              <a:t>、</a:t>
            </a:r>
            <a:r>
              <a:rPr lang="zh-CN" altLang="en-US" sz="1200" dirty="0">
                <a:solidFill>
                  <a:srgbClr val="1E293B"/>
                </a:solidFill>
                <a:latin typeface="微软雅黑" panose="020B0503020204020204" charset="-122"/>
                <a:ea typeface="微软雅黑" panose="020B0503020204020204" charset="-122"/>
                <a:cs typeface="MiSans" pitchFamily="34" charset="-120"/>
              </a:rPr>
              <a:t>适用部门</a:t>
            </a:r>
            <a:r>
              <a:rPr lang="en-US" altLang="zh-CN" sz="1200" dirty="0">
                <a:solidFill>
                  <a:srgbClr val="1E293B"/>
                </a:solidFill>
                <a:latin typeface="微软雅黑" panose="020B0503020204020204" charset="-122"/>
                <a:ea typeface="微软雅黑" panose="020B0503020204020204" charset="-122"/>
                <a:cs typeface="MiSans" pitchFamily="34" charset="-120"/>
              </a:rPr>
              <a:t>、</a:t>
            </a:r>
            <a:r>
              <a:rPr lang="zh-CN" altLang="en-US" sz="1200" dirty="0">
                <a:solidFill>
                  <a:srgbClr val="1E293B"/>
                </a:solidFill>
                <a:latin typeface="微软雅黑" panose="020B0503020204020204" charset="-122"/>
                <a:ea typeface="微软雅黑" panose="020B0503020204020204" charset="-122"/>
                <a:cs typeface="MiSans" pitchFamily="34" charset="-120"/>
              </a:rPr>
              <a:t>适用岗位等</a:t>
            </a:r>
            <a:endParaRPr lang="zh-CN" altLang="en-US" sz="1200" dirty="0">
              <a:solidFill>
                <a:srgbClr val="1E293B"/>
              </a:solidFill>
              <a:latin typeface="微软雅黑" panose="020B0503020204020204" charset="-122"/>
              <a:ea typeface="微软雅黑" panose="020B0503020204020204" charset="-122"/>
              <a:cs typeface="MiSans" pitchFamily="34" charset="-120"/>
            </a:endParaRPr>
          </a:p>
        </p:txBody>
      </p:sp>
      <p:sp>
        <p:nvSpPr>
          <p:cNvPr id="33" name="Text 21"/>
          <p:cNvSpPr/>
          <p:nvPr/>
        </p:nvSpPr>
        <p:spPr>
          <a:xfrm>
            <a:off x="7086600" y="5181600"/>
            <a:ext cx="4572000" cy="247650"/>
          </a:xfrm>
          <a:prstGeom prst="rect">
            <a:avLst/>
          </a:prstGeom>
          <a:noFill/>
        </p:spPr>
        <p:txBody>
          <a:bodyPr wrap="none" lIns="0" tIns="0" rIns="0" bIns="0" rtlCol="0" anchor="t"/>
          <a:lstStyle/>
          <a:p>
            <a:pPr algn="l">
              <a:lnSpc>
                <a:spcPct val="120000"/>
              </a:lnSpc>
            </a:pPr>
            <a:r>
              <a:rPr lang="en-US" sz="1200" b="1" dirty="0">
                <a:solidFill>
                  <a:srgbClr val="0F2B5B"/>
                </a:solidFill>
                <a:latin typeface="微软雅黑" panose="020B0503020204020204" charset="-122"/>
                <a:ea typeface="微软雅黑" panose="020B0503020204020204" charset="-122"/>
                <a:cs typeface="MiSans" pitchFamily="34" charset="-120"/>
              </a:rPr>
              <a:t>业务元数据解析</a:t>
            </a:r>
            <a:endParaRPr lang="en-US" sz="1200" b="1" dirty="0">
              <a:solidFill>
                <a:srgbClr val="0F2B5B"/>
              </a:solidFill>
              <a:latin typeface="微软雅黑" panose="020B0503020204020204" charset="-122"/>
              <a:ea typeface="微软雅黑" panose="020B0503020204020204" charset="-122"/>
              <a:cs typeface="MiSans" pitchFamily="34" charset="-120"/>
            </a:endParaRPr>
          </a:p>
        </p:txBody>
      </p:sp>
      <p:sp>
        <p:nvSpPr>
          <p:cNvPr id="34" name="Text 22"/>
          <p:cNvSpPr/>
          <p:nvPr/>
        </p:nvSpPr>
        <p:spPr>
          <a:xfrm>
            <a:off x="7086600" y="5448300"/>
            <a:ext cx="4572000" cy="1014730"/>
          </a:xfrm>
          <a:prstGeom prst="rect">
            <a:avLst/>
          </a:prstGeom>
          <a:noFill/>
        </p:spPr>
        <p:txBody>
          <a:bodyPr wrap="square" lIns="0" tIns="0" rIns="0" bIns="0" rtlCol="0" anchor="t"/>
          <a:lstStyle/>
          <a:p>
            <a:pPr algn="l">
              <a:lnSpc>
                <a:spcPct val="160000"/>
              </a:lnSpc>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业务归属</a:t>
            </a:r>
            <a:r>
              <a:rPr lang="en-US" sz="1200" dirty="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dirty="0">
                <a:latin typeface="微软雅黑" panose="020B0503020204020204" charset="-122"/>
                <a:ea typeface="微软雅黑" panose="020B0503020204020204" charset="-122"/>
                <a:cs typeface="微软雅黑" panose="020B0503020204020204" charset="-122"/>
              </a:rPr>
              <a:t>识别一级业务域、二级业务条线、知识主题</a:t>
            </a:r>
            <a:endParaRPr lang="zh-CN" altLang="en-US" sz="12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引用关联</a:t>
            </a:r>
            <a:r>
              <a:rPr lang="en-US" sz="1200" dirty="0">
                <a:solidFill>
                  <a:srgbClr val="1E293B"/>
                </a:solidFill>
                <a:latin typeface="微软雅黑" panose="020B0503020204020204" charset="-122"/>
                <a:ea typeface="微软雅黑" panose="020B0503020204020204" charset="-122"/>
                <a:cs typeface="微软雅黑" panose="020B0503020204020204" charset="-122"/>
              </a:rPr>
              <a:t>：识别文档中引用的其他制度、文件及被引用关系</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zh-CN" altLang="en-US" sz="1200" dirty="0">
                <a:solidFill>
                  <a:srgbClr val="1E293B"/>
                </a:solidFill>
                <a:latin typeface="微软雅黑" panose="020B0503020204020204" charset="-122"/>
                <a:ea typeface="微软雅黑" panose="020B0503020204020204" charset="-122"/>
                <a:cs typeface="微软雅黑" panose="020B0503020204020204" charset="-122"/>
              </a:rPr>
              <a:t>内容特征</a:t>
            </a:r>
            <a:r>
              <a:rPr lang="en-US" sz="1200" dirty="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dirty="0">
                <a:solidFill>
                  <a:srgbClr val="1E293B"/>
                </a:solidFill>
                <a:latin typeface="微软雅黑" panose="020B0503020204020204" charset="-122"/>
                <a:ea typeface="微软雅黑" panose="020B0503020204020204" charset="-122"/>
                <a:cs typeface="微软雅黑" panose="020B0503020204020204" charset="-122"/>
              </a:rPr>
              <a:t>业务对象、业务场景、业务活动、业务术语提取</a:t>
            </a:r>
            <a:endParaRPr lang="zh-CN" alt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39" name="Shape 21"/>
          <p:cNvSpPr/>
          <p:nvPr/>
        </p:nvSpPr>
        <p:spPr>
          <a:xfrm>
            <a:off x="381000" y="3415665"/>
            <a:ext cx="11430000" cy="1409700"/>
          </a:xfrm>
          <a:prstGeom prst="roundRect">
            <a:avLst>
              <a:gd name="adj" fmla="val 2000"/>
            </a:avLst>
          </a:prstGeom>
          <a:solidFill>
            <a:srgbClr val="EFF6FF"/>
          </a:solidFill>
          <a:ln w="12700">
            <a:solidFill>
              <a:srgbClr val="93C5FD"/>
            </a:solidFill>
            <a:prstDash val="solid"/>
          </a:ln>
        </p:spPr>
      </p:sp>
      <p:sp>
        <p:nvSpPr>
          <p:cNvPr id="40" name="Shape 22"/>
          <p:cNvSpPr/>
          <p:nvPr/>
        </p:nvSpPr>
        <p:spPr>
          <a:xfrm>
            <a:off x="381000" y="3415665"/>
            <a:ext cx="1524000" cy="1409700"/>
          </a:xfrm>
          <a:prstGeom prst="roundRect">
            <a:avLst>
              <a:gd name="adj" fmla="val 5000"/>
            </a:avLst>
          </a:prstGeom>
        </p:spPr>
        <p:style>
          <a:lnRef idx="0">
            <a:srgbClr val="FFFFFF"/>
          </a:lnRef>
          <a:fillRef idx="3">
            <a:schemeClr val="accent1"/>
          </a:fillRef>
          <a:effectRef idx="0">
            <a:srgbClr val="FFFFFF"/>
          </a:effectRef>
          <a:fontRef idx="minor">
            <a:schemeClr val="lt1"/>
          </a:fontRef>
        </p:style>
      </p:sp>
      <p:sp>
        <p:nvSpPr>
          <p:cNvPr id="41" name="Shape 23"/>
          <p:cNvSpPr/>
          <p:nvPr/>
        </p:nvSpPr>
        <p:spPr>
          <a:xfrm>
            <a:off x="899795" y="3606165"/>
            <a:ext cx="457200" cy="474980"/>
          </a:xfrm>
          <a:custGeom>
            <a:avLst/>
            <a:gdLst/>
            <a:ahLst/>
            <a:cxnLst/>
            <a:rect l="l" t="t" r="r" b="b"/>
            <a:pathLst>
              <a:path w="406400" h="406400">
                <a:moveTo>
                  <a:pt x="0" y="50800"/>
                </a:moveTo>
                <a:cubicBezTo>
                  <a:pt x="0" y="22781"/>
                  <a:pt x="30374" y="0"/>
                  <a:pt x="67733" y="0"/>
                </a:cubicBezTo>
                <a:lnTo>
                  <a:pt x="225954" y="0"/>
                </a:lnTo>
                <a:cubicBezTo>
                  <a:pt x="243946" y="0"/>
                  <a:pt x="261197" y="5318"/>
                  <a:pt x="273897" y="14843"/>
                </a:cubicBezTo>
                <a:lnTo>
                  <a:pt x="386609" y="99457"/>
                </a:lnTo>
                <a:cubicBezTo>
                  <a:pt x="399309" y="108982"/>
                  <a:pt x="406400" y="121920"/>
                  <a:pt x="406400" y="135414"/>
                </a:cubicBezTo>
                <a:lnTo>
                  <a:pt x="406400" y="355600"/>
                </a:lnTo>
                <a:cubicBezTo>
                  <a:pt x="406400" y="383619"/>
                  <a:pt x="376026" y="406400"/>
                  <a:pt x="338667" y="406400"/>
                </a:cubicBezTo>
                <a:lnTo>
                  <a:pt x="67733" y="406400"/>
                </a:lnTo>
                <a:cubicBezTo>
                  <a:pt x="30374" y="406400"/>
                  <a:pt x="0" y="383619"/>
                  <a:pt x="0" y="355600"/>
                </a:cubicBezTo>
                <a:lnTo>
                  <a:pt x="0" y="50800"/>
                </a:lnTo>
                <a:close/>
                <a:moveTo>
                  <a:pt x="220133" y="46434"/>
                </a:moveTo>
                <a:lnTo>
                  <a:pt x="220133" y="120650"/>
                </a:lnTo>
                <a:cubicBezTo>
                  <a:pt x="220133" y="131207"/>
                  <a:pt x="231457" y="139700"/>
                  <a:pt x="245533" y="139700"/>
                </a:cubicBezTo>
                <a:lnTo>
                  <a:pt x="344487" y="139700"/>
                </a:lnTo>
                <a:lnTo>
                  <a:pt x="220133" y="46434"/>
                </a:lnTo>
                <a:close/>
                <a:moveTo>
                  <a:pt x="127000" y="203200"/>
                </a:moveTo>
                <a:cubicBezTo>
                  <a:pt x="112924" y="203200"/>
                  <a:pt x="101600" y="211693"/>
                  <a:pt x="101600" y="222250"/>
                </a:cubicBezTo>
                <a:cubicBezTo>
                  <a:pt x="101600" y="232807"/>
                  <a:pt x="112924" y="241300"/>
                  <a:pt x="127000" y="241300"/>
                </a:cubicBezTo>
                <a:lnTo>
                  <a:pt x="279400" y="241300"/>
                </a:lnTo>
                <a:cubicBezTo>
                  <a:pt x="293476" y="241300"/>
                  <a:pt x="304800" y="232807"/>
                  <a:pt x="304800" y="222250"/>
                </a:cubicBezTo>
                <a:cubicBezTo>
                  <a:pt x="304800" y="211693"/>
                  <a:pt x="293476" y="203200"/>
                  <a:pt x="279400" y="203200"/>
                </a:cubicBezTo>
                <a:lnTo>
                  <a:pt x="127000" y="203200"/>
                </a:lnTo>
                <a:close/>
                <a:moveTo>
                  <a:pt x="127000" y="279400"/>
                </a:moveTo>
                <a:cubicBezTo>
                  <a:pt x="112924" y="279400"/>
                  <a:pt x="101600" y="287893"/>
                  <a:pt x="101600" y="298450"/>
                </a:cubicBezTo>
                <a:cubicBezTo>
                  <a:pt x="101600" y="309007"/>
                  <a:pt x="112924" y="317500"/>
                  <a:pt x="127000" y="317500"/>
                </a:cubicBezTo>
                <a:lnTo>
                  <a:pt x="279400" y="317500"/>
                </a:lnTo>
                <a:cubicBezTo>
                  <a:pt x="293476" y="317500"/>
                  <a:pt x="304800" y="309007"/>
                  <a:pt x="304800" y="298450"/>
                </a:cubicBezTo>
                <a:cubicBezTo>
                  <a:pt x="304800" y="287893"/>
                  <a:pt x="293476" y="279400"/>
                  <a:pt x="279400" y="279400"/>
                </a:cubicBezTo>
                <a:lnTo>
                  <a:pt x="127000" y="279400"/>
                </a:lnTo>
                <a:close/>
              </a:path>
            </a:pathLst>
          </a:custGeom>
          <a:solidFill>
            <a:srgbClr val="FFFFFF"/>
          </a:solidFill>
        </p:spPr>
      </p:sp>
      <p:sp>
        <p:nvSpPr>
          <p:cNvPr id="42" name="Text 24"/>
          <p:cNvSpPr/>
          <p:nvPr/>
        </p:nvSpPr>
        <p:spPr>
          <a:xfrm>
            <a:off x="555625" y="4257675"/>
            <a:ext cx="1104900" cy="209550"/>
          </a:xfrm>
          <a:prstGeom prst="rect">
            <a:avLst/>
          </a:prstGeom>
          <a:noFill/>
        </p:spPr>
        <p:txBody>
          <a:bodyPr wrap="none" lIns="0" tIns="0" rIns="0" bIns="0" rtlCol="0" anchor="ctr"/>
          <a:lstStyle/>
          <a:p>
            <a:pPr algn="ctr">
              <a:lnSpc>
                <a:spcPct val="120000"/>
              </a:lnSpc>
            </a:pPr>
            <a:r>
              <a:rPr lang="en-US" sz="1200" b="1" dirty="0">
                <a:solidFill>
                  <a:srgbClr val="FFFFFF"/>
                </a:solidFill>
                <a:latin typeface="MiSans" pitchFamily="34" charset="-122"/>
                <a:ea typeface="MiSans" pitchFamily="34" charset="-122"/>
                <a:cs typeface="MiSans" pitchFamily="34" charset="-120"/>
              </a:rPr>
              <a:t>摘要生成</a:t>
            </a:r>
            <a:endParaRPr lang="en-US" sz="1200" dirty="0"/>
          </a:p>
        </p:txBody>
      </p:sp>
      <p:sp>
        <p:nvSpPr>
          <p:cNvPr id="45" name="Text 27"/>
          <p:cNvSpPr/>
          <p:nvPr/>
        </p:nvSpPr>
        <p:spPr>
          <a:xfrm>
            <a:off x="2094865" y="3491865"/>
            <a:ext cx="4382135" cy="285750"/>
          </a:xfrm>
          <a:prstGeom prst="rect">
            <a:avLst/>
          </a:prstGeom>
          <a:noFill/>
        </p:spPr>
        <p:txBody>
          <a:bodyPr wrap="none" lIns="0" tIns="0" rIns="0" bIns="0" rtlCol="0" anchor="t">
            <a:noAutofit/>
          </a:bodyPr>
          <a:lstStyle/>
          <a:p>
            <a:pPr lvl="0" algn="l">
              <a:lnSpc>
                <a:spcPct val="120000"/>
              </a:lnSpc>
              <a:buClrTx/>
              <a:buSzTx/>
              <a:buFontTx/>
            </a:pPr>
            <a:r>
              <a:rPr lang="en-US" sz="1200" b="1" dirty="0">
                <a:solidFill>
                  <a:srgbClr val="0F2B5B"/>
                </a:solidFill>
                <a:latin typeface="微软雅黑" panose="020B0503020204020204" charset="-122"/>
                <a:ea typeface="微软雅黑" panose="020B0503020204020204" charset="-122"/>
                <a:cs typeface="MiSans" pitchFamily="34" charset="-120"/>
                <a:sym typeface="+mn-ea"/>
              </a:rPr>
              <a:t>调用大模型对全文进行语义理解，生成结构化摘要</a:t>
            </a:r>
            <a:endParaRPr lang="en-US" sz="1200" b="1" dirty="0">
              <a:solidFill>
                <a:srgbClr val="0F2B5B"/>
              </a:solidFill>
              <a:latin typeface="微软雅黑" panose="020B0503020204020204" charset="-122"/>
              <a:ea typeface="微软雅黑" panose="020B0503020204020204" charset="-122"/>
              <a:cs typeface="MiSans" pitchFamily="34" charset="-120"/>
              <a:sym typeface="+mn-ea"/>
            </a:endParaRPr>
          </a:p>
        </p:txBody>
      </p:sp>
      <p:sp>
        <p:nvSpPr>
          <p:cNvPr id="47" name="Text 29"/>
          <p:cNvSpPr/>
          <p:nvPr/>
        </p:nvSpPr>
        <p:spPr>
          <a:xfrm>
            <a:off x="1905000" y="3834765"/>
            <a:ext cx="2019300" cy="247650"/>
          </a:xfrm>
          <a:prstGeom prst="rect">
            <a:avLst/>
          </a:prstGeom>
          <a:noFill/>
        </p:spPr>
        <p:txBody>
          <a:bodyPr wrap="none" lIns="0" tIns="0" rIns="0" bIns="0" rtlCol="0" anchor="ctr"/>
          <a:lstStyle/>
          <a:p>
            <a:pPr algn="ctr">
              <a:lnSpc>
                <a:spcPct val="120000"/>
              </a:lnSpc>
            </a:pPr>
            <a:r>
              <a:rPr lang="en-US" sz="825" dirty="0">
                <a:solidFill>
                  <a:srgbClr val="FFFFFF"/>
                </a:solidFill>
                <a:latin typeface="MiSans" pitchFamily="34" charset="-122"/>
                <a:ea typeface="MiSans" pitchFamily="34" charset="-122"/>
                <a:cs typeface="MiSans" pitchFamily="34" charset="-120"/>
              </a:rPr>
              <a:t>原文档输入</a:t>
            </a:r>
            <a:endParaRPr lang="en-US" sz="825" dirty="0"/>
          </a:p>
        </p:txBody>
      </p:sp>
      <p:sp>
        <p:nvSpPr>
          <p:cNvPr id="52" name="Text 33"/>
          <p:cNvSpPr/>
          <p:nvPr/>
        </p:nvSpPr>
        <p:spPr>
          <a:xfrm>
            <a:off x="2094230" y="3818890"/>
            <a:ext cx="4382770" cy="987425"/>
          </a:xfrm>
          <a:prstGeom prst="rect">
            <a:avLst/>
          </a:prstGeom>
          <a:noFill/>
        </p:spPr>
        <p:txBody>
          <a:bodyPr wrap="square" lIns="0" tIns="0" rIns="0" bIns="0" rtlCol="0" anchor="t"/>
          <a:lstStyle/>
          <a:p>
            <a:pPr algn="l">
              <a:lnSpc>
                <a:spcPct val="160000"/>
              </a:lnSpc>
              <a:buClrTx/>
              <a:buSzTx/>
              <a:buNone/>
            </a:pPr>
            <a:r>
              <a:rPr lang="en-US" sz="1200" dirty="0">
                <a:solidFill>
                  <a:srgbClr val="1E293B"/>
                </a:solidFill>
                <a:latin typeface="微软雅黑" panose="020B0503020204020204" charset="-122"/>
                <a:ea typeface="微软雅黑" panose="020B0503020204020204" charset="-122"/>
                <a:cs typeface="微软雅黑" panose="020B0503020204020204" charset="-122"/>
              </a:rPr>
              <a:t>生成200字以内结构化摘要，提取文档核心目的、适用范围、管理原则，识别文档类型（制度/办法/规范/指引）、业务领域、知识主题，输出作为后续重复校验和元数据解析的输入</a:t>
            </a:r>
            <a:endParaRPr 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53" name="Shape 34"/>
          <p:cNvSpPr/>
          <p:nvPr/>
        </p:nvSpPr>
        <p:spPr>
          <a:xfrm>
            <a:off x="6858000" y="3510915"/>
            <a:ext cx="4800600" cy="1286510"/>
          </a:xfrm>
          <a:prstGeom prst="roundRect">
            <a:avLst>
              <a:gd name="adj" fmla="val 5000"/>
            </a:avLst>
          </a:prstGeom>
          <a:solidFill>
            <a:srgbClr val="EFF6FF"/>
          </a:solidFill>
          <a:ln w="12700">
            <a:solidFill>
              <a:srgbClr val="BFDBFE"/>
            </a:solidFill>
            <a:prstDash val="solid"/>
          </a:ln>
        </p:spPr>
        <p:txBody>
          <a:bodyPr/>
          <a:lstStyle/>
          <a:p>
            <a:endParaRPr lang="zh-CN" altLang="en-US"/>
          </a:p>
        </p:txBody>
      </p:sp>
      <p:sp>
        <p:nvSpPr>
          <p:cNvPr id="54" name="Text 35"/>
          <p:cNvSpPr/>
          <p:nvPr/>
        </p:nvSpPr>
        <p:spPr>
          <a:xfrm>
            <a:off x="7010400" y="3520440"/>
            <a:ext cx="2857500" cy="209550"/>
          </a:xfrm>
          <a:prstGeom prst="rect">
            <a:avLst/>
          </a:prstGeom>
          <a:noFill/>
        </p:spPr>
        <p:txBody>
          <a:bodyPr wrap="none" lIns="0" tIns="0" rIns="0" bIns="0" rtlCol="0" anchor="t"/>
          <a:lstStyle/>
          <a:p>
            <a:pPr algn="l">
              <a:lnSpc>
                <a:spcPct val="120000"/>
              </a:lnSpc>
            </a:pPr>
            <a:r>
              <a:rPr lang="en-US" sz="975" b="1" dirty="0">
                <a:solidFill>
                  <a:srgbClr val="0F2B5B"/>
                </a:solidFill>
                <a:latin typeface="MiSans" pitchFamily="34" charset="-122"/>
                <a:ea typeface="MiSans" pitchFamily="34" charset="-122"/>
                <a:cs typeface="MiSans" pitchFamily="34" charset="-120"/>
              </a:rPr>
              <a:t>摘要生成能力示意</a:t>
            </a:r>
            <a:endParaRPr lang="en-US" sz="975" dirty="0"/>
          </a:p>
        </p:txBody>
      </p:sp>
      <p:sp>
        <p:nvSpPr>
          <p:cNvPr id="55" name="Text 36"/>
          <p:cNvSpPr/>
          <p:nvPr/>
        </p:nvSpPr>
        <p:spPr>
          <a:xfrm>
            <a:off x="7010400" y="3688715"/>
            <a:ext cx="4533900" cy="1087120"/>
          </a:xfrm>
          <a:prstGeom prst="rect">
            <a:avLst/>
          </a:prstGeom>
          <a:noFill/>
        </p:spPr>
        <p:txBody>
          <a:bodyPr wrap="square" lIns="0" tIns="0" rIns="0" bIns="0" rtlCol="0" anchor="t"/>
          <a:lstStyle/>
          <a:p>
            <a:pPr algn="l">
              <a:lnSpc>
                <a:spcPct val="150000"/>
              </a:lnSpc>
            </a:pPr>
            <a:r>
              <a:rPr lang="en-US" sz="825" b="1" dirty="0">
                <a:solidFill>
                  <a:srgbClr val="1E293B"/>
                </a:solidFill>
                <a:latin typeface="MiSans" pitchFamily="34" charset="-122"/>
                <a:ea typeface="MiSans" pitchFamily="34" charset="-122"/>
                <a:cs typeface="MiSans" pitchFamily="34" charset="-120"/>
              </a:rPr>
              <a:t>输入</a:t>
            </a:r>
            <a:r>
              <a:rPr lang="en-US" sz="825" dirty="0">
                <a:solidFill>
                  <a:srgbClr val="1E293B"/>
                </a:solidFill>
                <a:latin typeface="MiSans" pitchFamily="34" charset="-122"/>
                <a:ea typeface="MiSans" pitchFamily="34" charset="-122"/>
                <a:cs typeface="MiSans" pitchFamily="34" charset="-120"/>
              </a:rPr>
              <a:t>：</a:t>
            </a:r>
            <a:r>
              <a:rPr lang="en-US" sz="825" dirty="0">
                <a:solidFill>
                  <a:srgbClr val="1E293B"/>
                </a:solidFill>
                <a:latin typeface="微软雅黑" panose="020B0503020204020204" charset="-122"/>
                <a:ea typeface="微软雅黑" panose="020B0503020204020204" charset="-122"/>
                <a:cs typeface="微软雅黑" panose="020B0503020204020204" charset="-122"/>
              </a:rPr>
              <a:t>《</a:t>
            </a:r>
            <a:r>
              <a:rPr lang="zh-CN" altLang="en-US" sz="825" dirty="0">
                <a:solidFill>
                  <a:srgbClr val="1E293B"/>
                </a:solidFill>
                <a:latin typeface="微软雅黑" panose="020B0503020204020204" charset="-122"/>
                <a:ea typeface="微软雅黑" panose="020B0503020204020204" charset="-122"/>
                <a:cs typeface="微软雅黑" panose="020B0503020204020204" charset="-122"/>
              </a:rPr>
              <a:t>固定资产贷款管理办法</a:t>
            </a:r>
            <a:r>
              <a:rPr lang="en-US" sz="825" dirty="0">
                <a:solidFill>
                  <a:srgbClr val="1E293B"/>
                </a:solidFill>
                <a:latin typeface="微软雅黑" panose="020B0503020204020204" charset="-122"/>
                <a:ea typeface="微软雅黑" panose="020B0503020204020204" charset="-122"/>
                <a:cs typeface="微软雅黑" panose="020B0503020204020204" charset="-122"/>
              </a:rPr>
              <a:t>》全文</a:t>
            </a:r>
            <a:endParaRPr lang="en-US" sz="825" dirty="0">
              <a:latin typeface="微软雅黑" panose="020B0503020204020204" charset="-122"/>
              <a:ea typeface="微软雅黑" panose="020B0503020204020204" charset="-122"/>
              <a:cs typeface="微软雅黑" panose="020B0503020204020204" charset="-122"/>
            </a:endParaRPr>
          </a:p>
          <a:p>
            <a:pPr algn="l">
              <a:lnSpc>
                <a:spcPct val="150000"/>
              </a:lnSpc>
            </a:pPr>
            <a:r>
              <a:rPr lang="en-US" sz="825" b="1" dirty="0">
                <a:solidFill>
                  <a:srgbClr val="1E293B"/>
                </a:solidFill>
                <a:latin typeface="微软雅黑" panose="020B0503020204020204" charset="-122"/>
                <a:ea typeface="微软雅黑" panose="020B0503020204020204" charset="-122"/>
                <a:cs typeface="微软雅黑" panose="020B0503020204020204" charset="-122"/>
              </a:rPr>
              <a:t>输出摘要</a:t>
            </a:r>
            <a:r>
              <a:rPr lang="en-US" sz="825" dirty="0">
                <a:solidFill>
                  <a:srgbClr val="1E293B"/>
                </a:solidFill>
                <a:latin typeface="微软雅黑" panose="020B0503020204020204" charset="-122"/>
                <a:ea typeface="微软雅黑" panose="020B0503020204020204" charset="-122"/>
                <a:cs typeface="微软雅黑" panose="020B0503020204020204" charset="-122"/>
              </a:rPr>
              <a:t>：</a:t>
            </a:r>
            <a:r>
              <a:rPr lang="zh-CN" altLang="en-US" sz="530">
                <a:latin typeface="微软雅黑" panose="020B0503020204020204" charset="-122"/>
                <a:ea typeface="微软雅黑" panose="020B0503020204020204" charset="-122"/>
                <a:cs typeface="微软雅黑" panose="020B0503020204020204" charset="-122"/>
                <a:sym typeface="+mn-ea"/>
              </a:rPr>
              <a:t>本办法由国家金融监督管理总局发布（2024 年第 1 号），自 2024 年 7 月 1 日起施行，旨在规范银行业金融机构固定资产贷款业务经营行为、加强审慎经营管理、促进业务健康发展，适用于在中华人民共和国境内设立的商业银行、农村合作银行、农村信用合作社等吸收公众存款的金融机构；办法明确固定资产贷款是指向法人或非法人组织发放的用于借款人固定资产投资的本外币贷款，项目融资是其特殊形式，还款资金来源主要依赖项目产生的销售收入等；办法以固定资产贷款管理为核心场景，系统规定了受理与调查、审查审批、合同签订、发放与支付、贷后管理、项目融资等各环节的全流程管理要求，强调贷款全流程管理、统一授信管理、审贷分离分级审批、受托支付等核心制度，明确了项目资本金要求、贷款期限限制（一般不超十年）、还本频率要求、展期规则等，要求贷款人对担保进行全面调查与评价、在合同中设定担保条款并加强贷后担保管理，通过抵质押担保、保证担保、银团贷款分散风险、项目收入账户监管、保险权益转让等多种风险缓释手段保障贷款安全，并对贷款人违规行为规定了监管措施与法律责任。</a:t>
            </a:r>
            <a:endParaRPr lang="zh-CN" altLang="en-US" sz="53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56" name="Shape 14"/>
          <p:cNvSpPr/>
          <p:nvPr/>
        </p:nvSpPr>
        <p:spPr>
          <a:xfrm>
            <a:off x="5986780" y="4820761"/>
            <a:ext cx="381000" cy="228600"/>
          </a:xfrm>
          <a:prstGeom prst="downArrow">
            <a:avLst>
              <a:gd name="adj1" fmla="val 50000"/>
              <a:gd name="adj2" fmla="val 50000"/>
            </a:avLst>
          </a:prstGeom>
          <a:solidFill>
            <a:srgbClr val="DBEAFE"/>
          </a:solidFill>
        </p:spPr>
      </p:sp>
      <p:sp>
        <p:nvSpPr>
          <p:cNvPr id="9" name="矩形 8"/>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10" name="矩形 9"/>
          <p:cNvSpPr/>
          <p:nvPr/>
        </p:nvSpPr>
        <p:spPr>
          <a:xfrm>
            <a:off x="9668510" y="21590"/>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11" name="矩形 10"/>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5" name="矩形 34"/>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2.2.2 知识汇聚--元数据采集</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84455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预处理完成后，全面启动元数据采集，打通文档预处理、系统接口采集与人工补录的全链路数据来源，</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汇聚形成标准化、结构化的文档元数据，为知识资产的管理、检索与治理构建核心数据基础。</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grpSp>
        <p:nvGrpSpPr>
          <p:cNvPr id="12" name="组合 11"/>
          <p:cNvGrpSpPr/>
          <p:nvPr/>
        </p:nvGrpSpPr>
        <p:grpSpPr>
          <a:xfrm>
            <a:off x="470535" y="2266950"/>
            <a:ext cx="11371586" cy="4223385"/>
            <a:chOff x="917" y="3570"/>
            <a:chExt cx="17732" cy="6651"/>
          </a:xfrm>
        </p:grpSpPr>
        <p:sp>
          <p:nvSpPr>
            <p:cNvPr id="41" name="AutoShape 16"/>
            <p:cNvSpPr/>
            <p:nvPr/>
          </p:nvSpPr>
          <p:spPr>
            <a:xfrm>
              <a:off x="917" y="3570"/>
              <a:ext cx="4017" cy="5353"/>
            </a:xfrm>
            <a:prstGeom prst="roundRect">
              <a:avLst>
                <a:gd name="adj" fmla="val 3157"/>
              </a:avLst>
            </a:prstGeom>
            <a:solidFill>
              <a:srgbClr val="FFFFFF">
                <a:alpha val="100000"/>
              </a:srgbClr>
            </a:solidFill>
            <a:ln w="25400" cap="flat" cmpd="sng">
              <a:noFill/>
              <a:prstDash val="solid"/>
              <a:round/>
            </a:ln>
            <a:effectLst>
              <a:outerShdw blurRad="76200" dist="38100" dir="5400000" algn="tl" rotWithShape="0">
                <a:srgbClr val="000000">
                  <a:alpha val="10000"/>
                </a:srgbClr>
              </a:outerShdw>
            </a:effectLst>
          </p:spPr>
          <p:txBody>
            <a:bodyPr vert="horz" lIns="63500" tIns="63500" rIns="63500" bIns="63500" rtlCol="0" anchor="ctr"/>
            <a:lstStyle/>
            <a:p>
              <a:pPr algn="ctr">
                <a:defRPr/>
              </a:pPr>
              <a:endParaRPr lang="en-US">
                <a:latin typeface="微软雅黑" panose="020B0503020204020204" charset="-122"/>
                <a:ea typeface="微软雅黑" panose="020B0503020204020204" charset="-122"/>
              </a:endParaRPr>
            </a:p>
          </p:txBody>
        </p:sp>
        <p:sp>
          <p:nvSpPr>
            <p:cNvPr id="42" name="AutoShape 17"/>
            <p:cNvSpPr/>
            <p:nvPr/>
          </p:nvSpPr>
          <p:spPr>
            <a:xfrm>
              <a:off x="917" y="3570"/>
              <a:ext cx="4017" cy="640"/>
            </a:xfrm>
            <a:prstGeom prst="roundRect">
              <a:avLst>
                <a:gd name="adj" fmla="val 1875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25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① </a:t>
              </a:r>
              <a:r>
                <a:rPr lang="zh-CN" alt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源端推送</a:t>
              </a:r>
              <a:r>
                <a:rPr lang="en-US" altLang="zh-CN"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系统接口</a:t>
              </a:r>
              <a:r>
                <a:rPr lang="en-US" altLang="zh-CN"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altLang="zh-CN"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4" name="AutoShape 19"/>
            <p:cNvSpPr/>
            <p:nvPr/>
          </p:nvSpPr>
          <p:spPr>
            <a:xfrm>
              <a:off x="5517" y="3590"/>
              <a:ext cx="4017" cy="5321"/>
            </a:xfrm>
            <a:prstGeom prst="roundRect">
              <a:avLst>
                <a:gd name="adj" fmla="val 3157"/>
              </a:avLst>
            </a:prstGeom>
            <a:solidFill>
              <a:srgbClr val="FFFFFF">
                <a:alpha val="100000"/>
              </a:srgbClr>
            </a:solidFill>
            <a:ln w="25400" cap="flat" cmpd="sng">
              <a:noFill/>
              <a:prstDash val="solid"/>
              <a:round/>
            </a:ln>
            <a:effectLst>
              <a:outerShdw blurRad="76200" dist="38100" dir="5400000" algn="tl" rotWithShape="0">
                <a:srgbClr val="000000">
                  <a:alpha val="10000"/>
                </a:srgbClr>
              </a:outerShdw>
            </a:effectLst>
          </p:spPr>
          <p:txBody>
            <a:bodyPr vert="horz"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5" name="AutoShape 20"/>
            <p:cNvSpPr/>
            <p:nvPr/>
          </p:nvSpPr>
          <p:spPr>
            <a:xfrm>
              <a:off x="5517" y="3570"/>
              <a:ext cx="4017" cy="640"/>
            </a:xfrm>
            <a:prstGeom prst="roundRect">
              <a:avLst>
                <a:gd name="adj" fmla="val 1875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25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② </a:t>
              </a:r>
              <a:r>
                <a:rPr lang="zh-CN" alt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内容解析</a:t>
              </a:r>
              <a:endParaRPr lang="en-US" altLang="zh-CN"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7" name="AutoShape 22"/>
            <p:cNvSpPr/>
            <p:nvPr/>
          </p:nvSpPr>
          <p:spPr>
            <a:xfrm>
              <a:off x="10057" y="3570"/>
              <a:ext cx="4017" cy="5311"/>
            </a:xfrm>
            <a:prstGeom prst="roundRect">
              <a:avLst>
                <a:gd name="adj" fmla="val 3157"/>
              </a:avLst>
            </a:prstGeom>
            <a:solidFill>
              <a:srgbClr val="FFFFFF">
                <a:alpha val="100000"/>
              </a:srgbClr>
            </a:solidFill>
            <a:ln w="25400" cap="flat" cmpd="sng">
              <a:noFill/>
              <a:prstDash val="solid"/>
              <a:round/>
            </a:ln>
            <a:effectLst>
              <a:outerShdw blurRad="76200" dist="38100" dir="5400000" algn="tl" rotWithShape="0">
                <a:srgbClr val="000000">
                  <a:alpha val="10000"/>
                </a:srgbClr>
              </a:outerShdw>
            </a:effectLst>
          </p:spPr>
          <p:txBody>
            <a:bodyPr vert="horz"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9" name="AutoShape 23"/>
            <p:cNvSpPr/>
            <p:nvPr/>
          </p:nvSpPr>
          <p:spPr>
            <a:xfrm>
              <a:off x="10057" y="3570"/>
              <a:ext cx="4017" cy="640"/>
            </a:xfrm>
            <a:prstGeom prst="roundRect">
              <a:avLst>
                <a:gd name="adj" fmla="val 1875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25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③ </a:t>
              </a:r>
              <a:r>
                <a:rPr lang="zh-CN" alt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技术解析</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（系统接口）</a:t>
              </a:r>
              <a:endPar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3" name="AutoShape 18"/>
            <p:cNvSpPr/>
            <p:nvPr/>
          </p:nvSpPr>
          <p:spPr>
            <a:xfrm rot="5400000">
              <a:off x="5058" y="5752"/>
              <a:ext cx="441" cy="320"/>
            </a:xfrm>
            <a:prstGeom prst="triangle">
              <a:avLst/>
            </a:prstGeom>
            <a:solidFill>
              <a:schemeClr val="accent1">
                <a:lumMod val="75000"/>
              </a:scheme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6" name="AutoShape 21"/>
            <p:cNvSpPr/>
            <p:nvPr/>
          </p:nvSpPr>
          <p:spPr>
            <a:xfrm rot="5400000">
              <a:off x="9598" y="5752"/>
              <a:ext cx="441" cy="320"/>
            </a:xfrm>
            <a:prstGeom prst="triangle">
              <a:avLst/>
            </a:prstGeom>
            <a:solidFill>
              <a:schemeClr val="accent1">
                <a:lumMod val="75000"/>
              </a:scheme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0" name="AutoShape 24"/>
            <p:cNvSpPr/>
            <p:nvPr/>
          </p:nvSpPr>
          <p:spPr>
            <a:xfrm rot="5400000">
              <a:off x="14098" y="5752"/>
              <a:ext cx="441" cy="320"/>
            </a:xfrm>
            <a:prstGeom prst="triangle">
              <a:avLst/>
            </a:prstGeom>
            <a:solidFill>
              <a:schemeClr val="accent1">
                <a:lumMod val="75000"/>
              </a:scheme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1" name="AutoShape 25"/>
            <p:cNvSpPr/>
            <p:nvPr/>
          </p:nvSpPr>
          <p:spPr>
            <a:xfrm>
              <a:off x="14537" y="3570"/>
              <a:ext cx="4017" cy="5321"/>
            </a:xfrm>
            <a:prstGeom prst="roundRect">
              <a:avLst>
                <a:gd name="adj" fmla="val 3157"/>
              </a:avLst>
            </a:prstGeom>
            <a:solidFill>
              <a:srgbClr val="FFFFFF">
                <a:alpha val="100000"/>
              </a:srgbClr>
            </a:solidFill>
            <a:ln w="25400" cap="flat" cmpd="sng">
              <a:noFill/>
              <a:prstDash val="solid"/>
              <a:round/>
            </a:ln>
            <a:effectLst>
              <a:outerShdw blurRad="76200" dist="38100" dir="5400000" algn="tl" rotWithShape="0">
                <a:srgbClr val="000000">
                  <a:alpha val="10000"/>
                </a:srgbClr>
              </a:outerShdw>
            </a:effectLst>
          </p:spPr>
          <p:txBody>
            <a:bodyPr vert="horz"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2" name="AutoShape 26"/>
            <p:cNvSpPr/>
            <p:nvPr/>
          </p:nvSpPr>
          <p:spPr>
            <a:xfrm>
              <a:off x="14537" y="3570"/>
              <a:ext cx="4017" cy="640"/>
            </a:xfrm>
            <a:prstGeom prst="roundRect">
              <a:avLst>
                <a:gd name="adj" fmla="val 18750"/>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25000"/>
                </a:lnSpc>
                <a:defRPr/>
              </a:pPr>
              <a:r>
                <a:rPr 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④ </a:t>
              </a:r>
              <a:r>
                <a:rPr lang="zh-CN" altLang="en-US"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补全维护</a:t>
              </a:r>
              <a:r>
                <a:rPr lang="en-US" altLang="zh-CN"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人工补全</a:t>
              </a:r>
              <a:r>
                <a:rPr lang="en-US" altLang="zh-CN"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altLang="zh-CN"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7" name="AutoShape 11"/>
            <p:cNvSpPr/>
            <p:nvPr/>
          </p:nvSpPr>
          <p:spPr>
            <a:xfrm>
              <a:off x="958" y="4390"/>
              <a:ext cx="1480" cy="400"/>
            </a:xfrm>
            <a:prstGeom prst="rect">
              <a:avLst/>
            </a:prstGeom>
          </p:spPr>
          <p:style>
            <a:lnRef idx="0">
              <a:srgbClr val="FFFFFF"/>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lnSpc>
                  <a:spcPct val="125000"/>
                </a:lnSpc>
                <a:buSzTx/>
                <a:defRPr/>
              </a:pPr>
              <a:r>
                <a:rPr lang="zh-CN" alt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管理</a:t>
              </a:r>
              <a:r>
                <a:rPr 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a:t>
              </a:r>
              <a:endParaRPr 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68" name="AutoShape 12"/>
            <p:cNvSpPr/>
            <p:nvPr/>
          </p:nvSpPr>
          <p:spPr>
            <a:xfrm>
              <a:off x="958" y="4850"/>
              <a:ext cx="4081" cy="218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主管部门</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信贷管理部</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适用部门</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公司金融部、授信管理部、风险管理部、法律合规部、贷后管理部</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适用岗位</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客户经理、授信审查岗、审批岗、贷后管理岗、合规岗</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版本号</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：v2（2024 </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修订版）</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生效时间</a:t>
              </a:r>
              <a:r>
                <a:rPr lang="en-US" altLang="zh-CN" sz="120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2024 年 7 月 1 日</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文档状态</a:t>
              </a:r>
              <a:r>
                <a:rPr lang="en-US" altLang="zh-CN" sz="120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已生效</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安全密级</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内部</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0" name="AutoShape 17"/>
            <p:cNvSpPr/>
            <p:nvPr/>
          </p:nvSpPr>
          <p:spPr>
            <a:xfrm>
              <a:off x="5627" y="4390"/>
              <a:ext cx="1480" cy="4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1" name="AutoShape 18"/>
            <p:cNvSpPr/>
            <p:nvPr/>
          </p:nvSpPr>
          <p:spPr>
            <a:xfrm>
              <a:off x="5627" y="4390"/>
              <a:ext cx="1480" cy="400"/>
            </a:xfrm>
            <a:prstGeom prst="rect">
              <a:avLst/>
            </a:prstGeom>
          </p:spPr>
          <p:style>
            <a:lnRef idx="0">
              <a:srgbClr val="FFFFFF"/>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lnSpc>
                  <a:spcPct val="125000"/>
                </a:lnSpc>
                <a:buSzTx/>
                <a:defRPr/>
              </a:pPr>
              <a:r>
                <a:rPr lang="zh-CN" alt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a:t>
              </a:r>
              <a:r>
                <a:rPr 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a:t>
              </a:r>
              <a:endParaRPr 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2" name="AutoShape 19"/>
            <p:cNvSpPr/>
            <p:nvPr/>
          </p:nvSpPr>
          <p:spPr>
            <a:xfrm>
              <a:off x="5627" y="4842"/>
              <a:ext cx="4017" cy="2019"/>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业务领域</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公司金融</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知识主题：固定资产贷款管理</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知识类型</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监管制度</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业务对象：项目融资、借款人、项目发起人、抵质押物</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业务活动：受理与调查，授信审查</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发放与支付</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项目融资管理</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业务场景</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固定资产带宽管理</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8" name="AutoShape 28"/>
            <p:cNvSpPr/>
            <p:nvPr/>
          </p:nvSpPr>
          <p:spPr>
            <a:xfrm>
              <a:off x="10157" y="4390"/>
              <a:ext cx="1480" cy="400"/>
            </a:xfrm>
            <a:prstGeom prst="rect">
              <a:avLst/>
            </a:prstGeom>
          </p:spPr>
          <p:style>
            <a:lnRef idx="0">
              <a:srgbClr val="FFFFFF"/>
            </a:lnRef>
            <a:fillRef idx="1">
              <a:schemeClr val="accent1"/>
            </a:fillRef>
            <a:effectRef idx="1">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lvl="0" algn="ctr">
                <a:lnSpc>
                  <a:spcPct val="125000"/>
                </a:lnSpc>
                <a:buSzTx/>
                <a:defRPr/>
              </a:pPr>
              <a:r>
                <a:rPr lang="zh-CN" alt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技术</a:t>
              </a:r>
              <a:r>
                <a:rPr 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a:t>
              </a:r>
              <a:endParaRPr lang="en-US" sz="1200">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9" name="AutoShape 29"/>
            <p:cNvSpPr/>
            <p:nvPr/>
          </p:nvSpPr>
          <p:spPr>
            <a:xfrm>
              <a:off x="10157" y="4890"/>
              <a:ext cx="4017" cy="251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知识来源</a:t>
              </a:r>
              <a:r>
                <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一线知识云</a:t>
              </a:r>
              <a:endPar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创建时间</a:t>
              </a:r>
              <a:r>
                <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：2024/01/30</a:t>
              </a:r>
              <a:endPar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文件格式</a:t>
              </a:r>
              <a:r>
                <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：DOCX</a:t>
              </a:r>
              <a:endPar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文件大小</a:t>
              </a:r>
              <a:r>
                <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：64KB</a:t>
              </a:r>
              <a:endPar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总页数</a:t>
              </a:r>
              <a:r>
                <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：10</a:t>
              </a: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页</a:t>
              </a:r>
              <a:endPar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8000"/>
                </a:lnSpc>
                <a:defRPr/>
              </a:pP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字符数</a:t>
              </a:r>
              <a:r>
                <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：12,000 </a:t>
              </a:r>
              <a:r>
                <a:rPr lang="zh-CN" alt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字</a:t>
              </a:r>
              <a:endParaRPr lang="en-US" altLang="zh-CN"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5" name="AutoShape 38"/>
            <p:cNvSpPr/>
            <p:nvPr/>
          </p:nvSpPr>
          <p:spPr>
            <a:xfrm>
              <a:off x="14632" y="4390"/>
              <a:ext cx="1480" cy="400"/>
            </a:xfrm>
            <a:prstGeom prst="rect">
              <a:avLst/>
            </a:prstGeom>
          </p:spPr>
          <p:style>
            <a:lnRef idx="0">
              <a:srgbClr val="FFFFFF"/>
            </a:lnRef>
            <a:fillRef idx="1">
              <a:schemeClr val="accent1"/>
            </a:fillRef>
            <a:effectRef idx="1">
              <a:schemeClr val="accent1"/>
            </a:effectRef>
            <a:fontRef idx="minor">
              <a:schemeClr val="lt1"/>
            </a:fontRef>
          </p:style>
          <p:txBody>
            <a:bodyPr vert="horz" wrap="square" lIns="0" tIns="0" rIns="0" bIns="0" rtlCol="0" anchor="ctr" anchorCtr="0"/>
            <a:lstStyle/>
            <a:p>
              <a:pPr marL="0" indent="0" algn="ctr">
                <a:lnSpc>
                  <a:spcPct val="125000"/>
                </a:lnSpc>
                <a:defRPr/>
              </a:pPr>
              <a:r>
                <a:rPr lang="zh-CN" altLang="en-US" sz="1200" b="0"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业务元数据</a:t>
              </a:r>
              <a:endParaRPr lang="zh-CN" altLang="en-US" sz="1200" b="0"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86" name="AutoShape 39"/>
            <p:cNvSpPr/>
            <p:nvPr/>
          </p:nvSpPr>
          <p:spPr>
            <a:xfrm>
              <a:off x="14632" y="4890"/>
              <a:ext cx="4017" cy="9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通过人工填报与审核环节补充</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业务元数据</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重点完善业务领域</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 、</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知识主题</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知识类型等</a:t>
              </a:r>
              <a:r>
                <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87" name="AutoShape 40"/>
            <p:cNvSpPr/>
            <p:nvPr/>
          </p:nvSpPr>
          <p:spPr>
            <a:xfrm>
              <a:off x="14632" y="6130"/>
              <a:ext cx="1480" cy="400"/>
            </a:xfrm>
            <a:prstGeom prst="roundRect">
              <a:avLst>
                <a:gd name="adj" fmla="val 0"/>
              </a:avLst>
            </a:prstGeom>
            <a:solidFill>
              <a:srgbClr val="005A9C">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8" name="AutoShape 41"/>
            <p:cNvSpPr/>
            <p:nvPr/>
          </p:nvSpPr>
          <p:spPr>
            <a:xfrm>
              <a:off x="14632" y="6130"/>
              <a:ext cx="1480" cy="400"/>
            </a:xfrm>
            <a:prstGeom prst="rect">
              <a:avLst/>
            </a:prstGeom>
          </p:spPr>
          <p:style>
            <a:lnRef idx="0">
              <a:srgbClr val="FFFFFF"/>
            </a:lnRef>
            <a:fillRef idx="1">
              <a:schemeClr val="accent1"/>
            </a:fillRef>
            <a:effectRef idx="1">
              <a:schemeClr val="accent1"/>
            </a:effectRef>
            <a:fontRef idx="minor">
              <a:schemeClr val="lt1"/>
            </a:fontRef>
          </p:style>
          <p:txBody>
            <a:bodyPr vert="horz" wrap="square" lIns="0" tIns="0" rIns="0" bIns="0" rtlCol="0" anchor="ctr" anchorCtr="0"/>
            <a:lstStyle/>
            <a:p>
              <a:pPr marL="0" indent="0" algn="ctr">
                <a:lnSpc>
                  <a:spcPct val="125000"/>
                </a:lnSpc>
                <a:defRPr/>
              </a:pPr>
              <a:r>
                <a:rPr lang="zh-CN" altLang="en-US" sz="1200" b="0"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管理元数据</a:t>
              </a:r>
              <a:endParaRPr lang="zh-CN" altLang="en-US" sz="1200" b="0"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89" name="AutoShape 42"/>
            <p:cNvSpPr/>
            <p:nvPr/>
          </p:nvSpPr>
          <p:spPr>
            <a:xfrm>
              <a:off x="14632" y="6630"/>
              <a:ext cx="4017" cy="9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通过人工填报与审核环节补充</a:t>
              </a:r>
              <a:r>
                <a:rPr lang="zh-CN" altLang="en-US" sz="1200">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管理</a:t>
              </a:r>
              <a:r>
                <a:rPr lang="zh-CN" altLang="en-US" sz="1200">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a:t>
              </a:r>
              <a:r>
                <a:rPr lang="en-US" altLang="zh-CN"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重点完善安全密级、访问权限范围等</a:t>
              </a:r>
              <a:endParaRPr lang="zh-CN" alt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 name="AutoShape 7"/>
            <p:cNvSpPr/>
            <p:nvPr/>
          </p:nvSpPr>
          <p:spPr>
            <a:xfrm>
              <a:off x="918" y="9501"/>
              <a:ext cx="17636" cy="720"/>
            </a:xfrm>
            <a:prstGeom prst="roundRect">
              <a:avLst>
                <a:gd name="adj" fmla="val 22222"/>
              </a:avLst>
            </a:prstGeom>
          </p:spPr>
          <p:style>
            <a:lnRef idx="0">
              <a:srgbClr val="FFFFFF"/>
            </a:lnRef>
            <a:fillRef idx="1">
              <a:schemeClr val="accent1"/>
            </a:fillRef>
            <a:effectRef idx="0">
              <a:srgbClr val="FFFFFF"/>
            </a:effectRef>
            <a:fontRef idx="minor">
              <a:schemeClr val="lt1"/>
            </a:fontRef>
          </p:style>
          <p:txBody>
            <a:bodyPr vert="horz" wrap="square" lIns="0" tIns="0" rIns="0" bIns="0" rtlCol="0" anchor="ctr" anchorCtr="0"/>
            <a:lstStyle/>
            <a:p>
              <a:pPr marL="0" indent="0" algn="ctr">
                <a:lnSpc>
                  <a:spcPct val="125000"/>
                </a:lnSpc>
                <a:defRPr/>
              </a:pPr>
              <a:r>
                <a:rPr lang="zh-CN" alt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元数据统一汇聚整合</a:t>
              </a:r>
              <a:endParaRPr lang="zh-CN" alt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6" name="AutoShape 9"/>
            <p:cNvSpPr/>
            <p:nvPr/>
          </p:nvSpPr>
          <p:spPr>
            <a:xfrm rot="10800000">
              <a:off x="2620" y="9090"/>
              <a:ext cx="320" cy="240"/>
            </a:xfrm>
            <a:prstGeom prst="triangl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 name="AutoShape 9"/>
            <p:cNvSpPr/>
            <p:nvPr/>
          </p:nvSpPr>
          <p:spPr>
            <a:xfrm rot="10800000">
              <a:off x="7237" y="9090"/>
              <a:ext cx="320" cy="240"/>
            </a:xfrm>
            <a:prstGeom prst="triangl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 name="AutoShape 9"/>
            <p:cNvSpPr/>
            <p:nvPr/>
          </p:nvSpPr>
          <p:spPr>
            <a:xfrm rot="10800000">
              <a:off x="11877" y="9090"/>
              <a:ext cx="320" cy="240"/>
            </a:xfrm>
            <a:prstGeom prst="triangl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 name="AutoShape 9"/>
            <p:cNvSpPr/>
            <p:nvPr/>
          </p:nvSpPr>
          <p:spPr>
            <a:xfrm rot="10800000">
              <a:off x="16372" y="9090"/>
              <a:ext cx="320" cy="240"/>
            </a:xfrm>
            <a:prstGeom prst="triangl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grpSp>
      <p:sp>
        <p:nvSpPr>
          <p:cNvPr id="10" name="文本框 9"/>
          <p:cNvSpPr txBox="1"/>
          <p:nvPr/>
        </p:nvSpPr>
        <p:spPr>
          <a:xfrm>
            <a:off x="410845" y="1867535"/>
            <a:ext cx="5074285" cy="306705"/>
          </a:xfrm>
          <a:prstGeom prst="rect">
            <a:avLst/>
          </a:prstGeom>
          <a:noFill/>
        </p:spPr>
        <p:txBody>
          <a:bodyPr wrap="square" rtlCol="0" anchor="t">
            <a:spAutoFit/>
          </a:bodyPr>
          <a:lstStyle/>
          <a:p>
            <a:pPr indent="0" algn="just" fontAlgn="auto">
              <a:lnSpc>
                <a:spcPct val="100000"/>
              </a:lnSpc>
              <a:spcBef>
                <a:spcPts val="0"/>
              </a:spcBef>
              <a:spcAft>
                <a:spcPts val="0"/>
              </a:spcAft>
              <a:buClr>
                <a:srgbClr val="FF0000"/>
              </a:buClr>
              <a:buSzTx/>
              <a:buFont typeface="Wingdings" panose="05000000000000000000" charset="0"/>
              <a:defRPr/>
            </a:pPr>
            <a:r>
              <a:rPr lang="zh-CN" altLang="en-US" sz="1400" b="1" noProof="0" dirty="0">
                <a:ln>
                  <a:noFill/>
                </a:ln>
                <a:solidFill>
                  <a:prstClr val="black"/>
                </a:solidFill>
                <a:effectLst/>
                <a:uLnTx/>
                <a:uFillTx/>
                <a:latin typeface="微软雅黑" panose="020B0503020204020204" charset="-122"/>
                <a:ea typeface="微软雅黑" panose="020B0503020204020204" charset="-122"/>
                <a:sym typeface="+mn-ea"/>
              </a:rPr>
              <a:t>以固定资产贷款管理办法为例说明</a:t>
            </a:r>
            <a:r>
              <a:rPr lang="en-US" altLang="zh-CN" sz="1400" b="1" noProof="0" dirty="0">
                <a:ln>
                  <a:noFill/>
                </a:ln>
                <a:solidFill>
                  <a:prstClr val="black"/>
                </a:solidFill>
                <a:effectLst/>
                <a:uLnTx/>
                <a:uFillTx/>
                <a:latin typeface="微软雅黑" panose="020B0503020204020204" charset="-122"/>
                <a:ea typeface="微软雅黑" panose="020B0503020204020204" charset="-122"/>
                <a:sym typeface="+mn-ea"/>
              </a:rPr>
              <a:t>：</a:t>
            </a:r>
            <a:endParaRPr lang="en-US" altLang="zh-CN" sz="1400" b="1"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8" name="矩形 7"/>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33" name="矩形 32"/>
          <p:cNvSpPr/>
          <p:nvPr/>
        </p:nvSpPr>
        <p:spPr>
          <a:xfrm>
            <a:off x="9668510" y="21590"/>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5" name="矩形 34"/>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2.2.2 知识汇聚--</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元数据</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校验注册</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对汇聚后的元数据执行标准化的校验、注册与授权流程，</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从源头确保元数据的质量合规性，同时通过精细化的权限管控体系，保障企业知识资产的访问安全与管理规范。</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3" name="Shape 5"/>
          <p:cNvSpPr/>
          <p:nvPr>
            <p:custDataLst>
              <p:tags r:id="rId1"/>
            </p:custDataLst>
          </p:nvPr>
        </p:nvSpPr>
        <p:spPr>
          <a:xfrm>
            <a:off x="381000" y="2112645"/>
            <a:ext cx="3619500" cy="4191000"/>
          </a:xfrm>
          <a:prstGeom prst="roundRect">
            <a:avLst>
              <a:gd name="adj" fmla="val 3000"/>
            </a:avLst>
          </a:prstGeom>
          <a:solidFill>
            <a:srgbClr val="EFF6FF"/>
          </a:solidFill>
          <a:ln w="12700">
            <a:solidFill>
              <a:srgbClr val="93C5FD"/>
            </a:solidFill>
            <a:prstDash val="solid"/>
          </a:ln>
        </p:spPr>
      </p:sp>
      <p:sp>
        <p:nvSpPr>
          <p:cNvPr id="4" name="Shape 6"/>
          <p:cNvSpPr/>
          <p:nvPr>
            <p:custDataLst>
              <p:tags r:id="rId2"/>
            </p:custDataLst>
          </p:nvPr>
        </p:nvSpPr>
        <p:spPr>
          <a:xfrm>
            <a:off x="381000" y="2112645"/>
            <a:ext cx="361950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sp>
      <p:sp>
        <p:nvSpPr>
          <p:cNvPr id="5" name="Shape 7"/>
          <p:cNvSpPr/>
          <p:nvPr>
            <p:custDataLst>
              <p:tags r:id="rId3"/>
            </p:custDataLst>
          </p:nvPr>
        </p:nvSpPr>
        <p:spPr>
          <a:xfrm>
            <a:off x="533400" y="2169795"/>
            <a:ext cx="266700" cy="266700"/>
          </a:xfrm>
          <a:custGeom>
            <a:avLst/>
            <a:gdLst/>
            <a:ahLst/>
            <a:cxnLst/>
            <a:rect l="l" t="t" r="r" b="b"/>
            <a:pathLst>
              <a:path w="355600" h="355600">
                <a:moveTo>
                  <a:pt x="288369" y="22225"/>
                </a:moveTo>
                <a:lnTo>
                  <a:pt x="296333" y="22225"/>
                </a:lnTo>
                <a:cubicBezTo>
                  <a:pt x="329023" y="22225"/>
                  <a:pt x="355600" y="42158"/>
                  <a:pt x="355600" y="66675"/>
                </a:cubicBezTo>
                <a:lnTo>
                  <a:pt x="355600" y="311150"/>
                </a:lnTo>
                <a:cubicBezTo>
                  <a:pt x="355600" y="335667"/>
                  <a:pt x="329023" y="355600"/>
                  <a:pt x="296333" y="355600"/>
                </a:cubicBezTo>
                <a:lnTo>
                  <a:pt x="59267" y="355600"/>
                </a:lnTo>
                <a:cubicBezTo>
                  <a:pt x="26577" y="355600"/>
                  <a:pt x="0" y="335667"/>
                  <a:pt x="0" y="311150"/>
                </a:cubicBezTo>
                <a:lnTo>
                  <a:pt x="0" y="66675"/>
                </a:lnTo>
                <a:cubicBezTo>
                  <a:pt x="0" y="42158"/>
                  <a:pt x="26577" y="22225"/>
                  <a:pt x="59267" y="22225"/>
                </a:cubicBezTo>
                <a:lnTo>
                  <a:pt x="67231" y="22225"/>
                </a:lnTo>
                <a:cubicBezTo>
                  <a:pt x="77417" y="8959"/>
                  <a:pt x="96586" y="0"/>
                  <a:pt x="118533" y="0"/>
                </a:cubicBezTo>
                <a:lnTo>
                  <a:pt x="237067" y="0"/>
                </a:lnTo>
                <a:cubicBezTo>
                  <a:pt x="259014" y="0"/>
                  <a:pt x="278183" y="8959"/>
                  <a:pt x="288369" y="22225"/>
                </a:cubicBezTo>
                <a:close/>
                <a:moveTo>
                  <a:pt x="229658" y="77788"/>
                </a:moveTo>
                <a:cubicBezTo>
                  <a:pt x="241975" y="77788"/>
                  <a:pt x="251883" y="70356"/>
                  <a:pt x="251883" y="61119"/>
                </a:cubicBezTo>
                <a:cubicBezTo>
                  <a:pt x="251883" y="51881"/>
                  <a:pt x="241975" y="44450"/>
                  <a:pt x="229658" y="44450"/>
                </a:cubicBezTo>
                <a:lnTo>
                  <a:pt x="125942" y="44450"/>
                </a:lnTo>
                <a:cubicBezTo>
                  <a:pt x="113625" y="44450"/>
                  <a:pt x="103717" y="51881"/>
                  <a:pt x="103717" y="61119"/>
                </a:cubicBezTo>
                <a:cubicBezTo>
                  <a:pt x="103717" y="70356"/>
                  <a:pt x="113625" y="77788"/>
                  <a:pt x="125942" y="77788"/>
                </a:cubicBezTo>
                <a:lnTo>
                  <a:pt x="229658" y="77788"/>
                </a:lnTo>
                <a:close/>
                <a:moveTo>
                  <a:pt x="255958" y="181064"/>
                </a:moveTo>
                <a:cubicBezTo>
                  <a:pt x="262440" y="173286"/>
                  <a:pt x="259292" y="163006"/>
                  <a:pt x="248920" y="158075"/>
                </a:cubicBezTo>
                <a:cubicBezTo>
                  <a:pt x="238548" y="153144"/>
                  <a:pt x="224843" y="155575"/>
                  <a:pt x="218268" y="163354"/>
                </a:cubicBezTo>
                <a:lnTo>
                  <a:pt x="161409" y="231626"/>
                </a:lnTo>
                <a:lnTo>
                  <a:pt x="136406" y="206623"/>
                </a:lnTo>
                <a:cubicBezTo>
                  <a:pt x="128998" y="199261"/>
                  <a:pt x="115107" y="197733"/>
                  <a:pt x="105291" y="203289"/>
                </a:cubicBezTo>
                <a:cubicBezTo>
                  <a:pt x="95475" y="208846"/>
                  <a:pt x="93438" y="219264"/>
                  <a:pt x="100846" y="226626"/>
                </a:cubicBezTo>
                <a:lnTo>
                  <a:pt x="145296" y="271076"/>
                </a:lnTo>
                <a:cubicBezTo>
                  <a:pt x="149648" y="275451"/>
                  <a:pt x="156686" y="277951"/>
                  <a:pt x="164002" y="277743"/>
                </a:cubicBezTo>
                <a:cubicBezTo>
                  <a:pt x="171318" y="277535"/>
                  <a:pt x="177985" y="274618"/>
                  <a:pt x="181875" y="269895"/>
                </a:cubicBezTo>
                <a:lnTo>
                  <a:pt x="255958" y="180995"/>
                </a:lnTo>
                <a:close/>
              </a:path>
            </a:pathLst>
          </a:custGeom>
          <a:solidFill>
            <a:srgbClr val="FFFFFF"/>
          </a:solidFill>
        </p:spPr>
      </p:sp>
      <p:sp>
        <p:nvSpPr>
          <p:cNvPr id="6" name="Text 8"/>
          <p:cNvSpPr/>
          <p:nvPr>
            <p:custDataLst>
              <p:tags r:id="rId4"/>
            </p:custDataLst>
          </p:nvPr>
        </p:nvSpPr>
        <p:spPr>
          <a:xfrm>
            <a:off x="876300" y="2169795"/>
            <a:ext cx="2971800" cy="266700"/>
          </a:xfrm>
          <a:prstGeom prst="rect">
            <a:avLst/>
          </a:prstGeom>
          <a:noFill/>
        </p:spPr>
        <p:txBody>
          <a:bodyPr wrap="none" lIns="0" tIns="0" rIns="0" bIns="0" rtlCol="0" anchor="ctr"/>
          <a:lstStyle/>
          <a:p>
            <a:pPr algn="l">
              <a:lnSpc>
                <a:spcPct val="120000"/>
              </a:lnSpc>
            </a:pPr>
            <a:r>
              <a:rPr lang="en-US" sz="1600" b="1" dirty="0">
                <a:solidFill>
                  <a:srgbClr val="FFFFFF"/>
                </a:solidFill>
                <a:latin typeface="微软雅黑" panose="020B0503020204020204" charset="-122"/>
                <a:ea typeface="微软雅黑" panose="020B0503020204020204" charset="-122"/>
                <a:cs typeface="MiSans" pitchFamily="34" charset="-120"/>
              </a:rPr>
              <a:t>元数据校验</a:t>
            </a:r>
            <a:endParaRPr lang="en-US" sz="1600" b="1" dirty="0">
              <a:solidFill>
                <a:srgbClr val="FFFFFF"/>
              </a:solidFill>
              <a:latin typeface="微软雅黑" panose="020B0503020204020204" charset="-122"/>
              <a:ea typeface="微软雅黑" panose="020B0503020204020204" charset="-122"/>
              <a:cs typeface="MiSans" pitchFamily="34" charset="-120"/>
            </a:endParaRPr>
          </a:p>
        </p:txBody>
      </p:sp>
      <p:sp>
        <p:nvSpPr>
          <p:cNvPr id="22" name="Text 9"/>
          <p:cNvSpPr/>
          <p:nvPr>
            <p:custDataLst>
              <p:tags r:id="rId5"/>
            </p:custDataLst>
          </p:nvPr>
        </p:nvSpPr>
        <p:spPr>
          <a:xfrm>
            <a:off x="533400" y="2626995"/>
            <a:ext cx="3314700" cy="3562350"/>
          </a:xfrm>
          <a:prstGeom prst="rect">
            <a:avLst/>
          </a:prstGeom>
          <a:noFill/>
        </p:spPr>
        <p:txBody>
          <a:bodyPr wrap="square" lIns="0" tIns="0" rIns="0" bIns="0" rtlCol="0" anchor="t"/>
          <a:lstStyle/>
          <a:p>
            <a:pPr algn="l">
              <a:lnSpc>
                <a:spcPct val="160000"/>
              </a:lnSpc>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完整性校验</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检查必填字段是否齐全：</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业务领域</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知识类型</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文档格式/存储路径/来源</a:t>
            </a:r>
            <a:endParaRPr lang="en-US" sz="1400" dirty="0">
              <a:solidFill>
                <a:srgbClr val="1E293B"/>
              </a:solidFill>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400" dirty="0">
                <a:solidFill>
                  <a:srgbClr val="1E293B"/>
                </a:solidFill>
                <a:latin typeface="微软雅黑" panose="020B0503020204020204" charset="-122"/>
                <a:ea typeface="微软雅黑" panose="020B0503020204020204" charset="-122"/>
                <a:cs typeface="微软雅黑" panose="020B0503020204020204" charset="-122"/>
                <a:sym typeface="+mn-ea"/>
              </a:rPr>
              <a:t>……</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规范性校验</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枚举值是否在标准字典内</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格式是否符合编码规则</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pPr>
            <a:endParaRPr lang="en-US" sz="1400" dirty="0">
              <a:latin typeface="微软雅黑" panose="020B0503020204020204" charset="-122"/>
              <a:ea typeface="微软雅黑" panose="020B0503020204020204" charset="-122"/>
              <a:cs typeface="微软雅黑" panose="020B0503020204020204" charset="-122"/>
            </a:endParaRPr>
          </a:p>
        </p:txBody>
      </p:sp>
      <p:sp>
        <p:nvSpPr>
          <p:cNvPr id="23" name="Shape 10"/>
          <p:cNvSpPr/>
          <p:nvPr>
            <p:custDataLst>
              <p:tags r:id="rId6"/>
            </p:custDataLst>
          </p:nvPr>
        </p:nvSpPr>
        <p:spPr>
          <a:xfrm>
            <a:off x="4286250" y="2112645"/>
            <a:ext cx="3619500" cy="4191000"/>
          </a:xfrm>
          <a:prstGeom prst="roundRect">
            <a:avLst>
              <a:gd name="adj" fmla="val 3000"/>
            </a:avLst>
          </a:prstGeom>
          <a:solidFill>
            <a:srgbClr val="EFF6FF"/>
          </a:solidFill>
          <a:ln w="12700">
            <a:solidFill>
              <a:srgbClr val="93C5FD"/>
            </a:solidFill>
            <a:prstDash val="solid"/>
          </a:ln>
        </p:spPr>
      </p:sp>
      <p:sp>
        <p:nvSpPr>
          <p:cNvPr id="24" name="Shape 11"/>
          <p:cNvSpPr/>
          <p:nvPr>
            <p:custDataLst>
              <p:tags r:id="rId7"/>
            </p:custDataLst>
          </p:nvPr>
        </p:nvSpPr>
        <p:spPr>
          <a:xfrm>
            <a:off x="4286250" y="2112645"/>
            <a:ext cx="361950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sp>
      <p:sp>
        <p:nvSpPr>
          <p:cNvPr id="25" name="Shape 12"/>
          <p:cNvSpPr/>
          <p:nvPr>
            <p:custDataLst>
              <p:tags r:id="rId8"/>
            </p:custDataLst>
          </p:nvPr>
        </p:nvSpPr>
        <p:spPr>
          <a:xfrm>
            <a:off x="4438650" y="2169795"/>
            <a:ext cx="266700" cy="266700"/>
          </a:xfrm>
          <a:custGeom>
            <a:avLst/>
            <a:gdLst/>
            <a:ahLst/>
            <a:cxnLst/>
            <a:rect l="l" t="t" r="r" b="b"/>
            <a:pathLst>
              <a:path w="355600" h="355600">
                <a:moveTo>
                  <a:pt x="355600" y="142935"/>
                </a:moveTo>
                <a:cubicBezTo>
                  <a:pt x="343853" y="149741"/>
                  <a:pt x="330359" y="155228"/>
                  <a:pt x="316309" y="159603"/>
                </a:cubicBezTo>
                <a:cubicBezTo>
                  <a:pt x="279003" y="171271"/>
                  <a:pt x="230029" y="177800"/>
                  <a:pt x="177800" y="177800"/>
                </a:cubicBezTo>
                <a:cubicBezTo>
                  <a:pt x="125571" y="177800"/>
                  <a:pt x="76518" y="171202"/>
                  <a:pt x="39291" y="159603"/>
                </a:cubicBezTo>
                <a:cubicBezTo>
                  <a:pt x="25321" y="155228"/>
                  <a:pt x="11747" y="149741"/>
                  <a:pt x="0" y="142935"/>
                </a:cubicBezTo>
                <a:lnTo>
                  <a:pt x="0" y="200025"/>
                </a:lnTo>
                <a:cubicBezTo>
                  <a:pt x="0" y="230723"/>
                  <a:pt x="79613" y="255587"/>
                  <a:pt x="177800" y="255587"/>
                </a:cubicBezTo>
                <a:cubicBezTo>
                  <a:pt x="275987" y="255587"/>
                  <a:pt x="355600" y="230723"/>
                  <a:pt x="355600" y="200025"/>
                </a:cubicBezTo>
                <a:lnTo>
                  <a:pt x="355600" y="142935"/>
                </a:lnTo>
                <a:close/>
                <a:moveTo>
                  <a:pt x="355600" y="88900"/>
                </a:moveTo>
                <a:lnTo>
                  <a:pt x="355600" y="55563"/>
                </a:lnTo>
                <a:cubicBezTo>
                  <a:pt x="355600" y="24864"/>
                  <a:pt x="275987" y="0"/>
                  <a:pt x="177800" y="0"/>
                </a:cubicBezTo>
                <a:cubicBezTo>
                  <a:pt x="79613" y="0"/>
                  <a:pt x="0" y="24864"/>
                  <a:pt x="0" y="55563"/>
                </a:cubicBezTo>
                <a:lnTo>
                  <a:pt x="0" y="88900"/>
                </a:lnTo>
                <a:cubicBezTo>
                  <a:pt x="0" y="119598"/>
                  <a:pt x="79613" y="144463"/>
                  <a:pt x="177800" y="144463"/>
                </a:cubicBezTo>
                <a:cubicBezTo>
                  <a:pt x="275987" y="144463"/>
                  <a:pt x="355600" y="119598"/>
                  <a:pt x="355600" y="88900"/>
                </a:cubicBezTo>
                <a:close/>
                <a:moveTo>
                  <a:pt x="316309" y="270728"/>
                </a:moveTo>
                <a:cubicBezTo>
                  <a:pt x="279083" y="282327"/>
                  <a:pt x="230108" y="288925"/>
                  <a:pt x="177800" y="288925"/>
                </a:cubicBezTo>
                <a:cubicBezTo>
                  <a:pt x="125492" y="288925"/>
                  <a:pt x="76518" y="282327"/>
                  <a:pt x="39291" y="270728"/>
                </a:cubicBezTo>
                <a:cubicBezTo>
                  <a:pt x="25321" y="266353"/>
                  <a:pt x="11747" y="260866"/>
                  <a:pt x="0" y="254060"/>
                </a:cubicBezTo>
                <a:lnTo>
                  <a:pt x="0" y="300038"/>
                </a:lnTo>
                <a:cubicBezTo>
                  <a:pt x="0" y="330736"/>
                  <a:pt x="79613" y="355600"/>
                  <a:pt x="177800" y="355600"/>
                </a:cubicBezTo>
                <a:cubicBezTo>
                  <a:pt x="275987" y="355600"/>
                  <a:pt x="355600" y="330736"/>
                  <a:pt x="355600" y="300038"/>
                </a:cubicBezTo>
                <a:lnTo>
                  <a:pt x="355600" y="254060"/>
                </a:lnTo>
                <a:cubicBezTo>
                  <a:pt x="343853" y="260866"/>
                  <a:pt x="330359" y="266353"/>
                  <a:pt x="316309" y="270728"/>
                </a:cubicBezTo>
                <a:close/>
              </a:path>
            </a:pathLst>
          </a:custGeom>
          <a:solidFill>
            <a:srgbClr val="FFFFFF"/>
          </a:solidFill>
        </p:spPr>
      </p:sp>
      <p:sp>
        <p:nvSpPr>
          <p:cNvPr id="26" name="Text 13"/>
          <p:cNvSpPr/>
          <p:nvPr>
            <p:custDataLst>
              <p:tags r:id="rId9"/>
            </p:custDataLst>
          </p:nvPr>
        </p:nvSpPr>
        <p:spPr>
          <a:xfrm>
            <a:off x="4781550" y="2169795"/>
            <a:ext cx="2971800" cy="266700"/>
          </a:xfrm>
          <a:prstGeom prst="rect">
            <a:avLst/>
          </a:prstGeom>
          <a:noFill/>
        </p:spPr>
        <p:txBody>
          <a:bodyPr wrap="none" lIns="0" tIns="0" rIns="0" bIns="0" rtlCol="0" anchor="ctr"/>
          <a:lstStyle/>
          <a:p>
            <a:pPr algn="l">
              <a:lnSpc>
                <a:spcPct val="120000"/>
              </a:lnSpc>
            </a:pPr>
            <a:r>
              <a:rPr lang="en-US" sz="1600" b="1" dirty="0">
                <a:solidFill>
                  <a:srgbClr val="FFFFFF"/>
                </a:solidFill>
                <a:latin typeface="微软雅黑" panose="020B0503020204020204" charset="-122"/>
                <a:ea typeface="微软雅黑" panose="020B0503020204020204" charset="-122"/>
                <a:cs typeface="MiSans" pitchFamily="34" charset="-120"/>
              </a:rPr>
              <a:t>元数据注册</a:t>
            </a:r>
            <a:endParaRPr lang="en-US" sz="1600" b="1" dirty="0">
              <a:solidFill>
                <a:srgbClr val="FFFFFF"/>
              </a:solidFill>
              <a:latin typeface="微软雅黑" panose="020B0503020204020204" charset="-122"/>
              <a:ea typeface="微软雅黑" panose="020B0503020204020204" charset="-122"/>
              <a:cs typeface="MiSans" pitchFamily="34" charset="-120"/>
            </a:endParaRPr>
          </a:p>
        </p:txBody>
      </p:sp>
      <p:sp>
        <p:nvSpPr>
          <p:cNvPr id="27" name="Text 14"/>
          <p:cNvSpPr/>
          <p:nvPr>
            <p:custDataLst>
              <p:tags r:id="rId10"/>
            </p:custDataLst>
          </p:nvPr>
        </p:nvSpPr>
        <p:spPr>
          <a:xfrm>
            <a:off x="4438650" y="2626995"/>
            <a:ext cx="3314700" cy="3562350"/>
          </a:xfrm>
          <a:prstGeom prst="rect">
            <a:avLst/>
          </a:prstGeom>
          <a:noFill/>
        </p:spPr>
        <p:txBody>
          <a:bodyPr wrap="square" lIns="0" tIns="0" rIns="0" bIns="0" rtlCol="0" anchor="t"/>
          <a:lstStyle/>
          <a:p>
            <a:pPr algn="l">
              <a:lnSpc>
                <a:spcPct val="160000"/>
              </a:lnSpc>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校验通过后执行</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生成全局唯一知识ID，</a:t>
            </a:r>
            <a:r>
              <a:rPr lang="zh-CN" altLang="en-US" sz="1400" dirty="0">
                <a:latin typeface="微软雅黑" panose="020B0503020204020204" charset="-122"/>
                <a:ea typeface="微软雅黑" panose="020B0503020204020204" charset="-122"/>
                <a:cs typeface="微软雅黑" panose="020B0503020204020204" charset="-122"/>
              </a:rPr>
              <a:t>系统自动生成，类似</a:t>
            </a:r>
            <a:r>
              <a:rPr lang="en-US" altLang="zh-CN" sz="1400" dirty="0">
                <a:latin typeface="微软雅黑" panose="020B0503020204020204" charset="-122"/>
                <a:ea typeface="微软雅黑" panose="020B0503020204020204" charset="-122"/>
                <a:cs typeface="微软雅黑" panose="020B0503020204020204" charset="-122"/>
              </a:rPr>
              <a:t> DOC-20260712-XXXXXX，</a:t>
            </a:r>
            <a:r>
              <a:rPr lang="zh-CN" altLang="en-US" sz="1400" dirty="0">
                <a:latin typeface="微软雅黑" panose="020B0503020204020204" charset="-122"/>
                <a:ea typeface="微软雅黑" panose="020B0503020204020204" charset="-122"/>
                <a:cs typeface="微软雅黑" panose="020B0503020204020204" charset="-122"/>
              </a:rPr>
              <a:t>与文件名解偶</a:t>
            </a:r>
            <a:endParaRPr lang="en-US" altLang="zh-CN"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600"/>
              </a:spcBef>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元数据写入</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元数据正式写入元数据库</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600"/>
              </a:spcBef>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状态更新</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文档状态更新为"已入库"</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600"/>
              </a:spcBef>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目录挂载</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自动挂载到对应业务目录</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600"/>
              </a:spcBef>
            </a:pPr>
            <a:endParaRPr lang="en-US" sz="1400" dirty="0">
              <a:latin typeface="微软雅黑" panose="020B0503020204020204" charset="-122"/>
              <a:ea typeface="微软雅黑" panose="020B0503020204020204" charset="-122"/>
              <a:cs typeface="微软雅黑" panose="020B0503020204020204" charset="-122"/>
            </a:endParaRPr>
          </a:p>
        </p:txBody>
      </p:sp>
      <p:sp>
        <p:nvSpPr>
          <p:cNvPr id="28" name="Shape 15"/>
          <p:cNvSpPr/>
          <p:nvPr>
            <p:custDataLst>
              <p:tags r:id="rId11"/>
            </p:custDataLst>
          </p:nvPr>
        </p:nvSpPr>
        <p:spPr>
          <a:xfrm>
            <a:off x="8191500" y="2112645"/>
            <a:ext cx="3619500" cy="4191000"/>
          </a:xfrm>
          <a:prstGeom prst="roundRect">
            <a:avLst>
              <a:gd name="adj" fmla="val 3000"/>
            </a:avLst>
          </a:prstGeom>
          <a:solidFill>
            <a:srgbClr val="EFF6FF"/>
          </a:solidFill>
          <a:ln w="12700">
            <a:solidFill>
              <a:srgbClr val="93C5FD"/>
            </a:solidFill>
            <a:prstDash val="solid"/>
          </a:ln>
        </p:spPr>
        <p:txBody>
          <a:bodyPr/>
          <a:lstStyle/>
          <a:p>
            <a:endParaRPr lang="zh-CN" altLang="en-US">
              <a:latin typeface="微软雅黑" panose="020B0503020204020204" charset="-122"/>
              <a:ea typeface="微软雅黑" panose="020B0503020204020204" charset="-122"/>
            </a:endParaRPr>
          </a:p>
        </p:txBody>
      </p:sp>
      <p:sp>
        <p:nvSpPr>
          <p:cNvPr id="29" name="Shape 16"/>
          <p:cNvSpPr/>
          <p:nvPr>
            <p:custDataLst>
              <p:tags r:id="rId12"/>
            </p:custDataLst>
          </p:nvPr>
        </p:nvSpPr>
        <p:spPr>
          <a:xfrm>
            <a:off x="8191500" y="2112645"/>
            <a:ext cx="361950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sp>
      <p:sp>
        <p:nvSpPr>
          <p:cNvPr id="30" name="Shape 17"/>
          <p:cNvSpPr/>
          <p:nvPr>
            <p:custDataLst>
              <p:tags r:id="rId13"/>
            </p:custDataLst>
          </p:nvPr>
        </p:nvSpPr>
        <p:spPr>
          <a:xfrm>
            <a:off x="8343900" y="2169795"/>
            <a:ext cx="266700" cy="266700"/>
          </a:xfrm>
          <a:custGeom>
            <a:avLst/>
            <a:gdLst/>
            <a:ahLst/>
            <a:cxnLst/>
            <a:rect l="l" t="t" r="r" b="b"/>
            <a:pathLst>
              <a:path w="355600" h="355600">
                <a:moveTo>
                  <a:pt x="138289" y="172244"/>
                </a:moveTo>
                <a:cubicBezTo>
                  <a:pt x="179177" y="172244"/>
                  <a:pt x="212372" y="134899"/>
                  <a:pt x="212372" y="88900"/>
                </a:cubicBezTo>
                <a:cubicBezTo>
                  <a:pt x="212372" y="42901"/>
                  <a:pt x="179177" y="5556"/>
                  <a:pt x="138289" y="5556"/>
                </a:cubicBezTo>
                <a:cubicBezTo>
                  <a:pt x="97401" y="5556"/>
                  <a:pt x="64206" y="42901"/>
                  <a:pt x="64206" y="88900"/>
                </a:cubicBezTo>
                <a:cubicBezTo>
                  <a:pt x="64206" y="134899"/>
                  <a:pt x="97401" y="172244"/>
                  <a:pt x="138289" y="172244"/>
                </a:cubicBezTo>
                <a:close/>
                <a:moveTo>
                  <a:pt x="119953" y="211138"/>
                </a:moveTo>
                <a:cubicBezTo>
                  <a:pt x="59143" y="211138"/>
                  <a:pt x="9878" y="266561"/>
                  <a:pt x="9878" y="334972"/>
                </a:cubicBezTo>
                <a:cubicBezTo>
                  <a:pt x="9878" y="346363"/>
                  <a:pt x="18089" y="355600"/>
                  <a:pt x="28213" y="355600"/>
                </a:cubicBezTo>
                <a:lnTo>
                  <a:pt x="183480" y="355600"/>
                </a:lnTo>
                <a:cubicBezTo>
                  <a:pt x="161131" y="326013"/>
                  <a:pt x="148167" y="287883"/>
                  <a:pt x="148167" y="247531"/>
                </a:cubicBezTo>
                <a:lnTo>
                  <a:pt x="148167" y="225931"/>
                </a:lnTo>
                <a:cubicBezTo>
                  <a:pt x="148167" y="220861"/>
                  <a:pt x="148784" y="215860"/>
                  <a:pt x="149957" y="211137"/>
                </a:cubicBezTo>
                <a:lnTo>
                  <a:pt x="119953" y="211137"/>
                </a:lnTo>
                <a:close/>
                <a:moveTo>
                  <a:pt x="274911" y="339279"/>
                </a:moveTo>
                <a:lnTo>
                  <a:pt x="266700" y="343654"/>
                </a:lnTo>
                <a:lnTo>
                  <a:pt x="266700" y="213013"/>
                </a:lnTo>
                <a:lnTo>
                  <a:pt x="325967" y="235238"/>
                </a:lnTo>
                <a:lnTo>
                  <a:pt x="325967" y="248851"/>
                </a:lnTo>
                <a:cubicBezTo>
                  <a:pt x="325967" y="287605"/>
                  <a:pt x="306088" y="322818"/>
                  <a:pt x="274911" y="339348"/>
                </a:cubicBezTo>
                <a:close/>
                <a:moveTo>
                  <a:pt x="260465" y="180231"/>
                </a:moveTo>
                <a:lnTo>
                  <a:pt x="191320" y="206137"/>
                </a:lnTo>
                <a:cubicBezTo>
                  <a:pt x="183233" y="209193"/>
                  <a:pt x="177800" y="217666"/>
                  <a:pt x="177800" y="227251"/>
                </a:cubicBezTo>
                <a:lnTo>
                  <a:pt x="177800" y="248851"/>
                </a:lnTo>
                <a:cubicBezTo>
                  <a:pt x="177800" y="300524"/>
                  <a:pt x="204347" y="347543"/>
                  <a:pt x="245833" y="369491"/>
                </a:cubicBezTo>
                <a:lnTo>
                  <a:pt x="257254" y="375533"/>
                </a:lnTo>
                <a:cubicBezTo>
                  <a:pt x="260218" y="377061"/>
                  <a:pt x="263428" y="377894"/>
                  <a:pt x="266638" y="377894"/>
                </a:cubicBezTo>
                <a:cubicBezTo>
                  <a:pt x="269849" y="377894"/>
                  <a:pt x="273121" y="377061"/>
                  <a:pt x="276022" y="375533"/>
                </a:cubicBezTo>
                <a:lnTo>
                  <a:pt x="287443" y="369491"/>
                </a:lnTo>
                <a:cubicBezTo>
                  <a:pt x="329053" y="347474"/>
                  <a:pt x="355600" y="300454"/>
                  <a:pt x="355600" y="248781"/>
                </a:cubicBezTo>
                <a:lnTo>
                  <a:pt x="355600" y="227181"/>
                </a:lnTo>
                <a:cubicBezTo>
                  <a:pt x="355600" y="217597"/>
                  <a:pt x="350167" y="209123"/>
                  <a:pt x="342080" y="206067"/>
                </a:cubicBezTo>
                <a:lnTo>
                  <a:pt x="272935" y="180161"/>
                </a:lnTo>
                <a:cubicBezTo>
                  <a:pt x="268861" y="178633"/>
                  <a:pt x="264478" y="178633"/>
                  <a:pt x="260465" y="180161"/>
                </a:cubicBezTo>
                <a:close/>
              </a:path>
            </a:pathLst>
          </a:custGeom>
          <a:solidFill>
            <a:srgbClr val="FFFFFF"/>
          </a:solidFill>
        </p:spPr>
      </p:sp>
      <p:sp>
        <p:nvSpPr>
          <p:cNvPr id="31" name="Text 18"/>
          <p:cNvSpPr/>
          <p:nvPr>
            <p:custDataLst>
              <p:tags r:id="rId14"/>
            </p:custDataLst>
          </p:nvPr>
        </p:nvSpPr>
        <p:spPr>
          <a:xfrm>
            <a:off x="8686800" y="2169795"/>
            <a:ext cx="2971800" cy="266700"/>
          </a:xfrm>
          <a:prstGeom prst="rect">
            <a:avLst/>
          </a:prstGeom>
          <a:noFill/>
        </p:spPr>
        <p:txBody>
          <a:bodyPr wrap="none" lIns="0" tIns="0" rIns="0" bIns="0" rtlCol="0" anchor="ctr"/>
          <a:lstStyle/>
          <a:p>
            <a:pPr algn="l">
              <a:lnSpc>
                <a:spcPct val="120000"/>
              </a:lnSpc>
            </a:pPr>
            <a:r>
              <a:rPr lang="en-US" sz="1600" b="1" dirty="0">
                <a:solidFill>
                  <a:srgbClr val="FFFFFF"/>
                </a:solidFill>
                <a:latin typeface="微软雅黑" panose="020B0503020204020204" charset="-122"/>
                <a:ea typeface="微软雅黑" panose="020B0503020204020204" charset="-122"/>
                <a:cs typeface="MiSans" pitchFamily="34" charset="-120"/>
              </a:rPr>
              <a:t>元数据授权</a:t>
            </a:r>
            <a:endParaRPr lang="en-US" sz="1600" b="1" dirty="0">
              <a:solidFill>
                <a:srgbClr val="FFFFFF"/>
              </a:solidFill>
              <a:latin typeface="微软雅黑" panose="020B0503020204020204" charset="-122"/>
              <a:ea typeface="微软雅黑" panose="020B0503020204020204" charset="-122"/>
              <a:cs typeface="MiSans" pitchFamily="34" charset="-120"/>
            </a:endParaRPr>
          </a:p>
        </p:txBody>
      </p:sp>
      <p:sp>
        <p:nvSpPr>
          <p:cNvPr id="32" name="Text 19"/>
          <p:cNvSpPr/>
          <p:nvPr>
            <p:custDataLst>
              <p:tags r:id="rId15"/>
            </p:custDataLst>
          </p:nvPr>
        </p:nvSpPr>
        <p:spPr>
          <a:xfrm>
            <a:off x="8343900" y="2626995"/>
            <a:ext cx="3314700" cy="3562350"/>
          </a:xfrm>
          <a:prstGeom prst="rect">
            <a:avLst/>
          </a:prstGeom>
          <a:noFill/>
        </p:spPr>
        <p:txBody>
          <a:bodyPr wrap="square" lIns="0" tIns="0" rIns="0" bIns="0" rtlCol="0" anchor="t"/>
          <a:lstStyle/>
          <a:p>
            <a:pPr algn="l">
              <a:lnSpc>
                <a:spcPct val="160000"/>
              </a:lnSpc>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领域授权</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按业务领域授权</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如"公司金融"查看/下载权</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600"/>
              </a:spcBef>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部门授权</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"本级部门可见"</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"归属上级可见"</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600"/>
              </a:spcBef>
            </a:pPr>
            <a:r>
              <a:rPr lang="en-US" sz="1400" b="1" dirty="0">
                <a:solidFill>
                  <a:srgbClr val="1E293B"/>
                </a:solidFill>
                <a:latin typeface="微软雅黑" panose="020B0503020204020204" charset="-122"/>
                <a:ea typeface="微软雅黑" panose="020B0503020204020204" charset="-122"/>
                <a:cs typeface="微软雅黑" panose="020B0503020204020204" charset="-122"/>
              </a:rPr>
              <a:t>岗位授权</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客户经理/审批人/管理员</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pPr>
            <a:r>
              <a:rPr lang="en-US" sz="1400" dirty="0">
                <a:solidFill>
                  <a:srgbClr val="1E293B"/>
                </a:solidFill>
                <a:latin typeface="微软雅黑" panose="020B0503020204020204" charset="-122"/>
                <a:ea typeface="微软雅黑" panose="020B0503020204020204" charset="-122"/>
                <a:cs typeface="微软雅黑" panose="020B0503020204020204" charset="-122"/>
              </a:rPr>
              <a:t>• 支持批量勾选批量授权</a:t>
            </a:r>
            <a:endParaRPr lang="en-US" sz="1400" dirty="0">
              <a:latin typeface="微软雅黑" panose="020B0503020204020204" charset="-122"/>
              <a:ea typeface="微软雅黑" panose="020B0503020204020204" charset="-122"/>
              <a:cs typeface="微软雅黑" panose="020B0503020204020204" charset="-122"/>
            </a:endParaRPr>
          </a:p>
          <a:p>
            <a:pPr algn="l">
              <a:lnSpc>
                <a:spcPct val="160000"/>
              </a:lnSpc>
              <a:spcBef>
                <a:spcPts val="600"/>
              </a:spcBef>
            </a:pPr>
            <a:endParaRPr lang="en-US" sz="14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7" name="矩形 6"/>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33" name="矩形 32"/>
          <p:cNvSpPr/>
          <p:nvPr/>
        </p:nvSpPr>
        <p:spPr>
          <a:xfrm>
            <a:off x="9668510" y="21590"/>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5" name="矩形 34"/>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2.2.2 知识汇聚--文档校验存储</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通过</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快速初筛</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智能精判</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的两级去重机制，从特征层与语义层双重保障文档唯一性</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结合对象存储与结构化数据库的分类存储架构，</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实现</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一份文档只存一次</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的目标，从源头消除数据冗余，提升治理效能。</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8" name="Shape 6"/>
          <p:cNvSpPr/>
          <p:nvPr/>
        </p:nvSpPr>
        <p:spPr>
          <a:xfrm>
            <a:off x="480695" y="2389505"/>
            <a:ext cx="2103120" cy="1724025"/>
          </a:xfrm>
          <a:prstGeom prst="rect">
            <a:avLst/>
          </a:prstGeom>
          <a:solidFill>
            <a:srgbClr val="FFFFFF"/>
          </a:solidFill>
          <a:ln w="6350">
            <a:solidFill>
              <a:srgbClr val="DEE0E3"/>
            </a:solidFill>
            <a:prstDash val="solid"/>
          </a:ln>
          <a:effectLst>
            <a:outerShdw blurRad="50800" dist="12700" dir="5400000" algn="bl" rotWithShape="0">
              <a:srgbClr val="000000">
                <a:alpha val="8000"/>
              </a:srgbClr>
            </a:outerShdw>
          </a:effectLst>
        </p:spPr>
        <p:txBody>
          <a:bodyPr/>
          <a:lstStyle/>
          <a:p>
            <a:endParaRPr lang="zh-CN" altLang="en-US">
              <a:latin typeface="微软雅黑" panose="020B0503020204020204" charset="-122"/>
              <a:ea typeface="微软雅黑" panose="020B0503020204020204" charset="-122"/>
            </a:endParaRPr>
          </a:p>
        </p:txBody>
      </p:sp>
      <p:sp>
        <p:nvSpPr>
          <p:cNvPr id="9" name="Shape 7"/>
          <p:cNvSpPr/>
          <p:nvPr/>
        </p:nvSpPr>
        <p:spPr>
          <a:xfrm>
            <a:off x="572135" y="2480945"/>
            <a:ext cx="320040" cy="320040"/>
          </a:xfrm>
          <a:prstGeom prst="ellipse">
            <a:avLst/>
          </a:prstGeom>
          <a:solidFill>
            <a:srgbClr val="004599"/>
          </a:solidFill>
          <a:ln w="12700">
            <a:solidFill>
              <a:srgbClr val="333333"/>
            </a:solidFill>
            <a:prstDash val="solid"/>
          </a:ln>
        </p:spPr>
        <p:txBody>
          <a:bodyPr/>
          <a:lstStyle/>
          <a:p>
            <a:endParaRPr lang="zh-CN" altLang="en-US">
              <a:latin typeface="微软雅黑" panose="020B0503020204020204" charset="-122"/>
              <a:ea typeface="微软雅黑" panose="020B0503020204020204" charset="-122"/>
            </a:endParaRPr>
          </a:p>
        </p:txBody>
      </p:sp>
      <p:sp>
        <p:nvSpPr>
          <p:cNvPr id="10" name="Text 8"/>
          <p:cNvSpPr/>
          <p:nvPr/>
        </p:nvSpPr>
        <p:spPr>
          <a:xfrm>
            <a:off x="572135" y="2480945"/>
            <a:ext cx="320040" cy="320040"/>
          </a:xfrm>
          <a:prstGeom prst="rect">
            <a:avLst/>
          </a:prstGeom>
          <a:noFill/>
          <a:ln>
            <a:noFill/>
          </a:ln>
        </p:spPr>
        <p:txBody>
          <a:bodyPr wrap="square" lIns="0" tIns="0" rIns="0" bIns="0" rtlCol="0" anchor="ctr"/>
          <a:lstStyle/>
          <a:p>
            <a:pPr marL="0" indent="0" algn="ctr">
              <a:buNone/>
            </a:pPr>
            <a:r>
              <a:rPr lang="en-US" sz="1600" b="1" dirty="0">
                <a:solidFill>
                  <a:schemeClr val="bg1"/>
                </a:solidFill>
                <a:latin typeface="微软雅黑" panose="020B0503020204020204" charset="-122"/>
                <a:ea typeface="微软雅黑" panose="020B0503020204020204" charset="-122"/>
                <a:cs typeface="微软雅黑" panose="020B0503020204020204" pitchFamily="34" charset="-120"/>
              </a:rPr>
              <a:t>1</a:t>
            </a:r>
            <a:endParaRPr lang="en-US" sz="1600" b="1" dirty="0">
              <a:solidFill>
                <a:schemeClr val="bg1"/>
              </a:solidFill>
              <a:latin typeface="微软雅黑" panose="020B0503020204020204" charset="-122"/>
              <a:ea typeface="微软雅黑" panose="020B0503020204020204" charset="-122"/>
              <a:cs typeface="微软雅黑" panose="020B0503020204020204" pitchFamily="34" charset="-120"/>
            </a:endParaRPr>
          </a:p>
        </p:txBody>
      </p:sp>
      <p:sp>
        <p:nvSpPr>
          <p:cNvPr id="11" name="Text 9"/>
          <p:cNvSpPr/>
          <p:nvPr/>
        </p:nvSpPr>
        <p:spPr>
          <a:xfrm>
            <a:off x="937895" y="2480945"/>
            <a:ext cx="1554480" cy="320040"/>
          </a:xfrm>
          <a:prstGeom prst="rect">
            <a:avLst/>
          </a:prstGeom>
          <a:noFill/>
        </p:spPr>
        <p:txBody>
          <a:bodyPr wrap="square" lIns="0" tIns="0" rIns="0" bIns="0" rtlCol="0" anchor="ctr"/>
          <a:lstStyle/>
          <a:p>
            <a:pPr marL="0" indent="0">
              <a:buNone/>
            </a:pPr>
            <a:r>
              <a:rPr lang="en-US" sz="1400" b="1" dirty="0">
                <a:solidFill>
                  <a:schemeClr val="accent1"/>
                </a:solidFill>
                <a:latin typeface="微软雅黑" panose="020B0503020204020204" charset="-122"/>
                <a:ea typeface="微软雅黑" panose="020B0503020204020204" charset="-122"/>
                <a:cs typeface="微软雅黑" panose="020B0503020204020204" charset="-122"/>
              </a:rPr>
              <a:t>AI自动摘要生成</a:t>
            </a:r>
            <a:endParaRPr 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 name="Text 10"/>
          <p:cNvSpPr/>
          <p:nvPr/>
        </p:nvSpPr>
        <p:spPr>
          <a:xfrm>
            <a:off x="617855" y="2892425"/>
            <a:ext cx="1828800" cy="731520"/>
          </a:xfrm>
          <a:prstGeom prst="rect">
            <a:avLst/>
          </a:prstGeom>
          <a:noFill/>
        </p:spPr>
        <p:txBody>
          <a:bodyPr wrap="square" rtlCol="0" anchor="t"/>
          <a:lstStyle/>
          <a:p>
            <a:pPr marL="0" indent="0">
              <a:lnSpc>
                <a:spcPct val="130000"/>
              </a:lnSpc>
              <a:buNone/>
            </a:pP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基于大模型生成精简摘要与核心观点</a:t>
            </a:r>
            <a:r>
              <a:rPr lang="en-US" sz="1200" dirty="0">
                <a:solidFill>
                  <a:srgbClr val="1A1A1A"/>
                </a:solidFill>
                <a:latin typeface="微软雅黑" panose="020B0503020204020204" charset="-122"/>
                <a:ea typeface="微软雅黑" panose="020B0503020204020204" charset="-122"/>
                <a:cs typeface="微软雅黑" panose="020B0503020204020204" charset="-122"/>
              </a:rPr>
              <a:t>。摘要写入业务元数据，同时作为查重输入</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13" name="Text 11"/>
          <p:cNvSpPr/>
          <p:nvPr/>
        </p:nvSpPr>
        <p:spPr>
          <a:xfrm>
            <a:off x="2583815" y="2389505"/>
            <a:ext cx="164592" cy="1371600"/>
          </a:xfrm>
          <a:prstGeom prst="rect">
            <a:avLst/>
          </a:prstGeom>
          <a:noFill/>
        </p:spPr>
        <p:txBody>
          <a:bodyPr wrap="square" lIns="0" tIns="0" rIns="0" bIns="0" rtlCol="0" anchor="ctr"/>
          <a:lstStyle/>
          <a:p>
            <a:pPr marL="0" indent="0" algn="ctr">
              <a:buNone/>
            </a:pPr>
            <a:r>
              <a:rPr lang="en-US" b="1" dirty="0">
                <a:solidFill>
                  <a:srgbClr val="595959"/>
                </a:solidFill>
                <a:latin typeface="微软雅黑" panose="020B0503020204020204" charset="-122"/>
                <a:ea typeface="微软雅黑" panose="020B0503020204020204" charset="-122"/>
              </a:rPr>
              <a:t>→</a:t>
            </a:r>
            <a:endParaRPr lang="en-US" b="1" dirty="0">
              <a:solidFill>
                <a:srgbClr val="595959"/>
              </a:solidFill>
              <a:latin typeface="微软雅黑" panose="020B0503020204020204" charset="-122"/>
              <a:ea typeface="微软雅黑" panose="020B0503020204020204" charset="-122"/>
            </a:endParaRPr>
          </a:p>
        </p:txBody>
      </p:sp>
      <p:sp>
        <p:nvSpPr>
          <p:cNvPr id="14" name="Shape 12"/>
          <p:cNvSpPr/>
          <p:nvPr/>
        </p:nvSpPr>
        <p:spPr>
          <a:xfrm>
            <a:off x="2748280" y="2389505"/>
            <a:ext cx="2103120" cy="1724025"/>
          </a:xfrm>
          <a:prstGeom prst="rect">
            <a:avLst/>
          </a:prstGeom>
          <a:solidFill>
            <a:srgbClr val="FFFFFF"/>
          </a:solidFill>
          <a:ln w="6350">
            <a:solidFill>
              <a:srgbClr val="DEE0E3"/>
            </a:solidFill>
            <a:prstDash val="solid"/>
          </a:ln>
          <a:effectLst>
            <a:outerShdw blurRad="50800" dist="12700" dir="5400000" algn="bl" rotWithShape="0">
              <a:srgbClr val="000000">
                <a:alpha val="8000"/>
              </a:srgbClr>
            </a:outerShdw>
          </a:effectLst>
        </p:spPr>
        <p:txBody>
          <a:bodyPr/>
          <a:lstStyle/>
          <a:p>
            <a:endParaRPr lang="zh-CN" altLang="en-US">
              <a:latin typeface="微软雅黑" panose="020B0503020204020204" charset="-122"/>
              <a:ea typeface="微软雅黑" panose="020B0503020204020204" charset="-122"/>
            </a:endParaRPr>
          </a:p>
        </p:txBody>
      </p:sp>
      <p:sp>
        <p:nvSpPr>
          <p:cNvPr id="15" name="Shape 13"/>
          <p:cNvSpPr/>
          <p:nvPr/>
        </p:nvSpPr>
        <p:spPr>
          <a:xfrm>
            <a:off x="2839847" y="2480945"/>
            <a:ext cx="320040" cy="320040"/>
          </a:xfrm>
          <a:prstGeom prst="ellipse">
            <a:avLst/>
          </a:prstGeom>
          <a:solidFill>
            <a:srgbClr val="EE822F"/>
          </a:solidFill>
          <a:ln w="12700">
            <a:solidFill>
              <a:srgbClr val="333333"/>
            </a:solidFill>
            <a:prstDash val="solid"/>
          </a:ln>
        </p:spPr>
        <p:txBody>
          <a:bodyPr/>
          <a:lstStyle/>
          <a:p>
            <a:endParaRPr lang="zh-CN" altLang="en-US">
              <a:latin typeface="微软雅黑" panose="020B0503020204020204" charset="-122"/>
              <a:ea typeface="微软雅黑" panose="020B0503020204020204" charset="-122"/>
            </a:endParaRPr>
          </a:p>
        </p:txBody>
      </p:sp>
      <p:sp>
        <p:nvSpPr>
          <p:cNvPr id="16" name="Text 14"/>
          <p:cNvSpPr/>
          <p:nvPr/>
        </p:nvSpPr>
        <p:spPr>
          <a:xfrm>
            <a:off x="2839847" y="2480945"/>
            <a:ext cx="320040" cy="320040"/>
          </a:xfrm>
          <a:prstGeom prst="rect">
            <a:avLst/>
          </a:prstGeom>
          <a:noFill/>
          <a:extLst>
            <a:ext uri="{909E8E84-426E-40DD-AFC4-6F175D3DCCD1}">
              <a14:hiddenFill xmlns:a14="http://schemas.microsoft.com/office/drawing/2010/main">
                <a:solidFill>
                  <a:schemeClr val="accent1"/>
                </a:solidFill>
              </a14:hiddenFill>
            </a:ext>
          </a:extLst>
        </p:spPr>
        <p:style>
          <a:lnRef idx="0">
            <a:srgbClr val="FFFFFF"/>
          </a:lnRef>
          <a:fillRef idx="1">
            <a:schemeClr val="accent1"/>
          </a:fillRef>
          <a:effectRef idx="0">
            <a:srgbClr val="FFFFFF"/>
          </a:effectRef>
          <a:fontRef idx="minor">
            <a:schemeClr val="lt1"/>
          </a:fontRef>
        </p:style>
        <p:txBody>
          <a:bodyPr wrap="square" lIns="0" tIns="0" rIns="0" bIns="0" rtlCol="0" anchor="ctr">
            <a:noAutofit/>
          </a:bodyPr>
          <a:lstStyle/>
          <a:p>
            <a:pPr lvl="0" algn="ctr">
              <a:buClrTx/>
              <a:buSzTx/>
              <a:buFontTx/>
            </a:pPr>
            <a:r>
              <a:rPr lang="en-US" sz="1600" b="1" dirty="0">
                <a:solidFill>
                  <a:schemeClr val="bg1"/>
                </a:solidFill>
                <a:latin typeface="微软雅黑" panose="020B0503020204020204" charset="-122"/>
                <a:ea typeface="微软雅黑" panose="020B0503020204020204" charset="-122"/>
                <a:cs typeface="微软雅黑" panose="020B0503020204020204" pitchFamily="34" charset="-120"/>
                <a:sym typeface="+mn-ea"/>
              </a:rPr>
              <a:t>2</a:t>
            </a:r>
            <a:endParaRPr lang="en-US" sz="1600" b="1" dirty="0">
              <a:solidFill>
                <a:schemeClr val="bg1"/>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7" name="Text 15"/>
          <p:cNvSpPr/>
          <p:nvPr/>
        </p:nvSpPr>
        <p:spPr>
          <a:xfrm>
            <a:off x="3205607" y="2480945"/>
            <a:ext cx="1554480" cy="320040"/>
          </a:xfrm>
          <a:prstGeom prst="rect">
            <a:avLst/>
          </a:prstGeom>
          <a:noFill/>
        </p:spPr>
        <p:txBody>
          <a:bodyPr wrap="square" lIns="0" tIns="0" rIns="0" bIns="0" rtlCol="0" anchor="ctr"/>
          <a:lstStyle/>
          <a:p>
            <a:pPr marL="0" indent="0">
              <a:buNone/>
            </a:pPr>
            <a:r>
              <a:rPr lang="zh-CN" altLang="en-US" sz="1400" b="1" dirty="0">
                <a:solidFill>
                  <a:schemeClr val="accent1"/>
                </a:solidFill>
                <a:latin typeface="微软雅黑" panose="020B0503020204020204" charset="-122"/>
                <a:ea typeface="微软雅黑" panose="020B0503020204020204" charset="-122"/>
                <a:cs typeface="微软雅黑" panose="020B0503020204020204" pitchFamily="34" charset="-120"/>
              </a:rPr>
              <a:t>文档摘要比对</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pitchFamily="34" charset="-120"/>
            </a:endParaRPr>
          </a:p>
        </p:txBody>
      </p:sp>
      <p:sp>
        <p:nvSpPr>
          <p:cNvPr id="18" name="Text 16"/>
          <p:cNvSpPr/>
          <p:nvPr/>
        </p:nvSpPr>
        <p:spPr>
          <a:xfrm>
            <a:off x="2885567" y="2892425"/>
            <a:ext cx="1828800" cy="731520"/>
          </a:xfrm>
          <a:prstGeom prst="rect">
            <a:avLst/>
          </a:prstGeom>
          <a:noFill/>
        </p:spPr>
        <p:txBody>
          <a:bodyPr wrap="square" rtlCol="0" anchor="t"/>
          <a:lstStyle/>
          <a:p>
            <a:pPr marL="0" indent="0">
              <a:lnSpc>
                <a:spcPct val="130000"/>
              </a:lnSpc>
              <a:buNone/>
            </a:pP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基于</a:t>
            </a:r>
            <a:r>
              <a:rPr lang="en-US" sz="1200" dirty="0">
                <a:solidFill>
                  <a:srgbClr val="1A1A1A"/>
                </a:solidFill>
                <a:latin typeface="微软雅黑" panose="020B0503020204020204" charset="-122"/>
                <a:ea typeface="微软雅黑" panose="020B0503020204020204" charset="-122"/>
                <a:cs typeface="微软雅黑" panose="020B0503020204020204" charset="-122"/>
              </a:rPr>
              <a:t>“</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文档</a:t>
            </a:r>
            <a:r>
              <a:rPr lang="en-US" sz="1200" dirty="0">
                <a:solidFill>
                  <a:srgbClr val="1A1A1A"/>
                </a:solidFill>
                <a:latin typeface="微软雅黑" panose="020B0503020204020204" charset="-122"/>
                <a:ea typeface="微软雅黑" panose="020B0503020204020204" charset="-122"/>
                <a:cs typeface="微软雅黑" panose="020B0503020204020204" charset="-122"/>
              </a:rPr>
              <a:t>摘要”</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进行向量相似度比对</a:t>
            </a:r>
            <a:r>
              <a:rPr lang="en-US" sz="1200" dirty="0">
                <a:solidFill>
                  <a:srgbClr val="1A1A1A"/>
                </a:solidFill>
                <a:latin typeface="微软雅黑" panose="020B0503020204020204" charset="-122"/>
                <a:ea typeface="微软雅黑" panose="020B0503020204020204" charset="-122"/>
                <a:cs typeface="微软雅黑" panose="020B0503020204020204" charset="-122"/>
              </a:rPr>
              <a:t>，</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根据向量相似度判断是否进行文档内容比对</a:t>
            </a:r>
            <a:r>
              <a:rPr lang="en-US" altLang="zh-CN" sz="1200" dirty="0">
                <a:solidFill>
                  <a:srgbClr val="1A1A1A"/>
                </a:solidFill>
                <a:latin typeface="微软雅黑" panose="020B0503020204020204" charset="-122"/>
                <a:ea typeface="微软雅黑" panose="020B0503020204020204" charset="-122"/>
                <a:cs typeface="微软雅黑" panose="020B0503020204020204" charset="-122"/>
              </a:rPr>
              <a:t>，</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判断阈值可调整</a:t>
            </a:r>
            <a:endParaRPr lang="zh-CN" altLang="en-US" sz="12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19" name="Text 17"/>
          <p:cNvSpPr/>
          <p:nvPr/>
        </p:nvSpPr>
        <p:spPr>
          <a:xfrm>
            <a:off x="4851527" y="2389505"/>
            <a:ext cx="164592" cy="1371600"/>
          </a:xfrm>
          <a:prstGeom prst="rect">
            <a:avLst/>
          </a:prstGeom>
          <a:noFill/>
        </p:spPr>
        <p:txBody>
          <a:bodyPr wrap="square" lIns="0" tIns="0" rIns="0" bIns="0" rtlCol="0" anchor="ctr"/>
          <a:lstStyle/>
          <a:p>
            <a:pPr marL="0" indent="0" algn="ctr">
              <a:buNone/>
            </a:pPr>
            <a:r>
              <a:rPr lang="en-US" b="1" dirty="0">
                <a:solidFill>
                  <a:srgbClr val="595959"/>
                </a:solidFill>
                <a:latin typeface="微软雅黑" panose="020B0503020204020204" charset="-122"/>
                <a:ea typeface="微软雅黑" panose="020B0503020204020204" charset="-122"/>
              </a:rPr>
              <a:t>→</a:t>
            </a:r>
            <a:endParaRPr lang="en-US" b="1" dirty="0">
              <a:solidFill>
                <a:srgbClr val="595959"/>
              </a:solidFill>
              <a:latin typeface="微软雅黑" panose="020B0503020204020204" charset="-122"/>
              <a:ea typeface="微软雅黑" panose="020B0503020204020204" charset="-122"/>
            </a:endParaRPr>
          </a:p>
        </p:txBody>
      </p:sp>
      <p:sp>
        <p:nvSpPr>
          <p:cNvPr id="20" name="Shape 18"/>
          <p:cNvSpPr/>
          <p:nvPr/>
        </p:nvSpPr>
        <p:spPr>
          <a:xfrm>
            <a:off x="5015865" y="2389505"/>
            <a:ext cx="2103120" cy="1724025"/>
          </a:xfrm>
          <a:prstGeom prst="rect">
            <a:avLst/>
          </a:prstGeom>
          <a:solidFill>
            <a:srgbClr val="FFFFFF"/>
          </a:solidFill>
          <a:ln w="6350">
            <a:solidFill>
              <a:srgbClr val="DEE0E3"/>
            </a:solidFill>
            <a:prstDash val="solid"/>
          </a:ln>
          <a:effectLst>
            <a:outerShdw blurRad="50800" dist="12700" dir="5400000" algn="bl" rotWithShape="0">
              <a:srgbClr val="000000">
                <a:alpha val="8000"/>
              </a:srgbClr>
            </a:outerShdw>
          </a:effectLst>
        </p:spPr>
        <p:txBody>
          <a:bodyPr/>
          <a:lstStyle/>
          <a:p>
            <a:endParaRPr lang="zh-CN" altLang="en-US">
              <a:latin typeface="微软雅黑" panose="020B0503020204020204" charset="-122"/>
              <a:ea typeface="微软雅黑" panose="020B0503020204020204" charset="-122"/>
            </a:endParaRPr>
          </a:p>
        </p:txBody>
      </p:sp>
      <p:sp>
        <p:nvSpPr>
          <p:cNvPr id="21" name="Shape 19"/>
          <p:cNvSpPr/>
          <p:nvPr/>
        </p:nvSpPr>
        <p:spPr>
          <a:xfrm>
            <a:off x="5107559" y="2480945"/>
            <a:ext cx="320040" cy="320040"/>
          </a:xfrm>
          <a:prstGeom prst="ellipse">
            <a:avLst/>
          </a:prstGeom>
          <a:solidFill>
            <a:srgbClr val="75BD42"/>
          </a:solidFill>
          <a:ln w="12700">
            <a:solidFill>
              <a:srgbClr val="333333"/>
            </a:solidFill>
            <a:prstDash val="solid"/>
          </a:ln>
        </p:spPr>
        <p:txBody>
          <a:bodyPr/>
          <a:lstStyle/>
          <a:p>
            <a:endParaRPr lang="zh-CN" altLang="en-US">
              <a:latin typeface="微软雅黑" panose="020B0503020204020204" charset="-122"/>
              <a:ea typeface="微软雅黑" panose="020B0503020204020204" charset="-122"/>
            </a:endParaRPr>
          </a:p>
        </p:txBody>
      </p:sp>
      <p:sp>
        <p:nvSpPr>
          <p:cNvPr id="22" name="Text 20"/>
          <p:cNvSpPr/>
          <p:nvPr/>
        </p:nvSpPr>
        <p:spPr>
          <a:xfrm>
            <a:off x="5107559" y="2480945"/>
            <a:ext cx="320040" cy="320040"/>
          </a:xfrm>
          <a:prstGeom prst="rect">
            <a:avLst/>
          </a:prstGeom>
          <a:noFill/>
          <a:extLst>
            <a:ext uri="{909E8E84-426E-40DD-AFC4-6F175D3DCCD1}">
              <a14:hiddenFill xmlns:a14="http://schemas.microsoft.com/office/drawing/2010/main">
                <a:solidFill>
                  <a:schemeClr val="accent1"/>
                </a:solidFill>
              </a14:hiddenFill>
            </a:ext>
          </a:extLst>
        </p:spPr>
        <p:style>
          <a:lnRef idx="0">
            <a:srgbClr val="FFFFFF"/>
          </a:lnRef>
          <a:fillRef idx="1">
            <a:schemeClr val="accent1"/>
          </a:fillRef>
          <a:effectRef idx="0">
            <a:srgbClr val="FFFFFF"/>
          </a:effectRef>
          <a:fontRef idx="minor">
            <a:schemeClr val="lt1"/>
          </a:fontRef>
        </p:style>
        <p:txBody>
          <a:bodyPr wrap="square" lIns="0" tIns="0" rIns="0" bIns="0" rtlCol="0" anchor="ctr">
            <a:noAutofit/>
          </a:bodyPr>
          <a:lstStyle/>
          <a:p>
            <a:pPr lvl="0" algn="ctr">
              <a:buClrTx/>
              <a:buSzTx/>
              <a:buFontTx/>
            </a:pPr>
            <a:r>
              <a:rPr lang="en-US" sz="1600" b="1" dirty="0">
                <a:solidFill>
                  <a:schemeClr val="bg1"/>
                </a:solidFill>
                <a:latin typeface="微软雅黑" panose="020B0503020204020204" charset="-122"/>
                <a:ea typeface="微软雅黑" panose="020B0503020204020204" charset="-122"/>
                <a:cs typeface="微软雅黑" panose="020B0503020204020204" pitchFamily="34" charset="-120"/>
                <a:sym typeface="+mn-ea"/>
              </a:rPr>
              <a:t>3</a:t>
            </a:r>
            <a:endParaRPr lang="en-US" sz="1600" b="1" dirty="0">
              <a:solidFill>
                <a:schemeClr val="bg1"/>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3" name="Text 21"/>
          <p:cNvSpPr/>
          <p:nvPr/>
        </p:nvSpPr>
        <p:spPr>
          <a:xfrm>
            <a:off x="5473319" y="2480945"/>
            <a:ext cx="1554480" cy="320040"/>
          </a:xfrm>
          <a:prstGeom prst="rect">
            <a:avLst/>
          </a:prstGeom>
          <a:noFill/>
        </p:spPr>
        <p:txBody>
          <a:bodyPr wrap="square" lIns="0" tIns="0" rIns="0" bIns="0" rtlCol="0" anchor="ctr"/>
          <a:lstStyle/>
          <a:p>
            <a:pPr marL="0" indent="0">
              <a:buNone/>
            </a:pPr>
            <a:r>
              <a:rPr lang="zh-CN" altLang="en-US" sz="1400" b="1" dirty="0">
                <a:solidFill>
                  <a:schemeClr val="accent1"/>
                </a:solidFill>
                <a:latin typeface="微软雅黑" panose="020B0503020204020204" charset="-122"/>
                <a:ea typeface="微软雅黑" panose="020B0503020204020204" charset="-122"/>
                <a:cs typeface="微软雅黑" panose="020B0503020204020204" pitchFamily="34" charset="-120"/>
              </a:rPr>
              <a:t>文档内容比对</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pitchFamily="34" charset="-120"/>
            </a:endParaRPr>
          </a:p>
        </p:txBody>
      </p:sp>
      <p:sp>
        <p:nvSpPr>
          <p:cNvPr id="24" name="Text 22"/>
          <p:cNvSpPr/>
          <p:nvPr/>
        </p:nvSpPr>
        <p:spPr>
          <a:xfrm>
            <a:off x="5153279" y="2892425"/>
            <a:ext cx="1828800" cy="731520"/>
          </a:xfrm>
          <a:prstGeom prst="rect">
            <a:avLst/>
          </a:prstGeom>
          <a:noFill/>
        </p:spPr>
        <p:txBody>
          <a:bodyPr wrap="square" rtlCol="0" anchor="t"/>
          <a:lstStyle/>
          <a:p>
            <a:pPr marL="0" indent="0">
              <a:lnSpc>
                <a:spcPct val="130000"/>
              </a:lnSpc>
              <a:buNone/>
            </a:pP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对初筛的疑似文档，调用大模型进行深度语义理解与内容比对</a:t>
            </a:r>
            <a:r>
              <a:rPr lang="en-US" sz="1200" dirty="0">
                <a:solidFill>
                  <a:srgbClr val="1A1A1A"/>
                </a:solidFill>
                <a:latin typeface="微软雅黑" panose="020B0503020204020204" charset="-122"/>
                <a:ea typeface="微软雅黑" panose="020B0503020204020204" charset="-122"/>
                <a:cs typeface="微软雅黑" panose="020B0503020204020204" charset="-122"/>
              </a:rPr>
              <a:t>，输出</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文档重合</a:t>
            </a:r>
            <a:r>
              <a:rPr lang="en-US" sz="1200" dirty="0">
                <a:solidFill>
                  <a:srgbClr val="1A1A1A"/>
                </a:solidFill>
                <a:latin typeface="微软雅黑" panose="020B0503020204020204" charset="-122"/>
                <a:ea typeface="微软雅黑" panose="020B0503020204020204" charset="-122"/>
                <a:cs typeface="微软雅黑" panose="020B0503020204020204" charset="-122"/>
              </a:rPr>
              <a:t>率0-100%</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25" name="Text 23"/>
          <p:cNvSpPr/>
          <p:nvPr/>
        </p:nvSpPr>
        <p:spPr>
          <a:xfrm>
            <a:off x="7119239" y="2389505"/>
            <a:ext cx="164592" cy="1371600"/>
          </a:xfrm>
          <a:prstGeom prst="rect">
            <a:avLst/>
          </a:prstGeom>
          <a:noFill/>
        </p:spPr>
        <p:txBody>
          <a:bodyPr wrap="square" lIns="0" tIns="0" rIns="0" bIns="0" rtlCol="0" anchor="ctr"/>
          <a:lstStyle/>
          <a:p>
            <a:pPr marL="0" indent="0" algn="ctr">
              <a:buNone/>
            </a:pPr>
            <a:r>
              <a:rPr lang="en-US" b="1" dirty="0">
                <a:solidFill>
                  <a:srgbClr val="595959"/>
                </a:solidFill>
                <a:latin typeface="微软雅黑" panose="020B0503020204020204" charset="-122"/>
                <a:ea typeface="微软雅黑" panose="020B0503020204020204" charset="-122"/>
              </a:rPr>
              <a:t>→</a:t>
            </a:r>
            <a:endParaRPr lang="en-US" b="1" dirty="0">
              <a:solidFill>
                <a:srgbClr val="595959"/>
              </a:solidFill>
              <a:latin typeface="微软雅黑" panose="020B0503020204020204" charset="-122"/>
              <a:ea typeface="微软雅黑" panose="020B0503020204020204" charset="-122"/>
            </a:endParaRPr>
          </a:p>
        </p:txBody>
      </p:sp>
      <p:sp>
        <p:nvSpPr>
          <p:cNvPr id="26" name="Shape 24"/>
          <p:cNvSpPr/>
          <p:nvPr/>
        </p:nvSpPr>
        <p:spPr>
          <a:xfrm>
            <a:off x="7284085" y="2389505"/>
            <a:ext cx="2103120" cy="1724025"/>
          </a:xfrm>
          <a:prstGeom prst="rect">
            <a:avLst/>
          </a:prstGeom>
          <a:solidFill>
            <a:srgbClr val="FFFFFF"/>
          </a:solidFill>
          <a:ln w="6350">
            <a:solidFill>
              <a:srgbClr val="DEE0E3"/>
            </a:solidFill>
            <a:prstDash val="solid"/>
          </a:ln>
          <a:effectLst>
            <a:outerShdw blurRad="50800" dist="12700" dir="5400000" algn="bl" rotWithShape="0">
              <a:srgbClr val="000000">
                <a:alpha val="8000"/>
              </a:srgbClr>
            </a:outerShdw>
          </a:effectLst>
        </p:spPr>
        <p:txBody>
          <a:bodyPr/>
          <a:lstStyle/>
          <a:p>
            <a:endParaRPr lang="zh-CN" altLang="en-US">
              <a:latin typeface="微软雅黑" panose="020B0503020204020204" charset="-122"/>
              <a:ea typeface="微软雅黑" panose="020B0503020204020204" charset="-122"/>
            </a:endParaRPr>
          </a:p>
        </p:txBody>
      </p:sp>
      <p:sp>
        <p:nvSpPr>
          <p:cNvPr id="27" name="Shape 25"/>
          <p:cNvSpPr/>
          <p:nvPr/>
        </p:nvSpPr>
        <p:spPr>
          <a:xfrm>
            <a:off x="7375271" y="2480945"/>
            <a:ext cx="320040" cy="320040"/>
          </a:xfrm>
          <a:prstGeom prst="ellipse">
            <a:avLst/>
          </a:prstGeom>
          <a:solidFill>
            <a:srgbClr val="30C0B4"/>
          </a:solidFill>
          <a:ln w="12700">
            <a:solidFill>
              <a:srgbClr val="333333"/>
            </a:solidFill>
            <a:prstDash val="solid"/>
          </a:ln>
        </p:spPr>
        <p:txBody>
          <a:bodyPr/>
          <a:lstStyle/>
          <a:p>
            <a:endParaRPr lang="zh-CN" altLang="en-US">
              <a:latin typeface="微软雅黑" panose="020B0503020204020204" charset="-122"/>
              <a:ea typeface="微软雅黑" panose="020B0503020204020204" charset="-122"/>
            </a:endParaRPr>
          </a:p>
        </p:txBody>
      </p:sp>
      <p:sp>
        <p:nvSpPr>
          <p:cNvPr id="28" name="Text 26"/>
          <p:cNvSpPr/>
          <p:nvPr/>
        </p:nvSpPr>
        <p:spPr>
          <a:xfrm>
            <a:off x="7375271" y="2480945"/>
            <a:ext cx="320040" cy="320040"/>
          </a:xfrm>
          <a:prstGeom prst="rect">
            <a:avLst/>
          </a:prstGeom>
          <a:noFill/>
          <a:extLst>
            <a:ext uri="{909E8E84-426E-40DD-AFC4-6F175D3DCCD1}">
              <a14:hiddenFill xmlns:a14="http://schemas.microsoft.com/office/drawing/2010/main">
                <a:solidFill>
                  <a:schemeClr val="accent1"/>
                </a:solidFill>
              </a14:hiddenFill>
            </a:ext>
          </a:extLst>
        </p:spPr>
        <p:style>
          <a:lnRef idx="0">
            <a:srgbClr val="FFFFFF"/>
          </a:lnRef>
          <a:fillRef idx="1">
            <a:schemeClr val="accent1"/>
          </a:fillRef>
          <a:effectRef idx="0">
            <a:srgbClr val="FFFFFF"/>
          </a:effectRef>
          <a:fontRef idx="minor">
            <a:schemeClr val="lt1"/>
          </a:fontRef>
        </p:style>
        <p:txBody>
          <a:bodyPr wrap="square" lIns="0" tIns="0" rIns="0" bIns="0" rtlCol="0" anchor="ctr">
            <a:noAutofit/>
          </a:bodyPr>
          <a:lstStyle/>
          <a:p>
            <a:pPr lvl="0" algn="ctr">
              <a:buClrTx/>
              <a:buSzTx/>
              <a:buFontTx/>
            </a:pPr>
            <a:r>
              <a:rPr lang="en-US" sz="1600" b="1" dirty="0">
                <a:solidFill>
                  <a:schemeClr val="bg1"/>
                </a:solidFill>
                <a:latin typeface="微软雅黑" panose="020B0503020204020204" charset="-122"/>
                <a:ea typeface="微软雅黑" panose="020B0503020204020204" charset="-122"/>
                <a:cs typeface="微软雅黑" panose="020B0503020204020204" pitchFamily="34" charset="-120"/>
                <a:sym typeface="+mn-ea"/>
              </a:rPr>
              <a:t>4</a:t>
            </a:r>
            <a:endParaRPr lang="en-US" sz="1600" b="1" dirty="0">
              <a:solidFill>
                <a:schemeClr val="bg1"/>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9" name="Text 27"/>
          <p:cNvSpPr/>
          <p:nvPr/>
        </p:nvSpPr>
        <p:spPr>
          <a:xfrm>
            <a:off x="7741031" y="2480945"/>
            <a:ext cx="1554480" cy="320040"/>
          </a:xfrm>
          <a:prstGeom prst="rect">
            <a:avLst/>
          </a:prstGeom>
          <a:noFill/>
        </p:spPr>
        <p:txBody>
          <a:bodyPr wrap="square" lIns="0" tIns="0" rIns="0" bIns="0" rtlCol="0" anchor="ctr"/>
          <a:lstStyle/>
          <a:p>
            <a:pPr marL="0" indent="0">
              <a:buNone/>
            </a:pPr>
            <a:r>
              <a:rPr lang="en-US" sz="1400" b="1" dirty="0">
                <a:solidFill>
                  <a:schemeClr val="accent1"/>
                </a:solidFill>
                <a:latin typeface="微软雅黑" panose="020B0503020204020204" charset="-122"/>
                <a:ea typeface="微软雅黑" panose="020B0503020204020204" charset="-122"/>
                <a:cs typeface="微软雅黑" panose="020B0503020204020204" pitchFamily="34" charset="-120"/>
              </a:rPr>
              <a:t>查重判定与处理</a:t>
            </a:r>
            <a:endParaRPr lang="en-US" sz="1400" b="1" dirty="0">
              <a:solidFill>
                <a:schemeClr val="accent1"/>
              </a:solidFill>
              <a:latin typeface="微软雅黑" panose="020B0503020204020204" charset="-122"/>
              <a:ea typeface="微软雅黑" panose="020B0503020204020204" charset="-122"/>
              <a:cs typeface="微软雅黑" panose="020B0503020204020204" pitchFamily="34" charset="-120"/>
            </a:endParaRPr>
          </a:p>
        </p:txBody>
      </p:sp>
      <p:sp>
        <p:nvSpPr>
          <p:cNvPr id="30" name="Text 28"/>
          <p:cNvSpPr/>
          <p:nvPr/>
        </p:nvSpPr>
        <p:spPr>
          <a:xfrm>
            <a:off x="7420991" y="2892425"/>
            <a:ext cx="1828800" cy="731520"/>
          </a:xfrm>
          <a:prstGeom prst="rect">
            <a:avLst/>
          </a:prstGeom>
          <a:noFill/>
        </p:spPr>
        <p:txBody>
          <a:bodyPr wrap="square" rtlCol="0" anchor="t"/>
          <a:lstStyle/>
          <a:p>
            <a:pPr marL="0" indent="0">
              <a:lnSpc>
                <a:spcPct val="130000"/>
              </a:lnSpc>
              <a:buNone/>
            </a:pPr>
            <a:r>
              <a:rPr lang="en-US" sz="1200" dirty="0">
                <a:solidFill>
                  <a:srgbClr val="1A1A1A"/>
                </a:solidFill>
                <a:latin typeface="微软雅黑" panose="020B0503020204020204" charset="-122"/>
                <a:ea typeface="微软雅黑" panose="020B0503020204020204" charset="-122"/>
                <a:cs typeface="微软雅黑" panose="020B0503020204020204" charset="-122"/>
              </a:rPr>
              <a:t>≥90%自动合并</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a:p>
            <a:pPr marL="0" indent="0">
              <a:lnSpc>
                <a:spcPct val="130000"/>
              </a:lnSpc>
              <a:buNone/>
            </a:pPr>
            <a:r>
              <a:rPr lang="en-US" sz="1200" dirty="0">
                <a:solidFill>
                  <a:srgbClr val="1A1A1A"/>
                </a:solidFill>
                <a:latin typeface="微软雅黑" panose="020B0503020204020204" charset="-122"/>
                <a:ea typeface="微软雅黑" panose="020B0503020204020204" charset="-122"/>
                <a:cs typeface="微软雅黑" panose="020B0503020204020204" charset="-122"/>
              </a:rPr>
              <a:t>80-90%人工审核</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a:p>
            <a:pPr marL="0" indent="0">
              <a:lnSpc>
                <a:spcPct val="130000"/>
              </a:lnSpc>
              <a:buNone/>
            </a:pPr>
            <a:r>
              <a:rPr lang="en-US" sz="1200" dirty="0">
                <a:solidFill>
                  <a:srgbClr val="1A1A1A"/>
                </a:solidFill>
                <a:latin typeface="微软雅黑" panose="020B0503020204020204" charset="-122"/>
                <a:ea typeface="微软雅黑" panose="020B0503020204020204" charset="-122"/>
                <a:cs typeface="微软雅黑" panose="020B0503020204020204" charset="-122"/>
              </a:rPr>
              <a:t>&lt;80%各自独立（同名异文标记关联关系），</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阈值可调整</a:t>
            </a:r>
            <a:r>
              <a:rPr lang="en-US" altLang="zh-CN" sz="1200" dirty="0">
                <a:solidFill>
                  <a:srgbClr val="1A1A1A"/>
                </a:solidFill>
                <a:latin typeface="微软雅黑" panose="020B0503020204020204" charset="-122"/>
                <a:ea typeface="微软雅黑" panose="020B0503020204020204" charset="-122"/>
                <a:cs typeface="微软雅黑" panose="020B0503020204020204" charset="-122"/>
              </a:rPr>
              <a:t>。</a:t>
            </a:r>
            <a:endParaRPr lang="en-US" altLang="zh-CN" sz="12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31" name="Text 29"/>
          <p:cNvSpPr/>
          <p:nvPr/>
        </p:nvSpPr>
        <p:spPr>
          <a:xfrm>
            <a:off x="9386951" y="2389505"/>
            <a:ext cx="164592" cy="1371600"/>
          </a:xfrm>
          <a:prstGeom prst="rect">
            <a:avLst/>
          </a:prstGeom>
          <a:noFill/>
        </p:spPr>
        <p:txBody>
          <a:bodyPr wrap="square" lIns="0" tIns="0" rIns="0" bIns="0" rtlCol="0" anchor="ctr"/>
          <a:lstStyle/>
          <a:p>
            <a:pPr marL="0" indent="0" algn="ctr">
              <a:buNone/>
            </a:pPr>
            <a:r>
              <a:rPr lang="en-US" b="1" dirty="0">
                <a:solidFill>
                  <a:srgbClr val="595959"/>
                </a:solidFill>
                <a:latin typeface="微软雅黑" panose="020B0503020204020204" charset="-122"/>
                <a:ea typeface="微软雅黑" panose="020B0503020204020204" charset="-122"/>
              </a:rPr>
              <a:t>→</a:t>
            </a:r>
            <a:endParaRPr lang="en-US" b="1" dirty="0">
              <a:solidFill>
                <a:srgbClr val="595959"/>
              </a:solidFill>
              <a:latin typeface="微软雅黑" panose="020B0503020204020204" charset="-122"/>
              <a:ea typeface="微软雅黑" panose="020B0503020204020204" charset="-122"/>
            </a:endParaRPr>
          </a:p>
        </p:txBody>
      </p:sp>
      <p:sp>
        <p:nvSpPr>
          <p:cNvPr id="32" name="Shape 30"/>
          <p:cNvSpPr/>
          <p:nvPr/>
        </p:nvSpPr>
        <p:spPr>
          <a:xfrm>
            <a:off x="9551670" y="2389505"/>
            <a:ext cx="2103120" cy="1724025"/>
          </a:xfrm>
          <a:prstGeom prst="rect">
            <a:avLst/>
          </a:prstGeom>
          <a:solidFill>
            <a:srgbClr val="FFFFFF"/>
          </a:solidFill>
          <a:ln w="6350">
            <a:solidFill>
              <a:srgbClr val="DEE0E3"/>
            </a:solidFill>
            <a:prstDash val="solid"/>
          </a:ln>
          <a:effectLst>
            <a:outerShdw blurRad="50800" dist="12700" dir="5400000" algn="bl" rotWithShape="0">
              <a:srgbClr val="000000">
                <a:alpha val="8000"/>
              </a:srgbClr>
            </a:outerShdw>
          </a:effectLst>
        </p:spPr>
        <p:txBody>
          <a:bodyPr/>
          <a:lstStyle/>
          <a:p>
            <a:endParaRPr lang="zh-CN" altLang="en-US">
              <a:latin typeface="微软雅黑" panose="020B0503020204020204" charset="-122"/>
              <a:ea typeface="微软雅黑" panose="020B0503020204020204" charset="-122"/>
            </a:endParaRPr>
          </a:p>
        </p:txBody>
      </p:sp>
      <p:sp>
        <p:nvSpPr>
          <p:cNvPr id="33" name="Shape 31"/>
          <p:cNvSpPr/>
          <p:nvPr/>
        </p:nvSpPr>
        <p:spPr>
          <a:xfrm>
            <a:off x="9642983" y="2480945"/>
            <a:ext cx="320040" cy="320040"/>
          </a:xfrm>
          <a:prstGeom prst="ellipse">
            <a:avLst/>
          </a:prstGeom>
          <a:solidFill>
            <a:srgbClr val="C00000"/>
          </a:solidFill>
          <a:ln w="12700">
            <a:solidFill>
              <a:srgbClr val="333333"/>
            </a:solidFill>
            <a:prstDash val="solid"/>
          </a:ln>
        </p:spPr>
        <p:txBody>
          <a:bodyPr/>
          <a:lstStyle/>
          <a:p>
            <a:endParaRPr lang="zh-CN" altLang="en-US">
              <a:latin typeface="微软雅黑" panose="020B0503020204020204" charset="-122"/>
              <a:ea typeface="微软雅黑" panose="020B0503020204020204" charset="-122"/>
            </a:endParaRPr>
          </a:p>
        </p:txBody>
      </p:sp>
      <p:sp>
        <p:nvSpPr>
          <p:cNvPr id="34" name="Text 32"/>
          <p:cNvSpPr/>
          <p:nvPr/>
        </p:nvSpPr>
        <p:spPr>
          <a:xfrm>
            <a:off x="9642983" y="2480945"/>
            <a:ext cx="320040" cy="320040"/>
          </a:xfrm>
          <a:prstGeom prst="rect">
            <a:avLst/>
          </a:prstGeom>
          <a:noFill/>
          <a:extLst>
            <a:ext uri="{909E8E84-426E-40DD-AFC4-6F175D3DCCD1}">
              <a14:hiddenFill xmlns:a14="http://schemas.microsoft.com/office/drawing/2010/main">
                <a:solidFill>
                  <a:schemeClr val="accent1"/>
                </a:solidFill>
              </a14:hiddenFill>
            </a:ext>
          </a:extLst>
        </p:spPr>
        <p:style>
          <a:lnRef idx="0">
            <a:srgbClr val="FFFFFF"/>
          </a:lnRef>
          <a:fillRef idx="1">
            <a:schemeClr val="accent1"/>
          </a:fillRef>
          <a:effectRef idx="0">
            <a:srgbClr val="FFFFFF"/>
          </a:effectRef>
          <a:fontRef idx="minor">
            <a:schemeClr val="lt1"/>
          </a:fontRef>
        </p:style>
        <p:txBody>
          <a:bodyPr wrap="square" lIns="0" tIns="0" rIns="0" bIns="0" rtlCol="0" anchor="ctr"/>
          <a:lstStyle/>
          <a:p>
            <a:pPr marL="0" indent="0" algn="ctr">
              <a:buNone/>
            </a:pPr>
            <a:r>
              <a:rPr lang="en-US" sz="1600" b="1" dirty="0">
                <a:solidFill>
                  <a:schemeClr val="bg1"/>
                </a:solidFill>
                <a:latin typeface="微软雅黑" panose="020B0503020204020204" charset="-122"/>
                <a:ea typeface="微软雅黑" panose="020B0503020204020204" charset="-122"/>
                <a:cs typeface="微软雅黑" panose="020B0503020204020204" pitchFamily="34" charset="-120"/>
              </a:rPr>
              <a:t>5</a:t>
            </a:r>
            <a:endParaRPr lang="en-US" sz="1600" b="1" dirty="0">
              <a:solidFill>
                <a:schemeClr val="bg1"/>
              </a:solidFill>
              <a:latin typeface="微软雅黑" panose="020B0503020204020204" charset="-122"/>
              <a:ea typeface="微软雅黑" panose="020B0503020204020204" charset="-122"/>
              <a:cs typeface="微软雅黑" panose="020B0503020204020204" pitchFamily="34" charset="-120"/>
            </a:endParaRPr>
          </a:p>
        </p:txBody>
      </p:sp>
      <p:sp>
        <p:nvSpPr>
          <p:cNvPr id="35" name="Text 33"/>
          <p:cNvSpPr/>
          <p:nvPr/>
        </p:nvSpPr>
        <p:spPr>
          <a:xfrm>
            <a:off x="10008743" y="2480945"/>
            <a:ext cx="1554480" cy="320040"/>
          </a:xfrm>
          <a:prstGeom prst="rect">
            <a:avLst/>
          </a:prstGeom>
          <a:noFill/>
          <a:ln>
            <a:noFill/>
          </a:ln>
        </p:spPr>
        <p:txBody>
          <a:bodyPr wrap="square" lIns="0" tIns="0" rIns="0" bIns="0" rtlCol="0" anchor="ctr">
            <a:noAutofit/>
          </a:bodyPr>
          <a:lstStyle/>
          <a:p>
            <a:pPr lvl="0" algn="l">
              <a:buClrTx/>
              <a:buSzTx/>
              <a:buFontTx/>
            </a:pPr>
            <a:r>
              <a:rPr lang="en-US" sz="1400" b="1" dirty="0">
                <a:solidFill>
                  <a:schemeClr val="accent1"/>
                </a:solidFill>
                <a:latin typeface="微软雅黑" panose="020B0503020204020204" charset="-122"/>
                <a:ea typeface="微软雅黑" panose="020B0503020204020204" charset="-122"/>
                <a:cs typeface="微软雅黑" panose="020B0503020204020204" pitchFamily="34" charset="-120"/>
                <a:sym typeface="+mn-ea"/>
              </a:rPr>
              <a:t>多源标注与联动</a:t>
            </a:r>
            <a:endParaRPr lang="en-US" sz="1400" b="1" dirty="0">
              <a:solidFill>
                <a:schemeClr val="accent1"/>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36" name="Text 34"/>
          <p:cNvSpPr/>
          <p:nvPr/>
        </p:nvSpPr>
        <p:spPr>
          <a:xfrm>
            <a:off x="9688830" y="2892425"/>
            <a:ext cx="1828800" cy="1016635"/>
          </a:xfrm>
          <a:prstGeom prst="rect">
            <a:avLst/>
          </a:prstGeom>
          <a:noFill/>
        </p:spPr>
        <p:txBody>
          <a:bodyPr wrap="square" rtlCol="0" anchor="t"/>
          <a:lstStyle/>
          <a:p>
            <a:pPr marL="0" indent="0">
              <a:lnSpc>
                <a:spcPct val="130000"/>
              </a:lnSpc>
              <a:buNone/>
            </a:pPr>
            <a:r>
              <a:rPr lang="en-US" sz="1200" dirty="0">
                <a:solidFill>
                  <a:srgbClr val="1A1A1A"/>
                </a:solidFill>
                <a:latin typeface="微软雅黑" panose="020B0503020204020204" charset="-122"/>
                <a:ea typeface="微软雅黑" panose="020B0503020204020204" charset="-122"/>
                <a:cs typeface="微软雅黑" panose="020B0503020204020204" charset="-122"/>
              </a:rPr>
              <a:t>合并文档在技术元数据“</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知识</a:t>
            </a:r>
            <a:r>
              <a:rPr lang="en-US" sz="1200" dirty="0">
                <a:solidFill>
                  <a:srgbClr val="1A1A1A"/>
                </a:solidFill>
                <a:latin typeface="微软雅黑" panose="020B0503020204020204" charset="-122"/>
                <a:ea typeface="微软雅黑" panose="020B0503020204020204" charset="-122"/>
                <a:cs typeface="微软雅黑" panose="020B0503020204020204" charset="-122"/>
              </a:rPr>
              <a:t>来源”</a:t>
            </a:r>
            <a:r>
              <a:rPr lang="zh-CN" altLang="en-US" sz="1200" dirty="0">
                <a:solidFill>
                  <a:srgbClr val="1A1A1A"/>
                </a:solidFill>
                <a:latin typeface="微软雅黑" panose="020B0503020204020204" charset="-122"/>
                <a:ea typeface="微软雅黑" panose="020B0503020204020204" charset="-122"/>
                <a:cs typeface="微软雅黑" panose="020B0503020204020204" charset="-122"/>
              </a:rPr>
              <a:t>进行多源标注</a:t>
            </a:r>
            <a:r>
              <a:rPr lang="en-US" sz="1200" dirty="0">
                <a:solidFill>
                  <a:srgbClr val="1A1A1A"/>
                </a:solidFill>
                <a:latin typeface="微软雅黑" panose="020B0503020204020204" charset="-122"/>
                <a:ea typeface="微软雅黑" panose="020B0503020204020204" charset="-122"/>
                <a:cs typeface="微软雅黑" panose="020B0503020204020204" charset="-122"/>
              </a:rPr>
              <a:t>；任一来源更新时通过唯一ID追溯同步</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3" name="AutoShape 9"/>
          <p:cNvSpPr/>
          <p:nvPr/>
        </p:nvSpPr>
        <p:spPr>
          <a:xfrm>
            <a:off x="508000" y="2044700"/>
            <a:ext cx="2377440" cy="304800"/>
          </a:xfrm>
          <a:prstGeom prst="roundRect">
            <a:avLst>
              <a:gd name="adj" fmla="val 0"/>
            </a:avLst>
          </a:prstGeom>
          <a:solidFill>
            <a:srgbClr val="2E75B6">
              <a:alpha val="100000"/>
            </a:srgbClr>
          </a:solidFill>
          <a:ln w="25400" cap="flat" cmpd="sng">
            <a:noFill/>
            <a:prstDash val="solid"/>
            <a:round/>
          </a:ln>
        </p:spPr>
        <p:txBody>
          <a:bodyPr vert="horz" wrap="square" lIns="63500" tIns="63500" rIns="63500" bIns="63500" rtlCol="0" anchor="ctr"/>
          <a:lstStyle/>
          <a:p>
            <a:pPr algn="ctr">
              <a:defRPr/>
            </a:pPr>
            <a:r>
              <a:rPr lang="zh-CN" sz="1600" b="1">
                <a:solidFill>
                  <a:schemeClr val="bg1"/>
                </a:solidFill>
                <a:latin typeface="微软雅黑" panose="020B0503020204020204" charset="-122"/>
                <a:ea typeface="微软雅黑" panose="020B0503020204020204" charset="-122"/>
              </a:rPr>
              <a:t>文档核验流程</a:t>
            </a:r>
            <a:endParaRPr lang="zh-CN" sz="1600" b="1">
              <a:solidFill>
                <a:schemeClr val="bg1"/>
              </a:solidFill>
              <a:latin typeface="微软雅黑" panose="020B0503020204020204" charset="-122"/>
              <a:ea typeface="微软雅黑" panose="020B0503020204020204" charset="-122"/>
            </a:endParaRPr>
          </a:p>
        </p:txBody>
      </p:sp>
      <p:sp>
        <p:nvSpPr>
          <p:cNvPr id="4" name="AutoShape 9"/>
          <p:cNvSpPr/>
          <p:nvPr/>
        </p:nvSpPr>
        <p:spPr>
          <a:xfrm>
            <a:off x="480695" y="4267835"/>
            <a:ext cx="2404745" cy="304800"/>
          </a:xfrm>
          <a:prstGeom prst="roundRect">
            <a:avLst>
              <a:gd name="adj" fmla="val 0"/>
            </a:avLst>
          </a:prstGeom>
          <a:solidFill>
            <a:srgbClr val="2E75B6">
              <a:alpha val="100000"/>
            </a:srgbClr>
          </a:solidFill>
          <a:ln w="25400" cap="flat" cmpd="sng">
            <a:noFill/>
            <a:prstDash val="solid"/>
            <a:round/>
          </a:ln>
        </p:spPr>
        <p:txBody>
          <a:bodyPr vert="horz" wrap="square" lIns="63500" tIns="63500" rIns="63500" bIns="63500" rtlCol="0" anchor="ctr"/>
          <a:lstStyle/>
          <a:p>
            <a:pPr algn="ctr">
              <a:defRPr/>
            </a:pPr>
            <a:r>
              <a:rPr lang="zh-CN" sz="1600" b="1">
                <a:solidFill>
                  <a:schemeClr val="bg1"/>
                </a:solidFill>
                <a:latin typeface="微软雅黑" panose="020B0503020204020204" charset="-122"/>
                <a:ea typeface="微软雅黑" panose="020B0503020204020204" charset="-122"/>
              </a:rPr>
              <a:t>查重判断逻辑与处理规则</a:t>
            </a:r>
            <a:endParaRPr lang="zh-CN" sz="1600" b="1">
              <a:solidFill>
                <a:schemeClr val="bg1"/>
              </a:solidFill>
              <a:latin typeface="微软雅黑" panose="020B0503020204020204" charset="-122"/>
              <a:ea typeface="微软雅黑" panose="020B0503020204020204" charset="-122"/>
            </a:endParaRPr>
          </a:p>
        </p:txBody>
      </p:sp>
      <p:graphicFrame>
        <p:nvGraphicFramePr>
          <p:cNvPr id="5" name="Table 0"/>
          <p:cNvGraphicFramePr>
            <a:graphicFrameLocks noGrp="1"/>
          </p:cNvGraphicFramePr>
          <p:nvPr>
            <p:custDataLst>
              <p:tags r:id="rId1"/>
            </p:custDataLst>
          </p:nvPr>
        </p:nvGraphicFramePr>
        <p:xfrm>
          <a:off x="471805" y="4728210"/>
          <a:ext cx="11247120" cy="1711960"/>
        </p:xfrm>
        <a:graphic>
          <a:graphicData uri="http://schemas.openxmlformats.org/drawingml/2006/table">
            <a:tbl>
              <a:tblPr/>
              <a:tblGrid>
                <a:gridCol w="1371600"/>
                <a:gridCol w="1645920"/>
                <a:gridCol w="8229600"/>
              </a:tblGrid>
              <a:tr h="427990">
                <a:tc>
                  <a:txBody>
                    <a:bodyPr/>
                    <a:lstStyle/>
                    <a:p>
                      <a:pPr marL="0" indent="0" algn="l">
                        <a:buNone/>
                      </a:pP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rPr>
                        <a:t>重合</a:t>
                      </a:r>
                      <a:r>
                        <a:rPr lang="en-US" sz="1200" b="1" dirty="0">
                          <a:solidFill>
                            <a:srgbClr val="FFFFFF"/>
                          </a:solidFill>
                          <a:latin typeface="微软雅黑" panose="020B0503020204020204" charset="-122"/>
                          <a:ea typeface="微软雅黑" panose="020B0503020204020204" charset="-122"/>
                          <a:cs typeface="微软雅黑" panose="020B0503020204020204" pitchFamily="34" charset="-120"/>
                        </a:rPr>
                        <a:t>率（</a:t>
                      </a:r>
                      <a:r>
                        <a:rPr lang="zh-CN" altLang="en-US" sz="1200" b="1" dirty="0">
                          <a:solidFill>
                            <a:srgbClr val="FFFFFF"/>
                          </a:solidFill>
                          <a:latin typeface="微软雅黑" panose="020B0503020204020204" charset="-122"/>
                          <a:ea typeface="微软雅黑" panose="020B0503020204020204" charset="-122"/>
                          <a:cs typeface="微软雅黑" panose="020B0503020204020204" pitchFamily="34" charset="-120"/>
                        </a:rPr>
                        <a:t>可调整</a:t>
                      </a:r>
                      <a:r>
                        <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rPr>
                        <a:t>）</a:t>
                      </a:r>
                      <a:endParaRPr lang="en-US" altLang="zh-CN" sz="1200" b="1" dirty="0">
                        <a:solidFill>
                          <a:srgbClr val="FFFFFF"/>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305087"/>
                    </a:solidFill>
                  </a:tcPr>
                </a:tc>
                <a:tc>
                  <a:txBody>
                    <a:bodyPr/>
                    <a:lstStyle/>
                    <a:p>
                      <a:pPr marL="0" indent="0" algn="l">
                        <a:buNone/>
                      </a:pPr>
                      <a:r>
                        <a:rPr lang="en-US" sz="1200" b="1" dirty="0">
                          <a:solidFill>
                            <a:srgbClr val="FFFFFF"/>
                          </a:solidFill>
                          <a:latin typeface="微软雅黑" panose="020B0503020204020204" charset="-122"/>
                          <a:ea typeface="微软雅黑" panose="020B0503020204020204" charset="-122"/>
                          <a:cs typeface="微软雅黑" panose="020B0503020204020204" pitchFamily="34" charset="-120"/>
                        </a:rPr>
                        <a:t>判定结果</a:t>
                      </a:r>
                      <a:endParaRPr lang="en-US" sz="1200" b="1" dirty="0">
                        <a:solidFill>
                          <a:srgbClr val="FFFFFF"/>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305087"/>
                    </a:solidFill>
                  </a:tcPr>
                </a:tc>
                <a:tc>
                  <a:txBody>
                    <a:bodyPr/>
                    <a:lstStyle/>
                    <a:p>
                      <a:pPr marL="0" indent="0" algn="l">
                        <a:buNone/>
                      </a:pPr>
                      <a:r>
                        <a:rPr lang="en-US" sz="1200" b="1" dirty="0">
                          <a:solidFill>
                            <a:srgbClr val="FFFFFF"/>
                          </a:solidFill>
                          <a:latin typeface="微软雅黑" panose="020B0503020204020204" charset="-122"/>
                          <a:ea typeface="微软雅黑" panose="020B0503020204020204" charset="-122"/>
                          <a:cs typeface="微软雅黑" panose="020B0503020204020204" pitchFamily="34" charset="-120"/>
                        </a:rPr>
                        <a:t>处理方式</a:t>
                      </a:r>
                      <a:endParaRPr lang="en-US" sz="1200" b="1" dirty="0">
                        <a:solidFill>
                          <a:srgbClr val="FFFFFF"/>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305087"/>
                    </a:solidFill>
                  </a:tcPr>
                </a:tc>
              </a:tr>
              <a:tr h="427990">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pitchFamily="34" charset="-120"/>
                        </a:rPr>
                        <a:t>≥ 90%</a:t>
                      </a:r>
                      <a:endParaRPr lang="en-US" sz="1200" dirty="0">
                        <a:solidFill>
                          <a:srgbClr val="1A1A1A"/>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8F7F8"/>
                    </a:solidFill>
                  </a:tcPr>
                </a:tc>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pitchFamily="34" charset="-120"/>
                        </a:rPr>
                        <a:t>实质相同</a:t>
                      </a:r>
                      <a:endParaRPr lang="en-US" sz="1200" dirty="0">
                        <a:solidFill>
                          <a:srgbClr val="1A1A1A"/>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8F7F8"/>
                    </a:solidFill>
                  </a:tcPr>
                </a:tc>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charset="-122"/>
                        </a:rPr>
                        <a:t>合并为一个知识资产，保留权威度更高版本；生成唯一知识ID；技术元数据“多源来源”字段标注所有来源系统及原始文档名</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8F7F8"/>
                    </a:solidFill>
                  </a:tcPr>
                </a:tc>
              </a:tr>
              <a:tr h="427990">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pitchFamily="34" charset="-120"/>
                        </a:rPr>
                        <a:t>80% - 90%</a:t>
                      </a:r>
                      <a:endParaRPr lang="en-US" sz="1200" dirty="0">
                        <a:solidFill>
                          <a:srgbClr val="1A1A1A"/>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pitchFamily="34" charset="-120"/>
                        </a:rPr>
                        <a:t>疑似重复</a:t>
                      </a:r>
                      <a:endParaRPr lang="en-US" sz="1200" dirty="0">
                        <a:solidFill>
                          <a:srgbClr val="1A1A1A"/>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charset="-122"/>
                        </a:rPr>
                        <a:t>推送人工审核队列，由知识owner确认合并或保留</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FFFFF"/>
                    </a:solidFill>
                  </a:tcPr>
                </a:tc>
              </a:tr>
              <a:tr h="427990">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pitchFamily="34" charset="-120"/>
                        </a:rPr>
                        <a:t>&lt; 80%</a:t>
                      </a:r>
                      <a:endParaRPr lang="en-US" sz="1200" dirty="0">
                        <a:solidFill>
                          <a:srgbClr val="1A1A1A"/>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8F7F8"/>
                    </a:solidFill>
                  </a:tcPr>
                </a:tc>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pitchFamily="34" charset="-120"/>
                        </a:rPr>
                        <a:t>内容不同</a:t>
                      </a:r>
                      <a:endParaRPr lang="en-US" sz="1200" dirty="0">
                        <a:solidFill>
                          <a:srgbClr val="1A1A1A"/>
                        </a:solidFill>
                        <a:latin typeface="微软雅黑" panose="020B0503020204020204" charset="-122"/>
                        <a:ea typeface="微软雅黑" panose="020B0503020204020204" charset="-122"/>
                        <a:cs typeface="微软雅黑" panose="020B0503020204020204" pitchFamily="34" charset="-120"/>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8F7F8"/>
                    </a:solidFill>
                  </a:tcPr>
                </a:tc>
                <a:tc>
                  <a:txBody>
                    <a:bodyPr/>
                    <a:lstStyle/>
                    <a:p>
                      <a:pPr marL="0" indent="0" algn="l">
                        <a:buNone/>
                      </a:pPr>
                      <a:r>
                        <a:rPr lang="en-US" sz="1200" dirty="0">
                          <a:solidFill>
                            <a:srgbClr val="1A1A1A"/>
                          </a:solidFill>
                          <a:latin typeface="微软雅黑" panose="020B0503020204020204" charset="-122"/>
                          <a:ea typeface="微软雅黑" panose="020B0503020204020204" charset="-122"/>
                          <a:cs typeface="微软雅黑" panose="020B0503020204020204" charset="-122"/>
                        </a:rPr>
                        <a:t>各自生成独立唯一ID</a:t>
                      </a:r>
                      <a:endParaRPr lang="en-US" sz="1200" dirty="0">
                        <a:solidFill>
                          <a:srgbClr val="1A1A1A"/>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8F7F8"/>
                    </a:solidFill>
                  </a:tcPr>
                </a:tc>
              </a:tr>
            </a:tbl>
          </a:graphicData>
        </a:graphic>
      </p:graphicFrame>
      <p:sp>
        <p:nvSpPr>
          <p:cNvPr id="7" name="矩形 6"/>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6" name="矩形 5"/>
          <p:cNvSpPr/>
          <p:nvPr/>
        </p:nvSpPr>
        <p:spPr>
          <a:xfrm>
            <a:off x="9668510" y="21590"/>
            <a:ext cx="953770" cy="17208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7" name="矩形 36"/>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8" name="矩形 37"/>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2.2.3 资源管理--文档</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库</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管理</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7" name="Shape 5"/>
          <p:cNvSpPr/>
          <p:nvPr/>
        </p:nvSpPr>
        <p:spPr>
          <a:xfrm>
            <a:off x="381000" y="2102485"/>
            <a:ext cx="5619750" cy="4577715"/>
          </a:xfrm>
          <a:prstGeom prst="roundRect">
            <a:avLst>
              <a:gd name="adj" fmla="val 3000"/>
            </a:avLst>
          </a:prstGeom>
          <a:solidFill>
            <a:srgbClr val="EFF6FF"/>
          </a:solidFill>
          <a:ln w="12700">
            <a:solidFill>
              <a:srgbClr val="93C5FD"/>
            </a:solidFill>
            <a:prstDash val="solid"/>
          </a:ln>
        </p:spPr>
      </p:sp>
      <p:sp>
        <p:nvSpPr>
          <p:cNvPr id="8" name="Shape 6"/>
          <p:cNvSpPr/>
          <p:nvPr/>
        </p:nvSpPr>
        <p:spPr>
          <a:xfrm>
            <a:off x="381000" y="2102485"/>
            <a:ext cx="561975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sp>
      <p:sp>
        <p:nvSpPr>
          <p:cNvPr id="9" name="Shape 7"/>
          <p:cNvSpPr/>
          <p:nvPr/>
        </p:nvSpPr>
        <p:spPr>
          <a:xfrm>
            <a:off x="533400" y="2159635"/>
            <a:ext cx="266700" cy="266700"/>
          </a:xfrm>
          <a:custGeom>
            <a:avLst/>
            <a:gdLst/>
            <a:ahLst/>
            <a:cxnLst/>
            <a:rect l="l" t="t" r="r" b="b"/>
            <a:pathLst>
              <a:path w="355600" h="355600">
                <a:moveTo>
                  <a:pt x="0" y="44450"/>
                </a:moveTo>
                <a:cubicBezTo>
                  <a:pt x="0" y="19933"/>
                  <a:pt x="26577" y="0"/>
                  <a:pt x="59267" y="0"/>
                </a:cubicBezTo>
                <a:lnTo>
                  <a:pt x="197710" y="0"/>
                </a:lnTo>
                <a:cubicBezTo>
                  <a:pt x="213453" y="0"/>
                  <a:pt x="228547" y="4653"/>
                  <a:pt x="239660" y="12988"/>
                </a:cubicBezTo>
                <a:lnTo>
                  <a:pt x="338283" y="87025"/>
                </a:lnTo>
                <a:cubicBezTo>
                  <a:pt x="349396" y="95359"/>
                  <a:pt x="355600" y="106680"/>
                  <a:pt x="355600" y="118487"/>
                </a:cubicBezTo>
                <a:lnTo>
                  <a:pt x="355600" y="311150"/>
                </a:lnTo>
                <a:cubicBezTo>
                  <a:pt x="355600" y="335667"/>
                  <a:pt x="329023" y="355600"/>
                  <a:pt x="296333" y="355600"/>
                </a:cubicBezTo>
                <a:lnTo>
                  <a:pt x="59267" y="355600"/>
                </a:lnTo>
                <a:cubicBezTo>
                  <a:pt x="26577" y="355600"/>
                  <a:pt x="0" y="335667"/>
                  <a:pt x="0" y="311150"/>
                </a:cubicBezTo>
                <a:lnTo>
                  <a:pt x="0" y="44450"/>
                </a:lnTo>
                <a:close/>
                <a:moveTo>
                  <a:pt x="192617" y="40630"/>
                </a:moveTo>
                <a:lnTo>
                  <a:pt x="192617" y="105569"/>
                </a:lnTo>
                <a:cubicBezTo>
                  <a:pt x="192617" y="114806"/>
                  <a:pt x="202525" y="122238"/>
                  <a:pt x="214842" y="122238"/>
                </a:cubicBezTo>
                <a:lnTo>
                  <a:pt x="301427" y="122238"/>
                </a:lnTo>
                <a:lnTo>
                  <a:pt x="192617" y="40630"/>
                </a:lnTo>
                <a:close/>
                <a:moveTo>
                  <a:pt x="111125" y="177800"/>
                </a:moveTo>
                <a:cubicBezTo>
                  <a:pt x="98809" y="177800"/>
                  <a:pt x="88900" y="185231"/>
                  <a:pt x="88900" y="194469"/>
                </a:cubicBezTo>
                <a:cubicBezTo>
                  <a:pt x="88900" y="203706"/>
                  <a:pt x="98809" y="211138"/>
                  <a:pt x="111125" y="211138"/>
                </a:cubicBezTo>
                <a:lnTo>
                  <a:pt x="244475" y="211138"/>
                </a:lnTo>
                <a:cubicBezTo>
                  <a:pt x="256791" y="211138"/>
                  <a:pt x="266700" y="203706"/>
                  <a:pt x="266700" y="194469"/>
                </a:cubicBezTo>
                <a:cubicBezTo>
                  <a:pt x="266700" y="185231"/>
                  <a:pt x="256791" y="177800"/>
                  <a:pt x="244475" y="177800"/>
                </a:cubicBezTo>
                <a:lnTo>
                  <a:pt x="111125" y="177800"/>
                </a:lnTo>
                <a:close/>
                <a:moveTo>
                  <a:pt x="111125" y="244475"/>
                </a:moveTo>
                <a:cubicBezTo>
                  <a:pt x="98809" y="244475"/>
                  <a:pt x="88900" y="251906"/>
                  <a:pt x="88900" y="261144"/>
                </a:cubicBezTo>
                <a:cubicBezTo>
                  <a:pt x="88900" y="270381"/>
                  <a:pt x="98809" y="277813"/>
                  <a:pt x="111125" y="277813"/>
                </a:cubicBezTo>
                <a:lnTo>
                  <a:pt x="244475" y="277813"/>
                </a:lnTo>
                <a:cubicBezTo>
                  <a:pt x="256791" y="277813"/>
                  <a:pt x="266700" y="270381"/>
                  <a:pt x="266700" y="261144"/>
                </a:cubicBezTo>
                <a:cubicBezTo>
                  <a:pt x="266700" y="251906"/>
                  <a:pt x="256791" y="244475"/>
                  <a:pt x="244475" y="244475"/>
                </a:cubicBezTo>
                <a:lnTo>
                  <a:pt x="111125" y="244475"/>
                </a:lnTo>
                <a:close/>
              </a:path>
            </a:pathLst>
          </a:custGeom>
          <a:solidFill>
            <a:srgbClr val="FFFFFF"/>
          </a:solidFill>
        </p:spPr>
      </p:sp>
      <p:sp>
        <p:nvSpPr>
          <p:cNvPr id="10" name="Text 8"/>
          <p:cNvSpPr/>
          <p:nvPr/>
        </p:nvSpPr>
        <p:spPr>
          <a:xfrm>
            <a:off x="876300" y="2159635"/>
            <a:ext cx="4953000" cy="266700"/>
          </a:xfrm>
          <a:prstGeom prst="rect">
            <a:avLst/>
          </a:prstGeom>
          <a:noFill/>
        </p:spPr>
        <p:txBody>
          <a:bodyPr wrap="none" lIns="0" tIns="0" rIns="0" bIns="0" rtlCol="0" anchor="ctr"/>
          <a:lstStyle/>
          <a:p>
            <a:pPr algn="l">
              <a:lnSpc>
                <a:spcPct val="120000"/>
              </a:lnSpc>
            </a:pPr>
            <a:r>
              <a:rPr lang="en-US" sz="1500" b="1" dirty="0">
                <a:solidFill>
                  <a:srgbClr val="FFFFFF"/>
                </a:solidFill>
                <a:latin typeface="微软雅黑" panose="020B0503020204020204" charset="-122"/>
                <a:ea typeface="微软雅黑" panose="020B0503020204020204" charset="-122"/>
                <a:cs typeface="MiSans" pitchFamily="34" charset="-120"/>
              </a:rPr>
              <a:t>类实体文档</a:t>
            </a:r>
            <a:endParaRPr lang="en-US" sz="1500" b="1" dirty="0">
              <a:solidFill>
                <a:srgbClr val="FFFFFF"/>
              </a:solidFill>
              <a:latin typeface="微软雅黑" panose="020B0503020204020204" charset="-122"/>
              <a:ea typeface="微软雅黑" panose="020B0503020204020204" charset="-122"/>
              <a:cs typeface="MiSans" pitchFamily="34" charset="-120"/>
            </a:endParaRPr>
          </a:p>
        </p:txBody>
      </p:sp>
      <p:sp>
        <p:nvSpPr>
          <p:cNvPr id="26" name="Shape 24"/>
          <p:cNvSpPr/>
          <p:nvPr/>
        </p:nvSpPr>
        <p:spPr>
          <a:xfrm>
            <a:off x="487045" y="2620645"/>
            <a:ext cx="5314950" cy="1209675"/>
          </a:xfrm>
          <a:prstGeom prst="roundRect">
            <a:avLst>
              <a:gd name="adj" fmla="val 5000"/>
            </a:avLst>
          </a:prstGeom>
          <a:solidFill>
            <a:srgbClr val="EFF6FF"/>
          </a:solidFill>
          <a:ln w="12700">
            <a:solidFill>
              <a:srgbClr val="BFDBFE"/>
            </a:solidFill>
            <a:prstDash val="solid"/>
          </a:ln>
        </p:spPr>
      </p:sp>
      <p:sp>
        <p:nvSpPr>
          <p:cNvPr id="28" name="Text 26"/>
          <p:cNvSpPr/>
          <p:nvPr/>
        </p:nvSpPr>
        <p:spPr>
          <a:xfrm>
            <a:off x="944245" y="2734945"/>
            <a:ext cx="1905000" cy="247650"/>
          </a:xfrm>
          <a:prstGeom prst="rect">
            <a:avLst/>
          </a:prstGeom>
          <a:noFill/>
        </p:spPr>
        <p:txBody>
          <a:bodyPr wrap="none" lIns="0" tIns="0" rIns="0" bIns="0" rtlCol="0" anchor="t"/>
          <a:lstStyle/>
          <a:p>
            <a:pPr algn="l">
              <a:lnSpc>
                <a:spcPct val="120000"/>
              </a:lnSpc>
            </a:pPr>
            <a:r>
              <a:rPr lang="zh-CN" altLang="en-US" sz="1400" b="1" dirty="0">
                <a:solidFill>
                  <a:srgbClr val="0F2B5B"/>
                </a:solidFill>
                <a:latin typeface="微软雅黑" panose="020B0503020204020204" charset="-122"/>
                <a:ea typeface="微软雅黑" panose="020B0503020204020204" charset="-122"/>
                <a:cs typeface="MiSans" pitchFamily="34" charset="-120"/>
              </a:rPr>
              <a:t>分类依据</a:t>
            </a:r>
            <a:endParaRPr lang="zh-CN" altLang="en-US" sz="1400" b="1" dirty="0">
              <a:solidFill>
                <a:srgbClr val="0F2B5B"/>
              </a:solidFill>
              <a:latin typeface="微软雅黑" panose="020B0503020204020204" charset="-122"/>
              <a:ea typeface="微软雅黑" panose="020B0503020204020204" charset="-122"/>
              <a:cs typeface="MiSans" pitchFamily="34" charset="-120"/>
            </a:endParaRPr>
          </a:p>
        </p:txBody>
      </p:sp>
      <p:sp>
        <p:nvSpPr>
          <p:cNvPr id="29" name="Text 27"/>
          <p:cNvSpPr/>
          <p:nvPr/>
        </p:nvSpPr>
        <p:spPr>
          <a:xfrm>
            <a:off x="639445" y="3039745"/>
            <a:ext cx="5010150" cy="723900"/>
          </a:xfrm>
          <a:prstGeom prst="rect">
            <a:avLst/>
          </a:prstGeom>
          <a:noFill/>
        </p:spPr>
        <p:txBody>
          <a:bodyPr wrap="square" lIns="0" tIns="0" rIns="0" bIns="0" rtlCol="0" anchor="t"/>
          <a:lstStyle/>
          <a:p>
            <a:pPr algn="l">
              <a:lnSpc>
                <a:spcPct val="15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200" dirty="0">
                <a:solidFill>
                  <a:srgbClr val="1E293B"/>
                </a:solidFill>
                <a:latin typeface="微软雅黑" panose="020B0503020204020204" charset="-122"/>
                <a:ea typeface="微软雅黑" panose="020B0503020204020204" charset="-122"/>
                <a:cs typeface="微软雅黑" panose="020B0503020204020204" charset="-122"/>
              </a:rPr>
              <a:t>指承载通用规则、标准、方案、研究结论的规范性、普适性文档，适用于一类业务或全行范围，实行版本生命周期管理，是业务办理的规则依据。</a:t>
            </a:r>
            <a:endParaRPr lang="zh-CN" alt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33" name="Shape 31"/>
          <p:cNvSpPr/>
          <p:nvPr/>
        </p:nvSpPr>
        <p:spPr>
          <a:xfrm>
            <a:off x="6191250" y="2102485"/>
            <a:ext cx="5619750" cy="4577715"/>
          </a:xfrm>
          <a:prstGeom prst="roundRect">
            <a:avLst>
              <a:gd name="adj" fmla="val 3000"/>
            </a:avLst>
          </a:prstGeom>
          <a:solidFill>
            <a:srgbClr val="EFF6FF"/>
          </a:solidFill>
          <a:ln w="12700">
            <a:solidFill>
              <a:srgbClr val="93C5FD"/>
            </a:solidFill>
            <a:prstDash val="solid"/>
          </a:ln>
        </p:spPr>
      </p:sp>
      <p:sp>
        <p:nvSpPr>
          <p:cNvPr id="34" name="Shape 32"/>
          <p:cNvSpPr/>
          <p:nvPr/>
        </p:nvSpPr>
        <p:spPr>
          <a:xfrm>
            <a:off x="6191250" y="2102485"/>
            <a:ext cx="561975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sp>
      <p:sp>
        <p:nvSpPr>
          <p:cNvPr id="35" name="Shape 33"/>
          <p:cNvSpPr/>
          <p:nvPr/>
        </p:nvSpPr>
        <p:spPr>
          <a:xfrm>
            <a:off x="6343650" y="2159635"/>
            <a:ext cx="266700" cy="266700"/>
          </a:xfrm>
          <a:custGeom>
            <a:avLst/>
            <a:gdLst/>
            <a:ahLst/>
            <a:cxnLst/>
            <a:rect l="l" t="t" r="r" b="b"/>
            <a:pathLst>
              <a:path w="355600" h="355600">
                <a:moveTo>
                  <a:pt x="0" y="66675"/>
                </a:moveTo>
                <a:cubicBezTo>
                  <a:pt x="0" y="42158"/>
                  <a:pt x="22781" y="22225"/>
                  <a:pt x="50800" y="22225"/>
                </a:cubicBezTo>
                <a:lnTo>
                  <a:pt x="304800" y="22225"/>
                </a:lnTo>
                <a:cubicBezTo>
                  <a:pt x="332819" y="22225"/>
                  <a:pt x="355600" y="42158"/>
                  <a:pt x="355600" y="66675"/>
                </a:cubicBezTo>
                <a:lnTo>
                  <a:pt x="355600" y="288925"/>
                </a:lnTo>
                <a:cubicBezTo>
                  <a:pt x="355600" y="313442"/>
                  <a:pt x="332819" y="333375"/>
                  <a:pt x="304800" y="333375"/>
                </a:cubicBezTo>
                <a:lnTo>
                  <a:pt x="50800" y="333375"/>
                </a:lnTo>
                <a:cubicBezTo>
                  <a:pt x="22781" y="333375"/>
                  <a:pt x="0" y="313442"/>
                  <a:pt x="0" y="288925"/>
                </a:cubicBezTo>
                <a:lnTo>
                  <a:pt x="0" y="66675"/>
                </a:lnTo>
                <a:close/>
                <a:moveTo>
                  <a:pt x="50800" y="66675"/>
                </a:moveTo>
                <a:lnTo>
                  <a:pt x="50800" y="111125"/>
                </a:lnTo>
                <a:lnTo>
                  <a:pt x="101600" y="111125"/>
                </a:lnTo>
                <a:lnTo>
                  <a:pt x="101600" y="66675"/>
                </a:lnTo>
                <a:lnTo>
                  <a:pt x="50800" y="66675"/>
                </a:lnTo>
                <a:close/>
                <a:moveTo>
                  <a:pt x="304800" y="66675"/>
                </a:moveTo>
                <a:lnTo>
                  <a:pt x="152400" y="66675"/>
                </a:lnTo>
                <a:lnTo>
                  <a:pt x="152400" y="111125"/>
                </a:lnTo>
                <a:lnTo>
                  <a:pt x="304800" y="111125"/>
                </a:lnTo>
                <a:lnTo>
                  <a:pt x="304800" y="66675"/>
                </a:lnTo>
                <a:close/>
                <a:moveTo>
                  <a:pt x="50800" y="155575"/>
                </a:moveTo>
                <a:lnTo>
                  <a:pt x="50800" y="200025"/>
                </a:lnTo>
                <a:lnTo>
                  <a:pt x="101600" y="200025"/>
                </a:lnTo>
                <a:lnTo>
                  <a:pt x="101600" y="155575"/>
                </a:lnTo>
                <a:lnTo>
                  <a:pt x="50800" y="155575"/>
                </a:lnTo>
                <a:close/>
                <a:moveTo>
                  <a:pt x="304800" y="155575"/>
                </a:moveTo>
                <a:lnTo>
                  <a:pt x="152400" y="155575"/>
                </a:lnTo>
                <a:lnTo>
                  <a:pt x="152400" y="200025"/>
                </a:lnTo>
                <a:lnTo>
                  <a:pt x="304800" y="200025"/>
                </a:lnTo>
                <a:lnTo>
                  <a:pt x="304800" y="155575"/>
                </a:lnTo>
                <a:close/>
                <a:moveTo>
                  <a:pt x="50800" y="244475"/>
                </a:moveTo>
                <a:lnTo>
                  <a:pt x="50800" y="288925"/>
                </a:lnTo>
                <a:lnTo>
                  <a:pt x="101600" y="288925"/>
                </a:lnTo>
                <a:lnTo>
                  <a:pt x="101600" y="244475"/>
                </a:lnTo>
                <a:lnTo>
                  <a:pt x="50800" y="244475"/>
                </a:lnTo>
                <a:close/>
                <a:moveTo>
                  <a:pt x="304800" y="244475"/>
                </a:moveTo>
                <a:lnTo>
                  <a:pt x="152400" y="244475"/>
                </a:lnTo>
                <a:lnTo>
                  <a:pt x="152400" y="288925"/>
                </a:lnTo>
                <a:lnTo>
                  <a:pt x="304800" y="288925"/>
                </a:lnTo>
                <a:lnTo>
                  <a:pt x="304800" y="244475"/>
                </a:lnTo>
                <a:close/>
              </a:path>
            </a:pathLst>
          </a:custGeom>
          <a:solidFill>
            <a:srgbClr val="FFFFFF"/>
          </a:solidFill>
        </p:spPr>
      </p:sp>
      <p:sp>
        <p:nvSpPr>
          <p:cNvPr id="36" name="Text 34"/>
          <p:cNvSpPr/>
          <p:nvPr/>
        </p:nvSpPr>
        <p:spPr>
          <a:xfrm>
            <a:off x="6686550" y="2159635"/>
            <a:ext cx="4953000" cy="266700"/>
          </a:xfrm>
          <a:prstGeom prst="rect">
            <a:avLst/>
          </a:prstGeom>
          <a:noFill/>
        </p:spPr>
        <p:txBody>
          <a:bodyPr wrap="none" lIns="0" tIns="0" rIns="0" bIns="0" rtlCol="0" anchor="ctr"/>
          <a:lstStyle/>
          <a:p>
            <a:pPr algn="l">
              <a:lnSpc>
                <a:spcPct val="120000"/>
              </a:lnSpc>
            </a:pPr>
            <a:r>
              <a:rPr lang="en-US" sz="1500" b="1" dirty="0">
                <a:solidFill>
                  <a:srgbClr val="FFFFFF"/>
                </a:solidFill>
                <a:latin typeface="微软雅黑" panose="020B0503020204020204" charset="-122"/>
                <a:ea typeface="微软雅黑" panose="020B0503020204020204" charset="-122"/>
                <a:cs typeface="MiSans" pitchFamily="34" charset="-120"/>
              </a:rPr>
              <a:t>明细实体文档</a:t>
            </a:r>
            <a:endParaRPr lang="en-US" sz="1500" b="1" dirty="0">
              <a:solidFill>
                <a:srgbClr val="FFFFFF"/>
              </a:solidFill>
              <a:latin typeface="微软雅黑" panose="020B0503020204020204" charset="-122"/>
              <a:ea typeface="微软雅黑" panose="020B0503020204020204" charset="-122"/>
              <a:cs typeface="MiSans" pitchFamily="34" charset="-120"/>
            </a:endParaRPr>
          </a:p>
        </p:txBody>
      </p:sp>
      <p:sp>
        <p:nvSpPr>
          <p:cNvPr id="52" name="Shape 50"/>
          <p:cNvSpPr/>
          <p:nvPr/>
        </p:nvSpPr>
        <p:spPr>
          <a:xfrm>
            <a:off x="6297295" y="2579370"/>
            <a:ext cx="5314950" cy="1250950"/>
          </a:xfrm>
          <a:prstGeom prst="roundRect">
            <a:avLst>
              <a:gd name="adj" fmla="val 5000"/>
            </a:avLst>
          </a:prstGeom>
          <a:solidFill>
            <a:srgbClr val="EFF6FF"/>
          </a:solidFill>
          <a:ln w="12700">
            <a:solidFill>
              <a:srgbClr val="BFDBFE"/>
            </a:solidFill>
            <a:prstDash val="solid"/>
          </a:ln>
        </p:spPr>
      </p:sp>
      <p:sp>
        <p:nvSpPr>
          <p:cNvPr id="54" name="Text 52"/>
          <p:cNvSpPr/>
          <p:nvPr/>
        </p:nvSpPr>
        <p:spPr>
          <a:xfrm>
            <a:off x="6754495" y="2693670"/>
            <a:ext cx="1905000" cy="247650"/>
          </a:xfrm>
          <a:prstGeom prst="rect">
            <a:avLst/>
          </a:prstGeom>
          <a:noFill/>
        </p:spPr>
        <p:txBody>
          <a:bodyPr wrap="none" lIns="0" tIns="0" rIns="0" bIns="0" rtlCol="0" anchor="t"/>
          <a:lstStyle/>
          <a:p>
            <a:pPr algn="l">
              <a:lnSpc>
                <a:spcPct val="120000"/>
              </a:lnSpc>
            </a:pPr>
            <a:r>
              <a:rPr lang="zh-CN" altLang="en-US" sz="1400" b="1" dirty="0">
                <a:solidFill>
                  <a:srgbClr val="0F2B5B"/>
                </a:solidFill>
                <a:latin typeface="微软雅黑" panose="020B0503020204020204" charset="-122"/>
                <a:ea typeface="微软雅黑" panose="020B0503020204020204" charset="-122"/>
                <a:cs typeface="MiSans" pitchFamily="34" charset="-120"/>
              </a:rPr>
              <a:t>分类说明</a:t>
            </a:r>
            <a:endParaRPr lang="zh-CN" altLang="en-US" sz="1400" b="1" dirty="0">
              <a:solidFill>
                <a:srgbClr val="0F2B5B"/>
              </a:solidFill>
              <a:latin typeface="微软雅黑" panose="020B0503020204020204" charset="-122"/>
              <a:ea typeface="微软雅黑" panose="020B0503020204020204" charset="-122"/>
              <a:cs typeface="MiSans" pitchFamily="34" charset="-120"/>
            </a:endParaRPr>
          </a:p>
        </p:txBody>
      </p:sp>
      <p:sp>
        <p:nvSpPr>
          <p:cNvPr id="55" name="Text 53"/>
          <p:cNvSpPr/>
          <p:nvPr/>
        </p:nvSpPr>
        <p:spPr>
          <a:xfrm>
            <a:off x="6449695" y="2998470"/>
            <a:ext cx="5010150" cy="723900"/>
          </a:xfrm>
          <a:prstGeom prst="rect">
            <a:avLst/>
          </a:prstGeom>
          <a:noFill/>
        </p:spPr>
        <p:txBody>
          <a:bodyPr wrap="square" lIns="0" tIns="0" rIns="0" bIns="0" rtlCol="0" anchor="t"/>
          <a:lstStyle/>
          <a:p>
            <a:pPr algn="l">
              <a:lnSpc>
                <a:spcPct val="15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rgbClr val="1E293B"/>
                </a:solidFill>
                <a:latin typeface="微软雅黑" panose="020B0503020204020204" charset="-122"/>
                <a:ea typeface="微软雅黑" panose="020B0503020204020204" charset="-122"/>
                <a:cs typeface="微软雅黑" panose="020B0503020204020204" charset="-122"/>
                <a:sym typeface="+mn-ea"/>
              </a:rPr>
              <a:t>指承载具体业务、客户、事件事实信息的实例化、凭证性文档，仅对应单个业务实例或主体，是业务过程的留痕与事实依据。</a:t>
            </a:r>
            <a:endParaRPr 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4" name="Text 11"/>
          <p:cNvSpPr/>
          <p:nvPr/>
        </p:nvSpPr>
        <p:spPr>
          <a:xfrm>
            <a:off x="895985" y="3896995"/>
            <a:ext cx="5104765" cy="291465"/>
          </a:xfrm>
          <a:prstGeom prst="rect">
            <a:avLst/>
          </a:prstGeom>
          <a:noFill/>
        </p:spPr>
        <p:txBody>
          <a:bodyPr wrap="none" lIns="0" tIns="0" rIns="0" bIns="0" rtlCol="0" anchor="t"/>
          <a:lstStyle/>
          <a:p>
            <a:pPr algn="l">
              <a:lnSpc>
                <a:spcPct val="120000"/>
              </a:lnSpc>
            </a:pPr>
            <a:r>
              <a:rPr lang="zh-CN" altLang="en-US" sz="1400" b="1" dirty="0">
                <a:solidFill>
                  <a:srgbClr val="0F2B5B"/>
                </a:solidFill>
                <a:latin typeface="微软雅黑" panose="020B0503020204020204" charset="-122"/>
                <a:ea typeface="微软雅黑" panose="020B0503020204020204" charset="-122"/>
                <a:cs typeface="MiSans" pitchFamily="34" charset="-120"/>
              </a:rPr>
              <a:t>加工策略</a:t>
            </a:r>
            <a:r>
              <a:rPr lang="en-US" altLang="zh-CN" sz="1200" b="1" dirty="0">
                <a:solidFill>
                  <a:srgbClr val="0F2B5B"/>
                </a:solidFill>
                <a:latin typeface="微软雅黑" panose="020B0503020204020204" charset="-122"/>
                <a:ea typeface="微软雅黑" panose="020B0503020204020204" charset="-122"/>
                <a:cs typeface="MiSans" pitchFamily="34" charset="-120"/>
              </a:rPr>
              <a:t>（</a:t>
            </a:r>
            <a:r>
              <a:rPr lang="zh-CN" altLang="en-US" sz="1200" b="1" dirty="0">
                <a:solidFill>
                  <a:srgbClr val="0F2B5B"/>
                </a:solidFill>
                <a:latin typeface="微软雅黑" panose="020B0503020204020204" charset="-122"/>
                <a:ea typeface="微软雅黑" panose="020B0503020204020204" charset="-122"/>
                <a:cs typeface="MiSans" pitchFamily="34" charset="-120"/>
                <a:sym typeface="+mn-ea"/>
              </a:rPr>
              <a:t>以文档切片、关键词提取</a:t>
            </a:r>
            <a:r>
              <a:rPr lang="en-US" altLang="zh-CN" sz="1200" b="1" dirty="0">
                <a:solidFill>
                  <a:srgbClr val="0F2B5B"/>
                </a:solidFill>
                <a:latin typeface="微软雅黑" panose="020B0503020204020204" charset="-122"/>
                <a:ea typeface="微软雅黑" panose="020B0503020204020204" charset="-122"/>
                <a:cs typeface="MiSans" pitchFamily="34" charset="-120"/>
                <a:sym typeface="+mn-ea"/>
              </a:rPr>
              <a:t>、</a:t>
            </a:r>
            <a:r>
              <a:rPr lang="zh-CN" altLang="en-US" sz="1200" b="1" dirty="0">
                <a:solidFill>
                  <a:srgbClr val="C00000"/>
                </a:solidFill>
                <a:latin typeface="微软雅黑" panose="020B0503020204020204" charset="-122"/>
                <a:ea typeface="微软雅黑" panose="020B0503020204020204" charset="-122"/>
                <a:cs typeface="MiSans" pitchFamily="34" charset="-120"/>
                <a:sym typeface="+mn-ea"/>
              </a:rPr>
              <a:t>向量化</a:t>
            </a:r>
            <a:r>
              <a:rPr lang="zh-CN" altLang="en-US" sz="1200" b="1" dirty="0">
                <a:solidFill>
                  <a:srgbClr val="0F2B5B"/>
                </a:solidFill>
                <a:latin typeface="微软雅黑" panose="020B0503020204020204" charset="-122"/>
                <a:ea typeface="微软雅黑" panose="020B0503020204020204" charset="-122"/>
                <a:cs typeface="MiSans" pitchFamily="34" charset="-120"/>
                <a:sym typeface="+mn-ea"/>
              </a:rPr>
              <a:t>为核心处理方式</a:t>
            </a:r>
            <a:r>
              <a:rPr lang="en-US" altLang="zh-CN" sz="1200" b="1" dirty="0">
                <a:solidFill>
                  <a:srgbClr val="0F2B5B"/>
                </a:solidFill>
                <a:latin typeface="微软雅黑" panose="020B0503020204020204" charset="-122"/>
                <a:ea typeface="微软雅黑" panose="020B0503020204020204" charset="-122"/>
                <a:cs typeface="MiSans" pitchFamily="34" charset="-120"/>
              </a:rPr>
              <a:t>）</a:t>
            </a:r>
            <a:endParaRPr lang="en-US" altLang="zh-CN" sz="1200" b="1" dirty="0">
              <a:solidFill>
                <a:srgbClr val="0F2B5B"/>
              </a:solidFill>
              <a:latin typeface="微软雅黑" panose="020B0503020204020204" charset="-122"/>
              <a:ea typeface="微软雅黑" panose="020B0503020204020204" charset="-122"/>
              <a:cs typeface="MiSans" pitchFamily="34" charset="-120"/>
            </a:endParaRPr>
          </a:p>
        </p:txBody>
      </p:sp>
      <p:sp>
        <p:nvSpPr>
          <p:cNvPr id="65" name="Text 37"/>
          <p:cNvSpPr/>
          <p:nvPr/>
        </p:nvSpPr>
        <p:spPr>
          <a:xfrm>
            <a:off x="6754495" y="3896995"/>
            <a:ext cx="1532255" cy="247650"/>
          </a:xfrm>
          <a:prstGeom prst="rect">
            <a:avLst/>
          </a:prstGeom>
          <a:noFill/>
        </p:spPr>
        <p:txBody>
          <a:bodyPr wrap="none" lIns="0" tIns="0" rIns="0" bIns="0" rtlCol="0" anchor="t"/>
          <a:lstStyle/>
          <a:p>
            <a:pPr algn="l">
              <a:lnSpc>
                <a:spcPct val="120000"/>
              </a:lnSpc>
            </a:pPr>
            <a:r>
              <a:rPr lang="zh-CN" altLang="en-US" sz="1400" b="1" dirty="0">
                <a:solidFill>
                  <a:srgbClr val="0F2B5B"/>
                </a:solidFill>
                <a:latin typeface="微软雅黑" panose="020B0503020204020204" charset="-122"/>
                <a:ea typeface="微软雅黑" panose="020B0503020204020204" charset="-122"/>
                <a:cs typeface="MiSans" pitchFamily="34" charset="-120"/>
              </a:rPr>
              <a:t>加工策略</a:t>
            </a:r>
            <a:r>
              <a:rPr lang="en-US" altLang="zh-CN" sz="1200" b="1" dirty="0">
                <a:solidFill>
                  <a:srgbClr val="0F2B5B"/>
                </a:solidFill>
                <a:latin typeface="微软雅黑" panose="020B0503020204020204" charset="-122"/>
                <a:ea typeface="微软雅黑" panose="020B0503020204020204" charset="-122"/>
                <a:cs typeface="MiSans" pitchFamily="34" charset="-120"/>
              </a:rPr>
              <a:t>（</a:t>
            </a:r>
            <a:r>
              <a:rPr lang="zh-CN" altLang="en-US" sz="1200" b="1" dirty="0">
                <a:solidFill>
                  <a:srgbClr val="0F2B5B"/>
                </a:solidFill>
                <a:latin typeface="微软雅黑" panose="020B0503020204020204" charset="-122"/>
                <a:ea typeface="微软雅黑" panose="020B0503020204020204" charset="-122"/>
                <a:cs typeface="MiSans" pitchFamily="34" charset="-120"/>
              </a:rPr>
              <a:t>以</a:t>
            </a:r>
            <a:r>
              <a:rPr lang="zh-CN" altLang="en-US" sz="1200" b="1" dirty="0">
                <a:solidFill>
                  <a:srgbClr val="0F2B5B"/>
                </a:solidFill>
                <a:latin typeface="微软雅黑" panose="020B0503020204020204" charset="-122"/>
                <a:ea typeface="微软雅黑" panose="020B0503020204020204" charset="-122"/>
                <a:cs typeface="MiSans" pitchFamily="34" charset="-120"/>
                <a:sym typeface="+mn-ea"/>
              </a:rPr>
              <a:t>细粒度要素抽取</a:t>
            </a:r>
            <a:r>
              <a:rPr lang="en-US" altLang="zh-CN" sz="1200" b="1" dirty="0">
                <a:solidFill>
                  <a:srgbClr val="0F2B5B"/>
                </a:solidFill>
                <a:latin typeface="微软雅黑" panose="020B0503020204020204" charset="-122"/>
                <a:ea typeface="微软雅黑" panose="020B0503020204020204" charset="-122"/>
                <a:cs typeface="MiSans" pitchFamily="34" charset="-120"/>
                <a:sym typeface="+mn-ea"/>
              </a:rPr>
              <a:t>，</a:t>
            </a:r>
            <a:r>
              <a:rPr lang="zh-CN" altLang="en-US" sz="1200" b="1" dirty="0">
                <a:solidFill>
                  <a:srgbClr val="0F2B5B"/>
                </a:solidFill>
                <a:latin typeface="微软雅黑" panose="020B0503020204020204" charset="-122"/>
                <a:ea typeface="微软雅黑" panose="020B0503020204020204" charset="-122"/>
                <a:cs typeface="MiSans" pitchFamily="34" charset="-120"/>
                <a:sym typeface="+mn-ea"/>
              </a:rPr>
              <a:t>构建</a:t>
            </a:r>
            <a:r>
              <a:rPr lang="zh-CN" altLang="en-US" sz="1200" b="1" dirty="0">
                <a:solidFill>
                  <a:srgbClr val="C00000"/>
                </a:solidFill>
                <a:latin typeface="微软雅黑" panose="020B0503020204020204" charset="-122"/>
                <a:ea typeface="微软雅黑" panose="020B0503020204020204" charset="-122"/>
                <a:cs typeface="MiSans" pitchFamily="34" charset="-120"/>
                <a:sym typeface="+mn-ea"/>
              </a:rPr>
              <a:t>知识图谱</a:t>
            </a:r>
            <a:r>
              <a:rPr lang="zh-CN" altLang="en-US" sz="1200" b="1" dirty="0">
                <a:solidFill>
                  <a:srgbClr val="0F2B5B"/>
                </a:solidFill>
                <a:latin typeface="微软雅黑" panose="020B0503020204020204" charset="-122"/>
                <a:ea typeface="微软雅黑" panose="020B0503020204020204" charset="-122"/>
                <a:cs typeface="MiSans" pitchFamily="34" charset="-120"/>
                <a:sym typeface="+mn-ea"/>
              </a:rPr>
              <a:t>为核心处理方式</a:t>
            </a:r>
            <a:r>
              <a:rPr lang="en-US" altLang="zh-CN" sz="1200" b="1" dirty="0">
                <a:solidFill>
                  <a:srgbClr val="0F2B5B"/>
                </a:solidFill>
                <a:latin typeface="微软雅黑" panose="020B0503020204020204" charset="-122"/>
                <a:ea typeface="微软雅黑" panose="020B0503020204020204" charset="-122"/>
                <a:cs typeface="MiSans" pitchFamily="34" charset="-120"/>
                <a:sym typeface="+mn-ea"/>
              </a:rPr>
              <a:t>）</a:t>
            </a:r>
            <a:endParaRPr lang="en-US" altLang="zh-CN" sz="1200" b="1" dirty="0">
              <a:solidFill>
                <a:srgbClr val="0F2B5B"/>
              </a:solidFill>
              <a:latin typeface="微软雅黑" panose="020B0503020204020204" charset="-122"/>
              <a:ea typeface="微软雅黑" panose="020B0503020204020204" charset="-122"/>
              <a:cs typeface="MiSans" pitchFamily="34" charset="-120"/>
              <a:sym typeface="+mn-ea"/>
            </a:endParaRPr>
          </a:p>
        </p:txBody>
      </p:sp>
      <p:sp>
        <p:nvSpPr>
          <p:cNvPr id="3" name="Shape 25"/>
          <p:cNvSpPr/>
          <p:nvPr/>
        </p:nvSpPr>
        <p:spPr>
          <a:xfrm>
            <a:off x="571500" y="3896995"/>
            <a:ext cx="266700" cy="228600"/>
          </a:xfrm>
          <a:custGeom>
            <a:avLst/>
            <a:gdLst/>
            <a:ahLst/>
            <a:cxnLst/>
            <a:rect l="l" t="t" r="r" b="b"/>
            <a:pathLst>
              <a:path w="304800" h="304800">
                <a:moveTo>
                  <a:pt x="198072" y="125313"/>
                </a:moveTo>
                <a:cubicBezTo>
                  <a:pt x="203883" y="123349"/>
                  <a:pt x="209979" y="126802"/>
                  <a:pt x="212598" y="133529"/>
                </a:cubicBezTo>
                <a:lnTo>
                  <a:pt x="221456" y="155912"/>
                </a:lnTo>
                <a:cubicBezTo>
                  <a:pt x="226362" y="156746"/>
                  <a:pt x="231172" y="158413"/>
                  <a:pt x="235696" y="160734"/>
                </a:cubicBezTo>
                <a:lnTo>
                  <a:pt x="252365" y="146864"/>
                </a:lnTo>
                <a:cubicBezTo>
                  <a:pt x="257365" y="142696"/>
                  <a:pt x="263985" y="143530"/>
                  <a:pt x="268224" y="148828"/>
                </a:cubicBezTo>
                <a:lnTo>
                  <a:pt x="277368" y="160258"/>
                </a:lnTo>
                <a:cubicBezTo>
                  <a:pt x="281607" y="165556"/>
                  <a:pt x="282273" y="173891"/>
                  <a:pt x="278940" y="180082"/>
                </a:cubicBezTo>
                <a:lnTo>
                  <a:pt x="267843" y="200858"/>
                </a:lnTo>
                <a:cubicBezTo>
                  <a:pt x="268748" y="203656"/>
                  <a:pt x="269557" y="206573"/>
                  <a:pt x="270224" y="209610"/>
                </a:cubicBezTo>
                <a:cubicBezTo>
                  <a:pt x="270891" y="212646"/>
                  <a:pt x="271320" y="215622"/>
                  <a:pt x="271653" y="218658"/>
                </a:cubicBezTo>
                <a:lnTo>
                  <a:pt x="289608" y="229731"/>
                </a:lnTo>
                <a:cubicBezTo>
                  <a:pt x="294989" y="233065"/>
                  <a:pt x="297752" y="240685"/>
                  <a:pt x="296180" y="247888"/>
                </a:cubicBezTo>
                <a:lnTo>
                  <a:pt x="292846" y="263485"/>
                </a:lnTo>
                <a:cubicBezTo>
                  <a:pt x="291275" y="270689"/>
                  <a:pt x="285893" y="275570"/>
                  <a:pt x="279892" y="275094"/>
                </a:cubicBezTo>
                <a:lnTo>
                  <a:pt x="259890" y="273487"/>
                </a:lnTo>
                <a:cubicBezTo>
                  <a:pt x="256889" y="278309"/>
                  <a:pt x="253413" y="282773"/>
                  <a:pt x="249460" y="286583"/>
                </a:cubicBezTo>
                <a:lnTo>
                  <a:pt x="250746" y="311527"/>
                </a:lnTo>
                <a:cubicBezTo>
                  <a:pt x="251127" y="319028"/>
                  <a:pt x="247221" y="325815"/>
                  <a:pt x="241459" y="327720"/>
                </a:cubicBezTo>
                <a:lnTo>
                  <a:pt x="228981" y="331887"/>
                </a:lnTo>
                <a:cubicBezTo>
                  <a:pt x="223171" y="333851"/>
                  <a:pt x="217122" y="330398"/>
                  <a:pt x="214455" y="323671"/>
                </a:cubicBezTo>
                <a:lnTo>
                  <a:pt x="205597" y="301288"/>
                </a:lnTo>
                <a:cubicBezTo>
                  <a:pt x="200692" y="300454"/>
                  <a:pt x="195882" y="298787"/>
                  <a:pt x="191357" y="296466"/>
                </a:cubicBezTo>
                <a:lnTo>
                  <a:pt x="174689" y="310336"/>
                </a:lnTo>
                <a:cubicBezTo>
                  <a:pt x="169688" y="314504"/>
                  <a:pt x="163068" y="313670"/>
                  <a:pt x="158829" y="308372"/>
                </a:cubicBezTo>
                <a:lnTo>
                  <a:pt x="149685" y="296942"/>
                </a:lnTo>
                <a:cubicBezTo>
                  <a:pt x="145447" y="291644"/>
                  <a:pt x="144780" y="283369"/>
                  <a:pt x="148114" y="277118"/>
                </a:cubicBezTo>
                <a:lnTo>
                  <a:pt x="159210" y="256282"/>
                </a:lnTo>
                <a:cubicBezTo>
                  <a:pt x="158306" y="253484"/>
                  <a:pt x="157496" y="250567"/>
                  <a:pt x="156829" y="247531"/>
                </a:cubicBezTo>
                <a:cubicBezTo>
                  <a:pt x="156162" y="244495"/>
                  <a:pt x="155734" y="241459"/>
                  <a:pt x="155400" y="238482"/>
                </a:cubicBezTo>
                <a:lnTo>
                  <a:pt x="137446" y="227409"/>
                </a:lnTo>
                <a:cubicBezTo>
                  <a:pt x="132064" y="224076"/>
                  <a:pt x="129350" y="216456"/>
                  <a:pt x="130874" y="209252"/>
                </a:cubicBezTo>
                <a:lnTo>
                  <a:pt x="134207" y="193655"/>
                </a:lnTo>
                <a:cubicBezTo>
                  <a:pt x="135779" y="186452"/>
                  <a:pt x="141161" y="181570"/>
                  <a:pt x="147161" y="182047"/>
                </a:cubicBezTo>
                <a:lnTo>
                  <a:pt x="167116" y="183654"/>
                </a:lnTo>
                <a:cubicBezTo>
                  <a:pt x="170117" y="178832"/>
                  <a:pt x="173593" y="174367"/>
                  <a:pt x="177546" y="170557"/>
                </a:cubicBezTo>
                <a:lnTo>
                  <a:pt x="176260" y="145673"/>
                </a:lnTo>
                <a:cubicBezTo>
                  <a:pt x="175879" y="138172"/>
                  <a:pt x="179784" y="131385"/>
                  <a:pt x="185547" y="129480"/>
                </a:cubicBezTo>
                <a:lnTo>
                  <a:pt x="198025" y="125313"/>
                </a:lnTo>
                <a:close/>
                <a:moveTo>
                  <a:pt x="213550" y="202406"/>
                </a:moveTo>
                <a:cubicBezTo>
                  <a:pt x="201985" y="202423"/>
                  <a:pt x="192606" y="214173"/>
                  <a:pt x="192619" y="228630"/>
                </a:cubicBezTo>
                <a:cubicBezTo>
                  <a:pt x="192632" y="243086"/>
                  <a:pt x="202033" y="254810"/>
                  <a:pt x="213598" y="254794"/>
                </a:cubicBezTo>
                <a:cubicBezTo>
                  <a:pt x="225164" y="254777"/>
                  <a:pt x="234542" y="243027"/>
                  <a:pt x="234529" y="228570"/>
                </a:cubicBezTo>
                <a:cubicBezTo>
                  <a:pt x="234516" y="214114"/>
                  <a:pt x="225116" y="202390"/>
                  <a:pt x="213550" y="202406"/>
                </a:cubicBezTo>
                <a:close/>
                <a:moveTo>
                  <a:pt x="107109" y="-27087"/>
                </a:moveTo>
                <a:lnTo>
                  <a:pt x="119586" y="-22920"/>
                </a:lnTo>
                <a:cubicBezTo>
                  <a:pt x="125349" y="-20955"/>
                  <a:pt x="129254" y="-14168"/>
                  <a:pt x="128873" y="-6727"/>
                </a:cubicBezTo>
                <a:lnTo>
                  <a:pt x="127587" y="18157"/>
                </a:lnTo>
                <a:cubicBezTo>
                  <a:pt x="131540" y="21967"/>
                  <a:pt x="135017" y="26372"/>
                  <a:pt x="138017" y="31254"/>
                </a:cubicBezTo>
                <a:lnTo>
                  <a:pt x="158020" y="29647"/>
                </a:lnTo>
                <a:cubicBezTo>
                  <a:pt x="163973" y="29170"/>
                  <a:pt x="169402" y="34052"/>
                  <a:pt x="170974" y="41255"/>
                </a:cubicBezTo>
                <a:lnTo>
                  <a:pt x="174308" y="56852"/>
                </a:lnTo>
                <a:cubicBezTo>
                  <a:pt x="175831" y="64056"/>
                  <a:pt x="173117" y="71676"/>
                  <a:pt x="167735" y="75009"/>
                </a:cubicBezTo>
                <a:lnTo>
                  <a:pt x="149781" y="86082"/>
                </a:lnTo>
                <a:cubicBezTo>
                  <a:pt x="149447" y="89118"/>
                  <a:pt x="148971" y="92154"/>
                  <a:pt x="148352" y="95131"/>
                </a:cubicBezTo>
                <a:cubicBezTo>
                  <a:pt x="147733" y="98108"/>
                  <a:pt x="146876" y="101084"/>
                  <a:pt x="145971" y="103882"/>
                </a:cubicBezTo>
                <a:lnTo>
                  <a:pt x="157067" y="124718"/>
                </a:lnTo>
                <a:cubicBezTo>
                  <a:pt x="160401" y="130969"/>
                  <a:pt x="159734" y="139244"/>
                  <a:pt x="155496" y="144542"/>
                </a:cubicBezTo>
                <a:lnTo>
                  <a:pt x="146352" y="155972"/>
                </a:lnTo>
                <a:cubicBezTo>
                  <a:pt x="142113" y="161270"/>
                  <a:pt x="135493" y="162104"/>
                  <a:pt x="130493" y="157936"/>
                </a:cubicBezTo>
                <a:lnTo>
                  <a:pt x="113824" y="144066"/>
                </a:lnTo>
                <a:cubicBezTo>
                  <a:pt x="109299" y="146387"/>
                  <a:pt x="104489" y="148054"/>
                  <a:pt x="99584" y="148888"/>
                </a:cubicBezTo>
                <a:lnTo>
                  <a:pt x="90726" y="171271"/>
                </a:lnTo>
                <a:cubicBezTo>
                  <a:pt x="88059" y="177998"/>
                  <a:pt x="81963" y="181392"/>
                  <a:pt x="76200" y="179487"/>
                </a:cubicBezTo>
                <a:lnTo>
                  <a:pt x="63722" y="175320"/>
                </a:lnTo>
                <a:cubicBezTo>
                  <a:pt x="57912" y="173355"/>
                  <a:pt x="54054" y="166568"/>
                  <a:pt x="54435" y="159127"/>
                </a:cubicBezTo>
                <a:lnTo>
                  <a:pt x="55721" y="134183"/>
                </a:lnTo>
                <a:cubicBezTo>
                  <a:pt x="51768" y="130373"/>
                  <a:pt x="48292" y="125968"/>
                  <a:pt x="45291" y="121087"/>
                </a:cubicBezTo>
                <a:lnTo>
                  <a:pt x="25289" y="122694"/>
                </a:lnTo>
                <a:cubicBezTo>
                  <a:pt x="19336" y="123170"/>
                  <a:pt x="13907" y="118289"/>
                  <a:pt x="12335" y="111085"/>
                </a:cubicBezTo>
                <a:lnTo>
                  <a:pt x="9001" y="95488"/>
                </a:lnTo>
                <a:cubicBezTo>
                  <a:pt x="7477" y="88285"/>
                  <a:pt x="10192" y="80665"/>
                  <a:pt x="15573" y="77331"/>
                </a:cubicBezTo>
                <a:lnTo>
                  <a:pt x="33528" y="66258"/>
                </a:lnTo>
                <a:cubicBezTo>
                  <a:pt x="33861" y="63222"/>
                  <a:pt x="34338" y="60246"/>
                  <a:pt x="34957" y="57210"/>
                </a:cubicBezTo>
                <a:cubicBezTo>
                  <a:pt x="35624" y="54173"/>
                  <a:pt x="36386" y="51256"/>
                  <a:pt x="37338" y="48458"/>
                </a:cubicBezTo>
                <a:lnTo>
                  <a:pt x="26241" y="27682"/>
                </a:lnTo>
                <a:cubicBezTo>
                  <a:pt x="22908" y="21431"/>
                  <a:pt x="23574" y="13156"/>
                  <a:pt x="27813" y="7858"/>
                </a:cubicBezTo>
                <a:lnTo>
                  <a:pt x="36957" y="-3572"/>
                </a:lnTo>
                <a:cubicBezTo>
                  <a:pt x="41196" y="-8870"/>
                  <a:pt x="47815" y="-9704"/>
                  <a:pt x="52816" y="-5536"/>
                </a:cubicBezTo>
                <a:lnTo>
                  <a:pt x="69485" y="8334"/>
                </a:lnTo>
                <a:cubicBezTo>
                  <a:pt x="74009" y="6013"/>
                  <a:pt x="78819" y="4346"/>
                  <a:pt x="83725" y="3512"/>
                </a:cubicBezTo>
                <a:lnTo>
                  <a:pt x="92583" y="-18871"/>
                </a:lnTo>
                <a:cubicBezTo>
                  <a:pt x="95250" y="-25598"/>
                  <a:pt x="101298" y="-28992"/>
                  <a:pt x="107109" y="-27087"/>
                </a:cubicBezTo>
                <a:close/>
                <a:moveTo>
                  <a:pt x="91631" y="50006"/>
                </a:moveTo>
                <a:cubicBezTo>
                  <a:pt x="80065" y="50006"/>
                  <a:pt x="70676" y="61743"/>
                  <a:pt x="70676" y="76200"/>
                </a:cubicBezTo>
                <a:cubicBezTo>
                  <a:pt x="70676" y="90657"/>
                  <a:pt x="80065" y="102394"/>
                  <a:pt x="91631" y="102394"/>
                </a:cubicBezTo>
                <a:cubicBezTo>
                  <a:pt x="103196" y="102394"/>
                  <a:pt x="112585" y="90657"/>
                  <a:pt x="112585" y="76200"/>
                </a:cubicBezTo>
                <a:cubicBezTo>
                  <a:pt x="112585" y="61743"/>
                  <a:pt x="103196" y="50006"/>
                  <a:pt x="91631" y="50006"/>
                </a:cubicBezTo>
                <a:close/>
              </a:path>
            </a:pathLst>
          </a:custGeom>
        </p:spPr>
        <p:style>
          <a:lnRef idx="0">
            <a:srgbClr val="FFFFFF"/>
          </a:lnRef>
          <a:fillRef idx="1">
            <a:schemeClr val="accent1"/>
          </a:fillRef>
          <a:effectRef idx="0">
            <a:srgbClr val="FFFFFF"/>
          </a:effectRef>
          <a:fontRef idx="minor">
            <a:schemeClr val="lt1"/>
          </a:fontRef>
        </p:style>
      </p:sp>
      <p:sp>
        <p:nvSpPr>
          <p:cNvPr id="13" name="Shape 51"/>
          <p:cNvSpPr/>
          <p:nvPr/>
        </p:nvSpPr>
        <p:spPr>
          <a:xfrm>
            <a:off x="6449695" y="3896995"/>
            <a:ext cx="266700" cy="247650"/>
          </a:xfrm>
          <a:custGeom>
            <a:avLst/>
            <a:gdLst/>
            <a:ahLst/>
            <a:cxnLst/>
            <a:rect l="l" t="t" r="r" b="b"/>
            <a:pathLst>
              <a:path w="304800" h="304800">
                <a:moveTo>
                  <a:pt x="198072" y="125313"/>
                </a:moveTo>
                <a:cubicBezTo>
                  <a:pt x="203883" y="123349"/>
                  <a:pt x="209979" y="126802"/>
                  <a:pt x="212598" y="133529"/>
                </a:cubicBezTo>
                <a:lnTo>
                  <a:pt x="221456" y="155912"/>
                </a:lnTo>
                <a:cubicBezTo>
                  <a:pt x="226362" y="156746"/>
                  <a:pt x="231172" y="158413"/>
                  <a:pt x="235696" y="160734"/>
                </a:cubicBezTo>
                <a:lnTo>
                  <a:pt x="252365" y="146864"/>
                </a:lnTo>
                <a:cubicBezTo>
                  <a:pt x="257365" y="142696"/>
                  <a:pt x="263985" y="143530"/>
                  <a:pt x="268224" y="148828"/>
                </a:cubicBezTo>
                <a:lnTo>
                  <a:pt x="277368" y="160258"/>
                </a:lnTo>
                <a:cubicBezTo>
                  <a:pt x="281607" y="165556"/>
                  <a:pt x="282273" y="173891"/>
                  <a:pt x="278940" y="180082"/>
                </a:cubicBezTo>
                <a:lnTo>
                  <a:pt x="267843" y="200858"/>
                </a:lnTo>
                <a:cubicBezTo>
                  <a:pt x="268748" y="203656"/>
                  <a:pt x="269557" y="206573"/>
                  <a:pt x="270224" y="209610"/>
                </a:cubicBezTo>
                <a:cubicBezTo>
                  <a:pt x="270891" y="212646"/>
                  <a:pt x="271320" y="215622"/>
                  <a:pt x="271653" y="218658"/>
                </a:cubicBezTo>
                <a:lnTo>
                  <a:pt x="289608" y="229731"/>
                </a:lnTo>
                <a:cubicBezTo>
                  <a:pt x="294989" y="233065"/>
                  <a:pt x="297752" y="240685"/>
                  <a:pt x="296180" y="247888"/>
                </a:cubicBezTo>
                <a:lnTo>
                  <a:pt x="292846" y="263485"/>
                </a:lnTo>
                <a:cubicBezTo>
                  <a:pt x="291275" y="270689"/>
                  <a:pt x="285893" y="275570"/>
                  <a:pt x="279892" y="275094"/>
                </a:cubicBezTo>
                <a:lnTo>
                  <a:pt x="259890" y="273487"/>
                </a:lnTo>
                <a:cubicBezTo>
                  <a:pt x="256889" y="278309"/>
                  <a:pt x="253413" y="282773"/>
                  <a:pt x="249460" y="286583"/>
                </a:cubicBezTo>
                <a:lnTo>
                  <a:pt x="250746" y="311527"/>
                </a:lnTo>
                <a:cubicBezTo>
                  <a:pt x="251127" y="319028"/>
                  <a:pt x="247221" y="325815"/>
                  <a:pt x="241459" y="327720"/>
                </a:cubicBezTo>
                <a:lnTo>
                  <a:pt x="228981" y="331887"/>
                </a:lnTo>
                <a:cubicBezTo>
                  <a:pt x="223171" y="333851"/>
                  <a:pt x="217122" y="330398"/>
                  <a:pt x="214455" y="323671"/>
                </a:cubicBezTo>
                <a:lnTo>
                  <a:pt x="205597" y="301288"/>
                </a:lnTo>
                <a:cubicBezTo>
                  <a:pt x="200692" y="300454"/>
                  <a:pt x="195882" y="298787"/>
                  <a:pt x="191357" y="296466"/>
                </a:cubicBezTo>
                <a:lnTo>
                  <a:pt x="174689" y="310336"/>
                </a:lnTo>
                <a:cubicBezTo>
                  <a:pt x="169688" y="314504"/>
                  <a:pt x="163068" y="313670"/>
                  <a:pt x="158829" y="308372"/>
                </a:cubicBezTo>
                <a:lnTo>
                  <a:pt x="149685" y="296942"/>
                </a:lnTo>
                <a:cubicBezTo>
                  <a:pt x="145447" y="291644"/>
                  <a:pt x="144780" y="283369"/>
                  <a:pt x="148114" y="277118"/>
                </a:cubicBezTo>
                <a:lnTo>
                  <a:pt x="159210" y="256282"/>
                </a:lnTo>
                <a:cubicBezTo>
                  <a:pt x="158306" y="253484"/>
                  <a:pt x="157496" y="250567"/>
                  <a:pt x="156829" y="247531"/>
                </a:cubicBezTo>
                <a:cubicBezTo>
                  <a:pt x="156162" y="244495"/>
                  <a:pt x="155734" y="241459"/>
                  <a:pt x="155400" y="238482"/>
                </a:cubicBezTo>
                <a:lnTo>
                  <a:pt x="137446" y="227409"/>
                </a:lnTo>
                <a:cubicBezTo>
                  <a:pt x="132064" y="224076"/>
                  <a:pt x="129350" y="216456"/>
                  <a:pt x="130874" y="209252"/>
                </a:cubicBezTo>
                <a:lnTo>
                  <a:pt x="134207" y="193655"/>
                </a:lnTo>
                <a:cubicBezTo>
                  <a:pt x="135779" y="186452"/>
                  <a:pt x="141161" y="181570"/>
                  <a:pt x="147161" y="182047"/>
                </a:cubicBezTo>
                <a:lnTo>
                  <a:pt x="167116" y="183654"/>
                </a:lnTo>
                <a:cubicBezTo>
                  <a:pt x="170117" y="178832"/>
                  <a:pt x="173593" y="174367"/>
                  <a:pt x="177546" y="170557"/>
                </a:cubicBezTo>
                <a:lnTo>
                  <a:pt x="176260" y="145673"/>
                </a:lnTo>
                <a:cubicBezTo>
                  <a:pt x="175879" y="138172"/>
                  <a:pt x="179784" y="131385"/>
                  <a:pt x="185547" y="129480"/>
                </a:cubicBezTo>
                <a:lnTo>
                  <a:pt x="198025" y="125313"/>
                </a:lnTo>
                <a:close/>
                <a:moveTo>
                  <a:pt x="213550" y="202406"/>
                </a:moveTo>
                <a:cubicBezTo>
                  <a:pt x="201985" y="202423"/>
                  <a:pt x="192606" y="214173"/>
                  <a:pt x="192619" y="228630"/>
                </a:cubicBezTo>
                <a:cubicBezTo>
                  <a:pt x="192632" y="243086"/>
                  <a:pt x="202033" y="254810"/>
                  <a:pt x="213598" y="254794"/>
                </a:cubicBezTo>
                <a:cubicBezTo>
                  <a:pt x="225164" y="254777"/>
                  <a:pt x="234542" y="243027"/>
                  <a:pt x="234529" y="228570"/>
                </a:cubicBezTo>
                <a:cubicBezTo>
                  <a:pt x="234516" y="214114"/>
                  <a:pt x="225116" y="202390"/>
                  <a:pt x="213550" y="202406"/>
                </a:cubicBezTo>
                <a:close/>
                <a:moveTo>
                  <a:pt x="107109" y="-27087"/>
                </a:moveTo>
                <a:lnTo>
                  <a:pt x="119586" y="-22920"/>
                </a:lnTo>
                <a:cubicBezTo>
                  <a:pt x="125349" y="-20955"/>
                  <a:pt x="129254" y="-14168"/>
                  <a:pt x="128873" y="-6727"/>
                </a:cubicBezTo>
                <a:lnTo>
                  <a:pt x="127587" y="18157"/>
                </a:lnTo>
                <a:cubicBezTo>
                  <a:pt x="131540" y="21967"/>
                  <a:pt x="135017" y="26372"/>
                  <a:pt x="138017" y="31254"/>
                </a:cubicBezTo>
                <a:lnTo>
                  <a:pt x="158020" y="29647"/>
                </a:lnTo>
                <a:cubicBezTo>
                  <a:pt x="163973" y="29170"/>
                  <a:pt x="169402" y="34052"/>
                  <a:pt x="170974" y="41255"/>
                </a:cubicBezTo>
                <a:lnTo>
                  <a:pt x="174308" y="56852"/>
                </a:lnTo>
                <a:cubicBezTo>
                  <a:pt x="175831" y="64056"/>
                  <a:pt x="173117" y="71676"/>
                  <a:pt x="167735" y="75009"/>
                </a:cubicBezTo>
                <a:lnTo>
                  <a:pt x="149781" y="86082"/>
                </a:lnTo>
                <a:cubicBezTo>
                  <a:pt x="149447" y="89118"/>
                  <a:pt x="148971" y="92154"/>
                  <a:pt x="148352" y="95131"/>
                </a:cubicBezTo>
                <a:cubicBezTo>
                  <a:pt x="147733" y="98108"/>
                  <a:pt x="146876" y="101084"/>
                  <a:pt x="145971" y="103882"/>
                </a:cubicBezTo>
                <a:lnTo>
                  <a:pt x="157067" y="124718"/>
                </a:lnTo>
                <a:cubicBezTo>
                  <a:pt x="160401" y="130969"/>
                  <a:pt x="159734" y="139244"/>
                  <a:pt x="155496" y="144542"/>
                </a:cubicBezTo>
                <a:lnTo>
                  <a:pt x="146352" y="155972"/>
                </a:lnTo>
                <a:cubicBezTo>
                  <a:pt x="142113" y="161270"/>
                  <a:pt x="135493" y="162104"/>
                  <a:pt x="130493" y="157936"/>
                </a:cubicBezTo>
                <a:lnTo>
                  <a:pt x="113824" y="144066"/>
                </a:lnTo>
                <a:cubicBezTo>
                  <a:pt x="109299" y="146387"/>
                  <a:pt x="104489" y="148054"/>
                  <a:pt x="99584" y="148888"/>
                </a:cubicBezTo>
                <a:lnTo>
                  <a:pt x="90726" y="171271"/>
                </a:lnTo>
                <a:cubicBezTo>
                  <a:pt x="88059" y="177998"/>
                  <a:pt x="81963" y="181392"/>
                  <a:pt x="76200" y="179487"/>
                </a:cubicBezTo>
                <a:lnTo>
                  <a:pt x="63722" y="175320"/>
                </a:lnTo>
                <a:cubicBezTo>
                  <a:pt x="57912" y="173355"/>
                  <a:pt x="54054" y="166568"/>
                  <a:pt x="54435" y="159127"/>
                </a:cubicBezTo>
                <a:lnTo>
                  <a:pt x="55721" y="134183"/>
                </a:lnTo>
                <a:cubicBezTo>
                  <a:pt x="51768" y="130373"/>
                  <a:pt x="48292" y="125968"/>
                  <a:pt x="45291" y="121087"/>
                </a:cubicBezTo>
                <a:lnTo>
                  <a:pt x="25289" y="122694"/>
                </a:lnTo>
                <a:cubicBezTo>
                  <a:pt x="19336" y="123170"/>
                  <a:pt x="13907" y="118289"/>
                  <a:pt x="12335" y="111085"/>
                </a:cubicBezTo>
                <a:lnTo>
                  <a:pt x="9001" y="95488"/>
                </a:lnTo>
                <a:cubicBezTo>
                  <a:pt x="7477" y="88285"/>
                  <a:pt x="10192" y="80665"/>
                  <a:pt x="15573" y="77331"/>
                </a:cubicBezTo>
                <a:lnTo>
                  <a:pt x="33528" y="66258"/>
                </a:lnTo>
                <a:cubicBezTo>
                  <a:pt x="33861" y="63222"/>
                  <a:pt x="34338" y="60246"/>
                  <a:pt x="34957" y="57210"/>
                </a:cubicBezTo>
                <a:cubicBezTo>
                  <a:pt x="35624" y="54173"/>
                  <a:pt x="36386" y="51256"/>
                  <a:pt x="37338" y="48458"/>
                </a:cubicBezTo>
                <a:lnTo>
                  <a:pt x="26241" y="27682"/>
                </a:lnTo>
                <a:cubicBezTo>
                  <a:pt x="22908" y="21431"/>
                  <a:pt x="23574" y="13156"/>
                  <a:pt x="27813" y="7858"/>
                </a:cubicBezTo>
                <a:lnTo>
                  <a:pt x="36957" y="-3572"/>
                </a:lnTo>
                <a:cubicBezTo>
                  <a:pt x="41196" y="-8870"/>
                  <a:pt x="47815" y="-9704"/>
                  <a:pt x="52816" y="-5536"/>
                </a:cubicBezTo>
                <a:lnTo>
                  <a:pt x="69485" y="8334"/>
                </a:lnTo>
                <a:cubicBezTo>
                  <a:pt x="74009" y="6013"/>
                  <a:pt x="78819" y="4346"/>
                  <a:pt x="83725" y="3512"/>
                </a:cubicBezTo>
                <a:lnTo>
                  <a:pt x="92583" y="-18871"/>
                </a:lnTo>
                <a:cubicBezTo>
                  <a:pt x="95250" y="-25598"/>
                  <a:pt x="101298" y="-28992"/>
                  <a:pt x="107109" y="-27087"/>
                </a:cubicBezTo>
                <a:close/>
                <a:moveTo>
                  <a:pt x="91631" y="50006"/>
                </a:moveTo>
                <a:cubicBezTo>
                  <a:pt x="80065" y="50006"/>
                  <a:pt x="70676" y="61743"/>
                  <a:pt x="70676" y="76200"/>
                </a:cubicBezTo>
                <a:cubicBezTo>
                  <a:pt x="70676" y="90657"/>
                  <a:pt x="80065" y="102394"/>
                  <a:pt x="91631" y="102394"/>
                </a:cubicBezTo>
                <a:cubicBezTo>
                  <a:pt x="103196" y="102394"/>
                  <a:pt x="112585" y="90657"/>
                  <a:pt x="112585" y="76200"/>
                </a:cubicBezTo>
                <a:cubicBezTo>
                  <a:pt x="112585" y="61743"/>
                  <a:pt x="103196" y="50006"/>
                  <a:pt x="91631" y="50006"/>
                </a:cubicBezTo>
                <a:close/>
              </a:path>
            </a:pathLst>
          </a:custGeom>
        </p:spPr>
        <p:style>
          <a:lnRef idx="0">
            <a:srgbClr val="FFFFFF"/>
          </a:lnRef>
          <a:fillRef idx="1">
            <a:schemeClr val="accent1"/>
          </a:fillRef>
          <a:effectRef idx="0">
            <a:srgbClr val="FFFFFF"/>
          </a:effectRef>
          <a:fontRef idx="minor">
            <a:schemeClr val="lt1"/>
          </a:fontRef>
        </p:style>
      </p:sp>
      <p:pic>
        <p:nvPicPr>
          <p:cNvPr id="14" name="Picture 6"/>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 y="2707640"/>
            <a:ext cx="290830" cy="290830"/>
          </a:xfrm>
          <a:prstGeom prst="rect">
            <a:avLst/>
          </a:prstGeom>
        </p:spPr>
      </p:pic>
      <p:pic>
        <p:nvPicPr>
          <p:cNvPr id="15" name="Picture 6"/>
          <p:cNvPicPr>
            <a:picLocks noChangeAspect="1"/>
          </p:cNvPicPr>
          <p:nvPr>
            <p:custDataLst>
              <p:tags r:id="rId4"/>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25565" y="2693670"/>
            <a:ext cx="290830" cy="290830"/>
          </a:xfrm>
          <a:prstGeom prst="rect">
            <a:avLst/>
          </a:prstGeom>
        </p:spPr>
      </p:pic>
      <p:sp>
        <p:nvSpPr>
          <p:cNvPr id="13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构建面向知识加工的技术分类，</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基于文档</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类型、结构特征和加工策略差异进行分类存储，为后续切片、向量化、图谱构建等加工环节提供统一调度依据</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aphicFrame>
        <p:nvGraphicFramePr>
          <p:cNvPr id="18" name="表格 17"/>
          <p:cNvGraphicFramePr/>
          <p:nvPr>
            <p:custDataLst>
              <p:tags r:id="rId5"/>
            </p:custDataLst>
          </p:nvPr>
        </p:nvGraphicFramePr>
        <p:xfrm>
          <a:off x="534035" y="4319905"/>
          <a:ext cx="5267960" cy="2049780"/>
        </p:xfrm>
        <a:graphic>
          <a:graphicData uri="http://schemas.openxmlformats.org/drawingml/2006/table">
            <a:tbl>
              <a:tblPr>
                <a:tableStyleId>{22838BEF-8BB2-4498-84A7-C5851F593DF1}</a:tableStyleId>
              </a:tblPr>
              <a:tblGrid>
                <a:gridCol w="639445"/>
                <a:gridCol w="1598930"/>
                <a:gridCol w="3029585"/>
              </a:tblGrid>
              <a:tr h="293370">
                <a:tc>
                  <a:txBody>
                    <a:bodyPr/>
                    <a:lstStyle/>
                    <a:p>
                      <a:pPr algn="l" fontAlgn="ctr"/>
                      <a:r>
                        <a:rPr lang="zh-CN" altLang="en-US" sz="1200" b="1">
                          <a:latin typeface="微软雅黑" panose="020B0503020204020204" charset="-122"/>
                          <a:ea typeface="微软雅黑" panose="020B0503020204020204" charset="-122"/>
                        </a:rPr>
                        <a:t>分类</a:t>
                      </a:r>
                      <a:endParaRPr lang="zh-CN" altLang="en-US" sz="1200" b="1">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b="1">
                          <a:latin typeface="微软雅黑" panose="020B0503020204020204" charset="-122"/>
                          <a:ea typeface="微软雅黑" panose="020B0503020204020204" charset="-122"/>
                        </a:rPr>
                        <a:t>典型非结构化文档</a:t>
                      </a:r>
                      <a:endParaRPr lang="zh-CN" altLang="en-US" sz="1200" b="1">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b="1">
                          <a:latin typeface="微软雅黑" panose="020B0503020204020204" charset="-122"/>
                          <a:ea typeface="微软雅黑" panose="020B0503020204020204" charset="-122"/>
                        </a:rPr>
                        <a:t>加工策略</a:t>
                      </a:r>
                      <a:endParaRPr lang="zh-CN" altLang="en-US" sz="1200" b="1">
                        <a:latin typeface="微软雅黑" panose="020B0503020204020204" charset="-122"/>
                        <a:ea typeface="微软雅黑" panose="020B0503020204020204" charset="-122"/>
                      </a:endParaRPr>
                    </a:p>
                  </a:txBody>
                  <a:tcPr marL="13017" marR="13017" marT="13017" marB="0" anchor="ctr">
                    <a:solidFill>
                      <a:srgbClr val="000000">
                        <a:alpha val="0"/>
                      </a:srgbClr>
                    </a:solidFill>
                  </a:tcPr>
                </a:tc>
              </a:tr>
              <a:tr h="585470">
                <a:tc>
                  <a:txBody>
                    <a:bodyPr/>
                    <a:lstStyle/>
                    <a:p>
                      <a:pPr algn="l" fontAlgn="ctr"/>
                      <a:r>
                        <a:rPr lang="zh-CN" altLang="en-US" sz="1200">
                          <a:latin typeface="微软雅黑" panose="020B0503020204020204" charset="-122"/>
                          <a:ea typeface="微软雅黑" panose="020B0503020204020204" charset="-122"/>
                        </a:rPr>
                        <a:t>制度类</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rPr>
                        <a:t>管理办法、实施细则</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cs typeface="微软雅黑" panose="020B0503020204020204" charset="-122"/>
                        </a:rPr>
                        <a:t>按条款切片，生成条款级向量 </a:t>
                      </a:r>
                      <a:r>
                        <a:rPr lang="en-US" altLang="zh-CN" sz="1200">
                          <a:latin typeface="微软雅黑" panose="020B0503020204020204" charset="-122"/>
                          <a:ea typeface="微软雅黑" panose="020B0503020204020204" charset="-122"/>
                          <a:cs typeface="微软雅黑" panose="020B0503020204020204" charset="-122"/>
                        </a:rPr>
                        <a:t>+ </a:t>
                      </a:r>
                      <a:r>
                        <a:rPr lang="zh-CN" altLang="en-US" sz="1200">
                          <a:latin typeface="微软雅黑" panose="020B0503020204020204" charset="-122"/>
                          <a:ea typeface="微软雅黑" panose="020B0503020204020204" charset="-122"/>
                          <a:cs typeface="微软雅黑" panose="020B0503020204020204" charset="-122"/>
                        </a:rPr>
                        <a:t>核心规则关键词标引，支持条款级语义检索与精准定位</a:t>
                      </a:r>
                      <a:endParaRPr lang="zh-CN" altLang="en-US" sz="1200">
                        <a:latin typeface="微软雅黑" panose="020B0503020204020204" charset="-122"/>
                        <a:ea typeface="微软雅黑" panose="020B0503020204020204" charset="-122"/>
                        <a:cs typeface="微软雅黑" panose="020B0503020204020204" charset="-122"/>
                      </a:endParaRPr>
                    </a:p>
                  </a:txBody>
                  <a:tcPr marL="13017" marR="13017" marT="13017" marB="0" anchor="ctr">
                    <a:solidFill>
                      <a:srgbClr val="000000">
                        <a:alpha val="0"/>
                      </a:srgbClr>
                    </a:solidFill>
                  </a:tcPr>
                </a:tc>
              </a:tr>
              <a:tr h="585470">
                <a:tc>
                  <a:txBody>
                    <a:bodyPr/>
                    <a:lstStyle/>
                    <a:p>
                      <a:pPr algn="l" fontAlgn="ctr"/>
                      <a:r>
                        <a:rPr lang="zh-CN" altLang="en-US" sz="1200">
                          <a:latin typeface="微软雅黑" panose="020B0503020204020204" charset="-122"/>
                          <a:ea typeface="微软雅黑" panose="020B0503020204020204" charset="-122"/>
                        </a:rPr>
                        <a:t>案例类</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rPr>
                        <a:t>风险案例、营销案例</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cs typeface="微软雅黑" panose="020B0503020204020204" charset="-122"/>
                        </a:rPr>
                        <a:t>按事件场景切片，生成场景化向量 </a:t>
                      </a:r>
                      <a:r>
                        <a:rPr lang="en-US" altLang="zh-CN" sz="1200">
                          <a:latin typeface="微软雅黑" panose="020B0503020204020204" charset="-122"/>
                          <a:ea typeface="微软雅黑" panose="020B0503020204020204" charset="-122"/>
                          <a:cs typeface="微软雅黑" panose="020B0503020204020204" charset="-122"/>
                        </a:rPr>
                        <a:t>+ </a:t>
                      </a:r>
                      <a:r>
                        <a:rPr lang="zh-CN" altLang="en-US" sz="1200">
                          <a:latin typeface="微软雅黑" panose="020B0503020204020204" charset="-122"/>
                          <a:ea typeface="微软雅黑" panose="020B0503020204020204" charset="-122"/>
                          <a:cs typeface="微软雅黑" panose="020B0503020204020204" charset="-122"/>
                        </a:rPr>
                        <a:t>案例要素关键词标引，支持相似案例语义匹配检索</a:t>
                      </a:r>
                      <a:endParaRPr lang="zh-CN" altLang="en-US" sz="1200">
                        <a:latin typeface="微软雅黑" panose="020B0503020204020204" charset="-122"/>
                        <a:ea typeface="微软雅黑" panose="020B0503020204020204" charset="-122"/>
                        <a:cs typeface="微软雅黑" panose="020B0503020204020204" charset="-122"/>
                      </a:endParaRPr>
                    </a:p>
                  </a:txBody>
                  <a:tcPr marL="13017" marR="13017" marT="13017" marB="0" anchor="ctr">
                    <a:solidFill>
                      <a:srgbClr val="000000">
                        <a:alpha val="0"/>
                      </a:srgbClr>
                    </a:solidFill>
                  </a:tcPr>
                </a:tc>
              </a:tr>
              <a:tr h="585470">
                <a:tc>
                  <a:txBody>
                    <a:bodyPr/>
                    <a:lstStyle/>
                    <a:p>
                      <a:pPr algn="l" fontAlgn="ctr"/>
                      <a:r>
                        <a:rPr lang="zh-CN" altLang="en-US" sz="1200">
                          <a:latin typeface="微软雅黑" panose="020B0503020204020204" charset="-122"/>
                          <a:ea typeface="微软雅黑" panose="020B0503020204020204" charset="-122"/>
                        </a:rPr>
                        <a:t>手册类</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rPr>
                        <a:t>产品手册、操作指南</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cs typeface="微软雅黑" panose="020B0503020204020204" charset="-122"/>
                        </a:rPr>
                        <a:t>按操作步骤切片，步骤级向量，图文绑定操作指引</a:t>
                      </a:r>
                      <a:endParaRPr lang="zh-CN" altLang="en-US" sz="1200">
                        <a:latin typeface="微软雅黑" panose="020B0503020204020204" charset="-122"/>
                        <a:ea typeface="微软雅黑" panose="020B0503020204020204" charset="-122"/>
                        <a:cs typeface="微软雅黑" panose="020B0503020204020204" charset="-122"/>
                      </a:endParaRPr>
                    </a:p>
                  </a:txBody>
                  <a:tcPr marL="13017" marR="13017" marT="13017" marB="0" anchor="ctr">
                    <a:solidFill>
                      <a:srgbClr val="000000">
                        <a:alpha val="0"/>
                      </a:srgbClr>
                    </a:solidFill>
                  </a:tcPr>
                </a:tc>
              </a:tr>
            </a:tbl>
          </a:graphicData>
        </a:graphic>
      </p:graphicFrame>
      <p:graphicFrame>
        <p:nvGraphicFramePr>
          <p:cNvPr id="19" name="表格 18"/>
          <p:cNvGraphicFramePr/>
          <p:nvPr>
            <p:custDataLst>
              <p:tags r:id="rId6"/>
            </p:custDataLst>
          </p:nvPr>
        </p:nvGraphicFramePr>
        <p:xfrm>
          <a:off x="6297295" y="4294505"/>
          <a:ext cx="5267960" cy="2049780"/>
        </p:xfrm>
        <a:graphic>
          <a:graphicData uri="http://schemas.openxmlformats.org/drawingml/2006/table">
            <a:tbl>
              <a:tblPr>
                <a:tableStyleId>{22838BEF-8BB2-4498-84A7-C5851F593DF1}</a:tableStyleId>
              </a:tblPr>
              <a:tblGrid>
                <a:gridCol w="639445"/>
                <a:gridCol w="1598930"/>
                <a:gridCol w="3029585"/>
              </a:tblGrid>
              <a:tr h="293370">
                <a:tc>
                  <a:txBody>
                    <a:bodyPr/>
                    <a:lstStyle/>
                    <a:p>
                      <a:pPr algn="l" fontAlgn="ctr"/>
                      <a:r>
                        <a:rPr lang="zh-CN" altLang="en-US" sz="1200" b="1">
                          <a:latin typeface="微软雅黑" panose="020B0503020204020204" charset="-122"/>
                          <a:ea typeface="微软雅黑" panose="020B0503020204020204" charset="-122"/>
                        </a:rPr>
                        <a:t>分类</a:t>
                      </a:r>
                      <a:endParaRPr lang="zh-CN" altLang="en-US" sz="1200" b="1">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b="1">
                          <a:latin typeface="微软雅黑" panose="020B0503020204020204" charset="-122"/>
                          <a:ea typeface="微软雅黑" panose="020B0503020204020204" charset="-122"/>
                        </a:rPr>
                        <a:t>典型非结构化文档</a:t>
                      </a:r>
                      <a:endParaRPr lang="zh-CN" altLang="en-US" sz="1200" b="1">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b="1">
                          <a:latin typeface="微软雅黑" panose="020B0503020204020204" charset="-122"/>
                          <a:ea typeface="微软雅黑" panose="020B0503020204020204" charset="-122"/>
                        </a:rPr>
                        <a:t>加工策略</a:t>
                      </a:r>
                      <a:endParaRPr lang="zh-CN" altLang="en-US" sz="1200" b="1">
                        <a:latin typeface="微软雅黑" panose="020B0503020204020204" charset="-122"/>
                        <a:ea typeface="微软雅黑" panose="020B0503020204020204" charset="-122"/>
                      </a:endParaRPr>
                    </a:p>
                  </a:txBody>
                  <a:tcPr marL="13017" marR="13017" marT="13017" marB="0" anchor="ctr">
                    <a:solidFill>
                      <a:srgbClr val="000000">
                        <a:alpha val="0"/>
                      </a:srgbClr>
                    </a:solidFill>
                  </a:tcPr>
                </a:tc>
              </a:tr>
              <a:tr h="585470">
                <a:tc>
                  <a:txBody>
                    <a:bodyPr/>
                    <a:lstStyle/>
                    <a:p>
                      <a:pPr algn="l" fontAlgn="ctr"/>
                      <a:r>
                        <a:rPr lang="zh-CN" altLang="en-US" sz="1200">
                          <a:latin typeface="微软雅黑" panose="020B0503020204020204" charset="-122"/>
                          <a:ea typeface="微软雅黑" panose="020B0503020204020204" charset="-122"/>
                        </a:rPr>
                        <a:t>合同类</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rPr>
                        <a:t>授信合同</a:t>
                      </a:r>
                      <a:r>
                        <a:rPr lang="en-US" altLang="zh-CN" sz="1200">
                          <a:latin typeface="微软雅黑" panose="020B0503020204020204" charset="-122"/>
                          <a:ea typeface="微软雅黑" panose="020B0503020204020204" charset="-122"/>
                        </a:rPr>
                        <a:t>、</a:t>
                      </a:r>
                      <a:r>
                        <a:rPr lang="zh-CN" altLang="en-US" sz="1200">
                          <a:latin typeface="微软雅黑" panose="020B0503020204020204" charset="-122"/>
                          <a:ea typeface="微软雅黑" panose="020B0503020204020204" charset="-122"/>
                        </a:rPr>
                        <a:t>担保合同</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cs typeface="微软雅黑" panose="020B0503020204020204" charset="-122"/>
                        </a:rPr>
                        <a:t>抽取签约主体、金额、期限、违约责任等业务要素，构建合同法务业数图谱</a:t>
                      </a:r>
                      <a:endParaRPr lang="zh-CN" altLang="en-US" sz="1200">
                        <a:latin typeface="微软雅黑" panose="020B0503020204020204" charset="-122"/>
                        <a:ea typeface="微软雅黑" panose="020B0503020204020204" charset="-122"/>
                        <a:cs typeface="微软雅黑" panose="020B0503020204020204" charset="-122"/>
                      </a:endParaRPr>
                    </a:p>
                  </a:txBody>
                  <a:tcPr marL="13017" marR="13017" marT="13017" marB="0" anchor="ctr">
                    <a:solidFill>
                      <a:srgbClr val="000000">
                        <a:alpha val="0"/>
                      </a:srgbClr>
                    </a:solidFill>
                  </a:tcPr>
                </a:tc>
              </a:tr>
              <a:tr h="585470">
                <a:tc>
                  <a:txBody>
                    <a:bodyPr/>
                    <a:lstStyle/>
                    <a:p>
                      <a:pPr algn="l" fontAlgn="ctr"/>
                      <a:r>
                        <a:rPr lang="zh-CN" altLang="en-US" sz="1200">
                          <a:latin typeface="微软雅黑" panose="020B0503020204020204" charset="-122"/>
                          <a:ea typeface="微软雅黑" panose="020B0503020204020204" charset="-122"/>
                        </a:rPr>
                        <a:t>司法类</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rPr>
                        <a:t>裁判文书</a:t>
                      </a:r>
                      <a:endParaRPr lang="en-US" altLang="zh-CN"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cs typeface="微软雅黑" panose="020B0503020204020204" charset="-122"/>
                        </a:rPr>
                        <a:t>抽取案件主体、案由、判决结果、执行状态等业务要素，构建涉诉信息业数图谱</a:t>
                      </a:r>
                      <a:endParaRPr lang="zh-CN" altLang="en-US" sz="1200">
                        <a:latin typeface="微软雅黑" panose="020B0503020204020204" charset="-122"/>
                        <a:ea typeface="微软雅黑" panose="020B0503020204020204" charset="-122"/>
                        <a:cs typeface="微软雅黑" panose="020B0503020204020204" charset="-122"/>
                      </a:endParaRPr>
                    </a:p>
                  </a:txBody>
                  <a:tcPr marL="13017" marR="13017" marT="13017" marB="0" anchor="ctr">
                    <a:solidFill>
                      <a:srgbClr val="000000">
                        <a:alpha val="0"/>
                      </a:srgbClr>
                    </a:solidFill>
                  </a:tcPr>
                </a:tc>
              </a:tr>
              <a:tr h="585470">
                <a:tc>
                  <a:txBody>
                    <a:bodyPr/>
                    <a:lstStyle/>
                    <a:p>
                      <a:pPr algn="l" fontAlgn="ctr"/>
                      <a:r>
                        <a:rPr lang="zh-CN" altLang="en-US" sz="1200">
                          <a:latin typeface="微软雅黑" panose="020B0503020204020204" charset="-122"/>
                          <a:ea typeface="微软雅黑" panose="020B0503020204020204" charset="-122"/>
                        </a:rPr>
                        <a:t>财报类</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rPr>
                        <a:t>企业财务审计报告</a:t>
                      </a:r>
                      <a:endParaRPr lang="zh-CN" altLang="en-US" sz="1200">
                        <a:latin typeface="微软雅黑" panose="020B0503020204020204" charset="-122"/>
                        <a:ea typeface="微软雅黑" panose="020B0503020204020204" charset="-122"/>
                      </a:endParaRPr>
                    </a:p>
                  </a:txBody>
                  <a:tcPr marL="13017" marR="13017" marT="13017" marB="0" anchor="ctr">
                    <a:solidFill>
                      <a:srgbClr val="000000">
                        <a:alpha val="0"/>
                      </a:srgbClr>
                    </a:solidFill>
                  </a:tcPr>
                </a:tc>
                <a:tc>
                  <a:txBody>
                    <a:bodyPr/>
                    <a:lstStyle/>
                    <a:p>
                      <a:pPr algn="l" fontAlgn="ctr"/>
                      <a:r>
                        <a:rPr lang="zh-CN" altLang="en-US" sz="1200">
                          <a:latin typeface="微软雅黑" panose="020B0503020204020204" charset="-122"/>
                          <a:ea typeface="微软雅黑" panose="020B0503020204020204" charset="-122"/>
                          <a:cs typeface="微软雅黑" panose="020B0503020204020204" charset="-122"/>
                        </a:rPr>
                        <a:t>抽取资产负债、利润、现金流核心科目及关键财务指标，构建企业经营业数图谱</a:t>
                      </a:r>
                      <a:endParaRPr lang="zh-CN" altLang="en-US" sz="1200">
                        <a:latin typeface="微软雅黑" panose="020B0503020204020204" charset="-122"/>
                        <a:ea typeface="微软雅黑" panose="020B0503020204020204" charset="-122"/>
                        <a:cs typeface="微软雅黑" panose="020B0503020204020204" charset="-122"/>
                      </a:endParaRPr>
                    </a:p>
                  </a:txBody>
                  <a:tcPr marL="13017" marR="13017" marT="13017" marB="0" anchor="ctr">
                    <a:solidFill>
                      <a:srgbClr val="000000">
                        <a:alpha val="0"/>
                      </a:srgbClr>
                    </a:solidFill>
                  </a:tcPr>
                </a:tc>
              </a:tr>
            </a:tbl>
          </a:graphicData>
        </a:graphic>
      </p:graphicFrame>
      <p:sp>
        <p:nvSpPr>
          <p:cNvPr id="5" name="矩形 4"/>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6" name="矩形 5"/>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20" name="矩形 19"/>
          <p:cNvSpPr/>
          <p:nvPr/>
        </p:nvSpPr>
        <p:spPr>
          <a:xfrm>
            <a:off x="10622915" y="21590"/>
            <a:ext cx="775970" cy="17272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21" name="矩形 20"/>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2.2.3 资源管理--知识标签分类</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5" name="AutoShape 5"/>
          <p:cNvSpPr/>
          <p:nvPr>
            <p:custDataLst>
              <p:tags r:id="rId1"/>
            </p:custDataLst>
          </p:nvPr>
        </p:nvSpPr>
        <p:spPr>
          <a:xfrm>
            <a:off x="444500" y="2413000"/>
            <a:ext cx="3619500" cy="3175000"/>
          </a:xfrm>
          <a:prstGeom prst="roundRect">
            <a:avLst>
              <a:gd name="adj" fmla="val 0"/>
            </a:avLst>
          </a:prstGeom>
          <a:solidFill>
            <a:srgbClr val="EFF6FF"/>
          </a:solidFill>
          <a:ln w="12700" cap="flat" cmpd="sng">
            <a:solidFill>
              <a:srgbClr val="93C5FD">
                <a:alpha val="100000"/>
              </a:srgbClr>
            </a:solidFill>
            <a:prstDash val="solid"/>
            <a:round/>
          </a:ln>
        </p:spPr>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sp>
        <p:nvSpPr>
          <p:cNvPr id="6" name="AutoShape 6"/>
          <p:cNvSpPr/>
          <p:nvPr>
            <p:custDataLst>
              <p:tags r:id="rId2"/>
            </p:custDataLst>
          </p:nvPr>
        </p:nvSpPr>
        <p:spPr>
          <a:xfrm>
            <a:off x="571500" y="2603500"/>
            <a:ext cx="3365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 业务属性标签 · 业务锚定</a:t>
            </a:r>
            <a:endPar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7" name="Connector 7"/>
          <p:cNvCxnSpPr/>
          <p:nvPr>
            <p:custDataLst>
              <p:tags r:id="rId3"/>
            </p:custDataLst>
          </p:nvPr>
        </p:nvCxnSpPr>
        <p:spPr>
          <a:xfrm rot="-12972">
            <a:off x="571512" y="3168650"/>
            <a:ext cx="3365500" cy="12700"/>
          </a:xfrm>
          <a:prstGeom prst="straightConnector1">
            <a:avLst/>
          </a:prstGeom>
          <a:solidFill>
            <a:srgbClr val="DEE0E3">
              <a:alpha val="100000"/>
            </a:srgbClr>
          </a:solidFill>
          <a:ln w="12700" cap="flat" cmpd="sng">
            <a:solidFill>
              <a:srgbClr val="93C5FD">
                <a:alpha val="100000"/>
              </a:srgbClr>
            </a:solidFill>
            <a:prstDash val="solid"/>
            <a:round/>
            <a:headEnd type="none" w="med" len="med"/>
            <a:tailEnd type="none" w="med" len="med"/>
          </a:ln>
        </p:spPr>
      </p:cxnSp>
      <p:sp>
        <p:nvSpPr>
          <p:cNvPr id="8" name="AutoShape 8"/>
          <p:cNvSpPr/>
          <p:nvPr>
            <p:custDataLst>
              <p:tags r:id="rId4"/>
            </p:custDataLst>
          </p:nvPr>
        </p:nvSpPr>
        <p:spPr>
          <a:xfrm>
            <a:off x="571500" y="3302000"/>
            <a:ext cx="33655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业务归属：</a:t>
            </a: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明确业务域、条线与具体场景归属，锚定数据的业务上下文，避免信息割裂。</a:t>
            </a:r>
            <a:endParaRPr lang="en-US" sz="1100">
              <a:latin typeface="微软雅黑" panose="020B0503020204020204" charset="-122"/>
              <a:ea typeface="微软雅黑" panose="020B0503020204020204" charset="-122"/>
            </a:endParaRPr>
          </a:p>
          <a:p>
            <a:pPr marL="0" indent="0" algn="l">
              <a:lnSpc>
                <a:spcPct val="117000"/>
              </a:lnSpc>
            </a:pPr>
            <a:r>
              <a:rPr lang="en-US" sz="1400" b="1"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知识形态：</a:t>
            </a: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覆盖制度规范、操作规程、合同协议、案例素材等核心知识类型，适配业务检索。</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语义标签：</a:t>
            </a: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提炼领域专属术语与业务关键词，强化内容语义关联，提升检索匹配度。</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9" name="AutoShape 9"/>
          <p:cNvSpPr/>
          <p:nvPr>
            <p:custDataLst>
              <p:tags r:id="rId5"/>
            </p:custDataLst>
          </p:nvPr>
        </p:nvSpPr>
        <p:spPr>
          <a:xfrm>
            <a:off x="4279900" y="2413000"/>
            <a:ext cx="3619500" cy="3175000"/>
          </a:xfrm>
          <a:prstGeom prst="roundRect">
            <a:avLst>
              <a:gd name="adj" fmla="val 0"/>
            </a:avLst>
          </a:prstGeom>
          <a:solidFill>
            <a:srgbClr val="EFF6FF"/>
          </a:solidFill>
          <a:ln w="12700" cap="flat" cmpd="sng">
            <a:solidFill>
              <a:srgbClr val="93C5FD">
                <a:alpha val="100000"/>
              </a:srgbClr>
            </a:solidFill>
            <a:prstDash val="solid"/>
            <a:round/>
          </a:ln>
        </p:spPr>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sp>
        <p:nvSpPr>
          <p:cNvPr id="10" name="AutoShape 10"/>
          <p:cNvSpPr/>
          <p:nvPr>
            <p:custDataLst>
              <p:tags r:id="rId6"/>
            </p:custDataLst>
          </p:nvPr>
        </p:nvSpPr>
        <p:spPr>
          <a:xfrm>
            <a:off x="4406900" y="2603500"/>
            <a:ext cx="3365500" cy="508000"/>
          </a:xfrm>
          <a:prstGeom prst="rect">
            <a:avLst/>
          </a:prstGeom>
          <a:noFill/>
          <a:ln w="12700" cap="flat" cmpd="sng">
            <a:noFill/>
            <a:prstDash val="solid"/>
            <a:round/>
          </a:ln>
        </p:spPr>
        <p:txBody>
          <a:bodyPr vert="horz" wrap="square" lIns="0" tIns="0" rIns="0" bIns="0" rtlCol="0" anchor="ctr" anchorCtr="0">
            <a:noAutofit/>
          </a:bodyPr>
          <a:lstStyle/>
          <a:p>
            <a:pPr lvl="0" algn="ctr">
              <a:lnSpc>
                <a:spcPct val="125000"/>
              </a:lnSpc>
              <a:buClrTx/>
              <a:buSzTx/>
              <a:buFontTx/>
              <a:defRPr/>
            </a:pPr>
            <a:r>
              <a:rPr lang="en-US" b="1">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 管理属性标签 · 权责管控</a:t>
            </a:r>
            <a:endParaRPr lang="en-US" b="1">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1" name="Connector 11"/>
          <p:cNvCxnSpPr/>
          <p:nvPr>
            <p:custDataLst>
              <p:tags r:id="rId7"/>
            </p:custDataLst>
          </p:nvPr>
        </p:nvCxnSpPr>
        <p:spPr>
          <a:xfrm rot="-12972">
            <a:off x="4406912" y="3168650"/>
            <a:ext cx="3365500" cy="12700"/>
          </a:xfrm>
          <a:prstGeom prst="straightConnector1">
            <a:avLst/>
          </a:prstGeom>
          <a:solidFill>
            <a:srgbClr val="DEE0E3">
              <a:alpha val="100000"/>
            </a:srgbClr>
          </a:solidFill>
          <a:ln w="12700" cap="flat" cmpd="sng">
            <a:solidFill>
              <a:srgbClr val="93C5FD">
                <a:alpha val="100000"/>
              </a:srgbClr>
            </a:solidFill>
            <a:prstDash val="solid"/>
            <a:round/>
            <a:headEnd type="none" w="med" len="med"/>
            <a:tailEnd type="none" w="med" len="med"/>
          </a:ln>
        </p:spPr>
      </p:cxnSp>
      <p:sp>
        <p:nvSpPr>
          <p:cNvPr id="12" name="AutoShape 12"/>
          <p:cNvSpPr/>
          <p:nvPr>
            <p:custDataLst>
              <p:tags r:id="rId8"/>
            </p:custDataLst>
          </p:nvPr>
        </p:nvSpPr>
        <p:spPr>
          <a:xfrm>
            <a:off x="4406900" y="3302000"/>
            <a:ext cx="33655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安全密级：</a:t>
            </a: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按公开、内部、秘密分级，匹配数据安全合规与权限管控要求。</a:t>
            </a:r>
            <a:endParaRPr lang="en-US" sz="1100">
              <a:latin typeface="微软雅黑" panose="020B0503020204020204" charset="-122"/>
              <a:ea typeface="微软雅黑" panose="020B0503020204020204" charset="-122"/>
            </a:endParaRPr>
          </a:p>
          <a:p>
            <a:pPr marL="0" indent="0" algn="l">
              <a:lnSpc>
                <a:spcPct val="117000"/>
              </a:lnSpc>
            </a:pPr>
            <a:r>
              <a:rPr lang="en-US" sz="1400" b="1"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权属管理：</a:t>
            </a: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关联所属部门、机构层级与责任主体，明确管理边界与维护责任人。</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l">
              <a:lnSpc>
                <a:spcPct val="117000"/>
              </a:lnSpc>
            </a:pPr>
            <a:r>
              <a:rPr lang="en-US" sz="1400" b="1"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生命周期：</a:t>
            </a: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标记生效、废止、修订、归档等状态，动态反映文档有效性与管理阶段。</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3" name="AutoShape 13"/>
          <p:cNvSpPr/>
          <p:nvPr>
            <p:custDataLst>
              <p:tags r:id="rId9"/>
            </p:custDataLst>
          </p:nvPr>
        </p:nvSpPr>
        <p:spPr>
          <a:xfrm>
            <a:off x="8115300" y="2413000"/>
            <a:ext cx="3619500" cy="3175000"/>
          </a:xfrm>
          <a:prstGeom prst="roundRect">
            <a:avLst>
              <a:gd name="adj" fmla="val 0"/>
            </a:avLst>
          </a:prstGeom>
          <a:solidFill>
            <a:srgbClr val="EFF6FF"/>
          </a:solidFill>
          <a:ln w="12700" cap="flat" cmpd="sng">
            <a:solidFill>
              <a:srgbClr val="93C5FD">
                <a:alpha val="100000"/>
              </a:srgbClr>
            </a:solidFill>
            <a:prstDash val="solid"/>
            <a:round/>
          </a:ln>
        </p:spPr>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sp>
        <p:nvSpPr>
          <p:cNvPr id="14" name="AutoShape 14"/>
          <p:cNvSpPr/>
          <p:nvPr>
            <p:custDataLst>
              <p:tags r:id="rId10"/>
            </p:custDataLst>
          </p:nvPr>
        </p:nvSpPr>
        <p:spPr>
          <a:xfrm>
            <a:off x="8242300" y="2603500"/>
            <a:ext cx="3365500" cy="508000"/>
          </a:xfrm>
          <a:prstGeom prst="rect">
            <a:avLst/>
          </a:prstGeom>
          <a:noFill/>
          <a:ln w="12700" cap="flat" cmpd="sng">
            <a:noFill/>
            <a:prstDash val="solid"/>
            <a:round/>
          </a:ln>
        </p:spPr>
        <p:txBody>
          <a:bodyPr vert="horz" wrap="square" lIns="0" tIns="0" rIns="0" bIns="0" rtlCol="0" anchor="ctr" anchorCtr="0">
            <a:noAutofit/>
          </a:bodyPr>
          <a:lstStyle/>
          <a:p>
            <a:pPr lvl="0" algn="ctr">
              <a:lnSpc>
                <a:spcPct val="125000"/>
              </a:lnSpc>
              <a:buClrTx/>
              <a:buSzTx/>
              <a:buFontTx/>
              <a:defRPr/>
            </a:pPr>
            <a:r>
              <a:rPr lang="en-US" b="1">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 技术属性标签 · 特征刻画</a:t>
            </a:r>
            <a:endParaRPr lang="en-US" b="1">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5" name="Connector 15"/>
          <p:cNvCxnSpPr/>
          <p:nvPr>
            <p:custDataLst>
              <p:tags r:id="rId11"/>
            </p:custDataLst>
          </p:nvPr>
        </p:nvCxnSpPr>
        <p:spPr>
          <a:xfrm rot="-12972">
            <a:off x="8242312" y="3168650"/>
            <a:ext cx="3365500" cy="12700"/>
          </a:xfrm>
          <a:prstGeom prst="straightConnector1">
            <a:avLst/>
          </a:prstGeom>
          <a:solidFill>
            <a:srgbClr val="DEE0E3">
              <a:alpha val="100000"/>
            </a:srgbClr>
          </a:solidFill>
          <a:ln w="12700" cap="flat" cmpd="sng">
            <a:solidFill>
              <a:srgbClr val="93C5FD">
                <a:alpha val="100000"/>
              </a:srgbClr>
            </a:solidFill>
            <a:prstDash val="solid"/>
            <a:round/>
            <a:headEnd type="none" w="med" len="med"/>
            <a:tailEnd type="none" w="med" len="med"/>
          </a:ln>
        </p:spPr>
      </p:cxnSp>
      <p:sp>
        <p:nvSpPr>
          <p:cNvPr id="16" name="AutoShape 16"/>
          <p:cNvSpPr/>
          <p:nvPr>
            <p:custDataLst>
              <p:tags r:id="rId12"/>
            </p:custDataLst>
          </p:nvPr>
        </p:nvSpPr>
        <p:spPr>
          <a:xfrm>
            <a:off x="8242300" y="3302000"/>
            <a:ext cx="33655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技术特征：</a:t>
            </a:r>
            <a:r>
              <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标注文件格式、来源系统、存储位置与编码类型，还原数据底层属性。</a:t>
            </a:r>
            <a:endParaRPr lang="en-US" sz="1100">
              <a:latin typeface="微软雅黑" panose="020B0503020204020204" charset="-122"/>
              <a:ea typeface="微软雅黑" panose="020B0503020204020204" charset="-122"/>
              <a:cs typeface="微软雅黑" panose="020B0503020204020204" charset="-122"/>
            </a:endParaRPr>
          </a:p>
          <a:p>
            <a:pPr marL="0" indent="0" algn="l">
              <a:lnSpc>
                <a:spcPct val="117000"/>
              </a:lnSpc>
            </a:pPr>
            <a:r>
              <a:rPr lang="en-US" sz="1400" b="1"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质量指标：</a:t>
            </a:r>
            <a:r>
              <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定义冷热数据等级、数据完整度、权威度与更新频率，量化数据价值。</a:t>
            </a:r>
            <a:endPar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17000"/>
              </a:lnSpc>
            </a:pPr>
            <a:r>
              <a:rPr lang="en-US" sz="1400" b="1"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关联映射：</a:t>
            </a:r>
            <a:r>
              <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记录系统ID、关联文档，支撑关联检索与数据溯源。</a:t>
            </a:r>
            <a:endPar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7" name="AutoShape 17"/>
          <p:cNvSpPr/>
          <p:nvPr/>
        </p:nvSpPr>
        <p:spPr>
          <a:xfrm>
            <a:off x="444500" y="5842000"/>
            <a:ext cx="11303000" cy="635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8" name="AutoShape 18"/>
          <p:cNvSpPr/>
          <p:nvPr/>
        </p:nvSpPr>
        <p:spPr>
          <a:xfrm>
            <a:off x="571500" y="5943600"/>
            <a:ext cx="1104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构建“业务+管理+技术”三位一体的标签体系，实现从“人找</a:t>
            </a:r>
            <a:r>
              <a:rPr lang="zh-CN" altLang="en-US" sz="14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4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”到“</a:t>
            </a:r>
            <a:r>
              <a:rPr lang="zh-CN" altLang="en-US" sz="14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4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找人”的智能化转变，提升知识检索效率与决策支撑精准度。</a:t>
            </a:r>
            <a:endParaRPr lang="en-US" sz="1100">
              <a:latin typeface="微软雅黑" panose="020B0503020204020204" charset="-122"/>
              <a:ea typeface="微软雅黑" panose="020B0503020204020204" charset="-122"/>
              <a:cs typeface="微软雅黑" panose="020B0503020204020204" charset="-122"/>
            </a:endParaRPr>
          </a:p>
        </p:txBody>
      </p:sp>
      <p:sp>
        <p:nvSpPr>
          <p:cNvPr id="48" name="文本占位符 1"/>
          <p:cNvSpPr>
            <a:spLocks noGrp="1"/>
          </p:cNvSpPr>
          <p:nvPr/>
        </p:nvSpPr>
        <p:spPr>
          <a:xfrm>
            <a:off x="410845" y="104267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基于元数据自动生成多层级标签体系，</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通过业务、管理、技术三大维度的特征解构，实现对知识资产的精细化分类与语义刻画</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。该体系支撑多维度组合筛选、智能检索与精准推荐，为</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打破信息孤岛，为数据治理、知识复用与业务决策提供结构化的标签支撑。</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4" name="矩形 3"/>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23" name="矩形 22"/>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24" name="矩形 23"/>
          <p:cNvSpPr/>
          <p:nvPr/>
        </p:nvSpPr>
        <p:spPr>
          <a:xfrm>
            <a:off x="10622915" y="21590"/>
            <a:ext cx="775970" cy="17272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25" name="矩形 24"/>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2.2.3 资源管理--知识标签</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加工及应用示例</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14" name="组合 13"/>
          <p:cNvGrpSpPr/>
          <p:nvPr/>
        </p:nvGrpSpPr>
        <p:grpSpPr>
          <a:xfrm>
            <a:off x="466090" y="1307465"/>
            <a:ext cx="6087110" cy="2464435"/>
            <a:chOff x="1241" y="2561"/>
            <a:chExt cx="5700" cy="3881"/>
          </a:xfrm>
        </p:grpSpPr>
        <p:sp>
          <p:nvSpPr>
            <p:cNvPr id="5" name="AutoShape 5"/>
            <p:cNvSpPr/>
            <p:nvPr>
              <p:custDataLst>
                <p:tags r:id="rId1"/>
              </p:custDataLst>
            </p:nvPr>
          </p:nvSpPr>
          <p:spPr>
            <a:xfrm>
              <a:off x="1241" y="2621"/>
              <a:ext cx="5700" cy="3821"/>
            </a:xfrm>
            <a:prstGeom prst="roundRect">
              <a:avLst>
                <a:gd name="adj" fmla="val 0"/>
              </a:avLst>
            </a:prstGeom>
          </p:spPr>
          <p:style>
            <a:lnRef idx="3">
              <a:schemeClr val="accent1"/>
            </a:lnRef>
            <a:fillRef idx="0">
              <a:srgbClr val="FFFFFF"/>
            </a:fillRef>
            <a:effectRef idx="0">
              <a:srgbClr val="FFFFFF"/>
            </a:effectRef>
            <a:fontRef idx="minor">
              <a:schemeClr val="tx1"/>
            </a:fontRef>
          </p:style>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cxnSp>
          <p:nvCxnSpPr>
            <p:cNvPr id="4" name="Connector 7"/>
            <p:cNvCxnSpPr/>
            <p:nvPr>
              <p:custDataLst>
                <p:tags r:id="rId2"/>
              </p:custDataLst>
            </p:nvPr>
          </p:nvCxnSpPr>
          <p:spPr>
            <a:xfrm rot="-12972">
              <a:off x="1441" y="3350"/>
              <a:ext cx="5300" cy="20"/>
            </a:xfrm>
            <a:prstGeom prst="straightConnector1">
              <a:avLst/>
            </a:prstGeom>
            <a:solidFill>
              <a:srgbClr val="DEE0E3">
                <a:alpha val="100000"/>
              </a:srgbClr>
            </a:solidFill>
            <a:ln w="12700" cap="flat" cmpd="sng">
              <a:solidFill>
                <a:srgbClr val="93C5FD">
                  <a:alpha val="100000"/>
                </a:srgbClr>
              </a:solidFill>
              <a:prstDash val="solid"/>
              <a:round/>
              <a:headEnd type="none" w="med" len="med"/>
              <a:tailEnd type="none" w="med" len="med"/>
            </a:ln>
          </p:spPr>
        </p:cxnSp>
        <p:sp>
          <p:nvSpPr>
            <p:cNvPr id="10" name="AutoShape 6"/>
            <p:cNvSpPr/>
            <p:nvPr>
              <p:custDataLst>
                <p:tags r:id="rId3"/>
              </p:custDataLst>
            </p:nvPr>
          </p:nvSpPr>
          <p:spPr>
            <a:xfrm>
              <a:off x="1441" y="2561"/>
              <a:ext cx="5300" cy="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加工方式一</a:t>
              </a:r>
              <a:r>
                <a:rPr lang="en-US" altLang="zh-CN"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元数据直接映射</a:t>
              </a:r>
              <a:endPar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13" name="AutoShape 8"/>
          <p:cNvSpPr/>
          <p:nvPr>
            <p:custDataLst>
              <p:tags r:id="rId4"/>
            </p:custDataLst>
          </p:nvPr>
        </p:nvSpPr>
        <p:spPr>
          <a:xfrm>
            <a:off x="679450" y="1923415"/>
            <a:ext cx="5659755" cy="35877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基于采集的元数据，做标准化归一化处理后形成的事实类元数据标签。</a:t>
            </a:r>
            <a:endParaRPr lang="zh-CN" alt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aphicFrame>
        <p:nvGraphicFramePr>
          <p:cNvPr id="15" name="表格 14"/>
          <p:cNvGraphicFramePr/>
          <p:nvPr/>
        </p:nvGraphicFramePr>
        <p:xfrm>
          <a:off x="679450" y="2428240"/>
          <a:ext cx="5739130" cy="922020"/>
        </p:xfrm>
        <a:graphic>
          <a:graphicData uri="http://schemas.openxmlformats.org/drawingml/2006/table">
            <a:tbl>
              <a:tblPr/>
              <a:tblGrid>
                <a:gridCol w="708660"/>
                <a:gridCol w="1477645"/>
                <a:gridCol w="1430020"/>
                <a:gridCol w="2122805"/>
              </a:tblGrid>
              <a:tr h="230505">
                <a:tc>
                  <a:txBody>
                    <a:bodyPr/>
                    <a:lstStyle/>
                    <a:p>
                      <a:pPr algn="ctr" fontAlgn="ctr"/>
                      <a:r>
                        <a:rPr lang="zh-CN" altLang="en-US" sz="900" b="0" i="0">
                          <a:solidFill>
                            <a:srgbClr val="000000"/>
                          </a:solidFill>
                          <a:latin typeface="微软雅黑" panose="020B0503020204020204" charset="-122"/>
                          <a:ea typeface="微软雅黑" panose="020B0503020204020204" charset="-122"/>
                        </a:rPr>
                        <a:t>元数据</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元数据具体指标值</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自动生成的标签</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标签生成规则</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r>
              <a:tr h="230505">
                <a:tc>
                  <a:txBody>
                    <a:bodyPr/>
                    <a:lstStyle/>
                    <a:p>
                      <a:pPr algn="ctr" fontAlgn="ctr"/>
                      <a:r>
                        <a:rPr lang="zh-CN" altLang="en-US" sz="900" b="0" i="0">
                          <a:solidFill>
                            <a:srgbClr val="000000"/>
                          </a:solidFill>
                          <a:latin typeface="微软雅黑" panose="020B0503020204020204" charset="-122"/>
                          <a:ea typeface="微软雅黑" panose="020B0503020204020204" charset="-122"/>
                        </a:rPr>
                        <a:t>业务领域</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公司金融</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公司金融</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根据字段直接映射为标签</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r>
              <a:tr h="230505">
                <a:tc>
                  <a:txBody>
                    <a:bodyPr/>
                    <a:lstStyle/>
                    <a:p>
                      <a:pPr algn="ctr" fontAlgn="ctr"/>
                      <a:r>
                        <a:rPr lang="zh-CN" altLang="en-US" sz="900" b="0" i="0">
                          <a:solidFill>
                            <a:srgbClr val="000000"/>
                          </a:solidFill>
                          <a:latin typeface="微软雅黑" panose="020B0503020204020204" charset="-122"/>
                          <a:ea typeface="微软雅黑" panose="020B0503020204020204" charset="-122"/>
                        </a:rPr>
                        <a:t>业务类型</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规章制度</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规章制度</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根据字段直接映射为标签</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r>
              <a:tr h="230505">
                <a:tc>
                  <a:txBody>
                    <a:bodyPr/>
                    <a:lstStyle/>
                    <a:p>
                      <a:pPr algn="ctr" fontAlgn="ctr"/>
                      <a:r>
                        <a:rPr lang="zh-CN" altLang="en-US" sz="900" b="0" i="0">
                          <a:solidFill>
                            <a:srgbClr val="000000"/>
                          </a:solidFill>
                          <a:latin typeface="微软雅黑" panose="020B0503020204020204" charset="-122"/>
                          <a:ea typeface="微软雅黑" panose="020B0503020204020204" charset="-122"/>
                        </a:rPr>
                        <a:t>主管部门</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普惠金融部</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普惠金融部</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c>
                  <a:txBody>
                    <a:bodyPr/>
                    <a:lstStyle/>
                    <a:p>
                      <a:pPr algn="l" fontAlgn="ctr"/>
                      <a:r>
                        <a:rPr lang="zh-CN" altLang="en-US" sz="900" b="0" i="0">
                          <a:solidFill>
                            <a:srgbClr val="000000"/>
                          </a:solidFill>
                          <a:latin typeface="微软雅黑" panose="020B0503020204020204" charset="-122"/>
                          <a:ea typeface="微软雅黑" panose="020B0503020204020204" charset="-122"/>
                        </a:rPr>
                        <a:t>根据字段直接映射为标签</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chemeClr val="bg1"/>
                    </a:solidFill>
                  </a:tcPr>
                </a:tc>
              </a:tr>
            </a:tbl>
          </a:graphicData>
        </a:graphic>
      </p:graphicFrame>
      <p:grpSp>
        <p:nvGrpSpPr>
          <p:cNvPr id="16" name="组合 15"/>
          <p:cNvGrpSpPr/>
          <p:nvPr/>
        </p:nvGrpSpPr>
        <p:grpSpPr>
          <a:xfrm>
            <a:off x="466090" y="3968115"/>
            <a:ext cx="6087110" cy="2464435"/>
            <a:chOff x="1241" y="2561"/>
            <a:chExt cx="5700" cy="3881"/>
          </a:xfrm>
        </p:grpSpPr>
        <p:sp>
          <p:nvSpPr>
            <p:cNvPr id="17" name="AutoShape 5"/>
            <p:cNvSpPr/>
            <p:nvPr>
              <p:custDataLst>
                <p:tags r:id="rId5"/>
              </p:custDataLst>
            </p:nvPr>
          </p:nvSpPr>
          <p:spPr>
            <a:xfrm>
              <a:off x="1241" y="2621"/>
              <a:ext cx="5700" cy="3821"/>
            </a:xfrm>
            <a:prstGeom prst="roundRect">
              <a:avLst>
                <a:gd name="adj" fmla="val 0"/>
              </a:avLst>
            </a:prstGeom>
          </p:spPr>
          <p:style>
            <a:lnRef idx="3">
              <a:schemeClr val="accent1"/>
            </a:lnRef>
            <a:fillRef idx="0">
              <a:srgbClr val="FFFFFF"/>
            </a:fillRef>
            <a:effectRef idx="0">
              <a:srgbClr val="FFFFFF"/>
            </a:effectRef>
            <a:fontRef idx="minor">
              <a:schemeClr val="tx1"/>
            </a:fontRef>
          </p:style>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cxnSp>
          <p:nvCxnSpPr>
            <p:cNvPr id="18" name="Connector 7"/>
            <p:cNvCxnSpPr/>
            <p:nvPr>
              <p:custDataLst>
                <p:tags r:id="rId6"/>
              </p:custDataLst>
            </p:nvPr>
          </p:nvCxnSpPr>
          <p:spPr>
            <a:xfrm rot="-12972">
              <a:off x="1441" y="3350"/>
              <a:ext cx="5300" cy="20"/>
            </a:xfrm>
            <a:prstGeom prst="straightConnector1">
              <a:avLst/>
            </a:prstGeom>
            <a:solidFill>
              <a:srgbClr val="DEE0E3">
                <a:alpha val="100000"/>
              </a:srgbClr>
            </a:solidFill>
            <a:ln w="12700" cap="flat" cmpd="sng">
              <a:solidFill>
                <a:srgbClr val="93C5FD">
                  <a:alpha val="100000"/>
                </a:srgbClr>
              </a:solidFill>
              <a:prstDash val="solid"/>
              <a:round/>
              <a:headEnd type="none" w="med" len="med"/>
              <a:tailEnd type="none" w="med" len="med"/>
            </a:ln>
          </p:spPr>
        </p:cxnSp>
        <p:sp>
          <p:nvSpPr>
            <p:cNvPr id="19" name="AutoShape 6"/>
            <p:cNvSpPr/>
            <p:nvPr>
              <p:custDataLst>
                <p:tags r:id="rId7"/>
              </p:custDataLst>
            </p:nvPr>
          </p:nvSpPr>
          <p:spPr>
            <a:xfrm>
              <a:off x="1441" y="2561"/>
              <a:ext cx="5300" cy="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加工方式二</a:t>
              </a:r>
              <a:r>
                <a:rPr lang="en-US" altLang="zh-CN"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统计分析加工</a:t>
              </a:r>
              <a:endPar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20" name="AutoShape 8"/>
          <p:cNvSpPr/>
          <p:nvPr>
            <p:custDataLst>
              <p:tags r:id="rId8"/>
            </p:custDataLst>
          </p:nvPr>
        </p:nvSpPr>
        <p:spPr>
          <a:xfrm>
            <a:off x="679450" y="4584065"/>
            <a:ext cx="5659755" cy="35877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基于采集的元数据等进行统计分析</a:t>
            </a:r>
            <a:r>
              <a:rPr lang="en-US" altLang="zh-CN"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生成分析型元数据标签</a:t>
            </a:r>
            <a:r>
              <a:rPr lang="en-US" altLang="zh-CN"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en-US" altLang="zh-CN"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4" name="等腰三角形 23"/>
          <p:cNvSpPr/>
          <p:nvPr/>
        </p:nvSpPr>
        <p:spPr>
          <a:xfrm rot="16200000" flipV="1">
            <a:off x="4246880" y="3724910"/>
            <a:ext cx="5060950" cy="227965"/>
          </a:xfrm>
          <a:prstGeom prst="triangle">
            <a:avLst/>
          </a:prstGeom>
          <a:solidFill>
            <a:srgbClr val="EFF6FF"/>
          </a:solidFill>
          <a:ln w="12700" cap="flat" cmpd="sng">
            <a:noFill/>
            <a:prstDash val="solid"/>
            <a:round/>
          </a:ln>
        </p:spPr>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sp>
        <p:nvSpPr>
          <p:cNvPr id="34" name="Shape 32"/>
          <p:cNvSpPr/>
          <p:nvPr/>
        </p:nvSpPr>
        <p:spPr>
          <a:xfrm>
            <a:off x="7000875" y="1307465"/>
            <a:ext cx="490220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txBody>
          <a:bodyPr/>
          <a:lstStyle/>
          <a:p>
            <a:pPr algn="ctr"/>
            <a:r>
              <a:rPr lang="zh-CN" altLang="en-US">
                <a:latin typeface="微软雅黑" panose="020B0503020204020204" charset="-122"/>
                <a:ea typeface="微软雅黑" panose="020B0503020204020204" charset="-122"/>
              </a:rPr>
              <a:t>应用一：文档档案</a:t>
            </a:r>
            <a:endParaRPr lang="zh-CN" altLang="en-US">
              <a:latin typeface="微软雅黑" panose="020B0503020204020204" charset="-122"/>
              <a:ea typeface="微软雅黑" panose="020B0503020204020204" charset="-122"/>
            </a:endParaRPr>
          </a:p>
        </p:txBody>
      </p:sp>
      <p:grpSp>
        <p:nvGrpSpPr>
          <p:cNvPr id="25" name="组合 24"/>
          <p:cNvGrpSpPr/>
          <p:nvPr/>
        </p:nvGrpSpPr>
        <p:grpSpPr>
          <a:xfrm>
            <a:off x="7258685" y="1900555"/>
            <a:ext cx="1653540" cy="1871980"/>
            <a:chOff x="746" y="2814"/>
            <a:chExt cx="5390" cy="6940"/>
          </a:xfrm>
        </p:grpSpPr>
        <p:sp>
          <p:nvSpPr>
            <p:cNvPr id="30" name="圆角矩形 29"/>
            <p:cNvSpPr/>
            <p:nvPr/>
          </p:nvSpPr>
          <p:spPr>
            <a:xfrm>
              <a:off x="746" y="2814"/>
              <a:ext cx="5391" cy="6940"/>
            </a:xfrm>
            <a:prstGeom prst="roundRect">
              <a:avLst>
                <a:gd name="adj" fmla="val 2507"/>
              </a:avLst>
            </a:prstGeom>
            <a:solidFill>
              <a:schemeClr val="bg1"/>
            </a:solidFill>
            <a:ln>
              <a:noFill/>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horz" rtlCol="0" anchor="t"/>
            <a:lstStyle/>
            <a:p>
              <a:pPr algn="ctr">
                <a:lnSpc>
                  <a:spcPct val="150000"/>
                </a:lnSpc>
              </a:pPr>
              <a:r>
                <a:rPr kumimoji="1" lang="zh-CN" altLang="en-US" sz="800" b="1" dirty="0">
                  <a:solidFill>
                    <a:schemeClr val="accent1"/>
                  </a:solidFill>
                  <a:latin typeface="微软雅黑" panose="020B0503020204020204" charset="-122"/>
                  <a:ea typeface="微软雅黑" panose="020B0503020204020204" charset="-122"/>
                </a:rPr>
                <a:t>小微企业信贷业务管理办法</a:t>
              </a:r>
              <a:endParaRPr kumimoji="1" lang="zh-CN" altLang="en-US" sz="800" b="1" dirty="0">
                <a:solidFill>
                  <a:schemeClr val="accent1"/>
                </a:solidFill>
                <a:latin typeface="微软雅黑" panose="020B0503020204020204" charset="-122"/>
                <a:ea typeface="微软雅黑" panose="020B0503020204020204" charset="-122"/>
              </a:endParaRPr>
            </a:p>
          </p:txBody>
        </p:sp>
        <p:pic>
          <p:nvPicPr>
            <p:cNvPr id="26" name="图片 25"/>
            <p:cNvPicPr>
              <a:picLocks noChangeAspect="1"/>
            </p:cNvPicPr>
            <p:nvPr/>
          </p:nvPicPr>
          <p:blipFill>
            <a:blip r:embed="rId9"/>
            <a:stretch>
              <a:fillRect/>
            </a:stretch>
          </p:blipFill>
          <p:spPr>
            <a:xfrm>
              <a:off x="2908" y="4941"/>
              <a:ext cx="2922" cy="4147"/>
            </a:xfrm>
            <a:prstGeom prst="rect">
              <a:avLst/>
            </a:prstGeom>
            <a:effectLst>
              <a:outerShdw blurRad="50800" dist="38100" dir="2700000" algn="tl" rotWithShape="0">
                <a:prstClr val="black">
                  <a:alpha val="40000"/>
                </a:prstClr>
              </a:outerShdw>
            </a:effectLst>
          </p:spPr>
        </p:pic>
        <p:pic>
          <p:nvPicPr>
            <p:cNvPr id="27" name="图片 26"/>
            <p:cNvPicPr>
              <a:picLocks noChangeAspect="1"/>
            </p:cNvPicPr>
            <p:nvPr/>
          </p:nvPicPr>
          <p:blipFill>
            <a:blip r:embed="rId10"/>
            <a:stretch>
              <a:fillRect/>
            </a:stretch>
          </p:blipFill>
          <p:spPr>
            <a:xfrm>
              <a:off x="1431" y="3752"/>
              <a:ext cx="3003" cy="4275"/>
            </a:xfrm>
            <a:prstGeom prst="rect">
              <a:avLst/>
            </a:prstGeom>
            <a:effectLst>
              <a:outerShdw blurRad="50800" dist="38100" dir="2700000" algn="tl" rotWithShape="0">
                <a:prstClr val="black">
                  <a:alpha val="40000"/>
                </a:prstClr>
              </a:outerShdw>
            </a:effectLst>
          </p:spPr>
        </p:pic>
      </p:grpSp>
      <p:sp>
        <p:nvSpPr>
          <p:cNvPr id="28" name="矩形 27"/>
          <p:cNvSpPr/>
          <p:nvPr>
            <p:custDataLst>
              <p:tags r:id="rId11"/>
            </p:custDataLst>
          </p:nvPr>
        </p:nvSpPr>
        <p:spPr>
          <a:xfrm>
            <a:off x="9197340" y="1734820"/>
            <a:ext cx="2597785" cy="2374900"/>
          </a:xfrm>
          <a:prstGeom prst="rect">
            <a:avLst/>
          </a:prstGeom>
          <a:noFill/>
        </p:spPr>
        <p:txBody>
          <a:bodyPr wrap="square" lIns="0" tIns="0" rIns="0" bIns="0" rtlCol="0" anchor="t" anchorCtr="0">
            <a:noAutofit/>
          </a:bodyPr>
          <a:lstStyle/>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业务领域</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公司金融</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知识类型：制度办法</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业务对象</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小型企业、微型企业</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业务活动</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尽职调查、受托支付</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安全密级：内部资料</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生效时间</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：2025 </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年生效</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主管部门</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普惠金融部</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适用部门</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风险管理部适用、授信审批部适用</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文件格式</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：DOCX</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文档</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来源系统：制度中台</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权威度</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高</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冷热数据</a:t>
            </a: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热数据</a:t>
            </a:r>
            <a:endParaRPr lang="zh-CN" altLang="en-US"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endParaRPr>
          </a:p>
          <a:p>
            <a:pPr marL="171450" indent="-171450">
              <a:lnSpc>
                <a:spcPct val="130000"/>
              </a:lnSpc>
              <a:spcBef>
                <a:spcPct val="0"/>
              </a:spcBef>
              <a:spcAft>
                <a:spcPct val="0"/>
              </a:spcAft>
              <a:buFont typeface="Arial" panose="020B0604020202090204" pitchFamily="34" charset="0"/>
              <a:buChar char="•"/>
            </a:pPr>
            <a:r>
              <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a:t>
            </a:r>
            <a:endParaRPr lang="en-US" altLang="zh-CN" sz="9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endParaRPr>
          </a:p>
        </p:txBody>
      </p:sp>
      <p:sp>
        <p:nvSpPr>
          <p:cNvPr id="29" name="Shape 32"/>
          <p:cNvSpPr/>
          <p:nvPr/>
        </p:nvSpPr>
        <p:spPr>
          <a:xfrm>
            <a:off x="7000875" y="4156075"/>
            <a:ext cx="490220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txBody>
          <a:bodyPr/>
          <a:lstStyle/>
          <a:p>
            <a:pPr algn="ctr"/>
            <a:r>
              <a:rPr lang="zh-CN" altLang="en-US">
                <a:latin typeface="微软雅黑" panose="020B0503020204020204" charset="-122"/>
                <a:ea typeface="微软雅黑" panose="020B0503020204020204" charset="-122"/>
              </a:rPr>
              <a:t>应用二：文档检索</a:t>
            </a:r>
            <a:endParaRPr lang="zh-CN" altLang="en-US">
              <a:latin typeface="微软雅黑" panose="020B0503020204020204" charset="-122"/>
              <a:ea typeface="微软雅黑" panose="020B0503020204020204" charset="-122"/>
            </a:endParaRPr>
          </a:p>
        </p:txBody>
      </p:sp>
      <p:sp>
        <p:nvSpPr>
          <p:cNvPr id="33" name="矩形 32"/>
          <p:cNvSpPr/>
          <p:nvPr/>
        </p:nvSpPr>
        <p:spPr>
          <a:xfrm>
            <a:off x="6973570" y="4702175"/>
            <a:ext cx="4933950" cy="1842770"/>
          </a:xfrm>
          <a:prstGeom prst="rect">
            <a:avLst/>
          </a:prstGeom>
          <a:ln>
            <a:noFill/>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u="sng"/>
          </a:p>
        </p:txBody>
      </p:sp>
      <p:sp>
        <p:nvSpPr>
          <p:cNvPr id="35" name="文本框 34"/>
          <p:cNvSpPr txBox="1"/>
          <p:nvPr/>
        </p:nvSpPr>
        <p:spPr>
          <a:xfrm>
            <a:off x="7150735" y="4817110"/>
            <a:ext cx="4504055" cy="307975"/>
          </a:xfrm>
          <a:prstGeom prst="rect">
            <a:avLst/>
          </a:prstGeom>
          <a:noFill/>
        </p:spPr>
        <p:txBody>
          <a:bodyPr wrap="square" rtlCol="0" anchor="t">
            <a:noAutofit/>
          </a:bodyPr>
          <a:lstStyle/>
          <a:p>
            <a:pPr marL="0" indent="0" algn="l">
              <a:lnSpc>
                <a:spcPct val="100000"/>
              </a:lnSpc>
              <a:defRPr/>
            </a:pP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知识类型：</a:t>
            </a: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全部</a:t>
            </a:r>
            <a:r>
              <a:rPr 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/制度办法/操作规程/业务指引/产品手册/合同文本/风险案例</a:t>
            </a:r>
            <a:endParaRPr lang="en-US" alt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6" name="文本框 35"/>
          <p:cNvSpPr txBox="1"/>
          <p:nvPr/>
        </p:nvSpPr>
        <p:spPr>
          <a:xfrm>
            <a:off x="7150735" y="5100320"/>
            <a:ext cx="3970020" cy="307975"/>
          </a:xfrm>
          <a:prstGeom prst="rect">
            <a:avLst/>
          </a:prstGeom>
          <a:noFill/>
        </p:spPr>
        <p:txBody>
          <a:bodyPr wrap="square" rtlCol="0" anchor="t">
            <a:noAutofit/>
          </a:bodyPr>
          <a:lstStyle/>
          <a:p>
            <a:pPr marL="0" indent="0" algn="l">
              <a:lnSpc>
                <a:spcPct val="100000"/>
              </a:lnSpc>
              <a:defRPr/>
            </a:pP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所属年份：</a:t>
            </a: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全部</a:t>
            </a:r>
            <a:r>
              <a:rPr 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/2020/2021/2022/2023/2024/2025/2026</a:t>
            </a:r>
            <a:endParaRPr lang="zh-CN" alt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8" name="矩形 37"/>
          <p:cNvSpPr/>
          <p:nvPr/>
        </p:nvSpPr>
        <p:spPr>
          <a:xfrm>
            <a:off x="7258685" y="6068695"/>
            <a:ext cx="534035" cy="2336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全部</a:t>
            </a:r>
            <a:endParaRPr lang="zh-CN" altLang="en-US" sz="1000">
              <a:latin typeface="微软雅黑" panose="020B0503020204020204" charset="-122"/>
              <a:ea typeface="微软雅黑" panose="020B0503020204020204" charset="-122"/>
            </a:endParaRPr>
          </a:p>
        </p:txBody>
      </p:sp>
      <p:sp>
        <p:nvSpPr>
          <p:cNvPr id="39" name="矩形 38"/>
          <p:cNvSpPr/>
          <p:nvPr/>
        </p:nvSpPr>
        <p:spPr>
          <a:xfrm>
            <a:off x="7792720" y="6068695"/>
            <a:ext cx="662305" cy="23431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accent1"/>
                </a:solidFill>
                <a:latin typeface="微软雅黑" panose="020B0503020204020204" charset="-122"/>
                <a:ea typeface="微软雅黑" panose="020B0503020204020204" charset="-122"/>
              </a:rPr>
              <a:t>热数据</a:t>
            </a:r>
            <a:endParaRPr lang="zh-CN" altLang="en-US" sz="1000">
              <a:solidFill>
                <a:schemeClr val="accent1"/>
              </a:solidFill>
              <a:latin typeface="微软雅黑" panose="020B0503020204020204" charset="-122"/>
              <a:ea typeface="微软雅黑" panose="020B0503020204020204" charset="-122"/>
            </a:endParaRPr>
          </a:p>
        </p:txBody>
      </p:sp>
      <p:sp>
        <p:nvSpPr>
          <p:cNvPr id="40" name="矩形 39"/>
          <p:cNvSpPr/>
          <p:nvPr/>
        </p:nvSpPr>
        <p:spPr>
          <a:xfrm>
            <a:off x="8455025" y="6068695"/>
            <a:ext cx="662305" cy="234315"/>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accent1"/>
                </a:solidFill>
                <a:latin typeface="微软雅黑" panose="020B0503020204020204" charset="-122"/>
                <a:ea typeface="微软雅黑" panose="020B0503020204020204" charset="-122"/>
              </a:rPr>
              <a:t>冷数据</a:t>
            </a:r>
            <a:endParaRPr lang="zh-CN" altLang="en-US" sz="1000">
              <a:solidFill>
                <a:schemeClr val="accent1"/>
              </a:solidFill>
              <a:latin typeface="微软雅黑" panose="020B0503020204020204" charset="-122"/>
              <a:ea typeface="微软雅黑" panose="020B0503020204020204" charset="-122"/>
            </a:endParaRPr>
          </a:p>
        </p:txBody>
      </p:sp>
      <p:sp>
        <p:nvSpPr>
          <p:cNvPr id="47" name="矩形 46"/>
          <p:cNvSpPr/>
          <p:nvPr/>
        </p:nvSpPr>
        <p:spPr>
          <a:xfrm>
            <a:off x="9306560" y="6069330"/>
            <a:ext cx="534035" cy="2336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查询</a:t>
            </a:r>
            <a:endParaRPr lang="zh-CN" altLang="en-US" sz="1000">
              <a:latin typeface="微软雅黑" panose="020B0503020204020204" charset="-122"/>
              <a:ea typeface="微软雅黑" panose="020B0503020204020204" charset="-122"/>
            </a:endParaRPr>
          </a:p>
        </p:txBody>
      </p:sp>
      <p:sp>
        <p:nvSpPr>
          <p:cNvPr id="48" name="矩形 47"/>
          <p:cNvSpPr/>
          <p:nvPr/>
        </p:nvSpPr>
        <p:spPr>
          <a:xfrm>
            <a:off x="9933305" y="6069330"/>
            <a:ext cx="534035" cy="233680"/>
          </a:xfrm>
          <a:prstGeom prst="rect">
            <a:avLst/>
          </a:prstGeom>
          <a:solidFill>
            <a:schemeClr val="bg1">
              <a:lumMod val="65000"/>
            </a:schemeClr>
          </a:solidFill>
          <a:ln>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重置</a:t>
            </a:r>
            <a:endParaRPr lang="zh-CN" altLang="en-US" sz="1000">
              <a:latin typeface="微软雅黑" panose="020B0503020204020204" charset="-122"/>
              <a:ea typeface="微软雅黑" panose="020B0503020204020204" charset="-122"/>
            </a:endParaRPr>
          </a:p>
        </p:txBody>
      </p:sp>
      <p:sp>
        <p:nvSpPr>
          <p:cNvPr id="49" name="文本框 48"/>
          <p:cNvSpPr txBox="1"/>
          <p:nvPr/>
        </p:nvSpPr>
        <p:spPr>
          <a:xfrm>
            <a:off x="7150735" y="5386705"/>
            <a:ext cx="3970020" cy="307975"/>
          </a:xfrm>
          <a:prstGeom prst="rect">
            <a:avLst/>
          </a:prstGeom>
          <a:noFill/>
        </p:spPr>
        <p:txBody>
          <a:bodyPr wrap="square" rtlCol="0" anchor="t">
            <a:noAutofit/>
          </a:bodyPr>
          <a:lstStyle/>
          <a:p>
            <a:pPr marL="0" indent="0" algn="l">
              <a:lnSpc>
                <a:spcPct val="100000"/>
              </a:lnSpc>
              <a:defRPr/>
            </a:pP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权</a:t>
            </a:r>
            <a:r>
              <a:rPr lang="en-US" altLang="zh-CN"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威</a:t>
            </a:r>
            <a:r>
              <a:rPr lang="en-US" altLang="zh-CN"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度：</a:t>
            </a: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全部</a:t>
            </a:r>
            <a:r>
              <a:rPr 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权威度高</a:t>
            </a:r>
            <a:r>
              <a:rPr lang="en-US" altLang="zh-CN"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权威度中</a:t>
            </a:r>
            <a:r>
              <a:rPr lang="en-US" altLang="zh-CN"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权威度低</a:t>
            </a:r>
            <a:endParaRPr lang="zh-CN" alt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0" name="文本框 49"/>
          <p:cNvSpPr txBox="1"/>
          <p:nvPr/>
        </p:nvSpPr>
        <p:spPr>
          <a:xfrm>
            <a:off x="7150735" y="5663565"/>
            <a:ext cx="4504055" cy="307975"/>
          </a:xfrm>
          <a:prstGeom prst="rect">
            <a:avLst/>
          </a:prstGeom>
          <a:noFill/>
        </p:spPr>
        <p:txBody>
          <a:bodyPr wrap="square" rtlCol="0" anchor="t">
            <a:noAutofit/>
          </a:bodyPr>
          <a:lstStyle/>
          <a:p>
            <a:pPr marL="0" indent="0" algn="l">
              <a:lnSpc>
                <a:spcPct val="100000"/>
              </a:lnSpc>
              <a:defRPr/>
            </a:pPr>
            <a:r>
              <a:rPr lang="zh-CN" altLang="en-US" sz="1000" b="1">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业务对象：</a:t>
            </a: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全部</a:t>
            </a:r>
            <a:r>
              <a:rPr 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小型企业</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微型企业</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个体工商户</a:t>
            </a:r>
            <a:r>
              <a:rPr lang="en-US" altLang="zh-CN"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小微企业主</a:t>
            </a:r>
            <a:endParaRPr lang="en-US" altLang="en-US" sz="1000">
              <a:solidFill>
                <a:srgbClr val="59595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aphicFrame>
        <p:nvGraphicFramePr>
          <p:cNvPr id="3" name="表格 2"/>
          <p:cNvGraphicFramePr/>
          <p:nvPr>
            <p:custDataLst>
              <p:tags r:id="rId12"/>
            </p:custDataLst>
          </p:nvPr>
        </p:nvGraphicFramePr>
        <p:xfrm>
          <a:off x="655320" y="4958080"/>
          <a:ext cx="5739130" cy="1188720"/>
        </p:xfrm>
        <a:graphic>
          <a:graphicData uri="http://schemas.openxmlformats.org/drawingml/2006/table">
            <a:tbl>
              <a:tblPr/>
              <a:tblGrid>
                <a:gridCol w="1033780"/>
                <a:gridCol w="1416050"/>
                <a:gridCol w="1035685"/>
                <a:gridCol w="2253615"/>
              </a:tblGrid>
              <a:tr h="154305">
                <a:tc>
                  <a:txBody>
                    <a:bodyPr/>
                    <a:lstStyle/>
                    <a:p>
                      <a:pPr algn="ctr" fontAlgn="ctr"/>
                      <a:r>
                        <a:rPr lang="zh-CN" altLang="en-US" sz="900" b="0" i="0">
                          <a:solidFill>
                            <a:srgbClr val="000000"/>
                          </a:solidFill>
                          <a:latin typeface="微软雅黑" panose="020B0503020204020204" charset="-122"/>
                          <a:ea typeface="微软雅黑" panose="020B0503020204020204" charset="-122"/>
                        </a:rPr>
                        <a:t>元数据</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元数据具体指标值</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自动生成的标签</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标签生成规则</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154940">
                <a:tc>
                  <a:txBody>
                    <a:bodyPr/>
                    <a:lstStyle/>
                    <a:p>
                      <a:pPr algn="ctr" fontAlgn="ctr"/>
                      <a:r>
                        <a:rPr lang="zh-CN" altLang="en-US" sz="900" b="0" i="0">
                          <a:solidFill>
                            <a:srgbClr val="000000"/>
                          </a:solidFill>
                          <a:latin typeface="微软雅黑" panose="020B0503020204020204" charset="-122"/>
                          <a:ea typeface="微软雅黑" panose="020B0503020204020204" charset="-122"/>
                        </a:rPr>
                        <a:t>发布部门</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普惠金融部</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rowSpan="2">
                  <a:txBody>
                    <a:bodyPr/>
                    <a:lstStyle/>
                    <a:p>
                      <a:pPr algn="ctr" fontAlgn="ctr"/>
                      <a:r>
                        <a:rPr lang="zh-CN" altLang="en-US" sz="900" b="0" i="0">
                          <a:solidFill>
                            <a:srgbClr val="000000"/>
                          </a:solidFill>
                          <a:latin typeface="微软雅黑" panose="020B0503020204020204" charset="-122"/>
                          <a:ea typeface="微软雅黑" panose="020B0503020204020204" charset="-122"/>
                        </a:rPr>
                        <a:t>权威度高</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rowSpan="2">
                  <a:txBody>
                    <a:bodyPr/>
                    <a:lstStyle/>
                    <a:p>
                      <a:pPr algn="ctr" fontAlgn="ctr"/>
                      <a:r>
                        <a:rPr lang="zh-CN" altLang="en-US" sz="900" b="0" i="0">
                          <a:solidFill>
                            <a:srgbClr val="000000"/>
                          </a:solidFill>
                          <a:latin typeface="微软雅黑" panose="020B0503020204020204" charset="-122"/>
                          <a:ea typeface="微软雅黑" panose="020B0503020204020204" charset="-122"/>
                        </a:rPr>
                        <a:t>基于主责部门发布（制度的解释权部门发布）、最新版本进行权威度判断</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22250">
                <a:tc>
                  <a:txBody>
                    <a:bodyPr/>
                    <a:lstStyle/>
                    <a:p>
                      <a:pPr algn="ctr" fontAlgn="ctr"/>
                      <a:r>
                        <a:rPr lang="zh-CN" altLang="en-US" sz="900" b="0" i="0">
                          <a:solidFill>
                            <a:srgbClr val="000000"/>
                          </a:solidFill>
                          <a:latin typeface="微软雅黑" panose="020B0503020204020204" charset="-122"/>
                          <a:ea typeface="微软雅黑" panose="020B0503020204020204" charset="-122"/>
                        </a:rPr>
                        <a:t>文档版本</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zh-CN" altLang="en-US" sz="900" b="0" i="0">
                          <a:solidFill>
                            <a:srgbClr val="000000"/>
                          </a:solidFill>
                          <a:latin typeface="微软雅黑" panose="020B0503020204020204" charset="-122"/>
                          <a:ea typeface="微软雅黑" panose="020B0503020204020204" charset="-122"/>
                        </a:rPr>
                        <a:t>最新版</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r h="251460">
                <a:tc>
                  <a:txBody>
                    <a:bodyPr/>
                    <a:lstStyle/>
                    <a:p>
                      <a:pPr algn="ctr" fontAlgn="ctr"/>
                      <a:r>
                        <a:rPr lang="zh-CN" altLang="en-US" sz="900" b="0" i="0">
                          <a:solidFill>
                            <a:srgbClr val="000000"/>
                          </a:solidFill>
                          <a:latin typeface="微软雅黑" panose="020B0503020204020204" charset="-122"/>
                          <a:ea typeface="微软雅黑" panose="020B0503020204020204" charset="-122"/>
                        </a:rPr>
                        <a:t>近 </a:t>
                      </a:r>
                      <a:r>
                        <a:rPr lang="en-US" altLang="zh-CN" sz="900" b="0" i="0">
                          <a:solidFill>
                            <a:srgbClr val="000000"/>
                          </a:solidFill>
                          <a:latin typeface="微软雅黑" panose="020B0503020204020204" charset="-122"/>
                          <a:ea typeface="微软雅黑" panose="020B0503020204020204" charset="-122"/>
                        </a:rPr>
                        <a:t>30 </a:t>
                      </a:r>
                      <a:r>
                        <a:rPr lang="zh-CN" altLang="en-US" sz="900" b="0" i="0">
                          <a:solidFill>
                            <a:srgbClr val="000000"/>
                          </a:solidFill>
                          <a:latin typeface="微软雅黑" panose="020B0503020204020204" charset="-122"/>
                          <a:ea typeface="微软雅黑" panose="020B0503020204020204" charset="-122"/>
                        </a:rPr>
                        <a:t>天访问次数</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en-US" altLang="zh-CN" sz="900" b="0" i="0">
                          <a:solidFill>
                            <a:srgbClr val="000000"/>
                          </a:solidFill>
                          <a:latin typeface="微软雅黑" panose="020B0503020204020204" charset="-122"/>
                          <a:ea typeface="微软雅黑" panose="020B0503020204020204" charset="-122"/>
                        </a:rPr>
                        <a:t>1,256 </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rowSpan="3">
                  <a:txBody>
                    <a:bodyPr/>
                    <a:lstStyle/>
                    <a:p>
                      <a:pPr algn="ctr" fontAlgn="ctr"/>
                      <a:r>
                        <a:rPr lang="zh-CN" altLang="en-US" sz="900" b="0" i="0">
                          <a:solidFill>
                            <a:srgbClr val="000000"/>
                          </a:solidFill>
                          <a:latin typeface="微软雅黑" panose="020B0503020204020204" charset="-122"/>
                          <a:ea typeface="微软雅黑" panose="020B0503020204020204" charset="-122"/>
                        </a:rPr>
                        <a:t>热数据</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rowSpan="3">
                  <a:txBody>
                    <a:bodyPr/>
                    <a:lstStyle/>
                    <a:p>
                      <a:pPr algn="ctr" fontAlgn="ctr"/>
                      <a:r>
                        <a:rPr lang="zh-CN" altLang="en-US" sz="900" b="0" i="0">
                          <a:solidFill>
                            <a:srgbClr val="000000"/>
                          </a:solidFill>
                          <a:latin typeface="微软雅黑" panose="020B0503020204020204" charset="-122"/>
                          <a:ea typeface="微软雅黑" panose="020B0503020204020204" charset="-122"/>
                        </a:rPr>
                        <a:t>基于访问频次和最后访问时间按阈值判定，随访问行为动态更新</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r>
              <a:tr h="251460">
                <a:tc>
                  <a:txBody>
                    <a:bodyPr/>
                    <a:lstStyle/>
                    <a:p>
                      <a:pPr algn="ctr" fontAlgn="ctr"/>
                      <a:r>
                        <a:rPr lang="zh-CN" altLang="en-US" sz="900" b="0" i="0">
                          <a:solidFill>
                            <a:srgbClr val="000000"/>
                          </a:solidFill>
                          <a:latin typeface="微软雅黑" panose="020B0503020204020204" charset="-122"/>
                          <a:ea typeface="微软雅黑" panose="020B0503020204020204" charset="-122"/>
                        </a:rPr>
                        <a:t>近 </a:t>
                      </a:r>
                      <a:r>
                        <a:rPr lang="en-US" altLang="zh-CN" sz="900" b="0" i="0">
                          <a:solidFill>
                            <a:srgbClr val="000000"/>
                          </a:solidFill>
                          <a:latin typeface="微软雅黑" panose="020B0503020204020204" charset="-122"/>
                          <a:ea typeface="微软雅黑" panose="020B0503020204020204" charset="-122"/>
                        </a:rPr>
                        <a:t>90 </a:t>
                      </a:r>
                      <a:r>
                        <a:rPr lang="zh-CN" altLang="en-US" sz="900" b="0" i="0">
                          <a:solidFill>
                            <a:srgbClr val="000000"/>
                          </a:solidFill>
                          <a:latin typeface="微软雅黑" panose="020B0503020204020204" charset="-122"/>
                          <a:ea typeface="微软雅黑" panose="020B0503020204020204" charset="-122"/>
                        </a:rPr>
                        <a:t>天访问次数</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en-US" altLang="zh-CN" sz="900" b="0" i="0">
                          <a:solidFill>
                            <a:srgbClr val="000000"/>
                          </a:solidFill>
                          <a:latin typeface="微软雅黑" panose="020B0503020204020204" charset="-122"/>
                          <a:ea typeface="微软雅黑" panose="020B0503020204020204" charset="-122"/>
                        </a:rPr>
                        <a:t>3,420 </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154305">
                <a:tc>
                  <a:txBody>
                    <a:bodyPr/>
                    <a:lstStyle/>
                    <a:p>
                      <a:pPr algn="ctr" fontAlgn="ctr"/>
                      <a:r>
                        <a:rPr lang="zh-CN" altLang="en-US" sz="900" b="0" i="0">
                          <a:solidFill>
                            <a:srgbClr val="000000"/>
                          </a:solidFill>
                          <a:latin typeface="微软雅黑" panose="020B0503020204020204" charset="-122"/>
                          <a:ea typeface="微软雅黑" panose="020B0503020204020204" charset="-122"/>
                        </a:rPr>
                        <a:t>最后访问时间</a:t>
                      </a:r>
                      <a:endParaRPr lang="zh-CN" altLang="en-US"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a:txBody>
                    <a:bodyPr/>
                    <a:lstStyle/>
                    <a:p>
                      <a:pPr algn="ctr" fontAlgn="ctr"/>
                      <a:r>
                        <a:rPr lang="en-US" altLang="zh-CN" sz="900" b="0" i="0">
                          <a:solidFill>
                            <a:srgbClr val="000000"/>
                          </a:solidFill>
                          <a:latin typeface="微软雅黑" panose="020B0503020204020204" charset="-122"/>
                          <a:ea typeface="微软雅黑" panose="020B0503020204020204" charset="-122"/>
                        </a:rPr>
                        <a:t>2026/7/13</a:t>
                      </a:r>
                      <a:endParaRPr lang="en-US" altLang="zh-CN" sz="900" b="0" i="0">
                        <a:solidFill>
                          <a:srgbClr val="000000"/>
                        </a:solidFill>
                        <a:latin typeface="微软雅黑" panose="020B0503020204020204" charset="-122"/>
                        <a:ea typeface="微软雅黑" panose="020B0503020204020204" charset="-122"/>
                      </a:endParaRPr>
                    </a:p>
                  </a:txBody>
                  <a:tcPr marL="13017" marR="13017" marT="1301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FFFFF"/>
                    </a:solid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bl>
          </a:graphicData>
        </a:graphic>
      </p:graphicFrame>
      <p:sp>
        <p:nvSpPr>
          <p:cNvPr id="11" name="矩形 10"/>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12" name="矩形 11"/>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2" name="矩形 31"/>
          <p:cNvSpPr/>
          <p:nvPr/>
        </p:nvSpPr>
        <p:spPr>
          <a:xfrm>
            <a:off x="10622915" y="21590"/>
            <a:ext cx="775970" cy="17272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7" name="矩形 36"/>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
        <p:nvSpPr>
          <p:cNvPr id="6" name="文本框 5"/>
          <p:cNvSpPr txBox="1"/>
          <p:nvPr/>
        </p:nvSpPr>
        <p:spPr>
          <a:xfrm>
            <a:off x="1621155" y="863600"/>
            <a:ext cx="2823210" cy="368300"/>
          </a:xfrm>
          <a:prstGeom prst="rect">
            <a:avLst/>
          </a:prstGeom>
          <a:noFill/>
        </p:spPr>
        <p:txBody>
          <a:bodyPr wrap="square" rtlCol="0">
            <a:spAutoFit/>
          </a:bodyPr>
          <a:lstStyle/>
          <a:p>
            <a:pPr algn="ctr"/>
            <a:r>
              <a:rPr lang="zh-CN" altLang="en-US" b="1">
                <a:latin typeface="微软雅黑" panose="020B0503020204020204" charset="-122"/>
                <a:ea typeface="微软雅黑" panose="020B0503020204020204" charset="-122"/>
              </a:rPr>
              <a:t>标签加工</a:t>
            </a:r>
            <a:endParaRPr lang="zh-CN" altLang="en-US" b="1">
              <a:latin typeface="微软雅黑" panose="020B0503020204020204" charset="-122"/>
              <a:ea typeface="微软雅黑" panose="020B0503020204020204" charset="-122"/>
            </a:endParaRPr>
          </a:p>
        </p:txBody>
      </p:sp>
      <p:sp>
        <p:nvSpPr>
          <p:cNvPr id="7" name="文本框 6"/>
          <p:cNvSpPr txBox="1"/>
          <p:nvPr/>
        </p:nvSpPr>
        <p:spPr>
          <a:xfrm>
            <a:off x="8096250" y="872490"/>
            <a:ext cx="2823210" cy="368300"/>
          </a:xfrm>
          <a:prstGeom prst="rect">
            <a:avLst/>
          </a:prstGeom>
          <a:noFill/>
        </p:spPr>
        <p:txBody>
          <a:bodyPr wrap="square" rtlCol="0">
            <a:spAutoFit/>
          </a:bodyPr>
          <a:lstStyle/>
          <a:p>
            <a:pPr algn="ctr"/>
            <a:r>
              <a:rPr lang="zh-CN" altLang="en-US" b="1">
                <a:latin typeface="微软雅黑" panose="020B0503020204020204" charset="-122"/>
                <a:ea typeface="微软雅黑" panose="020B0503020204020204" charset="-122"/>
              </a:rPr>
              <a:t>标签应用</a:t>
            </a:r>
            <a:endParaRPr lang="zh-CN" altLang="en-US" b="1">
              <a:latin typeface="微软雅黑" panose="020B0503020204020204" charset="-122"/>
              <a:ea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4"/>
          <p:cNvSpPr/>
          <p:nvPr/>
        </p:nvSpPr>
        <p:spPr>
          <a:xfrm>
            <a:off x="304800" y="4568825"/>
            <a:ext cx="11582400" cy="125666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cs"/>
            </a:endParaRPr>
          </a:p>
        </p:txBody>
      </p:sp>
      <p:sp>
        <p:nvSpPr>
          <p:cNvPr id="58" name="Rectangle 4"/>
          <p:cNvSpPr/>
          <p:nvPr/>
        </p:nvSpPr>
        <p:spPr>
          <a:xfrm>
            <a:off x="304800" y="2708910"/>
            <a:ext cx="11582400" cy="124523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楷体" panose="02010609060101010101" pitchFamily="49" charset="-122"/>
              <a:ea typeface="楷体" panose="02010609060101010101" pitchFamily="49" charset="-122"/>
              <a:cs typeface="+mn-cs"/>
            </a:endParaRPr>
          </a:p>
        </p:txBody>
      </p:sp>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2.2.3 资源管理--多租户、多空间管理</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1042670"/>
            <a:ext cx="11370945" cy="1200785"/>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支持多租户多空间弹性扩展与统一管理</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采用「租户 - 空间」分层架构，租户对应法人实体、空间对应总行部门/各分行，</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可灵活适配中信银行及各子公司的多法人知识管理需求，实现知识资源从顶层到末端的统一纳管、弹性扩展、分级运营‌。</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 name="Text 9"/>
          <p:cNvSpPr/>
          <p:nvPr/>
        </p:nvSpPr>
        <p:spPr>
          <a:xfrm>
            <a:off x="760730" y="3223094"/>
            <a:ext cx="379095" cy="150495"/>
          </a:xfrm>
          <a:prstGeom prst="rect">
            <a:avLst/>
          </a:prstGeom>
          <a:noFill/>
        </p:spPr>
        <p:txBody>
          <a:bodyPr wrap="none" lIns="0" tIns="0" rIns="0" bIns="0" rtlCol="0" anchor="t"/>
          <a:lstStyle/>
          <a:p>
            <a:pPr marL="0" marR="0" lvl="0" indent="0" algn="ctr" defTabSz="914400" rtl="0" eaLnBrk="1" fontAlgn="auto" latinLnBrk="0" hangingPunct="1">
              <a:lnSpc>
                <a:spcPts val="875"/>
              </a:lnSpc>
              <a:spcBef>
                <a:spcPts val="0"/>
              </a:spcBef>
              <a:spcAft>
                <a:spcPts val="0"/>
              </a:spcAft>
              <a:buClrTx/>
              <a:buSzTx/>
              <a:buFontTx/>
              <a:buNone/>
              <a:defRPr/>
            </a:pPr>
            <a:r>
              <a:rPr kumimoji="0" lang="en-US" sz="16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租户</a:t>
            </a:r>
            <a:endParaRPr kumimoji="0" lang="en-US" sz="16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123" name="Text 10"/>
          <p:cNvSpPr/>
          <p:nvPr/>
        </p:nvSpPr>
        <p:spPr>
          <a:xfrm>
            <a:off x="423545" y="3569335"/>
            <a:ext cx="1071245" cy="211455"/>
          </a:xfrm>
          <a:prstGeom prst="rect">
            <a:avLst/>
          </a:prstGeom>
          <a:noFill/>
        </p:spPr>
        <p:txBody>
          <a:bodyPr wrap="square" lIns="0" tIns="0" rIns="0" bIns="0" rtlCol="0" anchor="t"/>
          <a:lstStyle/>
          <a:p>
            <a:pPr marL="0" marR="0" lvl="0" indent="0" algn="ctr" defTabSz="914400" rtl="0" eaLnBrk="1" fontAlgn="auto" latinLnBrk="0" hangingPunct="1">
              <a:lnSpc>
                <a:spcPts val="715"/>
              </a:lnSpc>
              <a:spcBef>
                <a:spcPts val="0"/>
              </a:spcBef>
              <a:spcAft>
                <a:spcPts val="0"/>
              </a:spcAft>
              <a:buClrTx/>
              <a:buSzTx/>
              <a:buFontTx/>
              <a:buNone/>
              <a:defRPr/>
            </a:pPr>
            <a:r>
              <a:rPr kumimoji="0" lang="en-US" sz="1600" b="0" i="0" u="none" strike="noStrike" kern="1200" cap="none" spc="0" normalizeH="0" baseline="0" noProof="0" dirty="0">
                <a:ln>
                  <a:noFill/>
                </a:ln>
                <a:solidFill>
                  <a:srgbClr val="6B7280"/>
                </a:solidFill>
                <a:effectLst/>
                <a:uLnTx/>
                <a:uFillTx/>
                <a:latin typeface="微软雅黑" panose="020B0503020204020204" charset="-122"/>
                <a:ea typeface="微软雅黑" panose="020B0503020204020204" charset="-122"/>
                <a:cs typeface="微软雅黑" panose="020B0503020204020204" pitchFamily="34" charset="-120"/>
              </a:rPr>
              <a:t>法人实体</a:t>
            </a:r>
            <a:endParaRPr kumimoji="0" lang="en-US" sz="1600" b="0" i="0" u="none" strike="noStrike" kern="1200" cap="none" spc="0" normalizeH="0" baseline="0" noProof="0" dirty="0">
              <a:ln>
                <a:noFill/>
              </a:ln>
              <a:solidFill>
                <a:srgbClr val="6B7280"/>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23" name="Text 9"/>
          <p:cNvSpPr/>
          <p:nvPr/>
        </p:nvSpPr>
        <p:spPr>
          <a:xfrm>
            <a:off x="793115" y="5107139"/>
            <a:ext cx="379095" cy="150495"/>
          </a:xfrm>
          <a:prstGeom prst="rect">
            <a:avLst/>
          </a:prstGeom>
          <a:noFill/>
        </p:spPr>
        <p:txBody>
          <a:bodyPr wrap="none" lIns="0" tIns="0" rIns="0" bIns="0" rtlCol="0" anchor="t"/>
          <a:lstStyle/>
          <a:p>
            <a:pPr marL="0" marR="0" lvl="0" indent="0" algn="ctr" defTabSz="914400" rtl="0" eaLnBrk="1" fontAlgn="auto" latinLnBrk="0" hangingPunct="1">
              <a:lnSpc>
                <a:spcPts val="875"/>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知识空间</a:t>
            </a:r>
            <a:endParaRPr kumimoji="0" lang="zh-CN" altLang="en-US" sz="16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24" name="Text 10"/>
          <p:cNvSpPr/>
          <p:nvPr/>
        </p:nvSpPr>
        <p:spPr>
          <a:xfrm>
            <a:off x="455930" y="5453380"/>
            <a:ext cx="1071245" cy="211455"/>
          </a:xfrm>
          <a:prstGeom prst="rect">
            <a:avLst/>
          </a:prstGeom>
          <a:noFill/>
        </p:spPr>
        <p:txBody>
          <a:bodyPr wrap="square" lIns="0" tIns="0" rIns="0" bIns="0" rtlCol="0" anchor="t"/>
          <a:lstStyle/>
          <a:p>
            <a:pPr marL="0" marR="0" lvl="0" indent="0" algn="ctr" defTabSz="914400" rtl="0" eaLnBrk="1" fontAlgn="auto" latinLnBrk="0" hangingPunct="1">
              <a:lnSpc>
                <a:spcPts val="715"/>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6B7280"/>
                </a:solidFill>
                <a:effectLst/>
                <a:uLnTx/>
                <a:uFillTx/>
                <a:latin typeface="微软雅黑" panose="020B0503020204020204" charset="-122"/>
                <a:ea typeface="微软雅黑" panose="020B0503020204020204" charset="-122"/>
                <a:cs typeface="微软雅黑" panose="020B0503020204020204" pitchFamily="34" charset="-120"/>
              </a:rPr>
              <a:t>机构维度</a:t>
            </a:r>
            <a:endParaRPr kumimoji="0" lang="zh-CN" altLang="en-US" sz="1600" b="0" i="0" u="none" strike="noStrike" kern="1200" cap="none" spc="0" normalizeH="0" baseline="0" noProof="0" dirty="0">
              <a:ln>
                <a:noFill/>
              </a:ln>
              <a:solidFill>
                <a:srgbClr val="6B7280"/>
              </a:solidFill>
              <a:effectLst/>
              <a:uLnTx/>
              <a:uFillTx/>
              <a:latin typeface="微软雅黑" panose="020B0503020204020204" charset="-122"/>
              <a:ea typeface="微软雅黑" panose="020B0503020204020204" charset="-122"/>
              <a:cs typeface="微软雅黑" panose="020B0503020204020204" pitchFamily="34" charset="-120"/>
            </a:endParaRPr>
          </a:p>
        </p:txBody>
      </p:sp>
      <p:grpSp>
        <p:nvGrpSpPr>
          <p:cNvPr id="25" name="组合 24"/>
          <p:cNvGrpSpPr/>
          <p:nvPr/>
        </p:nvGrpSpPr>
        <p:grpSpPr>
          <a:xfrm>
            <a:off x="1831975" y="2994660"/>
            <a:ext cx="2042160" cy="715010"/>
            <a:chOff x="2884" y="4013"/>
            <a:chExt cx="3216" cy="1126"/>
          </a:xfrm>
        </p:grpSpPr>
        <p:sp>
          <p:nvSpPr>
            <p:cNvPr id="125" name="Text 11"/>
            <p:cNvSpPr/>
            <p:nvPr/>
          </p:nvSpPr>
          <p:spPr>
            <a:xfrm>
              <a:off x="2884" y="4013"/>
              <a:ext cx="3217" cy="1126"/>
            </a:xfrm>
            <a:prstGeom prst="roundRect">
              <a:avLst>
                <a:gd name="adj" fmla="val 8788"/>
              </a:avLst>
            </a:prstGeom>
            <a:solidFill>
              <a:schemeClr val="bg1"/>
            </a:solidFill>
            <a:ln w="14288">
              <a:solidFill>
                <a:schemeClr val="accent1"/>
              </a:solidFill>
              <a:prstDash val="solid"/>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6" name="Text 12"/>
            <p:cNvSpPr/>
            <p:nvPr/>
          </p:nvSpPr>
          <p:spPr>
            <a:xfrm>
              <a:off x="2935" y="4339"/>
              <a:ext cx="618" cy="390"/>
            </a:xfrm>
            <a:prstGeom prst="rect">
              <a:avLst/>
            </a:prstGeom>
            <a:noFill/>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rPr>
                <a:t>🏛</a:t>
              </a:r>
              <a:endPar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Text 13"/>
            <p:cNvSpPr/>
            <p:nvPr/>
          </p:nvSpPr>
          <p:spPr>
            <a:xfrm>
              <a:off x="3727" y="4505"/>
              <a:ext cx="1891" cy="315"/>
            </a:xfrm>
            <a:prstGeom prst="rect">
              <a:avLst/>
            </a:prstGeom>
            <a:noFill/>
          </p:spPr>
          <p:txBody>
            <a:bodyPr wrap="none" lIns="0" tIns="0" rIns="0" bIns="0" rtlCol="0" anchor="t"/>
            <a:lstStyle/>
            <a:p>
              <a:pPr marL="0" marR="0" lvl="0" indent="0" algn="l" defTabSz="914400" rtl="0" eaLnBrk="1" fontAlgn="auto" latinLnBrk="0" hangingPunct="1">
                <a:lnSpc>
                  <a:spcPts val="930"/>
                </a:lnSpc>
                <a:spcBef>
                  <a:spcPts val="0"/>
                </a:spcBef>
                <a:spcAft>
                  <a:spcPts val="0"/>
                </a:spcAft>
                <a:buClrTx/>
                <a:buSzTx/>
                <a:buFontTx/>
                <a:buNone/>
                <a:defRPr/>
              </a:pPr>
              <a:r>
                <a:rPr kumimoji="0" lang="en-US" sz="14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中信银行</a:t>
              </a:r>
              <a:endParaRPr kumimoji="0" lang="en-US" sz="14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endParaRPr>
            </a:p>
          </p:txBody>
        </p:sp>
      </p:grpSp>
      <p:grpSp>
        <p:nvGrpSpPr>
          <p:cNvPr id="26" name="组合 25"/>
          <p:cNvGrpSpPr/>
          <p:nvPr/>
        </p:nvGrpSpPr>
        <p:grpSpPr>
          <a:xfrm>
            <a:off x="4425950" y="2994660"/>
            <a:ext cx="2042160" cy="715010"/>
            <a:chOff x="2884" y="4013"/>
            <a:chExt cx="3216" cy="1126"/>
          </a:xfrm>
        </p:grpSpPr>
        <p:sp>
          <p:nvSpPr>
            <p:cNvPr id="27" name="Text 11"/>
            <p:cNvSpPr/>
            <p:nvPr/>
          </p:nvSpPr>
          <p:spPr>
            <a:xfrm>
              <a:off x="2884" y="4013"/>
              <a:ext cx="3217" cy="1126"/>
            </a:xfrm>
            <a:prstGeom prst="roundRect">
              <a:avLst>
                <a:gd name="adj" fmla="val 8788"/>
              </a:avLst>
            </a:prstGeom>
            <a:solidFill>
              <a:schemeClr val="bg1"/>
            </a:solidFill>
            <a:ln w="14288">
              <a:solidFill>
                <a:schemeClr val="accent1"/>
              </a:solidFill>
              <a:prstDash val="solid"/>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28" name="Text 12"/>
            <p:cNvSpPr/>
            <p:nvPr/>
          </p:nvSpPr>
          <p:spPr>
            <a:xfrm>
              <a:off x="2935" y="4339"/>
              <a:ext cx="618" cy="390"/>
            </a:xfrm>
            <a:prstGeom prst="rect">
              <a:avLst/>
            </a:prstGeom>
            <a:noFill/>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rPr>
                <a:t>🏛</a:t>
              </a:r>
              <a:endPar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9" name="Text 13"/>
            <p:cNvSpPr/>
            <p:nvPr/>
          </p:nvSpPr>
          <p:spPr>
            <a:xfrm>
              <a:off x="3727" y="4505"/>
              <a:ext cx="1891" cy="315"/>
            </a:xfrm>
            <a:prstGeom prst="rect">
              <a:avLst/>
            </a:prstGeom>
            <a:noFill/>
          </p:spPr>
          <p:txBody>
            <a:bodyPr wrap="none" lIns="0" tIns="0" rIns="0" bIns="0" rtlCol="0" anchor="t"/>
            <a:lstStyle/>
            <a:p>
              <a:pPr marL="0" marR="0" lvl="0" indent="0" algn="l" defTabSz="914400" rtl="0" eaLnBrk="1" fontAlgn="auto" latinLnBrk="0" hangingPunct="1">
                <a:lnSpc>
                  <a:spcPts val="93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sym typeface="+mn-ea"/>
                </a:rPr>
                <a:t>信银理财</a:t>
              </a:r>
              <a:endParaRPr kumimoji="0" lang="zh-CN" altLang="en-US" sz="14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sym typeface="+mn-ea"/>
              </a:endParaRPr>
            </a:p>
          </p:txBody>
        </p:sp>
      </p:grpSp>
      <p:grpSp>
        <p:nvGrpSpPr>
          <p:cNvPr id="30" name="组合 29"/>
          <p:cNvGrpSpPr/>
          <p:nvPr/>
        </p:nvGrpSpPr>
        <p:grpSpPr>
          <a:xfrm>
            <a:off x="7019925" y="2994660"/>
            <a:ext cx="2042160" cy="715010"/>
            <a:chOff x="2884" y="4013"/>
            <a:chExt cx="3216" cy="1126"/>
          </a:xfrm>
        </p:grpSpPr>
        <p:sp>
          <p:nvSpPr>
            <p:cNvPr id="31" name="Text 11"/>
            <p:cNvSpPr/>
            <p:nvPr/>
          </p:nvSpPr>
          <p:spPr>
            <a:xfrm>
              <a:off x="2884" y="4013"/>
              <a:ext cx="3217" cy="1126"/>
            </a:xfrm>
            <a:prstGeom prst="roundRect">
              <a:avLst>
                <a:gd name="adj" fmla="val 8788"/>
              </a:avLst>
            </a:prstGeom>
            <a:solidFill>
              <a:schemeClr val="bg1"/>
            </a:solidFill>
            <a:ln w="14288">
              <a:solidFill>
                <a:schemeClr val="accent1"/>
              </a:solidFill>
              <a:prstDash val="solid"/>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2" name="Text 12"/>
            <p:cNvSpPr/>
            <p:nvPr/>
          </p:nvSpPr>
          <p:spPr>
            <a:xfrm>
              <a:off x="2935" y="4339"/>
              <a:ext cx="618" cy="390"/>
            </a:xfrm>
            <a:prstGeom prst="rect">
              <a:avLst/>
            </a:prstGeom>
            <a:noFill/>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rPr>
                <a:t>🏛</a:t>
              </a:r>
              <a:endPar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3" name="Text 13"/>
            <p:cNvSpPr/>
            <p:nvPr/>
          </p:nvSpPr>
          <p:spPr>
            <a:xfrm>
              <a:off x="3727" y="4505"/>
              <a:ext cx="1891" cy="315"/>
            </a:xfrm>
            <a:prstGeom prst="rect">
              <a:avLst/>
            </a:prstGeom>
            <a:noFill/>
          </p:spPr>
          <p:txBody>
            <a:bodyPr wrap="none" lIns="0" tIns="0" rIns="0" bIns="0" rtlCol="0" anchor="ctr" anchorCtr="0"/>
            <a:lstStyle/>
            <a:p>
              <a:pPr marL="0" marR="0" lvl="0" indent="0" algn="l" defTabSz="914400" rtl="0" eaLnBrk="1" fontAlgn="auto" latinLnBrk="0" hangingPunct="1">
                <a:lnSpc>
                  <a:spcPts val="930"/>
                </a:lnSpc>
                <a:spcBef>
                  <a:spcPts val="0"/>
                </a:spcBef>
                <a:spcAft>
                  <a:spcPts val="0"/>
                </a:spcAft>
                <a:buClrTx/>
                <a:buSzTx/>
                <a:buFontTx/>
                <a:buNone/>
                <a:defRPr/>
              </a:pPr>
              <a:r>
                <a:rPr lang="en-US" sz="1400" b="1"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sym typeface="+mn-ea"/>
                </a:rPr>
                <a:t>中信</a:t>
              </a:r>
              <a:r>
                <a:rPr lang="zh-CN" altLang="en-US" sz="1400" b="1"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sym typeface="+mn-ea"/>
                </a:rPr>
                <a:t>金租</a:t>
              </a:r>
              <a:endParaRPr lang="zh-CN" altLang="en-US" sz="1400" b="1"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sym typeface="+mn-ea"/>
              </a:endParaRPr>
            </a:p>
          </p:txBody>
        </p:sp>
      </p:grpSp>
      <p:grpSp>
        <p:nvGrpSpPr>
          <p:cNvPr id="34" name="组合 33"/>
          <p:cNvGrpSpPr/>
          <p:nvPr/>
        </p:nvGrpSpPr>
        <p:grpSpPr>
          <a:xfrm>
            <a:off x="9528175" y="2994660"/>
            <a:ext cx="2042795" cy="715010"/>
            <a:chOff x="2884" y="4013"/>
            <a:chExt cx="3217" cy="1126"/>
          </a:xfrm>
        </p:grpSpPr>
        <p:sp>
          <p:nvSpPr>
            <p:cNvPr id="35" name="Text 11"/>
            <p:cNvSpPr/>
            <p:nvPr/>
          </p:nvSpPr>
          <p:spPr>
            <a:xfrm>
              <a:off x="2884" y="4013"/>
              <a:ext cx="3217" cy="1126"/>
            </a:xfrm>
            <a:prstGeom prst="roundRect">
              <a:avLst>
                <a:gd name="adj" fmla="val 8788"/>
              </a:avLst>
            </a:prstGeom>
            <a:solidFill>
              <a:schemeClr val="bg1"/>
            </a:solidFill>
            <a:ln w="14288">
              <a:solidFill>
                <a:schemeClr val="accent1"/>
              </a:solidFill>
              <a:prstDash val="solid"/>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6" name="Text 12"/>
            <p:cNvSpPr/>
            <p:nvPr/>
          </p:nvSpPr>
          <p:spPr>
            <a:xfrm>
              <a:off x="2935" y="4339"/>
              <a:ext cx="618" cy="390"/>
            </a:xfrm>
            <a:prstGeom prst="rect">
              <a:avLst/>
            </a:prstGeom>
            <a:noFill/>
          </p:spPr>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rPr>
                <a:t>🏛</a:t>
              </a:r>
              <a:endParaRPr kumimoji="0" lang="en-US" sz="1400" b="0"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Text 13"/>
            <p:cNvSpPr/>
            <p:nvPr/>
          </p:nvSpPr>
          <p:spPr>
            <a:xfrm>
              <a:off x="3727" y="4339"/>
              <a:ext cx="1891" cy="481"/>
            </a:xfrm>
            <a:prstGeom prst="rect">
              <a:avLst/>
            </a:prstGeom>
            <a:noFill/>
          </p:spPr>
          <p:txBody>
            <a:bodyPr wrap="none" lIns="0" tIns="0" rIns="0" bIns="0" rtlCol="0" anchor="ctr" anchorCtr="0"/>
            <a:lstStyle/>
            <a:p>
              <a:pPr marL="0" marR="0" lvl="0" indent="0" algn="l" defTabSz="914400" rtl="0" eaLnBrk="1" fontAlgn="auto" latinLnBrk="0" hangingPunct="1">
                <a:lnSpc>
                  <a:spcPts val="93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charset="-122"/>
                </a:rPr>
                <a:t>……</a:t>
              </a:r>
              <a:endParaRPr kumimoji="0" lang="en-US" altLang="zh-CN" sz="14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charset="-122"/>
              </a:endParaRPr>
            </a:p>
          </p:txBody>
        </p:sp>
      </p:grpSp>
      <p:cxnSp>
        <p:nvCxnSpPr>
          <p:cNvPr id="46" name="肘形连接符 45"/>
          <p:cNvCxnSpPr>
            <a:stCxn id="125" idx="2"/>
            <a:endCxn id="59" idx="0"/>
          </p:cNvCxnSpPr>
          <p:nvPr/>
        </p:nvCxnSpPr>
        <p:spPr>
          <a:xfrm rot="5400000" flipV="1">
            <a:off x="4045268" y="2518093"/>
            <a:ext cx="859155" cy="324231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grpSp>
        <p:nvGrpSpPr>
          <p:cNvPr id="55" name="组合 54"/>
          <p:cNvGrpSpPr/>
          <p:nvPr>
            <p:custDataLst>
              <p:tags r:id="rId1"/>
            </p:custDataLst>
          </p:nvPr>
        </p:nvGrpSpPr>
        <p:grpSpPr>
          <a:xfrm>
            <a:off x="1831975" y="4773295"/>
            <a:ext cx="2811780" cy="940435"/>
            <a:chOff x="2885" y="7024"/>
            <a:chExt cx="4428" cy="1481"/>
          </a:xfrm>
        </p:grpSpPr>
        <p:sp>
          <p:nvSpPr>
            <p:cNvPr id="38" name="Shape 37"/>
            <p:cNvSpPr/>
            <p:nvPr>
              <p:custDataLst>
                <p:tags r:id="rId2"/>
              </p:custDataLst>
            </p:nvPr>
          </p:nvSpPr>
          <p:spPr>
            <a:xfrm>
              <a:off x="2885" y="7024"/>
              <a:ext cx="4427" cy="1"/>
            </a:xfrm>
            <a:prstGeom prst="line">
              <a:avLst/>
            </a:prstGeom>
            <a:noFill/>
            <a:ln w="21431">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2" name="矩形 41"/>
            <p:cNvSpPr/>
            <p:nvPr>
              <p:custDataLst>
                <p:tags r:id="rId3"/>
              </p:custDataLst>
            </p:nvPr>
          </p:nvSpPr>
          <p:spPr>
            <a:xfrm>
              <a:off x="2885" y="7050"/>
              <a:ext cx="4428" cy="14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7" name="Text 42"/>
            <p:cNvSpPr/>
            <p:nvPr>
              <p:custDataLst>
                <p:tags r:id="rId4"/>
              </p:custDataLst>
            </p:nvPr>
          </p:nvSpPr>
          <p:spPr>
            <a:xfrm>
              <a:off x="3652" y="7207"/>
              <a:ext cx="2751" cy="535"/>
            </a:xfrm>
            <a:prstGeom prst="rect">
              <a:avLst/>
            </a:prstGeom>
            <a:noFill/>
          </p:spPr>
          <p:txBody>
            <a:bodyPr wrap="none" lIns="0" tIns="0" rIns="0" bIns="0" rtlCol="0" anchor="ctr" anchorCtr="0"/>
            <a:lstStyle/>
            <a:p>
              <a:pPr marL="0" marR="0" lvl="0" indent="0" algn="ctr" defTabSz="914400" rtl="0" eaLnBrk="1" fontAlgn="auto" latinLnBrk="0" hangingPunct="1">
                <a:lnSpc>
                  <a:spcPts val="930"/>
                </a:lnSpc>
                <a:spcBef>
                  <a:spcPts val="0"/>
                </a:spcBef>
                <a:spcAft>
                  <a:spcPts val="0"/>
                </a:spcAft>
                <a:buClrTx/>
                <a:buSzTx/>
                <a:buFontTx/>
                <a:buNone/>
                <a:defRPr/>
              </a:pPr>
              <a:r>
                <a:rPr kumimoji="0" 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总行部门空间</a:t>
              </a:r>
              <a:endParaRPr kumimoji="0" 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52" name="文本框 51"/>
            <p:cNvSpPr txBox="1"/>
            <p:nvPr>
              <p:custDataLst>
                <p:tags r:id="rId5"/>
              </p:custDataLst>
            </p:nvPr>
          </p:nvSpPr>
          <p:spPr>
            <a:xfrm>
              <a:off x="3073" y="7668"/>
              <a:ext cx="3946" cy="683"/>
            </a:xfrm>
            <a:prstGeom prst="rect">
              <a:avLst/>
            </a:prstGeom>
            <a:noFill/>
          </p:spPr>
          <p:txBody>
            <a:bodyPr wrap="square" rtlCol="0">
              <a:noAutofit/>
            </a:bodyPr>
            <a:lstStyle/>
            <a:p>
              <a:pPr marR="0" lvl="0" indent="0" algn="l" defTabSz="914400" rtl="0" fontAlgn="auto">
                <a:lnSpc>
                  <a:spcPct val="100000"/>
                </a:lnSpc>
                <a:spcBef>
                  <a:spcPts val="0"/>
                </a:spcBef>
                <a:spcAft>
                  <a:spcPts val="0"/>
                </a:spcAft>
                <a:buClrTx/>
                <a:buSzTx/>
                <a:buFontTx/>
                <a:buNone/>
                <a:defRPr/>
              </a:pPr>
              <a:r>
                <a:rPr lang="zh-CN" altLang="en-US" sz="1000">
                  <a:latin typeface="微软雅黑" panose="020B0503020204020204" charset="-122"/>
                  <a:ea typeface="微软雅黑" panose="020B0503020204020204" charset="-122"/>
                  <a:cs typeface="微软雅黑" panose="020B0503020204020204" charset="-122"/>
                </a:rPr>
                <a:t>公司部 / 零售部 / 风险部 / 金融市场部 / 科技部 等</a:t>
              </a:r>
              <a:endParaRPr lang="zh-CN" altLang="en-US" sz="1000">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56" name="组合 55"/>
          <p:cNvGrpSpPr/>
          <p:nvPr>
            <p:custDataLst>
              <p:tags r:id="rId6"/>
            </p:custDataLst>
          </p:nvPr>
        </p:nvGrpSpPr>
        <p:grpSpPr>
          <a:xfrm>
            <a:off x="5048885" y="4773295"/>
            <a:ext cx="2811780" cy="940435"/>
            <a:chOff x="7951" y="7024"/>
            <a:chExt cx="4428" cy="1481"/>
          </a:xfrm>
        </p:grpSpPr>
        <p:sp>
          <p:nvSpPr>
            <p:cNvPr id="40" name="Shape 37"/>
            <p:cNvSpPr/>
            <p:nvPr>
              <p:custDataLst>
                <p:tags r:id="rId7"/>
              </p:custDataLst>
            </p:nvPr>
          </p:nvSpPr>
          <p:spPr>
            <a:xfrm>
              <a:off x="7952" y="7024"/>
              <a:ext cx="4427" cy="1"/>
            </a:xfrm>
            <a:prstGeom prst="line">
              <a:avLst/>
            </a:prstGeom>
            <a:noFill/>
            <a:ln w="21431">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3" name="矩形 42"/>
            <p:cNvSpPr/>
            <p:nvPr>
              <p:custDataLst>
                <p:tags r:id="rId8"/>
              </p:custDataLst>
            </p:nvPr>
          </p:nvSpPr>
          <p:spPr>
            <a:xfrm>
              <a:off x="7951" y="7050"/>
              <a:ext cx="4428" cy="14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49" name="Text 42"/>
            <p:cNvSpPr/>
            <p:nvPr>
              <p:custDataLst>
                <p:tags r:id="rId9"/>
              </p:custDataLst>
            </p:nvPr>
          </p:nvSpPr>
          <p:spPr>
            <a:xfrm>
              <a:off x="8790" y="7157"/>
              <a:ext cx="2751" cy="535"/>
            </a:xfrm>
            <a:prstGeom prst="rect">
              <a:avLst/>
            </a:prstGeom>
            <a:noFill/>
          </p:spPr>
          <p:txBody>
            <a:bodyPr wrap="none" lIns="0" tIns="0" rIns="0" bIns="0" rtlCol="0" anchor="ctr" anchorCtr="0"/>
            <a:lstStyle/>
            <a:p>
              <a:pPr marL="0" marR="0" lvl="0" indent="0" algn="ctr" defTabSz="914400" rtl="0" eaLnBrk="1" fontAlgn="auto" latinLnBrk="0" hangingPunct="1">
                <a:lnSpc>
                  <a:spcPts val="93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分行</a:t>
              </a:r>
              <a:r>
                <a:rPr kumimoji="0" 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部门空间</a:t>
              </a:r>
              <a:endParaRPr kumimoji="0" 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53" name="文本框 52"/>
            <p:cNvSpPr txBox="1"/>
            <p:nvPr>
              <p:custDataLst>
                <p:tags r:id="rId10"/>
              </p:custDataLst>
            </p:nvPr>
          </p:nvSpPr>
          <p:spPr>
            <a:xfrm>
              <a:off x="8046" y="7668"/>
              <a:ext cx="4244" cy="683"/>
            </a:xfrm>
            <a:prstGeom prst="rect">
              <a:avLst/>
            </a:prstGeom>
            <a:noFill/>
          </p:spPr>
          <p:txBody>
            <a:bodyPr wrap="square" rtlCol="0">
              <a:noAutofit/>
            </a:bodyPr>
            <a:lstStyle/>
            <a:p>
              <a:pPr marR="0" lvl="0" indent="0" algn="l" defTabSz="914400" rtl="0" fontAlgn="auto">
                <a:lnSpc>
                  <a:spcPct val="100000"/>
                </a:lnSpc>
                <a:spcBef>
                  <a:spcPts val="0"/>
                </a:spcBef>
                <a:spcAft>
                  <a:spcPts val="0"/>
                </a:spcAft>
                <a:buClrTx/>
                <a:buSzTx/>
                <a:buFontTx/>
                <a:buNone/>
                <a:defRPr/>
              </a:pPr>
              <a:r>
                <a:rPr lang="zh-CN" altLang="en-US" sz="1000">
                  <a:latin typeface="微软雅黑" panose="020B0503020204020204" charset="-122"/>
                  <a:ea typeface="微软雅黑" panose="020B0503020204020204" charset="-122"/>
                  <a:cs typeface="微软雅黑" panose="020B0503020204020204" charset="-122"/>
                </a:rPr>
                <a:t>北京 / 上海 / 深圳 / 杭州 / 成都 等各分行</a:t>
              </a:r>
              <a:endParaRPr lang="zh-CN" altLang="en-US" sz="1000">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57" name="组合 56"/>
          <p:cNvGrpSpPr/>
          <p:nvPr>
            <p:custDataLst>
              <p:tags r:id="rId11"/>
            </p:custDataLst>
          </p:nvPr>
        </p:nvGrpSpPr>
        <p:grpSpPr>
          <a:xfrm>
            <a:off x="8452485" y="4773295"/>
            <a:ext cx="2811780" cy="940435"/>
            <a:chOff x="13311" y="7024"/>
            <a:chExt cx="4428" cy="1481"/>
          </a:xfrm>
        </p:grpSpPr>
        <p:sp>
          <p:nvSpPr>
            <p:cNvPr id="41" name="Shape 37"/>
            <p:cNvSpPr/>
            <p:nvPr>
              <p:custDataLst>
                <p:tags r:id="rId12"/>
              </p:custDataLst>
            </p:nvPr>
          </p:nvSpPr>
          <p:spPr>
            <a:xfrm>
              <a:off x="13312" y="7024"/>
              <a:ext cx="4427" cy="1"/>
            </a:xfrm>
            <a:prstGeom prst="line">
              <a:avLst/>
            </a:prstGeom>
            <a:noFill/>
            <a:ln w="21431">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4" name="矩形 43"/>
            <p:cNvSpPr/>
            <p:nvPr>
              <p:custDataLst>
                <p:tags r:id="rId13"/>
              </p:custDataLst>
            </p:nvPr>
          </p:nvSpPr>
          <p:spPr>
            <a:xfrm>
              <a:off x="13311" y="7050"/>
              <a:ext cx="4428" cy="14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0" name="Text 42"/>
            <p:cNvSpPr/>
            <p:nvPr>
              <p:custDataLst>
                <p:tags r:id="rId14"/>
              </p:custDataLst>
            </p:nvPr>
          </p:nvSpPr>
          <p:spPr>
            <a:xfrm>
              <a:off x="14149" y="7174"/>
              <a:ext cx="2751" cy="535"/>
            </a:xfrm>
            <a:prstGeom prst="rect">
              <a:avLst/>
            </a:prstGeom>
            <a:noFill/>
          </p:spPr>
          <p:txBody>
            <a:bodyPr wrap="none" lIns="0" tIns="0" rIns="0" bIns="0" rtlCol="0" anchor="ctr" anchorCtr="0"/>
            <a:lstStyle/>
            <a:p>
              <a:pPr marL="0" marR="0" lvl="0" indent="0" algn="ctr" defTabSz="914400" rtl="0" eaLnBrk="1" fontAlgn="auto" latinLnBrk="0" hangingPunct="1">
                <a:lnSpc>
                  <a:spcPts val="93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专项</a:t>
              </a:r>
              <a:r>
                <a:rPr kumimoji="0" 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rPr>
                <a:t>部门空间</a:t>
              </a:r>
              <a:endParaRPr kumimoji="0" lang="en-US" sz="1200" b="1" i="0" u="none" strike="noStrike" kern="1200" cap="none" spc="0" normalizeH="0" baseline="0" noProof="0" dirty="0">
                <a:ln>
                  <a:noFill/>
                </a:ln>
                <a:solidFill>
                  <a:srgbClr val="1F2937"/>
                </a:solidFill>
                <a:effectLst/>
                <a:uLnTx/>
                <a:uFillTx/>
                <a:latin typeface="微软雅黑" panose="020B0503020204020204" charset="-122"/>
                <a:ea typeface="微软雅黑" panose="020B0503020204020204" charset="-122"/>
                <a:cs typeface="微软雅黑" panose="020B0503020204020204" pitchFamily="34" charset="-120"/>
              </a:endParaRPr>
            </a:p>
          </p:txBody>
        </p:sp>
        <p:sp>
          <p:nvSpPr>
            <p:cNvPr id="54" name="文本框 53"/>
            <p:cNvSpPr txBox="1"/>
            <p:nvPr>
              <p:custDataLst>
                <p:tags r:id="rId15"/>
              </p:custDataLst>
            </p:nvPr>
          </p:nvSpPr>
          <p:spPr>
            <a:xfrm>
              <a:off x="13392" y="7668"/>
              <a:ext cx="4204" cy="683"/>
            </a:xfrm>
            <a:prstGeom prst="rect">
              <a:avLst/>
            </a:prstGeom>
            <a:noFill/>
          </p:spPr>
          <p:txBody>
            <a:bodyPr wrap="square" rtlCol="0">
              <a:noAutofit/>
            </a:bodyPr>
            <a:lstStyle/>
            <a:p>
              <a:pPr marR="0" lvl="0" indent="0" algn="l" defTabSz="914400" rtl="0" fontAlgn="auto">
                <a:lnSpc>
                  <a:spcPct val="100000"/>
                </a:lnSpc>
                <a:spcBef>
                  <a:spcPts val="0"/>
                </a:spcBef>
                <a:spcAft>
                  <a:spcPts val="0"/>
                </a:spcAft>
                <a:buClrTx/>
                <a:buSzTx/>
                <a:buFontTx/>
                <a:buNone/>
                <a:defRPr/>
              </a:pPr>
              <a:r>
                <a:rPr lang="zh-CN" altLang="en-US" sz="1000">
                  <a:latin typeface="微软雅黑" panose="020B0503020204020204" charset="-122"/>
                  <a:ea typeface="微软雅黑" panose="020B0503020204020204" charset="-122"/>
                  <a:cs typeface="微软雅黑" panose="020B0503020204020204" charset="-122"/>
                </a:rPr>
                <a:t>跨部门项目组 / 专项工作组 / 临时协作</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5" name="矩形 4"/>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6" name="矩形 5"/>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20" name="矩形 19"/>
          <p:cNvSpPr/>
          <p:nvPr/>
        </p:nvSpPr>
        <p:spPr>
          <a:xfrm>
            <a:off x="10622915" y="21590"/>
            <a:ext cx="775970" cy="17272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21" name="矩形 20"/>
          <p:cNvSpPr/>
          <p:nvPr/>
        </p:nvSpPr>
        <p:spPr>
          <a:xfrm>
            <a:off x="1139888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2.2.4 知识目录--</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目录</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管理发布</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基于标准元数据自动构建多维度目录体系，</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支持目录的灵活配置、动态调整与分级发布，形成全行知识资产的统一</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分类账本</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，实现知识资源的有序归集与规范化管理。</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grpSp>
        <p:nvGrpSpPr>
          <p:cNvPr id="3" name="组合 2"/>
          <p:cNvGrpSpPr/>
          <p:nvPr/>
        </p:nvGrpSpPr>
        <p:grpSpPr>
          <a:xfrm>
            <a:off x="444500" y="2323465"/>
            <a:ext cx="7861300" cy="3857625"/>
            <a:chOff x="700" y="3659"/>
            <a:chExt cx="17780" cy="6274"/>
          </a:xfrm>
        </p:grpSpPr>
        <p:sp>
          <p:nvSpPr>
            <p:cNvPr id="5" name="AutoShape 5"/>
            <p:cNvSpPr/>
            <p:nvPr/>
          </p:nvSpPr>
          <p:spPr>
            <a:xfrm>
              <a:off x="700" y="3659"/>
              <a:ext cx="5700" cy="6266"/>
            </a:xfrm>
            <a:prstGeom prst="roundRect">
              <a:avLst>
                <a:gd name="adj" fmla="val 0"/>
              </a:avLst>
            </a:prstGeom>
            <a:solidFill>
              <a:srgbClr val="EBF5FF">
                <a:alpha val="60000"/>
              </a:srgbClr>
            </a:solidFill>
            <a:ln w="12700" cap="flat" cmpd="sng">
              <a:solidFill>
                <a:srgbClr val="BADB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1" y="4126"/>
              <a:ext cx="1060" cy="593"/>
            </a:xfrm>
            <a:prstGeom prst="rect">
              <a:avLst/>
            </a:prstGeom>
          </p:spPr>
        </p:pic>
        <p:sp>
          <p:nvSpPr>
            <p:cNvPr id="7" name="AutoShape 7"/>
            <p:cNvSpPr/>
            <p:nvPr/>
          </p:nvSpPr>
          <p:spPr>
            <a:xfrm>
              <a:off x="1900" y="4059"/>
              <a:ext cx="4200"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0052A0"/>
                  </a:solidFill>
                  <a:latin typeface="微软雅黑" panose="020B0503020204020204" charset="-122"/>
                  <a:ea typeface="微软雅黑" panose="020B0503020204020204" charset="-122"/>
                  <a:cs typeface="Noto Sans SC" panose="020B0200000000000000" charset="-122"/>
                  <a:sym typeface="Noto Sans SC" panose="020B0200000000000000" charset="-122"/>
                </a:rPr>
                <a:t>目录编辑</a:t>
              </a:r>
              <a:endParaRPr lang="zh-CN" altLang="en-US" sz="1800" b="1" i="0" u="none" strike="noStrike">
                <a:solidFill>
                  <a:srgbClr val="0052A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9" name="AutoShape 9"/>
            <p:cNvSpPr/>
            <p:nvPr/>
          </p:nvSpPr>
          <p:spPr>
            <a:xfrm>
              <a:off x="6740" y="3659"/>
              <a:ext cx="5700" cy="6266"/>
            </a:xfrm>
            <a:prstGeom prst="roundRect">
              <a:avLst>
                <a:gd name="adj" fmla="val 0"/>
              </a:avLst>
            </a:prstGeom>
            <a:solidFill>
              <a:srgbClr val="EBF5FF">
                <a:alpha val="60000"/>
              </a:srgbClr>
            </a:solidFill>
            <a:ln w="12700" cap="flat" cmpd="sng">
              <a:solidFill>
                <a:srgbClr val="BADBFF">
                  <a:alpha val="100000"/>
                </a:srgbClr>
              </a:solidFill>
              <a:prstDash val="solid"/>
              <a:round/>
            </a:ln>
          </p:spPr>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59" y="4099"/>
              <a:ext cx="922" cy="640"/>
            </a:xfrm>
            <a:prstGeom prst="rect">
              <a:avLst/>
            </a:prstGeom>
          </p:spPr>
        </p:pic>
        <p:sp>
          <p:nvSpPr>
            <p:cNvPr id="11" name="AutoShape 11"/>
            <p:cNvSpPr/>
            <p:nvPr/>
          </p:nvSpPr>
          <p:spPr>
            <a:xfrm>
              <a:off x="7940" y="4059"/>
              <a:ext cx="4200"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目录</a:t>
              </a:r>
              <a:r>
                <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审核</a:t>
              </a:r>
              <a:endPar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3" name="AutoShape 13"/>
            <p:cNvSpPr/>
            <p:nvPr/>
          </p:nvSpPr>
          <p:spPr>
            <a:xfrm>
              <a:off x="12780" y="3659"/>
              <a:ext cx="5700" cy="6266"/>
            </a:xfrm>
            <a:prstGeom prst="roundRect">
              <a:avLst>
                <a:gd name="adj" fmla="val 0"/>
              </a:avLst>
            </a:prstGeom>
            <a:solidFill>
              <a:srgbClr val="EBF5FF">
                <a:alpha val="60000"/>
              </a:srgbClr>
            </a:solidFill>
            <a:ln w="12700" cap="flat" cmpd="sng">
              <a:solidFill>
                <a:srgbClr val="BADBFF">
                  <a:alpha val="100000"/>
                </a:srgbClr>
              </a:solidFill>
              <a:prstDash val="solid"/>
              <a:round/>
            </a:ln>
          </p:spPr>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097" y="4099"/>
              <a:ext cx="922" cy="640"/>
            </a:xfrm>
            <a:prstGeom prst="rect">
              <a:avLst/>
            </a:prstGeom>
          </p:spPr>
        </p:pic>
        <p:sp>
          <p:nvSpPr>
            <p:cNvPr id="15" name="AutoShape 15"/>
            <p:cNvSpPr/>
            <p:nvPr/>
          </p:nvSpPr>
          <p:spPr>
            <a:xfrm>
              <a:off x="13980" y="4059"/>
              <a:ext cx="4200"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目录</a:t>
              </a:r>
              <a:r>
                <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rPr>
                <a:t>发布</a:t>
              </a:r>
              <a:endParaRPr lang="en-US" sz="1800" b="1" i="0" u="none" strike="noStrike">
                <a:solidFill>
                  <a:srgbClr val="0052A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20" name="Connector 8"/>
            <p:cNvCxnSpPr/>
            <p:nvPr>
              <p:custDataLst>
                <p:tags r:id="rId7"/>
              </p:custDataLst>
            </p:nvPr>
          </p:nvCxnSpPr>
          <p:spPr>
            <a:xfrm>
              <a:off x="1100" y="5030"/>
              <a:ext cx="4836" cy="0"/>
            </a:xfrm>
            <a:prstGeom prst="straightConnector1">
              <a:avLst/>
            </a:prstGeom>
            <a:noFill/>
            <a:ln w="31750" cap="sq" cmpd="dbl">
              <a:solidFill>
                <a:srgbClr val="4472C4"/>
              </a:solidFill>
              <a:round/>
              <a:headEnd type="none" w="med" len="med"/>
              <a:tailEnd type="none" w="med" len="med"/>
            </a:ln>
            <a:effectLst/>
          </p:spPr>
        </p:cxnSp>
        <p:cxnSp>
          <p:nvCxnSpPr>
            <p:cNvPr id="21" name="Connector 8"/>
            <p:cNvCxnSpPr/>
            <p:nvPr>
              <p:custDataLst>
                <p:tags r:id="rId8"/>
              </p:custDataLst>
            </p:nvPr>
          </p:nvCxnSpPr>
          <p:spPr>
            <a:xfrm>
              <a:off x="7140" y="5030"/>
              <a:ext cx="4832" cy="0"/>
            </a:xfrm>
            <a:prstGeom prst="straightConnector1">
              <a:avLst/>
            </a:prstGeom>
            <a:noFill/>
            <a:ln w="31750" cap="sq" cmpd="dbl">
              <a:solidFill>
                <a:srgbClr val="4472C4"/>
              </a:solidFill>
              <a:round/>
              <a:headEnd type="none" w="med" len="med"/>
              <a:tailEnd type="none" w="med" len="med"/>
            </a:ln>
            <a:effectLst/>
          </p:spPr>
        </p:cxnSp>
        <p:cxnSp>
          <p:nvCxnSpPr>
            <p:cNvPr id="22" name="Connector 8"/>
            <p:cNvCxnSpPr/>
            <p:nvPr>
              <p:custDataLst>
                <p:tags r:id="rId9"/>
              </p:custDataLst>
            </p:nvPr>
          </p:nvCxnSpPr>
          <p:spPr>
            <a:xfrm>
              <a:off x="13080" y="5030"/>
              <a:ext cx="4828" cy="0"/>
            </a:xfrm>
            <a:prstGeom prst="straightConnector1">
              <a:avLst/>
            </a:prstGeom>
            <a:noFill/>
            <a:ln w="31750" cap="sq" cmpd="dbl">
              <a:solidFill>
                <a:srgbClr val="4472C4"/>
              </a:solidFill>
              <a:round/>
              <a:headEnd type="none" w="med" len="med"/>
              <a:tailEnd type="none" w="med" len="med"/>
            </a:ln>
            <a:effectLst/>
          </p:spPr>
        </p:cxnSp>
        <p:sp>
          <p:nvSpPr>
            <p:cNvPr id="25" name="Text 9"/>
            <p:cNvSpPr/>
            <p:nvPr/>
          </p:nvSpPr>
          <p:spPr>
            <a:xfrm>
              <a:off x="1000" y="5125"/>
              <a:ext cx="5100" cy="4800"/>
            </a:xfrm>
            <a:prstGeom prst="rect">
              <a:avLst/>
            </a:prstGeom>
            <a:noFill/>
          </p:spPr>
          <p:txBody>
            <a:bodyPr wrap="square" lIns="0" tIns="0" rIns="0" bIns="0" rtlCol="0" anchor="t"/>
            <a:lstStyle/>
            <a:p>
              <a:pPr algn="l">
                <a:lnSpc>
                  <a:spcPct val="170000"/>
                </a:lnSpc>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自动挂载</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业务元数据 → 业务目录</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管理元数据 → 组织机构目录</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技术元数据 → 来源目录</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spcBef>
                  <a:spcPts val="800"/>
                </a:spcBef>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人工调整</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人工调整目录位置</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支持挂载到多个目录</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一文档可多目录归属</a:t>
              </a:r>
              <a:endParaRPr 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26" name="Text 15"/>
            <p:cNvSpPr/>
            <p:nvPr/>
          </p:nvSpPr>
          <p:spPr>
            <a:xfrm>
              <a:off x="7080" y="5125"/>
              <a:ext cx="5100" cy="4800"/>
            </a:xfrm>
            <a:prstGeom prst="rect">
              <a:avLst/>
            </a:prstGeom>
            <a:noFill/>
          </p:spPr>
          <p:txBody>
            <a:bodyPr wrap="square" lIns="0" tIns="0" rIns="0" bIns="0" rtlCol="0" anchor="t"/>
            <a:lstStyle/>
            <a:p>
              <a:pPr algn="l">
                <a:lnSpc>
                  <a:spcPct val="170000"/>
                </a:lnSpc>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审核范围</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目录节点新增</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目录调整</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目录合并</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目录拆分</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spcBef>
                  <a:spcPts val="800"/>
                </a:spcBef>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审核流程（</a:t>
              </a:r>
              <a:r>
                <a:rPr lang="zh-CN" altLang="en-US" sz="1200" b="1" dirty="0">
                  <a:solidFill>
                    <a:srgbClr val="1E293B"/>
                  </a:solidFill>
                  <a:latin typeface="微软雅黑" panose="020B0503020204020204" charset="-122"/>
                  <a:ea typeface="微软雅黑" panose="020B0503020204020204" charset="-122"/>
                  <a:cs typeface="微软雅黑" panose="020B0503020204020204" charset="-122"/>
                </a:rPr>
                <a:t>可配置</a:t>
              </a:r>
              <a:r>
                <a:rPr lang="en-US" altLang="zh-CN" sz="1200" b="1" dirty="0">
                  <a:solidFill>
                    <a:srgbClr val="1E293B"/>
                  </a:solidFill>
                  <a:latin typeface="微软雅黑" panose="020B0503020204020204" charset="-122"/>
                  <a:ea typeface="微软雅黑" panose="020B0503020204020204" charset="-122"/>
                  <a:cs typeface="微软雅黑" panose="020B0503020204020204" charset="-122"/>
                </a:rPr>
                <a:t>）</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提交审核申请</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知识运营人员审核</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审核通过后方可生效</a:t>
              </a:r>
              <a:endParaRPr 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27" name="Text 21"/>
            <p:cNvSpPr/>
            <p:nvPr/>
          </p:nvSpPr>
          <p:spPr>
            <a:xfrm>
              <a:off x="13080" y="5133"/>
              <a:ext cx="5100" cy="4800"/>
            </a:xfrm>
            <a:prstGeom prst="rect">
              <a:avLst/>
            </a:prstGeom>
            <a:noFill/>
          </p:spPr>
          <p:txBody>
            <a:bodyPr wrap="square" lIns="0" tIns="0" rIns="0" bIns="0" rtlCol="0" anchor="t"/>
            <a:lstStyle/>
            <a:p>
              <a:pPr algn="l">
                <a:lnSpc>
                  <a:spcPct val="170000"/>
                </a:lnSpc>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正式发布</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审核通过后发布</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授权用户可见</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spcBef>
                  <a:spcPts val="800"/>
                </a:spcBef>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版本管理</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支持目录版本管理</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可回溯历史目录结构</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spcBef>
                  <a:spcPts val="800"/>
                </a:spcBef>
              </a:pPr>
              <a:r>
                <a:rPr lang="en-US" sz="1200" b="1" dirty="0">
                  <a:solidFill>
                    <a:srgbClr val="1E293B"/>
                  </a:solidFill>
                  <a:latin typeface="微软雅黑" panose="020B0503020204020204" charset="-122"/>
                  <a:ea typeface="微软雅黑" panose="020B0503020204020204" charset="-122"/>
                  <a:cs typeface="微软雅黑" panose="020B0503020204020204" charset="-122"/>
                </a:rPr>
                <a:t>动态更新</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随元数据变更自动调整</a:t>
              </a:r>
              <a:endParaRPr lang="en-US" sz="1200" dirty="0">
                <a:latin typeface="微软雅黑" panose="020B0503020204020204" charset="-122"/>
                <a:ea typeface="微软雅黑" panose="020B0503020204020204" charset="-122"/>
                <a:cs typeface="微软雅黑" panose="020B0503020204020204" charset="-122"/>
              </a:endParaRPr>
            </a:p>
            <a:p>
              <a:pPr algn="l">
                <a:lnSpc>
                  <a:spcPct val="17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rPr>
                <a:t>• 变更记录可追溯</a:t>
              </a:r>
              <a:endParaRPr lang="en-US" sz="1200" dirty="0">
                <a:solidFill>
                  <a:srgbClr val="1E293B"/>
                </a:solidFill>
                <a:latin typeface="微软雅黑" panose="020B0503020204020204" charset="-122"/>
                <a:ea typeface="微软雅黑" panose="020B0503020204020204" charset="-122"/>
                <a:cs typeface="微软雅黑" panose="020B0503020204020204" charset="-122"/>
              </a:endParaRPr>
            </a:p>
          </p:txBody>
        </p:sp>
      </p:grpSp>
      <p:pic>
        <p:nvPicPr>
          <p:cNvPr id="4" name="图片 3"/>
          <p:cNvPicPr>
            <a:picLocks noChangeAspect="1"/>
          </p:cNvPicPr>
          <p:nvPr/>
        </p:nvPicPr>
        <p:blipFill>
          <a:blip r:embed="rId10"/>
          <a:stretch>
            <a:fillRect/>
          </a:stretch>
        </p:blipFill>
        <p:spPr>
          <a:xfrm>
            <a:off x="8405495" y="2323465"/>
            <a:ext cx="3705225" cy="1776095"/>
          </a:xfrm>
          <a:prstGeom prst="rect">
            <a:avLst/>
          </a:prstGeom>
        </p:spPr>
      </p:pic>
      <p:pic>
        <p:nvPicPr>
          <p:cNvPr id="8" name="图片 7"/>
          <p:cNvPicPr>
            <a:picLocks noChangeAspect="1"/>
          </p:cNvPicPr>
          <p:nvPr/>
        </p:nvPicPr>
        <p:blipFill>
          <a:blip r:embed="rId11"/>
          <a:stretch>
            <a:fillRect/>
          </a:stretch>
        </p:blipFill>
        <p:spPr>
          <a:xfrm>
            <a:off x="8402955" y="4356100"/>
            <a:ext cx="3709035" cy="1854835"/>
          </a:xfrm>
          <a:prstGeom prst="rect">
            <a:avLst/>
          </a:prstGeom>
        </p:spPr>
      </p:pic>
      <p:sp>
        <p:nvSpPr>
          <p:cNvPr id="12" name="矩形 11"/>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16" name="矩形 15"/>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24" name="矩形 2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28" name="矩形 27"/>
          <p:cNvSpPr/>
          <p:nvPr/>
        </p:nvSpPr>
        <p:spPr>
          <a:xfrm>
            <a:off x="11398885" y="21590"/>
            <a:ext cx="775970" cy="17272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2.2.4 知识目录--目录</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视图</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提供统一的目录服务接口，支撑各业务系统和前端应用的目录浏览与查询需求，有效避免各业务线重复建设目录模块，</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实现企业级目录资源的标准化管理、统一化维护与高效检索，为跨部门数据协同与业务融合提供坚实的目录基础支撑。</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1" name="矩形 60"/>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62" name="矩形 61"/>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74" name="矩形 7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75" name="矩形 74"/>
          <p:cNvSpPr/>
          <p:nvPr/>
        </p:nvSpPr>
        <p:spPr>
          <a:xfrm>
            <a:off x="11398885" y="21590"/>
            <a:ext cx="775970" cy="17272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grpSp>
        <p:nvGrpSpPr>
          <p:cNvPr id="3" name="组合 2"/>
          <p:cNvGrpSpPr/>
          <p:nvPr/>
        </p:nvGrpSpPr>
        <p:grpSpPr>
          <a:xfrm>
            <a:off x="500380" y="2167255"/>
            <a:ext cx="7591425" cy="4104005"/>
            <a:chOff x="1510" y="3413"/>
            <a:chExt cx="10345" cy="6463"/>
          </a:xfrm>
        </p:grpSpPr>
        <p:sp>
          <p:nvSpPr>
            <p:cNvPr id="84" name="圆角矩形 83"/>
            <p:cNvSpPr/>
            <p:nvPr/>
          </p:nvSpPr>
          <p:spPr>
            <a:xfrm>
              <a:off x="4128" y="3413"/>
              <a:ext cx="4526" cy="1041"/>
            </a:xfrm>
            <a:prstGeom prst="roundRect">
              <a:avLst/>
            </a:prstGeom>
            <a:solidFill>
              <a:srgbClr val="0052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微软雅黑" panose="020B0503020204020204" charset="-122"/>
                  <a:ea typeface="微软雅黑" panose="020B0503020204020204" charset="-122"/>
                </a:rPr>
                <a:t>知识目录展示</a:t>
              </a:r>
              <a:endParaRPr lang="zh-CN" altLang="en-US">
                <a:latin typeface="微软雅黑" panose="020B0503020204020204" charset="-122"/>
                <a:ea typeface="微软雅黑" panose="020B0503020204020204" charset="-122"/>
              </a:endParaRPr>
            </a:p>
          </p:txBody>
        </p:sp>
        <p:cxnSp>
          <p:nvCxnSpPr>
            <p:cNvPr id="85" name="直接连接符 84"/>
            <p:cNvCxnSpPr/>
            <p:nvPr/>
          </p:nvCxnSpPr>
          <p:spPr>
            <a:xfrm>
              <a:off x="1906" y="5007"/>
              <a:ext cx="8794"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86" name="直接连接符 85"/>
            <p:cNvCxnSpPr/>
            <p:nvPr/>
          </p:nvCxnSpPr>
          <p:spPr>
            <a:xfrm>
              <a:off x="1979" y="4990"/>
              <a:ext cx="0" cy="536"/>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87" name="直接连接符 86"/>
            <p:cNvCxnSpPr/>
            <p:nvPr/>
          </p:nvCxnSpPr>
          <p:spPr>
            <a:xfrm>
              <a:off x="4155" y="4990"/>
              <a:ext cx="0" cy="536"/>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88" name="直接连接符 87"/>
            <p:cNvCxnSpPr/>
            <p:nvPr/>
          </p:nvCxnSpPr>
          <p:spPr>
            <a:xfrm>
              <a:off x="6331" y="4990"/>
              <a:ext cx="0" cy="536"/>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90" name="直接连接符 89"/>
            <p:cNvCxnSpPr/>
            <p:nvPr/>
          </p:nvCxnSpPr>
          <p:spPr>
            <a:xfrm>
              <a:off x="8506" y="4990"/>
              <a:ext cx="0" cy="536"/>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91" name="直接连接符 90"/>
            <p:cNvCxnSpPr/>
            <p:nvPr/>
          </p:nvCxnSpPr>
          <p:spPr>
            <a:xfrm>
              <a:off x="10682" y="4990"/>
              <a:ext cx="0" cy="536"/>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10" name="矩形 109"/>
            <p:cNvSpPr/>
            <p:nvPr/>
          </p:nvSpPr>
          <p:spPr>
            <a:xfrm>
              <a:off x="1510" y="5596"/>
              <a:ext cx="1724" cy="621"/>
            </a:xfrm>
            <a:prstGeom prst="rect">
              <a:avLst/>
            </a:prstGeom>
            <a:solidFill>
              <a:srgbClr val="4074D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bg1"/>
                  </a:solidFill>
                  <a:latin typeface="微软雅黑" panose="020B0503020204020204" charset="-122"/>
                  <a:ea typeface="微软雅黑" panose="020B0503020204020204" charset="-122"/>
                </a:rPr>
                <a:t>源端目录服务</a:t>
              </a:r>
              <a:endParaRPr lang="zh-CN" altLang="en-US" sz="1000" dirty="0">
                <a:solidFill>
                  <a:schemeClr val="bg1"/>
                </a:solidFill>
                <a:latin typeface="微软雅黑" panose="020B0503020204020204" charset="-122"/>
                <a:ea typeface="微软雅黑" panose="020B0503020204020204" charset="-122"/>
              </a:endParaRPr>
            </a:p>
          </p:txBody>
        </p:sp>
        <p:sp>
          <p:nvSpPr>
            <p:cNvPr id="111" name="矩形 110"/>
            <p:cNvSpPr/>
            <p:nvPr/>
          </p:nvSpPr>
          <p:spPr>
            <a:xfrm>
              <a:off x="3571" y="5596"/>
              <a:ext cx="1724" cy="621"/>
            </a:xfrm>
            <a:prstGeom prst="rect">
              <a:avLst/>
            </a:prstGeom>
            <a:solidFill>
              <a:srgbClr val="4074D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bg1"/>
                  </a:solidFill>
                  <a:latin typeface="微软雅黑" panose="020B0503020204020204" charset="-122"/>
                  <a:ea typeface="微软雅黑" panose="020B0503020204020204" charset="-122"/>
                </a:rPr>
                <a:t>条线目录服务</a:t>
              </a:r>
              <a:endParaRPr lang="zh-CN" altLang="en-US" sz="1000" dirty="0">
                <a:solidFill>
                  <a:schemeClr val="bg1"/>
                </a:solidFill>
                <a:latin typeface="微软雅黑" panose="020B0503020204020204" charset="-122"/>
                <a:ea typeface="微软雅黑" panose="020B0503020204020204" charset="-122"/>
              </a:endParaRPr>
            </a:p>
          </p:txBody>
        </p:sp>
        <p:sp>
          <p:nvSpPr>
            <p:cNvPr id="116" name="矩形 115"/>
            <p:cNvSpPr/>
            <p:nvPr/>
          </p:nvSpPr>
          <p:spPr>
            <a:xfrm>
              <a:off x="5746" y="5596"/>
              <a:ext cx="1724" cy="621"/>
            </a:xfrm>
            <a:prstGeom prst="rect">
              <a:avLst/>
            </a:prstGeom>
            <a:solidFill>
              <a:srgbClr val="4074D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bg1"/>
                  </a:solidFill>
                  <a:latin typeface="微软雅黑" panose="020B0503020204020204" charset="-122"/>
                  <a:ea typeface="微软雅黑" panose="020B0503020204020204" charset="-122"/>
                </a:rPr>
                <a:t>机构目录服务</a:t>
              </a:r>
              <a:endParaRPr lang="zh-CN" altLang="en-US" sz="1000" dirty="0">
                <a:solidFill>
                  <a:schemeClr val="bg1"/>
                </a:solidFill>
                <a:latin typeface="微软雅黑" panose="020B0503020204020204" charset="-122"/>
                <a:ea typeface="微软雅黑" panose="020B0503020204020204" charset="-122"/>
              </a:endParaRPr>
            </a:p>
          </p:txBody>
        </p:sp>
        <p:sp>
          <p:nvSpPr>
            <p:cNvPr id="120" name="矩形 119"/>
            <p:cNvSpPr/>
            <p:nvPr/>
          </p:nvSpPr>
          <p:spPr>
            <a:xfrm>
              <a:off x="7857" y="5596"/>
              <a:ext cx="1724" cy="621"/>
            </a:xfrm>
            <a:prstGeom prst="rect">
              <a:avLst/>
            </a:prstGeom>
            <a:solidFill>
              <a:srgbClr val="4074D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bg1"/>
                  </a:solidFill>
                  <a:latin typeface="微软雅黑" panose="020B0503020204020204" charset="-122"/>
                  <a:ea typeface="微软雅黑" panose="020B0503020204020204" charset="-122"/>
                </a:rPr>
                <a:t>技术目录服务</a:t>
              </a:r>
              <a:endParaRPr lang="zh-CN" altLang="en-US" sz="1000" dirty="0">
                <a:solidFill>
                  <a:schemeClr val="bg1"/>
                </a:solidFill>
                <a:latin typeface="微软雅黑" panose="020B0503020204020204" charset="-122"/>
                <a:ea typeface="微软雅黑" panose="020B0503020204020204" charset="-122"/>
              </a:endParaRPr>
            </a:p>
          </p:txBody>
        </p:sp>
        <p:sp>
          <p:nvSpPr>
            <p:cNvPr id="121" name="矩形 120"/>
            <p:cNvSpPr/>
            <p:nvPr/>
          </p:nvSpPr>
          <p:spPr>
            <a:xfrm>
              <a:off x="10047" y="5596"/>
              <a:ext cx="1724" cy="621"/>
            </a:xfrm>
            <a:prstGeom prst="rect">
              <a:avLst/>
            </a:prstGeom>
            <a:solidFill>
              <a:srgbClr val="4074D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bg1"/>
                  </a:solidFill>
                  <a:latin typeface="微软雅黑" panose="020B0503020204020204" charset="-122"/>
                  <a:ea typeface="微软雅黑" panose="020B0503020204020204" charset="-122"/>
                </a:rPr>
                <a:t>关联服务目录</a:t>
              </a:r>
              <a:endParaRPr lang="zh-CN" altLang="en-US" sz="1000" dirty="0">
                <a:solidFill>
                  <a:schemeClr val="bg1"/>
                </a:solidFill>
                <a:latin typeface="微软雅黑" panose="020B0503020204020204" charset="-122"/>
                <a:ea typeface="微软雅黑" panose="020B0503020204020204" charset="-122"/>
              </a:endParaRPr>
            </a:p>
          </p:txBody>
        </p:sp>
        <p:cxnSp>
          <p:nvCxnSpPr>
            <p:cNvPr id="123" name="直接连接符 122"/>
            <p:cNvCxnSpPr/>
            <p:nvPr/>
          </p:nvCxnSpPr>
          <p:spPr>
            <a:xfrm>
              <a:off x="1605" y="6229"/>
              <a:ext cx="0" cy="3479"/>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124" name="直接连接符 123"/>
            <p:cNvCxnSpPr/>
            <p:nvPr/>
          </p:nvCxnSpPr>
          <p:spPr>
            <a:xfrm>
              <a:off x="1605" y="6599"/>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25" name="圆角矩形 124"/>
            <p:cNvSpPr/>
            <p:nvPr/>
          </p:nvSpPr>
          <p:spPr>
            <a:xfrm>
              <a:off x="1835" y="6427"/>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26" name="直接连接符 125"/>
            <p:cNvCxnSpPr/>
            <p:nvPr/>
          </p:nvCxnSpPr>
          <p:spPr>
            <a:xfrm>
              <a:off x="1609" y="7352"/>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27" name="圆角矩形 126"/>
            <p:cNvSpPr/>
            <p:nvPr/>
          </p:nvSpPr>
          <p:spPr>
            <a:xfrm>
              <a:off x="1838" y="7180"/>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28" name="直接连接符 127"/>
            <p:cNvCxnSpPr/>
            <p:nvPr/>
          </p:nvCxnSpPr>
          <p:spPr>
            <a:xfrm>
              <a:off x="1605" y="8106"/>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29" name="圆角矩形 128"/>
            <p:cNvSpPr/>
            <p:nvPr/>
          </p:nvSpPr>
          <p:spPr>
            <a:xfrm>
              <a:off x="1835" y="7934"/>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30" name="直接连接符 129"/>
            <p:cNvCxnSpPr/>
            <p:nvPr/>
          </p:nvCxnSpPr>
          <p:spPr>
            <a:xfrm>
              <a:off x="1605" y="8859"/>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31" name="圆角矩形 130"/>
            <p:cNvSpPr/>
            <p:nvPr/>
          </p:nvSpPr>
          <p:spPr>
            <a:xfrm>
              <a:off x="1835" y="8687"/>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32" name="直接连接符 131"/>
            <p:cNvCxnSpPr/>
            <p:nvPr/>
          </p:nvCxnSpPr>
          <p:spPr>
            <a:xfrm>
              <a:off x="1605" y="9612"/>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33" name="圆角矩形 132"/>
            <p:cNvSpPr/>
            <p:nvPr/>
          </p:nvSpPr>
          <p:spPr>
            <a:xfrm>
              <a:off x="1835" y="9440"/>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34" name="直接连接符 133"/>
            <p:cNvCxnSpPr/>
            <p:nvPr/>
          </p:nvCxnSpPr>
          <p:spPr>
            <a:xfrm>
              <a:off x="3653" y="6220"/>
              <a:ext cx="0" cy="3468"/>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135" name="直接连接符 134"/>
            <p:cNvCxnSpPr/>
            <p:nvPr/>
          </p:nvCxnSpPr>
          <p:spPr>
            <a:xfrm>
              <a:off x="3653" y="6590"/>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36" name="圆角矩形 135"/>
            <p:cNvSpPr/>
            <p:nvPr/>
          </p:nvSpPr>
          <p:spPr>
            <a:xfrm>
              <a:off x="3883" y="6417"/>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37" name="直接连接符 136"/>
            <p:cNvCxnSpPr/>
            <p:nvPr/>
          </p:nvCxnSpPr>
          <p:spPr>
            <a:xfrm>
              <a:off x="3656" y="7343"/>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38" name="圆角矩形 137"/>
            <p:cNvSpPr/>
            <p:nvPr/>
          </p:nvSpPr>
          <p:spPr>
            <a:xfrm>
              <a:off x="3887" y="7170"/>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39" name="直接连接符 138"/>
            <p:cNvCxnSpPr/>
            <p:nvPr/>
          </p:nvCxnSpPr>
          <p:spPr>
            <a:xfrm>
              <a:off x="3653" y="8097"/>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40" name="圆角矩形 139"/>
            <p:cNvSpPr/>
            <p:nvPr/>
          </p:nvSpPr>
          <p:spPr>
            <a:xfrm>
              <a:off x="3883" y="7924"/>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41" name="直接连接符 140"/>
            <p:cNvCxnSpPr/>
            <p:nvPr/>
          </p:nvCxnSpPr>
          <p:spPr>
            <a:xfrm>
              <a:off x="3653" y="8850"/>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42" name="圆角矩形 141"/>
            <p:cNvSpPr/>
            <p:nvPr/>
          </p:nvSpPr>
          <p:spPr>
            <a:xfrm>
              <a:off x="3883" y="8677"/>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43" name="直接连接符 142"/>
            <p:cNvCxnSpPr/>
            <p:nvPr/>
          </p:nvCxnSpPr>
          <p:spPr>
            <a:xfrm>
              <a:off x="3653" y="9603"/>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44" name="圆角矩形 143"/>
            <p:cNvSpPr/>
            <p:nvPr/>
          </p:nvSpPr>
          <p:spPr>
            <a:xfrm>
              <a:off x="3883" y="9431"/>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45" name="直接连接符 144"/>
            <p:cNvCxnSpPr/>
            <p:nvPr/>
          </p:nvCxnSpPr>
          <p:spPr>
            <a:xfrm>
              <a:off x="5859" y="6220"/>
              <a:ext cx="0" cy="3468"/>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146" name="直接连接符 145"/>
            <p:cNvCxnSpPr/>
            <p:nvPr/>
          </p:nvCxnSpPr>
          <p:spPr>
            <a:xfrm>
              <a:off x="5859" y="6590"/>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47" name="圆角矩形 146"/>
            <p:cNvSpPr/>
            <p:nvPr/>
          </p:nvSpPr>
          <p:spPr>
            <a:xfrm>
              <a:off x="6088" y="6417"/>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48" name="直接连接符 147"/>
            <p:cNvCxnSpPr/>
            <p:nvPr/>
          </p:nvCxnSpPr>
          <p:spPr>
            <a:xfrm>
              <a:off x="5863" y="7343"/>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49" name="圆角矩形 148"/>
            <p:cNvSpPr/>
            <p:nvPr/>
          </p:nvSpPr>
          <p:spPr>
            <a:xfrm>
              <a:off x="6092" y="7170"/>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50" name="直接连接符 149"/>
            <p:cNvCxnSpPr/>
            <p:nvPr/>
          </p:nvCxnSpPr>
          <p:spPr>
            <a:xfrm>
              <a:off x="5859" y="8097"/>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51" name="圆角矩形 150"/>
            <p:cNvSpPr/>
            <p:nvPr/>
          </p:nvSpPr>
          <p:spPr>
            <a:xfrm>
              <a:off x="6088" y="7924"/>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52" name="直接连接符 151"/>
            <p:cNvCxnSpPr/>
            <p:nvPr/>
          </p:nvCxnSpPr>
          <p:spPr>
            <a:xfrm>
              <a:off x="5859" y="8850"/>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53" name="圆角矩形 152"/>
            <p:cNvSpPr/>
            <p:nvPr/>
          </p:nvSpPr>
          <p:spPr>
            <a:xfrm>
              <a:off x="6088" y="8677"/>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54" name="直接连接符 153"/>
            <p:cNvCxnSpPr/>
            <p:nvPr/>
          </p:nvCxnSpPr>
          <p:spPr>
            <a:xfrm>
              <a:off x="5859" y="9603"/>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55" name="圆角矩形 154"/>
            <p:cNvSpPr/>
            <p:nvPr/>
          </p:nvSpPr>
          <p:spPr>
            <a:xfrm>
              <a:off x="6088" y="9431"/>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56" name="直接连接符 155"/>
            <p:cNvCxnSpPr/>
            <p:nvPr/>
          </p:nvCxnSpPr>
          <p:spPr>
            <a:xfrm>
              <a:off x="8012" y="6216"/>
              <a:ext cx="0" cy="1943"/>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157" name="直接连接符 156"/>
            <p:cNvCxnSpPr/>
            <p:nvPr/>
          </p:nvCxnSpPr>
          <p:spPr>
            <a:xfrm>
              <a:off x="8012" y="6586"/>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58" name="圆角矩形 157"/>
            <p:cNvSpPr/>
            <p:nvPr/>
          </p:nvSpPr>
          <p:spPr>
            <a:xfrm>
              <a:off x="8241" y="6414"/>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59" name="直接连接符 158"/>
            <p:cNvCxnSpPr/>
            <p:nvPr/>
          </p:nvCxnSpPr>
          <p:spPr>
            <a:xfrm>
              <a:off x="8015" y="7339"/>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60" name="圆角矩形 159"/>
            <p:cNvSpPr/>
            <p:nvPr/>
          </p:nvSpPr>
          <p:spPr>
            <a:xfrm>
              <a:off x="8245" y="7167"/>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61" name="直接连接符 160"/>
            <p:cNvCxnSpPr/>
            <p:nvPr/>
          </p:nvCxnSpPr>
          <p:spPr>
            <a:xfrm>
              <a:off x="8012" y="8093"/>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62" name="圆角矩形 161"/>
            <p:cNvSpPr/>
            <p:nvPr/>
          </p:nvSpPr>
          <p:spPr>
            <a:xfrm>
              <a:off x="8241" y="7921"/>
              <a:ext cx="1224"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63" name="直接连接符 162"/>
            <p:cNvCxnSpPr/>
            <p:nvPr/>
          </p:nvCxnSpPr>
          <p:spPr>
            <a:xfrm>
              <a:off x="10165" y="6216"/>
              <a:ext cx="0" cy="2777"/>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cxnSp>
          <p:nvCxnSpPr>
            <p:cNvPr id="164" name="直接连接符 163"/>
            <p:cNvCxnSpPr/>
            <p:nvPr/>
          </p:nvCxnSpPr>
          <p:spPr>
            <a:xfrm>
              <a:off x="10165" y="6586"/>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65" name="圆角矩形 164"/>
            <p:cNvSpPr/>
            <p:nvPr/>
          </p:nvSpPr>
          <p:spPr>
            <a:xfrm>
              <a:off x="10393" y="6414"/>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66" name="直接连接符 165"/>
            <p:cNvCxnSpPr/>
            <p:nvPr/>
          </p:nvCxnSpPr>
          <p:spPr>
            <a:xfrm>
              <a:off x="10169" y="7339"/>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67" name="圆角矩形 166"/>
            <p:cNvSpPr/>
            <p:nvPr/>
          </p:nvSpPr>
          <p:spPr>
            <a:xfrm>
              <a:off x="10399" y="7167"/>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68" name="直接连接符 167"/>
            <p:cNvCxnSpPr/>
            <p:nvPr/>
          </p:nvCxnSpPr>
          <p:spPr>
            <a:xfrm>
              <a:off x="10165" y="8093"/>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69" name="圆角矩形 168"/>
            <p:cNvSpPr/>
            <p:nvPr/>
          </p:nvSpPr>
          <p:spPr>
            <a:xfrm>
              <a:off x="10393" y="7921"/>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cxnSp>
          <p:nvCxnSpPr>
            <p:cNvPr id="170" name="直接连接符 169"/>
            <p:cNvCxnSpPr/>
            <p:nvPr/>
          </p:nvCxnSpPr>
          <p:spPr>
            <a:xfrm>
              <a:off x="10165" y="8846"/>
              <a:ext cx="216"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
          <p:nvSpPr>
            <p:cNvPr id="171" name="圆角矩形 170"/>
            <p:cNvSpPr/>
            <p:nvPr/>
          </p:nvSpPr>
          <p:spPr>
            <a:xfrm>
              <a:off x="10393" y="8674"/>
              <a:ext cx="1300" cy="436"/>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sp>
          <p:nvSpPr>
            <p:cNvPr id="179" name="文本框 178"/>
            <p:cNvSpPr txBox="1"/>
            <p:nvPr/>
          </p:nvSpPr>
          <p:spPr>
            <a:xfrm>
              <a:off x="3853" y="6490"/>
              <a:ext cx="1494" cy="362"/>
            </a:xfrm>
            <a:prstGeom prst="rect">
              <a:avLst/>
            </a:prstGeom>
            <a:noFill/>
          </p:spPr>
          <p:txBody>
            <a:bodyPr wrap="square" rtlCol="0" anchor="t">
              <a:spAutoFit/>
            </a:bodyPr>
            <a:lstStyle/>
            <a:p>
              <a:r>
                <a:rPr 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 公司金融</a:t>
              </a:r>
              <a:endParaRPr lang="en-US" alt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0" name="文本框 179"/>
            <p:cNvSpPr txBox="1"/>
            <p:nvPr/>
          </p:nvSpPr>
          <p:spPr>
            <a:xfrm>
              <a:off x="3869" y="7167"/>
              <a:ext cx="1512" cy="372"/>
            </a:xfrm>
            <a:prstGeom prst="rect">
              <a:avLst/>
            </a:prstGeom>
            <a:noFill/>
          </p:spPr>
          <p:txBody>
            <a:bodyPr wrap="square" rtlCol="0" anchor="t">
              <a:noAutofit/>
            </a:bodyPr>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90204"/>
                <a:buNone/>
                <a:defRPr/>
              </a:pPr>
              <a:r>
                <a:rPr 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零售金融</a:t>
              </a:r>
              <a:endParaRPr lang="en-US" alt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1" name="文本框 180"/>
            <p:cNvSpPr txBox="1"/>
            <p:nvPr/>
          </p:nvSpPr>
          <p:spPr>
            <a:xfrm>
              <a:off x="3915" y="7955"/>
              <a:ext cx="1299" cy="372"/>
            </a:xfrm>
            <a:prstGeom prst="rect">
              <a:avLst/>
            </a:prstGeom>
            <a:noFill/>
          </p:spPr>
          <p:txBody>
            <a:bodyPr wrap="square" rtlCol="0" anchor="t">
              <a:noAutofit/>
            </a:bodyPr>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90204"/>
                <a:buNone/>
                <a:defRPr/>
              </a:pPr>
              <a:r>
                <a:rPr 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金融市场</a:t>
              </a:r>
              <a:endParaRPr lang="en-US" alt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2" name="文本框 181"/>
            <p:cNvSpPr txBox="1"/>
            <p:nvPr/>
          </p:nvSpPr>
          <p:spPr>
            <a:xfrm>
              <a:off x="3949" y="8674"/>
              <a:ext cx="1300" cy="372"/>
            </a:xfrm>
            <a:prstGeom prst="rect">
              <a:avLst/>
            </a:prstGeom>
            <a:noFill/>
          </p:spPr>
          <p:txBody>
            <a:bodyPr wrap="square" rtlCol="0" anchor="t">
              <a:noAutofit/>
            </a:bodyPr>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90204"/>
                <a:buNone/>
                <a:defRPr/>
              </a:pPr>
              <a:r>
                <a:rPr 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科技金融</a:t>
              </a:r>
              <a:endParaRPr lang="en-US" alt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3" name="文本框 182"/>
            <p:cNvSpPr txBox="1"/>
            <p:nvPr/>
          </p:nvSpPr>
          <p:spPr>
            <a:xfrm>
              <a:off x="3887" y="9427"/>
              <a:ext cx="1494" cy="372"/>
            </a:xfrm>
            <a:prstGeom prst="rect">
              <a:avLst/>
            </a:prstGeom>
            <a:noFill/>
          </p:spPr>
          <p:txBody>
            <a:bodyPr wrap="square" rtlCol="0" anchor="t">
              <a:noAutofit/>
            </a:bodyPr>
            <a:lstStyle/>
            <a:p>
              <a:pPr marL="0" marR="0" lvl="0" indent="0" algn="l" defTabSz="914400" rtl="0" eaLnBrk="1" fontAlgn="auto" latinLnBrk="0" hangingPunct="1">
                <a:lnSpc>
                  <a:spcPct val="117000"/>
                </a:lnSpc>
                <a:spcBef>
                  <a:spcPts val="0"/>
                </a:spcBef>
                <a:spcAft>
                  <a:spcPts val="0"/>
                </a:spcAft>
                <a:buClr>
                  <a:srgbClr val="000000"/>
                </a:buClr>
                <a:buSzTx/>
                <a:buFont typeface="Arial" panose="020B0604020202090204"/>
                <a:buNone/>
                <a:defRPr/>
              </a:pPr>
              <a:r>
                <a:rPr lang="zh-CN" alt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00" kern="0" noProof="0">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4" name="文本框 183"/>
            <p:cNvSpPr txBox="1"/>
            <p:nvPr/>
          </p:nvSpPr>
          <p:spPr>
            <a:xfrm>
              <a:off x="1821" y="6427"/>
              <a:ext cx="1412"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一线知识云</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5" name="文本框 184"/>
            <p:cNvSpPr txBox="1"/>
            <p:nvPr/>
          </p:nvSpPr>
          <p:spPr>
            <a:xfrm>
              <a:off x="1839" y="7244"/>
              <a:ext cx="1300"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内容平台</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6" name="文本框 185"/>
            <p:cNvSpPr txBox="1"/>
            <p:nvPr/>
          </p:nvSpPr>
          <p:spPr>
            <a:xfrm>
              <a:off x="1839" y="7997"/>
              <a:ext cx="1300"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制度中台</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7" name="文本框 186"/>
            <p:cNvSpPr txBox="1"/>
            <p:nvPr/>
          </p:nvSpPr>
          <p:spPr>
            <a:xfrm>
              <a:off x="1839" y="8741"/>
              <a:ext cx="1300"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财务系统</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8" name="文本框 187"/>
            <p:cNvSpPr txBox="1"/>
            <p:nvPr/>
          </p:nvSpPr>
          <p:spPr>
            <a:xfrm>
              <a:off x="1839" y="9440"/>
              <a:ext cx="1300"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9" name="文本框 188"/>
            <p:cNvSpPr txBox="1"/>
            <p:nvPr/>
          </p:nvSpPr>
          <p:spPr>
            <a:xfrm>
              <a:off x="6093" y="6439"/>
              <a:ext cx="1319"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办公室条线</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0" name="文本框 189"/>
            <p:cNvSpPr txBox="1"/>
            <p:nvPr/>
          </p:nvSpPr>
          <p:spPr>
            <a:xfrm>
              <a:off x="6111" y="7256"/>
              <a:ext cx="1224"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审计条线</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1" name="文本框 190"/>
            <p:cNvSpPr txBox="1"/>
            <p:nvPr/>
          </p:nvSpPr>
          <p:spPr>
            <a:xfrm>
              <a:off x="6111" y="8009"/>
              <a:ext cx="1224"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合规条线</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2" name="文本框 191"/>
            <p:cNvSpPr txBox="1"/>
            <p:nvPr/>
          </p:nvSpPr>
          <p:spPr>
            <a:xfrm>
              <a:off x="6111" y="8753"/>
              <a:ext cx="1224"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风险条线</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3" name="文本框 192"/>
            <p:cNvSpPr txBox="1"/>
            <p:nvPr/>
          </p:nvSpPr>
          <p:spPr>
            <a:xfrm>
              <a:off x="6111" y="9453"/>
              <a:ext cx="1224"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4" name="文本框 193"/>
            <p:cNvSpPr txBox="1"/>
            <p:nvPr/>
          </p:nvSpPr>
          <p:spPr>
            <a:xfrm>
              <a:off x="8245" y="6436"/>
              <a:ext cx="1224" cy="362"/>
            </a:xfrm>
            <a:prstGeom prst="rect">
              <a:avLst/>
            </a:prstGeom>
            <a:noFill/>
          </p:spPr>
          <p:txBody>
            <a:bodyPr wrap="square" rtlCol="0" anchor="t">
              <a:spAutoFit/>
            </a:bodyPr>
            <a:lstStyle/>
            <a:p>
              <a:r>
                <a:rPr lang="zh-CN" altLang="en-US" sz="9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文档格式</a:t>
              </a:r>
              <a:endParaRPr lang="zh-CN" altLang="en-US" sz="900" kern="0" noProof="0" dirty="0">
                <a:ln>
                  <a:noFill/>
                </a:ln>
                <a:solidFill>
                  <a:srgbClr val="555555"/>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5" name="文本框 194"/>
            <p:cNvSpPr txBox="1"/>
            <p:nvPr/>
          </p:nvSpPr>
          <p:spPr>
            <a:xfrm>
              <a:off x="8263" y="7253"/>
              <a:ext cx="1318" cy="362"/>
            </a:xfrm>
            <a:prstGeom prst="rect">
              <a:avLst/>
            </a:prstGeom>
            <a:noFill/>
          </p:spPr>
          <p:txBody>
            <a:bodyPr wrap="square" rtlCol="0" anchor="t">
              <a:spAutoFit/>
            </a:bodyPr>
            <a:lstStyle/>
            <a:p>
              <a:r>
                <a:rPr lang="zh-CN" altLang="en-US" sz="9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存储数据库</a:t>
              </a:r>
              <a:endParaRPr lang="zh-CN" altLang="en-US" sz="900" kern="0" noProof="0" dirty="0">
                <a:ln>
                  <a:noFill/>
                </a:ln>
                <a:solidFill>
                  <a:srgbClr val="555555"/>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6" name="文本框 195"/>
            <p:cNvSpPr txBox="1"/>
            <p:nvPr/>
          </p:nvSpPr>
          <p:spPr>
            <a:xfrm>
              <a:off x="8263" y="7930"/>
              <a:ext cx="1224" cy="362"/>
            </a:xfrm>
            <a:prstGeom prst="rect">
              <a:avLst/>
            </a:prstGeom>
            <a:noFill/>
          </p:spPr>
          <p:txBody>
            <a:bodyPr wrap="square" rtlCol="0" anchor="t">
              <a:spAutoFit/>
            </a:bodyPr>
            <a:lstStyle/>
            <a:p>
              <a:r>
                <a:rPr lang="zh-CN" altLang="en-US" sz="9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00" dirty="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7" name="文本框 196"/>
            <p:cNvSpPr txBox="1"/>
            <p:nvPr/>
          </p:nvSpPr>
          <p:spPr>
            <a:xfrm>
              <a:off x="10377" y="6418"/>
              <a:ext cx="1478"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全行级</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8" name="文本框 197"/>
            <p:cNvSpPr txBox="1"/>
            <p:nvPr/>
          </p:nvSpPr>
          <p:spPr>
            <a:xfrm>
              <a:off x="10394" y="7178"/>
              <a:ext cx="1298"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领域级</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9" name="文本框 198"/>
            <p:cNvSpPr txBox="1"/>
            <p:nvPr/>
          </p:nvSpPr>
          <p:spPr>
            <a:xfrm>
              <a:off x="10394" y="7969"/>
              <a:ext cx="1298"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决策级</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00" name="文本框 199"/>
            <p:cNvSpPr txBox="1"/>
            <p:nvPr/>
          </p:nvSpPr>
          <p:spPr>
            <a:xfrm>
              <a:off x="10394" y="8732"/>
              <a:ext cx="1298" cy="362"/>
            </a:xfrm>
            <a:prstGeom prst="rect">
              <a:avLst/>
            </a:prstGeom>
            <a:noFill/>
          </p:spPr>
          <p:txBody>
            <a:bodyPr wrap="square" rtlCol="0" anchor="t">
              <a:spAutoFit/>
            </a:bodyPr>
            <a:lstStyle/>
            <a:p>
              <a:r>
                <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900" kern="0" noProof="0" dirty="0" err="1">
                <a:ln>
                  <a:noFill/>
                </a:ln>
                <a:solidFill>
                  <a:srgbClr val="1F2937"/>
                </a:solidFill>
                <a:effectLst/>
                <a:uLnTx/>
                <a:uFillTx/>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204" name="直接连接符 203"/>
            <p:cNvCxnSpPr>
              <a:stCxn id="84" idx="2"/>
            </p:cNvCxnSpPr>
            <p:nvPr/>
          </p:nvCxnSpPr>
          <p:spPr>
            <a:xfrm>
              <a:off x="6392" y="4454"/>
              <a:ext cx="0" cy="518"/>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grpSp>
      <p:grpSp>
        <p:nvGrpSpPr>
          <p:cNvPr id="205" name="组合 204"/>
          <p:cNvGrpSpPr/>
          <p:nvPr/>
        </p:nvGrpSpPr>
        <p:grpSpPr>
          <a:xfrm>
            <a:off x="8705215" y="2340610"/>
            <a:ext cx="2946936" cy="4287520"/>
            <a:chOff x="2129" y="1788"/>
            <a:chExt cx="6728" cy="8788"/>
          </a:xfrm>
        </p:grpSpPr>
        <p:sp>
          <p:nvSpPr>
            <p:cNvPr id="206" name="AutoShape 7"/>
            <p:cNvSpPr/>
            <p:nvPr/>
          </p:nvSpPr>
          <p:spPr>
            <a:xfrm>
              <a:off x="2129" y="1788"/>
              <a:ext cx="3794" cy="86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dirty="0">
                  <a:solidFill>
                    <a:srgbClr val="305087"/>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a:t>
              </a:r>
              <a:r>
                <a:rPr lang="zh-CN" altLang="en-US" sz="1600" b="1" i="0" u="none" strike="noStrike" dirty="0" err="1">
                  <a:solidFill>
                    <a:srgbClr val="305087"/>
                  </a:solidFill>
                  <a:latin typeface="微软雅黑" panose="020B0503020204020204" charset="-122"/>
                  <a:ea typeface="微软雅黑" panose="020B0503020204020204" charset="-122"/>
                  <a:cs typeface="微软雅黑" panose="020B0503020204020204" charset="-122"/>
                  <a:sym typeface="Noto Sans SC" panose="020B0200000000000000" charset="-122"/>
                </a:rPr>
                <a:t>目录</a:t>
              </a:r>
              <a:endParaRPr lang="zh-CN" altLang="en-US" sz="1600" b="1" i="0" u="none" strike="noStrike" dirty="0" err="1">
                <a:solidFill>
                  <a:srgbClr val="30508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07" name="AutoShape 19"/>
            <p:cNvSpPr/>
            <p:nvPr/>
          </p:nvSpPr>
          <p:spPr>
            <a:xfrm>
              <a:off x="5929" y="1949"/>
              <a:ext cx="2777" cy="65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dirty="0" err="1">
                  <a:solidFill>
                    <a:srgbClr val="305087"/>
                  </a:solidFill>
                  <a:latin typeface="微软雅黑" panose="020B0503020204020204" charset="-122"/>
                  <a:ea typeface="微软雅黑" panose="020B0503020204020204" charset="-122"/>
                  <a:cs typeface="微软雅黑" panose="020B0503020204020204" charset="-122"/>
                  <a:sym typeface="Noto Sans SC" panose="020B0200000000000000" charset="-122"/>
                </a:rPr>
                <a:t>机构目录</a:t>
              </a:r>
              <a:endParaRPr lang="en-US" sz="1600" b="1" i="0" u="none" strike="noStrike" dirty="0">
                <a:solidFill>
                  <a:srgbClr val="30508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208" name="图片 207"/>
            <p:cNvPicPr>
              <a:picLocks noChangeAspect="1"/>
            </p:cNvPicPr>
            <p:nvPr/>
          </p:nvPicPr>
          <p:blipFill>
            <a:blip r:embed="rId1"/>
            <a:stretch>
              <a:fillRect/>
            </a:stretch>
          </p:blipFill>
          <p:spPr>
            <a:xfrm>
              <a:off x="5723" y="2816"/>
              <a:ext cx="3134" cy="7760"/>
            </a:xfrm>
            <a:prstGeom prst="rect">
              <a:avLst/>
            </a:prstGeom>
          </p:spPr>
        </p:pic>
        <p:pic>
          <p:nvPicPr>
            <p:cNvPr id="209" name="图片 208" descr="421876c3-db91-4245-b16f-64cd848962ec"/>
            <p:cNvPicPr>
              <a:picLocks noChangeAspect="1"/>
            </p:cNvPicPr>
            <p:nvPr/>
          </p:nvPicPr>
          <p:blipFill>
            <a:blip r:embed="rId2"/>
            <a:stretch>
              <a:fillRect/>
            </a:stretch>
          </p:blipFill>
          <p:spPr>
            <a:xfrm>
              <a:off x="2129" y="2599"/>
              <a:ext cx="2777" cy="7977"/>
            </a:xfrm>
            <a:prstGeom prst="rect">
              <a:avLst/>
            </a:prstGeom>
          </p:spPr>
        </p:pic>
      </p:grpSp>
      <p:sp>
        <p:nvSpPr>
          <p:cNvPr id="210" name="文本框 209"/>
          <p:cNvSpPr txBox="1"/>
          <p:nvPr/>
        </p:nvSpPr>
        <p:spPr>
          <a:xfrm>
            <a:off x="8553869" y="1973836"/>
            <a:ext cx="1605280" cy="337185"/>
          </a:xfrm>
          <a:prstGeom prst="rect">
            <a:avLst/>
          </a:prstGeom>
          <a:noFill/>
        </p:spPr>
        <p:txBody>
          <a:bodyPr wrap="none" rtlCol="0">
            <a:spAutoFit/>
          </a:bodyPr>
          <a:lstStyle/>
          <a:p>
            <a:pPr algn="l"/>
            <a:r>
              <a:rPr lang="zh-CN" altLang="en-US" sz="1600">
                <a:latin typeface="微软雅黑" panose="020B0503020204020204" charset="-122"/>
                <a:ea typeface="微软雅黑" panose="020B0503020204020204" charset="-122"/>
                <a:sym typeface="+mn-ea"/>
              </a:rPr>
              <a:t>知识目录示例</a:t>
            </a:r>
            <a:r>
              <a:rPr kumimoji="1" lang="zh-CN" altLang="en-US" sz="1600" dirty="0">
                <a:latin typeface="微软雅黑" panose="020B0503020204020204" charset="-122"/>
                <a:ea typeface="微软雅黑" panose="020B0503020204020204" charset="-122"/>
              </a:rPr>
              <a:t>：</a:t>
            </a:r>
            <a:endParaRPr kumimoji="1" lang="zh-CN" altLang="en-US" sz="1600" dirty="0">
              <a:latin typeface="微软雅黑" panose="020B0503020204020204" charset="-122"/>
              <a:ea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2.2.4 知识目录--</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检索及授权服务</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通过知识目录可提供多模式文档检索能力，支持用户从任意维度快速定位所需文档，</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结合元数据解析、标签聚合与权限管控，构建精准、安全、高效的知识检索体系，实现业务场景下的知识即时获取与合规利用。</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grpSp>
        <p:nvGrpSpPr>
          <p:cNvPr id="30" name="组合 29"/>
          <p:cNvGrpSpPr/>
          <p:nvPr/>
        </p:nvGrpSpPr>
        <p:grpSpPr>
          <a:xfrm>
            <a:off x="1068070" y="2437130"/>
            <a:ext cx="9664065" cy="3368675"/>
            <a:chOff x="638" y="3838"/>
            <a:chExt cx="14160" cy="5200"/>
          </a:xfrm>
        </p:grpSpPr>
        <p:sp>
          <p:nvSpPr>
            <p:cNvPr id="5" name="AutoShape 5"/>
            <p:cNvSpPr/>
            <p:nvPr>
              <p:custDataLst>
                <p:tags r:id="rId1"/>
              </p:custDataLst>
            </p:nvPr>
          </p:nvSpPr>
          <p:spPr>
            <a:xfrm>
              <a:off x="638" y="3838"/>
              <a:ext cx="3360" cy="52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6"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18" y="4238"/>
              <a:ext cx="800" cy="800"/>
            </a:xfrm>
            <a:prstGeom prst="rect">
              <a:avLst/>
            </a:prstGeom>
          </p:spPr>
        </p:pic>
        <p:sp>
          <p:nvSpPr>
            <p:cNvPr id="7" name="AutoShape 7"/>
            <p:cNvSpPr/>
            <p:nvPr>
              <p:custDataLst>
                <p:tags r:id="rId5"/>
              </p:custDataLst>
            </p:nvPr>
          </p:nvSpPr>
          <p:spPr>
            <a:xfrm>
              <a:off x="838" y="5338"/>
              <a:ext cx="2960" cy="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a:t>
              </a:r>
              <a:r>
                <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档案服务</a:t>
              </a:r>
              <a:endPar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8" name="Connector 8"/>
            <p:cNvCxnSpPr/>
            <p:nvPr>
              <p:custDataLst>
                <p:tags r:id="rId6"/>
              </p:custDataLst>
            </p:nvPr>
          </p:nvCxnSpPr>
          <p:spPr>
            <a:xfrm rot="-24910">
              <a:off x="938" y="6128"/>
              <a:ext cx="2760" cy="20"/>
            </a:xfrm>
            <a:prstGeom prst="straightConnector1">
              <a:avLst/>
            </a:prstGeom>
            <a:noFill/>
            <a:ln w="31750" cap="sq" cmpd="dbl">
              <a:solidFill>
                <a:srgbClr val="4472C4"/>
              </a:solidFill>
              <a:round/>
              <a:headEnd type="none" w="med" len="med"/>
              <a:tailEnd type="none" w="med" len="med"/>
            </a:ln>
            <a:effectLst/>
          </p:spPr>
        </p:cxnSp>
        <p:sp>
          <p:nvSpPr>
            <p:cNvPr id="9" name="AutoShape 9"/>
            <p:cNvSpPr/>
            <p:nvPr>
              <p:custDataLst>
                <p:tags r:id="rId7"/>
              </p:custDataLst>
            </p:nvPr>
          </p:nvSpPr>
          <p:spPr>
            <a:xfrm>
              <a:off x="838" y="6438"/>
              <a:ext cx="2960" cy="240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defRPr/>
              </a:pP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深度解析文档核心属性，支持查询单篇文档的完整元数据档案，涵盖创建信息、版本迭代、关联标签等全维度档案信息，还原文档全貌。</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0" name="AutoShape 10"/>
            <p:cNvSpPr/>
            <p:nvPr>
              <p:custDataLst>
                <p:tags r:id="rId8"/>
              </p:custDataLst>
            </p:nvPr>
          </p:nvSpPr>
          <p:spPr>
            <a:xfrm>
              <a:off x="4238" y="3838"/>
              <a:ext cx="3360" cy="52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endParaRPr>
                <a:latin typeface="微软雅黑" panose="020B0503020204020204" charset="-122"/>
                <a:ea typeface="微软雅黑" panose="020B0503020204020204" charset="-122"/>
                <a:sym typeface="+mn-ea"/>
              </a:endParaR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18" y="4238"/>
              <a:ext cx="800" cy="800"/>
            </a:xfrm>
            <a:prstGeom prst="rect">
              <a:avLst/>
            </a:prstGeom>
          </p:spPr>
        </p:pic>
        <p:sp>
          <p:nvSpPr>
            <p:cNvPr id="12" name="AutoShape 12"/>
            <p:cNvSpPr/>
            <p:nvPr>
              <p:custDataLst>
                <p:tags r:id="rId12"/>
              </p:custDataLst>
            </p:nvPr>
          </p:nvSpPr>
          <p:spPr>
            <a:xfrm>
              <a:off x="4438" y="5338"/>
              <a:ext cx="2960" cy="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基础</a:t>
              </a:r>
              <a:r>
                <a:rPr lang="zh-CN" alt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检索</a:t>
              </a:r>
              <a:r>
                <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服务</a:t>
              </a:r>
              <a:endPar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13" name="Connector 13"/>
            <p:cNvCxnSpPr/>
            <p:nvPr>
              <p:custDataLst>
                <p:tags r:id="rId13"/>
              </p:custDataLst>
            </p:nvPr>
          </p:nvCxnSpPr>
          <p:spPr>
            <a:xfrm rot="-24910">
              <a:off x="4538" y="6128"/>
              <a:ext cx="2760" cy="20"/>
            </a:xfrm>
            <a:prstGeom prst="straightConnector1">
              <a:avLst/>
            </a:prstGeom>
            <a:noFill/>
            <a:ln w="31750" cap="sq" cmpd="dbl">
              <a:solidFill>
                <a:srgbClr val="4472C4"/>
              </a:solidFill>
              <a:round/>
              <a:headEnd type="none" w="med" len="med"/>
              <a:tailEnd type="none" w="med" len="med"/>
            </a:ln>
            <a:effectLst/>
          </p:spPr>
        </p:cxnSp>
        <p:sp>
          <p:nvSpPr>
            <p:cNvPr id="14" name="AutoShape 14"/>
            <p:cNvSpPr/>
            <p:nvPr>
              <p:custDataLst>
                <p:tags r:id="rId14"/>
              </p:custDataLst>
            </p:nvPr>
          </p:nvSpPr>
          <p:spPr>
            <a:xfrm>
              <a:off x="4438" y="6438"/>
              <a:ext cx="2960" cy="240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defRPr/>
              </a:pP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基于目录层级导航与关键词全文检索双引擎，支持模糊匹配、精准定位与拼音联想，快速穿透海量文档库，满足用户基础信息查询需求。</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5" name="AutoShape 15"/>
            <p:cNvSpPr/>
            <p:nvPr>
              <p:custDataLst>
                <p:tags r:id="rId15"/>
              </p:custDataLst>
            </p:nvPr>
          </p:nvSpPr>
          <p:spPr>
            <a:xfrm>
              <a:off x="7838" y="3838"/>
              <a:ext cx="3360" cy="52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endParaRPr>
                <a:latin typeface="微软雅黑" panose="020B0503020204020204" charset="-122"/>
                <a:ea typeface="微软雅黑" panose="020B0503020204020204" charset="-122"/>
                <a:sym typeface="+mn-ea"/>
              </a:endParaRPr>
            </a:p>
          </p:txBody>
        </p:sp>
        <p:pic>
          <p:nvPicPr>
            <p:cNvPr id="16" name="Picture 16"/>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118" y="4238"/>
              <a:ext cx="800" cy="800"/>
            </a:xfrm>
            <a:prstGeom prst="rect">
              <a:avLst/>
            </a:prstGeom>
          </p:spPr>
        </p:pic>
        <p:sp>
          <p:nvSpPr>
            <p:cNvPr id="17" name="AutoShape 17"/>
            <p:cNvSpPr/>
            <p:nvPr>
              <p:custDataLst>
                <p:tags r:id="rId19"/>
              </p:custDataLst>
            </p:nvPr>
          </p:nvSpPr>
          <p:spPr>
            <a:xfrm>
              <a:off x="8038" y="5338"/>
              <a:ext cx="2960" cy="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元数据检索</a:t>
              </a:r>
              <a:r>
                <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服务</a:t>
              </a:r>
              <a:endPar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18" name="Connector 18"/>
            <p:cNvCxnSpPr/>
            <p:nvPr>
              <p:custDataLst>
                <p:tags r:id="rId20"/>
              </p:custDataLst>
            </p:nvPr>
          </p:nvCxnSpPr>
          <p:spPr>
            <a:xfrm rot="-24910">
              <a:off x="8138" y="6128"/>
              <a:ext cx="2760" cy="20"/>
            </a:xfrm>
            <a:prstGeom prst="straightConnector1">
              <a:avLst/>
            </a:prstGeom>
            <a:noFill/>
            <a:ln w="31750" cap="sq" cmpd="dbl">
              <a:solidFill>
                <a:srgbClr val="4472C4"/>
              </a:solidFill>
              <a:round/>
              <a:headEnd type="none" w="med" len="med"/>
              <a:tailEnd type="none" w="med" len="med"/>
            </a:ln>
            <a:effectLst/>
          </p:spPr>
        </p:cxnSp>
        <p:sp>
          <p:nvSpPr>
            <p:cNvPr id="19" name="AutoShape 19"/>
            <p:cNvSpPr/>
            <p:nvPr>
              <p:custDataLst>
                <p:tags r:id="rId21"/>
              </p:custDataLst>
            </p:nvPr>
          </p:nvSpPr>
          <p:spPr>
            <a:xfrm>
              <a:off x="8038" y="6438"/>
              <a:ext cx="2960" cy="240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defRPr/>
              </a:pP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构建多维度标签分类体系，支持多标签自由组合与逻辑检索，突破传统检索局限，实现按业务场景、知识主题、应用领域的精准聚合。</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0" name="AutoShape 20"/>
            <p:cNvSpPr/>
            <p:nvPr>
              <p:custDataLst>
                <p:tags r:id="rId22"/>
              </p:custDataLst>
            </p:nvPr>
          </p:nvSpPr>
          <p:spPr>
            <a:xfrm>
              <a:off x="11438" y="3838"/>
              <a:ext cx="3360" cy="52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endParaRPr>
                <a:latin typeface="微软雅黑" panose="020B0503020204020204" charset="-122"/>
                <a:ea typeface="微软雅黑" panose="020B0503020204020204" charset="-122"/>
                <a:sym typeface="+mn-ea"/>
              </a:endParaRPr>
            </a:p>
          </p:txBody>
        </p:sp>
        <p:pic>
          <p:nvPicPr>
            <p:cNvPr id="21" name="Picture 21"/>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2718" y="4238"/>
              <a:ext cx="800" cy="800"/>
            </a:xfrm>
            <a:prstGeom prst="rect">
              <a:avLst/>
            </a:prstGeom>
          </p:spPr>
        </p:pic>
        <p:sp>
          <p:nvSpPr>
            <p:cNvPr id="22" name="AutoShape 22"/>
            <p:cNvSpPr/>
            <p:nvPr>
              <p:custDataLst>
                <p:tags r:id="rId26"/>
              </p:custDataLst>
            </p:nvPr>
          </p:nvSpPr>
          <p:spPr>
            <a:xfrm>
              <a:off x="11638" y="5338"/>
              <a:ext cx="2960" cy="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a:t>
              </a:r>
              <a:r>
                <a:rPr lang="zh-CN" alt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权限</a:t>
              </a:r>
              <a:r>
                <a:rPr lang="zh-CN" alt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管理</a:t>
              </a:r>
              <a:endParaRPr lang="zh-CN" altLang="en-US" sz="16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23" name="Connector 23"/>
            <p:cNvCxnSpPr/>
            <p:nvPr>
              <p:custDataLst>
                <p:tags r:id="rId27"/>
              </p:custDataLst>
            </p:nvPr>
          </p:nvCxnSpPr>
          <p:spPr>
            <a:xfrm rot="-24910">
              <a:off x="11738" y="6128"/>
              <a:ext cx="2760" cy="20"/>
            </a:xfrm>
            <a:prstGeom prst="straightConnector1">
              <a:avLst/>
            </a:prstGeom>
            <a:noFill/>
            <a:ln w="31750" cap="sq" cmpd="dbl">
              <a:solidFill>
                <a:srgbClr val="4472C4"/>
              </a:solidFill>
              <a:round/>
              <a:headEnd type="none" w="med" len="med"/>
              <a:tailEnd type="none" w="med" len="med"/>
            </a:ln>
            <a:effectLst/>
          </p:spPr>
        </p:cxnSp>
        <p:sp>
          <p:nvSpPr>
            <p:cNvPr id="24" name="AutoShape 24"/>
            <p:cNvSpPr/>
            <p:nvPr>
              <p:custDataLst>
                <p:tags r:id="rId28"/>
              </p:custDataLst>
            </p:nvPr>
          </p:nvSpPr>
          <p:spPr>
            <a:xfrm>
              <a:off x="11638" y="6438"/>
              <a:ext cx="2960" cy="2400"/>
            </a:xfrm>
            <a:prstGeom prst="rect">
              <a:avLst/>
            </a:prstGeom>
            <a:noFill/>
            <a:ln w="12700" cap="flat" cmpd="sng">
              <a:noFill/>
              <a:prstDash val="solid"/>
              <a:round/>
            </a:ln>
          </p:spPr>
          <p:txBody>
            <a:bodyPr vert="horz" wrap="square" lIns="0" tIns="0" rIns="0" bIns="0" rtlCol="0" anchor="ctr" anchorCtr="0"/>
            <a:lstStyle/>
            <a:p>
              <a:pPr marL="0" indent="0" algn="just">
                <a:lnSpc>
                  <a:spcPct val="108000"/>
                </a:lnSpc>
                <a:defRPr/>
              </a:pPr>
              <a:r>
                <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针对无访问权限的文档提供标准化在线申请流程，支持多级审批配置与自动流转，审批通过后即时同步权限，保障合规获取与高效协作。</a:t>
              </a:r>
              <a:endParaRPr lang="en-US" sz="13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pSp>
      <p:sp>
        <p:nvSpPr>
          <p:cNvPr id="3" name="矩形 2"/>
          <p:cNvSpPr/>
          <p:nvPr/>
        </p:nvSpPr>
        <p:spPr>
          <a:xfrm>
            <a:off x="8705215"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元数据标准</a:t>
            </a:r>
            <a:endParaRPr lang="zh-CN" altLang="en-US" sz="1000">
              <a:latin typeface="微软雅黑" panose="020B0503020204020204" charset="-122"/>
              <a:ea typeface="微软雅黑" panose="020B0503020204020204" charset="-122"/>
            </a:endParaRPr>
          </a:p>
        </p:txBody>
      </p:sp>
      <p:sp>
        <p:nvSpPr>
          <p:cNvPr id="4" name="矩形 3"/>
          <p:cNvSpPr/>
          <p:nvPr/>
        </p:nvSpPr>
        <p:spPr>
          <a:xfrm>
            <a:off x="9668510" y="21590"/>
            <a:ext cx="953770" cy="17208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知识汇聚</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622915" y="21590"/>
            <a:ext cx="775970" cy="17272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资源管理</a:t>
            </a:r>
            <a:endParaRPr lang="zh-CN" altLang="en-US" sz="1000">
              <a:latin typeface="微软雅黑" panose="020B0503020204020204" charset="-122"/>
              <a:ea typeface="微软雅黑" panose="020B0503020204020204" charset="-122"/>
            </a:endParaRPr>
          </a:p>
        </p:txBody>
      </p:sp>
      <p:sp>
        <p:nvSpPr>
          <p:cNvPr id="35" name="矩形 34"/>
          <p:cNvSpPr/>
          <p:nvPr/>
        </p:nvSpPr>
        <p:spPr>
          <a:xfrm>
            <a:off x="11398885" y="21590"/>
            <a:ext cx="775970" cy="17272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知识目录</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562292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indent="0"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2.1 </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整体规划</a:t>
            </a:r>
            <a:endPar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2.2 资源层规划方案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2.3 加工层</a:t>
            </a:r>
            <a:r>
              <a:rPr lang="en-US" altLang="zh-CN" b="1"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2.4 服务层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2.5 监运层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2.6 拓展层规划方案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 加工层建设背景及目标</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320675" y="922020"/>
            <a:ext cx="11461115" cy="1002665"/>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加工层的核心目标是将资源层汇聚的非结构化文档加工为大模型可直接调用的</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 AI </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可用知识</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构建统一语义知识图谱</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 + </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专题知识图谱</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 + </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知识向量</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构建“文档对象</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文档内容”双层混合索引，推动知识从</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汇聚存管</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向</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精准供给</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跃升，筑牢全行</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 AI </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应用的知识底座。</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4" name="AutoShape 5"/>
          <p:cNvSpPr/>
          <p:nvPr/>
        </p:nvSpPr>
        <p:spPr>
          <a:xfrm>
            <a:off x="3810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 name="AutoShape 6"/>
          <p:cNvSpPr/>
          <p:nvPr/>
        </p:nvSpPr>
        <p:spPr>
          <a:xfrm>
            <a:off x="5080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为什么建</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 name="AutoShape 7"/>
          <p:cNvSpPr/>
          <p:nvPr/>
        </p:nvSpPr>
        <p:spPr>
          <a:xfrm>
            <a:off x="3810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资源层「存的是文档」，要用起来还差加工这最后一步</a:t>
            </a:r>
            <a:endParaRPr 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8" name="AutoShape 8"/>
          <p:cNvSpPr/>
          <p:nvPr/>
        </p:nvSpPr>
        <p:spPr>
          <a:xfrm>
            <a:off x="381000" y="2935605"/>
            <a:ext cx="3632200" cy="10795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9" name="AutoShape 9"/>
          <p:cNvSpPr/>
          <p:nvPr/>
        </p:nvSpPr>
        <p:spPr>
          <a:xfrm>
            <a:off x="533400" y="3088005"/>
            <a:ext cx="228600" cy="228600"/>
          </a:xfrm>
          <a:prstGeom prst="ellipse">
            <a:avLst/>
          </a:prstGeom>
        </p:spPr>
        <p:style>
          <a:lnRef idx="0">
            <a:srgbClr val="FFFFFF"/>
          </a:lnRef>
          <a:fillRef idx="1">
            <a:schemeClr val="accent1"/>
          </a:fillRef>
          <a:effectRef idx="0">
            <a:srgbClr val="FFFFFF"/>
          </a:effectRef>
          <a:fontRef idx="minor">
            <a:schemeClr val="lt1"/>
          </a:fontRef>
        </p:style>
        <p:txBody>
          <a:bodyPr vert="horz" wrap="square" lIns="63500" tIns="63500" rIns="63500" bIns="63500" rtlCol="0" anchor="ctr"/>
          <a:lstStyle/>
          <a:p>
            <a:pPr algn="ctr">
              <a:defRPr/>
            </a:pPr>
            <a:r>
              <a:rPr lang="en-US" sz="1600">
                <a:latin typeface="微软雅黑" panose="020B0503020204020204" charset="-122"/>
                <a:ea typeface="微软雅黑" panose="020B0503020204020204" charset="-122"/>
              </a:rPr>
              <a:t>1</a:t>
            </a:r>
            <a:endParaRPr lang="en-US" sz="1600">
              <a:latin typeface="微软雅黑" panose="020B0503020204020204" charset="-122"/>
              <a:ea typeface="微软雅黑" panose="020B0503020204020204" charset="-122"/>
            </a:endParaRPr>
          </a:p>
        </p:txBody>
      </p:sp>
      <p:sp>
        <p:nvSpPr>
          <p:cNvPr id="27" name="AutoShape 11"/>
          <p:cNvSpPr/>
          <p:nvPr/>
        </p:nvSpPr>
        <p:spPr>
          <a:xfrm>
            <a:off x="863600" y="3062605"/>
            <a:ext cx="30226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文档≠可</a:t>
            </a:r>
            <a:r>
              <a:rPr lang="zh-CN" altLang="en-US"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理解</a:t>
            </a:r>
            <a:r>
              <a:rPr lang="en-US" sz="14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endParaRPr lang="en-US"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8" name="AutoShape 12"/>
          <p:cNvSpPr/>
          <p:nvPr/>
        </p:nvSpPr>
        <p:spPr>
          <a:xfrm>
            <a:off x="533400" y="3405505"/>
            <a:ext cx="3327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原始文档未经结构化与语义化，大模型无法直接理解和推理，必须经过加工层转化为「图</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向量」的</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AI</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可理解的知识。</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9" name="AutoShape 13"/>
          <p:cNvSpPr/>
          <p:nvPr/>
        </p:nvSpPr>
        <p:spPr>
          <a:xfrm>
            <a:off x="381000" y="4142105"/>
            <a:ext cx="3632200" cy="10795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30" name="AutoShape 14"/>
          <p:cNvSpPr/>
          <p:nvPr/>
        </p:nvSpPr>
        <p:spPr>
          <a:xfrm>
            <a:off x="533400" y="4294505"/>
            <a:ext cx="228600" cy="228600"/>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square" lIns="63500" tIns="63500" rIns="63500" bIns="63500" numCol="1" spcCol="0" rtlCol="0" fromWordArt="0" anchor="ctr" anchorCtr="0" forceAA="0" compatLnSpc="1">
            <a:noAutofit/>
          </a:bodyPr>
          <a:lstStyle/>
          <a:p>
            <a:pPr lvl="0" algn="ctr">
              <a:buClrTx/>
              <a:buSzTx/>
              <a:buFontTx/>
              <a:defRPr/>
            </a:pPr>
            <a:r>
              <a:rPr lang="en-US" sz="1600">
                <a:latin typeface="微软雅黑" panose="020B0503020204020204" charset="-122"/>
                <a:ea typeface="微软雅黑" panose="020B0503020204020204" charset="-122"/>
                <a:sym typeface="+mn-ea"/>
              </a:rPr>
              <a:t>2</a:t>
            </a:r>
            <a:endParaRPr lang="en-US" sz="1600">
              <a:latin typeface="微软雅黑" panose="020B0503020204020204" charset="-122"/>
              <a:ea typeface="微软雅黑" panose="020B0503020204020204" charset="-122"/>
              <a:sym typeface="+mn-ea"/>
            </a:endParaRPr>
          </a:p>
        </p:txBody>
      </p:sp>
      <p:sp>
        <p:nvSpPr>
          <p:cNvPr id="32" name="AutoShape 16"/>
          <p:cNvSpPr/>
          <p:nvPr/>
        </p:nvSpPr>
        <p:spPr>
          <a:xfrm>
            <a:off x="863600" y="4269105"/>
            <a:ext cx="30226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跨条线</a:t>
            </a:r>
            <a:r>
              <a:rPr lang="en-US" sz="14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语义割裂</a:t>
            </a:r>
            <a:endParaRPr lang="en-US" sz="14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3" name="AutoShape 17"/>
          <p:cNvSpPr/>
          <p:nvPr/>
        </p:nvSpPr>
        <p:spPr>
          <a:xfrm>
            <a:off x="533400" y="4612005"/>
            <a:ext cx="3327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各</a:t>
            </a:r>
            <a:r>
              <a:rPr lang="zh-CN" alt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场景</a:t>
            </a:r>
            <a:r>
              <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独立建</a:t>
            </a:r>
            <a:r>
              <a:rPr lang="zh-CN" alt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库，缺乏统一语义标准，同一概念多种叫法，知识无法跨域关联，形成信息壁垒，复用性极低。</a:t>
            </a:r>
            <a:endPar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4" name="AutoShape 18"/>
          <p:cNvSpPr/>
          <p:nvPr/>
        </p:nvSpPr>
        <p:spPr>
          <a:xfrm>
            <a:off x="381000" y="5348605"/>
            <a:ext cx="3632200" cy="1079500"/>
          </a:xfrm>
          <a:prstGeom prst="roundRect">
            <a:avLst>
              <a:gd name="adj" fmla="val 0"/>
            </a:avLst>
          </a:prstGeom>
          <a:solidFill>
            <a:srgbClr val="F7F8FA">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35" name="AutoShape 19"/>
          <p:cNvSpPr/>
          <p:nvPr/>
        </p:nvSpPr>
        <p:spPr>
          <a:xfrm>
            <a:off x="533400" y="5501005"/>
            <a:ext cx="228600" cy="228600"/>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square" lIns="63500" tIns="63500" rIns="63500" bIns="63500" numCol="1" spcCol="0" rtlCol="0" fromWordArt="0" anchor="ctr" anchorCtr="0" forceAA="0" compatLnSpc="1">
            <a:noAutofit/>
          </a:bodyPr>
          <a:lstStyle/>
          <a:p>
            <a:pPr lvl="0" algn="ctr">
              <a:buClrTx/>
              <a:buSzTx/>
              <a:buFontTx/>
              <a:defRPr/>
            </a:pPr>
            <a:r>
              <a:rPr lang="en-US" sz="1600">
                <a:latin typeface="微软雅黑" panose="020B0503020204020204" charset="-122"/>
                <a:ea typeface="微软雅黑" panose="020B0503020204020204" charset="-122"/>
                <a:sym typeface="+mn-ea"/>
              </a:rPr>
              <a:t>3</a:t>
            </a:r>
            <a:endParaRPr lang="en-US" sz="1600">
              <a:latin typeface="微软雅黑" panose="020B0503020204020204" charset="-122"/>
              <a:ea typeface="微软雅黑" panose="020B0503020204020204" charset="-122"/>
              <a:sym typeface="+mn-ea"/>
            </a:endParaRPr>
          </a:p>
        </p:txBody>
      </p:sp>
      <p:sp>
        <p:nvSpPr>
          <p:cNvPr id="37" name="AutoShape 21"/>
          <p:cNvSpPr/>
          <p:nvPr/>
        </p:nvSpPr>
        <p:spPr>
          <a:xfrm>
            <a:off x="863600" y="5475605"/>
            <a:ext cx="30226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知识加工粒度粗</a:t>
            </a:r>
            <a:endParaRPr lang="zh-CN" altLang="en-US"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8" name="AutoShape 22"/>
          <p:cNvSpPr/>
          <p:nvPr/>
        </p:nvSpPr>
        <p:spPr>
          <a:xfrm>
            <a:off x="533400" y="5818505"/>
            <a:ext cx="33274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传统知识库普遍采用全量向量化模式，仅支持文档片段级检索，</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合同关键要素、制度条款</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等细粒度业务查询准确率低</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9" name="AutoShape 23"/>
          <p:cNvSpPr/>
          <p:nvPr/>
        </p:nvSpPr>
        <p:spPr>
          <a:xfrm>
            <a:off x="42672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0" name="AutoShape 24"/>
          <p:cNvSpPr/>
          <p:nvPr/>
        </p:nvSpPr>
        <p:spPr>
          <a:xfrm>
            <a:off x="43942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建设内容</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1" name="AutoShape 25"/>
          <p:cNvSpPr/>
          <p:nvPr/>
        </p:nvSpPr>
        <p:spPr>
          <a:xfrm>
            <a:off x="42672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构建「图+向量」的三类核心加工工程</a:t>
            </a:r>
            <a:endParaRPr lang="en-US" sz="11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nvGrpSpPr>
          <p:cNvPr id="70" name="组合 69"/>
          <p:cNvGrpSpPr/>
          <p:nvPr/>
        </p:nvGrpSpPr>
        <p:grpSpPr>
          <a:xfrm>
            <a:off x="4267200" y="2935605"/>
            <a:ext cx="3632200" cy="3442335"/>
            <a:chOff x="6720" y="4623"/>
            <a:chExt cx="5720" cy="5240"/>
          </a:xfrm>
        </p:grpSpPr>
        <p:sp>
          <p:nvSpPr>
            <p:cNvPr id="42" name="AutoShape 26"/>
            <p:cNvSpPr/>
            <p:nvPr/>
          </p:nvSpPr>
          <p:spPr>
            <a:xfrm>
              <a:off x="6720" y="4623"/>
              <a:ext cx="5720" cy="52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43" name="AutoShape 27"/>
            <p:cNvSpPr/>
            <p:nvPr/>
          </p:nvSpPr>
          <p:spPr>
            <a:xfrm>
              <a:off x="6880" y="4623"/>
              <a:ext cx="5400" cy="5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01 统一语义</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图谱（</a:t>
              </a:r>
              <a:r>
                <a:rPr lang="zh-CN" alt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a:t>
              </a: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级·全量）</a:t>
              </a:r>
              <a:endPar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4" name="AutoShape 28"/>
            <p:cNvSpPr/>
            <p:nvPr/>
          </p:nvSpPr>
          <p:spPr>
            <a:xfrm>
              <a:off x="6720" y="5143"/>
              <a:ext cx="5720" cy="116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45" name="AutoShape 29"/>
            <p:cNvSpPr/>
            <p:nvPr/>
          </p:nvSpPr>
          <p:spPr>
            <a:xfrm>
              <a:off x="6880" y="5223"/>
              <a:ext cx="5400" cy="108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基于「业务场景/</a:t>
              </a:r>
              <a:r>
                <a:rPr lang="zh-CN" alt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业务活动</a:t>
              </a:r>
              <a:r>
                <a:rPr lang="en-US" altLang="zh-CN"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a:t>
              </a:r>
              <a:r>
                <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对象/</a:t>
              </a:r>
              <a:r>
                <a:rPr lang="zh-CN" alt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a:t>
              </a:r>
              <a:r>
                <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术语」统一本体，将文档挂载到全行统一语义网络，建立资产级对象索引，解决语义孤岛，实现知识的统一组织与关联。</a:t>
              </a:r>
              <a:endPar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6" name="AutoShape 30"/>
            <p:cNvSpPr/>
            <p:nvPr/>
          </p:nvSpPr>
          <p:spPr>
            <a:xfrm>
              <a:off x="6720" y="6403"/>
              <a:ext cx="5720" cy="520"/>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47" name="AutoShape 31"/>
            <p:cNvSpPr/>
            <p:nvPr/>
          </p:nvSpPr>
          <p:spPr>
            <a:xfrm>
              <a:off x="6880" y="6403"/>
              <a:ext cx="5400" cy="5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02 </a:t>
              </a:r>
              <a:r>
                <a:rPr 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智能向量加工（Chunk级·增强）</a:t>
              </a:r>
              <a:endPar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9" name="AutoShape 32"/>
            <p:cNvSpPr/>
            <p:nvPr/>
          </p:nvSpPr>
          <p:spPr>
            <a:xfrm>
              <a:off x="6720" y="6923"/>
              <a:ext cx="5720" cy="116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50" name="AutoShape 33"/>
            <p:cNvSpPr/>
            <p:nvPr/>
          </p:nvSpPr>
          <p:spPr>
            <a:xfrm>
              <a:off x="6880" y="7003"/>
              <a:ext cx="5400" cy="108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所有文档统一做深度解析、智能切片与向量化，并针对制度</a:t>
              </a:r>
              <a:r>
                <a:rPr lang="en-US" altLang="zh-CN"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规则</a:t>
              </a:r>
              <a:r>
                <a:rPr lang="en-US" altLang="zh-CN"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手册等不同类型做差异化切分与特征向量增强，</a:t>
              </a:r>
              <a:r>
                <a:rPr 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，平衡召回质量与算力成本</a:t>
              </a:r>
              <a:r>
                <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1" name="AutoShape 34"/>
            <p:cNvSpPr/>
            <p:nvPr/>
          </p:nvSpPr>
          <p:spPr>
            <a:xfrm>
              <a:off x="6720" y="8183"/>
              <a:ext cx="5720" cy="520"/>
            </a:xfrm>
            <a:prstGeom prst="roundRect">
              <a:avLst>
                <a:gd name="adj" fmla="val 0"/>
              </a:avLst>
            </a:prstGeom>
            <a:solidFill>
              <a:srgbClr val="69B1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52" name="AutoShape 35"/>
            <p:cNvSpPr/>
            <p:nvPr/>
          </p:nvSpPr>
          <p:spPr>
            <a:xfrm>
              <a:off x="6880" y="8183"/>
              <a:ext cx="5400" cy="52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03 </a:t>
              </a:r>
              <a:r>
                <a:rPr 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 专题知识图谱（要素级·明细）</a:t>
              </a:r>
              <a:endParaRPr lang="en-US" sz="14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3" name="AutoShape 36"/>
            <p:cNvSpPr/>
            <p:nvPr/>
          </p:nvSpPr>
          <p:spPr>
            <a:xfrm>
              <a:off x="6720" y="8703"/>
              <a:ext cx="5720" cy="116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54" name="AutoShape 37"/>
            <p:cNvSpPr/>
            <p:nvPr/>
          </p:nvSpPr>
          <p:spPr>
            <a:xfrm>
              <a:off x="6880" y="8783"/>
              <a:ext cx="5400" cy="108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针对合同、报告、工单等批量标准格式明细实体文档，按类型</a:t>
              </a:r>
              <a:r>
                <a:rPr lang="en-US" altLang="zh-CN"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一类文档一张图</a:t>
              </a:r>
              <a:r>
                <a:rPr lang="en-US" altLang="zh-CN"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抽取要素与关系</a:t>
              </a:r>
              <a:r>
                <a:rPr 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构建专题知识内容图谱</a:t>
              </a:r>
              <a:r>
                <a:rPr 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实现知识内容的关联存储</a:t>
              </a:r>
              <a:r>
                <a:rPr lang="en-US" sz="120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55" name="AutoShape 38"/>
          <p:cNvSpPr/>
          <p:nvPr/>
        </p:nvSpPr>
        <p:spPr>
          <a:xfrm>
            <a:off x="81534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6" name="AutoShape 39"/>
          <p:cNvSpPr/>
          <p:nvPr/>
        </p:nvSpPr>
        <p:spPr>
          <a:xfrm>
            <a:off x="82804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核心价值</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7" name="AutoShape 40"/>
          <p:cNvSpPr/>
          <p:nvPr/>
        </p:nvSpPr>
        <p:spPr>
          <a:xfrm>
            <a:off x="81534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让文档资源变成可被大模型调用的知识资产</a:t>
            </a:r>
            <a:endPar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8" name="AutoShape 41"/>
          <p:cNvSpPr/>
          <p:nvPr/>
        </p:nvSpPr>
        <p:spPr>
          <a:xfrm>
            <a:off x="8200390" y="2834640"/>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59" name="AutoShape 42"/>
          <p:cNvSpPr/>
          <p:nvPr/>
        </p:nvSpPr>
        <p:spPr>
          <a:xfrm>
            <a:off x="8200390" y="2834640"/>
            <a:ext cx="38100" cy="1151255"/>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60" name="AutoShape 43"/>
          <p:cNvSpPr/>
          <p:nvPr/>
        </p:nvSpPr>
        <p:spPr>
          <a:xfrm>
            <a:off x="8352790" y="2929255"/>
            <a:ext cx="3378200" cy="29781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统一语义底座</a:t>
            </a:r>
            <a:r>
              <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，为知识复用奠定基础</a:t>
            </a:r>
            <a:endPar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61" name="AutoShape 44"/>
          <p:cNvSpPr/>
          <p:nvPr/>
        </p:nvSpPr>
        <p:spPr>
          <a:xfrm>
            <a:off x="8352790" y="3281680"/>
            <a:ext cx="3378200" cy="65024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消除各业务条线的语义歧义，</a:t>
            </a:r>
            <a:r>
              <a:rPr lang="en-US" sz="1200" b="1"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实现知识的跨域关联与复用</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，让AI理解“全行同一种语言”，避免重复建设与信息割裂。</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2" name="AutoShape 45"/>
          <p:cNvSpPr/>
          <p:nvPr/>
        </p:nvSpPr>
        <p:spPr>
          <a:xfrm>
            <a:off x="8200390" y="4172585"/>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63" name="AutoShape 46"/>
          <p:cNvSpPr/>
          <p:nvPr/>
        </p:nvSpPr>
        <p:spPr>
          <a:xfrm>
            <a:off x="8200390" y="4172585"/>
            <a:ext cx="38100" cy="1151255"/>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64" name="AutoShape 47"/>
          <p:cNvSpPr/>
          <p:nvPr/>
        </p:nvSpPr>
        <p:spPr>
          <a:xfrm>
            <a:off x="8352790" y="4267200"/>
            <a:ext cx="3476625" cy="297815"/>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zh-CN"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构建混合索引服务</a:t>
            </a:r>
            <a:r>
              <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，保障检索完整准确</a:t>
            </a:r>
            <a:endPar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65" name="AutoShape 48"/>
          <p:cNvSpPr/>
          <p:nvPr/>
        </p:nvSpPr>
        <p:spPr>
          <a:xfrm>
            <a:off x="8352790" y="4619625"/>
            <a:ext cx="3378200" cy="65024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统一沉淀</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统一语义知识图谱</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专题知识内容图谱</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向量库</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，生成文档对象索引、文档内容索引两类索引，为上层服务层封装检索、问答、</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RAG </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等业务服务提供统一索引基础。</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72" name="直接连接符 71"/>
          <p:cNvCxnSpPr/>
          <p:nvPr/>
        </p:nvCxnSpPr>
        <p:spPr>
          <a:xfrm>
            <a:off x="4149725" y="2135505"/>
            <a:ext cx="0" cy="4408170"/>
          </a:xfrm>
          <a:prstGeom prst="line">
            <a:avLst/>
          </a:prstGeom>
          <a:ln>
            <a:prstDash val="dash"/>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a:off x="8001635" y="2135505"/>
            <a:ext cx="0" cy="4408170"/>
          </a:xfrm>
          <a:prstGeom prst="line">
            <a:avLst/>
          </a:prstGeom>
          <a:ln>
            <a:prstDash val="dash"/>
          </a:ln>
        </p:spPr>
        <p:style>
          <a:lnRef idx="2">
            <a:schemeClr val="accent1"/>
          </a:lnRef>
          <a:fillRef idx="0">
            <a:srgbClr val="FFFFFF"/>
          </a:fillRef>
          <a:effectRef idx="0">
            <a:srgbClr val="FFFFFF"/>
          </a:effectRef>
          <a:fontRef idx="minor">
            <a:schemeClr val="tx1"/>
          </a:fontRef>
        </p:style>
      </p:cxnSp>
      <p:sp>
        <p:nvSpPr>
          <p:cNvPr id="5" name="AutoShape 45"/>
          <p:cNvSpPr/>
          <p:nvPr/>
        </p:nvSpPr>
        <p:spPr>
          <a:xfrm>
            <a:off x="8200390" y="5445125"/>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10" name="AutoShape 46"/>
          <p:cNvSpPr/>
          <p:nvPr/>
        </p:nvSpPr>
        <p:spPr>
          <a:xfrm>
            <a:off x="8200390" y="5445125"/>
            <a:ext cx="38100" cy="1151255"/>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11" name="AutoShape 47"/>
          <p:cNvSpPr/>
          <p:nvPr/>
        </p:nvSpPr>
        <p:spPr>
          <a:xfrm>
            <a:off x="8352790" y="5539740"/>
            <a:ext cx="3476625" cy="297815"/>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zh-CN"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高质量知识加工厂</a:t>
            </a:r>
            <a:r>
              <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，赋能智能体知识应用</a:t>
            </a:r>
            <a:endParaRPr lang="zh-CN" altLang="en-US" sz="14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2" name="AutoShape 48"/>
          <p:cNvSpPr/>
          <p:nvPr/>
        </p:nvSpPr>
        <p:spPr>
          <a:xfrm>
            <a:off x="8352790" y="5892165"/>
            <a:ext cx="3378200" cy="65024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打造高质量的知识加工能力</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。能够将文档变成符合业务应用的高质量知识库，赋能业务前线智能体应用。</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 加工层整体建设框架</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57" name="组合 56"/>
          <p:cNvGrpSpPr/>
          <p:nvPr/>
        </p:nvGrpSpPr>
        <p:grpSpPr>
          <a:xfrm>
            <a:off x="155575" y="888365"/>
            <a:ext cx="11890375" cy="5575300"/>
            <a:chOff x="245" y="1399"/>
            <a:chExt cx="18725" cy="9194"/>
          </a:xfrm>
        </p:grpSpPr>
        <p:sp>
          <p:nvSpPr>
            <p:cNvPr id="3" name="矩形 2"/>
            <p:cNvSpPr/>
            <p:nvPr/>
          </p:nvSpPr>
          <p:spPr>
            <a:xfrm>
              <a:off x="245" y="8883"/>
              <a:ext cx="18725" cy="171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资源层</a:t>
              </a:r>
              <a:endParaRPr lang="zh-CN" altLang="en-US" sz="1400" b="1" dirty="0">
                <a:solidFill>
                  <a:schemeClr val="tx2"/>
                </a:solidFill>
                <a:latin typeface="微软雅黑" panose="020B0503020204020204" charset="-122"/>
                <a:ea typeface="微软雅黑" panose="020B0503020204020204" charset="-122"/>
              </a:endParaRPr>
            </a:p>
          </p:txBody>
        </p:sp>
        <p:sp>
          <p:nvSpPr>
            <p:cNvPr id="4" name="矩形 3"/>
            <p:cNvSpPr/>
            <p:nvPr/>
          </p:nvSpPr>
          <p:spPr>
            <a:xfrm>
              <a:off x="12693" y="9005"/>
              <a:ext cx="6101" cy="1492"/>
            </a:xfrm>
            <a:prstGeom prst="rect">
              <a:avLst/>
            </a:prstGeom>
            <a:solidFill>
              <a:schemeClr val="bg1">
                <a:lumMod val="8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类实体文档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66" name="组合 65"/>
            <p:cNvGrpSpPr/>
            <p:nvPr/>
          </p:nvGrpSpPr>
          <p:grpSpPr>
            <a:xfrm>
              <a:off x="1799" y="9020"/>
              <a:ext cx="4535" cy="1491"/>
              <a:chOff x="14253" y="8844"/>
              <a:chExt cx="4716" cy="1658"/>
            </a:xfrm>
          </p:grpSpPr>
          <p:sp>
            <p:nvSpPr>
              <p:cNvPr id="246" name="矩形 245"/>
              <p:cNvSpPr/>
              <p:nvPr/>
            </p:nvSpPr>
            <p:spPr>
              <a:xfrm>
                <a:off x="14253" y="8844"/>
                <a:ext cx="4716" cy="1658"/>
              </a:xfrm>
              <a:prstGeom prst="rect">
                <a:avLst/>
              </a:prstGeom>
              <a:solidFill>
                <a:schemeClr val="accent2">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文档元数据标签</a:t>
                </a:r>
                <a:endParaRPr lang="en-US" altLang="zh-CN"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5" name="矩形 34"/>
              <p:cNvSpPr/>
              <p:nvPr/>
            </p:nvSpPr>
            <p:spPr>
              <a:xfrm>
                <a:off x="14400"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元数据标签</a:t>
                </a:r>
                <a:endParaRPr lang="zh-CN" altLang="en-US" sz="1000" dirty="0">
                  <a:solidFill>
                    <a:schemeClr val="tx1"/>
                  </a:solidFill>
                  <a:latin typeface="微软雅黑" panose="020B0503020204020204" charset="-122"/>
                  <a:ea typeface="微软雅黑" panose="020B0503020204020204" charset="-122"/>
                </a:endParaRPr>
              </a:p>
            </p:txBody>
          </p:sp>
          <p:sp>
            <p:nvSpPr>
              <p:cNvPr id="6" name="矩形 5"/>
              <p:cNvSpPr/>
              <p:nvPr/>
            </p:nvSpPr>
            <p:spPr>
              <a:xfrm>
                <a:off x="15947"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元数据标签</a:t>
                </a:r>
                <a:endParaRPr lang="zh-CN" altLang="en-US" sz="1000" dirty="0">
                  <a:solidFill>
                    <a:schemeClr val="tx1"/>
                  </a:solidFill>
                  <a:latin typeface="微软雅黑" panose="020B0503020204020204" charset="-122"/>
                  <a:ea typeface="微软雅黑" panose="020B0503020204020204" charset="-122"/>
                </a:endParaRPr>
              </a:p>
            </p:txBody>
          </p:sp>
          <p:sp>
            <p:nvSpPr>
              <p:cNvPr id="7" name="矩形 6"/>
              <p:cNvSpPr/>
              <p:nvPr/>
            </p:nvSpPr>
            <p:spPr>
              <a:xfrm>
                <a:off x="17512" y="9432"/>
                <a:ext cx="1343"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元数据标签</a:t>
                </a:r>
                <a:endParaRPr lang="zh-CN" altLang="en-US" sz="1000" dirty="0">
                  <a:solidFill>
                    <a:schemeClr val="tx1"/>
                  </a:solidFill>
                  <a:latin typeface="微软雅黑" panose="020B0503020204020204" charset="-122"/>
                  <a:ea typeface="微软雅黑" panose="020B0503020204020204" charset="-122"/>
                </a:endParaRPr>
              </a:p>
            </p:txBody>
          </p:sp>
        </p:grpSp>
        <p:grpSp>
          <p:nvGrpSpPr>
            <p:cNvPr id="87" name="组合 86"/>
            <p:cNvGrpSpPr/>
            <p:nvPr/>
          </p:nvGrpSpPr>
          <p:grpSpPr>
            <a:xfrm>
              <a:off x="12906" y="9630"/>
              <a:ext cx="5761" cy="661"/>
              <a:chOff x="1498" y="4598"/>
              <a:chExt cx="5493" cy="664"/>
            </a:xfrm>
          </p:grpSpPr>
          <p:sp>
            <p:nvSpPr>
              <p:cNvPr id="88" name="圆柱形 87"/>
              <p:cNvSpPr/>
              <p:nvPr/>
            </p:nvSpPr>
            <p:spPr>
              <a:xfrm>
                <a:off x="1498"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规划类</a:t>
                </a:r>
                <a:endParaRPr lang="zh-CN" altLang="en-US" sz="1000">
                  <a:solidFill>
                    <a:schemeClr val="tx1"/>
                  </a:solidFill>
                  <a:latin typeface="微软雅黑" panose="020B0503020204020204" charset="-122"/>
                  <a:ea typeface="微软雅黑" panose="020B0503020204020204" charset="-122"/>
                </a:endParaRPr>
              </a:p>
            </p:txBody>
          </p:sp>
          <p:sp>
            <p:nvSpPr>
              <p:cNvPr id="89" name="圆柱形 88"/>
              <p:cNvSpPr/>
              <p:nvPr/>
            </p:nvSpPr>
            <p:spPr>
              <a:xfrm>
                <a:off x="2603"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法规类</a:t>
                </a:r>
                <a:endParaRPr lang="zh-CN" altLang="en-US" sz="1000">
                  <a:solidFill>
                    <a:schemeClr val="tx1"/>
                  </a:solidFill>
                  <a:latin typeface="微软雅黑" panose="020B0503020204020204" charset="-122"/>
                  <a:ea typeface="微软雅黑" panose="020B0503020204020204" charset="-122"/>
                </a:endParaRPr>
              </a:p>
            </p:txBody>
          </p:sp>
          <p:sp>
            <p:nvSpPr>
              <p:cNvPr id="90" name="圆柱形 89"/>
              <p:cNvSpPr/>
              <p:nvPr/>
            </p:nvSpPr>
            <p:spPr>
              <a:xfrm>
                <a:off x="37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制度类</a:t>
                </a:r>
                <a:endParaRPr lang="zh-CN" altLang="en-US" sz="1000">
                  <a:solidFill>
                    <a:schemeClr val="tx1"/>
                  </a:solidFill>
                  <a:latin typeface="微软雅黑" panose="020B0503020204020204" charset="-122"/>
                  <a:ea typeface="微软雅黑" panose="020B0503020204020204" charset="-122"/>
                </a:endParaRPr>
              </a:p>
            </p:txBody>
          </p:sp>
          <p:sp>
            <p:nvSpPr>
              <p:cNvPr id="91" name="圆柱形 90"/>
              <p:cNvSpPr/>
              <p:nvPr/>
            </p:nvSpPr>
            <p:spPr>
              <a:xfrm>
                <a:off x="486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手册类</a:t>
                </a:r>
                <a:endParaRPr lang="zh-CN" altLang="en-US" sz="1000">
                  <a:solidFill>
                    <a:schemeClr val="tx1"/>
                  </a:solidFill>
                  <a:latin typeface="微软雅黑" panose="020B0503020204020204" charset="-122"/>
                  <a:ea typeface="微软雅黑" panose="020B0503020204020204" charset="-122"/>
                </a:endParaRPr>
              </a:p>
            </p:txBody>
          </p:sp>
          <p:sp>
            <p:nvSpPr>
              <p:cNvPr id="92" name="圆柱形 91"/>
              <p:cNvSpPr/>
              <p:nvPr/>
            </p:nvSpPr>
            <p:spPr>
              <a:xfrm>
                <a:off x="596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sp>
          <p:nvSpPr>
            <p:cNvPr id="65" name="矩形 64"/>
            <p:cNvSpPr/>
            <p:nvPr/>
          </p:nvSpPr>
          <p:spPr>
            <a:xfrm>
              <a:off x="6503" y="9005"/>
              <a:ext cx="6006" cy="1492"/>
            </a:xfrm>
            <a:prstGeom prst="rect">
              <a:avLst/>
            </a:prstGeom>
            <a:solidFill>
              <a:schemeClr val="accent6">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明细实体文档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84" name="组合 83"/>
            <p:cNvGrpSpPr/>
            <p:nvPr/>
          </p:nvGrpSpPr>
          <p:grpSpPr>
            <a:xfrm>
              <a:off x="6666" y="9630"/>
              <a:ext cx="5761" cy="661"/>
              <a:chOff x="1509" y="4598"/>
              <a:chExt cx="5493" cy="664"/>
            </a:xfrm>
          </p:grpSpPr>
          <p:sp>
            <p:nvSpPr>
              <p:cNvPr id="70" name="圆柱形 69"/>
              <p:cNvSpPr/>
              <p:nvPr/>
            </p:nvSpPr>
            <p:spPr>
              <a:xfrm>
                <a:off x="15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合同类</a:t>
                </a:r>
                <a:endParaRPr lang="zh-CN" altLang="en-US" sz="1000">
                  <a:solidFill>
                    <a:schemeClr val="tx1"/>
                  </a:solidFill>
                  <a:latin typeface="微软雅黑" panose="020B0503020204020204" charset="-122"/>
                  <a:ea typeface="微软雅黑" panose="020B0503020204020204" charset="-122"/>
                </a:endParaRPr>
              </a:p>
            </p:txBody>
          </p:sp>
          <p:sp>
            <p:nvSpPr>
              <p:cNvPr id="71" name="圆柱形 70"/>
              <p:cNvSpPr/>
              <p:nvPr/>
            </p:nvSpPr>
            <p:spPr>
              <a:xfrm>
                <a:off x="261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征信类</a:t>
                </a:r>
                <a:endParaRPr lang="zh-CN" altLang="en-US" sz="1000">
                  <a:solidFill>
                    <a:schemeClr val="tx1"/>
                  </a:solidFill>
                  <a:latin typeface="微软雅黑" panose="020B0503020204020204" charset="-122"/>
                  <a:ea typeface="微软雅黑" panose="020B0503020204020204" charset="-122"/>
                </a:endParaRPr>
              </a:p>
            </p:txBody>
          </p:sp>
          <p:sp>
            <p:nvSpPr>
              <p:cNvPr id="72" name="圆柱形 71"/>
              <p:cNvSpPr/>
              <p:nvPr/>
            </p:nvSpPr>
            <p:spPr>
              <a:xfrm>
                <a:off x="372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司法类</a:t>
                </a:r>
                <a:endParaRPr lang="zh-CN" altLang="en-US" sz="1000">
                  <a:solidFill>
                    <a:schemeClr val="tx1"/>
                  </a:solidFill>
                  <a:latin typeface="微软雅黑" panose="020B0503020204020204" charset="-122"/>
                  <a:ea typeface="微软雅黑" panose="020B0503020204020204" charset="-122"/>
                </a:endParaRPr>
              </a:p>
            </p:txBody>
          </p:sp>
          <p:sp>
            <p:nvSpPr>
              <p:cNvPr id="74" name="圆柱形 73"/>
              <p:cNvSpPr/>
              <p:nvPr/>
            </p:nvSpPr>
            <p:spPr>
              <a:xfrm>
                <a:off x="4886"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报告类</a:t>
                </a:r>
                <a:endParaRPr lang="zh-CN" altLang="en-US" sz="1000">
                  <a:solidFill>
                    <a:schemeClr val="tx1"/>
                  </a:solidFill>
                  <a:latin typeface="微软雅黑" panose="020B0503020204020204" charset="-122"/>
                  <a:ea typeface="微软雅黑" panose="020B0503020204020204" charset="-122"/>
                </a:endParaRPr>
              </a:p>
            </p:txBody>
          </p:sp>
          <p:sp>
            <p:nvSpPr>
              <p:cNvPr id="75" name="圆柱形 74"/>
              <p:cNvSpPr/>
              <p:nvPr/>
            </p:nvSpPr>
            <p:spPr>
              <a:xfrm>
                <a:off x="598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sp>
          <p:nvSpPr>
            <p:cNvPr id="13" name="矩形 12"/>
            <p:cNvSpPr/>
            <p:nvPr/>
          </p:nvSpPr>
          <p:spPr>
            <a:xfrm>
              <a:off x="245" y="5040"/>
              <a:ext cx="18724" cy="377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知识加工</a:t>
              </a:r>
              <a:endParaRPr lang="zh-CN" altLang="en-US" sz="1400" b="1" dirty="0">
                <a:solidFill>
                  <a:schemeClr val="tx2"/>
                </a:solidFill>
                <a:latin typeface="微软雅黑" panose="020B0503020204020204" charset="-122"/>
                <a:ea typeface="微软雅黑" panose="020B0503020204020204" charset="-122"/>
              </a:endParaRPr>
            </a:p>
          </p:txBody>
        </p:sp>
        <p:sp>
          <p:nvSpPr>
            <p:cNvPr id="151" name="矩形 150"/>
            <p:cNvSpPr/>
            <p:nvPr/>
          </p:nvSpPr>
          <p:spPr>
            <a:xfrm>
              <a:off x="246" y="3630"/>
              <a:ext cx="18724" cy="1363"/>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知识存储</a:t>
              </a:r>
              <a:endParaRPr lang="zh-CN" altLang="en-US" sz="1400" b="1" dirty="0">
                <a:solidFill>
                  <a:schemeClr val="tx2"/>
                </a:solidFill>
                <a:latin typeface="微软雅黑" panose="020B0503020204020204" charset="-122"/>
                <a:ea typeface="微软雅黑" panose="020B0503020204020204" charset="-122"/>
              </a:endParaRPr>
            </a:p>
            <a:p>
              <a:pPr algn="l"/>
              <a:r>
                <a:rPr lang="en-US" altLang="zh-CN" sz="1000" b="1" dirty="0">
                  <a:solidFill>
                    <a:schemeClr val="tx2"/>
                  </a:solidFill>
                  <a:latin typeface="微软雅黑" panose="020B0503020204020204" charset="-122"/>
                  <a:ea typeface="微软雅黑" panose="020B0503020204020204" charset="-122"/>
                </a:rPr>
                <a:t>（</a:t>
              </a:r>
              <a:r>
                <a:rPr lang="zh-CN" altLang="en-US" sz="1000" b="1" dirty="0">
                  <a:solidFill>
                    <a:schemeClr val="tx2"/>
                  </a:solidFill>
                  <a:latin typeface="微软雅黑" panose="020B0503020204020204" charset="-122"/>
                  <a:ea typeface="微软雅黑" panose="020B0503020204020204" charset="-122"/>
                </a:rPr>
                <a:t>知识资产</a:t>
              </a:r>
              <a:r>
                <a:rPr lang="en-US" altLang="zh-CN" sz="1000" b="1" dirty="0">
                  <a:solidFill>
                    <a:schemeClr val="tx2"/>
                  </a:solidFill>
                  <a:latin typeface="微软雅黑" panose="020B0503020204020204" charset="-122"/>
                  <a:ea typeface="微软雅黑" panose="020B0503020204020204" charset="-122"/>
                </a:rPr>
                <a:t>）</a:t>
              </a:r>
              <a:endParaRPr lang="en-US" altLang="zh-CN" sz="1000" b="1" dirty="0">
                <a:solidFill>
                  <a:schemeClr val="tx2"/>
                </a:solidFill>
                <a:latin typeface="微软雅黑" panose="020B0503020204020204" charset="-122"/>
                <a:ea typeface="微软雅黑" panose="020B0503020204020204" charset="-122"/>
              </a:endParaRPr>
            </a:p>
          </p:txBody>
        </p:sp>
        <p:sp>
          <p:nvSpPr>
            <p:cNvPr id="152" name="圆角矩形 151"/>
            <p:cNvSpPr/>
            <p:nvPr/>
          </p:nvSpPr>
          <p:spPr>
            <a:xfrm>
              <a:off x="1940" y="3771"/>
              <a:ext cx="5381" cy="1121"/>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统一语义知识图谱</a:t>
              </a:r>
              <a:endParaRPr lang="en-US" altLang="zh-CN"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57" name="圆角矩形 156"/>
            <p:cNvSpPr/>
            <p:nvPr/>
          </p:nvSpPr>
          <p:spPr>
            <a:xfrm>
              <a:off x="7470" y="3771"/>
              <a:ext cx="5524" cy="1121"/>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专题知识内容图谱</a:t>
              </a:r>
              <a:endParaRPr lang="en-US" altLang="zh-CN"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62" name="圆角矩形 161"/>
            <p:cNvSpPr/>
            <p:nvPr/>
          </p:nvSpPr>
          <p:spPr>
            <a:xfrm>
              <a:off x="13271" y="3771"/>
              <a:ext cx="5524" cy="1121"/>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向量知识库</a:t>
              </a:r>
              <a:endParaRPr lang="en-US" altLang="zh-CN"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66" name="矩形 165"/>
            <p:cNvSpPr/>
            <p:nvPr/>
          </p:nvSpPr>
          <p:spPr>
            <a:xfrm>
              <a:off x="246" y="1399"/>
              <a:ext cx="18724" cy="214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altLang="en-US" sz="1400" b="1" dirty="0">
                  <a:solidFill>
                    <a:schemeClr val="tx2"/>
                  </a:solidFill>
                  <a:latin typeface="微软雅黑" panose="020B0503020204020204" charset="-122"/>
                  <a:ea typeface="微软雅黑" panose="020B0503020204020204" charset="-122"/>
                  <a:sym typeface="+mn-ea"/>
                </a:rPr>
                <a:t>服务层</a:t>
              </a:r>
              <a:endParaRPr lang="zh-CN" altLang="en-US" sz="1400" b="1" dirty="0">
                <a:solidFill>
                  <a:schemeClr val="tx2"/>
                </a:solidFill>
                <a:latin typeface="微软雅黑" panose="020B0503020204020204" charset="-122"/>
                <a:ea typeface="微软雅黑" panose="020B0503020204020204" charset="-122"/>
                <a:sym typeface="+mn-ea"/>
              </a:endParaRPr>
            </a:p>
          </p:txBody>
        </p:sp>
        <p:grpSp>
          <p:nvGrpSpPr>
            <p:cNvPr id="73" name="组合 72"/>
            <p:cNvGrpSpPr/>
            <p:nvPr/>
          </p:nvGrpSpPr>
          <p:grpSpPr>
            <a:xfrm>
              <a:off x="1940" y="1502"/>
              <a:ext cx="16854" cy="927"/>
              <a:chOff x="1940" y="1600"/>
              <a:chExt cx="5382" cy="927"/>
            </a:xfrm>
          </p:grpSpPr>
          <p:sp>
            <p:nvSpPr>
              <p:cNvPr id="167" name="圆角矩形 166"/>
              <p:cNvSpPr/>
              <p:nvPr/>
            </p:nvSpPr>
            <p:spPr>
              <a:xfrm>
                <a:off x="1940" y="1600"/>
                <a:ext cx="5382" cy="927"/>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文档对象检索</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70" name="圆角矩形 169"/>
              <p:cNvSpPr/>
              <p:nvPr/>
            </p:nvSpPr>
            <p:spPr>
              <a:xfrm>
                <a:off x="1997" y="1983"/>
                <a:ext cx="5283" cy="394"/>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统一语义图谱索引</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2" name="组合 61"/>
            <p:cNvGrpSpPr/>
            <p:nvPr/>
          </p:nvGrpSpPr>
          <p:grpSpPr>
            <a:xfrm>
              <a:off x="1941" y="2521"/>
              <a:ext cx="16855" cy="913"/>
              <a:chOff x="1997" y="2857"/>
              <a:chExt cx="11324" cy="913"/>
            </a:xfrm>
          </p:grpSpPr>
          <p:sp>
            <p:nvSpPr>
              <p:cNvPr id="169" name="圆角矩形 168"/>
              <p:cNvSpPr/>
              <p:nvPr/>
            </p:nvSpPr>
            <p:spPr>
              <a:xfrm>
                <a:off x="1997" y="2857"/>
                <a:ext cx="11324" cy="913"/>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文档内容检索</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74" name="圆角矩形 173"/>
              <p:cNvSpPr/>
              <p:nvPr/>
            </p:nvSpPr>
            <p:spPr>
              <a:xfrm>
                <a:off x="2099" y="3240"/>
                <a:ext cx="5283" cy="390"/>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 专题知识图谱索引（面向单类明细图谱内容）</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75" name="圆角矩形 174"/>
              <p:cNvSpPr/>
              <p:nvPr/>
            </p:nvSpPr>
            <p:spPr>
              <a:xfrm>
                <a:off x="7798" y="3240"/>
                <a:ext cx="5436" cy="390"/>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向量索引（面向文档</a:t>
                </a:r>
                <a:r>
                  <a:rPr lang="en-US" altLang="zh-CN" sz="1000" b="1" dirty="0">
                    <a:solidFill>
                      <a:srgbClr val="0047AB"/>
                    </a:solidFill>
                    <a:latin typeface="微软雅黑" panose="020B0503020204020204" charset="-122"/>
                    <a:ea typeface="微软雅黑" panose="020B0503020204020204" charset="-122"/>
                    <a:cs typeface="微软雅黑" panose="020B0503020204020204" charset="-122"/>
                    <a:sym typeface="+mn-ea"/>
                  </a:rPr>
                  <a:t>Chunk</a:t>
                </a: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细粒度内容）</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93" name="组合 92"/>
            <p:cNvGrpSpPr/>
            <p:nvPr/>
          </p:nvGrpSpPr>
          <p:grpSpPr>
            <a:xfrm>
              <a:off x="2054" y="4189"/>
              <a:ext cx="5110" cy="520"/>
              <a:chOff x="1891" y="5372"/>
              <a:chExt cx="2748" cy="497"/>
            </a:xfrm>
          </p:grpSpPr>
          <p:sp>
            <p:nvSpPr>
              <p:cNvPr id="67" name="矩形 66"/>
              <p:cNvSpPr/>
              <p:nvPr/>
            </p:nvSpPr>
            <p:spPr>
              <a:xfrm>
                <a:off x="1891"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业务场景</a:t>
                </a:r>
                <a:endParaRPr lang="zh-CN" altLang="en-US" sz="800" b="1" dirty="0">
                  <a:solidFill>
                    <a:schemeClr val="tx1"/>
                  </a:solidFill>
                  <a:latin typeface="微软雅黑" panose="020B0503020204020204" charset="-122"/>
                  <a:ea typeface="微软雅黑" panose="020B0503020204020204" charset="-122"/>
                </a:endParaRPr>
              </a:p>
            </p:txBody>
          </p:sp>
          <p:sp>
            <p:nvSpPr>
              <p:cNvPr id="68" name="矩形 67"/>
              <p:cNvSpPr/>
              <p:nvPr/>
            </p:nvSpPr>
            <p:spPr>
              <a:xfrm>
                <a:off x="2585"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业务活动</a:t>
                </a:r>
                <a:endParaRPr lang="zh-CN" altLang="en-US" sz="800" b="1" dirty="0">
                  <a:solidFill>
                    <a:schemeClr val="tx1"/>
                  </a:solidFill>
                  <a:latin typeface="微软雅黑" panose="020B0503020204020204" charset="-122"/>
                  <a:ea typeface="微软雅黑" panose="020B0503020204020204" charset="-122"/>
                </a:endParaRPr>
              </a:p>
            </p:txBody>
          </p:sp>
          <p:sp>
            <p:nvSpPr>
              <p:cNvPr id="69" name="矩形 68"/>
              <p:cNvSpPr/>
              <p:nvPr/>
            </p:nvSpPr>
            <p:spPr>
              <a:xfrm>
                <a:off x="3286"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业务对象</a:t>
                </a:r>
                <a:endParaRPr lang="zh-CN" altLang="en-US" sz="800" b="1" dirty="0">
                  <a:solidFill>
                    <a:schemeClr val="tx1"/>
                  </a:solidFill>
                  <a:latin typeface="微软雅黑" panose="020B0503020204020204" charset="-122"/>
                  <a:ea typeface="微软雅黑" panose="020B0503020204020204" charset="-122"/>
                </a:endParaRPr>
              </a:p>
            </p:txBody>
          </p:sp>
          <p:sp>
            <p:nvSpPr>
              <p:cNvPr id="76" name="矩形 75"/>
              <p:cNvSpPr/>
              <p:nvPr/>
            </p:nvSpPr>
            <p:spPr>
              <a:xfrm>
                <a:off x="3987" y="5372"/>
                <a:ext cx="652"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业务术语</a:t>
                </a:r>
                <a:endParaRPr lang="zh-CN" altLang="en-US" sz="800" b="1" dirty="0">
                  <a:solidFill>
                    <a:schemeClr val="tx1"/>
                  </a:solidFill>
                  <a:latin typeface="微软雅黑" panose="020B0503020204020204" charset="-122"/>
                  <a:ea typeface="微软雅黑" panose="020B0503020204020204" charset="-122"/>
                </a:endParaRPr>
              </a:p>
            </p:txBody>
          </p:sp>
          <p:sp>
            <p:nvSpPr>
              <p:cNvPr id="80" name="矩形 79"/>
              <p:cNvSpPr/>
              <p:nvPr/>
            </p:nvSpPr>
            <p:spPr>
              <a:xfrm>
                <a:off x="1891" y="5643"/>
                <a:ext cx="1345"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文档对象</a:t>
                </a:r>
                <a:endParaRPr lang="zh-CN" altLang="en-US" sz="800" b="1" dirty="0">
                  <a:solidFill>
                    <a:schemeClr val="tx1"/>
                  </a:solidFill>
                  <a:latin typeface="微软雅黑" panose="020B0503020204020204" charset="-122"/>
                  <a:ea typeface="微软雅黑" panose="020B0503020204020204" charset="-122"/>
                </a:endParaRPr>
              </a:p>
            </p:txBody>
          </p:sp>
          <p:sp>
            <p:nvSpPr>
              <p:cNvPr id="81" name="矩形 80"/>
              <p:cNvSpPr/>
              <p:nvPr/>
            </p:nvSpPr>
            <p:spPr>
              <a:xfrm>
                <a:off x="3294" y="5643"/>
                <a:ext cx="1345" cy="226"/>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专题知识图谱对象</a:t>
                </a:r>
                <a:endParaRPr lang="zh-CN" altLang="en-US" sz="800" b="1" dirty="0">
                  <a:solidFill>
                    <a:schemeClr val="tx1"/>
                  </a:solidFill>
                  <a:latin typeface="微软雅黑" panose="020B0503020204020204" charset="-122"/>
                  <a:ea typeface="微软雅黑" panose="020B0503020204020204" charset="-122"/>
                </a:endParaRPr>
              </a:p>
            </p:txBody>
          </p:sp>
        </p:grpSp>
        <p:grpSp>
          <p:nvGrpSpPr>
            <p:cNvPr id="19" name="组合 18"/>
            <p:cNvGrpSpPr/>
            <p:nvPr/>
          </p:nvGrpSpPr>
          <p:grpSpPr>
            <a:xfrm>
              <a:off x="7563" y="4190"/>
              <a:ext cx="5292" cy="518"/>
              <a:chOff x="7563" y="4050"/>
              <a:chExt cx="4173" cy="518"/>
            </a:xfrm>
          </p:grpSpPr>
          <p:sp>
            <p:nvSpPr>
              <p:cNvPr id="8" name="矩形 7"/>
              <p:cNvSpPr/>
              <p:nvPr/>
            </p:nvSpPr>
            <p:spPr>
              <a:xfrm>
                <a:off x="7563"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合同知识图谱</a:t>
                </a:r>
                <a:endParaRPr lang="en-US" altLang="zh-CN" sz="800" b="1" dirty="0">
                  <a:solidFill>
                    <a:schemeClr val="tx1"/>
                  </a:solidFill>
                  <a:latin typeface="微软雅黑" panose="020B0503020204020204" charset="-122"/>
                  <a:ea typeface="微软雅黑" panose="020B0503020204020204" charset="-122"/>
                </a:endParaRPr>
              </a:p>
            </p:txBody>
          </p:sp>
          <p:sp>
            <p:nvSpPr>
              <p:cNvPr id="12" name="矩形 11"/>
              <p:cNvSpPr/>
              <p:nvPr/>
            </p:nvSpPr>
            <p:spPr>
              <a:xfrm>
                <a:off x="8402"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征信</a:t>
                </a:r>
                <a:r>
                  <a:rPr lang="zh-CN" altLang="en-US" sz="800" b="1" dirty="0">
                    <a:solidFill>
                      <a:schemeClr val="tx1"/>
                    </a:solidFill>
                    <a:latin typeface="微软雅黑" panose="020B0503020204020204" charset="-122"/>
                    <a:ea typeface="微软雅黑" panose="020B0503020204020204" charset="-122"/>
                    <a:sym typeface="+mn-ea"/>
                  </a:rPr>
                  <a:t>知识图谱</a:t>
                </a:r>
                <a:endParaRPr lang="zh-CN" altLang="en-US" sz="800" b="1" dirty="0">
                  <a:solidFill>
                    <a:schemeClr val="tx1"/>
                  </a:solidFill>
                  <a:latin typeface="微软雅黑" panose="020B0503020204020204" charset="-122"/>
                  <a:ea typeface="微软雅黑" panose="020B0503020204020204" charset="-122"/>
                </a:endParaRPr>
              </a:p>
            </p:txBody>
          </p:sp>
          <p:sp>
            <p:nvSpPr>
              <p:cNvPr id="14" name="矩形 13"/>
              <p:cNvSpPr/>
              <p:nvPr/>
            </p:nvSpPr>
            <p:spPr>
              <a:xfrm>
                <a:off x="9258"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司法</a:t>
                </a:r>
                <a:r>
                  <a:rPr lang="zh-CN" altLang="en-US" sz="800" b="1" dirty="0">
                    <a:solidFill>
                      <a:schemeClr val="tx1"/>
                    </a:solidFill>
                    <a:latin typeface="微软雅黑" panose="020B0503020204020204" charset="-122"/>
                    <a:ea typeface="微软雅黑" panose="020B0503020204020204" charset="-122"/>
                    <a:sym typeface="+mn-ea"/>
                  </a:rPr>
                  <a:t>知识图谱</a:t>
                </a:r>
                <a:endParaRPr lang="zh-CN" altLang="en-US" sz="800" b="1" dirty="0">
                  <a:solidFill>
                    <a:schemeClr val="tx1"/>
                  </a:solidFill>
                  <a:latin typeface="微软雅黑" panose="020B0503020204020204" charset="-122"/>
                  <a:ea typeface="微软雅黑" panose="020B0503020204020204" charset="-122"/>
                </a:endParaRPr>
              </a:p>
            </p:txBody>
          </p:sp>
          <p:sp>
            <p:nvSpPr>
              <p:cNvPr id="15" name="矩形 14"/>
              <p:cNvSpPr/>
              <p:nvPr/>
            </p:nvSpPr>
            <p:spPr>
              <a:xfrm>
                <a:off x="10137"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报告</a:t>
                </a:r>
                <a:r>
                  <a:rPr lang="zh-CN" altLang="en-US" sz="800" b="1" dirty="0">
                    <a:solidFill>
                      <a:schemeClr val="tx1"/>
                    </a:solidFill>
                    <a:latin typeface="微软雅黑" panose="020B0503020204020204" charset="-122"/>
                    <a:ea typeface="微软雅黑" panose="020B0503020204020204" charset="-122"/>
                    <a:sym typeface="+mn-ea"/>
                  </a:rPr>
                  <a:t>知识图谱</a:t>
                </a:r>
                <a:endParaRPr lang="zh-CN" altLang="en-US" sz="800" b="1" dirty="0">
                  <a:solidFill>
                    <a:schemeClr val="tx1"/>
                  </a:solidFill>
                  <a:latin typeface="微软雅黑" panose="020B0503020204020204" charset="-122"/>
                  <a:ea typeface="微软雅黑" panose="020B0503020204020204" charset="-122"/>
                </a:endParaRPr>
              </a:p>
            </p:txBody>
          </p:sp>
          <p:sp>
            <p:nvSpPr>
              <p:cNvPr id="17" name="矩形 16"/>
              <p:cNvSpPr/>
              <p:nvPr/>
            </p:nvSpPr>
            <p:spPr>
              <a:xfrm>
                <a:off x="10972" y="4050"/>
                <a:ext cx="765"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800" b="1" dirty="0">
                    <a:solidFill>
                      <a:schemeClr val="tx1"/>
                    </a:solidFill>
                    <a:latin typeface="微软雅黑" panose="020B0503020204020204" charset="-122"/>
                    <a:ea typeface="微软雅黑" panose="020B0503020204020204" charset="-122"/>
                  </a:rPr>
                  <a:t>……</a:t>
                </a:r>
                <a:endParaRPr lang="en-US" altLang="zh-CN" sz="800" b="1" dirty="0">
                  <a:solidFill>
                    <a:schemeClr val="tx1"/>
                  </a:solidFill>
                  <a:latin typeface="微软雅黑" panose="020B0503020204020204" charset="-122"/>
                  <a:ea typeface="微软雅黑" panose="020B0503020204020204" charset="-122"/>
                </a:endParaRPr>
              </a:p>
            </p:txBody>
          </p:sp>
        </p:grpSp>
        <p:grpSp>
          <p:nvGrpSpPr>
            <p:cNvPr id="50" name="组合 49"/>
            <p:cNvGrpSpPr/>
            <p:nvPr/>
          </p:nvGrpSpPr>
          <p:grpSpPr>
            <a:xfrm>
              <a:off x="1941" y="5288"/>
              <a:ext cx="3849" cy="3380"/>
              <a:chOff x="1799" y="5288"/>
              <a:chExt cx="5522" cy="3380"/>
            </a:xfrm>
          </p:grpSpPr>
          <p:sp>
            <p:nvSpPr>
              <p:cNvPr id="16" name="圆角矩形 15"/>
              <p:cNvSpPr/>
              <p:nvPr/>
            </p:nvSpPr>
            <p:spPr>
              <a:xfrm>
                <a:off x="1799" y="5288"/>
                <a:ext cx="5523" cy="3380"/>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本体建模</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33" name="圆角矩形 32"/>
              <p:cNvSpPr/>
              <p:nvPr/>
            </p:nvSpPr>
            <p:spPr>
              <a:xfrm>
                <a:off x="1940" y="5752"/>
                <a:ext cx="2514" cy="2630"/>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统一语义图本体</a:t>
                </a: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建模</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63" name="圆角矩形 62"/>
              <p:cNvSpPr/>
              <p:nvPr/>
            </p:nvSpPr>
            <p:spPr>
              <a:xfrm>
                <a:off x="2040" y="6255"/>
                <a:ext cx="2240" cy="887"/>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统一语义本体模型</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64" name="圆角矩形 63"/>
              <p:cNvSpPr/>
              <p:nvPr/>
            </p:nvSpPr>
            <p:spPr>
              <a:xfrm>
                <a:off x="1997" y="7244"/>
                <a:ext cx="2282" cy="928"/>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自定义本体模型</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77" name="圆角矩形 76"/>
              <p:cNvSpPr/>
              <p:nvPr/>
            </p:nvSpPr>
            <p:spPr>
              <a:xfrm>
                <a:off x="4664" y="5751"/>
                <a:ext cx="2528" cy="2632"/>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专题图本体</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建模</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78" name="圆角矩形 77"/>
              <p:cNvSpPr/>
              <p:nvPr/>
            </p:nvSpPr>
            <p:spPr>
              <a:xfrm>
                <a:off x="4822" y="6255"/>
                <a:ext cx="2131" cy="535"/>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图实例管理</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79" name="圆角矩形 78"/>
              <p:cNvSpPr/>
              <p:nvPr/>
            </p:nvSpPr>
            <p:spPr>
              <a:xfrm>
                <a:off x="4823" y="6895"/>
                <a:ext cx="2130" cy="587"/>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图本体</a:t>
                </a:r>
                <a:r>
                  <a:rPr lang="en-US" altLang="zh-CN" sz="800" b="1" dirty="0">
                    <a:solidFill>
                      <a:schemeClr val="tx1"/>
                    </a:solidFill>
                    <a:latin typeface="微软雅黑" panose="020B0503020204020204" charset="-122"/>
                    <a:ea typeface="微软雅黑" panose="020B0503020204020204" charset="-122"/>
                    <a:cs typeface="微软雅黑" panose="020B0503020204020204" charset="-122"/>
                    <a:sym typeface="+mn-ea"/>
                  </a:rPr>
                  <a:t>AI</a:t>
                </a: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生成</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45" name="圆角矩形 44"/>
              <p:cNvSpPr/>
              <p:nvPr/>
            </p:nvSpPr>
            <p:spPr>
              <a:xfrm>
                <a:off x="4823" y="7585"/>
                <a:ext cx="2130" cy="587"/>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图本体编辑</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sp>
          <p:nvSpPr>
            <p:cNvPr id="38" name="圆角矩形 37"/>
            <p:cNvSpPr/>
            <p:nvPr/>
          </p:nvSpPr>
          <p:spPr>
            <a:xfrm>
              <a:off x="5949" y="5265"/>
              <a:ext cx="7237" cy="3380"/>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知识图谱加工引擎</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5" name="圆角矩形 4"/>
            <p:cNvSpPr/>
            <p:nvPr/>
          </p:nvSpPr>
          <p:spPr>
            <a:xfrm>
              <a:off x="6052" y="5678"/>
              <a:ext cx="3472" cy="1239"/>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文档结构化解析</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1" name="圆角矩形 10"/>
            <p:cNvSpPr/>
            <p:nvPr/>
          </p:nvSpPr>
          <p:spPr>
            <a:xfrm>
              <a:off x="6189" y="6036"/>
              <a:ext cx="3198" cy="237"/>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文档配置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8" name="圆角矩形 17"/>
            <p:cNvSpPr/>
            <p:nvPr/>
          </p:nvSpPr>
          <p:spPr>
            <a:xfrm>
              <a:off x="6189" y="6293"/>
              <a:ext cx="3198" cy="252"/>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多模态解析</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22" name="圆角矩形 21"/>
            <p:cNvSpPr/>
            <p:nvPr/>
          </p:nvSpPr>
          <p:spPr>
            <a:xfrm>
              <a:off x="9576" y="5678"/>
              <a:ext cx="3472" cy="1239"/>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图谱知识抽取</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53" name="圆角矩形 52"/>
            <p:cNvSpPr/>
            <p:nvPr/>
          </p:nvSpPr>
          <p:spPr>
            <a:xfrm>
              <a:off x="9715" y="5986"/>
              <a:ext cx="3198" cy="237"/>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800" b="1" dirty="0">
                  <a:solidFill>
                    <a:schemeClr val="tx1"/>
                  </a:solidFill>
                  <a:latin typeface="微软雅黑" panose="020B0503020204020204" charset="-122"/>
                  <a:ea typeface="微软雅黑" panose="020B0503020204020204" charset="-122"/>
                  <a:cs typeface="微软雅黑" panose="020B0503020204020204" charset="-122"/>
                  <a:sym typeface="+mn-ea"/>
                </a:rPr>
                <a:t>LLM</a:t>
              </a: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模型配置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54" name="圆角矩形 53"/>
            <p:cNvSpPr/>
            <p:nvPr/>
          </p:nvSpPr>
          <p:spPr>
            <a:xfrm>
              <a:off x="9715" y="6253"/>
              <a:ext cx="3198" cy="252"/>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算子配置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55" name="圆角矩形 54"/>
            <p:cNvSpPr/>
            <p:nvPr/>
          </p:nvSpPr>
          <p:spPr>
            <a:xfrm>
              <a:off x="9715" y="6548"/>
              <a:ext cx="3198" cy="252"/>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抽取提示词配置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9" name="左箭头 98"/>
            <p:cNvSpPr/>
            <p:nvPr/>
          </p:nvSpPr>
          <p:spPr>
            <a:xfrm rot="10800000">
              <a:off x="5700" y="6571"/>
              <a:ext cx="330" cy="980"/>
            </a:xfrm>
            <a:prstGeom prst="leftArrow">
              <a:avLst/>
            </a:prstGeom>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grpSp>
          <p:nvGrpSpPr>
            <p:cNvPr id="40" name="组合 39"/>
            <p:cNvGrpSpPr/>
            <p:nvPr/>
          </p:nvGrpSpPr>
          <p:grpSpPr>
            <a:xfrm>
              <a:off x="13279" y="5250"/>
              <a:ext cx="5522" cy="3380"/>
              <a:chOff x="13271" y="5288"/>
              <a:chExt cx="5522" cy="3380"/>
            </a:xfrm>
          </p:grpSpPr>
          <p:sp>
            <p:nvSpPr>
              <p:cNvPr id="41" name="圆角矩形 40"/>
              <p:cNvSpPr/>
              <p:nvPr/>
            </p:nvSpPr>
            <p:spPr>
              <a:xfrm>
                <a:off x="13271" y="5288"/>
                <a:ext cx="5523" cy="3380"/>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向量加工引擎</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grpSp>
            <p:nvGrpSpPr>
              <p:cNvPr id="47" name="组合 46"/>
              <p:cNvGrpSpPr/>
              <p:nvPr/>
            </p:nvGrpSpPr>
            <p:grpSpPr>
              <a:xfrm>
                <a:off x="13374" y="5750"/>
                <a:ext cx="5340" cy="2633"/>
                <a:chOff x="13374" y="5750"/>
                <a:chExt cx="5340" cy="2845"/>
              </a:xfrm>
            </p:grpSpPr>
            <p:sp>
              <p:nvSpPr>
                <p:cNvPr id="85" name="圆角矩形 84"/>
                <p:cNvSpPr/>
                <p:nvPr/>
              </p:nvSpPr>
              <p:spPr>
                <a:xfrm>
                  <a:off x="13374" y="5750"/>
                  <a:ext cx="2645" cy="1391"/>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知识库基础配置</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95" name="圆角矩形 94"/>
                <p:cNvSpPr/>
                <p:nvPr/>
              </p:nvSpPr>
              <p:spPr>
                <a:xfrm>
                  <a:off x="13374" y="7205"/>
                  <a:ext cx="2645" cy="1391"/>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文档切片</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96" name="圆角矩形 95"/>
                <p:cNvSpPr/>
                <p:nvPr/>
              </p:nvSpPr>
              <p:spPr>
                <a:xfrm>
                  <a:off x="16070" y="5750"/>
                  <a:ext cx="2645" cy="1391"/>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文档解析</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00" name="圆角矩形 99"/>
                <p:cNvSpPr/>
                <p:nvPr/>
              </p:nvSpPr>
              <p:spPr>
                <a:xfrm>
                  <a:off x="16070" y="7205"/>
                  <a:ext cx="2645" cy="1391"/>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向量生成</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01" name="圆角矩形 100"/>
                <p:cNvSpPr/>
                <p:nvPr/>
              </p:nvSpPr>
              <p:spPr>
                <a:xfrm>
                  <a:off x="13478" y="6100"/>
                  <a:ext cx="2436" cy="433"/>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知识库类型配置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2" name="圆角矩形 101"/>
                <p:cNvSpPr/>
                <p:nvPr/>
              </p:nvSpPr>
              <p:spPr>
                <a:xfrm>
                  <a:off x="13478" y="6603"/>
                  <a:ext cx="2436" cy="433"/>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知识存储配置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3" name="圆角矩形 102"/>
                <p:cNvSpPr/>
                <p:nvPr/>
              </p:nvSpPr>
              <p:spPr>
                <a:xfrm>
                  <a:off x="16174" y="6121"/>
                  <a:ext cx="2436" cy="284"/>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文档配置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4" name="圆角矩形 103"/>
                <p:cNvSpPr/>
                <p:nvPr/>
              </p:nvSpPr>
              <p:spPr>
                <a:xfrm>
                  <a:off x="16174" y="6436"/>
                  <a:ext cx="2436" cy="284"/>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解析工具管理</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5" name="圆角矩形 104"/>
                <p:cNvSpPr/>
                <p:nvPr/>
              </p:nvSpPr>
              <p:spPr>
                <a:xfrm>
                  <a:off x="16174" y="6752"/>
                  <a:ext cx="2436" cy="284"/>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多模态解析</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6" name="圆角矩形 105"/>
                <p:cNvSpPr/>
                <p:nvPr/>
              </p:nvSpPr>
              <p:spPr>
                <a:xfrm>
                  <a:off x="13478" y="7575"/>
                  <a:ext cx="2436" cy="284"/>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切片算法</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7" name="圆角矩形 106"/>
                <p:cNvSpPr/>
                <p:nvPr/>
              </p:nvSpPr>
              <p:spPr>
                <a:xfrm>
                  <a:off x="13478" y="7890"/>
                  <a:ext cx="2436" cy="284"/>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分片大小/重叠</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8" name="圆角矩形 107"/>
                <p:cNvSpPr/>
                <p:nvPr/>
              </p:nvSpPr>
              <p:spPr>
                <a:xfrm>
                  <a:off x="13478" y="8206"/>
                  <a:ext cx="2436" cy="284"/>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分片预览</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09" name="圆角矩形 108"/>
                <p:cNvSpPr/>
                <p:nvPr/>
              </p:nvSpPr>
              <p:spPr>
                <a:xfrm>
                  <a:off x="16190" y="7575"/>
                  <a:ext cx="2436" cy="433"/>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关键词提取</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110" name="圆角矩形 109"/>
                <p:cNvSpPr/>
                <p:nvPr/>
              </p:nvSpPr>
              <p:spPr>
                <a:xfrm>
                  <a:off x="16190" y="8078"/>
                  <a:ext cx="2436" cy="433"/>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向量生成</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grpSp>
        <p:sp>
          <p:nvSpPr>
            <p:cNvPr id="111" name="左右箭头 110"/>
            <p:cNvSpPr/>
            <p:nvPr/>
          </p:nvSpPr>
          <p:spPr>
            <a:xfrm>
              <a:off x="12913" y="4502"/>
              <a:ext cx="556" cy="263"/>
            </a:xfrm>
            <a:prstGeom prst="leftRightArrow">
              <a:avLst/>
            </a:prstGeom>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grpSp>
          <p:nvGrpSpPr>
            <p:cNvPr id="44" name="组合 43"/>
            <p:cNvGrpSpPr/>
            <p:nvPr/>
          </p:nvGrpSpPr>
          <p:grpSpPr>
            <a:xfrm>
              <a:off x="13476" y="4220"/>
              <a:ext cx="5142" cy="544"/>
              <a:chOff x="13476" y="4220"/>
              <a:chExt cx="4067" cy="518"/>
            </a:xfrm>
          </p:grpSpPr>
          <p:sp>
            <p:nvSpPr>
              <p:cNvPr id="39" name="矩形 38"/>
              <p:cNvSpPr/>
              <p:nvPr/>
            </p:nvSpPr>
            <p:spPr>
              <a:xfrm>
                <a:off x="13476" y="4220"/>
                <a:ext cx="1303"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企业知识</a:t>
                </a:r>
                <a:endParaRPr lang="en-US" altLang="zh-CN" sz="800" b="1" dirty="0">
                  <a:solidFill>
                    <a:schemeClr val="tx1"/>
                  </a:solidFill>
                  <a:latin typeface="微软雅黑" panose="020B0503020204020204" charset="-122"/>
                  <a:ea typeface="微软雅黑" panose="020B0503020204020204" charset="-122"/>
                </a:endParaRPr>
              </a:p>
            </p:txBody>
          </p:sp>
          <p:sp>
            <p:nvSpPr>
              <p:cNvPr id="42" name="矩形 41"/>
              <p:cNvSpPr/>
              <p:nvPr/>
            </p:nvSpPr>
            <p:spPr>
              <a:xfrm>
                <a:off x="14859" y="4220"/>
                <a:ext cx="1303"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条线知识</a:t>
                </a:r>
                <a:endParaRPr lang="en-US" altLang="zh-CN" sz="800" b="1" dirty="0">
                  <a:solidFill>
                    <a:schemeClr val="tx1"/>
                  </a:solidFill>
                  <a:latin typeface="微软雅黑" panose="020B0503020204020204" charset="-122"/>
                  <a:ea typeface="微软雅黑" panose="020B0503020204020204" charset="-122"/>
                </a:endParaRPr>
              </a:p>
            </p:txBody>
          </p:sp>
          <p:sp>
            <p:nvSpPr>
              <p:cNvPr id="43" name="矩形 42"/>
              <p:cNvSpPr/>
              <p:nvPr/>
            </p:nvSpPr>
            <p:spPr>
              <a:xfrm>
                <a:off x="16241" y="4220"/>
                <a:ext cx="1303" cy="519"/>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800" b="1" dirty="0">
                    <a:solidFill>
                      <a:schemeClr val="tx1"/>
                    </a:solidFill>
                    <a:latin typeface="微软雅黑" panose="020B0503020204020204" charset="-122"/>
                    <a:ea typeface="微软雅黑" panose="020B0503020204020204" charset="-122"/>
                  </a:rPr>
                  <a:t>任务知识</a:t>
                </a:r>
                <a:endParaRPr lang="en-US" altLang="zh-CN" sz="800" b="1" dirty="0">
                  <a:solidFill>
                    <a:schemeClr val="tx1"/>
                  </a:solidFill>
                  <a:latin typeface="微软雅黑" panose="020B0503020204020204" charset="-122"/>
                  <a:ea typeface="微软雅黑" panose="020B0503020204020204" charset="-122"/>
                </a:endParaRPr>
              </a:p>
            </p:txBody>
          </p:sp>
        </p:grpSp>
        <p:grpSp>
          <p:nvGrpSpPr>
            <p:cNvPr id="23" name="组合 22"/>
            <p:cNvGrpSpPr/>
            <p:nvPr/>
          </p:nvGrpSpPr>
          <p:grpSpPr>
            <a:xfrm>
              <a:off x="6088" y="7059"/>
              <a:ext cx="6996" cy="1401"/>
              <a:chOff x="6104" y="7059"/>
              <a:chExt cx="6996" cy="1401"/>
            </a:xfrm>
          </p:grpSpPr>
          <p:sp>
            <p:nvSpPr>
              <p:cNvPr id="26" name="圆角矩形 25"/>
              <p:cNvSpPr/>
              <p:nvPr/>
            </p:nvSpPr>
            <p:spPr>
              <a:xfrm>
                <a:off x="6104" y="7059"/>
                <a:ext cx="3472" cy="1364"/>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图谱数据接入</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27" name="圆角矩形 26"/>
              <p:cNvSpPr/>
              <p:nvPr/>
            </p:nvSpPr>
            <p:spPr>
              <a:xfrm>
                <a:off x="6241" y="7389"/>
                <a:ext cx="3198" cy="296"/>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数据接入任务管理</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28" name="圆角矩形 27"/>
              <p:cNvSpPr/>
              <p:nvPr/>
            </p:nvSpPr>
            <p:spPr>
              <a:xfrm>
                <a:off x="6241" y="7720"/>
                <a:ext cx="3198" cy="296"/>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数据映射配置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29" name="圆角矩形 28"/>
              <p:cNvSpPr/>
              <p:nvPr/>
            </p:nvSpPr>
            <p:spPr>
              <a:xfrm>
                <a:off x="6241" y="8046"/>
                <a:ext cx="3198" cy="296"/>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调度策略配置</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 name="圆角矩形 8"/>
              <p:cNvSpPr/>
              <p:nvPr/>
            </p:nvSpPr>
            <p:spPr>
              <a:xfrm>
                <a:off x="9628" y="7060"/>
                <a:ext cx="3472" cy="1401"/>
              </a:xfrm>
              <a:prstGeom prst="roundRect">
                <a:avLst>
                  <a:gd name="adj" fmla="val 0"/>
                </a:avLst>
              </a:prstGeom>
              <a:solidFill>
                <a:srgbClr val="DAE3F3"/>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t" anchorCtr="0" forceAA="0" compatLnSpc="1">
                <a:noAutofit/>
              </a:bodyPr>
              <a:lstStyle/>
              <a:p>
                <a:pPr lvl="0" algn="ctr">
                  <a:buClrTx/>
                  <a:buSzTx/>
                  <a:buFontTx/>
                </a:pPr>
                <a:r>
                  <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rPr>
                  <a:t>图谱构建</a:t>
                </a:r>
                <a:endParaRPr lang="zh-CN" altLang="en-US" sz="10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0" name="圆角矩形 9"/>
              <p:cNvSpPr/>
              <p:nvPr/>
            </p:nvSpPr>
            <p:spPr>
              <a:xfrm>
                <a:off x="9767" y="7389"/>
                <a:ext cx="3198" cy="296"/>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图谱生成</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20" name="圆角矩形 19"/>
              <p:cNvSpPr/>
              <p:nvPr/>
            </p:nvSpPr>
            <p:spPr>
              <a:xfrm>
                <a:off x="9767" y="7720"/>
                <a:ext cx="3198" cy="296"/>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图谱可视化</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21" name="圆角矩形 20"/>
              <p:cNvSpPr/>
              <p:nvPr/>
            </p:nvSpPr>
            <p:spPr>
              <a:xfrm>
                <a:off x="9767" y="8046"/>
                <a:ext cx="3198" cy="296"/>
              </a:xfrm>
              <a:prstGeom prst="roundRect">
                <a:avLst>
                  <a:gd name="adj" fmla="val 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rPr>
                  <a:t>图谱查询与分析</a:t>
                </a:r>
                <a:endParaRPr lang="zh-CN" altLang="en-US" sz="8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sp>
          <p:nvSpPr>
            <p:cNvPr id="48" name="椭圆 47"/>
            <p:cNvSpPr/>
            <p:nvPr/>
          </p:nvSpPr>
          <p:spPr>
            <a:xfrm>
              <a:off x="2057" y="3877"/>
              <a:ext cx="224" cy="224"/>
            </a:xfrm>
            <a:prstGeom prst="ellipse">
              <a:avLst/>
            </a:prstGeom>
            <a:solidFill>
              <a:schemeClr val="accent2">
                <a:lumMod val="20000"/>
                <a:lumOff val="8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9" name="椭圆 48"/>
            <p:cNvSpPr/>
            <p:nvPr/>
          </p:nvSpPr>
          <p:spPr>
            <a:xfrm>
              <a:off x="7601" y="3877"/>
              <a:ext cx="224" cy="224"/>
            </a:xfrm>
            <a:prstGeom prst="ellipse">
              <a:avLst/>
            </a:prstGeom>
            <a:solidFill>
              <a:schemeClr val="accent6">
                <a:lumMod val="20000"/>
                <a:lumOff val="80000"/>
              </a:schemeClr>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1" name="椭圆 50"/>
            <p:cNvSpPr/>
            <p:nvPr/>
          </p:nvSpPr>
          <p:spPr>
            <a:xfrm>
              <a:off x="13862" y="3877"/>
              <a:ext cx="224" cy="224"/>
            </a:xfrm>
            <a:prstGeom prst="ellipse">
              <a:avLst/>
            </a:prstGeom>
            <a:solidFill>
              <a:schemeClr val="accent6">
                <a:lumMod val="20000"/>
                <a:lumOff val="80000"/>
              </a:schemeClr>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2" name="椭圆 51"/>
            <p:cNvSpPr/>
            <p:nvPr/>
          </p:nvSpPr>
          <p:spPr>
            <a:xfrm>
              <a:off x="13484" y="3877"/>
              <a:ext cx="224" cy="224"/>
            </a:xfrm>
            <a:prstGeom prst="ellipse">
              <a:avLst/>
            </a:prstGeom>
            <a:solidFill>
              <a:schemeClr val="bg1">
                <a:lumMod val="75000"/>
              </a:schemeClr>
            </a:solidFill>
            <a:ln>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56" name="椭圆 55"/>
          <p:cNvSpPr/>
          <p:nvPr/>
        </p:nvSpPr>
        <p:spPr>
          <a:xfrm>
            <a:off x="1655445" y="6559550"/>
            <a:ext cx="142240" cy="142240"/>
          </a:xfrm>
          <a:prstGeom prst="ellipse">
            <a:avLst/>
          </a:prstGeom>
          <a:solidFill>
            <a:schemeClr val="accent2">
              <a:lumMod val="20000"/>
              <a:lumOff val="8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8" name="椭圆 57"/>
          <p:cNvSpPr/>
          <p:nvPr/>
        </p:nvSpPr>
        <p:spPr>
          <a:xfrm>
            <a:off x="4406900" y="6566165"/>
            <a:ext cx="142240" cy="135835"/>
          </a:xfrm>
          <a:prstGeom prst="ellipse">
            <a:avLst/>
          </a:prstGeom>
          <a:solidFill>
            <a:schemeClr val="accent6">
              <a:lumMod val="20000"/>
              <a:lumOff val="80000"/>
            </a:schemeClr>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9" name="椭圆 58"/>
          <p:cNvSpPr/>
          <p:nvPr/>
        </p:nvSpPr>
        <p:spPr>
          <a:xfrm>
            <a:off x="8427085" y="6559815"/>
            <a:ext cx="142240" cy="135835"/>
          </a:xfrm>
          <a:prstGeom prst="ellipse">
            <a:avLst/>
          </a:prstGeom>
          <a:solidFill>
            <a:schemeClr val="bg1">
              <a:lumMod val="75000"/>
            </a:schemeClr>
          </a:solidFill>
          <a:ln>
            <a:solidFill>
              <a:schemeClr val="tx1">
                <a:lumMod val="50000"/>
                <a:lumOff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0" name="文本框 59"/>
          <p:cNvSpPr txBox="1"/>
          <p:nvPr/>
        </p:nvSpPr>
        <p:spPr>
          <a:xfrm>
            <a:off x="1905000" y="6516370"/>
            <a:ext cx="1226820" cy="245110"/>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rPr>
              <a:t>元数据标签数据</a:t>
            </a:r>
            <a:endParaRPr lang="zh-CN" altLang="en-US" sz="1000">
              <a:latin typeface="微软雅黑" panose="020B0503020204020204" charset="-122"/>
              <a:ea typeface="微软雅黑" panose="020B0503020204020204" charset="-122"/>
            </a:endParaRPr>
          </a:p>
        </p:txBody>
      </p:sp>
      <p:sp>
        <p:nvSpPr>
          <p:cNvPr id="61" name="文本框 60"/>
          <p:cNvSpPr txBox="1"/>
          <p:nvPr/>
        </p:nvSpPr>
        <p:spPr>
          <a:xfrm>
            <a:off x="4648835" y="6516370"/>
            <a:ext cx="1543050" cy="245110"/>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rPr>
              <a:t>明细实体文档数据</a:t>
            </a:r>
            <a:endParaRPr lang="zh-CN" altLang="en-US" sz="1000">
              <a:latin typeface="微软雅黑" panose="020B0503020204020204" charset="-122"/>
              <a:ea typeface="微软雅黑" panose="020B0503020204020204" charset="-122"/>
            </a:endParaRPr>
          </a:p>
        </p:txBody>
      </p:sp>
      <p:sp>
        <p:nvSpPr>
          <p:cNvPr id="82" name="文本框 81"/>
          <p:cNvSpPr txBox="1"/>
          <p:nvPr/>
        </p:nvSpPr>
        <p:spPr>
          <a:xfrm>
            <a:off x="8666480" y="6516370"/>
            <a:ext cx="1543050" cy="245110"/>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rPr>
              <a:t>类实体文档数据</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什么是语义知识图谱</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5" name="object 4"/>
          <p:cNvGrpSpPr/>
          <p:nvPr/>
        </p:nvGrpSpPr>
        <p:grpSpPr>
          <a:xfrm>
            <a:off x="435957" y="1084065"/>
            <a:ext cx="5087620" cy="516890"/>
            <a:chOff x="670556" y="3785615"/>
            <a:chExt cx="12301524" cy="544417"/>
          </a:xfrm>
        </p:grpSpPr>
        <p:pic>
          <p:nvPicPr>
            <p:cNvPr id="7" name="object 5"/>
            <p:cNvPicPr/>
            <p:nvPr/>
          </p:nvPicPr>
          <p:blipFill>
            <a:blip r:embed="rId1" cstate="print"/>
            <a:stretch>
              <a:fillRect/>
            </a:stretch>
          </p:blipFill>
          <p:spPr>
            <a:xfrm>
              <a:off x="670556" y="3802347"/>
              <a:ext cx="12038424" cy="464880"/>
            </a:xfrm>
            <a:prstGeom prst="rect">
              <a:avLst/>
            </a:prstGeom>
          </p:spPr>
        </p:pic>
        <p:pic>
          <p:nvPicPr>
            <p:cNvPr id="8" name="object 6"/>
            <p:cNvPicPr/>
            <p:nvPr/>
          </p:nvPicPr>
          <p:blipFill>
            <a:blip r:embed="rId2" cstate="print"/>
            <a:stretch>
              <a:fillRect/>
            </a:stretch>
          </p:blipFill>
          <p:spPr>
            <a:xfrm>
              <a:off x="4277867" y="3785615"/>
              <a:ext cx="4344923" cy="544068"/>
            </a:xfrm>
            <a:prstGeom prst="rect">
              <a:avLst/>
            </a:prstGeom>
          </p:spPr>
        </p:pic>
        <p:sp>
          <p:nvSpPr>
            <p:cNvPr id="10" name="object 7"/>
            <p:cNvSpPr/>
            <p:nvPr/>
          </p:nvSpPr>
          <p:spPr>
            <a:xfrm>
              <a:off x="670556" y="3805011"/>
              <a:ext cx="12301524" cy="525021"/>
            </a:xfrm>
            <a:custGeom>
              <a:avLst/>
              <a:gdLst/>
              <a:ahLst/>
              <a:cxnLst/>
              <a:rect l="l" t="t" r="r" b="b"/>
              <a:pathLst>
                <a:path w="11478895" h="390525">
                  <a:moveTo>
                    <a:pt x="11478768" y="0"/>
                  </a:moveTo>
                  <a:lnTo>
                    <a:pt x="0" y="0"/>
                  </a:lnTo>
                  <a:lnTo>
                    <a:pt x="0" y="390144"/>
                  </a:lnTo>
                  <a:lnTo>
                    <a:pt x="11478768" y="390144"/>
                  </a:lnTo>
                  <a:lnTo>
                    <a:pt x="11478768" y="0"/>
                  </a:lnTo>
                  <a:close/>
                </a:path>
              </a:pathLst>
            </a:custGeom>
            <a:solidFill>
              <a:srgbClr val="005FD3"/>
            </a:solidFill>
          </p:spPr>
          <p:txBody>
            <a:bodyPr wrap="square" lIns="0" tIns="0" rIns="0" bIns="0" rtlCol="0" anchor="ctr"/>
            <a:lstStyle/>
            <a:p>
              <a:pPr algn="ctr" defTabSz="931545"/>
              <a:r>
                <a:rPr lang="zh-CN" altLang="en-US" b="1" dirty="0">
                  <a:solidFill>
                    <a:prstClr val="white"/>
                  </a:solidFill>
                  <a:latin typeface="微软雅黑" panose="020B0503020204020204" charset="-122"/>
                  <a:ea typeface="微软雅黑" panose="020B0503020204020204" charset="-122"/>
                </a:rPr>
                <a:t>语义知识图谱：企业级智能的基石</a:t>
              </a:r>
              <a:endParaRPr lang="zh-CN" altLang="en-US" b="1" dirty="0">
                <a:solidFill>
                  <a:prstClr val="white"/>
                </a:solidFill>
                <a:latin typeface="微软雅黑" panose="020B0503020204020204" charset="-122"/>
                <a:ea typeface="微软雅黑" panose="020B0503020204020204" charset="-122"/>
              </a:endParaRPr>
            </a:p>
          </p:txBody>
        </p:sp>
      </p:grpSp>
      <p:sp>
        <p:nvSpPr>
          <p:cNvPr id="11" name="Google Shape;177;p20"/>
          <p:cNvSpPr txBox="1"/>
          <p:nvPr/>
        </p:nvSpPr>
        <p:spPr>
          <a:xfrm>
            <a:off x="436245" y="1749425"/>
            <a:ext cx="5087620" cy="1217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语义知识图谱通过</a:t>
            </a:r>
            <a:r>
              <a:rPr lang="en-US" sz="1650" b="1"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本体论 (Ontology)</a:t>
            </a:r>
            <a:r>
              <a:rPr 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 建模，</a:t>
            </a:r>
            <a:r>
              <a:rPr lang="zh-CN" alt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将企业各类业务语义知识构建图谱，</a:t>
            </a:r>
            <a:r>
              <a:rPr 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为企业构建了一张活的“语义地图”，</a:t>
            </a:r>
            <a:r>
              <a:rPr lang="zh-CN" alt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形成</a:t>
            </a:r>
            <a:r>
              <a:rPr lang="en-US" sz="1650" b="1">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“AI可理解的知识结构”</a:t>
            </a:r>
            <a:r>
              <a:rPr 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a:t>
            </a:r>
            <a:endParaRPr 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endParaRPr>
          </a:p>
        </p:txBody>
      </p:sp>
      <p:sp>
        <p:nvSpPr>
          <p:cNvPr id="12" name="Google Shape;228;p23"/>
          <p:cNvSpPr txBox="1"/>
          <p:nvPr/>
        </p:nvSpPr>
        <p:spPr>
          <a:xfrm>
            <a:off x="6465570" y="1134745"/>
            <a:ext cx="5301615" cy="202057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zh-CN" altLang="en-US"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语义本体构成</a:t>
            </a:r>
            <a:r>
              <a:rPr lang="en-US" altLang="zh-CN"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a:t>
            </a:r>
            <a:endParaRPr lang="en-US" altLang="zh-CN" sz="165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lang="zh-CN" altLang="en-US" sz="1400" b="1" kern="0" noProof="0" dirty="0">
                <a:ln>
                  <a:noFill/>
                </a:ln>
                <a:solidFill>
                  <a:srgbClr val="475569"/>
                </a:solidFill>
                <a:effectLst/>
                <a:uLnTx/>
                <a:uFillTx/>
                <a:latin typeface="微软雅黑" panose="020B0503020204020204" charset="-122"/>
                <a:ea typeface="微软雅黑" panose="020B0503020204020204" charset="-122"/>
                <a:sym typeface="+mn-ea"/>
              </a:rPr>
              <a:t>概念：</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金融业务基本元素</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包括业务对象</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业务场景</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业务活动</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业务术语</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文档知识等</a:t>
            </a:r>
            <a:endParaRPr kumimoji="0" lang="en-US" altLang="zh-CN" sz="1400" b="0" i="0" u="none" strike="noStrike" kern="0" cap="none" spc="0" normalizeH="0" baseline="0" noProof="0" dirty="0">
              <a:ln>
                <a:noFill/>
              </a:ln>
              <a:solidFill>
                <a:srgbClr val="475569"/>
              </a:solidFill>
              <a:effectLst/>
              <a:uLnTx/>
              <a:uFillTx/>
              <a:latin typeface="微软雅黑" panose="020B0503020204020204" charset="-122"/>
              <a:ea typeface="微软雅黑" panose="020B050302020402020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lang="zh-CN" altLang="en-US" sz="1400" b="1" kern="0" noProof="0" dirty="0">
                <a:ln>
                  <a:noFill/>
                </a:ln>
                <a:solidFill>
                  <a:srgbClr val="475569"/>
                </a:solidFill>
                <a:effectLst/>
                <a:uLnTx/>
                <a:uFillTx/>
                <a:latin typeface="微软雅黑" panose="020B0503020204020204" charset="-122"/>
                <a:ea typeface="微软雅黑" panose="020B0503020204020204" charset="-122"/>
                <a:sym typeface="+mn-ea"/>
              </a:rPr>
              <a:t>关系：</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概念之间的联系</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 </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如关联</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涉及</a:t>
            </a:r>
            <a:r>
              <a:rPr lang="en-US" altLang="zh-CN" sz="1400" kern="0" noProof="0" dirty="0">
                <a:ln>
                  <a:noFill/>
                </a:ln>
                <a:solidFill>
                  <a:srgbClr val="475569"/>
                </a:solidFill>
                <a:effectLst/>
                <a:uLnTx/>
                <a:uFillTx/>
                <a:latin typeface="微软雅黑" panose="020B0503020204020204" charset="-122"/>
                <a:ea typeface="微软雅黑" panose="020B0503020204020204" charset="-122"/>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sym typeface="+mn-ea"/>
              </a:rPr>
              <a:t>约束等关联关系</a:t>
            </a:r>
            <a:endParaRPr kumimoji="0" lang="en-US" altLang="zh-CN" sz="1400" b="0" i="0" u="none" strike="noStrike" kern="0" cap="none" spc="0" normalizeH="0" baseline="0" noProof="0" dirty="0">
              <a:ln>
                <a:noFill/>
              </a:ln>
              <a:solidFill>
                <a:srgbClr val="475569"/>
              </a:solidFill>
              <a:effectLst/>
              <a:uLnTx/>
              <a:uFillTx/>
              <a:latin typeface="微软雅黑" panose="020B0503020204020204" charset="-122"/>
              <a:ea typeface="微软雅黑" panose="020B0503020204020204" charset="-122"/>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lang="zh-CN" altLang="zh-CN" sz="1400" b="1" kern="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sym typeface="+mn-ea"/>
              </a:rPr>
              <a:t>属性：</a:t>
            </a:r>
            <a:r>
              <a:rPr lang="zh-CN" altLang="zh-CN" sz="1400" kern="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sym typeface="+mn-ea"/>
              </a:rPr>
              <a:t>概念所具有的特征或性质</a:t>
            </a:r>
            <a:r>
              <a:rPr lang="en-US" altLang="zh-CN" sz="1400" kern="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sym typeface="+mn-ea"/>
              </a:rPr>
              <a:t>，</a:t>
            </a:r>
            <a:r>
              <a:rPr lang="zh-CN" altLang="en-US" sz="1400" kern="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sym typeface="+mn-ea"/>
              </a:rPr>
              <a:t>如文档的元数据信息</a:t>
            </a:r>
            <a:endParaRPr kumimoji="0" lang="en-US" altLang="zh-CN" sz="1400" b="0" i="0" u="none" strike="noStrike" kern="0" cap="none" spc="0" normalizeH="0" baseline="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lang="zh-CN" altLang="zh-CN" sz="1400" b="1" kern="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sym typeface="+mn-ea"/>
              </a:rPr>
              <a:t>规则：</a:t>
            </a:r>
            <a:r>
              <a:rPr lang="zh-CN" altLang="zh-CN" sz="1400" kern="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sym typeface="+mn-ea"/>
              </a:rPr>
              <a:t>金融业务领域内的业务规则和约束条件</a:t>
            </a:r>
            <a:endParaRPr kumimoji="0" lang="zh-CN" altLang="zh-CN" sz="1400" b="0" i="0" u="none" strike="noStrike" kern="0" cap="none" spc="0" normalizeH="0" baseline="0" noProof="0" dirty="0">
              <a:ln>
                <a:noFill/>
              </a:ln>
              <a:solidFill>
                <a:srgbClr val="475569"/>
              </a:solidFill>
              <a:effectLst/>
              <a:uLnTx/>
              <a:uFillTx/>
              <a:latin typeface="微软雅黑" panose="020B0503020204020204" charset="-122"/>
              <a:ea typeface="微软雅黑" panose="020B0503020204020204" charset="-122"/>
              <a:cs typeface="Times New Roman" panose="02020503050405090304" pitchFamily="18" charset="0"/>
              <a:sym typeface="+mn-ea"/>
            </a:endParaRPr>
          </a:p>
        </p:txBody>
      </p:sp>
      <p:sp>
        <p:nvSpPr>
          <p:cNvPr id="13" name="Google Shape;229;p23"/>
          <p:cNvSpPr txBox="1"/>
          <p:nvPr/>
        </p:nvSpPr>
        <p:spPr>
          <a:xfrm>
            <a:off x="6465570" y="3231515"/>
            <a:ext cx="5215255" cy="587375"/>
          </a:xfrm>
          <a:prstGeom prst="rect">
            <a:avLst/>
          </a:prstGeom>
          <a:noFill/>
          <a:ln>
            <a:noFill/>
          </a:ln>
        </p:spPr>
        <p:txBody>
          <a:bodyPr spcFirstLastPara="1" wrap="square" lIns="0" tIns="0" rIns="0" bIns="0" anchor="t" anchorCtr="0">
            <a:noAutofit/>
          </a:bodyPr>
          <a:lstStyle/>
          <a:p>
            <a:pPr marR="0" lvl="0" indent="0" algn="l" rtl="0" fontAlgn="auto">
              <a:lnSpc>
                <a:spcPct val="150000"/>
              </a:lnSpc>
              <a:spcBef>
                <a:spcPts val="0"/>
              </a:spcBef>
              <a:spcAft>
                <a:spcPts val="0"/>
              </a:spcAft>
              <a:buNone/>
            </a:pPr>
            <a:r>
              <a:rPr lang="en-US" sz="160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rPr>
              <a:t>通过语义知识图谱，企业可以将散落在各处的孤岛连接成统一的“中央神经系统”，从而实现：</a:t>
            </a:r>
            <a:endParaRPr lang="en-US" sz="1600" b="0" i="0" u="none" strike="noStrike" cap="none">
              <a:solidFill>
                <a:srgbClr val="475569"/>
              </a:solidFill>
              <a:latin typeface="微软雅黑" panose="020B0503020204020204" charset="-122"/>
              <a:ea typeface="微软雅黑" panose="020B0503020204020204" charset="-122"/>
              <a:cs typeface="微软雅黑" panose="020B0503020204020204" charset="-122"/>
              <a:sym typeface="Inter" panose="02000503000000020004"/>
            </a:endParaRPr>
          </a:p>
        </p:txBody>
      </p:sp>
      <p:grpSp>
        <p:nvGrpSpPr>
          <p:cNvPr id="31" name="组合 30"/>
          <p:cNvGrpSpPr/>
          <p:nvPr/>
        </p:nvGrpSpPr>
        <p:grpSpPr>
          <a:xfrm>
            <a:off x="6276340" y="4048125"/>
            <a:ext cx="5489575" cy="2320925"/>
            <a:chOff x="9633" y="5229"/>
            <a:chExt cx="8810" cy="4896"/>
          </a:xfrm>
        </p:grpSpPr>
        <p:pic>
          <p:nvPicPr>
            <p:cNvPr id="15" name="图片 14"/>
            <p:cNvPicPr>
              <a:picLocks noChangeAspect="1"/>
            </p:cNvPicPr>
            <p:nvPr/>
          </p:nvPicPr>
          <p:blipFill>
            <a:blip r:embed="rId3"/>
            <a:stretch>
              <a:fillRect/>
            </a:stretch>
          </p:blipFill>
          <p:spPr>
            <a:xfrm>
              <a:off x="9633" y="5229"/>
              <a:ext cx="4610" cy="4896"/>
            </a:xfrm>
            <a:prstGeom prst="rect">
              <a:avLst/>
            </a:prstGeom>
          </p:spPr>
        </p:pic>
        <p:sp>
          <p:nvSpPr>
            <p:cNvPr id="16" name="Rounded Rectangle 10"/>
            <p:cNvSpPr/>
            <p:nvPr/>
          </p:nvSpPr>
          <p:spPr>
            <a:xfrm>
              <a:off x="14809" y="5401"/>
              <a:ext cx="3635" cy="906"/>
            </a:xfrm>
            <a:prstGeom prst="roundRect">
              <a:avLst/>
            </a:prstGeom>
            <a:solidFill>
              <a:srgbClr val="1F71FF"/>
            </a:solidFill>
            <a:ln>
              <a:noFill/>
            </a:ln>
          </p:spPr>
          <p:style>
            <a:lnRef idx="2">
              <a:srgbClr val="0046F6">
                <a:shade val="50000"/>
              </a:srgbClr>
            </a:lnRef>
            <a:fillRef idx="1">
              <a:srgbClr val="0046F6"/>
            </a:fillRef>
            <a:effectRef idx="0">
              <a:srgbClr val="0046F6"/>
            </a:effectRef>
            <a:fontRef idx="minor">
              <a:srgbClr val="FFFFFF"/>
            </a:fontRef>
          </p:style>
          <p:txBody>
            <a:bodyPr rtlCol="0" anchor="ctr"/>
            <a:lstStyle/>
            <a:p>
              <a:pPr algn="l">
                <a:lnSpc>
                  <a:spcPct val="90000"/>
                </a:lnSpc>
              </a:pPr>
              <a:r>
                <a:rPr lang="zh-CN" altLang="en-US"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赋能具备复杂规划能力的</a:t>
              </a:r>
              <a:r>
                <a:rPr lang="en-US" altLang="zh-CN"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AI</a:t>
              </a:r>
              <a:r>
                <a:rPr lang="zh-CN" altLang="en-US"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智能体</a:t>
              </a:r>
              <a:endParaRPr lang="zh-CN" altLang="en-US"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17" name="Rounded Rectangle 11"/>
            <p:cNvSpPr/>
            <p:nvPr>
              <p:custDataLst>
                <p:tags r:id="rId4"/>
              </p:custDataLst>
            </p:nvPr>
          </p:nvSpPr>
          <p:spPr>
            <a:xfrm>
              <a:off x="14809" y="6918"/>
              <a:ext cx="3635" cy="785"/>
            </a:xfrm>
            <a:prstGeom prst="roundRect">
              <a:avLst/>
            </a:prstGeom>
            <a:solidFill>
              <a:srgbClr val="1F71FF"/>
            </a:solidFill>
            <a:ln>
              <a:noFill/>
            </a:ln>
          </p:spPr>
          <p:style>
            <a:lnRef idx="2">
              <a:srgbClr val="0046F6">
                <a:shade val="50000"/>
              </a:srgbClr>
            </a:lnRef>
            <a:fillRef idx="1">
              <a:srgbClr val="0046F6"/>
            </a:fillRef>
            <a:effectRef idx="0">
              <a:srgbClr val="0046F6"/>
            </a:effectRef>
            <a:fontRef idx="minor">
              <a:srgbClr val="FFFFFF"/>
            </a:fontRef>
          </p:style>
          <p:txBody>
            <a:bodyPr rtlCol="0" anchor="ctr"/>
            <a:lstStyle/>
            <a:p>
              <a:pPr algn="l">
                <a:lnSpc>
                  <a:spcPct val="90000"/>
                </a:lnSpc>
                <a:buClrTx/>
                <a:buSzTx/>
                <a:buFontTx/>
              </a:pPr>
              <a:r>
                <a:rPr lang="zh-CN" altLang="en-US"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rPr>
                <a:t>从检索相似到精准推理的跨越</a:t>
              </a:r>
              <a:endParaRPr lang="zh-CN" altLang="en-US"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8" name="Rounded Rectangle 12"/>
            <p:cNvSpPr/>
            <p:nvPr>
              <p:custDataLst>
                <p:tags r:id="rId5"/>
              </p:custDataLst>
            </p:nvPr>
          </p:nvSpPr>
          <p:spPr>
            <a:xfrm>
              <a:off x="14809" y="8489"/>
              <a:ext cx="3635" cy="785"/>
            </a:xfrm>
            <a:prstGeom prst="roundRect">
              <a:avLst/>
            </a:prstGeom>
            <a:solidFill>
              <a:srgbClr val="1F71FF"/>
            </a:solidFill>
            <a:ln>
              <a:noFill/>
            </a:ln>
          </p:spPr>
          <p:style>
            <a:lnRef idx="2">
              <a:srgbClr val="0046F6">
                <a:shade val="50000"/>
              </a:srgbClr>
            </a:lnRef>
            <a:fillRef idx="1">
              <a:srgbClr val="0046F6"/>
            </a:fillRef>
            <a:effectRef idx="0">
              <a:srgbClr val="0046F6"/>
            </a:effectRef>
            <a:fontRef idx="minor">
              <a:srgbClr val="FFFFFF"/>
            </a:fontRef>
          </p:style>
          <p:txBody>
            <a:bodyPr rtlCol="0" anchor="ctr"/>
            <a:lstStyle/>
            <a:p>
              <a:pPr algn="l">
                <a:lnSpc>
                  <a:spcPct val="90000"/>
                </a:lnSpc>
                <a:buClrTx/>
                <a:buSzTx/>
                <a:buFontTx/>
              </a:pPr>
              <a:r>
                <a:rPr lang="zh-CN" altLang="en-US"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rPr>
                <a:t>沉淀可审计、可进化的企业知识资产</a:t>
              </a:r>
              <a:endParaRPr lang="zh-CN" altLang="en-US" sz="1200" b="1" kern="0" spc="400" dirty="0">
                <a:solidFill>
                  <a:srgbClr val="FFFFFF"/>
                </a:solidFill>
                <a:effectLst>
                  <a:glow rad="63500">
                    <a:srgbClr val="2A25FF">
                      <a:satMod val="175000"/>
                      <a:alpha val="40000"/>
                    </a:srgb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9" name="右箭头 18"/>
            <p:cNvSpPr/>
            <p:nvPr/>
          </p:nvSpPr>
          <p:spPr>
            <a:xfrm>
              <a:off x="12709" y="5650"/>
              <a:ext cx="1736" cy="408"/>
            </a:xfrm>
            <a:prstGeom prst="rightArrow">
              <a:avLst/>
            </a:prstGeom>
            <a:gradFill>
              <a:gsLst>
                <a:gs pos="0">
                  <a:srgbClr val="1F71FF">
                    <a:alpha val="0"/>
                  </a:srgbClr>
                </a:gs>
                <a:gs pos="100000">
                  <a:srgbClr val="1F71FF">
                    <a:alpha val="50000"/>
                  </a:srgbClr>
                </a:gs>
              </a:gsLst>
              <a:lin ang="0" scaled="0"/>
            </a:gradFill>
            <a:ln w="12700" cap="flat" cmpd="sng" algn="ctr">
              <a:gradFill>
                <a:gsLst>
                  <a:gs pos="0">
                    <a:srgbClr val="1F71FF">
                      <a:alpha val="0"/>
                    </a:srgbClr>
                  </a:gs>
                  <a:gs pos="100000">
                    <a:srgbClr val="1F71FF">
                      <a:alpha val="50000"/>
                    </a:srgbClr>
                  </a:gs>
                </a:gsLst>
                <a:lin ang="0" scaled="0"/>
              </a:gradFill>
              <a:prstDash val="solid"/>
              <a:miter lim="800000"/>
            </a:ln>
            <a:effectLst/>
          </p:spPr>
          <p:txBody>
            <a:bodyPr rtlCol="0" anchor="ctr">
              <a:noAutofit/>
            </a:bodyPr>
            <a:lstStyle/>
            <a:p>
              <a:pPr lvl="0" algn="ctr">
                <a:buClrTx/>
                <a:buSzTx/>
                <a:buFontTx/>
              </a:pPr>
              <a:endParaRPr lang="zh-CN" altLang="en-US" sz="1600" kern="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20" name="右箭头 19"/>
            <p:cNvSpPr/>
            <p:nvPr>
              <p:custDataLst>
                <p:tags r:id="rId6"/>
              </p:custDataLst>
            </p:nvPr>
          </p:nvSpPr>
          <p:spPr>
            <a:xfrm>
              <a:off x="13333" y="7106"/>
              <a:ext cx="1112" cy="408"/>
            </a:xfrm>
            <a:prstGeom prst="rightArrow">
              <a:avLst/>
            </a:prstGeom>
            <a:gradFill>
              <a:gsLst>
                <a:gs pos="0">
                  <a:srgbClr val="1F71FF">
                    <a:alpha val="0"/>
                  </a:srgbClr>
                </a:gs>
                <a:gs pos="100000">
                  <a:srgbClr val="1F71FF">
                    <a:alpha val="50000"/>
                  </a:srgbClr>
                </a:gs>
              </a:gsLst>
              <a:lin ang="0" scaled="0"/>
            </a:gradFill>
            <a:ln w="12700" cap="flat" cmpd="sng" algn="ctr">
              <a:gradFill>
                <a:gsLst>
                  <a:gs pos="0">
                    <a:srgbClr val="1F71FF">
                      <a:alpha val="0"/>
                    </a:srgbClr>
                  </a:gs>
                  <a:gs pos="100000">
                    <a:srgbClr val="1F71FF">
                      <a:alpha val="50000"/>
                    </a:srgbClr>
                  </a:gs>
                </a:gsLst>
                <a:lin ang="0" scaled="0"/>
              </a:gradFill>
              <a:prstDash val="solid"/>
              <a:miter lim="800000"/>
            </a:ln>
            <a:effectLst/>
          </p:spPr>
          <p:txBody>
            <a:bodyPr rtlCol="0" anchor="ctr">
              <a:noAutofit/>
            </a:bodyPr>
            <a:lstStyle/>
            <a:p>
              <a:pPr lvl="0" algn="ctr">
                <a:buClrTx/>
                <a:buSzTx/>
                <a:buFontTx/>
              </a:pPr>
              <a:endParaRPr lang="zh-CN" altLang="en-US" sz="1600" kern="0">
                <a:solidFill>
                  <a:prstClr val="white"/>
                </a:solidFill>
                <a:latin typeface="微软雅黑" panose="020B0503020204020204" charset="-122"/>
                <a:ea typeface="微软雅黑" panose="020B0503020204020204" charset="-122"/>
                <a:sym typeface="微软雅黑" panose="020B0503020204020204" charset="-122"/>
              </a:endParaRPr>
            </a:p>
          </p:txBody>
        </p:sp>
        <p:sp>
          <p:nvSpPr>
            <p:cNvPr id="21" name="右箭头 20"/>
            <p:cNvSpPr/>
            <p:nvPr>
              <p:custDataLst>
                <p:tags r:id="rId7"/>
              </p:custDataLst>
            </p:nvPr>
          </p:nvSpPr>
          <p:spPr>
            <a:xfrm>
              <a:off x="13563" y="8588"/>
              <a:ext cx="1010" cy="408"/>
            </a:xfrm>
            <a:prstGeom prst="rightArrow">
              <a:avLst/>
            </a:prstGeom>
            <a:gradFill>
              <a:gsLst>
                <a:gs pos="0">
                  <a:srgbClr val="1F71FF">
                    <a:alpha val="0"/>
                  </a:srgbClr>
                </a:gs>
                <a:gs pos="100000">
                  <a:srgbClr val="1F71FF">
                    <a:alpha val="50000"/>
                  </a:srgbClr>
                </a:gs>
              </a:gsLst>
              <a:lin ang="0" scaled="0"/>
            </a:gradFill>
            <a:ln w="12700" cap="flat" cmpd="sng" algn="ctr">
              <a:gradFill>
                <a:gsLst>
                  <a:gs pos="0">
                    <a:srgbClr val="1F71FF">
                      <a:alpha val="0"/>
                    </a:srgbClr>
                  </a:gs>
                  <a:gs pos="100000">
                    <a:srgbClr val="1F71FF">
                      <a:alpha val="50000"/>
                    </a:srgbClr>
                  </a:gs>
                </a:gsLst>
                <a:lin ang="0" scaled="0"/>
              </a:gradFill>
              <a:prstDash val="solid"/>
              <a:miter lim="800000"/>
            </a:ln>
            <a:effectLst/>
          </p:spPr>
          <p:txBody>
            <a:bodyPr rtlCol="0" anchor="ctr">
              <a:noAutofit/>
            </a:bodyPr>
            <a:lstStyle/>
            <a:p>
              <a:pPr lvl="0" algn="ctr">
                <a:buClrTx/>
                <a:buSzTx/>
                <a:buFontTx/>
              </a:pPr>
              <a:endParaRPr lang="zh-CN" altLang="en-US" sz="1600" kern="0">
                <a:solidFill>
                  <a:prstClr val="white"/>
                </a:solidFill>
                <a:latin typeface="微软雅黑" panose="020B0503020204020204" charset="-122"/>
                <a:ea typeface="微软雅黑" panose="020B0503020204020204" charset="-122"/>
                <a:sym typeface="微软雅黑" panose="020B0503020204020204" charset="-122"/>
              </a:endParaRPr>
            </a:p>
          </p:txBody>
        </p:sp>
      </p:grpSp>
      <p:grpSp>
        <p:nvGrpSpPr>
          <p:cNvPr id="43" name="组合 42"/>
          <p:cNvGrpSpPr/>
          <p:nvPr/>
        </p:nvGrpSpPr>
        <p:grpSpPr>
          <a:xfrm>
            <a:off x="477520" y="3235960"/>
            <a:ext cx="5046345" cy="3020060"/>
            <a:chOff x="998" y="3031"/>
            <a:chExt cx="11179" cy="6787"/>
          </a:xfrm>
        </p:grpSpPr>
        <p:sp>
          <p:nvSpPr>
            <p:cNvPr id="6" name="圆角矩形 5"/>
            <p:cNvSpPr/>
            <p:nvPr/>
          </p:nvSpPr>
          <p:spPr>
            <a:xfrm>
              <a:off x="4828" y="5697"/>
              <a:ext cx="3393" cy="1476"/>
            </a:xfrm>
            <a:prstGeom prst="roundRect">
              <a:avLst>
                <a:gd name="adj" fmla="val 0"/>
              </a:avLst>
            </a:prstGeom>
            <a:solidFill>
              <a:srgbClr val="0052FF"/>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cs typeface="微软雅黑" panose="020B0503020204020204" charset="-122"/>
                </a:rPr>
                <a:t>语义知识图谱</a:t>
              </a:r>
              <a:endParaRPr lang="zh-CN" altLang="en-US" sz="1000">
                <a:latin typeface="微软雅黑" panose="020B0503020204020204" charset="-122"/>
                <a:ea typeface="微软雅黑" panose="020B0503020204020204" charset="-122"/>
                <a:cs typeface="微软雅黑" panose="020B0503020204020204" charset="-122"/>
              </a:endParaRPr>
            </a:p>
            <a:p>
              <a:pPr algn="ctr"/>
              <a:r>
                <a:rPr lang="zh-CN" altLang="en-US" sz="1000">
                  <a:latin typeface="微软雅黑" panose="020B0503020204020204" charset="-122"/>
                  <a:ea typeface="微软雅黑" panose="020B0503020204020204" charset="-122"/>
                  <a:cs typeface="微软雅黑" panose="020B0503020204020204" charset="-122"/>
                </a:rPr>
                <a:t>(</a:t>
              </a:r>
              <a:r>
                <a:rPr lang="en-US" altLang="zh-CN" sz="1000">
                  <a:latin typeface="微软雅黑" panose="020B0503020204020204" charset="-122"/>
                  <a:ea typeface="微软雅黑" panose="020B0503020204020204" charset="-122"/>
                  <a:cs typeface="微软雅黑" panose="020B0503020204020204" charset="-122"/>
                </a:rPr>
                <a:t>Enterprise KG Core)</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23" name="圆角矩形 22"/>
            <p:cNvSpPr/>
            <p:nvPr/>
          </p:nvSpPr>
          <p:spPr>
            <a:xfrm>
              <a:off x="4951" y="3031"/>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业务活动</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端到端业务流程与操作步骤</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p:nvPr/>
          </p:nvSpPr>
          <p:spPr>
            <a:xfrm>
              <a:off x="9033" y="5556"/>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业务术语</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概念定义、分类体系与标准</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5" name="圆角矩形 24"/>
            <p:cNvSpPr/>
            <p:nvPr/>
          </p:nvSpPr>
          <p:spPr>
            <a:xfrm>
              <a:off x="9033" y="7105"/>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文档与知识</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业务手册、报告与制度文档</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6" name="圆角矩形 25"/>
            <p:cNvSpPr/>
            <p:nvPr/>
          </p:nvSpPr>
          <p:spPr>
            <a:xfrm>
              <a:off x="3449" y="8600"/>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数据资产</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表结构、</a:t>
              </a:r>
              <a:r>
                <a:rPr lang="en-US" altLang="zh-CN" sz="800">
                  <a:solidFill>
                    <a:schemeClr val="tx1"/>
                  </a:solidFill>
                  <a:latin typeface="微软雅黑" panose="020B0503020204020204" charset="-122"/>
                  <a:ea typeface="微软雅黑" panose="020B0503020204020204" charset="-122"/>
                  <a:cs typeface="微软雅黑" panose="020B0503020204020204" charset="-122"/>
                </a:rPr>
                <a:t>API、</a:t>
              </a:r>
              <a:r>
                <a:rPr lang="zh-CN" altLang="en-US" sz="800">
                  <a:solidFill>
                    <a:schemeClr val="tx1"/>
                  </a:solidFill>
                  <a:latin typeface="微软雅黑" panose="020B0503020204020204" charset="-122"/>
                  <a:ea typeface="微软雅黑" panose="020B0503020204020204" charset="-122"/>
                  <a:cs typeface="微软雅黑" panose="020B0503020204020204" charset="-122"/>
                </a:rPr>
                <a:t>数据库与指标</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7" name="圆角矩形 26"/>
            <p:cNvSpPr/>
            <p:nvPr/>
          </p:nvSpPr>
          <p:spPr>
            <a:xfrm>
              <a:off x="1016" y="5623"/>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业务规则</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合规要求、审批流与风控条件</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p:nvPr/>
          </p:nvSpPr>
          <p:spPr>
            <a:xfrm>
              <a:off x="998" y="7176"/>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指标与度量</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en-US" altLang="zh-CN" sz="800">
                  <a:solidFill>
                    <a:schemeClr val="tx1"/>
                  </a:solidFill>
                  <a:latin typeface="微软雅黑" panose="020B0503020204020204" charset="-122"/>
                  <a:ea typeface="微软雅黑" panose="020B0503020204020204" charset="-122"/>
                  <a:cs typeface="微软雅黑" panose="020B0503020204020204" charset="-122"/>
                </a:rPr>
                <a:t>KPI</a:t>
              </a:r>
              <a:r>
                <a:rPr lang="zh-CN" altLang="en-US" sz="800">
                  <a:solidFill>
                    <a:schemeClr val="tx1"/>
                  </a:solidFill>
                  <a:latin typeface="微软雅黑" panose="020B0503020204020204" charset="-122"/>
                  <a:ea typeface="微软雅黑" panose="020B0503020204020204" charset="-122"/>
                  <a:cs typeface="微软雅黑" panose="020B0503020204020204" charset="-122"/>
                </a:rPr>
                <a:t>体系、报表与统计口径</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p:nvPr/>
          </p:nvSpPr>
          <p:spPr>
            <a:xfrm>
              <a:off x="8467" y="3925"/>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业务对象</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产品、机构、组织与客户实体</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2" name="圆角矩形 31"/>
            <p:cNvSpPr/>
            <p:nvPr/>
          </p:nvSpPr>
          <p:spPr>
            <a:xfrm>
              <a:off x="1435" y="3943"/>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业务场景</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所属业务场景分类</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3" name="圆角矩形 32"/>
            <p:cNvSpPr/>
            <p:nvPr/>
          </p:nvSpPr>
          <p:spPr>
            <a:xfrm>
              <a:off x="7213" y="8654"/>
              <a:ext cx="3144" cy="1164"/>
            </a:xfrm>
            <a:prstGeom prst="roundRect">
              <a:avLst>
                <a:gd name="adj" fmla="val 0"/>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cs typeface="微软雅黑" panose="020B0503020204020204" charset="-122"/>
                </a:rPr>
                <a:t>专题知识图谱</a:t>
              </a:r>
              <a:endParaRPr lang="zh-CN" altLang="en-US" sz="10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tx1"/>
                  </a:solidFill>
                  <a:latin typeface="微软雅黑" panose="020B0503020204020204" charset="-122"/>
                  <a:ea typeface="微软雅黑" panose="020B0503020204020204" charset="-122"/>
                  <a:cs typeface="微软雅黑" panose="020B0503020204020204" charset="-122"/>
                </a:rPr>
                <a:t>基于明细专题的知识图谱</a:t>
              </a:r>
              <a:endParaRPr lang="zh-CN" altLang="en-US" sz="800">
                <a:solidFill>
                  <a:schemeClr val="tx1"/>
                </a:solidFill>
                <a:latin typeface="微软雅黑" panose="020B0503020204020204" charset="-122"/>
                <a:ea typeface="微软雅黑" panose="020B0503020204020204" charset="-122"/>
                <a:cs typeface="微软雅黑" panose="020B0503020204020204" charset="-122"/>
              </a:endParaRPr>
            </a:p>
          </p:txBody>
        </p:sp>
        <p:cxnSp>
          <p:nvCxnSpPr>
            <p:cNvPr id="34" name="直接连接符 33"/>
            <p:cNvCxnSpPr>
              <a:stCxn id="23" idx="2"/>
              <a:endCxn id="6" idx="0"/>
            </p:cNvCxnSpPr>
            <p:nvPr/>
          </p:nvCxnSpPr>
          <p:spPr>
            <a:xfrm>
              <a:off x="6523" y="4195"/>
              <a:ext cx="2" cy="1502"/>
            </a:xfrm>
            <a:prstGeom prst="line">
              <a:avLst/>
            </a:prstGeom>
          </p:spPr>
          <p:style>
            <a:lnRef idx="2">
              <a:schemeClr val="accent1"/>
            </a:lnRef>
            <a:fillRef idx="0">
              <a:srgbClr val="FFFFFF"/>
            </a:fillRef>
            <a:effectRef idx="0">
              <a:srgbClr val="FFFFFF"/>
            </a:effectRef>
            <a:fontRef idx="minor">
              <a:schemeClr val="tx1"/>
            </a:fontRef>
          </p:style>
        </p:cxnSp>
        <p:cxnSp>
          <p:nvCxnSpPr>
            <p:cNvPr id="35" name="直接连接符 34"/>
            <p:cNvCxnSpPr>
              <a:stCxn id="32" idx="3"/>
              <a:endCxn id="6" idx="0"/>
            </p:cNvCxnSpPr>
            <p:nvPr/>
          </p:nvCxnSpPr>
          <p:spPr>
            <a:xfrm>
              <a:off x="4579" y="4525"/>
              <a:ext cx="1946" cy="1172"/>
            </a:xfrm>
            <a:prstGeom prst="line">
              <a:avLst/>
            </a:prstGeom>
          </p:spPr>
          <p:style>
            <a:lnRef idx="2">
              <a:schemeClr val="accent1"/>
            </a:lnRef>
            <a:fillRef idx="0">
              <a:srgbClr val="FFFFFF"/>
            </a:fillRef>
            <a:effectRef idx="0">
              <a:srgbClr val="FFFFFF"/>
            </a:effectRef>
            <a:fontRef idx="minor">
              <a:schemeClr val="tx1"/>
            </a:fontRef>
          </p:style>
        </p:cxnSp>
        <p:cxnSp>
          <p:nvCxnSpPr>
            <p:cNvPr id="36" name="直接连接符 35"/>
            <p:cNvCxnSpPr>
              <a:stCxn id="29" idx="1"/>
              <a:endCxn id="6" idx="0"/>
            </p:cNvCxnSpPr>
            <p:nvPr/>
          </p:nvCxnSpPr>
          <p:spPr>
            <a:xfrm flipH="1">
              <a:off x="6525" y="4507"/>
              <a:ext cx="1942" cy="1190"/>
            </a:xfrm>
            <a:prstGeom prst="line">
              <a:avLst/>
            </a:prstGeom>
          </p:spPr>
          <p:style>
            <a:lnRef idx="2">
              <a:schemeClr val="accent1"/>
            </a:lnRef>
            <a:fillRef idx="0">
              <a:srgbClr val="FFFFFF"/>
            </a:fillRef>
            <a:effectRef idx="0">
              <a:srgbClr val="FFFFFF"/>
            </a:effectRef>
            <a:fontRef idx="minor">
              <a:schemeClr val="tx1"/>
            </a:fontRef>
          </p:style>
        </p:cxnSp>
        <p:cxnSp>
          <p:nvCxnSpPr>
            <p:cNvPr id="37" name="直接连接符 36"/>
            <p:cNvCxnSpPr>
              <a:stCxn id="27" idx="3"/>
              <a:endCxn id="6" idx="1"/>
            </p:cNvCxnSpPr>
            <p:nvPr/>
          </p:nvCxnSpPr>
          <p:spPr>
            <a:xfrm>
              <a:off x="4160" y="6205"/>
              <a:ext cx="668" cy="230"/>
            </a:xfrm>
            <a:prstGeom prst="line">
              <a:avLst/>
            </a:prstGeom>
          </p:spPr>
          <p:style>
            <a:lnRef idx="2">
              <a:schemeClr val="accent1"/>
            </a:lnRef>
            <a:fillRef idx="0">
              <a:srgbClr val="FFFFFF"/>
            </a:fillRef>
            <a:effectRef idx="0">
              <a:srgbClr val="FFFFFF"/>
            </a:effectRef>
            <a:fontRef idx="minor">
              <a:schemeClr val="tx1"/>
            </a:fontRef>
          </p:style>
        </p:cxnSp>
        <p:cxnSp>
          <p:nvCxnSpPr>
            <p:cNvPr id="38" name="直接连接符 37"/>
            <p:cNvCxnSpPr>
              <a:stCxn id="28" idx="3"/>
              <a:endCxn id="6" idx="1"/>
            </p:cNvCxnSpPr>
            <p:nvPr/>
          </p:nvCxnSpPr>
          <p:spPr>
            <a:xfrm flipV="1">
              <a:off x="4142" y="6435"/>
              <a:ext cx="686" cy="1323"/>
            </a:xfrm>
            <a:prstGeom prst="line">
              <a:avLst/>
            </a:prstGeom>
          </p:spPr>
          <p:style>
            <a:lnRef idx="2">
              <a:schemeClr val="accent1"/>
            </a:lnRef>
            <a:fillRef idx="0">
              <a:srgbClr val="FFFFFF"/>
            </a:fillRef>
            <a:effectRef idx="0">
              <a:srgbClr val="FFFFFF"/>
            </a:effectRef>
            <a:fontRef idx="minor">
              <a:schemeClr val="tx1"/>
            </a:fontRef>
          </p:style>
        </p:cxnSp>
        <p:cxnSp>
          <p:nvCxnSpPr>
            <p:cNvPr id="39" name="直接连接符 38"/>
            <p:cNvCxnSpPr>
              <a:stCxn id="26" idx="0"/>
              <a:endCxn id="6" idx="2"/>
            </p:cNvCxnSpPr>
            <p:nvPr/>
          </p:nvCxnSpPr>
          <p:spPr>
            <a:xfrm flipV="1">
              <a:off x="5021" y="7173"/>
              <a:ext cx="1504" cy="1427"/>
            </a:xfrm>
            <a:prstGeom prst="line">
              <a:avLst/>
            </a:prstGeom>
          </p:spPr>
          <p:style>
            <a:lnRef idx="2">
              <a:schemeClr val="accent1"/>
            </a:lnRef>
            <a:fillRef idx="0">
              <a:srgbClr val="FFFFFF"/>
            </a:fillRef>
            <a:effectRef idx="0">
              <a:srgbClr val="FFFFFF"/>
            </a:effectRef>
            <a:fontRef idx="minor">
              <a:schemeClr val="tx1"/>
            </a:fontRef>
          </p:style>
        </p:cxnSp>
        <p:cxnSp>
          <p:nvCxnSpPr>
            <p:cNvPr id="40" name="直接连接符 39"/>
            <p:cNvCxnSpPr>
              <a:stCxn id="33" idx="0"/>
              <a:endCxn id="6" idx="2"/>
            </p:cNvCxnSpPr>
            <p:nvPr/>
          </p:nvCxnSpPr>
          <p:spPr>
            <a:xfrm flipH="1" flipV="1">
              <a:off x="6525" y="7173"/>
              <a:ext cx="2260" cy="1481"/>
            </a:xfrm>
            <a:prstGeom prst="line">
              <a:avLst/>
            </a:prstGeom>
          </p:spPr>
          <p:style>
            <a:lnRef idx="2">
              <a:schemeClr val="accent1"/>
            </a:lnRef>
            <a:fillRef idx="0">
              <a:srgbClr val="FFFFFF"/>
            </a:fillRef>
            <a:effectRef idx="0">
              <a:srgbClr val="FFFFFF"/>
            </a:effectRef>
            <a:fontRef idx="minor">
              <a:schemeClr val="tx1"/>
            </a:fontRef>
          </p:style>
        </p:cxnSp>
        <p:cxnSp>
          <p:nvCxnSpPr>
            <p:cNvPr id="41" name="直接连接符 40"/>
            <p:cNvCxnSpPr>
              <a:stCxn id="24" idx="1"/>
              <a:endCxn id="6" idx="3"/>
            </p:cNvCxnSpPr>
            <p:nvPr/>
          </p:nvCxnSpPr>
          <p:spPr>
            <a:xfrm flipH="1">
              <a:off x="8221" y="6138"/>
              <a:ext cx="812" cy="297"/>
            </a:xfrm>
            <a:prstGeom prst="line">
              <a:avLst/>
            </a:prstGeom>
          </p:spPr>
          <p:style>
            <a:lnRef idx="2">
              <a:schemeClr val="accent1"/>
            </a:lnRef>
            <a:fillRef idx="0">
              <a:srgbClr val="FFFFFF"/>
            </a:fillRef>
            <a:effectRef idx="0">
              <a:srgbClr val="FFFFFF"/>
            </a:effectRef>
            <a:fontRef idx="minor">
              <a:schemeClr val="tx1"/>
            </a:fontRef>
          </p:style>
        </p:cxnSp>
        <p:cxnSp>
          <p:nvCxnSpPr>
            <p:cNvPr id="42" name="直接连接符 41"/>
            <p:cNvCxnSpPr>
              <a:stCxn id="25" idx="1"/>
              <a:endCxn id="6" idx="3"/>
            </p:cNvCxnSpPr>
            <p:nvPr/>
          </p:nvCxnSpPr>
          <p:spPr>
            <a:xfrm flipH="1" flipV="1">
              <a:off x="8221" y="6435"/>
              <a:ext cx="812" cy="1252"/>
            </a:xfrm>
            <a:prstGeom prst="line">
              <a:avLst/>
            </a:prstGeom>
          </p:spPr>
          <p:style>
            <a:lnRef idx="2">
              <a:schemeClr val="accent1"/>
            </a:lnRef>
            <a:fillRef idx="0">
              <a:srgbClr val="FFFFFF"/>
            </a:fillRef>
            <a:effectRef idx="0">
              <a:srgbClr val="FFFFFF"/>
            </a:effectRef>
            <a:fontRef idx="minor">
              <a:schemeClr val="tx1"/>
            </a:fontRef>
          </p:style>
        </p:cxnSp>
      </p:grpSp>
      <p:sp>
        <p:nvSpPr>
          <p:cNvPr id="59" name="矩形 58"/>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60" name="矩形 59"/>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62" name="矩形 61"/>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语义知识</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图谱</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本体包含哪些内容</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aphicFrame>
        <p:nvGraphicFramePr>
          <p:cNvPr id="7" name="Table 7"/>
          <p:cNvGraphicFramePr>
            <a:graphicFrameLocks noGrp="1"/>
          </p:cNvGraphicFramePr>
          <p:nvPr>
            <p:custDataLst>
              <p:tags r:id="rId1"/>
            </p:custDataLst>
          </p:nvPr>
        </p:nvGraphicFramePr>
        <p:xfrm>
          <a:off x="578485" y="1162685"/>
          <a:ext cx="4893310" cy="2961640"/>
        </p:xfrm>
        <a:graphic>
          <a:graphicData uri="http://schemas.openxmlformats.org/drawingml/2006/table">
            <a:tbl>
              <a:tblPr>
                <a:effectLst/>
              </a:tblPr>
              <a:tblGrid>
                <a:gridCol w="829310"/>
                <a:gridCol w="4064000"/>
              </a:tblGrid>
              <a:tr h="370840">
                <a:tc>
                  <a:txBody>
                    <a:bodyPr/>
                    <a:lstStyle/>
                    <a:p>
                      <a:pPr marL="0" indent="0" algn="ctr">
                        <a:lnSpc>
                          <a:spcPct val="100000"/>
                        </a:lnSpc>
                        <a:defRPr/>
                      </a:pPr>
                      <a:r>
                        <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概念</a:t>
                      </a:r>
                      <a:endPar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165DFF">
                        <a:alpha val="100000"/>
                      </a:srgbClr>
                    </a:solidFill>
                  </a:tcPr>
                </a:tc>
                <a:tc>
                  <a:txBody>
                    <a:bodyPr/>
                    <a:lstStyle/>
                    <a:p>
                      <a:pPr marL="0" indent="0" algn="ctr">
                        <a:lnSpc>
                          <a:spcPct val="100000"/>
                        </a:lnSpc>
                        <a:defRPr/>
                      </a:pPr>
                      <a:r>
                        <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属性</a:t>
                      </a:r>
                      <a:endPar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165DFF">
                        <a:alpha val="100000"/>
                      </a:srgbClr>
                    </a:solidFill>
                  </a:tcPr>
                </a:tc>
              </a:tr>
              <a:tr h="35560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业务对象描述</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r>
              <a:tr h="35560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业务场景</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业务场景描述</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r>
              <a:tr h="35560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业务活动描述</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r>
              <a:tr h="35560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业务术语</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业务术语描述</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r>
              <a:tr h="35560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文档对象</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基于文档元数据构建文档对象属性</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包括业务领域</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知识类型</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版本号、文档状态、生效时间、失效时间、主管部门、适用部门、适用岗位、安全密级、知识来源、格式、冷热分级、权威度等</a:t>
                      </a:r>
                      <a:endPar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r>
              <a:tr h="35560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图谱对象</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专题知识图谱的属性</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包括业务领域</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知识类型</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主管部门</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适用部门</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适用岗位</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安全密级等</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r>
            </a:tbl>
          </a:graphicData>
        </a:graphic>
      </p:graphicFrame>
      <p:graphicFrame>
        <p:nvGraphicFramePr>
          <p:cNvPr id="4" name="Table 7"/>
          <p:cNvGraphicFramePr>
            <a:graphicFrameLocks noGrp="1"/>
          </p:cNvGraphicFramePr>
          <p:nvPr>
            <p:custDataLst>
              <p:tags r:id="rId2"/>
            </p:custDataLst>
          </p:nvPr>
        </p:nvGraphicFramePr>
        <p:xfrm>
          <a:off x="554355" y="4450715"/>
          <a:ext cx="4893310" cy="1788160"/>
        </p:xfrm>
        <a:graphic>
          <a:graphicData uri="http://schemas.openxmlformats.org/drawingml/2006/table">
            <a:tbl>
              <a:tblPr>
                <a:effectLst/>
              </a:tblPr>
              <a:tblGrid>
                <a:gridCol w="829310"/>
                <a:gridCol w="4064000"/>
              </a:tblGrid>
              <a:tr h="384175">
                <a:tc>
                  <a:txBody>
                    <a:bodyPr/>
                    <a:lstStyle/>
                    <a:p>
                      <a:pPr marL="0" indent="0" algn="ctr">
                        <a:lnSpc>
                          <a:spcPct val="100000"/>
                        </a:lnSpc>
                        <a:defRPr/>
                      </a:pPr>
                      <a:r>
                        <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关系</a:t>
                      </a:r>
                      <a:endPar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165DFF">
                        <a:alpha val="100000"/>
                      </a:srgbClr>
                    </a:solidFill>
                  </a:tcPr>
                </a:tc>
                <a:tc>
                  <a:txBody>
                    <a:bodyPr/>
                    <a:lstStyle/>
                    <a:p>
                      <a:pPr marL="0" indent="0" algn="ctr">
                        <a:lnSpc>
                          <a:spcPct val="100000"/>
                        </a:lnSpc>
                        <a:defRPr/>
                      </a:pPr>
                      <a:r>
                        <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起点</a:t>
                      </a:r>
                      <a:r>
                        <a:rPr lang="en-US" altLang="zh-CN"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终点</a:t>
                      </a:r>
                      <a:endParaRPr lang="zh-CN" altLang="en-US" sz="11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165DFF">
                        <a:alpha val="100000"/>
                      </a:srgbClr>
                    </a:solidFill>
                  </a:tcPr>
                </a:tc>
              </a:tr>
              <a:tr h="46101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涉及</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业务场景</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业务活动</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业务场景</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业务对象</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业务活动</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业务对象</a:t>
                      </a:r>
                      <a:r>
                        <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altLang="zh-CN" sz="10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r>
              <a:tr h="434975">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关联</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FFFFF">
                        <a:alpha val="100000"/>
                      </a:srgbClr>
                    </a:solidFill>
                  </a:tcPr>
                </a:tc>
              </a:tr>
              <a:tr h="508000">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语义解释</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c>
                  <a:txBody>
                    <a:bodyPr/>
                    <a:lstStyle/>
                    <a:p>
                      <a:pPr marL="0" indent="0" algn="l">
                        <a:lnSpc>
                          <a:spcPct val="100000"/>
                        </a:lnSpc>
                        <a:defRPr/>
                      </a:pP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业务场景</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图谱对象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图谱对象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图谱对象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业务术语</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文档对象</a:t>
                      </a:r>
                      <a:r>
                        <a:rPr lang="en-US" altLang="zh-CN"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图谱对象</a:t>
                      </a:r>
                      <a:endParaRPr lang="zh-CN" altLang="en-US" sz="10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D9E6FF"/>
                      </a:solidFill>
                      <a:prstDash val="solid"/>
                      <a:round/>
                      <a:headEnd type="none" w="med" len="med"/>
                      <a:tailEnd type="none" w="med" len="med"/>
                    </a:lnL>
                    <a:lnR w="12700" cap="flat" cmpd="sng" algn="ctr">
                      <a:solidFill>
                        <a:srgbClr val="D9E6FF"/>
                      </a:solidFill>
                      <a:prstDash val="solid"/>
                      <a:round/>
                      <a:headEnd type="none" w="med" len="med"/>
                      <a:tailEnd type="none" w="med" len="med"/>
                    </a:lnR>
                    <a:lnT w="12700" cap="flat" cmpd="sng" algn="ctr">
                      <a:solidFill>
                        <a:srgbClr val="D9E6FF"/>
                      </a:solidFill>
                      <a:prstDash val="solid"/>
                      <a:round/>
                      <a:headEnd type="none" w="med" len="med"/>
                      <a:tailEnd type="none" w="med" len="med"/>
                    </a:lnT>
                    <a:lnB w="12700" cap="flat" cmpd="sng" algn="ctr">
                      <a:solidFill>
                        <a:srgbClr val="D9E6FF"/>
                      </a:solidFill>
                      <a:prstDash val="solid"/>
                      <a:round/>
                      <a:headEnd type="none" w="med" len="med"/>
                      <a:tailEnd type="none" w="med" len="med"/>
                    </a:lnB>
                    <a:solidFill>
                      <a:srgbClr val="F7F8FA">
                        <a:alpha val="100000"/>
                      </a:srgbClr>
                    </a:solidFill>
                  </a:tcPr>
                </a:tc>
              </a:tr>
            </a:tbl>
          </a:graphicData>
        </a:graphic>
      </p:graphicFrame>
      <p:grpSp>
        <p:nvGrpSpPr>
          <p:cNvPr id="21" name="组合 20"/>
          <p:cNvGrpSpPr/>
          <p:nvPr/>
        </p:nvGrpSpPr>
        <p:grpSpPr>
          <a:xfrm>
            <a:off x="6489065" y="1196340"/>
            <a:ext cx="5070475" cy="4851400"/>
            <a:chOff x="10452" y="2100"/>
            <a:chExt cx="7985" cy="7640"/>
          </a:xfrm>
        </p:grpSpPr>
        <p:sp>
          <p:nvSpPr>
            <p:cNvPr id="13" name="圆角矩形 12"/>
            <p:cNvSpPr/>
            <p:nvPr/>
          </p:nvSpPr>
          <p:spPr>
            <a:xfrm>
              <a:off x="10452" y="2100"/>
              <a:ext cx="7885" cy="7640"/>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rPr>
                <a:t>语义本体模型</a:t>
              </a:r>
              <a:endParaRPr kumimoji="1" lang="zh-CN" altLang="en-US" sz="1600" b="1" dirty="0">
                <a:solidFill>
                  <a:schemeClr val="accent1"/>
                </a:solidFill>
                <a:latin typeface="微软雅黑" panose="020B0503020204020204" charset="-122"/>
                <a:ea typeface="微软雅黑" panose="020B0503020204020204" charset="-122"/>
              </a:endParaRPr>
            </a:p>
          </p:txBody>
        </p:sp>
        <p:grpSp>
          <p:nvGrpSpPr>
            <p:cNvPr id="5" name="组合 4"/>
            <p:cNvGrpSpPr/>
            <p:nvPr/>
          </p:nvGrpSpPr>
          <p:grpSpPr>
            <a:xfrm>
              <a:off x="10711" y="3166"/>
              <a:ext cx="7727" cy="6086"/>
              <a:chOff x="711" y="4512"/>
              <a:chExt cx="6941" cy="5197"/>
            </a:xfrm>
          </p:grpSpPr>
          <p:grpSp>
            <p:nvGrpSpPr>
              <p:cNvPr id="93" name="组合 92"/>
              <p:cNvGrpSpPr/>
              <p:nvPr/>
            </p:nvGrpSpPr>
            <p:grpSpPr>
              <a:xfrm>
                <a:off x="711" y="4512"/>
                <a:ext cx="6941" cy="5197"/>
                <a:chOff x="10382" y="3866"/>
                <a:chExt cx="6545" cy="4764"/>
              </a:xfrm>
            </p:grpSpPr>
            <p:sp>
              <p:nvSpPr>
                <p:cNvPr id="62" name="椭圆 61"/>
                <p:cNvSpPr/>
                <p:nvPr/>
              </p:nvSpPr>
              <p:spPr>
                <a:xfrm>
                  <a:off x="12932" y="3866"/>
                  <a:ext cx="1043" cy="1046"/>
                </a:xfrm>
                <a:prstGeom prst="ellipse">
                  <a:avLst/>
                </a:prstGeom>
                <a:solidFill>
                  <a:schemeClr val="accent5">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latin typeface="微软雅黑" panose="020B0503020204020204" charset="-122"/>
                      <a:ea typeface="微软雅黑" panose="020B0503020204020204" charset="-122"/>
                      <a:sym typeface="+mn-ea"/>
                    </a:rPr>
                    <a:t>业务场景</a:t>
                  </a:r>
                  <a:endParaRPr lang="zh-CN" altLang="en-US" sz="1400" dirty="0">
                    <a:latin typeface="微软雅黑" panose="020B0503020204020204" charset="-122"/>
                    <a:ea typeface="微软雅黑" panose="020B0503020204020204" charset="-122"/>
                    <a:sym typeface="+mn-ea"/>
                  </a:endParaRPr>
                </a:p>
              </p:txBody>
            </p:sp>
            <p:sp>
              <p:nvSpPr>
                <p:cNvPr id="63" name="椭圆 62"/>
                <p:cNvSpPr/>
                <p:nvPr/>
              </p:nvSpPr>
              <p:spPr>
                <a:xfrm>
                  <a:off x="10946" y="5080"/>
                  <a:ext cx="1043" cy="1046"/>
                </a:xfrm>
                <a:prstGeom prst="ellipse">
                  <a:avLst/>
                </a:prstGeom>
                <a:solidFill>
                  <a:schemeClr val="accent1">
                    <a:lumMod val="75000"/>
                    <a:lumOff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dirty="0">
                      <a:latin typeface="微软雅黑" panose="020B0503020204020204" charset="-122"/>
                      <a:ea typeface="微软雅黑" panose="020B0503020204020204" charset="-122"/>
                    </a:rPr>
                    <a:t>业务活动</a:t>
                  </a:r>
                  <a:endParaRPr lang="zh-CN" altLang="en-US" sz="1400" dirty="0">
                    <a:latin typeface="微软雅黑" panose="020B0503020204020204" charset="-122"/>
                    <a:ea typeface="微软雅黑" panose="020B0503020204020204" charset="-122"/>
                  </a:endParaRPr>
                </a:p>
              </p:txBody>
            </p:sp>
            <p:cxnSp>
              <p:nvCxnSpPr>
                <p:cNvPr id="64" name="曲线连接符 63"/>
                <p:cNvCxnSpPr>
                  <a:stCxn id="63" idx="0"/>
                  <a:endCxn id="63" idx="2"/>
                </p:cNvCxnSpPr>
                <p:nvPr/>
              </p:nvCxnSpPr>
              <p:spPr>
                <a:xfrm rot="16200000" flipH="1" flipV="1">
                  <a:off x="10946" y="5081"/>
                  <a:ext cx="523" cy="522"/>
                </a:xfrm>
                <a:prstGeom prst="curvedConnector4">
                  <a:avLst>
                    <a:gd name="adj1" fmla="val -71797"/>
                    <a:gd name="adj2" fmla="val 171935"/>
                  </a:avLst>
                </a:prstGeom>
                <a:ln>
                  <a:tailEnd type="arrow"/>
                </a:ln>
              </p:spPr>
              <p:style>
                <a:lnRef idx="2">
                  <a:schemeClr val="accent1"/>
                </a:lnRef>
                <a:fillRef idx="0">
                  <a:srgbClr val="FFFFFF"/>
                </a:fillRef>
                <a:effectRef idx="0">
                  <a:srgbClr val="FFFFFF"/>
                </a:effectRef>
                <a:fontRef idx="minor">
                  <a:schemeClr val="tx1"/>
                </a:fontRef>
              </p:style>
            </p:cxnSp>
            <p:sp>
              <p:nvSpPr>
                <p:cNvPr id="65" name="文本框 64"/>
                <p:cNvSpPr txBox="1"/>
                <p:nvPr/>
              </p:nvSpPr>
              <p:spPr>
                <a:xfrm>
                  <a:off x="10382" y="4614"/>
                  <a:ext cx="798" cy="264"/>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b="1" i="1">
                      <a:solidFill>
                        <a:schemeClr val="accent5">
                          <a:lumMod val="75000"/>
                        </a:schemeClr>
                      </a:solidFill>
                      <a:latin typeface="微软雅黑" panose="020B0503020204020204" charset="-122"/>
                      <a:ea typeface="微软雅黑" panose="020B0503020204020204" charset="-122"/>
                      <a:sym typeface="+mn-ea"/>
                    </a:rPr>
                    <a:t>关联</a:t>
                  </a:r>
                  <a:endParaRPr lang="zh-CN" altLang="en-US" sz="900" b="1" i="1">
                    <a:solidFill>
                      <a:schemeClr val="accent5">
                        <a:lumMod val="75000"/>
                      </a:schemeClr>
                    </a:solidFill>
                    <a:latin typeface="微软雅黑" panose="020B0503020204020204" charset="-122"/>
                    <a:ea typeface="微软雅黑" panose="020B0503020204020204" charset="-122"/>
                    <a:sym typeface="+mn-ea"/>
                  </a:endParaRPr>
                </a:p>
              </p:txBody>
            </p:sp>
            <p:cxnSp>
              <p:nvCxnSpPr>
                <p:cNvPr id="66" name="直接箭头连接符 65"/>
                <p:cNvCxnSpPr>
                  <a:stCxn id="62" idx="3"/>
                  <a:endCxn id="63" idx="7"/>
                </p:cNvCxnSpPr>
                <p:nvPr/>
              </p:nvCxnSpPr>
              <p:spPr>
                <a:xfrm flipH="1">
                  <a:off x="11836" y="4759"/>
                  <a:ext cx="1249" cy="474"/>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7" name="文本框 66"/>
                <p:cNvSpPr txBox="1"/>
                <p:nvPr/>
              </p:nvSpPr>
              <p:spPr>
                <a:xfrm>
                  <a:off x="12134" y="4755"/>
                  <a:ext cx="798" cy="297"/>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涉及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sp>
              <p:nvSpPr>
                <p:cNvPr id="68" name="椭圆 67"/>
                <p:cNvSpPr/>
                <p:nvPr/>
              </p:nvSpPr>
              <p:spPr>
                <a:xfrm>
                  <a:off x="15379" y="5851"/>
                  <a:ext cx="1043" cy="1046"/>
                </a:xfrm>
                <a:prstGeom prst="ellipse">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latin typeface="微软雅黑" panose="020B0503020204020204" charset="-122"/>
                      <a:ea typeface="微软雅黑" panose="020B0503020204020204" charset="-122"/>
                      <a:sym typeface="+mn-ea"/>
                    </a:rPr>
                    <a:t>业务对象</a:t>
                  </a:r>
                  <a:endParaRPr lang="zh-CN" altLang="en-US" sz="1400">
                    <a:latin typeface="微软雅黑" panose="020B0503020204020204" charset="-122"/>
                    <a:ea typeface="微软雅黑" panose="020B0503020204020204" charset="-122"/>
                    <a:sym typeface="+mn-ea"/>
                  </a:endParaRPr>
                </a:p>
              </p:txBody>
            </p:sp>
            <p:cxnSp>
              <p:nvCxnSpPr>
                <p:cNvPr id="69" name="直接箭头连接符 68"/>
                <p:cNvCxnSpPr>
                  <a:stCxn id="68" idx="1"/>
                  <a:endCxn id="62" idx="5"/>
                </p:cNvCxnSpPr>
                <p:nvPr/>
              </p:nvCxnSpPr>
              <p:spPr>
                <a:xfrm flipH="1" flipV="1">
                  <a:off x="13822" y="4758"/>
                  <a:ext cx="1709" cy="124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1" name="直接箭头连接符 70"/>
                <p:cNvCxnSpPr>
                  <a:stCxn id="68" idx="2"/>
                  <a:endCxn id="63" idx="6"/>
                </p:cNvCxnSpPr>
                <p:nvPr/>
              </p:nvCxnSpPr>
              <p:spPr>
                <a:xfrm flipH="1" flipV="1">
                  <a:off x="11989" y="5603"/>
                  <a:ext cx="3390" cy="77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3" name="椭圆 72"/>
                <p:cNvSpPr/>
                <p:nvPr/>
              </p:nvSpPr>
              <p:spPr>
                <a:xfrm>
                  <a:off x="14904" y="3915"/>
                  <a:ext cx="1043" cy="1046"/>
                </a:xfrm>
                <a:prstGeom prst="ellipse">
                  <a:avLst/>
                </a:prstGeom>
                <a:solidFill>
                  <a:schemeClr val="tx2">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latin typeface="微软雅黑" panose="020B0503020204020204" charset="-122"/>
                      <a:ea typeface="微软雅黑" panose="020B0503020204020204" charset="-122"/>
                      <a:sym typeface="+mn-ea"/>
                    </a:rPr>
                    <a:t>业务术语</a:t>
                  </a:r>
                  <a:endParaRPr lang="zh-CN" altLang="en-US" sz="1400" dirty="0">
                    <a:latin typeface="微软雅黑" panose="020B0503020204020204" charset="-122"/>
                    <a:ea typeface="微软雅黑" panose="020B0503020204020204" charset="-122"/>
                    <a:sym typeface="+mn-ea"/>
                  </a:endParaRPr>
                </a:p>
              </p:txBody>
            </p:sp>
            <p:sp>
              <p:nvSpPr>
                <p:cNvPr id="76" name="椭圆 75"/>
                <p:cNvSpPr/>
                <p:nvPr/>
              </p:nvSpPr>
              <p:spPr>
                <a:xfrm>
                  <a:off x="11654" y="7209"/>
                  <a:ext cx="1043" cy="1046"/>
                </a:xfrm>
                <a:prstGeom prst="ellipse">
                  <a:avLst/>
                </a:prstGeom>
                <a:solidFill>
                  <a:schemeClr val="accent3">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latin typeface="微软雅黑" panose="020B0503020204020204" charset="-122"/>
                      <a:ea typeface="微软雅黑" panose="020B0503020204020204" charset="-122"/>
                      <a:sym typeface="+mn-ea"/>
                    </a:rPr>
                    <a:t>文档对象</a:t>
                  </a:r>
                  <a:endParaRPr lang="zh-CN" altLang="en-US" sz="1400">
                    <a:latin typeface="微软雅黑" panose="020B0503020204020204" charset="-122"/>
                    <a:ea typeface="微软雅黑" panose="020B0503020204020204" charset="-122"/>
                    <a:sym typeface="+mn-ea"/>
                  </a:endParaRPr>
                </a:p>
              </p:txBody>
            </p:sp>
            <p:sp>
              <p:nvSpPr>
                <p:cNvPr id="77" name="椭圆 76"/>
                <p:cNvSpPr/>
                <p:nvPr/>
              </p:nvSpPr>
              <p:spPr>
                <a:xfrm>
                  <a:off x="13822" y="7209"/>
                  <a:ext cx="1043" cy="1046"/>
                </a:xfrm>
                <a:prstGeom prst="ellipse">
                  <a:avLst/>
                </a:prstGeom>
                <a:solidFill>
                  <a:schemeClr val="tx2">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a:latin typeface="微软雅黑" panose="020B0503020204020204" charset="-122"/>
                      <a:ea typeface="微软雅黑" panose="020B0503020204020204" charset="-122"/>
                      <a:sym typeface="+mn-ea"/>
                    </a:rPr>
                    <a:t>图谱对象</a:t>
                  </a:r>
                  <a:endParaRPr lang="zh-CN" altLang="en-US" sz="1400">
                    <a:latin typeface="微软雅黑" panose="020B0503020204020204" charset="-122"/>
                    <a:ea typeface="微软雅黑" panose="020B0503020204020204" charset="-122"/>
                    <a:sym typeface="+mn-ea"/>
                  </a:endParaRPr>
                </a:p>
              </p:txBody>
            </p:sp>
            <p:cxnSp>
              <p:nvCxnSpPr>
                <p:cNvPr id="78" name="直接箭头连接符 77"/>
                <p:cNvCxnSpPr>
                  <a:stCxn id="63" idx="4"/>
                  <a:endCxn id="76" idx="0"/>
                </p:cNvCxnSpPr>
                <p:nvPr/>
              </p:nvCxnSpPr>
              <p:spPr>
                <a:xfrm>
                  <a:off x="11467" y="6126"/>
                  <a:ext cx="708" cy="108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9" name="文本框 78"/>
                <p:cNvSpPr txBox="1"/>
                <p:nvPr/>
              </p:nvSpPr>
              <p:spPr>
                <a:xfrm>
                  <a:off x="11278" y="6588"/>
                  <a:ext cx="798" cy="342"/>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语义解释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cxnSp>
              <p:nvCxnSpPr>
                <p:cNvPr id="80" name="直接箭头连接符 79"/>
                <p:cNvCxnSpPr>
                  <a:stCxn id="63" idx="5"/>
                  <a:endCxn id="77" idx="0"/>
                </p:cNvCxnSpPr>
                <p:nvPr/>
              </p:nvCxnSpPr>
              <p:spPr>
                <a:xfrm>
                  <a:off x="11836" y="5973"/>
                  <a:ext cx="2507" cy="123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2" name="直接箭头连接符 81"/>
                <p:cNvCxnSpPr>
                  <a:stCxn id="62" idx="4"/>
                  <a:endCxn id="77" idx="0"/>
                </p:cNvCxnSpPr>
                <p:nvPr/>
              </p:nvCxnSpPr>
              <p:spPr>
                <a:xfrm>
                  <a:off x="13453" y="4912"/>
                  <a:ext cx="890" cy="229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4" name="直接箭头连接符 83"/>
                <p:cNvCxnSpPr>
                  <a:stCxn id="73" idx="3"/>
                  <a:endCxn id="77" idx="0"/>
                </p:cNvCxnSpPr>
                <p:nvPr/>
              </p:nvCxnSpPr>
              <p:spPr>
                <a:xfrm flipH="1">
                  <a:off x="14343" y="4808"/>
                  <a:ext cx="713" cy="240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85" name="文本框 84"/>
                <p:cNvSpPr txBox="1"/>
                <p:nvPr/>
              </p:nvSpPr>
              <p:spPr>
                <a:xfrm>
                  <a:off x="14645" y="5525"/>
                  <a:ext cx="798" cy="342"/>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涉及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cxnSp>
              <p:nvCxnSpPr>
                <p:cNvPr id="86" name="直接箭头连接符 85"/>
                <p:cNvCxnSpPr>
                  <a:stCxn id="68" idx="3"/>
                  <a:endCxn id="77" idx="0"/>
                </p:cNvCxnSpPr>
                <p:nvPr/>
              </p:nvCxnSpPr>
              <p:spPr>
                <a:xfrm flipH="1">
                  <a:off x="14344" y="6743"/>
                  <a:ext cx="1188" cy="466"/>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7" name="直接箭头连接符 86"/>
                <p:cNvCxnSpPr/>
                <p:nvPr/>
              </p:nvCxnSpPr>
              <p:spPr>
                <a:xfrm flipH="1">
                  <a:off x="12170" y="4952"/>
                  <a:ext cx="1251" cy="224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8" name="直接箭头连接符 87"/>
                <p:cNvCxnSpPr>
                  <a:stCxn id="73" idx="3"/>
                </p:cNvCxnSpPr>
                <p:nvPr/>
              </p:nvCxnSpPr>
              <p:spPr>
                <a:xfrm flipH="1">
                  <a:off x="12190" y="4808"/>
                  <a:ext cx="2866" cy="238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9" name="直接箭头连接符 88"/>
                <p:cNvCxnSpPr>
                  <a:stCxn id="68" idx="2"/>
                  <a:endCxn id="76" idx="0"/>
                </p:cNvCxnSpPr>
                <p:nvPr/>
              </p:nvCxnSpPr>
              <p:spPr>
                <a:xfrm flipH="1">
                  <a:off x="12175" y="6374"/>
                  <a:ext cx="3204" cy="8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1" name="文本框 90"/>
                <p:cNvSpPr txBox="1"/>
                <p:nvPr/>
              </p:nvSpPr>
              <p:spPr>
                <a:xfrm>
                  <a:off x="13664" y="5507"/>
                  <a:ext cx="798" cy="342"/>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语义解释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sp>
              <p:nvSpPr>
                <p:cNvPr id="92" name="文本框 91"/>
                <p:cNvSpPr txBox="1"/>
                <p:nvPr/>
              </p:nvSpPr>
              <p:spPr>
                <a:xfrm>
                  <a:off x="12325" y="5966"/>
                  <a:ext cx="798" cy="342"/>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语义解释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sp>
              <p:nvSpPr>
                <p:cNvPr id="95" name="文本框 94"/>
                <p:cNvSpPr txBox="1"/>
                <p:nvPr/>
              </p:nvSpPr>
              <p:spPr>
                <a:xfrm>
                  <a:off x="11094" y="8333"/>
                  <a:ext cx="895" cy="297"/>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关联</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sp>
              <p:nvSpPr>
                <p:cNvPr id="10" name="文本框 9"/>
                <p:cNvSpPr txBox="1"/>
                <p:nvPr/>
              </p:nvSpPr>
              <p:spPr>
                <a:xfrm>
                  <a:off x="16314" y="5520"/>
                  <a:ext cx="613" cy="264"/>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1000" b="1" i="1">
                      <a:solidFill>
                        <a:schemeClr val="accent5">
                          <a:lumMod val="75000"/>
                        </a:schemeClr>
                      </a:solidFill>
                      <a:latin typeface="微软雅黑" panose="020B0503020204020204" charset="-122"/>
                      <a:ea typeface="微软雅黑" panose="020B0503020204020204" charset="-122"/>
                      <a:sym typeface="+mn-ea"/>
                    </a:rPr>
                    <a:t>关联</a:t>
                  </a:r>
                  <a:endParaRPr lang="zh-CN" altLang="en-US" sz="1000" b="1" i="1">
                    <a:solidFill>
                      <a:schemeClr val="accent5">
                        <a:lumMod val="75000"/>
                      </a:schemeClr>
                    </a:solidFill>
                    <a:latin typeface="微软雅黑" panose="020B0503020204020204" charset="-122"/>
                    <a:ea typeface="微软雅黑" panose="020B0503020204020204" charset="-122"/>
                    <a:sym typeface="+mn-ea"/>
                  </a:endParaRPr>
                </a:p>
              </p:txBody>
            </p:sp>
            <p:sp>
              <p:nvSpPr>
                <p:cNvPr id="11" name="文本框 10"/>
                <p:cNvSpPr txBox="1"/>
                <p:nvPr/>
              </p:nvSpPr>
              <p:spPr>
                <a:xfrm>
                  <a:off x="13602" y="6153"/>
                  <a:ext cx="798" cy="342"/>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语义解释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sp>
              <p:nvSpPr>
                <p:cNvPr id="12" name="文本框 11"/>
                <p:cNvSpPr txBox="1"/>
                <p:nvPr/>
              </p:nvSpPr>
              <p:spPr>
                <a:xfrm>
                  <a:off x="13535" y="6555"/>
                  <a:ext cx="798" cy="342"/>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语义解释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sp>
              <p:nvSpPr>
                <p:cNvPr id="14" name="文本框 13"/>
                <p:cNvSpPr txBox="1"/>
                <p:nvPr/>
              </p:nvSpPr>
              <p:spPr>
                <a:xfrm>
                  <a:off x="12611" y="6355"/>
                  <a:ext cx="798" cy="342"/>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b="1" i="1">
                      <a:solidFill>
                        <a:schemeClr val="accent5">
                          <a:lumMod val="75000"/>
                        </a:schemeClr>
                      </a:solidFill>
                      <a:latin typeface="微软雅黑" panose="020B0503020204020204" charset="-122"/>
                      <a:ea typeface="微软雅黑" panose="020B0503020204020204" charset="-122"/>
                      <a:sym typeface="+mn-ea"/>
                    </a:rPr>
                    <a:t>语义解释</a:t>
                  </a:r>
                  <a:endParaRPr lang="zh-CN" altLang="en-US" sz="800" b="1" i="1">
                    <a:solidFill>
                      <a:schemeClr val="accent5">
                        <a:lumMod val="75000"/>
                      </a:schemeClr>
                    </a:solidFill>
                    <a:latin typeface="微软雅黑" panose="020B0503020204020204" charset="-122"/>
                    <a:ea typeface="微软雅黑" panose="020B0503020204020204" charset="-122"/>
                    <a:sym typeface="+mn-ea"/>
                  </a:endParaRPr>
                </a:p>
              </p:txBody>
            </p:sp>
          </p:grpSp>
          <p:cxnSp>
            <p:nvCxnSpPr>
              <p:cNvPr id="94" name="曲线连接符 93"/>
              <p:cNvCxnSpPr/>
              <p:nvPr/>
            </p:nvCxnSpPr>
            <p:spPr>
              <a:xfrm rot="10800000" flipH="1" flipV="1">
                <a:off x="2060" y="8730"/>
                <a:ext cx="944" cy="403"/>
              </a:xfrm>
              <a:prstGeom prst="curvedConnector4">
                <a:avLst>
                  <a:gd name="adj1" fmla="val -39725"/>
                  <a:gd name="adj2" fmla="val 23449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9" name="曲线连接符 8"/>
            <p:cNvCxnSpPr/>
            <p:nvPr/>
          </p:nvCxnSpPr>
          <p:spPr>
            <a:xfrm rot="16200000" flipH="1">
              <a:off x="17515" y="6044"/>
              <a:ext cx="472" cy="180"/>
            </a:xfrm>
            <a:prstGeom prst="curvedConnector4">
              <a:avLst>
                <a:gd name="adj1" fmla="val -120975"/>
                <a:gd name="adj2" fmla="val 308333"/>
              </a:avLst>
            </a:prstGeom>
            <a:ln>
              <a:tailEnd type="arrow"/>
            </a:ln>
          </p:spPr>
          <p:style>
            <a:lnRef idx="2">
              <a:schemeClr val="accent1"/>
            </a:lnRef>
            <a:fillRef idx="0">
              <a:srgbClr val="FFFFFF"/>
            </a:fillRef>
            <a:effectRef idx="0">
              <a:srgbClr val="FFFFFF"/>
            </a:effectRef>
            <a:fontRef idx="minor">
              <a:schemeClr val="tx1"/>
            </a:fontRef>
          </p:style>
        </p:cxnSp>
      </p:grpSp>
      <p:sp>
        <p:nvSpPr>
          <p:cNvPr id="17" name="文本框 16"/>
          <p:cNvSpPr txBox="1"/>
          <p:nvPr/>
        </p:nvSpPr>
        <p:spPr>
          <a:xfrm>
            <a:off x="596265" y="828040"/>
            <a:ext cx="19030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概念及属性</a:t>
            </a:r>
            <a:endParaRPr lang="zh-CN" altLang="en-US">
              <a:latin typeface="微软雅黑" panose="020B0503020204020204" charset="-122"/>
              <a:ea typeface="微软雅黑" panose="020B0503020204020204" charset="-122"/>
            </a:endParaRPr>
          </a:p>
        </p:txBody>
      </p:sp>
      <p:sp>
        <p:nvSpPr>
          <p:cNvPr id="18" name="文本框 17"/>
          <p:cNvSpPr txBox="1"/>
          <p:nvPr/>
        </p:nvSpPr>
        <p:spPr>
          <a:xfrm>
            <a:off x="578485" y="4119245"/>
            <a:ext cx="1903095" cy="368300"/>
          </a:xfrm>
          <a:prstGeom prst="rect">
            <a:avLst/>
          </a:prstGeom>
          <a:noFill/>
        </p:spPr>
        <p:txBody>
          <a:bodyPr wrap="square" rtlCol="0">
            <a:spAutoFit/>
          </a:bodyPr>
          <a:lstStyle/>
          <a:p>
            <a:r>
              <a:rPr lang="zh-CN" altLang="en-US">
                <a:latin typeface="微软雅黑" panose="020B0503020204020204" charset="-122"/>
                <a:ea typeface="微软雅黑" panose="020B0503020204020204" charset="-122"/>
              </a:rPr>
              <a:t>关系</a:t>
            </a:r>
            <a:endParaRPr lang="zh-CN" altLang="en-US">
              <a:latin typeface="微软雅黑" panose="020B0503020204020204" charset="-122"/>
              <a:ea typeface="微软雅黑" panose="020B0503020204020204" charset="-122"/>
            </a:endParaRPr>
          </a:p>
        </p:txBody>
      </p:sp>
      <p:sp>
        <p:nvSpPr>
          <p:cNvPr id="20" name="右箭头 19"/>
          <p:cNvSpPr/>
          <p:nvPr/>
        </p:nvSpPr>
        <p:spPr>
          <a:xfrm>
            <a:off x="5953760" y="2768600"/>
            <a:ext cx="301625" cy="237426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6580505" y="6146165"/>
            <a:ext cx="4751705" cy="368300"/>
          </a:xfrm>
          <a:prstGeom prst="rect">
            <a:avLst/>
          </a:prstGeom>
          <a:noFill/>
        </p:spPr>
        <p:txBody>
          <a:bodyPr wrap="square" rtlCol="0">
            <a:spAutoFit/>
          </a:bodyPr>
          <a:lstStyle/>
          <a:p>
            <a:r>
              <a:rPr lang="en-US" altLang="zh-CN" sz="900">
                <a:latin typeface="微软雅黑" panose="020B0503020204020204" charset="-122"/>
                <a:ea typeface="微软雅黑" panose="020B0503020204020204" charset="-122"/>
              </a:rPr>
              <a:t>*</a:t>
            </a:r>
            <a:r>
              <a:rPr lang="zh-CN" altLang="en-US" sz="900">
                <a:latin typeface="微软雅黑" panose="020B0503020204020204" charset="-122"/>
                <a:ea typeface="微软雅黑" panose="020B0503020204020204" charset="-122"/>
              </a:rPr>
              <a:t>语义知识图谱内涵（实体：场景、活动、对象）由清华李涓子在2021年世界人工智能大会的主题报告《知识图谱与认知推理》及相关后续工作中提出。</a:t>
            </a:r>
            <a:endParaRPr lang="zh-CN" altLang="en-US" sz="900">
              <a:latin typeface="微软雅黑" panose="020B0503020204020204" charset="-122"/>
              <a:ea typeface="微软雅黑" panose="020B0503020204020204" charset="-122"/>
            </a:endParaRPr>
          </a:p>
        </p:txBody>
      </p:sp>
      <p:sp>
        <p:nvSpPr>
          <p:cNvPr id="6" name="文本框 5"/>
          <p:cNvSpPr txBox="1"/>
          <p:nvPr/>
        </p:nvSpPr>
        <p:spPr>
          <a:xfrm>
            <a:off x="6580505" y="828040"/>
            <a:ext cx="4915535" cy="275590"/>
          </a:xfrm>
          <a:prstGeom prst="rect">
            <a:avLst/>
          </a:prstGeom>
          <a:noFill/>
        </p:spPr>
        <p:txBody>
          <a:bodyPr wrap="square" rtlCol="0" anchor="t">
            <a:spAutoFit/>
          </a:bodyPr>
          <a:lstStyle/>
          <a:p>
            <a:pPr algn="r"/>
            <a:r>
              <a:rPr lang="en-US" altLang="zh-CN" sz="1200">
                <a:solidFill>
                  <a:srgbClr val="000000">
                    <a:alpha val="100000"/>
                  </a:srgbClr>
                </a:solidFill>
                <a:latin typeface="微软雅黑" panose="020B0503020204020204" charset="-122"/>
                <a:ea typeface="微软雅黑" panose="020B0503020204020204" charset="-122"/>
                <a:cs typeface="Kaiti SC Bold" panose="02010600040101010101" charset="-122"/>
                <a:sym typeface="+mn-ea"/>
              </a:rPr>
              <a:t>*</a:t>
            </a:r>
            <a:r>
              <a:rPr lang="zh-CN" altLang="en-US" sz="1200">
                <a:solidFill>
                  <a:srgbClr val="000000">
                    <a:alpha val="100000"/>
                  </a:srgbClr>
                </a:solidFill>
                <a:latin typeface="微软雅黑" panose="020B0503020204020204" charset="-122"/>
                <a:ea typeface="微软雅黑" panose="020B0503020204020204" charset="-122"/>
                <a:cs typeface="Kaiti SC Bold" panose="02010600040101010101" charset="-122"/>
                <a:sym typeface="+mn-ea"/>
              </a:rPr>
              <a:t>本体模型相当于传统报表的表结构，导入数据后变成图谱</a:t>
            </a:r>
            <a:endParaRPr lang="zh-CN" altLang="en-US" sz="1200">
              <a:solidFill>
                <a:srgbClr val="000000">
                  <a:alpha val="100000"/>
                </a:srgbClr>
              </a:solidFill>
              <a:latin typeface="微软雅黑" panose="020B0503020204020204" charset="-122"/>
              <a:ea typeface="微软雅黑" panose="020B0503020204020204" charset="-122"/>
              <a:cs typeface="Kaiti SC Bold" panose="02010600040101010101" charset="-122"/>
              <a:sym typeface="+mn-ea"/>
            </a:endParaRPr>
          </a:p>
        </p:txBody>
      </p:sp>
      <p:sp>
        <p:nvSpPr>
          <p:cNvPr id="24" name="矩形 23"/>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25" name="矩形 24"/>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26" name="矩形 25"/>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语义知识图谱的形态介绍</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320675" y="922020"/>
            <a:ext cx="11461115" cy="1002665"/>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非结构化文档语义知识图谱本质是为了解决企业非结构化文档的语义化知识体系构建：</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通过逻辑表达、语义表达、事理表达三种递进表达，以可量化、可解释、可溯源的图本体技术，实现</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 AI </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对非结构化知识的可解释、可溯源、无损认知。</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13" name="椭圆 12"/>
          <p:cNvSpPr/>
          <p:nvPr/>
        </p:nvSpPr>
        <p:spPr>
          <a:xfrm>
            <a:off x="663575" y="3400096"/>
            <a:ext cx="655845" cy="636928"/>
          </a:xfrm>
          <a:prstGeom prst="ellipse">
            <a:avLst/>
          </a:prstGeom>
          <a:solidFill>
            <a:srgbClr val="929292"/>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文档</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14" name="椭圆 13"/>
          <p:cNvSpPr/>
          <p:nvPr/>
        </p:nvSpPr>
        <p:spPr>
          <a:xfrm>
            <a:off x="2758287" y="3400096"/>
            <a:ext cx="655845" cy="636928"/>
          </a:xfrm>
          <a:prstGeom prst="ellipse">
            <a:avLst/>
          </a:prstGeom>
          <a:solidFill>
            <a:srgbClr val="929292"/>
          </a:solidFill>
          <a:ln w="12700">
            <a:no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文档</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cxnSp>
        <p:nvCxnSpPr>
          <p:cNvPr id="4" name="直接箭头连接符 3"/>
          <p:cNvCxnSpPr>
            <a:stCxn id="13" idx="6"/>
            <a:endCxn id="14" idx="2"/>
          </p:cNvCxnSpPr>
          <p:nvPr/>
        </p:nvCxnSpPr>
        <p:spPr>
          <a:xfrm>
            <a:off x="1319420" y="3718560"/>
            <a:ext cx="1438867" cy="0"/>
          </a:xfrm>
          <a:prstGeom prst="straightConnector1">
            <a:avLst/>
          </a:prstGeom>
          <a:ln>
            <a:tailEnd type="triangle" w="med" len="med"/>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474492" y="5116221"/>
            <a:ext cx="1283795" cy="368300"/>
          </a:xfrm>
          <a:prstGeom prst="rect">
            <a:avLst/>
          </a:prstGeom>
          <a:noFill/>
        </p:spPr>
        <p:txBody>
          <a:bodyPr wrap="square">
            <a:spAutoFit/>
          </a:bodyPr>
          <a:lstStyle/>
          <a:p>
            <a:r>
              <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rPr>
              <a:t>逻辑表达</a:t>
            </a:r>
            <a:endPar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文本框 6"/>
          <p:cNvSpPr txBox="1"/>
          <p:nvPr/>
        </p:nvSpPr>
        <p:spPr>
          <a:xfrm>
            <a:off x="770255" y="5761990"/>
            <a:ext cx="3021330" cy="953135"/>
          </a:xfrm>
          <a:prstGeom prst="rect">
            <a:avLst/>
          </a:prstGeom>
          <a:noFill/>
        </p:spPr>
        <p:txBody>
          <a:bodyPr wrap="square" rtlCol="0">
            <a:spAutoFit/>
          </a:bodyPr>
          <a:lstStyle/>
          <a:p>
            <a:pPr marL="171450" indent="-171450" algn="l">
              <a:buFont typeface="Arial" panose="020B0604020202090204" pitchFamily="34" charset="0"/>
              <a:buChar char="•"/>
            </a:pPr>
            <a:r>
              <a:rPr lang="zh-CN" altLang="en-US" sz="1400" dirty="0">
                <a:solidFill>
                  <a:schemeClr val="tx1"/>
                </a:solidFill>
                <a:latin typeface="微软雅黑" panose="020B0503020204020204" charset="-122"/>
                <a:ea typeface="微软雅黑" panose="020B0503020204020204" charset="-122"/>
              </a:rPr>
              <a:t>认知企业都有哪些非结构化文档</a:t>
            </a:r>
            <a:endParaRPr lang="en-US" altLang="zh-CN" sz="1400" dirty="0">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altLang="en-US" sz="1400" dirty="0">
                <a:solidFill>
                  <a:schemeClr val="tx1"/>
                </a:solidFill>
                <a:latin typeface="微软雅黑" panose="020B0503020204020204" charset="-122"/>
                <a:ea typeface="微软雅黑" panose="020B0503020204020204" charset="-122"/>
              </a:rPr>
              <a:t>认知非结构化文档间的关系</a:t>
            </a:r>
            <a:r>
              <a:rPr lang="en-US" altLang="zh-CN" sz="1400" dirty="0">
                <a:solidFill>
                  <a:schemeClr val="tx1"/>
                </a:solidFill>
                <a:latin typeface="微软雅黑" panose="020B0503020204020204" charset="-122"/>
                <a:ea typeface="微软雅黑" panose="020B0503020204020204" charset="-122"/>
              </a:rPr>
              <a:t>，</a:t>
            </a:r>
            <a:r>
              <a:rPr lang="zh-CN" altLang="en-US" sz="1400" dirty="0">
                <a:solidFill>
                  <a:schemeClr val="tx1"/>
                </a:solidFill>
                <a:latin typeface="微软雅黑" panose="020B0503020204020204" charset="-122"/>
                <a:ea typeface="微软雅黑" panose="020B0503020204020204" charset="-122"/>
              </a:rPr>
              <a:t>包括引用、被引、配套支撑、修订、替代、补充等</a:t>
            </a:r>
            <a:r>
              <a:rPr lang="zh-CN" altLang="en-US" sz="1400" dirty="0">
                <a:solidFill>
                  <a:schemeClr val="tx1"/>
                </a:solidFill>
                <a:latin typeface="微软雅黑" panose="020B0503020204020204" charset="-122"/>
                <a:ea typeface="微软雅黑" panose="020B0503020204020204" charset="-122"/>
              </a:rPr>
              <a:t>关系</a:t>
            </a:r>
            <a:endParaRPr lang="zh-CN" altLang="en-US" sz="1400" dirty="0">
              <a:solidFill>
                <a:schemeClr val="tx1"/>
              </a:solidFill>
              <a:latin typeface="微软雅黑" panose="020B0503020204020204" charset="-122"/>
              <a:ea typeface="微软雅黑" panose="020B0503020204020204" charset="-122"/>
            </a:endParaRPr>
          </a:p>
        </p:txBody>
      </p:sp>
      <p:sp>
        <p:nvSpPr>
          <p:cNvPr id="8" name="椭圆 7"/>
          <p:cNvSpPr/>
          <p:nvPr/>
        </p:nvSpPr>
        <p:spPr>
          <a:xfrm>
            <a:off x="5124132" y="2896452"/>
            <a:ext cx="655845" cy="636928"/>
          </a:xfrm>
          <a:prstGeom prst="ellipse">
            <a:avLst/>
          </a:prstGeom>
          <a:solidFill>
            <a:srgbClr val="D5A4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业务对象</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9" name="椭圆 8"/>
          <p:cNvSpPr/>
          <p:nvPr/>
        </p:nvSpPr>
        <p:spPr>
          <a:xfrm>
            <a:off x="4329193" y="3718344"/>
            <a:ext cx="655845" cy="636928"/>
          </a:xfrm>
          <a:prstGeom prst="ellipse">
            <a:avLst/>
          </a:prstGeom>
          <a:solidFill>
            <a:srgbClr val="008DCC"/>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业务场景</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10" name="椭圆 9"/>
          <p:cNvSpPr/>
          <p:nvPr/>
        </p:nvSpPr>
        <p:spPr>
          <a:xfrm>
            <a:off x="5693874" y="4040924"/>
            <a:ext cx="655845" cy="636928"/>
          </a:xfrm>
          <a:prstGeom prst="ellipse">
            <a:avLst/>
          </a:prstGeom>
          <a:solidFill>
            <a:srgbClr val="929292"/>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文档</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cxnSp>
        <p:nvCxnSpPr>
          <p:cNvPr id="11" name="直接连接符 10"/>
          <p:cNvCxnSpPr>
            <a:stCxn id="8" idx="4"/>
            <a:endCxn id="10" idx="1"/>
          </p:cNvCxnSpPr>
          <p:nvPr/>
        </p:nvCxnSpPr>
        <p:spPr>
          <a:xfrm>
            <a:off x="5452156" y="3533449"/>
            <a:ext cx="337820" cy="601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9" idx="5"/>
            <a:endCxn id="10" idx="2"/>
          </p:cNvCxnSpPr>
          <p:nvPr/>
        </p:nvCxnSpPr>
        <p:spPr>
          <a:xfrm>
            <a:off x="4889153" y="4262233"/>
            <a:ext cx="805180" cy="97155"/>
          </a:xfrm>
          <a:prstGeom prst="line">
            <a:avLst/>
          </a:prstGeom>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5366038" y="5116221"/>
            <a:ext cx="1283795" cy="368300"/>
          </a:xfrm>
          <a:prstGeom prst="rect">
            <a:avLst/>
          </a:prstGeom>
          <a:noFill/>
        </p:spPr>
        <p:txBody>
          <a:bodyPr wrap="square">
            <a:spAutoFit/>
          </a:bodyPr>
          <a:lstStyle/>
          <a:p>
            <a:r>
              <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rPr>
              <a:t>语义表达</a:t>
            </a:r>
            <a:endPar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9" name="文本框 18"/>
          <p:cNvSpPr txBox="1"/>
          <p:nvPr/>
        </p:nvSpPr>
        <p:spPr>
          <a:xfrm>
            <a:off x="4425950" y="5657215"/>
            <a:ext cx="3237865" cy="521970"/>
          </a:xfrm>
          <a:prstGeom prst="rect">
            <a:avLst/>
          </a:prstGeom>
          <a:noFill/>
        </p:spPr>
        <p:txBody>
          <a:bodyPr wrap="square" rtlCol="0">
            <a:spAutoFit/>
          </a:bodyPr>
          <a:lstStyle/>
          <a:p>
            <a:pPr marL="171450" indent="-171450">
              <a:buFont typeface="Arial" panose="020B0604020202090204" pitchFamily="34" charset="0"/>
              <a:buChar char="•"/>
            </a:pPr>
            <a:r>
              <a:rPr lang="zh-CN" altLang="en-US" sz="1400" dirty="0">
                <a:solidFill>
                  <a:schemeClr val="tx1"/>
                </a:solidFill>
                <a:latin typeface="微软雅黑" panose="020B0503020204020204" charset="-122"/>
                <a:ea typeface="微软雅黑" panose="020B0503020204020204" charset="-122"/>
              </a:rPr>
              <a:t>构建业务对象</a:t>
            </a:r>
            <a:r>
              <a:rPr lang="en-US" altLang="zh-CN" sz="1400" dirty="0">
                <a:solidFill>
                  <a:schemeClr val="tx1"/>
                </a:solidFill>
                <a:latin typeface="微软雅黑" panose="020B0503020204020204" charset="-122"/>
                <a:ea typeface="微软雅黑" panose="020B0503020204020204" charset="-122"/>
              </a:rPr>
              <a:t>、</a:t>
            </a:r>
            <a:r>
              <a:rPr lang="zh-CN" altLang="en-US" sz="1400" dirty="0">
                <a:solidFill>
                  <a:schemeClr val="tx1"/>
                </a:solidFill>
                <a:latin typeface="微软雅黑" panose="020B0503020204020204" charset="-122"/>
                <a:ea typeface="微软雅黑" panose="020B0503020204020204" charset="-122"/>
              </a:rPr>
              <a:t>业务场景</a:t>
            </a:r>
            <a:r>
              <a:rPr lang="en-US" altLang="zh-CN" sz="1400" dirty="0">
                <a:solidFill>
                  <a:schemeClr val="tx1"/>
                </a:solidFill>
                <a:latin typeface="微软雅黑" panose="020B0503020204020204" charset="-122"/>
                <a:ea typeface="微软雅黑" panose="020B0503020204020204" charset="-122"/>
              </a:rPr>
              <a:t>、</a:t>
            </a:r>
            <a:r>
              <a:rPr lang="zh-CN" altLang="en-US" sz="1400" dirty="0">
                <a:solidFill>
                  <a:schemeClr val="tx1"/>
                </a:solidFill>
                <a:latin typeface="微软雅黑" panose="020B0503020204020204" charset="-122"/>
                <a:ea typeface="微软雅黑" panose="020B0503020204020204" charset="-122"/>
              </a:rPr>
              <a:t>业务活动</a:t>
            </a:r>
            <a:r>
              <a:rPr lang="en-US" altLang="zh-CN" sz="1400" dirty="0">
                <a:solidFill>
                  <a:schemeClr val="tx1"/>
                </a:solidFill>
                <a:latin typeface="微软雅黑" panose="020B0503020204020204" charset="-122"/>
                <a:ea typeface="微软雅黑" panose="020B0503020204020204" charset="-122"/>
              </a:rPr>
              <a:t>、</a:t>
            </a:r>
            <a:r>
              <a:rPr lang="zh-CN" altLang="en-US" sz="1400" dirty="0">
                <a:solidFill>
                  <a:schemeClr val="tx1"/>
                </a:solidFill>
                <a:latin typeface="微软雅黑" panose="020B0503020204020204" charset="-122"/>
                <a:ea typeface="微软雅黑" panose="020B0503020204020204" charset="-122"/>
              </a:rPr>
              <a:t>业务数据与文档之间的语义关系</a:t>
            </a:r>
            <a:endParaRPr lang="zh-CN" altLang="en-US" sz="1400" dirty="0">
              <a:solidFill>
                <a:schemeClr val="tx1"/>
              </a:solidFill>
              <a:latin typeface="微软雅黑" panose="020B0503020204020204" charset="-122"/>
              <a:ea typeface="微软雅黑" panose="020B0503020204020204" charset="-122"/>
            </a:endParaRPr>
          </a:p>
        </p:txBody>
      </p:sp>
      <p:sp>
        <p:nvSpPr>
          <p:cNvPr id="79" name="文本框 78"/>
          <p:cNvSpPr txBox="1"/>
          <p:nvPr/>
        </p:nvSpPr>
        <p:spPr>
          <a:xfrm>
            <a:off x="9403183" y="5116221"/>
            <a:ext cx="1283795" cy="368300"/>
          </a:xfrm>
          <a:prstGeom prst="rect">
            <a:avLst/>
          </a:prstGeom>
          <a:noFill/>
        </p:spPr>
        <p:txBody>
          <a:bodyPr wrap="square">
            <a:spAutoFit/>
          </a:bodyPr>
          <a:lstStyle/>
          <a:p>
            <a:r>
              <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事理表达</a:t>
            </a:r>
            <a:endPar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81" name="文本框 80"/>
          <p:cNvSpPr txBox="1"/>
          <p:nvPr/>
        </p:nvSpPr>
        <p:spPr>
          <a:xfrm>
            <a:off x="8695055" y="5653405"/>
            <a:ext cx="3087370" cy="1168400"/>
          </a:xfrm>
          <a:prstGeom prst="rect">
            <a:avLst/>
          </a:prstGeom>
          <a:noFill/>
        </p:spPr>
        <p:txBody>
          <a:bodyPr wrap="square" rtlCol="0">
            <a:spAutoFit/>
          </a:bodyPr>
          <a:lstStyle/>
          <a:p>
            <a:pPr marL="171450" indent="-171450">
              <a:buFont typeface="Arial" panose="020B0604020202090204" pitchFamily="34" charset="0"/>
              <a:buChar char="•"/>
            </a:pPr>
            <a:r>
              <a:rPr lang="zh-CN" altLang="en-US" sz="1400" dirty="0">
                <a:solidFill>
                  <a:schemeClr val="tx1"/>
                </a:solidFill>
                <a:latin typeface="微软雅黑" panose="020B0503020204020204" charset="-122"/>
                <a:ea typeface="微软雅黑" panose="020B0503020204020204" charset="-122"/>
              </a:rPr>
              <a:t>构建业务场景、业务活动</a:t>
            </a:r>
            <a:r>
              <a:rPr lang="en-US" altLang="zh-CN" sz="1400" dirty="0">
                <a:solidFill>
                  <a:schemeClr val="tx1"/>
                </a:solidFill>
                <a:latin typeface="微软雅黑" panose="020B0503020204020204" charset="-122"/>
                <a:ea typeface="微软雅黑" panose="020B0503020204020204" charset="-122"/>
              </a:rPr>
              <a:t>、</a:t>
            </a:r>
            <a:r>
              <a:rPr lang="zh-CN" altLang="en-US" sz="1400" dirty="0">
                <a:solidFill>
                  <a:schemeClr val="tx1"/>
                </a:solidFill>
                <a:latin typeface="微软雅黑" panose="020B0503020204020204" charset="-122"/>
                <a:ea typeface="微软雅黑" panose="020B0503020204020204" charset="-122"/>
              </a:rPr>
              <a:t>业务对象间的流程关系知识</a:t>
            </a:r>
            <a:endParaRPr lang="zh-CN" altLang="en-US" sz="1400" dirty="0">
              <a:solidFill>
                <a:schemeClr val="tx1"/>
              </a:solidFill>
              <a:latin typeface="微软雅黑" panose="020B0503020204020204" charset="-122"/>
              <a:ea typeface="微软雅黑" panose="020B0503020204020204" charset="-122"/>
            </a:endParaRPr>
          </a:p>
          <a:p>
            <a:pPr marL="171450" indent="-171450">
              <a:buFont typeface="Arial" panose="020B0604020202090204" pitchFamily="34" charset="0"/>
              <a:buChar char="•"/>
            </a:pPr>
            <a:r>
              <a:rPr lang="zh-CN" altLang="en-US" sz="1400" dirty="0">
                <a:solidFill>
                  <a:schemeClr val="tx1"/>
                </a:solidFill>
                <a:latin typeface="微软雅黑" panose="020B0503020204020204" charset="-122"/>
                <a:ea typeface="微软雅黑" panose="020B0503020204020204" charset="-122"/>
              </a:rPr>
              <a:t>需要与结构化数据打通</a:t>
            </a:r>
            <a:r>
              <a:rPr lang="en-US" altLang="zh-CN" sz="1400" dirty="0">
                <a:solidFill>
                  <a:schemeClr val="tx1"/>
                </a:solidFill>
                <a:latin typeface="微软雅黑" panose="020B0503020204020204" charset="-122"/>
                <a:ea typeface="微软雅黑" panose="020B0503020204020204" charset="-122"/>
              </a:rPr>
              <a:t>，</a:t>
            </a:r>
            <a:r>
              <a:rPr lang="zh-CN" altLang="en-US" sz="1400" dirty="0">
                <a:solidFill>
                  <a:schemeClr val="tx1"/>
                </a:solidFill>
                <a:latin typeface="微软雅黑" panose="020B0503020204020204" charset="-122"/>
                <a:ea typeface="微软雅黑" panose="020B0503020204020204" charset="-122"/>
              </a:rPr>
              <a:t>补充完善结构化计算体系的</a:t>
            </a:r>
            <a:r>
              <a:rPr lang="en-US" altLang="zh-CN" sz="1400" dirty="0">
                <a:solidFill>
                  <a:schemeClr val="tx1"/>
                </a:solidFill>
                <a:latin typeface="微软雅黑" panose="020B0503020204020204" charset="-122"/>
                <a:ea typeface="微软雅黑" panose="020B0503020204020204" charset="-122"/>
              </a:rPr>
              <a:t> Data</a:t>
            </a:r>
            <a:r>
              <a:rPr lang="zh-CN" altLang="en-US" sz="1400" dirty="0">
                <a:solidFill>
                  <a:schemeClr val="tx1"/>
                </a:solidFill>
                <a:latin typeface="微软雅黑" panose="020B0503020204020204" charset="-122"/>
                <a:ea typeface="微软雅黑" panose="020B0503020204020204" charset="-122"/>
              </a:rPr>
              <a:t>、</a:t>
            </a:r>
            <a:r>
              <a:rPr lang="en-US" altLang="zh-CN" sz="1400" dirty="0">
                <a:solidFill>
                  <a:schemeClr val="tx1"/>
                </a:solidFill>
                <a:latin typeface="微软雅黑" panose="020B0503020204020204" charset="-122"/>
                <a:ea typeface="微软雅黑" panose="020B0503020204020204" charset="-122"/>
              </a:rPr>
              <a:t>Logic</a:t>
            </a:r>
            <a:r>
              <a:rPr lang="zh-CN" altLang="en-US" sz="1400" dirty="0">
                <a:solidFill>
                  <a:schemeClr val="tx1"/>
                </a:solidFill>
                <a:latin typeface="微软雅黑" panose="020B0503020204020204" charset="-122"/>
                <a:ea typeface="微软雅黑" panose="020B0503020204020204" charset="-122"/>
              </a:rPr>
              <a:t>、</a:t>
            </a:r>
            <a:r>
              <a:rPr lang="en-US" altLang="zh-CN" sz="1400" dirty="0">
                <a:solidFill>
                  <a:schemeClr val="tx1"/>
                </a:solidFill>
                <a:latin typeface="微软雅黑" panose="020B0503020204020204" charset="-122"/>
                <a:ea typeface="微软雅黑" panose="020B0503020204020204" charset="-122"/>
              </a:rPr>
              <a:t>Action </a:t>
            </a:r>
            <a:r>
              <a:rPr lang="zh-CN" altLang="en-US" sz="1400" dirty="0">
                <a:solidFill>
                  <a:schemeClr val="tx1"/>
                </a:solidFill>
                <a:latin typeface="微软雅黑" panose="020B0503020204020204" charset="-122"/>
                <a:ea typeface="微软雅黑" panose="020B0503020204020204" charset="-122"/>
              </a:rPr>
              <a:t>知识</a:t>
            </a:r>
            <a:endParaRPr lang="zh-CN" altLang="en-US" sz="1400" dirty="0">
              <a:solidFill>
                <a:schemeClr val="tx1"/>
              </a:solidFill>
              <a:latin typeface="微软雅黑" panose="020B0503020204020204" charset="-122"/>
              <a:ea typeface="微软雅黑" panose="020B0503020204020204" charset="-122"/>
            </a:endParaRPr>
          </a:p>
        </p:txBody>
      </p:sp>
      <p:cxnSp>
        <p:nvCxnSpPr>
          <p:cNvPr id="61" name="直接连接符 60"/>
          <p:cNvCxnSpPr/>
          <p:nvPr/>
        </p:nvCxnSpPr>
        <p:spPr>
          <a:xfrm>
            <a:off x="4103962" y="2252867"/>
            <a:ext cx="0" cy="4298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989636" y="2328542"/>
            <a:ext cx="0" cy="4298756"/>
          </a:xfrm>
          <a:prstGeom prst="line">
            <a:avLst/>
          </a:prstGeom>
        </p:spPr>
        <p:style>
          <a:lnRef idx="1">
            <a:schemeClr val="accent1"/>
          </a:lnRef>
          <a:fillRef idx="0">
            <a:schemeClr val="accent1"/>
          </a:fillRef>
          <a:effectRef idx="0">
            <a:schemeClr val="accent1"/>
          </a:effectRef>
          <a:fontRef idx="minor">
            <a:schemeClr val="tx1"/>
          </a:fontRef>
        </p:style>
      </p:cxnSp>
      <p:sp>
        <p:nvSpPr>
          <p:cNvPr id="95" name="椭圆 94"/>
          <p:cNvSpPr/>
          <p:nvPr/>
        </p:nvSpPr>
        <p:spPr>
          <a:xfrm>
            <a:off x="10146347" y="2674837"/>
            <a:ext cx="655845" cy="636928"/>
          </a:xfrm>
          <a:prstGeom prst="ellipse">
            <a:avLst/>
          </a:prstGeom>
          <a:solidFill>
            <a:srgbClr val="008DCC"/>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业务场景</a:t>
            </a:r>
            <a:r>
              <a:rPr lang="en-US" altLang="zh-CN" sz="1000" dirty="0">
                <a:latin typeface="微软雅黑" panose="020B0503020204020204" charset="-122"/>
                <a:ea typeface="微软雅黑" panose="020B0503020204020204" charset="-122"/>
                <a:cs typeface="微软雅黑 Light" panose="020B0502040204020203" pitchFamily="34" charset="-122"/>
                <a:sym typeface="+mn-ea"/>
              </a:rPr>
              <a:t>1</a:t>
            </a:r>
            <a:endParaRPr lang="en-US" altLang="zh-CN"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96" name="椭圆 95"/>
          <p:cNvSpPr/>
          <p:nvPr/>
        </p:nvSpPr>
        <p:spPr>
          <a:xfrm>
            <a:off x="6247447" y="2896452"/>
            <a:ext cx="655845" cy="636928"/>
          </a:xfrm>
          <a:prstGeom prst="ellipse">
            <a:avLst/>
          </a:prstGeom>
          <a:solidFill>
            <a:srgbClr val="7EA9E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业务活动</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97" name="椭圆 96"/>
          <p:cNvSpPr/>
          <p:nvPr/>
        </p:nvSpPr>
        <p:spPr>
          <a:xfrm>
            <a:off x="7007542" y="3609557"/>
            <a:ext cx="655845" cy="636928"/>
          </a:xfrm>
          <a:prstGeom prst="ellipse">
            <a:avLst/>
          </a:prstGeom>
          <a:solidFill>
            <a:srgbClr val="3D5268"/>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业务术语</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cxnSp>
        <p:nvCxnSpPr>
          <p:cNvPr id="98" name="直接连接符 97"/>
          <p:cNvCxnSpPr>
            <a:stCxn id="96" idx="4"/>
            <a:endCxn id="10" idx="7"/>
          </p:cNvCxnSpPr>
          <p:nvPr/>
        </p:nvCxnSpPr>
        <p:spPr>
          <a:xfrm flipH="1">
            <a:off x="6254115" y="3533140"/>
            <a:ext cx="321310" cy="601345"/>
          </a:xfrm>
          <a:prstGeom prst="line">
            <a:avLst/>
          </a:prstGeom>
        </p:spPr>
        <p:style>
          <a:lnRef idx="2">
            <a:schemeClr val="accent1"/>
          </a:lnRef>
          <a:fillRef idx="0">
            <a:srgbClr val="FFFFFF"/>
          </a:fillRef>
          <a:effectRef idx="0">
            <a:srgbClr val="FFFFFF"/>
          </a:effectRef>
          <a:fontRef idx="minor">
            <a:schemeClr val="tx1"/>
          </a:fontRef>
        </p:style>
      </p:cxnSp>
      <p:cxnSp>
        <p:nvCxnSpPr>
          <p:cNvPr id="99" name="直接连接符 98"/>
          <p:cNvCxnSpPr>
            <a:stCxn id="97" idx="3"/>
            <a:endCxn id="10" idx="6"/>
          </p:cNvCxnSpPr>
          <p:nvPr/>
        </p:nvCxnSpPr>
        <p:spPr>
          <a:xfrm flipH="1">
            <a:off x="6350000" y="4152900"/>
            <a:ext cx="753110" cy="207010"/>
          </a:xfrm>
          <a:prstGeom prst="line">
            <a:avLst/>
          </a:prstGeom>
        </p:spPr>
        <p:style>
          <a:lnRef idx="2">
            <a:schemeClr val="accent1"/>
          </a:lnRef>
          <a:fillRef idx="0">
            <a:srgbClr val="FFFFFF"/>
          </a:fillRef>
          <a:effectRef idx="0">
            <a:srgbClr val="FFFFFF"/>
          </a:effectRef>
          <a:fontRef idx="minor">
            <a:schemeClr val="tx1"/>
          </a:fontRef>
        </p:style>
      </p:cxnSp>
      <p:sp>
        <p:nvSpPr>
          <p:cNvPr id="100" name="椭圆 99"/>
          <p:cNvSpPr/>
          <p:nvPr/>
        </p:nvSpPr>
        <p:spPr>
          <a:xfrm>
            <a:off x="8174672" y="3750527"/>
            <a:ext cx="655845" cy="636928"/>
          </a:xfrm>
          <a:prstGeom prst="ellipse">
            <a:avLst/>
          </a:prstGeom>
          <a:solidFill>
            <a:srgbClr val="D5A4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业务对象</a:t>
            </a:r>
            <a:r>
              <a:rPr lang="en-US" altLang="zh-CN" sz="1000" dirty="0">
                <a:latin typeface="微软雅黑" panose="020B0503020204020204" charset="-122"/>
                <a:ea typeface="微软雅黑" panose="020B0503020204020204" charset="-122"/>
                <a:cs typeface="微软雅黑 Light" panose="020B0502040204020203" pitchFamily="34" charset="-122"/>
                <a:sym typeface="+mn-ea"/>
              </a:rPr>
              <a:t>1</a:t>
            </a:r>
            <a:endParaRPr lang="en-US" altLang="zh-CN"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101" name="椭圆 100"/>
          <p:cNvSpPr/>
          <p:nvPr/>
        </p:nvSpPr>
        <p:spPr>
          <a:xfrm>
            <a:off x="9005887" y="3719412"/>
            <a:ext cx="655845" cy="636928"/>
          </a:xfrm>
          <a:prstGeom prst="ellipse">
            <a:avLst/>
          </a:prstGeom>
          <a:solidFill>
            <a:srgbClr val="7EA9E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业务活动1</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102" name="椭圆 101"/>
          <p:cNvSpPr/>
          <p:nvPr/>
        </p:nvSpPr>
        <p:spPr>
          <a:xfrm>
            <a:off x="9802812" y="3720047"/>
            <a:ext cx="655845" cy="636928"/>
          </a:xfrm>
          <a:prstGeom prst="ellipse">
            <a:avLst/>
          </a:prstGeom>
          <a:solidFill>
            <a:srgbClr val="7EA9E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业务活动2</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103" name="椭圆 102"/>
          <p:cNvSpPr/>
          <p:nvPr/>
        </p:nvSpPr>
        <p:spPr>
          <a:xfrm>
            <a:off x="10595927" y="3723857"/>
            <a:ext cx="655845" cy="636928"/>
          </a:xfrm>
          <a:prstGeom prst="ellipse">
            <a:avLst/>
          </a:prstGeom>
          <a:solidFill>
            <a:srgbClr val="7EA9E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业务活动3</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104" name="椭圆 103"/>
          <p:cNvSpPr/>
          <p:nvPr/>
        </p:nvSpPr>
        <p:spPr>
          <a:xfrm>
            <a:off x="11356022" y="3724492"/>
            <a:ext cx="655845" cy="636928"/>
          </a:xfrm>
          <a:prstGeom prst="ellipse">
            <a:avLst/>
          </a:prstGeom>
          <a:solidFill>
            <a:srgbClr val="7EA9E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业务活动4</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cxnSp>
        <p:nvCxnSpPr>
          <p:cNvPr id="105" name="曲线连接符 104"/>
          <p:cNvCxnSpPr>
            <a:stCxn id="95" idx="2"/>
            <a:endCxn id="100" idx="0"/>
          </p:cNvCxnSpPr>
          <p:nvPr/>
        </p:nvCxnSpPr>
        <p:spPr>
          <a:xfrm rot="10800000" flipV="1">
            <a:off x="8502650" y="2993390"/>
            <a:ext cx="1643380" cy="756920"/>
          </a:xfrm>
          <a:prstGeom prst="curved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6" name="曲线连接符 105"/>
          <p:cNvCxnSpPr>
            <a:stCxn id="95" idx="2"/>
            <a:endCxn id="101" idx="0"/>
          </p:cNvCxnSpPr>
          <p:nvPr/>
        </p:nvCxnSpPr>
        <p:spPr>
          <a:xfrm rot="10800000" flipV="1">
            <a:off x="9333230" y="2992755"/>
            <a:ext cx="812165" cy="725805"/>
          </a:xfrm>
          <a:prstGeom prst="curved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7" name="曲线连接符 106"/>
          <p:cNvCxnSpPr>
            <a:stCxn id="95" idx="4"/>
            <a:endCxn id="102" idx="0"/>
          </p:cNvCxnSpPr>
          <p:nvPr/>
        </p:nvCxnSpPr>
        <p:spPr>
          <a:xfrm rot="5400000">
            <a:off x="10098405" y="3343275"/>
            <a:ext cx="408305" cy="343535"/>
          </a:xfrm>
          <a:prstGeom prst="curvedConnector3">
            <a:avLst>
              <a:gd name="adj1" fmla="val 50078"/>
            </a:avLst>
          </a:prstGeom>
          <a:ln>
            <a:tailEnd type="arrow"/>
          </a:ln>
        </p:spPr>
        <p:style>
          <a:lnRef idx="2">
            <a:schemeClr val="accent1"/>
          </a:lnRef>
          <a:fillRef idx="0">
            <a:srgbClr val="FFFFFF"/>
          </a:fillRef>
          <a:effectRef idx="0">
            <a:srgbClr val="FFFFFF"/>
          </a:effectRef>
          <a:fontRef idx="minor">
            <a:schemeClr val="tx1"/>
          </a:fontRef>
        </p:style>
      </p:cxnSp>
      <p:cxnSp>
        <p:nvCxnSpPr>
          <p:cNvPr id="108" name="曲线连接符 107"/>
          <p:cNvCxnSpPr>
            <a:stCxn id="95" idx="6"/>
            <a:endCxn id="104" idx="0"/>
          </p:cNvCxnSpPr>
          <p:nvPr/>
        </p:nvCxnSpPr>
        <p:spPr>
          <a:xfrm>
            <a:off x="10801985" y="2993390"/>
            <a:ext cx="882015" cy="730885"/>
          </a:xfrm>
          <a:prstGeom prst="curved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9" name="曲线连接符 108"/>
          <p:cNvCxnSpPr>
            <a:stCxn id="95" idx="4"/>
            <a:endCxn id="103" idx="0"/>
          </p:cNvCxnSpPr>
          <p:nvPr/>
        </p:nvCxnSpPr>
        <p:spPr>
          <a:xfrm rot="5400000" flipV="1">
            <a:off x="10493058" y="3292793"/>
            <a:ext cx="412115" cy="449580"/>
          </a:xfrm>
          <a:prstGeom prst="curved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110" name="曲线连接符 109"/>
          <p:cNvCxnSpPr>
            <a:stCxn id="100" idx="4"/>
            <a:endCxn id="101" idx="4"/>
          </p:cNvCxnSpPr>
          <p:nvPr/>
        </p:nvCxnSpPr>
        <p:spPr>
          <a:xfrm rot="5400000" flipH="1" flipV="1">
            <a:off x="8902700" y="3955415"/>
            <a:ext cx="31115" cy="831215"/>
          </a:xfrm>
          <a:prstGeom prst="curvedConnector3">
            <a:avLst>
              <a:gd name="adj1" fmla="val -765306"/>
            </a:avLst>
          </a:prstGeom>
          <a:ln>
            <a:tailEnd type="arrow"/>
          </a:ln>
        </p:spPr>
        <p:style>
          <a:lnRef idx="2">
            <a:schemeClr val="accent1"/>
          </a:lnRef>
          <a:fillRef idx="0">
            <a:srgbClr val="FFFFFF"/>
          </a:fillRef>
          <a:effectRef idx="0">
            <a:srgbClr val="FFFFFF"/>
          </a:effectRef>
          <a:fontRef idx="minor">
            <a:schemeClr val="tx1"/>
          </a:fontRef>
        </p:style>
      </p:cxnSp>
      <p:cxnSp>
        <p:nvCxnSpPr>
          <p:cNvPr id="111" name="曲线连接符 110"/>
          <p:cNvCxnSpPr>
            <a:stCxn id="100" idx="4"/>
            <a:endCxn id="102" idx="4"/>
          </p:cNvCxnSpPr>
          <p:nvPr/>
        </p:nvCxnSpPr>
        <p:spPr>
          <a:xfrm rot="5400000" flipH="1" flipV="1">
            <a:off x="9301480" y="3557905"/>
            <a:ext cx="30480" cy="1628140"/>
          </a:xfrm>
          <a:prstGeom prst="curvedConnector3">
            <a:avLst>
              <a:gd name="adj1" fmla="val -1070833"/>
            </a:avLst>
          </a:prstGeom>
          <a:ln>
            <a:tailEnd type="arrow"/>
          </a:ln>
        </p:spPr>
        <p:style>
          <a:lnRef idx="2">
            <a:schemeClr val="accent1"/>
          </a:lnRef>
          <a:fillRef idx="0">
            <a:srgbClr val="FFFFFF"/>
          </a:fillRef>
          <a:effectRef idx="0">
            <a:srgbClr val="FFFFFF"/>
          </a:effectRef>
          <a:fontRef idx="minor">
            <a:schemeClr val="tx1"/>
          </a:fontRef>
        </p:style>
      </p:cxnSp>
      <p:cxnSp>
        <p:nvCxnSpPr>
          <p:cNvPr id="112" name="直接箭头连接符 111"/>
          <p:cNvCxnSpPr>
            <a:stCxn id="101" idx="6"/>
            <a:endCxn id="102" idx="2"/>
          </p:cNvCxnSpPr>
          <p:nvPr/>
        </p:nvCxnSpPr>
        <p:spPr>
          <a:xfrm>
            <a:off x="9661525" y="4037965"/>
            <a:ext cx="140970" cy="6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3" name="直接箭头连接符 112"/>
          <p:cNvCxnSpPr>
            <a:stCxn id="102" idx="6"/>
            <a:endCxn id="103" idx="2"/>
          </p:cNvCxnSpPr>
          <p:nvPr/>
        </p:nvCxnSpPr>
        <p:spPr>
          <a:xfrm>
            <a:off x="10458450" y="4038600"/>
            <a:ext cx="137160"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4" name="直接箭头连接符 113"/>
          <p:cNvCxnSpPr>
            <a:stCxn id="103" idx="6"/>
            <a:endCxn id="104" idx="2"/>
          </p:cNvCxnSpPr>
          <p:nvPr/>
        </p:nvCxnSpPr>
        <p:spPr>
          <a:xfrm>
            <a:off x="11251565" y="4042410"/>
            <a:ext cx="104140" cy="6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5" name="文本框 64"/>
          <p:cNvSpPr txBox="1"/>
          <p:nvPr/>
        </p:nvSpPr>
        <p:spPr>
          <a:xfrm>
            <a:off x="1731645" y="3479526"/>
            <a:ext cx="598243" cy="214160"/>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关联</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1" name="文本框 20"/>
          <p:cNvSpPr txBox="1"/>
          <p:nvPr/>
        </p:nvSpPr>
        <p:spPr>
          <a:xfrm rot="21420000">
            <a:off x="5424805" y="3723640"/>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3" name="文本框 22"/>
          <p:cNvSpPr txBox="1"/>
          <p:nvPr/>
        </p:nvSpPr>
        <p:spPr>
          <a:xfrm rot="21420000">
            <a:off x="5050155" y="4208780"/>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4" name="文本框 23"/>
          <p:cNvSpPr txBox="1"/>
          <p:nvPr/>
        </p:nvSpPr>
        <p:spPr>
          <a:xfrm rot="540000">
            <a:off x="6148070" y="372427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5" name="文本框 24"/>
          <p:cNvSpPr txBox="1"/>
          <p:nvPr/>
        </p:nvSpPr>
        <p:spPr>
          <a:xfrm rot="21300000">
            <a:off x="6537325" y="4118610"/>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6" name="文本框 25"/>
          <p:cNvSpPr txBox="1"/>
          <p:nvPr/>
        </p:nvSpPr>
        <p:spPr>
          <a:xfrm rot="21300000">
            <a:off x="8838565" y="307657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涉及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7" name="文本框 26"/>
          <p:cNvSpPr txBox="1"/>
          <p:nvPr/>
        </p:nvSpPr>
        <p:spPr>
          <a:xfrm rot="21300000">
            <a:off x="9270365" y="3248660"/>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涉及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8" name="文本框 27"/>
          <p:cNvSpPr txBox="1"/>
          <p:nvPr/>
        </p:nvSpPr>
        <p:spPr>
          <a:xfrm rot="21300000">
            <a:off x="8843010" y="444309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涉及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29" name="文本框 28"/>
          <p:cNvSpPr txBox="1"/>
          <p:nvPr/>
        </p:nvSpPr>
        <p:spPr>
          <a:xfrm rot="21300000">
            <a:off x="9600565" y="4511040"/>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b="1" i="1">
                <a:solidFill>
                  <a:schemeClr val="accent5">
                    <a:lumMod val="75000"/>
                  </a:schemeClr>
                </a:solidFill>
                <a:latin typeface="微软雅黑" panose="020B0503020204020204" charset="-122"/>
                <a:ea typeface="微软雅黑" panose="020B0503020204020204" charset="-122"/>
                <a:sym typeface="+mn-ea"/>
              </a:rPr>
              <a:t>涉及</a:t>
            </a:r>
            <a:endParaRPr lang="zh-CN" altLang="en-US" sz="900" b="1" i="1">
              <a:solidFill>
                <a:schemeClr val="accent5">
                  <a:lumMod val="75000"/>
                </a:schemeClr>
              </a:solidFill>
              <a:latin typeface="微软雅黑" panose="020B0503020204020204" charset="-122"/>
              <a:ea typeface="微软雅黑" panose="020B0503020204020204" charset="-122"/>
              <a:sym typeface="+mn-ea"/>
            </a:endParaRPr>
          </a:p>
        </p:txBody>
      </p:sp>
      <p:sp>
        <p:nvSpPr>
          <p:cNvPr id="30" name="文本框 29"/>
          <p:cNvSpPr txBox="1"/>
          <p:nvPr/>
        </p:nvSpPr>
        <p:spPr>
          <a:xfrm rot="21300000">
            <a:off x="9983470" y="3453130"/>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涉及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31" name="文本框 30"/>
          <p:cNvSpPr txBox="1"/>
          <p:nvPr/>
        </p:nvSpPr>
        <p:spPr>
          <a:xfrm rot="21300000">
            <a:off x="10570210" y="345503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涉及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32" name="文本框 31"/>
          <p:cNvSpPr txBox="1"/>
          <p:nvPr/>
        </p:nvSpPr>
        <p:spPr>
          <a:xfrm rot="21300000">
            <a:off x="11193145" y="316420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涉及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33" name="文本框 32"/>
          <p:cNvSpPr txBox="1"/>
          <p:nvPr/>
        </p:nvSpPr>
        <p:spPr>
          <a:xfrm>
            <a:off x="9498330" y="380809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i="1">
                <a:solidFill>
                  <a:schemeClr val="accent5">
                    <a:lumMod val="75000"/>
                  </a:schemeClr>
                </a:solidFill>
                <a:latin typeface="微软雅黑" panose="020B0503020204020204" charset="-122"/>
                <a:ea typeface="微软雅黑" panose="020B0503020204020204" charset="-122"/>
                <a:sym typeface="+mn-ea"/>
              </a:rPr>
              <a:t>关联</a:t>
            </a:r>
            <a:endParaRPr lang="zh-CN" altLang="en-US" sz="800" i="1">
              <a:solidFill>
                <a:schemeClr val="accent5">
                  <a:lumMod val="75000"/>
                </a:schemeClr>
              </a:solidFill>
              <a:latin typeface="微软雅黑" panose="020B0503020204020204" charset="-122"/>
              <a:ea typeface="微软雅黑" panose="020B0503020204020204" charset="-122"/>
              <a:sym typeface="+mn-ea"/>
            </a:endParaRPr>
          </a:p>
        </p:txBody>
      </p:sp>
      <p:sp>
        <p:nvSpPr>
          <p:cNvPr id="34" name="文本框 33"/>
          <p:cNvSpPr txBox="1"/>
          <p:nvPr/>
        </p:nvSpPr>
        <p:spPr>
          <a:xfrm>
            <a:off x="10286365" y="382333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i="1">
                <a:solidFill>
                  <a:schemeClr val="accent5">
                    <a:lumMod val="75000"/>
                  </a:schemeClr>
                </a:solidFill>
                <a:latin typeface="微软雅黑" panose="020B0503020204020204" charset="-122"/>
                <a:ea typeface="微软雅黑" panose="020B0503020204020204" charset="-122"/>
                <a:sym typeface="+mn-ea"/>
              </a:rPr>
              <a:t>关联</a:t>
            </a:r>
            <a:endParaRPr lang="zh-CN" altLang="en-US" sz="800" i="1">
              <a:solidFill>
                <a:schemeClr val="accent5">
                  <a:lumMod val="75000"/>
                </a:schemeClr>
              </a:solidFill>
              <a:latin typeface="微软雅黑" panose="020B0503020204020204" charset="-122"/>
              <a:ea typeface="微软雅黑" panose="020B0503020204020204" charset="-122"/>
              <a:sym typeface="+mn-ea"/>
            </a:endParaRPr>
          </a:p>
        </p:txBody>
      </p:sp>
      <p:sp>
        <p:nvSpPr>
          <p:cNvPr id="35" name="文本框 34"/>
          <p:cNvSpPr txBox="1"/>
          <p:nvPr/>
        </p:nvSpPr>
        <p:spPr>
          <a:xfrm>
            <a:off x="11061065" y="382460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800" i="1">
                <a:solidFill>
                  <a:schemeClr val="accent5">
                    <a:lumMod val="75000"/>
                  </a:schemeClr>
                </a:solidFill>
                <a:latin typeface="微软雅黑" panose="020B0503020204020204" charset="-122"/>
                <a:ea typeface="微软雅黑" panose="020B0503020204020204" charset="-122"/>
                <a:sym typeface="+mn-ea"/>
              </a:rPr>
              <a:t>关联</a:t>
            </a:r>
            <a:endParaRPr lang="zh-CN" altLang="en-US" sz="800" i="1">
              <a:solidFill>
                <a:schemeClr val="accent5">
                  <a:lumMod val="75000"/>
                </a:schemeClr>
              </a:solidFill>
              <a:latin typeface="微软雅黑" panose="020B0503020204020204" charset="-122"/>
              <a:ea typeface="微软雅黑" panose="020B0503020204020204" charset="-122"/>
              <a:sym typeface="+mn-ea"/>
            </a:endParaRPr>
          </a:p>
        </p:txBody>
      </p:sp>
      <p:sp>
        <p:nvSpPr>
          <p:cNvPr id="17" name="矩形 16"/>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20" name="矩形 19"/>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36" name="矩形 35"/>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语义知识图谱</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核心概念定义</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57" name="矩形: 圆角 56"/>
          <p:cNvSpPr/>
          <p:nvPr>
            <p:custDataLst>
              <p:tags r:id="rId1"/>
            </p:custDataLst>
          </p:nvPr>
        </p:nvSpPr>
        <p:spPr>
          <a:xfrm>
            <a:off x="385445" y="962025"/>
            <a:ext cx="2782570" cy="4400550"/>
          </a:xfrm>
          <a:prstGeom prst="roundRect">
            <a:avLst>
              <a:gd name="adj" fmla="val 7908"/>
            </a:avLst>
          </a:prstGeom>
          <a:solidFill>
            <a:srgbClr val="DEEBF7"/>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t" anchorCtr="1"/>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业务对象</a:t>
            </a:r>
            <a:endPar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58" name="矩形: 圆角 57"/>
          <p:cNvSpPr/>
          <p:nvPr>
            <p:custDataLst>
              <p:tags r:id="rId2"/>
            </p:custDataLst>
          </p:nvPr>
        </p:nvSpPr>
        <p:spPr>
          <a:xfrm>
            <a:off x="3239135" y="962025"/>
            <a:ext cx="2782570" cy="4400550"/>
          </a:xfrm>
          <a:prstGeom prst="roundRect">
            <a:avLst>
              <a:gd name="adj" fmla="val 7908"/>
            </a:avLst>
          </a:prstGeom>
          <a:solidFill>
            <a:srgbClr val="DEEBF7"/>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t" anchorCtr="1"/>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业务活动</a:t>
            </a:r>
            <a:endPar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60" name="矩形: 圆角 59"/>
          <p:cNvSpPr/>
          <p:nvPr>
            <p:custDataLst>
              <p:tags r:id="rId3"/>
            </p:custDataLst>
          </p:nvPr>
        </p:nvSpPr>
        <p:spPr>
          <a:xfrm>
            <a:off x="8896350" y="931545"/>
            <a:ext cx="2782570" cy="4400550"/>
          </a:xfrm>
          <a:prstGeom prst="roundRect">
            <a:avLst>
              <a:gd name="adj" fmla="val 7908"/>
            </a:avLst>
          </a:prstGeom>
          <a:solidFill>
            <a:srgbClr val="DEEBF7"/>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t" anchorCtr="1"/>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业务术语</a:t>
            </a:r>
            <a:endPar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64" name="文本框 63"/>
          <p:cNvSpPr txBox="1"/>
          <p:nvPr/>
        </p:nvSpPr>
        <p:spPr>
          <a:xfrm>
            <a:off x="439420" y="1406525"/>
            <a:ext cx="2666365" cy="737235"/>
          </a:xfrm>
          <a:prstGeom prst="rect">
            <a:avLst/>
          </a:prstGeom>
          <a:noFill/>
        </p:spPr>
        <p:txBody>
          <a:bodyPr wrap="square" rtlCol="0">
            <a:spAutoFit/>
          </a:bodyPr>
          <a:lstStyle/>
          <a:p>
            <a:r>
              <a:rPr lang="zh-CN" altLang="en-US" sz="1400" dirty="0">
                <a:solidFill>
                  <a:sysClr val="windowText" lastClr="000000"/>
                </a:solidFill>
                <a:latin typeface="微软雅黑" panose="020B0503020204020204" charset="-122"/>
                <a:ea typeface="微软雅黑" panose="020B0503020204020204" charset="-122"/>
              </a:rPr>
              <a:t>企业生产经营的核心对象，是建立企业内部</a:t>
            </a:r>
            <a:r>
              <a:rPr lang="zh-CN" altLang="en-US" sz="1400" b="1" dirty="0">
                <a:solidFill>
                  <a:srgbClr val="FF0000"/>
                </a:solidFill>
                <a:latin typeface="微软雅黑" panose="020B0503020204020204" charset="-122"/>
                <a:ea typeface="微软雅黑" panose="020B0503020204020204" charset="-122"/>
              </a:rPr>
              <a:t>统一本体索引的核心与关键</a:t>
            </a:r>
            <a:endParaRPr lang="zh-CN" altLang="en-US" sz="1400" b="1" dirty="0">
              <a:solidFill>
                <a:srgbClr val="FF0000"/>
              </a:solidFill>
              <a:latin typeface="微软雅黑" panose="020B0503020204020204" charset="-122"/>
              <a:ea typeface="微软雅黑" panose="020B0503020204020204" charset="-122"/>
            </a:endParaRPr>
          </a:p>
        </p:txBody>
      </p:sp>
      <p:sp>
        <p:nvSpPr>
          <p:cNvPr id="83" name="文本框 82"/>
          <p:cNvSpPr txBox="1"/>
          <p:nvPr/>
        </p:nvSpPr>
        <p:spPr>
          <a:xfrm>
            <a:off x="3307715" y="1406525"/>
            <a:ext cx="2666365" cy="737235"/>
          </a:xfrm>
          <a:prstGeom prst="rect">
            <a:avLst/>
          </a:prstGeom>
          <a:noFill/>
        </p:spPr>
        <p:txBody>
          <a:bodyPr wrap="square" rtlCol="0">
            <a:spAutoFit/>
          </a:bodyPr>
          <a:lstStyle/>
          <a:p>
            <a:r>
              <a:rPr lang="zh-CN" altLang="en-US" sz="1400" dirty="0">
                <a:solidFill>
                  <a:sysClr val="windowText" lastClr="000000"/>
                </a:solidFill>
                <a:latin typeface="微软雅黑" panose="020B0503020204020204" charset="-122"/>
                <a:ea typeface="微软雅黑" panose="020B0503020204020204" charset="-122"/>
              </a:rPr>
              <a:t>业务运行流转的业务事件，是在某个业务环节下的</a:t>
            </a:r>
            <a:r>
              <a:rPr lang="zh-CN" altLang="en-US" sz="1400" b="1" dirty="0">
                <a:solidFill>
                  <a:srgbClr val="FF0000"/>
                </a:solidFill>
                <a:latin typeface="微软雅黑" panose="020B0503020204020204" charset="-122"/>
                <a:ea typeface="微软雅黑" panose="020B0503020204020204" charset="-122"/>
              </a:rPr>
              <a:t>数字化动作</a:t>
            </a:r>
            <a:endParaRPr lang="zh-CN" altLang="en-US" sz="1400" b="1" dirty="0">
              <a:solidFill>
                <a:srgbClr val="FF0000"/>
              </a:solidFill>
              <a:latin typeface="微软雅黑" panose="020B0503020204020204" charset="-122"/>
              <a:ea typeface="微软雅黑" panose="020B0503020204020204" charset="-122"/>
            </a:endParaRPr>
          </a:p>
        </p:txBody>
      </p:sp>
      <p:sp>
        <p:nvSpPr>
          <p:cNvPr id="120" name="文本框 119"/>
          <p:cNvSpPr txBox="1"/>
          <p:nvPr/>
        </p:nvSpPr>
        <p:spPr>
          <a:xfrm>
            <a:off x="8954135" y="1376045"/>
            <a:ext cx="2666365" cy="953135"/>
          </a:xfrm>
          <a:prstGeom prst="rect">
            <a:avLst/>
          </a:prstGeom>
          <a:noFill/>
        </p:spPr>
        <p:txBody>
          <a:bodyPr wrap="square" rtlCol="0">
            <a:spAutoFit/>
          </a:bodyPr>
          <a:lstStyle/>
          <a:p>
            <a:r>
              <a:rPr lang="zh-CN" altLang="en-US" sz="1400" dirty="0">
                <a:solidFill>
                  <a:sysClr val="windowText" lastClr="000000"/>
                </a:solidFill>
                <a:latin typeface="微软雅黑" panose="020B0503020204020204" charset="-122"/>
                <a:ea typeface="微软雅黑" panose="020B0503020204020204" charset="-122"/>
                <a:cs typeface="微软雅黑" panose="020B0503020204020204" charset="-122"/>
              </a:rPr>
              <a:t>为保证业务语义的完整性，在非结构化数据中通过非</a:t>
            </a:r>
            <a:r>
              <a:rPr lang="en-US" altLang="zh-CN" sz="1400" dirty="0">
                <a:solidFill>
                  <a:sysClr val="windowText" lastClr="000000"/>
                </a:solidFill>
                <a:latin typeface="微软雅黑" panose="020B0503020204020204" charset="-122"/>
                <a:ea typeface="微软雅黑" panose="020B0503020204020204" charset="-122"/>
                <a:cs typeface="微软雅黑" panose="020B0503020204020204" charset="-122"/>
              </a:rPr>
              <a:t>FEA</a:t>
            </a:r>
            <a:r>
              <a:rPr lang="zh-CN" altLang="en-US" sz="1400" dirty="0">
                <a:solidFill>
                  <a:sysClr val="windowText" lastClr="000000"/>
                </a:solidFill>
                <a:latin typeface="微软雅黑" panose="020B0503020204020204" charset="-122"/>
                <a:ea typeface="微软雅黑" panose="020B0503020204020204" charset="-122"/>
                <a:cs typeface="微软雅黑" panose="020B0503020204020204" charset="-122"/>
              </a:rPr>
              <a:t>抽取的术语定义，作为</a:t>
            </a:r>
            <a:r>
              <a:rPr lang="zh-CN" altLang="en-US" sz="1400" b="1" dirty="0">
                <a:solidFill>
                  <a:srgbClr val="FF0000"/>
                </a:solidFill>
                <a:latin typeface="微软雅黑" panose="020B0503020204020204" charset="-122"/>
                <a:ea typeface="微软雅黑" panose="020B0503020204020204" charset="-122"/>
                <a:cs typeface="微软雅黑" panose="020B0503020204020204" charset="-122"/>
              </a:rPr>
              <a:t>本体语义的补充</a:t>
            </a:r>
            <a:endParaRPr lang="zh-CN" altLang="en-US" sz="14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35" name="矩形: 圆角 64"/>
          <p:cNvSpPr/>
          <p:nvPr>
            <p:custDataLst>
              <p:tags r:id="rId4"/>
            </p:custDataLst>
          </p:nvPr>
        </p:nvSpPr>
        <p:spPr>
          <a:xfrm>
            <a:off x="485775" y="2359660"/>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固定资产</a:t>
            </a: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贷款</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36" name="矩形: 圆角 64"/>
          <p:cNvSpPr/>
          <p:nvPr>
            <p:custDataLst>
              <p:tags r:id="rId5"/>
            </p:custDataLst>
          </p:nvPr>
        </p:nvSpPr>
        <p:spPr>
          <a:xfrm>
            <a:off x="1805305" y="2359660"/>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银团</a:t>
            </a: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贷款</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37" name="矩形: 圆角 64"/>
          <p:cNvSpPr/>
          <p:nvPr>
            <p:custDataLst>
              <p:tags r:id="rId6"/>
            </p:custDataLst>
          </p:nvPr>
        </p:nvSpPr>
        <p:spPr>
          <a:xfrm>
            <a:off x="485775" y="2874010"/>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担保人</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38" name="矩形: 圆角 64"/>
          <p:cNvSpPr/>
          <p:nvPr>
            <p:custDataLst>
              <p:tags r:id="rId7"/>
            </p:custDataLst>
          </p:nvPr>
        </p:nvSpPr>
        <p:spPr>
          <a:xfrm>
            <a:off x="1805305" y="2874010"/>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抵押合同</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39" name="矩形: 圆角 64"/>
          <p:cNvSpPr/>
          <p:nvPr>
            <p:custDataLst>
              <p:tags r:id="rId8"/>
            </p:custDataLst>
          </p:nvPr>
        </p:nvSpPr>
        <p:spPr>
          <a:xfrm>
            <a:off x="485775" y="3388360"/>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个人</a:t>
            </a: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客户</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40" name="矩形: 圆角 64"/>
          <p:cNvSpPr/>
          <p:nvPr>
            <p:custDataLst>
              <p:tags r:id="rId9"/>
            </p:custDataLst>
          </p:nvPr>
        </p:nvSpPr>
        <p:spPr>
          <a:xfrm>
            <a:off x="1805305" y="3388360"/>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小微客户</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41" name="矩形: 圆角 64"/>
          <p:cNvSpPr/>
          <p:nvPr>
            <p:custDataLst>
              <p:tags r:id="rId10"/>
            </p:custDataLst>
          </p:nvPr>
        </p:nvSpPr>
        <p:spPr>
          <a:xfrm>
            <a:off x="485775" y="3937635"/>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理财产品</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42" name="矩形: 圆角 64"/>
          <p:cNvSpPr/>
          <p:nvPr>
            <p:custDataLst>
              <p:tags r:id="rId11"/>
            </p:custDataLst>
          </p:nvPr>
        </p:nvSpPr>
        <p:spPr>
          <a:xfrm>
            <a:off x="1805305" y="3937635"/>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集团</a:t>
            </a: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客户</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43" name="矩形: 圆角 64"/>
          <p:cNvSpPr/>
          <p:nvPr>
            <p:custDataLst>
              <p:tags r:id="rId12"/>
            </p:custDataLst>
          </p:nvPr>
        </p:nvSpPr>
        <p:spPr>
          <a:xfrm>
            <a:off x="485775" y="4520565"/>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票据融资</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44" name="矩形: 圆角 64"/>
          <p:cNvSpPr/>
          <p:nvPr>
            <p:custDataLst>
              <p:tags r:id="rId13"/>
            </p:custDataLst>
          </p:nvPr>
        </p:nvSpPr>
        <p:spPr>
          <a:xfrm>
            <a:off x="1805305" y="4520565"/>
            <a:ext cx="1170305" cy="409575"/>
          </a:xfrm>
          <a:prstGeom prst="roundRect">
            <a:avLst>
              <a:gd name="adj" fmla="val 50000"/>
            </a:avLst>
          </a:prstGeom>
          <a:solidFill>
            <a:srgbClr val="DBAE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56" name="矩形: 圆角 64"/>
          <p:cNvSpPr/>
          <p:nvPr>
            <p:custDataLst>
              <p:tags r:id="rId14"/>
            </p:custDataLst>
          </p:nvPr>
        </p:nvSpPr>
        <p:spPr>
          <a:xfrm>
            <a:off x="3385185" y="2359660"/>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受理与</a:t>
            </a: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调查</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61" name="矩形: 圆角 64"/>
          <p:cNvSpPr/>
          <p:nvPr>
            <p:custDataLst>
              <p:tags r:id="rId15"/>
            </p:custDataLst>
          </p:nvPr>
        </p:nvSpPr>
        <p:spPr>
          <a:xfrm>
            <a:off x="4704715" y="2359660"/>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授信审查</a:t>
            </a:r>
            <a:r>
              <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审批</a:t>
            </a:r>
            <a:endPar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62" name="矩形: 圆角 64"/>
          <p:cNvSpPr/>
          <p:nvPr>
            <p:custDataLst>
              <p:tags r:id="rId16"/>
            </p:custDataLst>
          </p:nvPr>
        </p:nvSpPr>
        <p:spPr>
          <a:xfrm>
            <a:off x="3385185" y="2874010"/>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合同签订</a:t>
            </a:r>
            <a:endPar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66" name="矩形: 圆角 64"/>
          <p:cNvSpPr/>
          <p:nvPr>
            <p:custDataLst>
              <p:tags r:id="rId17"/>
            </p:custDataLst>
          </p:nvPr>
        </p:nvSpPr>
        <p:spPr>
          <a:xfrm>
            <a:off x="3385185" y="3388360"/>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信用</a:t>
            </a: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评级</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67" name="矩形: 圆角 64"/>
          <p:cNvSpPr/>
          <p:nvPr>
            <p:custDataLst>
              <p:tags r:id="rId18"/>
            </p:custDataLst>
          </p:nvPr>
        </p:nvSpPr>
        <p:spPr>
          <a:xfrm>
            <a:off x="4704715" y="3388360"/>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授信测算</a:t>
            </a:r>
            <a:endPar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68" name="矩形: 圆角 64"/>
          <p:cNvSpPr/>
          <p:nvPr>
            <p:custDataLst>
              <p:tags r:id="rId19"/>
            </p:custDataLst>
          </p:nvPr>
        </p:nvSpPr>
        <p:spPr>
          <a:xfrm>
            <a:off x="3385185" y="3937635"/>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担保评估</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76" name="矩形: 圆角 64"/>
          <p:cNvSpPr/>
          <p:nvPr>
            <p:custDataLst>
              <p:tags r:id="rId20"/>
            </p:custDataLst>
          </p:nvPr>
        </p:nvSpPr>
        <p:spPr>
          <a:xfrm>
            <a:off x="4704715" y="3937635"/>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不定期风险排查</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77" name="矩形: 圆角 64"/>
          <p:cNvSpPr/>
          <p:nvPr>
            <p:custDataLst>
              <p:tags r:id="rId21"/>
            </p:custDataLst>
          </p:nvPr>
        </p:nvSpPr>
        <p:spPr>
          <a:xfrm>
            <a:off x="3385185" y="4520565"/>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不良资产处置</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78" name="矩形: 圆角 64"/>
          <p:cNvSpPr/>
          <p:nvPr>
            <p:custDataLst>
              <p:tags r:id="rId22"/>
            </p:custDataLst>
          </p:nvPr>
        </p:nvSpPr>
        <p:spPr>
          <a:xfrm>
            <a:off x="4704715" y="4520565"/>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79" name="矩形: 圆角 64"/>
          <p:cNvSpPr/>
          <p:nvPr>
            <p:custDataLst>
              <p:tags r:id="rId23"/>
            </p:custDataLst>
          </p:nvPr>
        </p:nvSpPr>
        <p:spPr>
          <a:xfrm>
            <a:off x="8988425" y="2329180"/>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设定担保</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80" name="矩形: 圆角 64"/>
          <p:cNvSpPr/>
          <p:nvPr>
            <p:custDataLst>
              <p:tags r:id="rId24"/>
            </p:custDataLst>
          </p:nvPr>
        </p:nvSpPr>
        <p:spPr>
          <a:xfrm>
            <a:off x="10307955" y="2329180"/>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偿债能力</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81" name="矩形: 圆角 64"/>
          <p:cNvSpPr/>
          <p:nvPr>
            <p:custDataLst>
              <p:tags r:id="rId25"/>
            </p:custDataLst>
          </p:nvPr>
        </p:nvSpPr>
        <p:spPr>
          <a:xfrm>
            <a:off x="8988425" y="2843530"/>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抵押率（</a:t>
            </a:r>
            <a:r>
              <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LTV）</a:t>
            </a:r>
            <a:endPar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82" name="矩形: 圆角 64"/>
          <p:cNvSpPr/>
          <p:nvPr>
            <p:custDataLst>
              <p:tags r:id="rId26"/>
            </p:custDataLst>
          </p:nvPr>
        </p:nvSpPr>
        <p:spPr>
          <a:xfrm>
            <a:off x="10307955" y="2843530"/>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不良贷款</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86" name="矩形: 圆角 64"/>
          <p:cNvSpPr/>
          <p:nvPr>
            <p:custDataLst>
              <p:tags r:id="rId27"/>
            </p:custDataLst>
          </p:nvPr>
        </p:nvSpPr>
        <p:spPr>
          <a:xfrm>
            <a:off x="8988425" y="3357880"/>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风险缓释</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87" name="矩形: 圆角 64"/>
          <p:cNvSpPr/>
          <p:nvPr>
            <p:custDataLst>
              <p:tags r:id="rId28"/>
            </p:custDataLst>
          </p:nvPr>
        </p:nvSpPr>
        <p:spPr>
          <a:xfrm>
            <a:off x="10307955" y="3357880"/>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AUM</a:t>
            </a:r>
            <a:endPar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94" name="矩形: 圆角 64"/>
          <p:cNvSpPr/>
          <p:nvPr>
            <p:custDataLst>
              <p:tags r:id="rId29"/>
            </p:custDataLst>
          </p:nvPr>
        </p:nvSpPr>
        <p:spPr>
          <a:xfrm>
            <a:off x="8988425" y="3907155"/>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还款金额</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95" name="矩形: 圆角 64"/>
          <p:cNvSpPr/>
          <p:nvPr>
            <p:custDataLst>
              <p:tags r:id="rId30"/>
            </p:custDataLst>
          </p:nvPr>
        </p:nvSpPr>
        <p:spPr>
          <a:xfrm>
            <a:off x="10307955" y="3907155"/>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CVR</a:t>
            </a:r>
            <a:endPar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96" name="矩形: 圆角 64"/>
          <p:cNvSpPr/>
          <p:nvPr>
            <p:custDataLst>
              <p:tags r:id="rId31"/>
            </p:custDataLst>
          </p:nvPr>
        </p:nvSpPr>
        <p:spPr>
          <a:xfrm>
            <a:off x="8988425" y="4490085"/>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CAC</a:t>
            </a:r>
            <a:endPar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97" name="矩形: 圆角 64"/>
          <p:cNvSpPr/>
          <p:nvPr>
            <p:custDataLst>
              <p:tags r:id="rId32"/>
            </p:custDataLst>
          </p:nvPr>
        </p:nvSpPr>
        <p:spPr>
          <a:xfrm>
            <a:off x="10307955" y="4490085"/>
            <a:ext cx="1170305" cy="409575"/>
          </a:xfrm>
          <a:prstGeom prst="roundRect">
            <a:avLst>
              <a:gd name="adj" fmla="val 50000"/>
            </a:avLst>
          </a:prstGeom>
          <a:solidFill>
            <a:srgbClr val="455C7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交叉销售率</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98" name="矩形: 圆角 64"/>
          <p:cNvSpPr/>
          <p:nvPr>
            <p:custDataLst>
              <p:tags r:id="rId33"/>
            </p:custDataLst>
          </p:nvPr>
        </p:nvSpPr>
        <p:spPr>
          <a:xfrm>
            <a:off x="4704715" y="2874010"/>
            <a:ext cx="1170305" cy="409575"/>
          </a:xfrm>
          <a:prstGeom prst="roundRect">
            <a:avLst>
              <a:gd name="adj" fmla="val 50000"/>
            </a:avLst>
          </a:prstGeom>
          <a:solidFill>
            <a:srgbClr val="88B2E9"/>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发放与</a:t>
            </a:r>
            <a:r>
              <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支付</a:t>
            </a:r>
            <a:endParaRPr lang="zh-CN" altLang="en-US" sz="1200" dirty="0">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grpSp>
        <p:nvGrpSpPr>
          <p:cNvPr id="6" name="组合 5"/>
          <p:cNvGrpSpPr/>
          <p:nvPr/>
        </p:nvGrpSpPr>
        <p:grpSpPr>
          <a:xfrm>
            <a:off x="6062980" y="936625"/>
            <a:ext cx="2782570" cy="4400550"/>
            <a:chOff x="9492" y="2356"/>
            <a:chExt cx="4382" cy="6930"/>
          </a:xfrm>
        </p:grpSpPr>
        <p:sp>
          <p:nvSpPr>
            <p:cNvPr id="7" name="矩形: 圆角 58"/>
            <p:cNvSpPr/>
            <p:nvPr>
              <p:custDataLst>
                <p:tags r:id="rId34"/>
              </p:custDataLst>
            </p:nvPr>
          </p:nvSpPr>
          <p:spPr>
            <a:xfrm>
              <a:off x="9492" y="2356"/>
              <a:ext cx="4382" cy="6930"/>
            </a:xfrm>
            <a:prstGeom prst="roundRect">
              <a:avLst>
                <a:gd name="adj" fmla="val 7908"/>
              </a:avLst>
            </a:prstGeom>
            <a:solidFill>
              <a:srgbClr val="DEEBF7"/>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t" anchorCtr="1"/>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业务场景</a:t>
              </a:r>
              <a:endParaRPr lang="zh-CN" altLang="en-US" sz="2000" b="1" dirty="0">
                <a:solidFill>
                  <a:sysClr val="windowText" lastClr="000000"/>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8" name="文本框 7"/>
            <p:cNvSpPr txBox="1"/>
            <p:nvPr/>
          </p:nvSpPr>
          <p:spPr>
            <a:xfrm>
              <a:off x="9584" y="3056"/>
              <a:ext cx="4199" cy="1501"/>
            </a:xfrm>
            <a:prstGeom prst="rect">
              <a:avLst/>
            </a:prstGeom>
            <a:noFill/>
          </p:spPr>
          <p:txBody>
            <a:bodyPr wrap="square" rtlCol="0">
              <a:spAutoFit/>
            </a:bodyPr>
            <a:lstStyle/>
            <a:p>
              <a:r>
                <a:rPr lang="zh-CN" altLang="en-US" sz="1400" dirty="0">
                  <a:solidFill>
                    <a:sysClr val="windowText" lastClr="000000"/>
                  </a:solidFill>
                  <a:latin typeface="微软雅黑" panose="020B0503020204020204" charset="-122"/>
                  <a:ea typeface="微软雅黑" panose="020B0503020204020204" charset="-122"/>
                </a:rPr>
                <a:t>业务运行流转的主要工作，多个业务活动支撑了某个业务场景的开展，是</a:t>
              </a:r>
              <a:r>
                <a:rPr lang="zh-CN" altLang="en-US" sz="1400" b="1" dirty="0">
                  <a:solidFill>
                    <a:srgbClr val="FF0000"/>
                  </a:solidFill>
                  <a:latin typeface="微软雅黑" panose="020B0503020204020204" charset="-122"/>
                  <a:ea typeface="微软雅黑" panose="020B0503020204020204" charset="-122"/>
                </a:rPr>
                <a:t>本体知识检索路由和提升业务决策的关键</a:t>
              </a:r>
              <a:endParaRPr lang="zh-CN" altLang="en-US" sz="1400" b="1" dirty="0">
                <a:solidFill>
                  <a:srgbClr val="FF0000"/>
                </a:solidFill>
                <a:latin typeface="微软雅黑" panose="020B0503020204020204" charset="-122"/>
                <a:ea typeface="微软雅黑" panose="020B0503020204020204" charset="-122"/>
              </a:endParaRPr>
            </a:p>
          </p:txBody>
        </p:sp>
        <p:sp>
          <p:nvSpPr>
            <p:cNvPr id="10" name="矩形: 圆角 64"/>
            <p:cNvSpPr/>
            <p:nvPr>
              <p:custDataLst>
                <p:tags r:id="rId35"/>
              </p:custDataLst>
            </p:nvPr>
          </p:nvSpPr>
          <p:spPr>
            <a:xfrm>
              <a:off x="9795" y="4557"/>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固定资产贷款管理</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11" name="矩形: 圆角 64"/>
            <p:cNvSpPr/>
            <p:nvPr>
              <p:custDataLst>
                <p:tags r:id="rId36"/>
              </p:custDataLst>
            </p:nvPr>
          </p:nvSpPr>
          <p:spPr>
            <a:xfrm>
              <a:off x="11873" y="4557"/>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流动资金贷款管理</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12" name="矩形: 圆角 64"/>
            <p:cNvSpPr/>
            <p:nvPr>
              <p:custDataLst>
                <p:tags r:id="rId37"/>
              </p:custDataLst>
            </p:nvPr>
          </p:nvSpPr>
          <p:spPr>
            <a:xfrm>
              <a:off x="9795" y="5367"/>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项目融资管理</a:t>
              </a:r>
              <a:endParaRPr lang="en-US" altLang="zh-CN"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13" name="矩形: 圆角 64"/>
            <p:cNvSpPr/>
            <p:nvPr>
              <p:custDataLst>
                <p:tags r:id="rId38"/>
              </p:custDataLst>
            </p:nvPr>
          </p:nvSpPr>
          <p:spPr>
            <a:xfrm>
              <a:off x="11873" y="5367"/>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风险管理与合规</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15" name="矩形: 圆角 64"/>
            <p:cNvSpPr/>
            <p:nvPr>
              <p:custDataLst>
                <p:tags r:id="rId39"/>
              </p:custDataLst>
            </p:nvPr>
          </p:nvSpPr>
          <p:spPr>
            <a:xfrm>
              <a:off x="9795" y="6177"/>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支付结算</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16" name="矩形: 圆角 64"/>
            <p:cNvSpPr/>
            <p:nvPr>
              <p:custDataLst>
                <p:tags r:id="rId40"/>
              </p:custDataLst>
            </p:nvPr>
          </p:nvSpPr>
          <p:spPr>
            <a:xfrm>
              <a:off x="11873" y="6177"/>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资产负债</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管理</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28" name="矩形: 圆角 64"/>
            <p:cNvSpPr/>
            <p:nvPr>
              <p:custDataLst>
                <p:tags r:id="rId41"/>
              </p:custDataLst>
            </p:nvPr>
          </p:nvSpPr>
          <p:spPr>
            <a:xfrm>
              <a:off x="9795" y="7042"/>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营销获客</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29" name="矩形: 圆角 64"/>
            <p:cNvSpPr/>
            <p:nvPr>
              <p:custDataLst>
                <p:tags r:id="rId42"/>
              </p:custDataLst>
            </p:nvPr>
          </p:nvSpPr>
          <p:spPr>
            <a:xfrm>
              <a:off x="11873" y="7042"/>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系统</a:t>
              </a: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运维</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30" name="矩形: 圆角 64"/>
            <p:cNvSpPr/>
            <p:nvPr>
              <p:custDataLst>
                <p:tags r:id="rId43"/>
              </p:custDataLst>
            </p:nvPr>
          </p:nvSpPr>
          <p:spPr>
            <a:xfrm>
              <a:off x="9795" y="7960"/>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经营分析</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sp>
          <p:nvSpPr>
            <p:cNvPr id="31" name="矩形: 圆角 64"/>
            <p:cNvSpPr/>
            <p:nvPr>
              <p:custDataLst>
                <p:tags r:id="rId44"/>
              </p:custDataLst>
            </p:nvPr>
          </p:nvSpPr>
          <p:spPr>
            <a:xfrm>
              <a:off x="11873" y="7960"/>
              <a:ext cx="1843" cy="645"/>
            </a:xfrm>
            <a:prstGeom prst="roundRect">
              <a:avLst>
                <a:gd name="adj" fmla="val 50000"/>
              </a:avLst>
            </a:prstGeom>
            <a:solidFill>
              <a:srgbClr val="0397D3"/>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r>
                <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rPr>
                <a:t>……</a:t>
              </a:r>
              <a:endParaRPr lang="zh-CN" altLang="en-US" sz="1200" dirty="0">
                <a:solidFill>
                  <a:srgbClr val="FFFFFF"/>
                </a:solidFill>
                <a:latin typeface="微软雅黑" panose="020B0503020204020204" charset="-122"/>
                <a:ea typeface="微软雅黑" panose="020B0503020204020204" charset="-122"/>
                <a:cs typeface="微软雅黑 Light" panose="020B0502040204020203" pitchFamily="34" charset="-122"/>
                <a:sym typeface="微软雅黑 Light" panose="020B0502040204020203" pitchFamily="34" charset="-122"/>
              </a:endParaRPr>
            </a:p>
          </p:txBody>
        </p:sp>
      </p:grpSp>
      <p:sp>
        <p:nvSpPr>
          <p:cNvPr id="3" name="椭圆 2"/>
          <p:cNvSpPr/>
          <p:nvPr/>
        </p:nvSpPr>
        <p:spPr>
          <a:xfrm>
            <a:off x="5515292" y="4930357"/>
            <a:ext cx="655845" cy="636928"/>
          </a:xfrm>
          <a:prstGeom prst="ellipse">
            <a:avLst/>
          </a:prstGeom>
          <a:solidFill>
            <a:srgbClr val="D5A400"/>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业务对象</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32" name="椭圆 31"/>
          <p:cNvSpPr/>
          <p:nvPr/>
        </p:nvSpPr>
        <p:spPr>
          <a:xfrm>
            <a:off x="4720353" y="5752249"/>
            <a:ext cx="655845" cy="636928"/>
          </a:xfrm>
          <a:prstGeom prst="ellipse">
            <a:avLst/>
          </a:prstGeom>
          <a:solidFill>
            <a:srgbClr val="008DCC"/>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业务场景</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33" name="椭圆 32"/>
          <p:cNvSpPr/>
          <p:nvPr/>
        </p:nvSpPr>
        <p:spPr>
          <a:xfrm>
            <a:off x="6085034" y="6074829"/>
            <a:ext cx="655845" cy="636928"/>
          </a:xfrm>
          <a:prstGeom prst="ellipse">
            <a:avLst/>
          </a:prstGeom>
          <a:solidFill>
            <a:srgbClr val="929292"/>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文档</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cxnSp>
        <p:nvCxnSpPr>
          <p:cNvPr id="34" name="直接连接符 33"/>
          <p:cNvCxnSpPr>
            <a:stCxn id="3" idx="4"/>
            <a:endCxn id="33" idx="1"/>
          </p:cNvCxnSpPr>
          <p:nvPr/>
        </p:nvCxnSpPr>
        <p:spPr>
          <a:xfrm>
            <a:off x="5843316" y="5567354"/>
            <a:ext cx="337820" cy="601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32" idx="5"/>
            <a:endCxn id="33" idx="2"/>
          </p:cNvCxnSpPr>
          <p:nvPr/>
        </p:nvCxnSpPr>
        <p:spPr>
          <a:xfrm>
            <a:off x="5280313" y="6296138"/>
            <a:ext cx="805180" cy="97155"/>
          </a:xfrm>
          <a:prstGeom prst="line">
            <a:avLst/>
          </a:prstGeom>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6638607" y="4930357"/>
            <a:ext cx="655845" cy="636928"/>
          </a:xfrm>
          <a:prstGeom prst="ellipse">
            <a:avLst/>
          </a:prstGeom>
          <a:solidFill>
            <a:srgbClr val="7EA9E4"/>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业务活动</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sp>
        <p:nvSpPr>
          <p:cNvPr id="47" name="椭圆 46"/>
          <p:cNvSpPr/>
          <p:nvPr/>
        </p:nvSpPr>
        <p:spPr>
          <a:xfrm>
            <a:off x="7398702" y="5643462"/>
            <a:ext cx="655845" cy="636928"/>
          </a:xfrm>
          <a:prstGeom prst="ellipse">
            <a:avLst/>
          </a:prstGeom>
          <a:solidFill>
            <a:srgbClr val="3D5268"/>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r>
              <a:rPr lang="zh-CN" altLang="en-US" sz="1000" dirty="0">
                <a:latin typeface="微软雅黑" panose="020B0503020204020204" charset="-122"/>
                <a:ea typeface="微软雅黑" panose="020B0503020204020204" charset="-122"/>
                <a:cs typeface="微软雅黑 Light" panose="020B0502040204020203" pitchFamily="34" charset="-122"/>
                <a:sym typeface="+mn-ea"/>
              </a:rPr>
              <a:t>业务术语</a:t>
            </a:r>
            <a:endParaRPr lang="zh-CN" altLang="en-US" sz="1000" dirty="0">
              <a:latin typeface="微软雅黑" panose="020B0503020204020204" charset="-122"/>
              <a:ea typeface="微软雅黑" panose="020B0503020204020204" charset="-122"/>
              <a:cs typeface="微软雅黑 Light" panose="020B0502040204020203" pitchFamily="34" charset="-122"/>
              <a:sym typeface="+mn-ea"/>
            </a:endParaRPr>
          </a:p>
        </p:txBody>
      </p:sp>
      <p:cxnSp>
        <p:nvCxnSpPr>
          <p:cNvPr id="48" name="直接连接符 47"/>
          <p:cNvCxnSpPr>
            <a:stCxn id="46" idx="4"/>
            <a:endCxn id="33" idx="7"/>
          </p:cNvCxnSpPr>
          <p:nvPr/>
        </p:nvCxnSpPr>
        <p:spPr>
          <a:xfrm flipH="1">
            <a:off x="6645275" y="5567045"/>
            <a:ext cx="321310" cy="601345"/>
          </a:xfrm>
          <a:prstGeom prst="line">
            <a:avLst/>
          </a:prstGeom>
        </p:spPr>
        <p:style>
          <a:lnRef idx="2">
            <a:schemeClr val="accent1"/>
          </a:lnRef>
          <a:fillRef idx="0">
            <a:srgbClr val="FFFFFF"/>
          </a:fillRef>
          <a:effectRef idx="0">
            <a:srgbClr val="FFFFFF"/>
          </a:effectRef>
          <a:fontRef idx="minor">
            <a:schemeClr val="tx1"/>
          </a:fontRef>
        </p:style>
      </p:cxnSp>
      <p:cxnSp>
        <p:nvCxnSpPr>
          <p:cNvPr id="99" name="直接连接符 98"/>
          <p:cNvCxnSpPr>
            <a:stCxn id="47" idx="3"/>
            <a:endCxn id="33" idx="6"/>
          </p:cNvCxnSpPr>
          <p:nvPr/>
        </p:nvCxnSpPr>
        <p:spPr>
          <a:xfrm flipH="1">
            <a:off x="6741160" y="6186805"/>
            <a:ext cx="753110" cy="207010"/>
          </a:xfrm>
          <a:prstGeom prst="line">
            <a:avLst/>
          </a:prstGeom>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rot="21420000">
            <a:off x="5815965" y="575754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50" name="文本框 49"/>
          <p:cNvSpPr txBox="1"/>
          <p:nvPr/>
        </p:nvSpPr>
        <p:spPr>
          <a:xfrm rot="21420000">
            <a:off x="5441315" y="624268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51" name="文本框 50"/>
          <p:cNvSpPr txBox="1"/>
          <p:nvPr/>
        </p:nvSpPr>
        <p:spPr>
          <a:xfrm rot="540000">
            <a:off x="6539230" y="5758180"/>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52" name="文本框 51"/>
          <p:cNvSpPr txBox="1"/>
          <p:nvPr/>
        </p:nvSpPr>
        <p:spPr>
          <a:xfrm rot="21300000">
            <a:off x="6928485" y="6152515"/>
            <a:ext cx="482600" cy="213995"/>
          </a:xfrm>
          <a:prstGeom prst="rect">
            <a:avLst/>
          </a:prstGeom>
          <a:noFill/>
          <a:extLst>
            <a:ext uri="{909E8E84-426E-40DD-AFC4-6F175D3DCCD1}">
              <a14:hiddenFill xmlns:a14="http://schemas.microsoft.com/office/drawing/2010/main">
                <a:solidFill>
                  <a:schemeClr val="bg1"/>
                </a:solidFill>
              </a14:hiddenFill>
            </a:ext>
          </a:extLst>
        </p:spPr>
        <p:txBody>
          <a:bodyPr wrap="square" rtlCol="0">
            <a:noAutofit/>
          </a:bodyPr>
          <a:lstStyle/>
          <a:p>
            <a:pPr lvl="0" algn="ctr">
              <a:buClrTx/>
              <a:buSzTx/>
              <a:buFontTx/>
            </a:pPr>
            <a:r>
              <a:rPr lang="zh-CN" altLang="en-US" sz="900" i="1">
                <a:solidFill>
                  <a:schemeClr val="accent5">
                    <a:lumMod val="75000"/>
                  </a:schemeClr>
                </a:solidFill>
                <a:latin typeface="微软雅黑" panose="020B0503020204020204" charset="-122"/>
                <a:ea typeface="微软雅黑" panose="020B0503020204020204" charset="-122"/>
                <a:sym typeface="+mn-ea"/>
              </a:rPr>
              <a:t>语义</a:t>
            </a:r>
            <a:r>
              <a:rPr lang="zh-CN" altLang="en-US" sz="900" i="1">
                <a:solidFill>
                  <a:schemeClr val="accent5">
                    <a:lumMod val="75000"/>
                  </a:schemeClr>
                </a:solidFill>
                <a:latin typeface="微软雅黑" panose="020B0503020204020204" charset="-122"/>
                <a:ea typeface="微软雅黑" panose="020B0503020204020204" charset="-122"/>
                <a:sym typeface="+mn-ea"/>
              </a:rPr>
              <a:t>解释</a:t>
            </a:r>
            <a:endParaRPr lang="zh-CN" altLang="en-US" sz="900" i="1">
              <a:solidFill>
                <a:schemeClr val="accent5">
                  <a:lumMod val="75000"/>
                </a:schemeClr>
              </a:solidFill>
              <a:latin typeface="微软雅黑" panose="020B0503020204020204" charset="-122"/>
              <a:ea typeface="微软雅黑" panose="020B0503020204020204" charset="-122"/>
              <a:sym typeface="+mn-ea"/>
            </a:endParaRPr>
          </a:p>
        </p:txBody>
      </p:sp>
      <p:sp>
        <p:nvSpPr>
          <p:cNvPr id="19" name="矩形 18"/>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20" name="矩形 19"/>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21" name="矩形 20"/>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统一语义</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图</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谱</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加工流程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1" name="矩形 40"/>
          <p:cNvSpPr/>
          <p:nvPr/>
        </p:nvSpPr>
        <p:spPr>
          <a:xfrm>
            <a:off x="147320" y="5114290"/>
            <a:ext cx="11890375" cy="108585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资源层</a:t>
            </a:r>
            <a:endParaRPr lang="zh-CN" altLang="en-US" sz="1400" b="1" dirty="0">
              <a:solidFill>
                <a:schemeClr val="tx2"/>
              </a:solidFill>
              <a:latin typeface="微软雅黑" panose="020B0503020204020204" charset="-122"/>
              <a:ea typeface="微软雅黑" panose="020B0503020204020204" charset="-122"/>
            </a:endParaRPr>
          </a:p>
        </p:txBody>
      </p:sp>
      <p:grpSp>
        <p:nvGrpSpPr>
          <p:cNvPr id="42" name="组合 41"/>
          <p:cNvGrpSpPr/>
          <p:nvPr/>
        </p:nvGrpSpPr>
        <p:grpSpPr>
          <a:xfrm>
            <a:off x="1134110" y="5201285"/>
            <a:ext cx="2879725" cy="946785"/>
            <a:chOff x="14253" y="8844"/>
            <a:chExt cx="4716" cy="1658"/>
          </a:xfrm>
        </p:grpSpPr>
        <p:sp>
          <p:nvSpPr>
            <p:cNvPr id="43" name="矩形 42"/>
            <p:cNvSpPr/>
            <p:nvPr/>
          </p:nvSpPr>
          <p:spPr>
            <a:xfrm>
              <a:off x="14253" y="8844"/>
              <a:ext cx="4716" cy="165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文档元数据标签</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4" name="矩形 43"/>
            <p:cNvSpPr/>
            <p:nvPr/>
          </p:nvSpPr>
          <p:spPr>
            <a:xfrm>
              <a:off x="14400"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元数据标签</a:t>
              </a:r>
              <a:endParaRPr lang="zh-CN" altLang="en-US" sz="1000" dirty="0">
                <a:solidFill>
                  <a:schemeClr val="tx1"/>
                </a:solidFill>
                <a:latin typeface="微软雅黑" panose="020B0503020204020204" charset="-122"/>
                <a:ea typeface="微软雅黑" panose="020B0503020204020204" charset="-122"/>
              </a:endParaRPr>
            </a:p>
          </p:txBody>
        </p:sp>
        <p:sp>
          <p:nvSpPr>
            <p:cNvPr id="45" name="矩形 44"/>
            <p:cNvSpPr/>
            <p:nvPr/>
          </p:nvSpPr>
          <p:spPr>
            <a:xfrm>
              <a:off x="15947"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元数据标签</a:t>
              </a:r>
              <a:endParaRPr lang="zh-CN" altLang="en-US" sz="1000" dirty="0">
                <a:solidFill>
                  <a:schemeClr val="tx1"/>
                </a:solidFill>
                <a:latin typeface="微软雅黑" panose="020B0503020204020204" charset="-122"/>
                <a:ea typeface="微软雅黑" panose="020B0503020204020204" charset="-122"/>
              </a:endParaRPr>
            </a:p>
          </p:txBody>
        </p:sp>
        <p:sp>
          <p:nvSpPr>
            <p:cNvPr id="46" name="矩形 45"/>
            <p:cNvSpPr/>
            <p:nvPr/>
          </p:nvSpPr>
          <p:spPr>
            <a:xfrm>
              <a:off x="17512" y="9432"/>
              <a:ext cx="1362"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元数据标签</a:t>
              </a:r>
              <a:endParaRPr lang="zh-CN" altLang="en-US" sz="1000" dirty="0">
                <a:solidFill>
                  <a:schemeClr val="tx1"/>
                </a:solidFill>
                <a:latin typeface="微软雅黑" panose="020B0503020204020204" charset="-122"/>
                <a:ea typeface="微软雅黑" panose="020B0503020204020204" charset="-122"/>
              </a:endParaRPr>
            </a:p>
          </p:txBody>
        </p:sp>
      </p:grpSp>
      <p:grpSp>
        <p:nvGrpSpPr>
          <p:cNvPr id="31" name="组合 30"/>
          <p:cNvGrpSpPr/>
          <p:nvPr/>
        </p:nvGrpSpPr>
        <p:grpSpPr>
          <a:xfrm>
            <a:off x="312420" y="2233930"/>
            <a:ext cx="2743200" cy="2021840"/>
            <a:chOff x="492" y="3364"/>
            <a:chExt cx="3347" cy="3184"/>
          </a:xfrm>
        </p:grpSpPr>
        <p:sp>
          <p:nvSpPr>
            <p:cNvPr id="3" name="矩形 2"/>
            <p:cNvSpPr/>
            <p:nvPr/>
          </p:nvSpPr>
          <p:spPr>
            <a:xfrm>
              <a:off x="492" y="3364"/>
              <a:ext cx="3347" cy="3184"/>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语义知识图谱本体</a:t>
              </a:r>
              <a:r>
                <a:rPr lang="zh-CN" altLang="en-US" sz="1400" b="1">
                  <a:latin typeface="微软雅黑" panose="020B0503020204020204" charset="-122"/>
                  <a:ea typeface="微软雅黑" panose="020B0503020204020204" charset="-122"/>
                </a:rPr>
                <a:t>建模</a:t>
              </a:r>
              <a:endParaRPr lang="zh-CN" altLang="en-US" sz="1400" b="1">
                <a:latin typeface="微软雅黑" panose="020B0503020204020204" charset="-122"/>
                <a:ea typeface="微软雅黑" panose="020B0503020204020204" charset="-122"/>
              </a:endParaRPr>
            </a:p>
          </p:txBody>
        </p:sp>
        <p:sp>
          <p:nvSpPr>
            <p:cNvPr id="4" name="矩形 3"/>
            <p:cNvSpPr/>
            <p:nvPr/>
          </p:nvSpPr>
          <p:spPr>
            <a:xfrm>
              <a:off x="719" y="4008"/>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统一语义建模</a:t>
              </a:r>
              <a:endParaRPr lang="zh-CN" altLang="en-US" sz="1200" dirty="0">
                <a:solidFill>
                  <a:schemeClr val="tx1"/>
                </a:solidFill>
                <a:latin typeface="微软雅黑" panose="020B0503020204020204" charset="-122"/>
                <a:ea typeface="微软雅黑" panose="020B0503020204020204" charset="-122"/>
              </a:endParaRPr>
            </a:p>
          </p:txBody>
        </p:sp>
        <p:sp>
          <p:nvSpPr>
            <p:cNvPr id="5" name="矩形 4"/>
            <p:cNvSpPr/>
            <p:nvPr/>
          </p:nvSpPr>
          <p:spPr>
            <a:xfrm>
              <a:off x="2281" y="4008"/>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sym typeface="+mn-ea"/>
                </a:rPr>
                <a:t>自定义图本体</a:t>
              </a:r>
              <a:endParaRPr lang="zh-CN" altLang="en-US" sz="1200" dirty="0">
                <a:solidFill>
                  <a:schemeClr val="tx1"/>
                </a:solidFill>
                <a:latin typeface="微软雅黑" panose="020B0503020204020204" charset="-122"/>
                <a:ea typeface="微软雅黑" panose="020B0503020204020204" charset="-122"/>
                <a:sym typeface="+mn-ea"/>
              </a:endParaRPr>
            </a:p>
          </p:txBody>
        </p:sp>
        <p:cxnSp>
          <p:nvCxnSpPr>
            <p:cNvPr id="7" name="直接箭头连接符 6"/>
            <p:cNvCxnSpPr>
              <a:stCxn id="4" idx="3"/>
              <a:endCxn id="5" idx="1"/>
            </p:cNvCxnSpPr>
            <p:nvPr/>
          </p:nvCxnSpPr>
          <p:spPr>
            <a:xfrm>
              <a:off x="1793" y="5133"/>
              <a:ext cx="487"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18" name="矩形 17"/>
          <p:cNvSpPr/>
          <p:nvPr/>
        </p:nvSpPr>
        <p:spPr>
          <a:xfrm>
            <a:off x="9351010" y="2642870"/>
            <a:ext cx="1129665"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统一语义知识图谱</a:t>
            </a:r>
            <a:r>
              <a:rPr lang="en-US" altLang="zh-CN" sz="1200" dirty="0">
                <a:solidFill>
                  <a:schemeClr val="tx1"/>
                </a:solidFill>
                <a:latin typeface="微软雅黑" panose="020B0503020204020204" charset="-122"/>
                <a:ea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rPr>
              <a:t>实例</a:t>
            </a:r>
            <a:r>
              <a:rPr lang="en-US" altLang="zh-CN" sz="1200" dirty="0">
                <a:solidFill>
                  <a:schemeClr val="tx1"/>
                </a:solidFill>
                <a:latin typeface="微软雅黑" panose="020B0503020204020204" charset="-122"/>
                <a:ea typeface="微软雅黑" panose="020B0503020204020204" charset="-122"/>
              </a:rPr>
              <a:t>）</a:t>
            </a:r>
            <a:endParaRPr lang="en-US" altLang="zh-CN" sz="1200" dirty="0">
              <a:solidFill>
                <a:schemeClr val="tx1"/>
              </a:solidFill>
              <a:latin typeface="微软雅黑" panose="020B0503020204020204" charset="-122"/>
              <a:ea typeface="微软雅黑" panose="020B0503020204020204" charset="-122"/>
            </a:endParaRPr>
          </a:p>
        </p:txBody>
      </p:sp>
      <p:sp>
        <p:nvSpPr>
          <p:cNvPr id="19" name="矩形 18"/>
          <p:cNvSpPr/>
          <p:nvPr/>
        </p:nvSpPr>
        <p:spPr>
          <a:xfrm>
            <a:off x="10701020" y="2642870"/>
            <a:ext cx="1129665"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统一语义图谱索引</a:t>
            </a:r>
            <a:endParaRPr lang="zh-CN" altLang="en-US" sz="1200" dirty="0">
              <a:solidFill>
                <a:schemeClr val="tx1"/>
              </a:solidFill>
              <a:latin typeface="微软雅黑" panose="020B0503020204020204" charset="-122"/>
              <a:ea typeface="微软雅黑" panose="020B0503020204020204" charset="-122"/>
            </a:endParaRPr>
          </a:p>
        </p:txBody>
      </p:sp>
      <p:grpSp>
        <p:nvGrpSpPr>
          <p:cNvPr id="33" name="组合 32"/>
          <p:cNvGrpSpPr/>
          <p:nvPr/>
        </p:nvGrpSpPr>
        <p:grpSpPr>
          <a:xfrm>
            <a:off x="3364230" y="2233930"/>
            <a:ext cx="3023235" cy="2021840"/>
            <a:chOff x="5729" y="3364"/>
            <a:chExt cx="3952" cy="3184"/>
          </a:xfrm>
        </p:grpSpPr>
        <p:sp>
          <p:nvSpPr>
            <p:cNvPr id="10" name="矩形 9"/>
            <p:cNvSpPr/>
            <p:nvPr/>
          </p:nvSpPr>
          <p:spPr>
            <a:xfrm>
              <a:off x="5729" y="3364"/>
              <a:ext cx="3952" cy="3184"/>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语义</a:t>
              </a:r>
              <a:r>
                <a:rPr lang="zh-CN" altLang="en-US" sz="1400" b="1">
                  <a:latin typeface="微软雅黑" panose="020B0503020204020204" charset="-122"/>
                  <a:ea typeface="微软雅黑" panose="020B0503020204020204" charset="-122"/>
                </a:rPr>
                <a:t>知识图谱数据接入</a:t>
              </a:r>
              <a:endParaRPr lang="zh-CN" altLang="en-US" sz="1400" b="1">
                <a:latin typeface="微软雅黑" panose="020B0503020204020204" charset="-122"/>
                <a:ea typeface="微软雅黑" panose="020B0503020204020204" charset="-122"/>
              </a:endParaRPr>
            </a:p>
            <a:p>
              <a:pPr algn="ctr"/>
              <a:endParaRPr lang="zh-CN" altLang="en-US" sz="1400" b="1">
                <a:latin typeface="微软雅黑" panose="020B0503020204020204" charset="-122"/>
                <a:ea typeface="微软雅黑" panose="020B0503020204020204" charset="-122"/>
              </a:endParaRPr>
            </a:p>
          </p:txBody>
        </p:sp>
        <p:sp>
          <p:nvSpPr>
            <p:cNvPr id="11" name="矩形 10"/>
            <p:cNvSpPr/>
            <p:nvPr/>
          </p:nvSpPr>
          <p:spPr>
            <a:xfrm>
              <a:off x="5895" y="4008"/>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数据接入任务管理</a:t>
              </a:r>
              <a:endParaRPr lang="zh-CN" altLang="en-US" sz="1200" dirty="0">
                <a:solidFill>
                  <a:schemeClr val="tx1"/>
                </a:solidFill>
                <a:latin typeface="微软雅黑" panose="020B0503020204020204" charset="-122"/>
                <a:ea typeface="微软雅黑" panose="020B0503020204020204" charset="-122"/>
              </a:endParaRPr>
            </a:p>
          </p:txBody>
        </p:sp>
        <p:sp>
          <p:nvSpPr>
            <p:cNvPr id="12" name="矩形 11"/>
            <p:cNvSpPr/>
            <p:nvPr/>
          </p:nvSpPr>
          <p:spPr>
            <a:xfrm>
              <a:off x="7148" y="4008"/>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数据映射配置</a:t>
              </a:r>
              <a:endParaRPr lang="zh-CN" altLang="en-US" sz="1200" dirty="0">
                <a:solidFill>
                  <a:schemeClr val="tx1"/>
                </a:solidFill>
                <a:latin typeface="微软雅黑" panose="020B0503020204020204" charset="-122"/>
                <a:ea typeface="微软雅黑" panose="020B0503020204020204" charset="-122"/>
              </a:endParaRPr>
            </a:p>
          </p:txBody>
        </p:sp>
        <p:sp>
          <p:nvSpPr>
            <p:cNvPr id="13" name="矩形 12"/>
            <p:cNvSpPr/>
            <p:nvPr/>
          </p:nvSpPr>
          <p:spPr>
            <a:xfrm>
              <a:off x="8402" y="4008"/>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调度策略配置</a:t>
              </a:r>
              <a:endParaRPr lang="zh-CN" altLang="en-US" sz="1200" dirty="0">
                <a:solidFill>
                  <a:schemeClr val="tx1"/>
                </a:solidFill>
                <a:latin typeface="微软雅黑" panose="020B0503020204020204" charset="-122"/>
                <a:ea typeface="微软雅黑" panose="020B0503020204020204" charset="-122"/>
              </a:endParaRPr>
            </a:p>
          </p:txBody>
        </p:sp>
        <p:cxnSp>
          <p:nvCxnSpPr>
            <p:cNvPr id="24" name="直接箭头连接符 23"/>
            <p:cNvCxnSpPr/>
            <p:nvPr/>
          </p:nvCxnSpPr>
          <p:spPr>
            <a:xfrm>
              <a:off x="6969" y="5133"/>
              <a:ext cx="179"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a:off x="8222" y="5133"/>
              <a:ext cx="18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sp>
        <p:nvSpPr>
          <p:cNvPr id="15" name="矩形 14"/>
          <p:cNvSpPr/>
          <p:nvPr/>
        </p:nvSpPr>
        <p:spPr>
          <a:xfrm>
            <a:off x="6808470" y="2233930"/>
            <a:ext cx="2323465" cy="2021840"/>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语义知识</a:t>
            </a:r>
            <a:r>
              <a:rPr lang="zh-CN" altLang="en-US" sz="1400" b="1">
                <a:latin typeface="微软雅黑" panose="020B0503020204020204" charset="-122"/>
                <a:ea typeface="微软雅黑" panose="020B0503020204020204" charset="-122"/>
              </a:rPr>
              <a:t>图谱构建</a:t>
            </a:r>
            <a:endParaRPr lang="zh-CN" altLang="en-US" sz="1400" b="1">
              <a:latin typeface="微软雅黑" panose="020B0503020204020204" charset="-122"/>
              <a:ea typeface="微软雅黑" panose="020B0503020204020204" charset="-122"/>
            </a:endParaRPr>
          </a:p>
          <a:p>
            <a:pPr algn="ctr"/>
            <a:endParaRPr lang="zh-CN" altLang="en-US" sz="1400" b="1">
              <a:latin typeface="微软雅黑" panose="020B0503020204020204" charset="-122"/>
              <a:ea typeface="微软雅黑" panose="020B0503020204020204" charset="-122"/>
            </a:endParaRPr>
          </a:p>
        </p:txBody>
      </p:sp>
      <p:sp>
        <p:nvSpPr>
          <p:cNvPr id="16" name="矩形 15"/>
          <p:cNvSpPr/>
          <p:nvPr/>
        </p:nvSpPr>
        <p:spPr>
          <a:xfrm>
            <a:off x="6955155" y="2642870"/>
            <a:ext cx="1925320" cy="51498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统一语义图谱生成</a:t>
            </a:r>
            <a:endParaRPr lang="zh-CN" altLang="en-US" sz="1200" dirty="0">
              <a:solidFill>
                <a:schemeClr val="tx1"/>
              </a:solidFill>
              <a:latin typeface="微软雅黑" panose="020B0503020204020204" charset="-122"/>
              <a:ea typeface="微软雅黑" panose="020B0503020204020204" charset="-122"/>
            </a:endParaRPr>
          </a:p>
        </p:txBody>
      </p:sp>
      <p:cxnSp>
        <p:nvCxnSpPr>
          <p:cNvPr id="29" name="直接箭头连接符 28"/>
          <p:cNvCxnSpPr/>
          <p:nvPr/>
        </p:nvCxnSpPr>
        <p:spPr>
          <a:xfrm>
            <a:off x="10480769" y="3357245"/>
            <a:ext cx="22034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0" name="肘形连接符 29"/>
          <p:cNvCxnSpPr>
            <a:stCxn id="43" idx="0"/>
            <a:endCxn id="11" idx="2"/>
          </p:cNvCxnSpPr>
          <p:nvPr/>
        </p:nvCxnSpPr>
        <p:spPr>
          <a:xfrm rot="16200000">
            <a:off x="2672715" y="3972560"/>
            <a:ext cx="1129665" cy="1327785"/>
          </a:xfrm>
          <a:prstGeom prst="bentConnector3">
            <a:avLst>
              <a:gd name="adj1" fmla="val 49972"/>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2504440" y="4378325"/>
            <a:ext cx="1327785" cy="229870"/>
          </a:xfrm>
          <a:prstGeom prst="rect">
            <a:avLst/>
          </a:prstGeom>
          <a:noFill/>
        </p:spPr>
        <p:txBody>
          <a:bodyPr wrap="square" rtlCol="0">
            <a:sp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文档元数据表结构对接</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20" name="矩形 19"/>
          <p:cNvSpPr/>
          <p:nvPr/>
        </p:nvSpPr>
        <p:spPr>
          <a:xfrm>
            <a:off x="8060055" y="5201285"/>
            <a:ext cx="3874135" cy="94742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类实体文档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87" name="组合 86"/>
          <p:cNvGrpSpPr/>
          <p:nvPr/>
        </p:nvGrpSpPr>
        <p:grpSpPr>
          <a:xfrm>
            <a:off x="8195310" y="5598160"/>
            <a:ext cx="3658235" cy="419735"/>
            <a:chOff x="1498" y="4598"/>
            <a:chExt cx="5493" cy="664"/>
          </a:xfrm>
        </p:grpSpPr>
        <p:sp>
          <p:nvSpPr>
            <p:cNvPr id="88" name="圆柱形 87"/>
            <p:cNvSpPr/>
            <p:nvPr/>
          </p:nvSpPr>
          <p:spPr>
            <a:xfrm>
              <a:off x="1498"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规划类</a:t>
              </a:r>
              <a:endParaRPr lang="zh-CN" altLang="en-US" sz="1000">
                <a:solidFill>
                  <a:schemeClr val="tx1"/>
                </a:solidFill>
                <a:latin typeface="微软雅黑" panose="020B0503020204020204" charset="-122"/>
                <a:ea typeface="微软雅黑" panose="020B0503020204020204" charset="-122"/>
              </a:endParaRPr>
            </a:p>
          </p:txBody>
        </p:sp>
        <p:sp>
          <p:nvSpPr>
            <p:cNvPr id="89" name="圆柱形 88"/>
            <p:cNvSpPr/>
            <p:nvPr/>
          </p:nvSpPr>
          <p:spPr>
            <a:xfrm>
              <a:off x="2603"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法规类</a:t>
              </a:r>
              <a:endParaRPr lang="zh-CN" altLang="en-US" sz="1000">
                <a:solidFill>
                  <a:schemeClr val="tx1"/>
                </a:solidFill>
                <a:latin typeface="微软雅黑" panose="020B0503020204020204" charset="-122"/>
                <a:ea typeface="微软雅黑" panose="020B0503020204020204" charset="-122"/>
              </a:endParaRPr>
            </a:p>
          </p:txBody>
        </p:sp>
        <p:sp>
          <p:nvSpPr>
            <p:cNvPr id="90" name="圆柱形 89"/>
            <p:cNvSpPr/>
            <p:nvPr/>
          </p:nvSpPr>
          <p:spPr>
            <a:xfrm>
              <a:off x="37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制度类</a:t>
              </a:r>
              <a:endParaRPr lang="zh-CN" altLang="en-US" sz="1000">
                <a:solidFill>
                  <a:schemeClr val="tx1"/>
                </a:solidFill>
                <a:latin typeface="微软雅黑" panose="020B0503020204020204" charset="-122"/>
                <a:ea typeface="微软雅黑" panose="020B0503020204020204" charset="-122"/>
              </a:endParaRPr>
            </a:p>
          </p:txBody>
        </p:sp>
        <p:sp>
          <p:nvSpPr>
            <p:cNvPr id="91" name="圆柱形 90"/>
            <p:cNvSpPr/>
            <p:nvPr/>
          </p:nvSpPr>
          <p:spPr>
            <a:xfrm>
              <a:off x="486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手册类</a:t>
              </a:r>
              <a:endParaRPr lang="zh-CN" altLang="en-US" sz="1000">
                <a:solidFill>
                  <a:schemeClr val="tx1"/>
                </a:solidFill>
                <a:latin typeface="微软雅黑" panose="020B0503020204020204" charset="-122"/>
                <a:ea typeface="微软雅黑" panose="020B0503020204020204" charset="-122"/>
              </a:endParaRPr>
            </a:p>
          </p:txBody>
        </p:sp>
        <p:sp>
          <p:nvSpPr>
            <p:cNvPr id="92" name="圆柱形 91"/>
            <p:cNvSpPr/>
            <p:nvPr/>
          </p:nvSpPr>
          <p:spPr>
            <a:xfrm>
              <a:off x="596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sp>
        <p:nvSpPr>
          <p:cNvPr id="65" name="矩形 64"/>
          <p:cNvSpPr/>
          <p:nvPr/>
        </p:nvSpPr>
        <p:spPr>
          <a:xfrm>
            <a:off x="4129405" y="5201285"/>
            <a:ext cx="3813810" cy="94742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明细类实体文档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84" name="组合 83"/>
          <p:cNvGrpSpPr/>
          <p:nvPr/>
        </p:nvGrpSpPr>
        <p:grpSpPr>
          <a:xfrm>
            <a:off x="4232910" y="5598160"/>
            <a:ext cx="3658235" cy="419735"/>
            <a:chOff x="1509" y="4598"/>
            <a:chExt cx="5493" cy="664"/>
          </a:xfrm>
        </p:grpSpPr>
        <p:sp>
          <p:nvSpPr>
            <p:cNvPr id="70" name="圆柱形 69"/>
            <p:cNvSpPr/>
            <p:nvPr/>
          </p:nvSpPr>
          <p:spPr>
            <a:xfrm>
              <a:off x="15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合同类</a:t>
              </a:r>
              <a:endParaRPr lang="zh-CN" altLang="en-US" sz="1000">
                <a:solidFill>
                  <a:schemeClr val="tx1"/>
                </a:solidFill>
                <a:latin typeface="微软雅黑" panose="020B0503020204020204" charset="-122"/>
                <a:ea typeface="微软雅黑" panose="020B0503020204020204" charset="-122"/>
              </a:endParaRPr>
            </a:p>
          </p:txBody>
        </p:sp>
        <p:sp>
          <p:nvSpPr>
            <p:cNvPr id="71" name="圆柱形 70"/>
            <p:cNvSpPr/>
            <p:nvPr/>
          </p:nvSpPr>
          <p:spPr>
            <a:xfrm>
              <a:off x="261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征信类</a:t>
              </a:r>
              <a:endParaRPr lang="zh-CN" altLang="en-US" sz="1000">
                <a:solidFill>
                  <a:schemeClr val="tx1"/>
                </a:solidFill>
                <a:latin typeface="微软雅黑" panose="020B0503020204020204" charset="-122"/>
                <a:ea typeface="微软雅黑" panose="020B0503020204020204" charset="-122"/>
              </a:endParaRPr>
            </a:p>
          </p:txBody>
        </p:sp>
        <p:sp>
          <p:nvSpPr>
            <p:cNvPr id="72" name="圆柱形 71"/>
            <p:cNvSpPr/>
            <p:nvPr/>
          </p:nvSpPr>
          <p:spPr>
            <a:xfrm>
              <a:off x="372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司法类</a:t>
              </a:r>
              <a:endParaRPr lang="zh-CN" altLang="en-US" sz="1000">
                <a:solidFill>
                  <a:schemeClr val="tx1"/>
                </a:solidFill>
                <a:latin typeface="微软雅黑" panose="020B0503020204020204" charset="-122"/>
                <a:ea typeface="微软雅黑" panose="020B0503020204020204" charset="-122"/>
              </a:endParaRPr>
            </a:p>
          </p:txBody>
        </p:sp>
        <p:sp>
          <p:nvSpPr>
            <p:cNvPr id="74" name="圆柱形 73"/>
            <p:cNvSpPr/>
            <p:nvPr/>
          </p:nvSpPr>
          <p:spPr>
            <a:xfrm>
              <a:off x="4886"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报告类</a:t>
              </a:r>
              <a:endParaRPr lang="zh-CN" altLang="en-US" sz="1000">
                <a:solidFill>
                  <a:schemeClr val="tx1"/>
                </a:solidFill>
                <a:latin typeface="微软雅黑" panose="020B0503020204020204" charset="-122"/>
                <a:ea typeface="微软雅黑" panose="020B0503020204020204" charset="-122"/>
              </a:endParaRPr>
            </a:p>
          </p:txBody>
        </p:sp>
        <p:sp>
          <p:nvSpPr>
            <p:cNvPr id="75" name="圆柱形 74"/>
            <p:cNvSpPr/>
            <p:nvPr/>
          </p:nvSpPr>
          <p:spPr>
            <a:xfrm>
              <a:off x="598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sp>
        <p:nvSpPr>
          <p:cNvPr id="48" name="文本占位符 1"/>
          <p:cNvSpPr>
            <a:spLocks noGrp="1"/>
          </p:cNvSpPr>
          <p:nvPr/>
        </p:nvSpPr>
        <p:spPr>
          <a:xfrm>
            <a:off x="320675" y="922020"/>
            <a:ext cx="1146111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基于资源层元数据自动构建全行标准语义图谱，作为所有知识的统一语义锚点，从根源解决跨文档语义不一致问题。</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cxnSp>
        <p:nvCxnSpPr>
          <p:cNvPr id="14" name="直接箭头连接符 13"/>
          <p:cNvCxnSpPr/>
          <p:nvPr/>
        </p:nvCxnSpPr>
        <p:spPr>
          <a:xfrm>
            <a:off x="2658745" y="3357245"/>
            <a:ext cx="83248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5" name="肘形连接符 34"/>
          <p:cNvCxnSpPr>
            <a:stCxn id="13" idx="3"/>
            <a:endCxn id="16" idx="1"/>
          </p:cNvCxnSpPr>
          <p:nvPr/>
        </p:nvCxnSpPr>
        <p:spPr>
          <a:xfrm flipV="1">
            <a:off x="6230620" y="2900680"/>
            <a:ext cx="724535" cy="456565"/>
          </a:xfrm>
          <a:prstGeom prst="bentConnector3">
            <a:avLst>
              <a:gd name="adj1" fmla="val 50044"/>
            </a:avLst>
          </a:prstGeom>
          <a:ln>
            <a:tailEnd type="arrow"/>
          </a:ln>
        </p:spPr>
        <p:style>
          <a:lnRef idx="2">
            <a:schemeClr val="accent1"/>
          </a:lnRef>
          <a:fillRef idx="0">
            <a:srgbClr val="FFFFFF"/>
          </a:fillRef>
          <a:effectRef idx="0">
            <a:srgbClr val="FFFFFF"/>
          </a:effectRef>
          <a:fontRef idx="minor">
            <a:schemeClr val="tx1"/>
          </a:fontRef>
        </p:style>
      </p:cxnSp>
      <p:cxnSp>
        <p:nvCxnSpPr>
          <p:cNvPr id="36" name="肘形连接符 35"/>
          <p:cNvCxnSpPr>
            <a:stCxn id="16" idx="3"/>
            <a:endCxn id="18" idx="1"/>
          </p:cNvCxnSpPr>
          <p:nvPr/>
        </p:nvCxnSpPr>
        <p:spPr>
          <a:xfrm>
            <a:off x="8880475" y="2900680"/>
            <a:ext cx="470535" cy="456565"/>
          </a:xfrm>
          <a:prstGeom prst="bentConnector3">
            <a:avLst>
              <a:gd name="adj1" fmla="val 50067"/>
            </a:avLst>
          </a:prstGeom>
          <a:ln>
            <a:tailEnd type="arrow"/>
          </a:ln>
        </p:spPr>
        <p:style>
          <a:lnRef idx="2">
            <a:schemeClr val="accent1"/>
          </a:lnRef>
          <a:fillRef idx="0">
            <a:srgbClr val="FFFFFF"/>
          </a:fillRef>
          <a:effectRef idx="0">
            <a:srgbClr val="FFFFFF"/>
          </a:effectRef>
          <a:fontRef idx="minor">
            <a:schemeClr val="tx1"/>
          </a:fontRef>
        </p:style>
      </p:cxnSp>
      <p:sp>
        <p:nvSpPr>
          <p:cNvPr id="37" name="矩形 36"/>
          <p:cNvSpPr/>
          <p:nvPr/>
        </p:nvSpPr>
        <p:spPr>
          <a:xfrm>
            <a:off x="6906895" y="3556635"/>
            <a:ext cx="886460" cy="51498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图谱</a:t>
            </a:r>
            <a:endParaRPr lang="zh-CN" altLang="en-US" sz="1200" dirty="0">
              <a:solidFill>
                <a:schemeClr val="tx1"/>
              </a:solidFill>
              <a:latin typeface="微软雅黑" panose="020B0503020204020204" charset="-122"/>
              <a:ea typeface="微软雅黑" panose="020B0503020204020204" charset="-122"/>
            </a:endParaRPr>
          </a:p>
          <a:p>
            <a:pPr lvl="0" algn="ctr">
              <a:buClrTx/>
              <a:buSzTx/>
              <a:buFontTx/>
            </a:pPr>
            <a:r>
              <a:rPr lang="zh-CN" altLang="en-US" sz="1200" dirty="0">
                <a:solidFill>
                  <a:schemeClr val="tx1"/>
                </a:solidFill>
                <a:latin typeface="微软雅黑" panose="020B0503020204020204" charset="-122"/>
                <a:ea typeface="微软雅黑" panose="020B0503020204020204" charset="-122"/>
              </a:rPr>
              <a:t>可视化</a:t>
            </a:r>
            <a:endParaRPr lang="zh-CN" altLang="en-US" sz="1200" dirty="0">
              <a:solidFill>
                <a:schemeClr val="tx1"/>
              </a:solidFill>
              <a:latin typeface="微软雅黑" panose="020B0503020204020204" charset="-122"/>
              <a:ea typeface="微软雅黑" panose="020B0503020204020204" charset="-122"/>
            </a:endParaRPr>
          </a:p>
        </p:txBody>
      </p:sp>
      <p:sp>
        <p:nvSpPr>
          <p:cNvPr id="38" name="矩形 37"/>
          <p:cNvSpPr/>
          <p:nvPr/>
        </p:nvSpPr>
        <p:spPr>
          <a:xfrm>
            <a:off x="8077835" y="3556635"/>
            <a:ext cx="886460" cy="51498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图谱查询</a:t>
            </a:r>
            <a:endParaRPr lang="zh-CN" altLang="en-US" sz="1200" dirty="0">
              <a:solidFill>
                <a:schemeClr val="tx1"/>
              </a:solidFill>
              <a:latin typeface="微软雅黑" panose="020B0503020204020204" charset="-122"/>
              <a:ea typeface="微软雅黑" panose="020B0503020204020204" charset="-122"/>
            </a:endParaRPr>
          </a:p>
        </p:txBody>
      </p:sp>
      <p:cxnSp>
        <p:nvCxnSpPr>
          <p:cNvPr id="39" name="肘形连接符 38"/>
          <p:cNvCxnSpPr>
            <a:stCxn id="16" idx="2"/>
            <a:endCxn id="37" idx="0"/>
          </p:cNvCxnSpPr>
          <p:nvPr/>
        </p:nvCxnSpPr>
        <p:spPr>
          <a:xfrm rot="5400000">
            <a:off x="7434580" y="3073400"/>
            <a:ext cx="398780" cy="56769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40" name="肘形连接符 39"/>
          <p:cNvCxnSpPr>
            <a:stCxn id="16" idx="2"/>
            <a:endCxn id="38" idx="0"/>
          </p:cNvCxnSpPr>
          <p:nvPr/>
        </p:nvCxnSpPr>
        <p:spPr>
          <a:xfrm rot="5400000" flipV="1">
            <a:off x="8020050" y="3055620"/>
            <a:ext cx="398780" cy="60325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946150" y="4228465"/>
            <a:ext cx="1163320" cy="245110"/>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rPr>
              <a:t>类似定义表结构</a:t>
            </a:r>
            <a:endParaRPr lang="zh-CN" altLang="en-US" sz="1000">
              <a:latin typeface="微软雅黑" panose="020B0503020204020204" charset="-122"/>
              <a:ea typeface="微软雅黑" panose="020B0503020204020204" charset="-122"/>
            </a:endParaRPr>
          </a:p>
        </p:txBody>
      </p:sp>
      <p:sp>
        <p:nvSpPr>
          <p:cNvPr id="27" name="矩形 26"/>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28" name="矩形 27"/>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语义知识图谱加工</a:t>
            </a:r>
            <a:r>
              <a:rPr kumimoji="0"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本体</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建模</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17" name="组合 16"/>
          <p:cNvGrpSpPr/>
          <p:nvPr/>
        </p:nvGrpSpPr>
        <p:grpSpPr>
          <a:xfrm rot="0">
            <a:off x="304800" y="2078990"/>
            <a:ext cx="11440795" cy="4580255"/>
            <a:chOff x="480" y="3495"/>
            <a:chExt cx="11640" cy="6992"/>
          </a:xfrm>
        </p:grpSpPr>
        <p:sp>
          <p:nvSpPr>
            <p:cNvPr id="3" name="m1-bg"/>
            <p:cNvSpPr/>
            <p:nvPr/>
          </p:nvSpPr>
          <p:spPr>
            <a:xfrm>
              <a:off x="480" y="3665"/>
              <a:ext cx="5700" cy="6822"/>
            </a:xfrm>
            <a:prstGeom prst="roundRect">
              <a:avLst>
                <a:gd name="adj" fmla="val 2000"/>
              </a:avLst>
            </a:prstGeom>
            <a:solidFill>
              <a:srgbClr val="FFFFFF"/>
            </a:solidFill>
            <a:ln w="12700">
              <a:solidFill>
                <a:srgbClr val="BFDBFE"/>
              </a:solidFill>
            </a:ln>
          </p:spPr>
        </p:sp>
        <p:sp>
          <p:nvSpPr>
            <p:cNvPr id="5" name="m2-bg"/>
            <p:cNvSpPr/>
            <p:nvPr/>
          </p:nvSpPr>
          <p:spPr>
            <a:xfrm>
              <a:off x="6420" y="3665"/>
              <a:ext cx="5700" cy="6822"/>
            </a:xfrm>
            <a:prstGeom prst="roundRect">
              <a:avLst>
                <a:gd name="adj" fmla="val 2000"/>
              </a:avLst>
            </a:prstGeom>
            <a:solidFill>
              <a:srgbClr val="FFFFFF"/>
            </a:solidFill>
            <a:ln w="12700">
              <a:solidFill>
                <a:srgbClr val="BFDBFE"/>
              </a:solidFill>
            </a:ln>
          </p:spPr>
        </p:sp>
        <p:sp>
          <p:nvSpPr>
            <p:cNvPr id="8" name="m1-header"/>
            <p:cNvSpPr/>
            <p:nvPr/>
          </p:nvSpPr>
          <p:spPr>
            <a:xfrm>
              <a:off x="480" y="3495"/>
              <a:ext cx="5700" cy="650"/>
            </a:xfrm>
            <a:prstGeom prst="roundRect">
              <a:avLst>
                <a:gd name="adj" fmla="val 2000"/>
              </a:avLst>
            </a:prstGeom>
            <a:solidFill>
              <a:srgbClr val="2563EB"/>
            </a:solidFill>
            <a:ln>
              <a:noFill/>
            </a:ln>
          </p:spPr>
        </p:sp>
        <p:sp>
          <p:nvSpPr>
            <p:cNvPr id="10" name="m1-header-text"/>
            <p:cNvSpPr txBox="1"/>
            <p:nvPr/>
          </p:nvSpPr>
          <p:spPr>
            <a:xfrm>
              <a:off x="691" y="3536"/>
              <a:ext cx="5219" cy="569"/>
            </a:xfrm>
            <a:prstGeom prst="rect">
              <a:avLst/>
            </a:prstGeom>
            <a:noFill/>
            <a:ln>
              <a:noFill/>
            </a:ln>
          </p:spPr>
          <p:txBody>
            <a:bodyPr wrap="none" lIns="0" tIns="0" rIns="0" bIns="0" rtlCol="0" anchor="ctr"/>
            <a:lstStyle/>
            <a:p>
              <a:pPr algn="l">
                <a:lnSpc>
                  <a:spcPct val="120000"/>
                </a:lnSpc>
              </a:pPr>
              <a:r>
                <a:rPr lang="zh-CN" altLang="en-US" sz="1400" b="1">
                  <a:solidFill>
                    <a:srgbClr val="FFFFFF"/>
                  </a:solidFill>
                  <a:latin typeface="微软雅黑" panose="020B0503020204020204" charset="-122"/>
                  <a:ea typeface="微软雅黑" panose="020B0503020204020204" charset="-122"/>
                </a:rPr>
                <a:t>统一语义知识图谱</a:t>
              </a:r>
              <a:r>
                <a:rPr lang="en-US" altLang="zh-CN" sz="1400" b="1">
                  <a:solidFill>
                    <a:srgbClr val="FFFFFF"/>
                  </a:solidFill>
                  <a:latin typeface="微软雅黑" panose="020B0503020204020204" charset="-122"/>
                  <a:ea typeface="微软雅黑" panose="020B0503020204020204" charset="-122"/>
                </a:rPr>
                <a:t>-</a:t>
              </a:r>
              <a:r>
                <a:rPr lang="zh-CN" altLang="en-US" sz="1400" b="1">
                  <a:solidFill>
                    <a:srgbClr val="FFFFFF"/>
                  </a:solidFill>
                  <a:latin typeface="微软雅黑" panose="020B0503020204020204" charset="-122"/>
                  <a:ea typeface="微软雅黑" panose="020B0503020204020204" charset="-122"/>
                </a:rPr>
                <a:t>本体配置</a:t>
              </a:r>
              <a:endParaRPr lang="zh-CN" altLang="en-US" sz="1400" b="1">
                <a:solidFill>
                  <a:srgbClr val="FFFFFF"/>
                </a:solidFill>
                <a:latin typeface="微软雅黑" panose="020B0503020204020204" charset="-122"/>
                <a:ea typeface="微软雅黑" panose="020B0503020204020204" charset="-122"/>
              </a:endParaRPr>
            </a:p>
          </p:txBody>
        </p:sp>
        <p:sp>
          <p:nvSpPr>
            <p:cNvPr id="13" name="m2-header"/>
            <p:cNvSpPr/>
            <p:nvPr/>
          </p:nvSpPr>
          <p:spPr>
            <a:xfrm>
              <a:off x="6420" y="3495"/>
              <a:ext cx="5700" cy="650"/>
            </a:xfrm>
            <a:prstGeom prst="roundRect">
              <a:avLst>
                <a:gd name="adj" fmla="val 2000"/>
              </a:avLst>
            </a:prstGeom>
            <a:solidFill>
              <a:srgbClr val="2563EB"/>
            </a:solidFill>
            <a:ln>
              <a:noFill/>
            </a:ln>
          </p:spPr>
        </p:sp>
        <p:sp>
          <p:nvSpPr>
            <p:cNvPr id="15" name="m2-header-text"/>
            <p:cNvSpPr txBox="1"/>
            <p:nvPr/>
          </p:nvSpPr>
          <p:spPr>
            <a:xfrm>
              <a:off x="6630" y="3536"/>
              <a:ext cx="5220" cy="569"/>
            </a:xfrm>
            <a:prstGeom prst="rect">
              <a:avLst/>
            </a:prstGeom>
            <a:noFill/>
            <a:ln>
              <a:noFill/>
            </a:ln>
          </p:spPr>
          <p:txBody>
            <a:bodyPr wrap="none" lIns="0" tIns="0" rIns="0" bIns="0" rtlCol="0" anchor="ctr"/>
            <a:lstStyle/>
            <a:p>
              <a:pPr algn="l">
                <a:lnSpc>
                  <a:spcPct val="120000"/>
                </a:lnSpc>
              </a:pPr>
              <a:r>
                <a:rPr lang="zh-CN" altLang="en-US" sz="1400" b="1">
                  <a:solidFill>
                    <a:srgbClr val="FFFFFF"/>
                  </a:solidFill>
                  <a:latin typeface="微软雅黑" panose="020B0503020204020204" charset="-122"/>
                  <a:ea typeface="微软雅黑" panose="020B0503020204020204" charset="-122"/>
                  <a:sym typeface="+mn-ea"/>
                </a:rPr>
                <a:t>语义知识图谱</a:t>
              </a:r>
              <a:r>
                <a:rPr lang="en-US" altLang="zh-CN" sz="1400" b="1">
                  <a:solidFill>
                    <a:srgbClr val="FFFFFF"/>
                  </a:solidFill>
                  <a:latin typeface="微软雅黑" panose="020B0503020204020204" charset="-122"/>
                  <a:ea typeface="微软雅黑" panose="020B0503020204020204" charset="-122"/>
                  <a:sym typeface="+mn-ea"/>
                </a:rPr>
                <a:t>-</a:t>
              </a:r>
              <a:r>
                <a:rPr lang="zh-CN" altLang="en-US" sz="1400" b="1">
                  <a:solidFill>
                    <a:srgbClr val="FFFFFF"/>
                  </a:solidFill>
                  <a:latin typeface="微软雅黑" panose="020B0503020204020204" charset="-122"/>
                  <a:ea typeface="微软雅黑" panose="020B0503020204020204" charset="-122"/>
                  <a:sym typeface="+mn-ea"/>
                </a:rPr>
                <a:t>本体</a:t>
              </a:r>
              <a:r>
                <a:rPr lang="zh-CN" altLang="en-US" sz="1400" b="1">
                  <a:solidFill>
                    <a:srgbClr val="FFFFFF"/>
                  </a:solidFill>
                  <a:latin typeface="微软雅黑" panose="020B0503020204020204" charset="-122"/>
                  <a:ea typeface="微软雅黑" panose="020B0503020204020204" charset="-122"/>
                </a:rPr>
                <a:t>自定义扩展</a:t>
              </a:r>
              <a:endParaRPr lang="zh-CN" altLang="en-US" sz="1400" b="1">
                <a:solidFill>
                  <a:srgbClr val="FFFFFF"/>
                </a:solidFill>
                <a:latin typeface="微软雅黑" panose="020B0503020204020204" charset="-122"/>
                <a:ea typeface="微软雅黑" panose="020B0503020204020204" charset="-122"/>
              </a:endParaRPr>
            </a:p>
          </p:txBody>
        </p:sp>
        <p:sp>
          <p:nvSpPr>
            <p:cNvPr id="11" name="m1-content"/>
            <p:cNvSpPr txBox="1"/>
            <p:nvPr/>
          </p:nvSpPr>
          <p:spPr>
            <a:xfrm>
              <a:off x="640" y="4325"/>
              <a:ext cx="5220" cy="6003"/>
            </a:xfrm>
            <a:prstGeom prst="rect">
              <a:avLst/>
            </a:prstGeom>
            <a:noFill/>
            <a:ln>
              <a:noFill/>
            </a:ln>
          </p:spPr>
          <p:txBody>
            <a:bodyPr wrap="square" lIns="0" tIns="0" rIns="0" bIns="0" rtlCol="0"/>
            <a:lstStyle/>
            <a:p>
              <a:pPr>
                <a:lnSpc>
                  <a:spcPct val="155000"/>
                </a:lnSpc>
              </a:pPr>
              <a:r>
                <a:rPr lang="zh-CN" altLang="en-US" sz="1400">
                  <a:solidFill>
                    <a:schemeClr val="tx1"/>
                  </a:solidFill>
                  <a:latin typeface="微软雅黑" panose="020B0503020204020204" charset="-122"/>
                  <a:ea typeface="微软雅黑" panose="020B0503020204020204" charset="-122"/>
                  <a:cs typeface="微软雅黑" panose="020B0503020204020204" charset="-122"/>
                </a:rPr>
                <a:t>构建统一语义本体建模工具，</a:t>
              </a:r>
              <a:r>
                <a:rPr lang="zh-CN" altLang="en-US" sz="1400">
                  <a:latin typeface="微软雅黑" panose="020B0503020204020204" charset="-122"/>
                  <a:ea typeface="微软雅黑" panose="020B0503020204020204" charset="-122"/>
                  <a:cs typeface="微软雅黑" panose="020B0503020204020204" charset="-122"/>
                  <a:sym typeface="+mn-ea"/>
                </a:rPr>
                <a:t>内置的开箱即用的语义本体模型</a:t>
              </a:r>
              <a:r>
                <a:rPr lang="en-US" altLang="zh-CN" sz="1400">
                  <a:latin typeface="微软雅黑" panose="020B0503020204020204" charset="-122"/>
                  <a:ea typeface="微软雅黑" panose="020B0503020204020204" charset="-122"/>
                  <a:cs typeface="微软雅黑" panose="020B0503020204020204" charset="-122"/>
                  <a:sym typeface="+mn-ea"/>
                </a:rPr>
                <a:t>，</a:t>
              </a:r>
              <a:r>
                <a:rPr lang="zh-CN" altLang="en-US" sz="1400">
                  <a:solidFill>
                    <a:schemeClr val="tx1"/>
                  </a:solidFill>
                  <a:latin typeface="微软雅黑" panose="020B0503020204020204" charset="-122"/>
                  <a:ea typeface="微软雅黑" panose="020B0503020204020204" charset="-122"/>
                  <a:cs typeface="微软雅黑" panose="020B0503020204020204" charset="-122"/>
                </a:rPr>
                <a:t>包括业务对象，业务场景、业务活动，业务术语，文档对象、图谱对象等实体对象和各种约束关系。</a:t>
              </a:r>
              <a:endParaRPr lang="zh-CN" altLang="en-US" sz="1400" b="1">
                <a:solidFill>
                  <a:srgbClr val="2563EB"/>
                </a:solidFill>
                <a:latin typeface="微软雅黑" panose="020B0503020204020204" charset="-122"/>
                <a:ea typeface="微软雅黑" panose="020B0503020204020204" charset="-122"/>
                <a:cs typeface="微软雅黑" panose="020B0503020204020204" charset="-122"/>
              </a:endParaRPr>
            </a:p>
            <a:p>
              <a:pPr>
                <a:lnSpc>
                  <a:spcPct val="155000"/>
                </a:lnSpc>
              </a:pPr>
              <a:endParaRPr lang="zh-CN" altLang="en-US" sz="1400" b="1">
                <a:solidFill>
                  <a:srgbClr val="2563EB"/>
                </a:solidFill>
                <a:latin typeface="微软雅黑" panose="020B0503020204020204" charset="-122"/>
                <a:ea typeface="微软雅黑" panose="020B0503020204020204" charset="-122"/>
                <a:cs typeface="微软雅黑" panose="020B0503020204020204" charset="-122"/>
              </a:endParaRPr>
            </a:p>
          </p:txBody>
        </p:sp>
      </p:grpSp>
      <p:pic>
        <p:nvPicPr>
          <p:cNvPr id="18" name="图片 17"/>
          <p:cNvPicPr>
            <a:picLocks noChangeAspect="1"/>
          </p:cNvPicPr>
          <p:nvPr/>
        </p:nvPicPr>
        <p:blipFill>
          <a:blip r:embed="rId1"/>
          <a:srcRect t="6606"/>
          <a:stretch>
            <a:fillRect/>
          </a:stretch>
        </p:blipFill>
        <p:spPr>
          <a:xfrm>
            <a:off x="512445" y="3977640"/>
            <a:ext cx="5089525" cy="2612390"/>
          </a:xfrm>
          <a:prstGeom prst="rect">
            <a:avLst/>
          </a:prstGeom>
        </p:spPr>
      </p:pic>
      <p:sp>
        <p:nvSpPr>
          <p:cNvPr id="40" name="right-content"/>
          <p:cNvSpPr txBox="1"/>
          <p:nvPr/>
        </p:nvSpPr>
        <p:spPr>
          <a:xfrm>
            <a:off x="6259830" y="3930650"/>
            <a:ext cx="5367020" cy="1971040"/>
          </a:xfrm>
          <a:prstGeom prst="rect">
            <a:avLst/>
          </a:prstGeom>
          <a:noFill/>
          <a:ln>
            <a:noFill/>
          </a:ln>
        </p:spPr>
        <p:txBody>
          <a:bodyPr wrap="square" lIns="0" tIns="0" rIns="0" bIns="0" rtlCol="0"/>
          <a:lstStyle/>
          <a:p>
            <a:pPr>
              <a:lnSpc>
                <a:spcPct val="160000"/>
              </a:lnSpc>
            </a:pPr>
            <a:r>
              <a:rPr lang="en-US" sz="1200" b="1">
                <a:solidFill>
                  <a:srgbClr val="2563EB"/>
                </a:solidFill>
                <a:latin typeface="微软雅黑" panose="020B0503020204020204" charset="-122"/>
                <a:ea typeface="微软雅黑" panose="020B0503020204020204" charset="-122"/>
                <a:cs typeface="微软雅黑" panose="020B0503020204020204" charset="-122"/>
              </a:rPr>
              <a:t>自定义实体类型</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新增实体定义，自定义属性与数据类型</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配置实体唯一标识规则</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spcBef>
                <a:spcPts val="4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自定义关系类型</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定义</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关系类型</a:t>
            </a:r>
            <a:r>
              <a:rPr lang="en-US" altLang="zh-CN" sz="12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包括产出</a:t>
            </a:r>
            <a:r>
              <a:rPr lang="en-US" altLang="zh-CN" sz="12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约束</a:t>
            </a:r>
            <a:r>
              <a:rPr lang="en-US" altLang="zh-CN" sz="12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属于</a:t>
            </a:r>
            <a:r>
              <a:rPr lang="en-US" altLang="zh-CN" sz="12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关联</a:t>
            </a:r>
            <a:r>
              <a:rPr lang="en-US" altLang="zh-CN" sz="12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涉及等关系类型</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a:t>
            </a: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定义关系名称、方向、属性字段</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spcBef>
                <a:spcPts val="4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可视化建模工具</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拖拽式本体设计，版本管理</a:t>
            </a:r>
            <a:endParaRPr lang="en-US" sz="12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20" name="m1-content"/>
          <p:cNvSpPr txBox="1"/>
          <p:nvPr/>
        </p:nvSpPr>
        <p:spPr>
          <a:xfrm>
            <a:off x="6259830" y="2670810"/>
            <a:ext cx="5130800" cy="928370"/>
          </a:xfrm>
          <a:prstGeom prst="rect">
            <a:avLst/>
          </a:prstGeom>
          <a:noFill/>
          <a:ln>
            <a:noFill/>
          </a:ln>
        </p:spPr>
        <p:txBody>
          <a:bodyPr wrap="square" lIns="0" tIns="0" rIns="0" bIns="0" rtlCol="0"/>
          <a:lstStyle/>
          <a:p>
            <a:pPr>
              <a:lnSpc>
                <a:spcPct val="155000"/>
              </a:lnSpc>
            </a:pPr>
            <a:r>
              <a:rPr lang="zh-CN" altLang="en-US" sz="1400">
                <a:latin typeface="微软雅黑" panose="020B0503020204020204" charset="-122"/>
                <a:ea typeface="微软雅黑" panose="020B0503020204020204" charset="-122"/>
                <a:cs typeface="微软雅黑" panose="020B0503020204020204" charset="-122"/>
                <a:sym typeface="+mn-ea"/>
              </a:rPr>
              <a:t>用户可结合实际业务场景需求，对语义知识图谱的本体模型进行修改，自定义实体及关系</a:t>
            </a:r>
            <a:r>
              <a:rPr lang="zh-CN" altLang="en-US" sz="1400">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1400">
              <a:solidFill>
                <a:schemeClr val="tx1"/>
              </a:solidFill>
              <a:latin typeface="微软雅黑" panose="020B0503020204020204" charset="-122"/>
              <a:ea typeface="微软雅黑" panose="020B0503020204020204" charset="-122"/>
              <a:cs typeface="微软雅黑" panose="020B0503020204020204" charset="-122"/>
            </a:endParaRPr>
          </a:p>
          <a:p>
            <a:pPr>
              <a:lnSpc>
                <a:spcPct val="155000"/>
              </a:lnSpc>
            </a:pPr>
            <a:r>
              <a:rPr lang="zh-CN" altLang="en-US" sz="1400">
                <a:solidFill>
                  <a:schemeClr val="tx1"/>
                </a:solidFill>
                <a:latin typeface="微软雅黑" panose="020B0503020204020204" charset="-122"/>
                <a:ea typeface="微软雅黑" panose="020B0503020204020204" charset="-122"/>
                <a:cs typeface="微软雅黑" panose="020B0503020204020204" charset="-122"/>
              </a:rPr>
              <a:t>具体功能如下</a:t>
            </a:r>
            <a:r>
              <a:rPr lang="en-US" altLang="zh-CN" sz="140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8" name="文本占位符 1"/>
          <p:cNvSpPr>
            <a:spLocks noGrp="1"/>
          </p:cNvSpPr>
          <p:nvPr/>
        </p:nvSpPr>
        <p:spPr>
          <a:xfrm>
            <a:off x="320675" y="922020"/>
            <a:ext cx="1146111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lang="zh-CN" altLang="en-US" noProof="0" dirty="0">
                <a:ln>
                  <a:noFill/>
                </a:ln>
                <a:solidFill>
                  <a:prstClr val="black"/>
                </a:solidFill>
                <a:effectLst/>
                <a:uLnTx/>
                <a:uFillTx/>
                <a:latin typeface="微软雅黑" panose="020B0503020204020204" charset="-122"/>
                <a:ea typeface="微软雅黑" panose="020B0503020204020204" charset="-122"/>
                <a:sym typeface="+mn-ea"/>
              </a:rPr>
              <a:t>支持基于本体论</a:t>
            </a:r>
            <a:r>
              <a:rPr lang="en-US" altLang="zh-CN" noProof="0" dirty="0">
                <a:ln>
                  <a:noFill/>
                </a:ln>
                <a:solidFill>
                  <a:prstClr val="black"/>
                </a:solidFill>
                <a:effectLst/>
                <a:uLnTx/>
                <a:uFillTx/>
                <a:latin typeface="微软雅黑" panose="020B0503020204020204" charset="-122"/>
                <a:ea typeface="微软雅黑" panose="020B0503020204020204" charset="-122"/>
                <a:sym typeface="+mn-ea"/>
              </a:rPr>
              <a:t>(Ontology) </a:t>
            </a:r>
            <a:r>
              <a:rPr lang="zh-CN" altLang="en-US" noProof="0" dirty="0">
                <a:ln>
                  <a:noFill/>
                </a:ln>
                <a:solidFill>
                  <a:prstClr val="black"/>
                </a:solidFill>
                <a:effectLst/>
                <a:uLnTx/>
                <a:uFillTx/>
                <a:latin typeface="微软雅黑" panose="020B0503020204020204" charset="-122"/>
                <a:ea typeface="微软雅黑" panose="020B0503020204020204" charset="-122"/>
                <a:sym typeface="+mn-ea"/>
              </a:rPr>
              <a:t>建模，</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内置开箱即用的统一语义本体模型，将各类资源的业务语义知识进行图本体建模</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同时支持自定义扩展语义本体模型</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mn-ea"/>
              </a:rPr>
              <a:t>。</a:t>
            </a:r>
            <a:endParaRPr lang="en-US" altLang="zh-CN"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矩形 3"/>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6" name="矩形 5"/>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7" name="矩形 6"/>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统一语义图</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谱</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加工-图谱数据接入</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7" name="m1-bg"/>
          <p:cNvSpPr/>
          <p:nvPr/>
        </p:nvSpPr>
        <p:spPr>
          <a:xfrm>
            <a:off x="304800" y="2327275"/>
            <a:ext cx="3619500" cy="4331970"/>
          </a:xfrm>
          <a:prstGeom prst="roundRect">
            <a:avLst>
              <a:gd name="adj" fmla="val 2000"/>
            </a:avLst>
          </a:prstGeom>
          <a:solidFill>
            <a:srgbClr val="FFFFFF"/>
          </a:solidFill>
          <a:ln w="12700">
            <a:solidFill>
              <a:srgbClr val="BFDBFE"/>
            </a:solidFill>
          </a:ln>
        </p:spPr>
      </p:sp>
      <p:sp>
        <p:nvSpPr>
          <p:cNvPr id="12" name="m2-bg"/>
          <p:cNvSpPr/>
          <p:nvPr/>
        </p:nvSpPr>
        <p:spPr>
          <a:xfrm>
            <a:off x="4076700" y="2327275"/>
            <a:ext cx="3619500" cy="4331970"/>
          </a:xfrm>
          <a:prstGeom prst="roundRect">
            <a:avLst>
              <a:gd name="adj" fmla="val 2000"/>
            </a:avLst>
          </a:prstGeom>
          <a:solidFill>
            <a:srgbClr val="FFFFFF"/>
          </a:solidFill>
          <a:ln w="12700">
            <a:solidFill>
              <a:srgbClr val="BFDBFE"/>
            </a:solidFill>
          </a:ln>
        </p:spPr>
      </p:sp>
      <p:sp>
        <p:nvSpPr>
          <p:cNvPr id="16" name="m2-content"/>
          <p:cNvSpPr txBox="1"/>
          <p:nvPr/>
        </p:nvSpPr>
        <p:spPr>
          <a:xfrm>
            <a:off x="4229100" y="2746375"/>
            <a:ext cx="3314700" cy="3657600"/>
          </a:xfrm>
          <a:prstGeom prst="rect">
            <a:avLst/>
          </a:prstGeom>
          <a:noFill/>
          <a:ln>
            <a:noFill/>
          </a:ln>
        </p:spPr>
        <p:txBody>
          <a:bodyPr wrap="square" lIns="0" tIns="0" rIns="0" bIns="0" rtlCol="0"/>
          <a:lstStyle/>
          <a:p>
            <a:pPr>
              <a:lnSpc>
                <a:spcPct val="160000"/>
              </a:lnSpc>
              <a:spcBef>
                <a:spcPts val="800"/>
              </a:spcBef>
            </a:pPr>
            <a:r>
              <a:rPr lang="en-US" sz="1200" b="1">
                <a:solidFill>
                  <a:srgbClr val="2563EB"/>
                </a:solidFill>
                <a:latin typeface="微软雅黑" panose="020B0503020204020204" charset="-122"/>
                <a:ea typeface="微软雅黑" panose="020B0503020204020204" charset="-122"/>
                <a:cs typeface="微软雅黑" panose="020B0503020204020204" charset="-122"/>
                <a:sym typeface="+mn-ea"/>
              </a:rPr>
              <a:t>数据预处理</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 字段转换：类型转换/格式标准化</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 数据清洗：去重/空值处理/异常过滤</a:t>
            </a:r>
            <a:endParaRPr lang="en-US" sz="1200" b="1">
              <a:solidFill>
                <a:srgbClr val="2563EB"/>
              </a:solidFill>
              <a:latin typeface="微软雅黑" panose="020B0503020204020204" charset="-122"/>
              <a:ea typeface="微软雅黑" panose="020B0503020204020204" charset="-122"/>
              <a:cs typeface="微软雅黑" panose="020B0503020204020204" charset="-122"/>
            </a:endParaRPr>
          </a:p>
          <a:p>
            <a:pPr>
              <a:lnSpc>
                <a:spcPct val="160000"/>
              </a:lnSpc>
            </a:pPr>
            <a:r>
              <a:rPr lang="en-US" sz="1200" b="1">
                <a:solidFill>
                  <a:srgbClr val="2563EB"/>
                </a:solidFill>
                <a:latin typeface="微软雅黑" panose="020B0503020204020204" charset="-122"/>
                <a:ea typeface="微软雅黑" panose="020B0503020204020204" charset="-122"/>
                <a:cs typeface="微软雅黑" panose="020B0503020204020204" charset="-122"/>
              </a:rPr>
              <a:t>字段映射</a:t>
            </a:r>
            <a:r>
              <a:rPr lang="zh-CN" altLang="en-US" sz="1200" b="1">
                <a:solidFill>
                  <a:srgbClr val="2563EB"/>
                </a:solidFill>
                <a:latin typeface="微软雅黑" panose="020B0503020204020204" charset="-122"/>
                <a:ea typeface="微软雅黑" panose="020B0503020204020204" charset="-122"/>
                <a:cs typeface="微软雅黑" panose="020B0503020204020204" charset="-122"/>
              </a:rPr>
              <a:t>配置</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源字段 → 图谱实体/关系/属性</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自动映射推荐（基于字段名相似度）</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手动校准映射关系</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映射示例</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业务对象元数据表</a:t>
            </a:r>
            <a:r>
              <a:rPr lang="en-US" sz="1200">
                <a:solidFill>
                  <a:srgbClr val="1E293B"/>
                </a:solidFill>
                <a:latin typeface="微软雅黑" panose="020B0503020204020204" charset="-122"/>
                <a:ea typeface="微软雅黑" panose="020B0503020204020204" charset="-122"/>
                <a:cs typeface="微软雅黑" panose="020B0503020204020204" charset="-122"/>
              </a:rPr>
              <a:t> → </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业务对象实体</a:t>
            </a:r>
            <a:endParaRPr lang="zh-CN" altLang="en-US" sz="120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文档元数据表</a:t>
            </a: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1E293B"/>
                </a:solidFill>
                <a:latin typeface="微软雅黑" panose="020B0503020204020204" charset="-122"/>
                <a:ea typeface="微软雅黑" panose="020B0503020204020204" charset="-122"/>
                <a:cs typeface="微软雅黑" panose="020B0503020204020204" charset="-122"/>
                <a:sym typeface="+mn-ea"/>
              </a:rPr>
              <a:t>文档对象实体及属性</a:t>
            </a:r>
            <a:endParaRPr lang="zh-CN" altLang="en-US" sz="120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文档关系表</a:t>
            </a:r>
            <a:r>
              <a:rPr lang="en-US" sz="1200">
                <a:solidFill>
                  <a:srgbClr val="1E293B"/>
                </a:solidFill>
                <a:latin typeface="微软雅黑" panose="020B0503020204020204" charset="-122"/>
                <a:ea typeface="微软雅黑" panose="020B0503020204020204" charset="-122"/>
                <a:cs typeface="微软雅黑" panose="020B0503020204020204" charset="-122"/>
              </a:rPr>
              <a:t> → </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文档关系</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endParaRPr lang="en-US" sz="12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17" name="m3-bg"/>
          <p:cNvSpPr/>
          <p:nvPr/>
        </p:nvSpPr>
        <p:spPr>
          <a:xfrm>
            <a:off x="7848600" y="2327275"/>
            <a:ext cx="3886200" cy="4331970"/>
          </a:xfrm>
          <a:prstGeom prst="roundRect">
            <a:avLst>
              <a:gd name="adj" fmla="val 2000"/>
            </a:avLst>
          </a:prstGeom>
          <a:solidFill>
            <a:srgbClr val="FFFFFF"/>
          </a:solidFill>
          <a:ln w="12700">
            <a:solidFill>
              <a:srgbClr val="BFDBFE"/>
            </a:solidFill>
          </a:ln>
        </p:spPr>
      </p:sp>
      <p:sp>
        <p:nvSpPr>
          <p:cNvPr id="8" name="m1-header"/>
          <p:cNvSpPr/>
          <p:nvPr/>
        </p:nvSpPr>
        <p:spPr>
          <a:xfrm>
            <a:off x="304800" y="2219325"/>
            <a:ext cx="3619500" cy="412750"/>
          </a:xfrm>
          <a:prstGeom prst="roundRect">
            <a:avLst>
              <a:gd name="adj" fmla="val 2000"/>
            </a:avLst>
          </a:prstGeom>
          <a:solidFill>
            <a:srgbClr val="2563EB"/>
          </a:solidFill>
          <a:ln>
            <a:noFill/>
          </a:ln>
        </p:spPr>
      </p:sp>
      <p:sp>
        <p:nvSpPr>
          <p:cNvPr id="9" name="m1-header-icon"/>
          <p:cNvSpPr/>
          <p:nvPr/>
        </p:nvSpPr>
        <p:spPr>
          <a:xfrm>
            <a:off x="457200" y="2286635"/>
            <a:ext cx="190500" cy="227330"/>
          </a:xfrm>
          <a:custGeom>
            <a:avLst/>
            <a:gdLst/>
            <a:ahLst/>
            <a:cxnLst/>
            <a:rect l="l" t="t" r="r" b="b"/>
            <a:pathLst>
              <a:path w="448" h="512">
                <a:moveTo>
                  <a:pt x="128" y="-32"/>
                </a:moveTo>
                <a:cubicBezTo>
                  <a:pt x="146" y="-32"/>
                  <a:pt x="160" y="-18"/>
                  <a:pt x="160" y="0"/>
                </a:cubicBezTo>
                <a:lnTo>
                  <a:pt x="160" y="96"/>
                </a:lnTo>
                <a:lnTo>
                  <a:pt x="288" y="96"/>
                </a:lnTo>
                <a:lnTo>
                  <a:pt x="288" y="0"/>
                </a:lnTo>
                <a:cubicBezTo>
                  <a:pt x="288" y="-18"/>
                  <a:pt x="302" y="-32"/>
                  <a:pt x="320" y="-32"/>
                </a:cubicBezTo>
                <a:cubicBezTo>
                  <a:pt x="338" y="-32"/>
                  <a:pt x="352" y="-18"/>
                  <a:pt x="352" y="0"/>
                </a:cubicBezTo>
                <a:lnTo>
                  <a:pt x="352" y="96"/>
                </a:lnTo>
                <a:lnTo>
                  <a:pt x="416" y="96"/>
                </a:lnTo>
                <a:cubicBezTo>
                  <a:pt x="434" y="96"/>
                  <a:pt x="448" y="110"/>
                  <a:pt x="448" y="128"/>
                </a:cubicBezTo>
                <a:cubicBezTo>
                  <a:pt x="448" y="146"/>
                  <a:pt x="434" y="160"/>
                  <a:pt x="416" y="160"/>
                </a:cubicBezTo>
                <a:lnTo>
                  <a:pt x="416" y="224"/>
                </a:lnTo>
                <a:cubicBezTo>
                  <a:pt x="416" y="319"/>
                  <a:pt x="347" y="398"/>
                  <a:pt x="256" y="413"/>
                </a:cubicBezTo>
                <a:lnTo>
                  <a:pt x="256" y="480"/>
                </a:lnTo>
                <a:cubicBezTo>
                  <a:pt x="256" y="498"/>
                  <a:pt x="242" y="512"/>
                  <a:pt x="224" y="512"/>
                </a:cubicBezTo>
                <a:cubicBezTo>
                  <a:pt x="206" y="512"/>
                  <a:pt x="192" y="498"/>
                  <a:pt x="192" y="480"/>
                </a:cubicBezTo>
                <a:lnTo>
                  <a:pt x="192" y="413"/>
                </a:lnTo>
                <a:cubicBezTo>
                  <a:pt x="101" y="398"/>
                  <a:pt x="32" y="319"/>
                  <a:pt x="32" y="224"/>
                </a:cubicBezTo>
                <a:lnTo>
                  <a:pt x="32" y="160"/>
                </a:lnTo>
                <a:cubicBezTo>
                  <a:pt x="14" y="160"/>
                  <a:pt x="0" y="146"/>
                  <a:pt x="0" y="128"/>
                </a:cubicBezTo>
                <a:cubicBezTo>
                  <a:pt x="0" y="110"/>
                  <a:pt x="14" y="96"/>
                  <a:pt x="32" y="96"/>
                </a:cubicBezTo>
                <a:lnTo>
                  <a:pt x="96" y="96"/>
                </a:lnTo>
                <a:lnTo>
                  <a:pt x="96" y="0"/>
                </a:lnTo>
                <a:cubicBezTo>
                  <a:pt x="96" y="-18"/>
                  <a:pt x="110" y="-32"/>
                  <a:pt x="128" y="-32"/>
                </a:cubicBezTo>
                <a:close/>
              </a:path>
            </a:pathLst>
          </a:custGeom>
          <a:solidFill>
            <a:srgbClr val="FFFFFF"/>
          </a:solidFill>
          <a:ln>
            <a:noFill/>
          </a:ln>
        </p:spPr>
      </p:sp>
      <p:sp>
        <p:nvSpPr>
          <p:cNvPr id="10" name="m1-header-text"/>
          <p:cNvSpPr txBox="1"/>
          <p:nvPr/>
        </p:nvSpPr>
        <p:spPr>
          <a:xfrm>
            <a:off x="704850" y="2245360"/>
            <a:ext cx="3048000" cy="361315"/>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接入任务管理</a:t>
            </a:r>
            <a:endParaRPr lang="en-US" sz="1400" b="1">
              <a:solidFill>
                <a:srgbClr val="FFFFFF"/>
              </a:solidFill>
              <a:latin typeface="微软雅黑" panose="020B0503020204020204" charset="-122"/>
              <a:ea typeface="微软雅黑" panose="020B0503020204020204" charset="-122"/>
            </a:endParaRPr>
          </a:p>
        </p:txBody>
      </p:sp>
      <p:sp>
        <p:nvSpPr>
          <p:cNvPr id="13" name="m2-header"/>
          <p:cNvSpPr/>
          <p:nvPr/>
        </p:nvSpPr>
        <p:spPr>
          <a:xfrm>
            <a:off x="4076700" y="2219325"/>
            <a:ext cx="3619500" cy="412750"/>
          </a:xfrm>
          <a:prstGeom prst="roundRect">
            <a:avLst>
              <a:gd name="adj" fmla="val 2000"/>
            </a:avLst>
          </a:prstGeom>
          <a:solidFill>
            <a:srgbClr val="2563EB"/>
          </a:solidFill>
          <a:ln>
            <a:noFill/>
          </a:ln>
        </p:spPr>
      </p:sp>
      <p:sp>
        <p:nvSpPr>
          <p:cNvPr id="14" name="m2-header-icon"/>
          <p:cNvSpPr/>
          <p:nvPr/>
        </p:nvSpPr>
        <p:spPr>
          <a:xfrm>
            <a:off x="4229100" y="2299970"/>
            <a:ext cx="190500" cy="227330"/>
          </a:xfrm>
          <a:custGeom>
            <a:avLst/>
            <a:gdLst/>
            <a:ahLst/>
            <a:cxnLst/>
            <a:rect l="l" t="t" r="r" b="b"/>
            <a:pathLst>
              <a:path w="512" h="512">
                <a:moveTo>
                  <a:pt x="512" y="48"/>
                </a:moveTo>
                <a:cubicBezTo>
                  <a:pt x="512" y="37"/>
                  <a:pt x="506" y="27"/>
                  <a:pt x="497" y="21"/>
                </a:cubicBezTo>
                <a:cubicBezTo>
                  <a:pt x="487" y="15"/>
                  <a:pt x="476" y="14"/>
                  <a:pt x="466" y="19"/>
                </a:cubicBezTo>
                <a:lnTo>
                  <a:pt x="350" y="78"/>
                </a:lnTo>
                <a:lnTo>
                  <a:pt x="170" y="18"/>
                </a:lnTo>
                <a:cubicBezTo>
                  <a:pt x="162" y="15"/>
                  <a:pt x="153" y="16"/>
                  <a:pt x="146" y="19"/>
                </a:cubicBezTo>
                <a:lnTo>
                  <a:pt x="18" y="83"/>
                </a:lnTo>
                <a:cubicBezTo>
                  <a:pt x="7" y="89"/>
                  <a:pt x="0" y="100"/>
                  <a:pt x="0" y="112"/>
                </a:cubicBezTo>
                <a:lnTo>
                  <a:pt x="0" y="464"/>
                </a:lnTo>
                <a:cubicBezTo>
                  <a:pt x="0" y="475"/>
                  <a:pt x="6" y="485"/>
                  <a:pt x="15" y="491"/>
                </a:cubicBezTo>
                <a:cubicBezTo>
                  <a:pt x="25" y="497"/>
                  <a:pt x="36" y="498"/>
                  <a:pt x="46" y="493"/>
                </a:cubicBezTo>
                <a:lnTo>
                  <a:pt x="162" y="434"/>
                </a:lnTo>
                <a:lnTo>
                  <a:pt x="342" y="494"/>
                </a:lnTo>
                <a:cubicBezTo>
                  <a:pt x="350" y="497"/>
                  <a:pt x="359" y="496"/>
                  <a:pt x="366" y="493"/>
                </a:cubicBezTo>
                <a:lnTo>
                  <a:pt x="494" y="429"/>
                </a:lnTo>
                <a:cubicBezTo>
                  <a:pt x="505" y="423"/>
                  <a:pt x="512" y="412"/>
                  <a:pt x="512" y="400"/>
                </a:cubicBezTo>
                <a:lnTo>
                  <a:pt x="512" y="48"/>
                </a:lnTo>
                <a:close/>
                <a:moveTo>
                  <a:pt x="192" y="377"/>
                </a:moveTo>
                <a:lnTo>
                  <a:pt x="192" y="92"/>
                </a:lnTo>
                <a:lnTo>
                  <a:pt x="320" y="135"/>
                </a:lnTo>
                <a:lnTo>
                  <a:pt x="320" y="420"/>
                </a:lnTo>
                <a:lnTo>
                  <a:pt x="192" y="377"/>
                </a:lnTo>
                <a:close/>
              </a:path>
            </a:pathLst>
          </a:custGeom>
          <a:solidFill>
            <a:srgbClr val="FFFFFF"/>
          </a:solidFill>
          <a:ln>
            <a:noFill/>
          </a:ln>
        </p:spPr>
      </p:sp>
      <p:sp>
        <p:nvSpPr>
          <p:cNvPr id="15" name="m2-header-text"/>
          <p:cNvSpPr txBox="1"/>
          <p:nvPr/>
        </p:nvSpPr>
        <p:spPr>
          <a:xfrm>
            <a:off x="4476750" y="2245360"/>
            <a:ext cx="3048000" cy="361315"/>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数据映射配置</a:t>
            </a:r>
            <a:endParaRPr lang="en-US" sz="1400" b="1">
              <a:solidFill>
                <a:srgbClr val="FFFFFF"/>
              </a:solidFill>
              <a:latin typeface="微软雅黑" panose="020B0503020204020204" charset="-122"/>
              <a:ea typeface="微软雅黑" panose="020B0503020204020204" charset="-122"/>
            </a:endParaRPr>
          </a:p>
        </p:txBody>
      </p:sp>
      <p:sp>
        <p:nvSpPr>
          <p:cNvPr id="18" name="m3-header"/>
          <p:cNvSpPr/>
          <p:nvPr/>
        </p:nvSpPr>
        <p:spPr>
          <a:xfrm>
            <a:off x="7848600" y="2219325"/>
            <a:ext cx="3886200" cy="412750"/>
          </a:xfrm>
          <a:prstGeom prst="roundRect">
            <a:avLst>
              <a:gd name="adj" fmla="val 2000"/>
            </a:avLst>
          </a:prstGeom>
          <a:solidFill>
            <a:srgbClr val="2563EB"/>
          </a:solidFill>
          <a:ln>
            <a:noFill/>
          </a:ln>
        </p:spPr>
      </p:sp>
      <p:sp>
        <p:nvSpPr>
          <p:cNvPr id="19" name="m3-header-icon"/>
          <p:cNvSpPr/>
          <p:nvPr/>
        </p:nvSpPr>
        <p:spPr>
          <a:xfrm>
            <a:off x="8001000" y="2299970"/>
            <a:ext cx="190500" cy="227330"/>
          </a:xfrm>
          <a:custGeom>
            <a:avLst/>
            <a:gdLst/>
            <a:ahLst/>
            <a:cxnLst/>
            <a:rect l="l" t="t" r="r" b="b"/>
            <a:pathLst>
              <a:path w="512" h="512">
                <a:moveTo>
                  <a:pt x="256" y="0"/>
                </a:moveTo>
                <a:cubicBezTo>
                  <a:pt x="397" y="0"/>
                  <a:pt x="512" y="115"/>
                  <a:pt x="512" y="256"/>
                </a:cubicBezTo>
                <a:cubicBezTo>
                  <a:pt x="512" y="397"/>
                  <a:pt x="397" y="512"/>
                  <a:pt x="256" y="512"/>
                </a:cubicBezTo>
                <a:cubicBezTo>
                  <a:pt x="115" y="512"/>
                  <a:pt x="0" y="397"/>
                  <a:pt x="0" y="256"/>
                </a:cubicBezTo>
                <a:cubicBezTo>
                  <a:pt x="0" y="115"/>
                  <a:pt x="115" y="0"/>
                  <a:pt x="256" y="0"/>
                </a:cubicBezTo>
                <a:close/>
                <a:moveTo>
                  <a:pt x="232" y="120"/>
                </a:moveTo>
                <a:lnTo>
                  <a:pt x="232" y="256"/>
                </a:lnTo>
                <a:cubicBezTo>
                  <a:pt x="232" y="264"/>
                  <a:pt x="236" y="272"/>
                  <a:pt x="243" y="276"/>
                </a:cubicBezTo>
                <a:lnTo>
                  <a:pt x="339" y="340"/>
                </a:lnTo>
                <a:cubicBezTo>
                  <a:pt x="350" y="347"/>
                  <a:pt x="365" y="344"/>
                  <a:pt x="372" y="333"/>
                </a:cubicBezTo>
                <a:cubicBezTo>
                  <a:pt x="379" y="322"/>
                  <a:pt x="376" y="307"/>
                  <a:pt x="365" y="300"/>
                </a:cubicBezTo>
                <a:lnTo>
                  <a:pt x="280" y="243"/>
                </a:lnTo>
                <a:lnTo>
                  <a:pt x="280" y="120"/>
                </a:lnTo>
                <a:cubicBezTo>
                  <a:pt x="280" y="107"/>
                  <a:pt x="269" y="96"/>
                  <a:pt x="256" y="96"/>
                </a:cubicBezTo>
                <a:cubicBezTo>
                  <a:pt x="243" y="96"/>
                  <a:pt x="232" y="107"/>
                  <a:pt x="232" y="120"/>
                </a:cubicBezTo>
                <a:close/>
              </a:path>
            </a:pathLst>
          </a:custGeom>
          <a:solidFill>
            <a:srgbClr val="FFFFFF"/>
          </a:solidFill>
          <a:ln>
            <a:noFill/>
          </a:ln>
        </p:spPr>
      </p:sp>
      <p:sp>
        <p:nvSpPr>
          <p:cNvPr id="20" name="m3-header-text"/>
          <p:cNvSpPr txBox="1"/>
          <p:nvPr/>
        </p:nvSpPr>
        <p:spPr>
          <a:xfrm>
            <a:off x="8248650" y="2245360"/>
            <a:ext cx="3314700" cy="361315"/>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调度策略配置</a:t>
            </a:r>
            <a:endParaRPr lang="en-US" sz="1400" b="1">
              <a:solidFill>
                <a:srgbClr val="FFFFFF"/>
              </a:solidFill>
              <a:latin typeface="微软雅黑" panose="020B0503020204020204" charset="-122"/>
              <a:ea typeface="微软雅黑" panose="020B0503020204020204" charset="-122"/>
            </a:endParaRPr>
          </a:p>
        </p:txBody>
      </p:sp>
      <p:sp>
        <p:nvSpPr>
          <p:cNvPr id="21" name="m3-content"/>
          <p:cNvSpPr txBox="1"/>
          <p:nvPr/>
        </p:nvSpPr>
        <p:spPr>
          <a:xfrm>
            <a:off x="8001000" y="2746375"/>
            <a:ext cx="3581400" cy="3657600"/>
          </a:xfrm>
          <a:prstGeom prst="rect">
            <a:avLst/>
          </a:prstGeom>
          <a:noFill/>
          <a:ln>
            <a:noFill/>
          </a:ln>
        </p:spPr>
        <p:txBody>
          <a:bodyPr wrap="square" lIns="0" tIns="0" rIns="0" bIns="0" rtlCol="0"/>
          <a:lstStyle/>
          <a:p>
            <a:pPr>
              <a:lnSpc>
                <a:spcPct val="160000"/>
              </a:lnSpc>
            </a:pPr>
            <a:r>
              <a:rPr lang="en-US" sz="1200" b="1">
                <a:solidFill>
                  <a:srgbClr val="2563EB"/>
                </a:solidFill>
                <a:latin typeface="微软雅黑" panose="020B0503020204020204" charset="-122"/>
                <a:ea typeface="微软雅黑" panose="020B0503020204020204" charset="-122"/>
                <a:cs typeface="微软雅黑" panose="020B0503020204020204" charset="-122"/>
              </a:rPr>
              <a:t>触发模式</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定时调度：</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按小时</a:t>
            </a:r>
            <a:r>
              <a:rPr lang="en-US" altLang="zh-CN" sz="12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天等定时调度配置</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实时触发：源数据变更即时同步</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手动触发：人工触发一次性接入</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更新策略</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增量更新：仅同步变更数据</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全量更新：完整覆盖重新接入</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容错机制</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失败重试：自动重试</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机制</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断点续传：从中断位置继续</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错误日志：详细记录失败原因</a:t>
            </a:r>
            <a:endParaRPr lang="en-US" sz="12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4" name="m1-content"/>
          <p:cNvSpPr txBox="1"/>
          <p:nvPr/>
        </p:nvSpPr>
        <p:spPr>
          <a:xfrm>
            <a:off x="406400" y="2746375"/>
            <a:ext cx="3314700" cy="3811905"/>
          </a:xfrm>
          <a:prstGeom prst="rect">
            <a:avLst/>
          </a:prstGeom>
          <a:noFill/>
          <a:ln>
            <a:noFill/>
          </a:ln>
        </p:spPr>
        <p:txBody>
          <a:bodyPr wrap="square" lIns="0" tIns="0" rIns="0" bIns="0" rtlCol="0"/>
          <a:lstStyle/>
          <a:p>
            <a:pPr>
              <a:lnSpc>
                <a:spcPct val="155000"/>
              </a:lnSpc>
            </a:pPr>
            <a:r>
              <a:rPr lang="en-US" sz="1200" b="1">
                <a:solidFill>
                  <a:srgbClr val="2563EB"/>
                </a:solidFill>
                <a:latin typeface="微软雅黑" panose="020B0503020204020204" charset="-122"/>
                <a:ea typeface="微软雅黑" panose="020B0503020204020204" charset="-122"/>
                <a:cs typeface="微软雅黑" panose="020B0503020204020204" charset="-122"/>
              </a:rPr>
              <a:t>数据源对接配置</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文档元数据所在数据库对接</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配置数据库连接地址、端口</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配置用户名、密码、连接参数</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连通性测试（连接/认证/权限）</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spcBef>
                <a:spcPts val="6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创建数据接入任务</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每类实体独立建接入任务</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每类关系独立建接入任务</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配置任务名称、描述</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spcBef>
                <a:spcPts val="6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任务生命周期</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创建→启动→停止</a:t>
            </a:r>
            <a:endParaRPr lang="en-US" sz="1200">
              <a:latin typeface="微软雅黑" panose="020B0503020204020204" charset="-122"/>
              <a:ea typeface="微软雅黑" panose="020B0503020204020204" charset="-122"/>
              <a:cs typeface="微软雅黑" panose="020B0503020204020204" charset="-122"/>
            </a:endParaRPr>
          </a:p>
          <a:p>
            <a:pPr>
              <a:lnSpc>
                <a:spcPct val="155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实时查看接入进度与状态</a:t>
            </a:r>
            <a:endParaRPr lang="en-US" sz="12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48" name="文本占位符 1"/>
          <p:cNvSpPr>
            <a:spLocks noGrp="1"/>
          </p:cNvSpPr>
          <p:nvPr/>
        </p:nvSpPr>
        <p:spPr>
          <a:xfrm>
            <a:off x="320675" y="922020"/>
            <a:ext cx="1162367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图谱数据接入为统一语义图谱的数据接入入口，承接资源层已标准化采集的业务、管理、技术三类元数据，</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通过接入任务管理、数据映射配置、调度策略配置三类能力，实现数据自动入图。</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59" name="矩形 58"/>
          <p:cNvSpPr/>
          <p:nvPr/>
        </p:nvSpPr>
        <p:spPr>
          <a:xfrm>
            <a:off x="703770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统一语义图谱构建</a:t>
            </a:r>
            <a:endParaRPr lang="zh-CN" altLang="en-US" sz="1000">
              <a:latin typeface="微软雅黑" panose="020B0503020204020204" charset="-122"/>
              <a:ea typeface="微软雅黑" panose="020B0503020204020204" charset="-122"/>
            </a:endParaRPr>
          </a:p>
        </p:txBody>
      </p:sp>
      <p:sp>
        <p:nvSpPr>
          <p:cNvPr id="60" name="矩形 59"/>
          <p:cNvSpPr/>
          <p:nvPr/>
        </p:nvSpPr>
        <p:spPr>
          <a:xfrm>
            <a:off x="8467725" y="21590"/>
            <a:ext cx="114300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知识向量加工</a:t>
            </a:r>
            <a:endParaRPr lang="zh-CN" altLang="en-US" sz="1000">
              <a:latin typeface="微软雅黑" panose="020B0503020204020204" charset="-122"/>
              <a:ea typeface="微软雅黑" panose="020B0503020204020204" charset="-122"/>
            </a:endParaRPr>
          </a:p>
        </p:txBody>
      </p:sp>
      <p:sp>
        <p:nvSpPr>
          <p:cNvPr id="61" name="矩形 60"/>
          <p:cNvSpPr/>
          <p:nvPr/>
        </p:nvSpPr>
        <p:spPr>
          <a:xfrm>
            <a:off x="6085205" y="21590"/>
            <a:ext cx="953770" cy="18351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知识加工示例</a:t>
            </a:r>
            <a:endParaRPr lang="zh-CN" altLang="en-US" sz="1000">
              <a:latin typeface="微软雅黑" panose="020B0503020204020204" charset="-122"/>
              <a:ea typeface="微软雅黑" panose="020B0503020204020204" charset="-122"/>
            </a:endParaRPr>
          </a:p>
        </p:txBody>
      </p:sp>
      <p:sp>
        <p:nvSpPr>
          <p:cNvPr id="62" name="矩形 61"/>
          <p:cNvSpPr/>
          <p:nvPr/>
        </p:nvSpPr>
        <p:spPr>
          <a:xfrm>
            <a:off x="959231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专题知识图谱构建</a:t>
            </a:r>
            <a:endParaRPr lang="zh-CN" altLang="en-US" sz="1000">
              <a:latin typeface="微软雅黑" panose="020B0503020204020204" charset="-122"/>
              <a:ea typeface="微软雅黑" panose="020B0503020204020204" charset="-122"/>
            </a:endParaRPr>
          </a:p>
        </p:txBody>
      </p:sp>
      <p:sp>
        <p:nvSpPr>
          <p:cNvPr id="63" name="矩形 62"/>
          <p:cNvSpPr/>
          <p:nvPr/>
        </p:nvSpPr>
        <p:spPr>
          <a:xfrm>
            <a:off x="11061065" y="21590"/>
            <a:ext cx="114300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知识存储</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custDataLst>
              <p:tags r:id="rId1"/>
            </p:custDataLst>
          </p:nvPr>
        </p:nvPicPr>
        <p:blipFill>
          <a:blip r:embed="rId2"/>
          <a:stretch>
            <a:fillRect/>
          </a:stretch>
        </p:blipFill>
        <p:spPr>
          <a:xfrm>
            <a:off x="356235" y="2423795"/>
            <a:ext cx="3449320" cy="2917825"/>
          </a:xfrm>
          <a:prstGeom prst="rect">
            <a:avLst/>
          </a:prstGeom>
        </p:spPr>
      </p:pic>
      <p:pic>
        <p:nvPicPr>
          <p:cNvPr id="13" name="图片 12" descr="060f35c9eeef66e8694dd91b3d810f65"/>
          <p:cNvPicPr>
            <a:picLocks noChangeAspect="1"/>
          </p:cNvPicPr>
          <p:nvPr>
            <p:custDataLst>
              <p:tags r:id="rId3"/>
            </p:custDataLst>
          </p:nvPr>
        </p:nvPicPr>
        <p:blipFill>
          <a:blip r:embed="rId4"/>
          <a:stretch>
            <a:fillRect/>
          </a:stretch>
        </p:blipFill>
        <p:spPr>
          <a:xfrm>
            <a:off x="4288155" y="2429510"/>
            <a:ext cx="3449320" cy="2272665"/>
          </a:xfrm>
          <a:prstGeom prst="rect">
            <a:avLst/>
          </a:prstGeom>
        </p:spPr>
      </p:pic>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统一语义图</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谱</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加工-图谱数据接入功能界面</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8" name="组合 7"/>
          <p:cNvGrpSpPr/>
          <p:nvPr>
            <p:custDataLst>
              <p:tags r:id="rId5"/>
            </p:custDataLst>
          </p:nvPr>
        </p:nvGrpSpPr>
        <p:grpSpPr>
          <a:xfrm>
            <a:off x="320675" y="1461135"/>
            <a:ext cx="11363960" cy="450850"/>
            <a:chOff x="505" y="2367"/>
            <a:chExt cx="17141" cy="710"/>
          </a:xfrm>
        </p:grpSpPr>
        <p:sp>
          <p:nvSpPr>
            <p:cNvPr id="3" name="矩形 2"/>
            <p:cNvSpPr/>
            <p:nvPr>
              <p:custDataLst>
                <p:tags r:id="rId6"/>
              </p:custDataLst>
            </p:nvPr>
          </p:nvSpPr>
          <p:spPr>
            <a:xfrm>
              <a:off x="505" y="2367"/>
              <a:ext cx="5334" cy="711"/>
            </a:xfrm>
            <a:prstGeom prst="rect">
              <a:avLst/>
            </a:prstGeom>
            <a:solidFill>
              <a:srgbClr val="2563EB"/>
            </a:solidFill>
            <a:ln>
              <a:noFill/>
            </a:ln>
          </p:spPr>
          <p:txBody>
            <a:bodyPr rtlCol="0" anchor="ctr">
              <a:noAutofit/>
            </a:bodyPr>
            <a:lstStyle/>
            <a:p>
              <a:pPr lvl="0" algn="ctr">
                <a:buClrTx/>
                <a:buSzTx/>
                <a:buFontTx/>
              </a:pPr>
              <a:r>
                <a:rPr lang="zh-CN" altLang="en-US">
                  <a:solidFill>
                    <a:schemeClr val="bg1"/>
                  </a:solidFill>
                  <a:latin typeface="微软雅黑" panose="020B0503020204020204" charset="-122"/>
                  <a:ea typeface="微软雅黑" panose="020B0503020204020204" charset="-122"/>
                  <a:sym typeface="+mn-ea"/>
                </a:rPr>
                <a:t>接入任务管理</a:t>
              </a:r>
              <a:endParaRPr lang="zh-CN" altLang="en-US">
                <a:solidFill>
                  <a:schemeClr val="bg1"/>
                </a:solidFill>
                <a:latin typeface="微软雅黑" panose="020B0503020204020204" charset="-122"/>
                <a:ea typeface="微软雅黑" panose="020B0503020204020204" charset="-122"/>
                <a:sym typeface="+mn-ea"/>
              </a:endParaRPr>
            </a:p>
          </p:txBody>
        </p:sp>
        <p:sp>
          <p:nvSpPr>
            <p:cNvPr id="4" name="矩形 3"/>
            <p:cNvSpPr/>
            <p:nvPr>
              <p:custDataLst>
                <p:tags r:id="rId7"/>
              </p:custDataLst>
            </p:nvPr>
          </p:nvSpPr>
          <p:spPr>
            <a:xfrm>
              <a:off x="6410" y="2367"/>
              <a:ext cx="5333" cy="711"/>
            </a:xfrm>
            <a:prstGeom prst="rect">
              <a:avLst/>
            </a:prstGeom>
            <a:solidFill>
              <a:srgbClr val="2563EB"/>
            </a:solidFill>
            <a:ln>
              <a:noFill/>
            </a:ln>
          </p:spPr>
          <p:txBody>
            <a:bodyPr rtlCol="0" anchor="ctr"/>
            <a:lstStyle/>
            <a:p>
              <a:pPr algn="ctr"/>
              <a:r>
                <a:rPr lang="zh-CN" altLang="en-US">
                  <a:solidFill>
                    <a:schemeClr val="bg1"/>
                  </a:solidFill>
                  <a:latin typeface="微软雅黑" panose="020B0503020204020204" charset="-122"/>
                  <a:ea typeface="微软雅黑" panose="020B0503020204020204" charset="-122"/>
                </a:rPr>
                <a:t>数据映射配置</a:t>
              </a:r>
              <a:endParaRPr lang="zh-CN" altLang="en-US">
                <a:solidFill>
                  <a:schemeClr val="bg1"/>
                </a:solidFill>
                <a:latin typeface="微软雅黑" panose="020B0503020204020204" charset="-122"/>
                <a:ea typeface="微软雅黑" panose="020B0503020204020204" charset="-122"/>
              </a:endParaRPr>
            </a:p>
          </p:txBody>
        </p:sp>
        <p:sp>
          <p:nvSpPr>
            <p:cNvPr id="5" name="矩形 4"/>
            <p:cNvSpPr/>
            <p:nvPr>
              <p:custDataLst>
                <p:tags r:id="rId8"/>
              </p:custDataLst>
            </p:nvPr>
          </p:nvSpPr>
          <p:spPr>
            <a:xfrm>
              <a:off x="12314" y="2367"/>
              <a:ext cx="5333" cy="711"/>
            </a:xfrm>
            <a:prstGeom prst="rect">
              <a:avLst/>
            </a:prstGeom>
            <a:solidFill>
              <a:srgbClr val="2563EB"/>
            </a:solidFill>
            <a:ln>
              <a:noFill/>
            </a:ln>
          </p:spPr>
          <p:txBody>
            <a:bodyPr rtlCol="0" anchor="ctr"/>
            <a:lstStyle/>
            <a:p>
              <a:pPr algn="ctr"/>
              <a:r>
                <a:rPr lang="zh-CN" altLang="en-US">
                  <a:solidFill>
                    <a:schemeClr val="bg1"/>
                  </a:solidFill>
                  <a:latin typeface="微软雅黑" panose="020B0503020204020204" charset="-122"/>
                  <a:ea typeface="微软雅黑" panose="020B0503020204020204" charset="-122"/>
                </a:rPr>
                <a:t>调度策略配置</a:t>
              </a:r>
              <a:endParaRPr lang="zh-CN" altLang="en-US">
                <a:solidFill>
                  <a:schemeClr val="bg1"/>
                </a:solidFill>
                <a:latin typeface="微软雅黑" panose="020B0503020204020204" charset="-122"/>
                <a:ea typeface="微软雅黑" panose="020B0503020204020204" charset="-122"/>
              </a:endParaRPr>
            </a:p>
          </p:txBody>
        </p:sp>
      </p:grpSp>
      <p:pic>
        <p:nvPicPr>
          <p:cNvPr id="6" name="图片 5"/>
          <p:cNvPicPr>
            <a:picLocks noChangeAspect="1"/>
          </p:cNvPicPr>
          <p:nvPr>
            <p:custDataLst>
              <p:tags r:id="rId9"/>
            </p:custDataLst>
          </p:nvPr>
        </p:nvPicPr>
        <p:blipFill>
          <a:blip r:embed="rId10"/>
          <a:srcRect r="41576"/>
          <a:stretch>
            <a:fillRect/>
          </a:stretch>
        </p:blipFill>
        <p:spPr>
          <a:xfrm>
            <a:off x="8219440" y="2457450"/>
            <a:ext cx="3353435" cy="1339850"/>
          </a:xfrm>
          <a:prstGeom prst="rect">
            <a:avLst/>
          </a:prstGeom>
        </p:spPr>
      </p:pic>
      <p:pic>
        <p:nvPicPr>
          <p:cNvPr id="7" name="图片 6"/>
          <p:cNvPicPr>
            <a:picLocks noChangeAspect="1"/>
          </p:cNvPicPr>
          <p:nvPr>
            <p:custDataLst>
              <p:tags r:id="rId11"/>
            </p:custDataLst>
          </p:nvPr>
        </p:nvPicPr>
        <p:blipFill>
          <a:blip r:embed="rId12"/>
          <a:stretch>
            <a:fillRect/>
          </a:stretch>
        </p:blipFill>
        <p:spPr>
          <a:xfrm>
            <a:off x="8214360" y="3694430"/>
            <a:ext cx="2600325" cy="2167890"/>
          </a:xfrm>
          <a:prstGeom prst="rect">
            <a:avLst/>
          </a:prstGeom>
        </p:spPr>
      </p:pic>
      <p:pic>
        <p:nvPicPr>
          <p:cNvPr id="9" name="图片 8"/>
          <p:cNvPicPr>
            <a:picLocks noChangeAspect="1"/>
          </p:cNvPicPr>
          <p:nvPr>
            <p:custDataLst>
              <p:tags r:id="rId13"/>
            </p:custDataLst>
          </p:nvPr>
        </p:nvPicPr>
        <p:blipFill>
          <a:blip r:embed="rId14"/>
          <a:stretch>
            <a:fillRect/>
          </a:stretch>
        </p:blipFill>
        <p:spPr>
          <a:xfrm>
            <a:off x="9015730" y="4729480"/>
            <a:ext cx="2600325" cy="1566545"/>
          </a:xfrm>
          <a:prstGeom prst="rect">
            <a:avLst/>
          </a:prstGeom>
        </p:spPr>
      </p:pic>
      <p:sp>
        <p:nvSpPr>
          <p:cNvPr id="10" name="矩形 9"/>
          <p:cNvSpPr/>
          <p:nvPr>
            <p:custDataLst>
              <p:tags r:id="rId15"/>
            </p:custDataLst>
          </p:nvPr>
        </p:nvSpPr>
        <p:spPr>
          <a:xfrm>
            <a:off x="8145145" y="1911985"/>
            <a:ext cx="3542665" cy="4600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1" name="矩形 10"/>
          <p:cNvSpPr/>
          <p:nvPr>
            <p:custDataLst>
              <p:tags r:id="rId16"/>
            </p:custDataLst>
          </p:nvPr>
        </p:nvSpPr>
        <p:spPr>
          <a:xfrm>
            <a:off x="4236720" y="1911985"/>
            <a:ext cx="3530600" cy="4600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矩形 11"/>
          <p:cNvSpPr/>
          <p:nvPr>
            <p:custDataLst>
              <p:tags r:id="rId17"/>
            </p:custDataLst>
          </p:nvPr>
        </p:nvSpPr>
        <p:spPr>
          <a:xfrm>
            <a:off x="328295" y="1911985"/>
            <a:ext cx="3542665" cy="460057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15" name="图片 14"/>
          <p:cNvPicPr>
            <a:picLocks noChangeAspect="1"/>
          </p:cNvPicPr>
          <p:nvPr>
            <p:custDataLst>
              <p:tags r:id="rId18"/>
            </p:custDataLst>
          </p:nvPr>
        </p:nvPicPr>
        <p:blipFill>
          <a:blip r:embed="rId19"/>
          <a:stretch>
            <a:fillRect/>
          </a:stretch>
        </p:blipFill>
        <p:spPr>
          <a:xfrm>
            <a:off x="401320" y="3623945"/>
            <a:ext cx="3354070" cy="1879600"/>
          </a:xfrm>
          <a:prstGeom prst="rect">
            <a:avLst/>
          </a:prstGeom>
        </p:spPr>
      </p:pic>
      <p:pic>
        <p:nvPicPr>
          <p:cNvPr id="17" name="图片 16"/>
          <p:cNvPicPr>
            <a:picLocks noChangeAspect="1"/>
          </p:cNvPicPr>
          <p:nvPr>
            <p:custDataLst>
              <p:tags r:id="rId20"/>
            </p:custDataLst>
          </p:nvPr>
        </p:nvPicPr>
        <p:blipFill>
          <a:blip r:embed="rId21"/>
          <a:stretch>
            <a:fillRect/>
          </a:stretch>
        </p:blipFill>
        <p:spPr>
          <a:xfrm>
            <a:off x="4274185" y="4782185"/>
            <a:ext cx="3489325" cy="1461135"/>
          </a:xfrm>
          <a:prstGeom prst="rect">
            <a:avLst/>
          </a:prstGeom>
        </p:spPr>
      </p:pic>
      <p:sp>
        <p:nvSpPr>
          <p:cNvPr id="18" name="文本框 17"/>
          <p:cNvSpPr txBox="1"/>
          <p:nvPr>
            <p:custDataLst>
              <p:tags r:id="rId22"/>
            </p:custDataLst>
          </p:nvPr>
        </p:nvSpPr>
        <p:spPr>
          <a:xfrm>
            <a:off x="431800" y="1968500"/>
            <a:ext cx="3245485" cy="521970"/>
          </a:xfrm>
          <a:prstGeom prst="rect">
            <a:avLst/>
          </a:prstGeom>
          <a:noFill/>
        </p:spPr>
        <p:txBody>
          <a:bodyPr wrap="square" rtlCol="0">
            <a:spAutoFit/>
          </a:bodyPr>
          <a:lstStyle/>
          <a:p>
            <a:pPr marL="285750" indent="-285750">
              <a:buFont typeface="Arial" panose="020B0604020202090204" pitchFamily="34" charset="0"/>
              <a:buChar char="•"/>
            </a:pPr>
            <a:r>
              <a:rPr lang="zh-CN" altLang="en-US" sz="1400">
                <a:latin typeface="微软雅黑" panose="020B0503020204020204" charset="-122"/>
                <a:ea typeface="微软雅黑" panose="020B0503020204020204" charset="-122"/>
              </a:rPr>
              <a:t>支持数据源配置</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接入任务可视化配置界面</a:t>
            </a:r>
            <a:endParaRPr lang="zh-CN" altLang="en-US" sz="1400">
              <a:latin typeface="微软雅黑" panose="020B0503020204020204" charset="-122"/>
              <a:ea typeface="微软雅黑" panose="020B0503020204020204" charset="-122"/>
            </a:endParaRPr>
          </a:p>
        </p:txBody>
      </p:sp>
      <p:pic>
        <p:nvPicPr>
          <p:cNvPr id="16" name="图片 15"/>
          <p:cNvPicPr>
            <a:picLocks noChangeAspect="1"/>
          </p:cNvPicPr>
          <p:nvPr>
            <p:custDataLst>
              <p:tags r:id="rId23"/>
            </p:custDataLst>
          </p:nvPr>
        </p:nvPicPr>
        <p:blipFill>
          <a:blip r:embed="rId24"/>
          <a:stretch>
            <a:fillRect/>
          </a:stretch>
        </p:blipFill>
        <p:spPr>
          <a:xfrm>
            <a:off x="356235" y="4614545"/>
            <a:ext cx="3489325" cy="1691005"/>
          </a:xfrm>
          <a:prstGeom prst="rect">
            <a:avLst/>
          </a:prstGeom>
        </p:spPr>
      </p:pic>
      <p:sp>
        <p:nvSpPr>
          <p:cNvPr id="20" name="文本框 19"/>
          <p:cNvSpPr txBox="1"/>
          <p:nvPr>
            <p:custDataLst>
              <p:tags r:id="rId25"/>
            </p:custDataLst>
          </p:nvPr>
        </p:nvSpPr>
        <p:spPr>
          <a:xfrm>
            <a:off x="4352290" y="1935480"/>
            <a:ext cx="3245485" cy="306705"/>
          </a:xfrm>
          <a:prstGeom prst="rect">
            <a:avLst/>
          </a:prstGeom>
          <a:noFill/>
        </p:spPr>
        <p:txBody>
          <a:bodyPr wrap="square" rtlCol="0">
            <a:spAutoFit/>
          </a:bodyPr>
          <a:lstStyle/>
          <a:p>
            <a:pPr marL="285750" indent="-285750">
              <a:buFont typeface="Arial" panose="020B0604020202090204" pitchFamily="34" charset="0"/>
              <a:buChar char="•"/>
            </a:pPr>
            <a:r>
              <a:rPr lang="zh-CN" altLang="en-US" sz="1400">
                <a:latin typeface="微软雅黑" panose="020B0503020204020204" charset="-122"/>
                <a:ea typeface="微软雅黑" panose="020B0503020204020204" charset="-122"/>
              </a:rPr>
              <a:t>语义本体数据映射可视化配置界面</a:t>
            </a:r>
            <a:endParaRPr lang="zh-CN" altLang="en-US" sz="1400">
              <a:latin typeface="微软雅黑" panose="020B0503020204020204" charset="-122"/>
              <a:ea typeface="微软雅黑" panose="020B0503020204020204" charset="-122"/>
            </a:endParaRPr>
          </a:p>
        </p:txBody>
      </p:sp>
      <p:sp>
        <p:nvSpPr>
          <p:cNvPr id="21" name="文本框 20"/>
          <p:cNvSpPr txBox="1"/>
          <p:nvPr>
            <p:custDataLst>
              <p:tags r:id="rId26"/>
            </p:custDataLst>
          </p:nvPr>
        </p:nvSpPr>
        <p:spPr>
          <a:xfrm>
            <a:off x="8248650" y="1976120"/>
            <a:ext cx="3245485" cy="306705"/>
          </a:xfrm>
          <a:prstGeom prst="rect">
            <a:avLst/>
          </a:prstGeom>
          <a:noFill/>
        </p:spPr>
        <p:txBody>
          <a:bodyPr wrap="square" rtlCol="0">
            <a:spAutoFit/>
          </a:bodyPr>
          <a:lstStyle/>
          <a:p>
            <a:pPr marL="285750" indent="-285750">
              <a:buFont typeface="Arial" panose="020B0604020202090204" pitchFamily="34" charset="0"/>
              <a:buChar char="•"/>
            </a:pPr>
            <a:r>
              <a:rPr lang="zh-CN" altLang="en-US" sz="1400">
                <a:latin typeface="微软雅黑" panose="020B0503020204020204" charset="-122"/>
                <a:ea typeface="微软雅黑" panose="020B0503020204020204" charset="-122"/>
              </a:rPr>
              <a:t>调度策略可视化配置界面</a:t>
            </a:r>
            <a:endParaRPr lang="zh-CN" altLang="en-US" sz="1400">
              <a:latin typeface="微软雅黑" panose="020B0503020204020204" charset="-122"/>
              <a:ea typeface="微软雅黑" panose="020B0503020204020204" charset="-122"/>
            </a:endParaRPr>
          </a:p>
        </p:txBody>
      </p:sp>
      <p:sp>
        <p:nvSpPr>
          <p:cNvPr id="59" name="矩形 58"/>
          <p:cNvSpPr/>
          <p:nvPr/>
        </p:nvSpPr>
        <p:spPr>
          <a:xfrm>
            <a:off x="703770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统一语义图谱构建</a:t>
            </a:r>
            <a:endParaRPr lang="zh-CN" altLang="en-US" sz="1000">
              <a:latin typeface="微软雅黑" panose="020B0503020204020204" charset="-122"/>
              <a:ea typeface="微软雅黑" panose="020B0503020204020204" charset="-122"/>
            </a:endParaRPr>
          </a:p>
        </p:txBody>
      </p:sp>
      <p:sp>
        <p:nvSpPr>
          <p:cNvPr id="60" name="矩形 59"/>
          <p:cNvSpPr/>
          <p:nvPr/>
        </p:nvSpPr>
        <p:spPr>
          <a:xfrm>
            <a:off x="8467725" y="21590"/>
            <a:ext cx="114300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知识向量加工</a:t>
            </a:r>
            <a:endParaRPr lang="zh-CN" altLang="en-US" sz="1000">
              <a:latin typeface="微软雅黑" panose="020B0503020204020204" charset="-122"/>
              <a:ea typeface="微软雅黑" panose="020B0503020204020204" charset="-122"/>
            </a:endParaRPr>
          </a:p>
        </p:txBody>
      </p:sp>
      <p:sp>
        <p:nvSpPr>
          <p:cNvPr id="61" name="矩形 60"/>
          <p:cNvSpPr/>
          <p:nvPr/>
        </p:nvSpPr>
        <p:spPr>
          <a:xfrm>
            <a:off x="6085205" y="21590"/>
            <a:ext cx="953770" cy="18351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知识加工示例</a:t>
            </a:r>
            <a:endParaRPr lang="zh-CN" altLang="en-US" sz="1000">
              <a:latin typeface="微软雅黑" panose="020B0503020204020204" charset="-122"/>
              <a:ea typeface="微软雅黑" panose="020B0503020204020204" charset="-122"/>
            </a:endParaRPr>
          </a:p>
        </p:txBody>
      </p:sp>
      <p:sp>
        <p:nvSpPr>
          <p:cNvPr id="62" name="矩形 61"/>
          <p:cNvSpPr/>
          <p:nvPr/>
        </p:nvSpPr>
        <p:spPr>
          <a:xfrm>
            <a:off x="959231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专题知识图谱构建</a:t>
            </a:r>
            <a:endParaRPr lang="zh-CN" altLang="en-US" sz="1000">
              <a:latin typeface="微软雅黑" panose="020B0503020204020204" charset="-122"/>
              <a:ea typeface="微软雅黑" panose="020B0503020204020204" charset="-122"/>
            </a:endParaRPr>
          </a:p>
        </p:txBody>
      </p:sp>
      <p:sp>
        <p:nvSpPr>
          <p:cNvPr id="63" name="矩形 62"/>
          <p:cNvSpPr/>
          <p:nvPr/>
        </p:nvSpPr>
        <p:spPr>
          <a:xfrm>
            <a:off x="11061065" y="21590"/>
            <a:ext cx="114300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知识存储</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语义知识图谱加工</a:t>
            </a:r>
            <a:r>
              <a:rPr kumimoji="0"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图谱可视化&amp;图谱查询 </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320675" y="922020"/>
            <a:ext cx="1162367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图谱可视化</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&amp;</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图谱查询功能提供统一语义图谱的可视化管理与交互式查询能力，</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支持业务人员直观浏览全行语义网络、探索知识关联，降低图谱使用门槛，实现语义知识的可见、可查、可维护。</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grpSp>
        <p:nvGrpSpPr>
          <p:cNvPr id="87" name="组合 86"/>
          <p:cNvGrpSpPr/>
          <p:nvPr/>
        </p:nvGrpSpPr>
        <p:grpSpPr>
          <a:xfrm>
            <a:off x="320675" y="2085340"/>
            <a:ext cx="11430000" cy="4442522"/>
            <a:chOff x="505" y="3240"/>
            <a:chExt cx="18000" cy="6375"/>
          </a:xfrm>
        </p:grpSpPr>
        <p:sp>
          <p:nvSpPr>
            <p:cNvPr id="7" name="left-bg"/>
            <p:cNvSpPr/>
            <p:nvPr/>
          </p:nvSpPr>
          <p:spPr>
            <a:xfrm>
              <a:off x="505" y="3240"/>
              <a:ext cx="8700" cy="6374"/>
            </a:xfrm>
            <a:prstGeom prst="roundRect">
              <a:avLst>
                <a:gd name="adj" fmla="val 2000"/>
              </a:avLst>
            </a:prstGeom>
            <a:solidFill>
              <a:srgbClr val="FFFFFF"/>
            </a:solidFill>
            <a:ln w="12700">
              <a:solidFill>
                <a:srgbClr val="BFDBFE"/>
              </a:solidFill>
            </a:ln>
          </p:spPr>
        </p:sp>
        <p:sp>
          <p:nvSpPr>
            <p:cNvPr id="8" name="left-header"/>
            <p:cNvSpPr/>
            <p:nvPr/>
          </p:nvSpPr>
          <p:spPr>
            <a:xfrm>
              <a:off x="505" y="3240"/>
              <a:ext cx="8700" cy="480"/>
            </a:xfrm>
            <a:prstGeom prst="roundRect">
              <a:avLst>
                <a:gd name="adj" fmla="val 2000"/>
              </a:avLst>
            </a:prstGeom>
            <a:solidFill>
              <a:srgbClr val="2563EB"/>
            </a:solidFill>
            <a:ln>
              <a:noFill/>
            </a:ln>
          </p:spPr>
        </p:sp>
        <p:sp>
          <p:nvSpPr>
            <p:cNvPr id="9" name="left-header-icon"/>
            <p:cNvSpPr/>
            <p:nvPr/>
          </p:nvSpPr>
          <p:spPr>
            <a:xfrm>
              <a:off x="745" y="3330"/>
              <a:ext cx="300" cy="300"/>
            </a:xfrm>
            <a:custGeom>
              <a:avLst/>
              <a:gdLst/>
              <a:ahLst/>
              <a:cxnLst/>
              <a:rect l="l" t="t" r="r" b="b"/>
              <a:pathLst>
                <a:path w="512" h="512">
                  <a:moveTo>
                    <a:pt x="0" y="80"/>
                  </a:moveTo>
                  <a:cubicBezTo>
                    <a:pt x="0" y="54"/>
                    <a:pt x="22" y="32"/>
                    <a:pt x="48" y="32"/>
                  </a:cubicBezTo>
                  <a:lnTo>
                    <a:pt x="144" y="32"/>
                  </a:lnTo>
                  <a:cubicBezTo>
                    <a:pt x="171" y="32"/>
                    <a:pt x="192" y="54"/>
                    <a:pt x="192" y="80"/>
                  </a:cubicBezTo>
                  <a:lnTo>
                    <a:pt x="192" y="96"/>
                  </a:lnTo>
                  <a:lnTo>
                    <a:pt x="320" y="96"/>
                  </a:lnTo>
                  <a:lnTo>
                    <a:pt x="320" y="80"/>
                  </a:lnTo>
                  <a:cubicBezTo>
                    <a:pt x="320" y="54"/>
                    <a:pt x="342" y="32"/>
                    <a:pt x="368" y="32"/>
                  </a:cubicBezTo>
                  <a:lnTo>
                    <a:pt x="464" y="32"/>
                  </a:lnTo>
                  <a:cubicBezTo>
                    <a:pt x="491" y="32"/>
                    <a:pt x="512" y="54"/>
                    <a:pt x="512" y="80"/>
                  </a:cubicBezTo>
                  <a:lnTo>
                    <a:pt x="512" y="176"/>
                  </a:lnTo>
                  <a:cubicBezTo>
                    <a:pt x="512" y="203"/>
                    <a:pt x="491" y="224"/>
                    <a:pt x="464" y="224"/>
                  </a:cubicBezTo>
                  <a:lnTo>
                    <a:pt x="368" y="224"/>
                  </a:lnTo>
                  <a:cubicBezTo>
                    <a:pt x="342" y="224"/>
                    <a:pt x="320" y="203"/>
                    <a:pt x="320" y="176"/>
                  </a:cubicBezTo>
                  <a:lnTo>
                    <a:pt x="320" y="160"/>
                  </a:lnTo>
                  <a:lnTo>
                    <a:pt x="192" y="160"/>
                  </a:lnTo>
                  <a:lnTo>
                    <a:pt x="192" y="176"/>
                  </a:lnTo>
                  <a:cubicBezTo>
                    <a:pt x="192" y="183"/>
                    <a:pt x="190" y="190"/>
                    <a:pt x="187" y="197"/>
                  </a:cubicBezTo>
                  <a:lnTo>
                    <a:pt x="256" y="288"/>
                  </a:lnTo>
                  <a:lnTo>
                    <a:pt x="336" y="288"/>
                  </a:lnTo>
                  <a:cubicBezTo>
                    <a:pt x="363" y="288"/>
                    <a:pt x="384" y="310"/>
                    <a:pt x="384" y="336"/>
                  </a:cubicBezTo>
                  <a:lnTo>
                    <a:pt x="384" y="432"/>
                  </a:lnTo>
                  <a:cubicBezTo>
                    <a:pt x="384" y="459"/>
                    <a:pt x="363" y="480"/>
                    <a:pt x="336" y="480"/>
                  </a:cubicBezTo>
                  <a:lnTo>
                    <a:pt x="240" y="480"/>
                  </a:lnTo>
                  <a:cubicBezTo>
                    <a:pt x="214" y="480"/>
                    <a:pt x="192" y="459"/>
                    <a:pt x="192" y="432"/>
                  </a:cubicBezTo>
                  <a:lnTo>
                    <a:pt x="192" y="336"/>
                  </a:lnTo>
                  <a:cubicBezTo>
                    <a:pt x="192" y="329"/>
                    <a:pt x="194" y="322"/>
                    <a:pt x="197" y="316"/>
                  </a:cubicBezTo>
                  <a:lnTo>
                    <a:pt x="128" y="224"/>
                  </a:lnTo>
                  <a:lnTo>
                    <a:pt x="48" y="224"/>
                  </a:lnTo>
                  <a:cubicBezTo>
                    <a:pt x="22" y="224"/>
                    <a:pt x="0" y="203"/>
                    <a:pt x="0" y="176"/>
                  </a:cubicBezTo>
                  <a:lnTo>
                    <a:pt x="0" y="80"/>
                  </a:lnTo>
                  <a:close/>
                </a:path>
              </a:pathLst>
            </a:custGeom>
            <a:solidFill>
              <a:srgbClr val="FFFFFF"/>
            </a:solidFill>
            <a:ln>
              <a:noFill/>
            </a:ln>
          </p:spPr>
        </p:sp>
        <p:sp>
          <p:nvSpPr>
            <p:cNvPr id="10" name="left-header-text"/>
            <p:cNvSpPr txBox="1"/>
            <p:nvPr/>
          </p:nvSpPr>
          <p:spPr>
            <a:xfrm>
              <a:off x="1135" y="3270"/>
              <a:ext cx="7800" cy="42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语义图谱可视化</a:t>
              </a:r>
              <a:endParaRPr lang="en-US" sz="1400" b="1">
                <a:solidFill>
                  <a:srgbClr val="FFFFFF"/>
                </a:solidFill>
                <a:latin typeface="微软雅黑" panose="020B0503020204020204" charset="-122"/>
                <a:ea typeface="微软雅黑" panose="020B0503020204020204" charset="-122"/>
              </a:endParaRPr>
            </a:p>
          </p:txBody>
        </p:sp>
        <p:sp>
          <p:nvSpPr>
            <p:cNvPr id="11" name="v1-bg"/>
            <p:cNvSpPr/>
            <p:nvPr/>
          </p:nvSpPr>
          <p:spPr>
            <a:xfrm>
              <a:off x="745" y="3900"/>
              <a:ext cx="8220" cy="1733"/>
            </a:xfrm>
            <a:prstGeom prst="roundRect">
              <a:avLst>
                <a:gd name="adj" fmla="val 3000"/>
              </a:avLst>
            </a:prstGeom>
            <a:solidFill>
              <a:srgbClr val="FFFFFF"/>
            </a:solidFill>
            <a:ln w="12700">
              <a:solidFill>
                <a:srgbClr val="BFDBFE"/>
              </a:solidFill>
            </a:ln>
          </p:spPr>
        </p:sp>
        <p:sp>
          <p:nvSpPr>
            <p:cNvPr id="14" name="v1-title"/>
            <p:cNvSpPr txBox="1"/>
            <p:nvPr/>
          </p:nvSpPr>
          <p:spPr>
            <a:xfrm>
              <a:off x="1375" y="4010"/>
              <a:ext cx="7380" cy="263"/>
            </a:xfrm>
            <a:prstGeom prst="rect">
              <a:avLst/>
            </a:prstGeom>
            <a:noFill/>
            <a:ln>
              <a:noFill/>
            </a:ln>
          </p:spPr>
          <p:txBody>
            <a:bodyPr wrap="none" lIns="0" tIns="0" rIns="0" bIns="0" rtlCol="0"/>
            <a:lstStyle/>
            <a:p>
              <a:pPr>
                <a:lnSpc>
                  <a:spcPct val="120000"/>
                </a:lnSpc>
              </a:pPr>
              <a:r>
                <a:rPr lang="en-US" sz="1200" b="1">
                  <a:solidFill>
                    <a:srgbClr val="0F2B5B"/>
                  </a:solidFill>
                  <a:latin typeface="微软雅黑" panose="020B0503020204020204" charset="-122"/>
                  <a:ea typeface="微软雅黑" panose="020B0503020204020204" charset="-122"/>
                </a:rPr>
                <a:t>全局语义网络全景展示</a:t>
              </a:r>
              <a:endParaRPr lang="en-US" sz="1200" b="1">
                <a:solidFill>
                  <a:srgbClr val="0F2B5B"/>
                </a:solidFill>
                <a:latin typeface="微软雅黑" panose="020B0503020204020204" charset="-122"/>
                <a:ea typeface="微软雅黑" panose="020B0503020204020204" charset="-122"/>
              </a:endParaRPr>
            </a:p>
          </p:txBody>
        </p:sp>
        <p:sp>
          <p:nvSpPr>
            <p:cNvPr id="15" name="v1-content"/>
            <p:cNvSpPr txBox="1"/>
            <p:nvPr/>
          </p:nvSpPr>
          <p:spPr>
            <a:xfrm>
              <a:off x="925" y="4339"/>
              <a:ext cx="7860" cy="1185"/>
            </a:xfrm>
            <a:prstGeom prst="rect">
              <a:avLst/>
            </a:prstGeom>
            <a:noFill/>
            <a:ln>
              <a:noFill/>
            </a:ln>
          </p:spPr>
          <p:txBody>
            <a:bodyPr wrap="square" lIns="0" tIns="0" rIns="0" bIns="0" rtlCol="0"/>
            <a:lstStyle/>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可视化展示</a:t>
              </a:r>
              <a:r>
                <a:rPr lang="en-US" sz="1030">
                  <a:solidFill>
                    <a:srgbClr val="1E293B"/>
                  </a:solidFill>
                  <a:latin typeface="微软雅黑" panose="020B0503020204020204" charset="-122"/>
                  <a:ea typeface="微软雅黑" panose="020B0503020204020204" charset="-122"/>
                  <a:cs typeface="微软雅黑" panose="020B0503020204020204" charset="-122"/>
                  <a:sym typeface="+mn-ea"/>
                </a:rPr>
                <a:t>全行知识关联全貌</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支持按对象类型、</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实体名称等</a:t>
              </a:r>
              <a:r>
                <a:rPr lang="en-US" sz="1030">
                  <a:solidFill>
                    <a:srgbClr val="1E293B"/>
                  </a:solidFill>
                  <a:latin typeface="微软雅黑" panose="020B0503020204020204" charset="-122"/>
                  <a:ea typeface="微软雅黑" panose="020B0503020204020204" charset="-122"/>
                  <a:cs typeface="微软雅黑" panose="020B0503020204020204" charset="-122"/>
                </a:rPr>
                <a:t>筛选聚焦</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支持缩放、拖拽、实体下钻交互</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16" name="v2-bg"/>
            <p:cNvSpPr/>
            <p:nvPr/>
          </p:nvSpPr>
          <p:spPr>
            <a:xfrm>
              <a:off x="745" y="5743"/>
              <a:ext cx="8220" cy="1733"/>
            </a:xfrm>
            <a:prstGeom prst="roundRect">
              <a:avLst>
                <a:gd name="adj" fmla="val 3000"/>
              </a:avLst>
            </a:prstGeom>
            <a:solidFill>
              <a:srgbClr val="FFFFFF"/>
            </a:solidFill>
            <a:ln w="12700">
              <a:solidFill>
                <a:srgbClr val="BFDBFE"/>
              </a:solidFill>
            </a:ln>
          </p:spPr>
        </p:sp>
        <p:sp>
          <p:nvSpPr>
            <p:cNvPr id="19" name="v2-title"/>
            <p:cNvSpPr txBox="1"/>
            <p:nvPr/>
          </p:nvSpPr>
          <p:spPr>
            <a:xfrm>
              <a:off x="1375" y="5852"/>
              <a:ext cx="7380" cy="263"/>
            </a:xfrm>
            <a:prstGeom prst="rect">
              <a:avLst/>
            </a:prstGeom>
            <a:noFill/>
            <a:ln>
              <a:noFill/>
            </a:ln>
          </p:spPr>
          <p:txBody>
            <a:bodyPr wrap="none" lIns="0" tIns="0" rIns="0" bIns="0" rtlCol="0"/>
            <a:lstStyle/>
            <a:p>
              <a:pPr>
                <a:lnSpc>
                  <a:spcPct val="120000"/>
                </a:lnSpc>
              </a:pPr>
              <a:r>
                <a:rPr lang="en-US" sz="1200" b="1">
                  <a:solidFill>
                    <a:srgbClr val="0F2B5B"/>
                  </a:solidFill>
                  <a:latin typeface="微软雅黑" panose="020B0503020204020204" charset="-122"/>
                  <a:ea typeface="微软雅黑" panose="020B0503020204020204" charset="-122"/>
                  <a:cs typeface="微软雅黑" panose="020B0503020204020204" charset="-122"/>
                </a:rPr>
                <a:t>AI 智能关系推演</a:t>
              </a:r>
              <a:endParaRPr lang="en-US" sz="1200" b="1">
                <a:solidFill>
                  <a:srgbClr val="0F2B5B"/>
                </a:solidFill>
                <a:latin typeface="微软雅黑" panose="020B0503020204020204" charset="-122"/>
                <a:ea typeface="微软雅黑" panose="020B0503020204020204" charset="-122"/>
                <a:cs typeface="微软雅黑" panose="020B0503020204020204" charset="-122"/>
              </a:endParaRPr>
            </a:p>
          </p:txBody>
        </p:sp>
        <p:sp>
          <p:nvSpPr>
            <p:cNvPr id="20" name="v2-content"/>
            <p:cNvSpPr txBox="1"/>
            <p:nvPr/>
          </p:nvSpPr>
          <p:spPr>
            <a:xfrm>
              <a:off x="925" y="6181"/>
              <a:ext cx="7860" cy="1185"/>
            </a:xfrm>
            <a:prstGeom prst="rect">
              <a:avLst/>
            </a:prstGeom>
            <a:noFill/>
            <a:ln>
              <a:noFill/>
            </a:ln>
          </p:spPr>
          <p:txBody>
            <a:bodyPr wrap="square" lIns="0" tIns="0" rIns="0" bIns="0" rtlCol="0"/>
            <a:lstStyle/>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支持选定单个/多个实体或全量实体</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大模型自动推演实体间潜在关联关系</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自动补充语义网络缺失的关联</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21" name="v3-bg"/>
            <p:cNvSpPr/>
            <p:nvPr/>
          </p:nvSpPr>
          <p:spPr>
            <a:xfrm>
              <a:off x="745" y="7585"/>
              <a:ext cx="8220" cy="1733"/>
            </a:xfrm>
            <a:prstGeom prst="roundRect">
              <a:avLst>
                <a:gd name="adj" fmla="val 3000"/>
              </a:avLst>
            </a:prstGeom>
            <a:solidFill>
              <a:srgbClr val="FFFFFF"/>
            </a:solidFill>
            <a:ln w="12700">
              <a:solidFill>
                <a:srgbClr val="BFDBFE"/>
              </a:solidFill>
            </a:ln>
          </p:spPr>
        </p:sp>
        <p:sp>
          <p:nvSpPr>
            <p:cNvPr id="24" name="v3-title"/>
            <p:cNvSpPr txBox="1"/>
            <p:nvPr/>
          </p:nvSpPr>
          <p:spPr>
            <a:xfrm>
              <a:off x="1375" y="7695"/>
              <a:ext cx="7380" cy="263"/>
            </a:xfrm>
            <a:prstGeom prst="rect">
              <a:avLst/>
            </a:prstGeom>
            <a:noFill/>
            <a:ln>
              <a:noFill/>
            </a:ln>
          </p:spPr>
          <p:txBody>
            <a:bodyPr wrap="none" lIns="0" tIns="0" rIns="0" bIns="0" rtlCol="0"/>
            <a:lstStyle/>
            <a:p>
              <a:pPr>
                <a:lnSpc>
                  <a:spcPct val="120000"/>
                </a:lnSpc>
              </a:pPr>
              <a:r>
                <a:rPr lang="en-US" sz="1200" b="1">
                  <a:solidFill>
                    <a:srgbClr val="0F2B5B"/>
                  </a:solidFill>
                  <a:latin typeface="微软雅黑" panose="020B0503020204020204" charset="-122"/>
                  <a:ea typeface="微软雅黑" panose="020B0503020204020204" charset="-122"/>
                </a:rPr>
                <a:t>人工关系维护</a:t>
              </a:r>
              <a:endParaRPr lang="en-US" sz="1200" b="1">
                <a:solidFill>
                  <a:srgbClr val="0F2B5B"/>
                </a:solidFill>
                <a:latin typeface="微软雅黑" panose="020B0503020204020204" charset="-122"/>
                <a:ea typeface="微软雅黑" panose="020B0503020204020204" charset="-122"/>
              </a:endParaRPr>
            </a:p>
          </p:txBody>
        </p:sp>
        <p:sp>
          <p:nvSpPr>
            <p:cNvPr id="25" name="v3-content"/>
            <p:cNvSpPr txBox="1"/>
            <p:nvPr/>
          </p:nvSpPr>
          <p:spPr>
            <a:xfrm>
              <a:off x="925" y="8024"/>
              <a:ext cx="7860" cy="1185"/>
            </a:xfrm>
            <a:prstGeom prst="rect">
              <a:avLst/>
            </a:prstGeom>
            <a:noFill/>
            <a:ln>
              <a:noFill/>
            </a:ln>
          </p:spPr>
          <p:txBody>
            <a:bodyPr wrap="square" lIns="0" tIns="0" rIns="0" bIns="0" rtlCol="0"/>
            <a:lstStyle/>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可视化手动新增、编辑、删除实体间关系</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业务人员可直接在图谱上校准语义关联</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支持关系审核与变更记录追溯</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26" name="right-bg"/>
            <p:cNvSpPr/>
            <p:nvPr/>
          </p:nvSpPr>
          <p:spPr>
            <a:xfrm>
              <a:off x="9445" y="3240"/>
              <a:ext cx="9060" cy="6375"/>
            </a:xfrm>
            <a:prstGeom prst="roundRect">
              <a:avLst>
                <a:gd name="adj" fmla="val 2000"/>
              </a:avLst>
            </a:prstGeom>
            <a:solidFill>
              <a:srgbClr val="FFFFFF"/>
            </a:solidFill>
            <a:ln w="12700">
              <a:solidFill>
                <a:srgbClr val="BFDBFE"/>
              </a:solidFill>
            </a:ln>
          </p:spPr>
        </p:sp>
        <p:sp>
          <p:nvSpPr>
            <p:cNvPr id="27" name="right-header"/>
            <p:cNvSpPr/>
            <p:nvPr/>
          </p:nvSpPr>
          <p:spPr>
            <a:xfrm>
              <a:off x="9445" y="3240"/>
              <a:ext cx="9060" cy="480"/>
            </a:xfrm>
            <a:prstGeom prst="roundRect">
              <a:avLst>
                <a:gd name="adj" fmla="val 2000"/>
              </a:avLst>
            </a:prstGeom>
            <a:solidFill>
              <a:srgbClr val="2563EB"/>
            </a:solidFill>
            <a:ln>
              <a:noFill/>
            </a:ln>
          </p:spPr>
        </p:sp>
        <p:sp>
          <p:nvSpPr>
            <p:cNvPr id="28" name="right-header-icon"/>
            <p:cNvSpPr/>
            <p:nvPr/>
          </p:nvSpPr>
          <p:spPr>
            <a:xfrm>
              <a:off x="9685" y="3330"/>
              <a:ext cx="300" cy="300"/>
            </a:xfrm>
            <a:custGeom>
              <a:avLst/>
              <a:gdLst/>
              <a:ahLst/>
              <a:cxnLst/>
              <a:rect l="l" t="t" r="r" b="b"/>
              <a:pathLst>
                <a:path w="512" h="512">
                  <a:moveTo>
                    <a:pt x="416" y="208"/>
                  </a:moveTo>
                  <a:cubicBezTo>
                    <a:pt x="416" y="254"/>
                    <a:pt x="401" y="296"/>
                    <a:pt x="376" y="331"/>
                  </a:cubicBezTo>
                  <a:lnTo>
                    <a:pt x="503" y="457"/>
                  </a:lnTo>
                  <a:cubicBezTo>
                    <a:pt x="515" y="470"/>
                    <a:pt x="515" y="490"/>
                    <a:pt x="503" y="503"/>
                  </a:cubicBezTo>
                  <a:cubicBezTo>
                    <a:pt x="490" y="515"/>
                    <a:pt x="470" y="515"/>
                    <a:pt x="457" y="503"/>
                  </a:cubicBezTo>
                  <a:lnTo>
                    <a:pt x="331" y="376"/>
                  </a:lnTo>
                  <a:cubicBezTo>
                    <a:pt x="296" y="401"/>
                    <a:pt x="254" y="416"/>
                    <a:pt x="208" y="416"/>
                  </a:cubicBezTo>
                  <a:cubicBezTo>
                    <a:pt x="93" y="416"/>
                    <a:pt x="0" y="323"/>
                    <a:pt x="0" y="208"/>
                  </a:cubicBezTo>
                  <a:cubicBezTo>
                    <a:pt x="0" y="93"/>
                    <a:pt x="93" y="0"/>
                    <a:pt x="208" y="0"/>
                  </a:cubicBezTo>
                  <a:cubicBezTo>
                    <a:pt x="323" y="0"/>
                    <a:pt x="416" y="93"/>
                    <a:pt x="416" y="208"/>
                  </a:cubicBezTo>
                  <a:close/>
                  <a:moveTo>
                    <a:pt x="104" y="216"/>
                  </a:moveTo>
                  <a:lnTo>
                    <a:pt x="104" y="280"/>
                  </a:lnTo>
                  <a:cubicBezTo>
                    <a:pt x="104" y="293"/>
                    <a:pt x="115" y="304"/>
                    <a:pt x="128" y="304"/>
                  </a:cubicBezTo>
                  <a:cubicBezTo>
                    <a:pt x="141" y="304"/>
                    <a:pt x="152" y="293"/>
                    <a:pt x="152" y="280"/>
                  </a:cubicBezTo>
                  <a:lnTo>
                    <a:pt x="152" y="216"/>
                  </a:lnTo>
                  <a:cubicBezTo>
                    <a:pt x="152" y="203"/>
                    <a:pt x="141" y="192"/>
                    <a:pt x="128" y="192"/>
                  </a:cubicBezTo>
                  <a:cubicBezTo>
                    <a:pt x="115" y="192"/>
                    <a:pt x="104" y="203"/>
                    <a:pt x="104" y="216"/>
                  </a:cubicBezTo>
                  <a:close/>
                  <a:moveTo>
                    <a:pt x="184" y="120"/>
                  </a:moveTo>
                  <a:lnTo>
                    <a:pt x="184" y="280"/>
                  </a:lnTo>
                  <a:cubicBezTo>
                    <a:pt x="184" y="293"/>
                    <a:pt x="195" y="304"/>
                    <a:pt x="208" y="304"/>
                  </a:cubicBezTo>
                  <a:cubicBezTo>
                    <a:pt x="221" y="304"/>
                    <a:pt x="232" y="293"/>
                    <a:pt x="232" y="280"/>
                  </a:cubicBezTo>
                  <a:lnTo>
                    <a:pt x="232" y="120"/>
                  </a:lnTo>
                  <a:cubicBezTo>
                    <a:pt x="232" y="107"/>
                    <a:pt x="221" y="96"/>
                    <a:pt x="208" y="96"/>
                  </a:cubicBezTo>
                  <a:cubicBezTo>
                    <a:pt x="195" y="96"/>
                    <a:pt x="184" y="107"/>
                    <a:pt x="184" y="120"/>
                  </a:cubicBezTo>
                  <a:close/>
                  <a:moveTo>
                    <a:pt x="264" y="184"/>
                  </a:moveTo>
                  <a:lnTo>
                    <a:pt x="264" y="280"/>
                  </a:lnTo>
                  <a:cubicBezTo>
                    <a:pt x="264" y="293"/>
                    <a:pt x="275" y="304"/>
                    <a:pt x="288" y="304"/>
                  </a:cubicBezTo>
                  <a:cubicBezTo>
                    <a:pt x="301" y="304"/>
                    <a:pt x="312" y="293"/>
                    <a:pt x="312" y="280"/>
                  </a:cubicBezTo>
                  <a:lnTo>
                    <a:pt x="312" y="184"/>
                  </a:lnTo>
                  <a:cubicBezTo>
                    <a:pt x="312" y="171"/>
                    <a:pt x="301" y="160"/>
                    <a:pt x="288" y="160"/>
                  </a:cubicBezTo>
                  <a:cubicBezTo>
                    <a:pt x="275" y="160"/>
                    <a:pt x="264" y="171"/>
                    <a:pt x="264" y="184"/>
                  </a:cubicBezTo>
                  <a:close/>
                </a:path>
              </a:pathLst>
            </a:custGeom>
            <a:solidFill>
              <a:srgbClr val="FFFFFF"/>
            </a:solidFill>
            <a:ln>
              <a:noFill/>
            </a:ln>
          </p:spPr>
        </p:sp>
        <p:sp>
          <p:nvSpPr>
            <p:cNvPr id="29" name="right-header-text"/>
            <p:cNvSpPr txBox="1"/>
            <p:nvPr/>
          </p:nvSpPr>
          <p:spPr>
            <a:xfrm>
              <a:off x="10075" y="3270"/>
              <a:ext cx="8160" cy="42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语义图谱查询</a:t>
              </a:r>
              <a:endParaRPr lang="en-US" sz="1400" b="1">
                <a:solidFill>
                  <a:srgbClr val="FFFFFF"/>
                </a:solidFill>
                <a:latin typeface="微软雅黑" panose="020B0503020204020204" charset="-122"/>
                <a:ea typeface="微软雅黑" panose="020B0503020204020204" charset="-122"/>
              </a:endParaRPr>
            </a:p>
          </p:txBody>
        </p:sp>
        <p:sp>
          <p:nvSpPr>
            <p:cNvPr id="30" name="q1-bg"/>
            <p:cNvSpPr/>
            <p:nvPr/>
          </p:nvSpPr>
          <p:spPr>
            <a:xfrm>
              <a:off x="9685" y="3900"/>
              <a:ext cx="8580" cy="1707"/>
            </a:xfrm>
            <a:prstGeom prst="roundRect">
              <a:avLst>
                <a:gd name="adj" fmla="val 3000"/>
              </a:avLst>
            </a:prstGeom>
            <a:solidFill>
              <a:srgbClr val="FFFFFF"/>
            </a:solidFill>
            <a:ln w="12700">
              <a:solidFill>
                <a:srgbClr val="BFDBFE"/>
              </a:solidFill>
            </a:ln>
          </p:spPr>
        </p:sp>
        <p:sp>
          <p:nvSpPr>
            <p:cNvPr id="31" name="q1-num"/>
            <p:cNvSpPr/>
            <p:nvPr/>
          </p:nvSpPr>
          <p:spPr>
            <a:xfrm>
              <a:off x="9865" y="4074"/>
              <a:ext cx="330" cy="318"/>
            </a:xfrm>
            <a:prstGeom prst="ellipse">
              <a:avLst/>
            </a:prstGeom>
          </p:spPr>
          <p:style>
            <a:lnRef idx="0">
              <a:srgbClr val="FFFFFF"/>
            </a:lnRef>
            <a:fillRef idx="1">
              <a:schemeClr val="accent1"/>
            </a:fillRef>
            <a:effectRef idx="0">
              <a:srgbClr val="FFFFFF"/>
            </a:effectRef>
            <a:fontRef idx="minor">
              <a:schemeClr val="lt1"/>
            </a:fontRef>
          </p:style>
          <p:txBody>
            <a:bodyPr anchor="ctr" anchorCtr="0"/>
            <a:lstStyle/>
            <a:p>
              <a:pPr algn="ctr"/>
              <a:r>
                <a:rPr lang="en-US" altLang="zh-CN" sz="1600">
                  <a:latin typeface="微软雅黑" panose="020B0503020204020204" charset="-122"/>
                  <a:ea typeface="微软雅黑" panose="020B0503020204020204" charset="-122"/>
                </a:rPr>
                <a:t>1</a:t>
              </a:r>
              <a:endParaRPr lang="en-US" altLang="zh-CN" sz="1600">
                <a:latin typeface="微软雅黑" panose="020B0503020204020204" charset="-122"/>
                <a:ea typeface="微软雅黑" panose="020B0503020204020204" charset="-122"/>
              </a:endParaRPr>
            </a:p>
          </p:txBody>
        </p:sp>
        <p:sp>
          <p:nvSpPr>
            <p:cNvPr id="33" name="q1-title"/>
            <p:cNvSpPr txBox="1"/>
            <p:nvPr/>
          </p:nvSpPr>
          <p:spPr>
            <a:xfrm>
              <a:off x="10315" y="4045"/>
              <a:ext cx="7770" cy="347"/>
            </a:xfrm>
            <a:prstGeom prst="rect">
              <a:avLst/>
            </a:prstGeom>
            <a:noFill/>
            <a:ln>
              <a:noFill/>
            </a:ln>
          </p:spPr>
          <p:txBody>
            <a:bodyPr wrap="none" lIns="0" tIns="0" rIns="0" bIns="0" rtlCol="0"/>
            <a:lstStyle/>
            <a:p>
              <a:pPr>
                <a:lnSpc>
                  <a:spcPct val="120000"/>
                </a:lnSpc>
              </a:pPr>
              <a:r>
                <a:rPr lang="en-US" sz="1200" b="1">
                  <a:solidFill>
                    <a:srgbClr val="0F2B5B"/>
                  </a:solidFill>
                  <a:latin typeface="微软雅黑" panose="020B0503020204020204" charset="-122"/>
                  <a:ea typeface="微软雅黑" panose="020B0503020204020204" charset="-122"/>
                </a:rPr>
                <a:t>双模式查询能力</a:t>
              </a:r>
              <a:endParaRPr lang="en-US" sz="1200" b="1">
                <a:solidFill>
                  <a:srgbClr val="0F2B5B"/>
                </a:solidFill>
                <a:latin typeface="微软雅黑" panose="020B0503020204020204" charset="-122"/>
                <a:ea typeface="微软雅黑" panose="020B0503020204020204" charset="-122"/>
              </a:endParaRPr>
            </a:p>
          </p:txBody>
        </p:sp>
        <p:sp>
          <p:nvSpPr>
            <p:cNvPr id="34" name="q1-content"/>
            <p:cNvSpPr txBox="1"/>
            <p:nvPr/>
          </p:nvSpPr>
          <p:spPr>
            <a:xfrm>
              <a:off x="9865" y="4479"/>
              <a:ext cx="8371" cy="984"/>
            </a:xfrm>
            <a:prstGeom prst="rect">
              <a:avLst/>
            </a:prstGeom>
            <a:noFill/>
            <a:ln>
              <a:noFill/>
            </a:ln>
          </p:spPr>
          <p:txBody>
            <a:bodyPr wrap="square" lIns="0" tIns="0" rIns="0" bIns="0" rtlCol="0"/>
            <a:lstStyle/>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a:t>
              </a:r>
              <a:r>
                <a:rPr lang="en-US" sz="1030" b="1">
                  <a:solidFill>
                    <a:srgbClr val="1E293B"/>
                  </a:solidFill>
                  <a:latin typeface="微软雅黑" panose="020B0503020204020204" charset="-122"/>
                  <a:ea typeface="微软雅黑" panose="020B0503020204020204" charset="-122"/>
                  <a:cs typeface="微软雅黑" panose="020B0503020204020204" charset="-122"/>
                </a:rPr>
                <a:t>自然语言查询</a:t>
              </a:r>
              <a:r>
                <a:rPr lang="en-US" sz="1030">
                  <a:solidFill>
                    <a:srgbClr val="1E293B"/>
                  </a:solidFill>
                  <a:latin typeface="微软雅黑" panose="020B0503020204020204" charset="-122"/>
                  <a:ea typeface="微软雅黑" panose="020B0503020204020204" charset="-122"/>
                  <a:cs typeface="微软雅黑" panose="020B0503020204020204" charset="-122"/>
                </a:rPr>
                <a:t>：业务人员直接输入业务问题，系统自动转换为图谱查询语句</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a:t>
              </a:r>
              <a:r>
                <a:rPr lang="en-US" sz="1030" b="1">
                  <a:solidFill>
                    <a:srgbClr val="1E293B"/>
                  </a:solidFill>
                  <a:latin typeface="微软雅黑" panose="020B0503020204020204" charset="-122"/>
                  <a:ea typeface="微软雅黑" panose="020B0503020204020204" charset="-122"/>
                  <a:cs typeface="微软雅黑" panose="020B0503020204020204" charset="-122"/>
                </a:rPr>
                <a:t>Cypher 查询</a:t>
              </a:r>
              <a:r>
                <a:rPr lang="en-US" sz="1030">
                  <a:solidFill>
                    <a:srgbClr val="1E293B"/>
                  </a:solidFill>
                  <a:latin typeface="微软雅黑" panose="020B0503020204020204" charset="-122"/>
                  <a:ea typeface="微软雅黑" panose="020B0503020204020204" charset="-122"/>
                  <a:cs typeface="微软雅黑" panose="020B0503020204020204" charset="-122"/>
                </a:rPr>
                <a:t>：面向技术人员提供标准 Cypher 查询入口，支持复杂关联分析</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35" name="q2-bg"/>
            <p:cNvSpPr/>
            <p:nvPr/>
          </p:nvSpPr>
          <p:spPr>
            <a:xfrm>
              <a:off x="9685" y="5752"/>
              <a:ext cx="8580" cy="1707"/>
            </a:xfrm>
            <a:prstGeom prst="roundRect">
              <a:avLst>
                <a:gd name="adj" fmla="val 3000"/>
              </a:avLst>
            </a:prstGeom>
            <a:solidFill>
              <a:srgbClr val="FFFFFF"/>
            </a:solidFill>
            <a:ln w="12700">
              <a:solidFill>
                <a:srgbClr val="BFDBFE"/>
              </a:solidFill>
            </a:ln>
          </p:spPr>
        </p:sp>
        <p:sp>
          <p:nvSpPr>
            <p:cNvPr id="36" name="q2-num"/>
            <p:cNvSpPr/>
            <p:nvPr/>
          </p:nvSpPr>
          <p:spPr>
            <a:xfrm>
              <a:off x="9865" y="5926"/>
              <a:ext cx="330" cy="318"/>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600">
                  <a:latin typeface="微软雅黑" panose="020B0503020204020204" charset="-122"/>
                  <a:ea typeface="微软雅黑" panose="020B0503020204020204" charset="-122"/>
                  <a:sym typeface="+mn-ea"/>
                </a:rPr>
                <a:t>2</a:t>
              </a:r>
              <a:endParaRPr lang="en-US" altLang="zh-CN" sz="1600">
                <a:latin typeface="微软雅黑" panose="020B0503020204020204" charset="-122"/>
                <a:ea typeface="微软雅黑" panose="020B0503020204020204" charset="-122"/>
                <a:sym typeface="+mn-ea"/>
              </a:endParaRPr>
            </a:p>
          </p:txBody>
        </p:sp>
        <p:sp>
          <p:nvSpPr>
            <p:cNvPr id="38" name="q2-title"/>
            <p:cNvSpPr txBox="1"/>
            <p:nvPr/>
          </p:nvSpPr>
          <p:spPr>
            <a:xfrm>
              <a:off x="10315" y="5897"/>
              <a:ext cx="7770" cy="347"/>
            </a:xfrm>
            <a:prstGeom prst="rect">
              <a:avLst/>
            </a:prstGeom>
            <a:noFill/>
            <a:ln>
              <a:noFill/>
            </a:ln>
          </p:spPr>
          <p:txBody>
            <a:bodyPr wrap="none" lIns="0" tIns="0" rIns="0" bIns="0" rtlCol="0"/>
            <a:lstStyle/>
            <a:p>
              <a:pPr>
                <a:lnSpc>
                  <a:spcPct val="120000"/>
                </a:lnSpc>
              </a:pPr>
              <a:r>
                <a:rPr lang="en-US" sz="1200" b="1">
                  <a:solidFill>
                    <a:srgbClr val="0F2B5B"/>
                  </a:solidFill>
                  <a:latin typeface="微软雅黑" panose="020B0503020204020204" charset="-122"/>
                  <a:ea typeface="微软雅黑" panose="020B0503020204020204" charset="-122"/>
                </a:rPr>
                <a:t>可视化结果探索</a:t>
              </a:r>
              <a:endParaRPr lang="en-US" sz="1200" b="1">
                <a:solidFill>
                  <a:srgbClr val="0F2B5B"/>
                </a:solidFill>
                <a:latin typeface="微软雅黑" panose="020B0503020204020204" charset="-122"/>
                <a:ea typeface="微软雅黑" panose="020B0503020204020204" charset="-122"/>
              </a:endParaRPr>
            </a:p>
          </p:txBody>
        </p:sp>
        <p:sp>
          <p:nvSpPr>
            <p:cNvPr id="39" name="q2-content"/>
            <p:cNvSpPr txBox="1"/>
            <p:nvPr/>
          </p:nvSpPr>
          <p:spPr>
            <a:xfrm>
              <a:off x="9865" y="6331"/>
              <a:ext cx="8220" cy="984"/>
            </a:xfrm>
            <a:prstGeom prst="rect">
              <a:avLst/>
            </a:prstGeom>
            <a:noFill/>
            <a:ln>
              <a:noFill/>
            </a:ln>
          </p:spPr>
          <p:txBody>
            <a:bodyPr wrap="square" lIns="0" tIns="0" rIns="0" bIns="0" rtlCol="0"/>
            <a:lstStyle/>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查询结果以交互式图谱形式展示</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支持点击实体查看详情、沿关联路径下钻探索</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40" name="q3-bg"/>
            <p:cNvSpPr/>
            <p:nvPr/>
          </p:nvSpPr>
          <p:spPr>
            <a:xfrm>
              <a:off x="9685" y="7604"/>
              <a:ext cx="8580" cy="1707"/>
            </a:xfrm>
            <a:prstGeom prst="roundRect">
              <a:avLst>
                <a:gd name="adj" fmla="val 3000"/>
              </a:avLst>
            </a:prstGeom>
            <a:solidFill>
              <a:srgbClr val="FFFFFF"/>
            </a:solidFill>
            <a:ln w="12700">
              <a:solidFill>
                <a:srgbClr val="BFDBFE"/>
              </a:solidFill>
            </a:ln>
          </p:spPr>
        </p:sp>
        <p:sp>
          <p:nvSpPr>
            <p:cNvPr id="41" name="q3-num"/>
            <p:cNvSpPr/>
            <p:nvPr/>
          </p:nvSpPr>
          <p:spPr>
            <a:xfrm>
              <a:off x="9865" y="7777"/>
              <a:ext cx="330" cy="318"/>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600">
                  <a:latin typeface="微软雅黑" panose="020B0503020204020204" charset="-122"/>
                  <a:ea typeface="微软雅黑" panose="020B0503020204020204" charset="-122"/>
                  <a:sym typeface="+mn-ea"/>
                </a:rPr>
                <a:t>3</a:t>
              </a:r>
              <a:endParaRPr lang="en-US" altLang="zh-CN" sz="1600">
                <a:latin typeface="微软雅黑" panose="020B0503020204020204" charset="-122"/>
                <a:ea typeface="微软雅黑" panose="020B0503020204020204" charset="-122"/>
                <a:sym typeface="+mn-ea"/>
              </a:endParaRPr>
            </a:p>
          </p:txBody>
        </p:sp>
        <p:sp>
          <p:nvSpPr>
            <p:cNvPr id="43" name="q3-title"/>
            <p:cNvSpPr txBox="1"/>
            <p:nvPr/>
          </p:nvSpPr>
          <p:spPr>
            <a:xfrm>
              <a:off x="10315" y="7748"/>
              <a:ext cx="7770" cy="347"/>
            </a:xfrm>
            <a:prstGeom prst="rect">
              <a:avLst/>
            </a:prstGeom>
            <a:noFill/>
            <a:ln>
              <a:noFill/>
            </a:ln>
          </p:spPr>
          <p:txBody>
            <a:bodyPr wrap="none" lIns="0" tIns="0" rIns="0" bIns="0" rtlCol="0"/>
            <a:lstStyle/>
            <a:p>
              <a:pPr>
                <a:lnSpc>
                  <a:spcPct val="120000"/>
                </a:lnSpc>
              </a:pPr>
              <a:r>
                <a:rPr lang="en-US" sz="1200" b="1">
                  <a:solidFill>
                    <a:srgbClr val="0F2B5B"/>
                  </a:solidFill>
                  <a:latin typeface="微软雅黑" panose="020B0503020204020204" charset="-122"/>
                  <a:ea typeface="微软雅黑" panose="020B0503020204020204" charset="-122"/>
                </a:rPr>
                <a:t>查询历史管理</a:t>
              </a:r>
              <a:endParaRPr lang="en-US" sz="1200" b="1">
                <a:solidFill>
                  <a:srgbClr val="0F2B5B"/>
                </a:solidFill>
                <a:latin typeface="微软雅黑" panose="020B0503020204020204" charset="-122"/>
                <a:ea typeface="微软雅黑" panose="020B0503020204020204" charset="-122"/>
              </a:endParaRPr>
            </a:p>
          </p:txBody>
        </p:sp>
        <p:sp>
          <p:nvSpPr>
            <p:cNvPr id="44" name="q3-content"/>
            <p:cNvSpPr txBox="1"/>
            <p:nvPr/>
          </p:nvSpPr>
          <p:spPr>
            <a:xfrm>
              <a:off x="9865" y="8183"/>
              <a:ext cx="8220" cy="984"/>
            </a:xfrm>
            <a:prstGeom prst="rect">
              <a:avLst/>
            </a:prstGeom>
            <a:noFill/>
            <a:ln>
              <a:noFill/>
            </a:ln>
          </p:spPr>
          <p:txBody>
            <a:bodyPr wrap="square" lIns="0" tIns="0" rIns="0" bIns="0" rtlCol="0"/>
            <a:lstStyle/>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自动保存历史查询记录</a:t>
              </a:r>
              <a:endParaRPr lang="en-US" sz="1030">
                <a:latin typeface="微软雅黑" panose="020B0503020204020204" charset="-122"/>
                <a:ea typeface="微软雅黑" panose="020B0503020204020204" charset="-122"/>
                <a:cs typeface="微软雅黑" panose="020B0503020204020204" charset="-122"/>
              </a:endParaRPr>
            </a:p>
            <a:p>
              <a:pPr>
                <a:lnSpc>
                  <a:spcPct val="155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支持查询</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历史查询问题</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查询类型和查询结果</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4" name="q1-num"/>
            <p:cNvSpPr/>
            <p:nvPr/>
          </p:nvSpPr>
          <p:spPr>
            <a:xfrm>
              <a:off x="925" y="3963"/>
              <a:ext cx="330" cy="318"/>
            </a:xfrm>
            <a:prstGeom prst="ellipse">
              <a:avLst/>
            </a:prstGeom>
          </p:spPr>
          <p:style>
            <a:lnRef idx="0">
              <a:srgbClr val="FFFFFF"/>
            </a:lnRef>
            <a:fillRef idx="1">
              <a:schemeClr val="accent1"/>
            </a:fillRef>
            <a:effectRef idx="0">
              <a:srgbClr val="FFFFFF"/>
            </a:effectRef>
            <a:fontRef idx="minor">
              <a:schemeClr val="lt1"/>
            </a:fontRef>
          </p:style>
          <p:txBody>
            <a:bodyPr anchor="ctr" anchorCtr="0"/>
            <a:lstStyle/>
            <a:p>
              <a:pPr algn="ctr"/>
              <a:r>
                <a:rPr lang="en-US" altLang="zh-CN" sz="1600">
                  <a:latin typeface="微软雅黑" panose="020B0503020204020204" charset="-122"/>
                  <a:ea typeface="微软雅黑" panose="020B0503020204020204" charset="-122"/>
                </a:rPr>
                <a:t>1</a:t>
              </a:r>
              <a:endParaRPr lang="en-US" altLang="zh-CN" sz="1600">
                <a:latin typeface="微软雅黑" panose="020B0503020204020204" charset="-122"/>
                <a:ea typeface="微软雅黑" panose="020B0503020204020204" charset="-122"/>
              </a:endParaRPr>
            </a:p>
          </p:txBody>
        </p:sp>
        <p:sp>
          <p:nvSpPr>
            <p:cNvPr id="84" name="q2-num"/>
            <p:cNvSpPr/>
            <p:nvPr/>
          </p:nvSpPr>
          <p:spPr>
            <a:xfrm>
              <a:off x="947" y="5835"/>
              <a:ext cx="330" cy="318"/>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600">
                  <a:latin typeface="微软雅黑" panose="020B0503020204020204" charset="-122"/>
                  <a:ea typeface="微软雅黑" panose="020B0503020204020204" charset="-122"/>
                  <a:sym typeface="+mn-ea"/>
                </a:rPr>
                <a:t>2</a:t>
              </a:r>
              <a:endParaRPr lang="en-US" altLang="zh-CN" sz="1600">
                <a:latin typeface="微软雅黑" panose="020B0503020204020204" charset="-122"/>
                <a:ea typeface="微软雅黑" panose="020B0503020204020204" charset="-122"/>
                <a:sym typeface="+mn-ea"/>
              </a:endParaRPr>
            </a:p>
          </p:txBody>
        </p:sp>
        <p:sp>
          <p:nvSpPr>
            <p:cNvPr id="85" name="q3-num"/>
            <p:cNvSpPr/>
            <p:nvPr/>
          </p:nvSpPr>
          <p:spPr>
            <a:xfrm>
              <a:off x="947" y="7686"/>
              <a:ext cx="330" cy="318"/>
            </a:xfrm>
            <a:prstGeom prst="ellipse">
              <a:avLst/>
            </a:prstGeom>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600">
                  <a:latin typeface="微软雅黑" panose="020B0503020204020204" charset="-122"/>
                  <a:ea typeface="微软雅黑" panose="020B0503020204020204" charset="-122"/>
                  <a:sym typeface="+mn-ea"/>
                </a:rPr>
                <a:t>3</a:t>
              </a:r>
              <a:endParaRPr lang="en-US" altLang="zh-CN" sz="1600">
                <a:latin typeface="微软雅黑" panose="020B0503020204020204" charset="-122"/>
                <a:ea typeface="微软雅黑" panose="020B0503020204020204" charset="-122"/>
                <a:sym typeface="+mn-ea"/>
              </a:endParaRPr>
            </a:p>
          </p:txBody>
        </p:sp>
      </p:grpSp>
      <p:pic>
        <p:nvPicPr>
          <p:cNvPr id="89" name="图片 88"/>
          <p:cNvPicPr>
            <a:picLocks noChangeAspect="1"/>
          </p:cNvPicPr>
          <p:nvPr/>
        </p:nvPicPr>
        <p:blipFill>
          <a:blip r:embed="rId1"/>
          <a:stretch>
            <a:fillRect/>
          </a:stretch>
        </p:blipFill>
        <p:spPr>
          <a:xfrm>
            <a:off x="3124835" y="3893820"/>
            <a:ext cx="2540000" cy="1061720"/>
          </a:xfrm>
          <a:prstGeom prst="rect">
            <a:avLst/>
          </a:prstGeom>
        </p:spPr>
      </p:pic>
      <p:pic>
        <p:nvPicPr>
          <p:cNvPr id="90" name="图片 89"/>
          <p:cNvPicPr>
            <a:picLocks noChangeAspect="1"/>
          </p:cNvPicPr>
          <p:nvPr/>
        </p:nvPicPr>
        <p:blipFill>
          <a:blip r:embed="rId2"/>
          <a:stretch>
            <a:fillRect/>
          </a:stretch>
        </p:blipFill>
        <p:spPr>
          <a:xfrm>
            <a:off x="3048000" y="2550795"/>
            <a:ext cx="2616200" cy="1076960"/>
          </a:xfrm>
          <a:prstGeom prst="rect">
            <a:avLst/>
          </a:prstGeom>
        </p:spPr>
      </p:pic>
      <p:pic>
        <p:nvPicPr>
          <p:cNvPr id="91" name="图片 90"/>
          <p:cNvPicPr>
            <a:picLocks noChangeAspect="1"/>
          </p:cNvPicPr>
          <p:nvPr/>
        </p:nvPicPr>
        <p:blipFill>
          <a:blip r:embed="rId3"/>
          <a:stretch>
            <a:fillRect/>
          </a:stretch>
        </p:blipFill>
        <p:spPr>
          <a:xfrm>
            <a:off x="3208020" y="5169535"/>
            <a:ext cx="2443480" cy="1132840"/>
          </a:xfrm>
          <a:prstGeom prst="rect">
            <a:avLst/>
          </a:prstGeom>
        </p:spPr>
      </p:pic>
      <p:sp>
        <p:nvSpPr>
          <p:cNvPr id="3" name="矩形 2"/>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 name="矩形 4"/>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6" name="矩形 5"/>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5730240" y="843280"/>
            <a:ext cx="6498590" cy="6014720"/>
          </a:xfrm>
          <a:prstGeom prst="rect">
            <a:avLst/>
          </a:prstGeom>
        </p:spPr>
      </p:pic>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2.3.1 语义</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图谱</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示例</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椭圆 3"/>
          <p:cNvSpPr/>
          <p:nvPr/>
        </p:nvSpPr>
        <p:spPr>
          <a:xfrm>
            <a:off x="476250" y="1169035"/>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1</a:t>
            </a:r>
            <a:endParaRPr lang="en-US" altLang="zh-CN" sz="1400">
              <a:latin typeface="微软雅黑" panose="020B0503020204020204" charset="-122"/>
              <a:ea typeface="微软雅黑" panose="020B0503020204020204" charset="-122"/>
            </a:endParaRPr>
          </a:p>
        </p:txBody>
      </p:sp>
      <p:sp>
        <p:nvSpPr>
          <p:cNvPr id="5" name="文本框 4"/>
          <p:cNvSpPr txBox="1"/>
          <p:nvPr/>
        </p:nvSpPr>
        <p:spPr>
          <a:xfrm>
            <a:off x="941705" y="1168400"/>
            <a:ext cx="3966210" cy="337185"/>
          </a:xfrm>
          <a:prstGeom prst="rect">
            <a:avLst/>
          </a:prstGeom>
          <a:solidFill>
            <a:schemeClr val="accent1">
              <a:lumMod val="20000"/>
              <a:lumOff val="80000"/>
            </a:schemeClr>
          </a:solidFill>
        </p:spPr>
        <p:txBody>
          <a:bodyPr wrap="square" rtlCol="0">
            <a:spAutoFit/>
          </a:bodyPr>
          <a:lstStyle/>
          <a:p>
            <a:r>
              <a:rPr lang="en-US" altLang="zh-CN" sz="1600">
                <a:latin typeface="微软雅黑" panose="020B0503020204020204" charset="-122"/>
                <a:ea typeface="微软雅黑" panose="020B0503020204020204" charset="-122"/>
                <a:cs typeface="微软雅黑" panose="020B0503020204020204" charset="-122"/>
              </a:rPr>
              <a:t>AI</a:t>
            </a:r>
            <a:r>
              <a:rPr lang="zh-CN" altLang="en-US" sz="1600">
                <a:latin typeface="微软雅黑" panose="020B0503020204020204" charset="-122"/>
                <a:ea typeface="微软雅黑" panose="020B0503020204020204" charset="-122"/>
                <a:cs typeface="微软雅黑" panose="020B0503020204020204" charset="-122"/>
              </a:rPr>
              <a:t>从文档中提取摘要</a:t>
            </a:r>
            <a:endParaRPr lang="zh-CN" altLang="en-US" sz="1600">
              <a:latin typeface="微软雅黑" panose="020B0503020204020204" charset="-122"/>
              <a:ea typeface="微软雅黑" panose="020B0503020204020204" charset="-122"/>
              <a:cs typeface="微软雅黑" panose="020B0503020204020204" charset="-122"/>
            </a:endParaRPr>
          </a:p>
        </p:txBody>
      </p:sp>
      <p:graphicFrame>
        <p:nvGraphicFramePr>
          <p:cNvPr id="8" name="对象 7">
            <a:hlinkClick r:id="" action="ppaction://ole?verb=0"/>
          </p:cNvPr>
          <p:cNvGraphicFramePr>
            <a:graphicFrameLocks noChangeAspect="1"/>
          </p:cNvGraphicFramePr>
          <p:nvPr/>
        </p:nvGraphicFramePr>
        <p:xfrm>
          <a:off x="273050" y="2000250"/>
          <a:ext cx="1019175" cy="952500"/>
        </p:xfrm>
        <a:graphic>
          <a:graphicData uri="http://schemas.openxmlformats.org/presentationml/2006/ole">
            <mc:AlternateContent xmlns:mc="http://schemas.openxmlformats.org/markup-compatibility/2006">
              <mc:Choice xmlns:v="urn:schemas-microsoft-com:vml" Requires="v">
                <p:oleObj spid="_x0000_s3" name="" showAsIcon="1" r:id="rId2" imgW="971550" imgH="952500" progId="Word.Document.12">
                  <p:embed/>
                </p:oleObj>
              </mc:Choice>
              <mc:Fallback>
                <p:oleObj name="" showAsIcon="1" r:id="rId2" imgW="971550" imgH="952500" progId="Word.Document.12">
                  <p:embed/>
                  <p:pic>
                    <p:nvPicPr>
                      <p:cNvPr id="0" name="图片 1024"/>
                      <p:cNvPicPr/>
                      <p:nvPr/>
                    </p:nvPicPr>
                    <p:blipFill>
                      <a:blip r:embed="rId3"/>
                      <a:stretch>
                        <a:fillRect/>
                      </a:stretch>
                    </p:blipFill>
                    <p:spPr>
                      <a:xfrm>
                        <a:off x="273050" y="2000250"/>
                        <a:ext cx="1019175" cy="952500"/>
                      </a:xfrm>
                      <a:prstGeom prst="rect">
                        <a:avLst/>
                      </a:prstGeom>
                    </p:spPr>
                  </p:pic>
                </p:oleObj>
              </mc:Fallback>
            </mc:AlternateContent>
          </a:graphicData>
        </a:graphic>
      </p:graphicFrame>
      <p:sp>
        <p:nvSpPr>
          <p:cNvPr id="9" name="右箭头 8"/>
          <p:cNvSpPr/>
          <p:nvPr/>
        </p:nvSpPr>
        <p:spPr>
          <a:xfrm>
            <a:off x="1292225" y="2067560"/>
            <a:ext cx="323850" cy="54610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1710055" y="1747520"/>
            <a:ext cx="3486150" cy="2445385"/>
          </a:xfrm>
          <a:prstGeom prst="rect">
            <a:avLst/>
          </a:prstGeom>
        </p:spPr>
        <p:txBody>
          <a:bodyPr wrap="square">
            <a:spAutoFit/>
          </a:bodyPr>
          <a:lstStyle/>
          <a:p>
            <a:r>
              <a:rPr lang="zh-CN" altLang="en-US" sz="900">
                <a:latin typeface="微软雅黑" panose="020B0503020204020204" charset="-122"/>
                <a:ea typeface="微软雅黑" panose="020B0503020204020204" charset="-122"/>
                <a:cs typeface="微软雅黑" panose="020B0503020204020204" charset="-122"/>
              </a:rPr>
              <a:t>本办法由国家金融监督管理总局发布（2024 年第 1 号），自 2024 年 7 月 1 日起施行，旨在规范银行业金融机构固定资产贷款业务经营行为、加强审慎经营管理、促进业务健康发展，适用于在中华人民共和国境内设立的商业银行、农村合作银行、农村信用合作社等吸收公众存款的金融机构；办法明确固定资产贷款是指向法人或非法人组织发放的用于借款人固定资产投资的本外币贷款，项目融资是其特殊形式，还款资金来源主要依赖项目产生的销售收入等；办法以固定资产贷款管理为核心场景，系统规定了受理与调查、审查审批、合同签订、发放与支付、贷后管理、项目融资等各环节的全流程管理要求，强调贷款全流程管理、统一授信管理、审贷分离分级审批、受托支付等核心制度，明确了项目资本金要求、贷款期限限制（一般不超十年）、还本频率要求、展期规则等，要求贷款人对担保进行全面调查与评价、在合同中设定担保条款并加强贷后担保管理，通过抵质押担保、保证担保、银团贷款分散风险、项目收入账户监管、保险权益转让等多种风险缓释手段保障贷款安全，并对贷款人违规行为规定了监管措施与法律责任。</a:t>
            </a:r>
            <a:endParaRPr lang="zh-CN" altLang="en-US" sz="900">
              <a:latin typeface="微软雅黑" panose="020B0503020204020204" charset="-122"/>
              <a:ea typeface="微软雅黑" panose="020B0503020204020204" charset="-122"/>
              <a:cs typeface="微软雅黑" panose="020B0503020204020204" charset="-122"/>
            </a:endParaRPr>
          </a:p>
        </p:txBody>
      </p:sp>
      <p:sp>
        <p:nvSpPr>
          <p:cNvPr id="11" name="椭圆 10"/>
          <p:cNvSpPr/>
          <p:nvPr/>
        </p:nvSpPr>
        <p:spPr>
          <a:xfrm>
            <a:off x="320675" y="454279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2</a:t>
            </a:r>
            <a:endParaRPr lang="en-US" altLang="zh-CN" sz="1400">
              <a:latin typeface="微软雅黑" panose="020B0503020204020204" charset="-122"/>
              <a:ea typeface="微软雅黑" panose="020B0503020204020204" charset="-122"/>
            </a:endParaRPr>
          </a:p>
        </p:txBody>
      </p:sp>
      <p:sp>
        <p:nvSpPr>
          <p:cNvPr id="12" name="文本框 11"/>
          <p:cNvSpPr txBox="1"/>
          <p:nvPr/>
        </p:nvSpPr>
        <p:spPr>
          <a:xfrm>
            <a:off x="815975" y="4542155"/>
            <a:ext cx="5166995" cy="337185"/>
          </a:xfrm>
          <a:prstGeom prst="rect">
            <a:avLst/>
          </a:prstGeom>
          <a:solidFill>
            <a:schemeClr val="accent1">
              <a:lumMod val="20000"/>
              <a:lumOff val="80000"/>
            </a:schemeClr>
          </a:solidFill>
        </p:spPr>
        <p:txBody>
          <a:bodyPr wrap="square" rtlCol="0">
            <a:spAutoFit/>
          </a:bodyPr>
          <a:lstStyle/>
          <a:p>
            <a:r>
              <a:rPr lang="en-US" altLang="zh-CN" sz="1600">
                <a:latin typeface="微软雅黑" panose="020B0503020204020204" charset="-122"/>
                <a:ea typeface="微软雅黑" panose="020B0503020204020204" charset="-122"/>
                <a:cs typeface="微软雅黑" panose="020B0503020204020204" charset="-122"/>
              </a:rPr>
              <a:t>AI</a:t>
            </a:r>
            <a:r>
              <a:rPr lang="zh-CN" altLang="en-US" sz="1600">
                <a:latin typeface="微软雅黑" panose="020B0503020204020204" charset="-122"/>
                <a:ea typeface="微软雅黑" panose="020B0503020204020204" charset="-122"/>
                <a:cs typeface="微软雅黑" panose="020B0503020204020204" charset="-122"/>
              </a:rPr>
              <a:t>从摘要中提取语义本体信息</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13" name="右箭头 12"/>
          <p:cNvSpPr/>
          <p:nvPr/>
        </p:nvSpPr>
        <p:spPr>
          <a:xfrm rot="5400000">
            <a:off x="3504565" y="4084955"/>
            <a:ext cx="398145" cy="45720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2" name="文本框 41"/>
          <p:cNvSpPr txBox="1"/>
          <p:nvPr/>
        </p:nvSpPr>
        <p:spPr>
          <a:xfrm>
            <a:off x="3947795" y="4060825"/>
            <a:ext cx="1248410" cy="306705"/>
          </a:xfrm>
          <a:prstGeom prst="rect">
            <a:avLst/>
          </a:prstGeom>
          <a:noFill/>
        </p:spPr>
        <p:txBody>
          <a:bodyPr wrap="square" rtlCol="0">
            <a:spAutoFit/>
          </a:bodyPr>
          <a:lstStyle/>
          <a:p>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LLM</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大模型</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4" name="右箭头 23"/>
          <p:cNvSpPr/>
          <p:nvPr/>
        </p:nvSpPr>
        <p:spPr>
          <a:xfrm>
            <a:off x="5897245" y="4367530"/>
            <a:ext cx="398145" cy="45720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a:stretch>
            <a:fillRect/>
          </a:stretch>
        </p:blipFill>
        <p:spPr>
          <a:xfrm>
            <a:off x="76835" y="4919345"/>
            <a:ext cx="1061085" cy="1677670"/>
          </a:xfrm>
          <a:prstGeom prst="rect">
            <a:avLst/>
          </a:prstGeom>
        </p:spPr>
      </p:pic>
      <p:pic>
        <p:nvPicPr>
          <p:cNvPr id="21" name="图片 20"/>
          <p:cNvPicPr>
            <a:picLocks noChangeAspect="1"/>
          </p:cNvPicPr>
          <p:nvPr/>
        </p:nvPicPr>
        <p:blipFill>
          <a:blip r:embed="rId5"/>
          <a:stretch>
            <a:fillRect/>
          </a:stretch>
        </p:blipFill>
        <p:spPr>
          <a:xfrm>
            <a:off x="1137920" y="4908550"/>
            <a:ext cx="1421765" cy="1374775"/>
          </a:xfrm>
          <a:prstGeom prst="rect">
            <a:avLst/>
          </a:prstGeom>
        </p:spPr>
      </p:pic>
      <p:pic>
        <p:nvPicPr>
          <p:cNvPr id="26" name="图片 25"/>
          <p:cNvPicPr>
            <a:picLocks noChangeAspect="1"/>
          </p:cNvPicPr>
          <p:nvPr/>
        </p:nvPicPr>
        <p:blipFill>
          <a:blip r:embed="rId6"/>
          <a:stretch>
            <a:fillRect/>
          </a:stretch>
        </p:blipFill>
        <p:spPr>
          <a:xfrm>
            <a:off x="2519680" y="4899025"/>
            <a:ext cx="1399540" cy="1213485"/>
          </a:xfrm>
          <a:prstGeom prst="rect">
            <a:avLst/>
          </a:prstGeom>
        </p:spPr>
      </p:pic>
      <p:pic>
        <p:nvPicPr>
          <p:cNvPr id="28" name="图片 27"/>
          <p:cNvPicPr>
            <a:picLocks noChangeAspect="1"/>
          </p:cNvPicPr>
          <p:nvPr/>
        </p:nvPicPr>
        <p:blipFill>
          <a:blip r:embed="rId7"/>
          <a:stretch>
            <a:fillRect/>
          </a:stretch>
        </p:blipFill>
        <p:spPr>
          <a:xfrm>
            <a:off x="3932555" y="4925060"/>
            <a:ext cx="1856105" cy="2004060"/>
          </a:xfrm>
          <a:prstGeom prst="rect">
            <a:avLst/>
          </a:prstGeom>
        </p:spPr>
      </p:pic>
      <p:pic>
        <p:nvPicPr>
          <p:cNvPr id="29" name="图片 28"/>
          <p:cNvPicPr>
            <a:picLocks noChangeAspect="1"/>
          </p:cNvPicPr>
          <p:nvPr/>
        </p:nvPicPr>
        <p:blipFill>
          <a:blip r:embed="rId8"/>
          <a:stretch>
            <a:fillRect/>
          </a:stretch>
        </p:blipFill>
        <p:spPr>
          <a:xfrm>
            <a:off x="5046980" y="5736590"/>
            <a:ext cx="1990725" cy="1177290"/>
          </a:xfrm>
          <a:prstGeom prst="rect">
            <a:avLst/>
          </a:prstGeom>
        </p:spPr>
      </p:pic>
      <p:sp>
        <p:nvSpPr>
          <p:cNvPr id="27" name="文本框 26"/>
          <p:cNvSpPr txBox="1"/>
          <p:nvPr/>
        </p:nvSpPr>
        <p:spPr>
          <a:xfrm rot="1260000">
            <a:off x="5580380" y="6384925"/>
            <a:ext cx="1030605" cy="296545"/>
          </a:xfrm>
          <a:prstGeom prst="rect">
            <a:avLst/>
          </a:prstGeom>
          <a:noFill/>
          <a:ln>
            <a:solidFill>
              <a:srgbClr val="C00000"/>
            </a:solidFill>
          </a:ln>
        </p:spPr>
        <p:txBody>
          <a:bodyPr wrap="square" rtlCol="0">
            <a:noAutofit/>
          </a:bodyPr>
          <a:lstStyle/>
          <a:p>
            <a:pPr algn="ctr"/>
            <a:r>
              <a:rPr lang="zh-CN" altLang="en-US" sz="1200" b="1">
                <a:solidFill>
                  <a:srgbClr val="FF0000"/>
                </a:solidFill>
                <a:latin typeface="微软雅黑" panose="020B0503020204020204" charset="-122"/>
                <a:ea typeface="微软雅黑" panose="020B0503020204020204" charset="-122"/>
              </a:rPr>
              <a:t>关系示例</a:t>
            </a:r>
            <a:endParaRPr lang="zh-CN" altLang="en-US" sz="1200" b="1">
              <a:solidFill>
                <a:srgbClr val="FF0000"/>
              </a:solidFill>
              <a:latin typeface="微软雅黑" panose="020B0503020204020204" charset="-122"/>
              <a:ea typeface="微软雅黑" panose="020B0503020204020204" charset="-122"/>
            </a:endParaRPr>
          </a:p>
        </p:txBody>
      </p:sp>
      <p:sp>
        <p:nvSpPr>
          <p:cNvPr id="18" name="矩形 17"/>
          <p:cNvSpPr/>
          <p:nvPr/>
        </p:nvSpPr>
        <p:spPr>
          <a:xfrm>
            <a:off x="8075295"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统一语义图谱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19" name="矩形 18"/>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20" name="矩形 19"/>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向量知识库</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2.3.2 专题知识图谱加工流程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1" name="矩形 40"/>
          <p:cNvSpPr/>
          <p:nvPr/>
        </p:nvSpPr>
        <p:spPr>
          <a:xfrm>
            <a:off x="147320" y="5114290"/>
            <a:ext cx="11890375" cy="108585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资源层</a:t>
            </a:r>
            <a:endParaRPr lang="zh-CN" altLang="en-US" sz="1400" b="1" dirty="0">
              <a:solidFill>
                <a:schemeClr val="tx2"/>
              </a:solidFill>
              <a:latin typeface="微软雅黑" panose="020B0503020204020204" charset="-122"/>
              <a:ea typeface="微软雅黑" panose="020B0503020204020204" charset="-122"/>
            </a:endParaRPr>
          </a:p>
        </p:txBody>
      </p:sp>
      <p:grpSp>
        <p:nvGrpSpPr>
          <p:cNvPr id="42" name="组合 41"/>
          <p:cNvGrpSpPr/>
          <p:nvPr/>
        </p:nvGrpSpPr>
        <p:grpSpPr>
          <a:xfrm>
            <a:off x="1134110" y="5201285"/>
            <a:ext cx="2879725" cy="946785"/>
            <a:chOff x="14253" y="8844"/>
            <a:chExt cx="4716" cy="1658"/>
          </a:xfrm>
        </p:grpSpPr>
        <p:sp>
          <p:nvSpPr>
            <p:cNvPr id="43" name="矩形 42"/>
            <p:cNvSpPr/>
            <p:nvPr/>
          </p:nvSpPr>
          <p:spPr>
            <a:xfrm>
              <a:off x="14253" y="8844"/>
              <a:ext cx="4716" cy="165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文档标准元数据</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4" name="矩形 43"/>
            <p:cNvSpPr/>
            <p:nvPr/>
          </p:nvSpPr>
          <p:spPr>
            <a:xfrm>
              <a:off x="14400"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p:txBody>
        </p:sp>
        <p:sp>
          <p:nvSpPr>
            <p:cNvPr id="45" name="矩形 44"/>
            <p:cNvSpPr/>
            <p:nvPr/>
          </p:nvSpPr>
          <p:spPr>
            <a:xfrm>
              <a:off x="15947"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p:txBody>
        </p:sp>
        <p:sp>
          <p:nvSpPr>
            <p:cNvPr id="46" name="矩形 45"/>
            <p:cNvSpPr/>
            <p:nvPr/>
          </p:nvSpPr>
          <p:spPr>
            <a:xfrm>
              <a:off x="17512" y="9432"/>
              <a:ext cx="1242"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p:txBody>
        </p:sp>
      </p:grpSp>
      <p:grpSp>
        <p:nvGrpSpPr>
          <p:cNvPr id="19" name="组合 18"/>
          <p:cNvGrpSpPr/>
          <p:nvPr/>
        </p:nvGrpSpPr>
        <p:grpSpPr>
          <a:xfrm>
            <a:off x="211455" y="2280920"/>
            <a:ext cx="11569700" cy="2021840"/>
            <a:chOff x="333" y="3592"/>
            <a:chExt cx="17067" cy="3184"/>
          </a:xfrm>
        </p:grpSpPr>
        <p:sp>
          <p:nvSpPr>
            <p:cNvPr id="77" name="矩形 76"/>
            <p:cNvSpPr/>
            <p:nvPr/>
          </p:nvSpPr>
          <p:spPr>
            <a:xfrm>
              <a:off x="14837" y="4235"/>
              <a:ext cx="1063"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专题知识图谱</a:t>
              </a:r>
              <a:endParaRPr lang="zh-CN" altLang="en-US" sz="1200" dirty="0">
                <a:solidFill>
                  <a:schemeClr val="tx1"/>
                </a:solidFill>
                <a:latin typeface="微软雅黑" panose="020B0503020204020204" charset="-122"/>
                <a:ea typeface="微软雅黑" panose="020B0503020204020204" charset="-122"/>
              </a:endParaRPr>
            </a:p>
            <a:p>
              <a:pPr lvl="0" algn="ctr">
                <a:buClrTx/>
                <a:buSzTx/>
                <a:buFontTx/>
              </a:pPr>
              <a:r>
                <a:rPr lang="en-US" altLang="zh-CN" sz="1200" dirty="0">
                  <a:solidFill>
                    <a:schemeClr val="tx1"/>
                  </a:solidFill>
                  <a:latin typeface="微软雅黑" panose="020B0503020204020204" charset="-122"/>
                  <a:ea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rPr>
                <a:t>实例</a:t>
              </a:r>
              <a:r>
                <a:rPr lang="en-US" altLang="zh-CN" sz="1200" dirty="0">
                  <a:solidFill>
                    <a:schemeClr val="tx1"/>
                  </a:solidFill>
                  <a:latin typeface="微软雅黑" panose="020B0503020204020204" charset="-122"/>
                  <a:ea typeface="微软雅黑" panose="020B0503020204020204" charset="-122"/>
                </a:rPr>
                <a:t>）</a:t>
              </a:r>
              <a:endParaRPr lang="en-US" altLang="zh-CN" sz="1200" dirty="0">
                <a:solidFill>
                  <a:schemeClr val="tx1"/>
                </a:solidFill>
                <a:latin typeface="微软雅黑" panose="020B0503020204020204" charset="-122"/>
                <a:ea typeface="微软雅黑" panose="020B0503020204020204" charset="-122"/>
              </a:endParaRPr>
            </a:p>
          </p:txBody>
        </p:sp>
        <p:sp>
          <p:nvSpPr>
            <p:cNvPr id="78" name="矩形 77"/>
            <p:cNvSpPr/>
            <p:nvPr/>
          </p:nvSpPr>
          <p:spPr>
            <a:xfrm>
              <a:off x="16210" y="4236"/>
              <a:ext cx="1190"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 专题知识图谱索引</a:t>
              </a:r>
              <a:endParaRPr lang="zh-CN" altLang="en-US" sz="1200" dirty="0">
                <a:solidFill>
                  <a:schemeClr val="tx1"/>
                </a:solidFill>
                <a:latin typeface="微软雅黑" panose="020B0503020204020204" charset="-122"/>
                <a:ea typeface="微软雅黑" panose="020B0503020204020204" charset="-122"/>
              </a:endParaRPr>
            </a:p>
          </p:txBody>
        </p:sp>
        <p:cxnSp>
          <p:nvCxnSpPr>
            <p:cNvPr id="79" name="直接箭头连接符 78"/>
            <p:cNvCxnSpPr>
              <a:stCxn id="77" idx="3"/>
              <a:endCxn id="78" idx="1"/>
            </p:cNvCxnSpPr>
            <p:nvPr/>
          </p:nvCxnSpPr>
          <p:spPr>
            <a:xfrm>
              <a:off x="15900" y="5360"/>
              <a:ext cx="310" cy="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18" name="组合 17"/>
            <p:cNvGrpSpPr/>
            <p:nvPr/>
          </p:nvGrpSpPr>
          <p:grpSpPr>
            <a:xfrm>
              <a:off x="333" y="3592"/>
              <a:ext cx="4477" cy="3184"/>
              <a:chOff x="333" y="3592"/>
              <a:chExt cx="3366" cy="3184"/>
            </a:xfrm>
          </p:grpSpPr>
          <p:sp>
            <p:nvSpPr>
              <p:cNvPr id="33" name="矩形 32"/>
              <p:cNvSpPr/>
              <p:nvPr/>
            </p:nvSpPr>
            <p:spPr>
              <a:xfrm>
                <a:off x="333" y="3592"/>
                <a:ext cx="3367" cy="3184"/>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专题知识图谱本体</a:t>
                </a:r>
                <a:r>
                  <a:rPr lang="zh-CN" altLang="en-US" sz="1400" b="1">
                    <a:latin typeface="微软雅黑" panose="020B0503020204020204" charset="-122"/>
                    <a:ea typeface="微软雅黑" panose="020B0503020204020204" charset="-122"/>
                  </a:rPr>
                  <a:t>建模</a:t>
                </a:r>
                <a:endParaRPr lang="zh-CN" altLang="en-US" sz="1400" b="1">
                  <a:latin typeface="微软雅黑" panose="020B0503020204020204" charset="-122"/>
                  <a:ea typeface="微软雅黑" panose="020B0503020204020204" charset="-122"/>
                </a:endParaRPr>
              </a:p>
            </p:txBody>
          </p:sp>
          <p:sp>
            <p:nvSpPr>
              <p:cNvPr id="34" name="矩形 33"/>
              <p:cNvSpPr/>
              <p:nvPr/>
            </p:nvSpPr>
            <p:spPr>
              <a:xfrm>
                <a:off x="505" y="4236"/>
                <a:ext cx="836"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图实例创建</a:t>
                </a:r>
                <a:r>
                  <a:rPr lang="en-US" altLang="zh-CN" sz="1200" dirty="0">
                    <a:solidFill>
                      <a:schemeClr val="tx1"/>
                    </a:solidFill>
                    <a:latin typeface="微软雅黑" panose="020B0503020204020204" charset="-122"/>
                    <a:ea typeface="微软雅黑" panose="020B0503020204020204" charset="-122"/>
                  </a:rPr>
                  <a:t>（</a:t>
                </a:r>
                <a:r>
                  <a:rPr lang="zh-CN" altLang="en-US" sz="1200" dirty="0">
                    <a:solidFill>
                      <a:schemeClr val="tx1"/>
                    </a:solidFill>
                    <a:latin typeface="微软雅黑" panose="020B0503020204020204" charset="-122"/>
                    <a:ea typeface="微软雅黑" panose="020B0503020204020204" charset="-122"/>
                  </a:rPr>
                  <a:t>专题创建</a:t>
                </a:r>
                <a:r>
                  <a:rPr lang="en-US" altLang="zh-CN" sz="1200" dirty="0">
                    <a:solidFill>
                      <a:schemeClr val="tx1"/>
                    </a:solidFill>
                    <a:latin typeface="微软雅黑" panose="020B0503020204020204" charset="-122"/>
                    <a:ea typeface="微软雅黑" panose="020B0503020204020204" charset="-122"/>
                  </a:rPr>
                  <a:t>）</a:t>
                </a:r>
                <a:endParaRPr lang="en-US" altLang="zh-CN" sz="1200" dirty="0">
                  <a:solidFill>
                    <a:schemeClr val="tx1"/>
                  </a:solidFill>
                  <a:latin typeface="微软雅黑" panose="020B0503020204020204" charset="-122"/>
                  <a:ea typeface="微软雅黑" panose="020B0503020204020204" charset="-122"/>
                </a:endParaRPr>
              </a:p>
            </p:txBody>
          </p:sp>
          <p:sp>
            <p:nvSpPr>
              <p:cNvPr id="35" name="矩形 34"/>
              <p:cNvSpPr/>
              <p:nvPr/>
            </p:nvSpPr>
            <p:spPr>
              <a:xfrm>
                <a:off x="1599" y="4236"/>
                <a:ext cx="836"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图本体</a:t>
                </a:r>
                <a:r>
                  <a:rPr lang="en-US" altLang="zh-CN" sz="1200" dirty="0">
                    <a:solidFill>
                      <a:schemeClr val="tx1"/>
                    </a:solidFill>
                    <a:latin typeface="微软雅黑" panose="020B0503020204020204" charset="-122"/>
                    <a:ea typeface="微软雅黑" panose="020B0503020204020204" charset="-122"/>
                  </a:rPr>
                  <a:t>AI</a:t>
                </a:r>
                <a:r>
                  <a:rPr lang="zh-CN" altLang="en-US" sz="1200" dirty="0">
                    <a:solidFill>
                      <a:schemeClr val="tx1"/>
                    </a:solidFill>
                    <a:latin typeface="微软雅黑" panose="020B0503020204020204" charset="-122"/>
                    <a:ea typeface="微软雅黑" panose="020B0503020204020204" charset="-122"/>
                  </a:rPr>
                  <a:t>生成</a:t>
                </a:r>
                <a:endParaRPr lang="zh-CN" altLang="en-US" sz="1200" dirty="0">
                  <a:solidFill>
                    <a:schemeClr val="tx1"/>
                  </a:solidFill>
                  <a:latin typeface="微软雅黑" panose="020B0503020204020204" charset="-122"/>
                  <a:ea typeface="微软雅黑" panose="020B0503020204020204" charset="-122"/>
                </a:endParaRPr>
              </a:p>
            </p:txBody>
          </p:sp>
          <p:sp>
            <p:nvSpPr>
              <p:cNvPr id="36" name="矩形 35"/>
              <p:cNvSpPr/>
              <p:nvPr/>
            </p:nvSpPr>
            <p:spPr>
              <a:xfrm>
                <a:off x="2693" y="4236"/>
                <a:ext cx="836"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图本体编辑</a:t>
                </a:r>
                <a:endParaRPr lang="zh-CN" altLang="en-US" sz="1200" dirty="0">
                  <a:solidFill>
                    <a:schemeClr val="tx1"/>
                  </a:solidFill>
                  <a:latin typeface="微软雅黑" panose="020B0503020204020204" charset="-122"/>
                  <a:ea typeface="微软雅黑" panose="020B0503020204020204" charset="-122"/>
                </a:endParaRPr>
              </a:p>
            </p:txBody>
          </p:sp>
          <p:cxnSp>
            <p:nvCxnSpPr>
              <p:cNvPr id="80" name="直接箭头连接符 79"/>
              <p:cNvCxnSpPr>
                <a:stCxn id="34" idx="3"/>
                <a:endCxn id="35" idx="1"/>
              </p:cNvCxnSpPr>
              <p:nvPr/>
            </p:nvCxnSpPr>
            <p:spPr>
              <a:xfrm>
                <a:off x="1341" y="5361"/>
                <a:ext cx="25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1" name="直接箭头连接符 80"/>
              <p:cNvCxnSpPr>
                <a:stCxn id="35" idx="3"/>
                <a:endCxn id="36" idx="1"/>
              </p:cNvCxnSpPr>
              <p:nvPr/>
            </p:nvCxnSpPr>
            <p:spPr>
              <a:xfrm>
                <a:off x="2435" y="5361"/>
                <a:ext cx="25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82" name="直接箭头连接符 81"/>
            <p:cNvCxnSpPr>
              <a:stCxn id="36" idx="3"/>
              <a:endCxn id="66" idx="1"/>
            </p:cNvCxnSpPr>
            <p:nvPr/>
          </p:nvCxnSpPr>
          <p:spPr>
            <a:xfrm>
              <a:off x="4584" y="5361"/>
              <a:ext cx="1095" cy="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17" name="组合 16"/>
            <p:cNvGrpSpPr/>
            <p:nvPr/>
          </p:nvGrpSpPr>
          <p:grpSpPr>
            <a:xfrm>
              <a:off x="5418" y="3592"/>
              <a:ext cx="9299" cy="3185"/>
              <a:chOff x="6919" y="3592"/>
              <a:chExt cx="8003" cy="3185"/>
            </a:xfrm>
          </p:grpSpPr>
          <p:sp>
            <p:nvSpPr>
              <p:cNvPr id="65" name="矩形 64"/>
              <p:cNvSpPr/>
              <p:nvPr/>
            </p:nvSpPr>
            <p:spPr>
              <a:xfrm>
                <a:off x="6919" y="3593"/>
                <a:ext cx="2779" cy="3184"/>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文档结构化解析</a:t>
                </a:r>
                <a:endParaRPr lang="zh-CN" altLang="en-US" sz="1400" b="1">
                  <a:latin typeface="微软雅黑" panose="020B0503020204020204" charset="-122"/>
                  <a:ea typeface="微软雅黑" panose="020B0503020204020204" charset="-122"/>
                </a:endParaRPr>
              </a:p>
            </p:txBody>
          </p:sp>
          <p:sp>
            <p:nvSpPr>
              <p:cNvPr id="66" name="矩形 65"/>
              <p:cNvSpPr/>
              <p:nvPr/>
            </p:nvSpPr>
            <p:spPr>
              <a:xfrm>
                <a:off x="7144" y="4237"/>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文档配置</a:t>
                </a:r>
                <a:endParaRPr lang="zh-CN" altLang="en-US" sz="1200" dirty="0">
                  <a:solidFill>
                    <a:schemeClr val="tx1"/>
                  </a:solidFill>
                  <a:latin typeface="微软雅黑" panose="020B0503020204020204" charset="-122"/>
                  <a:ea typeface="微软雅黑" panose="020B0503020204020204" charset="-122"/>
                </a:endParaRPr>
              </a:p>
            </p:txBody>
          </p:sp>
          <p:sp>
            <p:nvSpPr>
              <p:cNvPr id="67" name="矩形 66"/>
              <p:cNvSpPr/>
              <p:nvPr/>
            </p:nvSpPr>
            <p:spPr>
              <a:xfrm>
                <a:off x="8484" y="4237"/>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多模态解析</a:t>
                </a:r>
                <a:endParaRPr lang="zh-CN" altLang="en-US" sz="1200" dirty="0">
                  <a:solidFill>
                    <a:schemeClr val="tx1"/>
                  </a:solidFill>
                  <a:latin typeface="微软雅黑" panose="020B0503020204020204" charset="-122"/>
                  <a:ea typeface="微软雅黑" panose="020B0503020204020204" charset="-122"/>
                </a:endParaRPr>
              </a:p>
            </p:txBody>
          </p:sp>
          <p:cxnSp>
            <p:nvCxnSpPr>
              <p:cNvPr id="68" name="直接箭头连接符 67"/>
              <p:cNvCxnSpPr/>
              <p:nvPr/>
            </p:nvCxnSpPr>
            <p:spPr>
              <a:xfrm>
                <a:off x="8218" y="5362"/>
                <a:ext cx="266"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9" name="矩形 68"/>
              <p:cNvSpPr/>
              <p:nvPr/>
            </p:nvSpPr>
            <p:spPr>
              <a:xfrm>
                <a:off x="9877" y="3593"/>
                <a:ext cx="3256" cy="3184"/>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图谱知识抽取</a:t>
                </a:r>
                <a:endParaRPr lang="zh-CN" altLang="en-US" sz="1400" b="1">
                  <a:latin typeface="微软雅黑" panose="020B0503020204020204" charset="-122"/>
                  <a:ea typeface="微软雅黑" panose="020B0503020204020204" charset="-122"/>
                </a:endParaRPr>
              </a:p>
              <a:p>
                <a:pPr algn="ctr"/>
                <a:endParaRPr lang="zh-CN" altLang="en-US" sz="1400" b="1">
                  <a:latin typeface="微软雅黑" panose="020B0503020204020204" charset="-122"/>
                  <a:ea typeface="微软雅黑" panose="020B0503020204020204" charset="-122"/>
                </a:endParaRPr>
              </a:p>
            </p:txBody>
          </p:sp>
          <p:sp>
            <p:nvSpPr>
              <p:cNvPr id="70" name="矩形 69"/>
              <p:cNvSpPr/>
              <p:nvPr/>
            </p:nvSpPr>
            <p:spPr>
              <a:xfrm>
                <a:off x="10013" y="4237"/>
                <a:ext cx="836"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dirty="0">
                    <a:solidFill>
                      <a:schemeClr val="tx1"/>
                    </a:solidFill>
                    <a:latin typeface="微软雅黑" panose="020B0503020204020204" charset="-122"/>
                    <a:ea typeface="微软雅黑" panose="020B0503020204020204" charset="-122"/>
                  </a:rPr>
                  <a:t>LLM</a:t>
                </a:r>
                <a:r>
                  <a:rPr lang="zh-CN" altLang="en-US" sz="1200" dirty="0">
                    <a:solidFill>
                      <a:schemeClr val="tx1"/>
                    </a:solidFill>
                    <a:latin typeface="微软雅黑" panose="020B0503020204020204" charset="-122"/>
                    <a:ea typeface="微软雅黑" panose="020B0503020204020204" charset="-122"/>
                  </a:rPr>
                  <a:t>模型配置</a:t>
                </a:r>
                <a:endParaRPr lang="zh-CN" altLang="en-US" sz="1200" dirty="0">
                  <a:solidFill>
                    <a:schemeClr val="tx1"/>
                  </a:solidFill>
                  <a:latin typeface="微软雅黑" panose="020B0503020204020204" charset="-122"/>
                  <a:ea typeface="微软雅黑" panose="020B0503020204020204" charset="-122"/>
                </a:endParaRPr>
              </a:p>
            </p:txBody>
          </p:sp>
          <p:sp>
            <p:nvSpPr>
              <p:cNvPr id="71" name="矩形 70"/>
              <p:cNvSpPr/>
              <p:nvPr/>
            </p:nvSpPr>
            <p:spPr>
              <a:xfrm>
                <a:off x="11107" y="4237"/>
                <a:ext cx="836"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算子配置</a:t>
                </a:r>
                <a:endParaRPr lang="zh-CN" altLang="en-US" sz="1200" dirty="0">
                  <a:solidFill>
                    <a:schemeClr val="tx1"/>
                  </a:solidFill>
                  <a:latin typeface="微软雅黑" panose="020B0503020204020204" charset="-122"/>
                  <a:ea typeface="微软雅黑" panose="020B0503020204020204" charset="-122"/>
                </a:endParaRPr>
              </a:p>
            </p:txBody>
          </p:sp>
          <p:sp>
            <p:nvSpPr>
              <p:cNvPr id="72" name="矩形 71"/>
              <p:cNvSpPr/>
              <p:nvPr/>
            </p:nvSpPr>
            <p:spPr>
              <a:xfrm>
                <a:off x="12201" y="4237"/>
                <a:ext cx="836"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抽取提示词配置</a:t>
                </a:r>
                <a:endParaRPr lang="zh-CN" altLang="en-US" sz="1200" dirty="0">
                  <a:solidFill>
                    <a:schemeClr val="tx1"/>
                  </a:solidFill>
                  <a:latin typeface="微软雅黑" panose="020B0503020204020204" charset="-122"/>
                  <a:ea typeface="微软雅黑" panose="020B0503020204020204" charset="-122"/>
                </a:endParaRPr>
              </a:p>
            </p:txBody>
          </p:sp>
          <p:sp>
            <p:nvSpPr>
              <p:cNvPr id="73" name="矩形 72"/>
              <p:cNvSpPr/>
              <p:nvPr/>
            </p:nvSpPr>
            <p:spPr>
              <a:xfrm>
                <a:off x="13352" y="3592"/>
                <a:ext cx="1570" cy="3184"/>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图谱构建</a:t>
                </a:r>
                <a:endParaRPr lang="zh-CN" altLang="en-US" sz="1400" b="1">
                  <a:latin typeface="微软雅黑" panose="020B0503020204020204" charset="-122"/>
                  <a:ea typeface="微软雅黑" panose="020B0503020204020204" charset="-122"/>
                </a:endParaRPr>
              </a:p>
              <a:p>
                <a:pPr algn="ctr"/>
                <a:endParaRPr lang="zh-CN" altLang="en-US" sz="1400" b="1">
                  <a:latin typeface="微软雅黑" panose="020B0503020204020204" charset="-122"/>
                  <a:ea typeface="微软雅黑" panose="020B0503020204020204" charset="-122"/>
                </a:endParaRPr>
              </a:p>
            </p:txBody>
          </p:sp>
          <p:sp>
            <p:nvSpPr>
              <p:cNvPr id="74" name="矩形 73"/>
              <p:cNvSpPr/>
              <p:nvPr/>
            </p:nvSpPr>
            <p:spPr>
              <a:xfrm>
                <a:off x="13531" y="4236"/>
                <a:ext cx="1074" cy="22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专题知识图谱生成</a:t>
                </a:r>
                <a:endParaRPr lang="zh-CN" altLang="en-US" sz="1200" dirty="0">
                  <a:solidFill>
                    <a:schemeClr val="tx1"/>
                  </a:solidFill>
                  <a:latin typeface="微软雅黑" panose="020B0503020204020204" charset="-122"/>
                  <a:ea typeface="微软雅黑" panose="020B0503020204020204" charset="-122"/>
                </a:endParaRPr>
              </a:p>
            </p:txBody>
          </p:sp>
          <p:cxnSp>
            <p:nvCxnSpPr>
              <p:cNvPr id="84" name="直接箭头连接符 83"/>
              <p:cNvCxnSpPr>
                <a:stCxn id="67" idx="3"/>
                <a:endCxn id="70" idx="1"/>
              </p:cNvCxnSpPr>
              <p:nvPr/>
            </p:nvCxnSpPr>
            <p:spPr>
              <a:xfrm>
                <a:off x="9558" y="5362"/>
                <a:ext cx="45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5" name="直接箭头连接符 84"/>
              <p:cNvCxnSpPr>
                <a:stCxn id="70" idx="3"/>
                <a:endCxn id="71" idx="1"/>
              </p:cNvCxnSpPr>
              <p:nvPr/>
            </p:nvCxnSpPr>
            <p:spPr>
              <a:xfrm>
                <a:off x="10849" y="5362"/>
                <a:ext cx="25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6" name="直接箭头连接符 85"/>
              <p:cNvCxnSpPr>
                <a:stCxn id="71" idx="3"/>
                <a:endCxn id="72" idx="1"/>
              </p:cNvCxnSpPr>
              <p:nvPr/>
            </p:nvCxnSpPr>
            <p:spPr>
              <a:xfrm>
                <a:off x="11943" y="5362"/>
                <a:ext cx="25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7" name="直接箭头连接符 86"/>
              <p:cNvCxnSpPr>
                <a:stCxn id="72" idx="3"/>
                <a:endCxn id="74" idx="1"/>
              </p:cNvCxnSpPr>
              <p:nvPr/>
            </p:nvCxnSpPr>
            <p:spPr>
              <a:xfrm flipV="1">
                <a:off x="13037" y="5361"/>
                <a:ext cx="494" cy="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88" name="直接箭头连接符 87"/>
            <p:cNvCxnSpPr>
              <a:endCxn id="77" idx="1"/>
            </p:cNvCxnSpPr>
            <p:nvPr/>
          </p:nvCxnSpPr>
          <p:spPr>
            <a:xfrm>
              <a:off x="14349" y="5360"/>
              <a:ext cx="48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cxnSp>
        <p:nvCxnSpPr>
          <p:cNvPr id="90" name="肘形连接符 89"/>
          <p:cNvCxnSpPr>
            <a:stCxn id="9" idx="0"/>
            <a:endCxn id="66" idx="2"/>
          </p:cNvCxnSpPr>
          <p:nvPr/>
        </p:nvCxnSpPr>
        <p:spPr>
          <a:xfrm rot="16200000" flipV="1">
            <a:off x="4606608" y="3771583"/>
            <a:ext cx="1082040" cy="1777365"/>
          </a:xfrm>
          <a:prstGeom prst="bentConnector3">
            <a:avLst>
              <a:gd name="adj1" fmla="val 50029"/>
            </a:avLst>
          </a:prstGeom>
          <a:ln>
            <a:tailEnd type="arrow"/>
          </a:ln>
        </p:spPr>
        <p:style>
          <a:lnRef idx="2">
            <a:schemeClr val="accent1"/>
          </a:lnRef>
          <a:fillRef idx="0">
            <a:srgbClr val="FFFFFF"/>
          </a:fillRef>
          <a:effectRef idx="0">
            <a:srgbClr val="FFFFFF"/>
          </a:effectRef>
          <a:fontRef idx="minor">
            <a:schemeClr val="tx1"/>
          </a:fontRef>
        </p:style>
      </p:cxnSp>
      <p:sp>
        <p:nvSpPr>
          <p:cNvPr id="20" name="矩形 19"/>
          <p:cNvSpPr/>
          <p:nvPr/>
        </p:nvSpPr>
        <p:spPr>
          <a:xfrm>
            <a:off x="8060055" y="5201285"/>
            <a:ext cx="3874135" cy="94742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类实体文档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8195310" y="5598160"/>
            <a:ext cx="3658235" cy="419735"/>
            <a:chOff x="1498" y="4598"/>
            <a:chExt cx="5493" cy="664"/>
          </a:xfrm>
        </p:grpSpPr>
        <p:sp>
          <p:nvSpPr>
            <p:cNvPr id="4" name="圆柱形 3"/>
            <p:cNvSpPr/>
            <p:nvPr/>
          </p:nvSpPr>
          <p:spPr>
            <a:xfrm>
              <a:off x="1498"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规划类</a:t>
              </a:r>
              <a:endParaRPr lang="zh-CN" altLang="en-US" sz="1000">
                <a:solidFill>
                  <a:schemeClr val="tx1"/>
                </a:solidFill>
                <a:latin typeface="微软雅黑" panose="020B0503020204020204" charset="-122"/>
                <a:ea typeface="微软雅黑" panose="020B0503020204020204" charset="-122"/>
              </a:endParaRPr>
            </a:p>
          </p:txBody>
        </p:sp>
        <p:sp>
          <p:nvSpPr>
            <p:cNvPr id="5" name="圆柱形 4"/>
            <p:cNvSpPr/>
            <p:nvPr/>
          </p:nvSpPr>
          <p:spPr>
            <a:xfrm>
              <a:off x="2603"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法规类</a:t>
              </a:r>
              <a:endParaRPr lang="zh-CN" altLang="en-US" sz="1000">
                <a:solidFill>
                  <a:schemeClr val="tx1"/>
                </a:solidFill>
                <a:latin typeface="微软雅黑" panose="020B0503020204020204" charset="-122"/>
                <a:ea typeface="微软雅黑" panose="020B0503020204020204" charset="-122"/>
              </a:endParaRPr>
            </a:p>
          </p:txBody>
        </p:sp>
        <p:sp>
          <p:nvSpPr>
            <p:cNvPr id="6" name="圆柱形 5"/>
            <p:cNvSpPr/>
            <p:nvPr/>
          </p:nvSpPr>
          <p:spPr>
            <a:xfrm>
              <a:off x="37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制度类</a:t>
              </a:r>
              <a:endParaRPr lang="zh-CN" altLang="en-US" sz="1000">
                <a:solidFill>
                  <a:schemeClr val="tx1"/>
                </a:solidFill>
                <a:latin typeface="微软雅黑" panose="020B0503020204020204" charset="-122"/>
                <a:ea typeface="微软雅黑" panose="020B0503020204020204" charset="-122"/>
              </a:endParaRPr>
            </a:p>
          </p:txBody>
        </p:sp>
        <p:sp>
          <p:nvSpPr>
            <p:cNvPr id="7" name="圆柱形 6"/>
            <p:cNvSpPr/>
            <p:nvPr/>
          </p:nvSpPr>
          <p:spPr>
            <a:xfrm>
              <a:off x="486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手册类</a:t>
              </a:r>
              <a:endParaRPr lang="zh-CN" altLang="en-US" sz="1000">
                <a:solidFill>
                  <a:schemeClr val="tx1"/>
                </a:solidFill>
                <a:latin typeface="微软雅黑" panose="020B0503020204020204" charset="-122"/>
                <a:ea typeface="微软雅黑" panose="020B0503020204020204" charset="-122"/>
              </a:endParaRPr>
            </a:p>
          </p:txBody>
        </p:sp>
        <p:sp>
          <p:nvSpPr>
            <p:cNvPr id="8" name="圆柱形 7"/>
            <p:cNvSpPr/>
            <p:nvPr/>
          </p:nvSpPr>
          <p:spPr>
            <a:xfrm>
              <a:off x="596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sp>
        <p:nvSpPr>
          <p:cNvPr id="9" name="矩形 8"/>
          <p:cNvSpPr/>
          <p:nvPr/>
        </p:nvSpPr>
        <p:spPr>
          <a:xfrm>
            <a:off x="4129405" y="5201285"/>
            <a:ext cx="3813810" cy="94742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明细类实体文档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10" name="组合 9"/>
          <p:cNvGrpSpPr/>
          <p:nvPr/>
        </p:nvGrpSpPr>
        <p:grpSpPr>
          <a:xfrm>
            <a:off x="4232910" y="5598160"/>
            <a:ext cx="3658235" cy="419735"/>
            <a:chOff x="1509" y="4598"/>
            <a:chExt cx="5493" cy="664"/>
          </a:xfrm>
        </p:grpSpPr>
        <p:sp>
          <p:nvSpPr>
            <p:cNvPr id="11" name="圆柱形 10"/>
            <p:cNvSpPr/>
            <p:nvPr/>
          </p:nvSpPr>
          <p:spPr>
            <a:xfrm>
              <a:off x="15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合同类</a:t>
              </a:r>
              <a:endParaRPr lang="zh-CN" altLang="en-US" sz="1000">
                <a:solidFill>
                  <a:schemeClr val="tx1"/>
                </a:solidFill>
                <a:latin typeface="微软雅黑" panose="020B0503020204020204" charset="-122"/>
                <a:ea typeface="微软雅黑" panose="020B0503020204020204" charset="-122"/>
              </a:endParaRPr>
            </a:p>
          </p:txBody>
        </p:sp>
        <p:sp>
          <p:nvSpPr>
            <p:cNvPr id="12" name="圆柱形 11"/>
            <p:cNvSpPr/>
            <p:nvPr/>
          </p:nvSpPr>
          <p:spPr>
            <a:xfrm>
              <a:off x="261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征信类</a:t>
              </a:r>
              <a:endParaRPr lang="zh-CN" altLang="en-US" sz="1000">
                <a:solidFill>
                  <a:schemeClr val="tx1"/>
                </a:solidFill>
                <a:latin typeface="微软雅黑" panose="020B0503020204020204" charset="-122"/>
                <a:ea typeface="微软雅黑" panose="020B0503020204020204" charset="-122"/>
              </a:endParaRPr>
            </a:p>
          </p:txBody>
        </p:sp>
        <p:sp>
          <p:nvSpPr>
            <p:cNvPr id="13" name="圆柱形 12"/>
            <p:cNvSpPr/>
            <p:nvPr/>
          </p:nvSpPr>
          <p:spPr>
            <a:xfrm>
              <a:off x="372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司法类</a:t>
              </a:r>
              <a:endParaRPr lang="zh-CN" altLang="en-US" sz="1000">
                <a:solidFill>
                  <a:schemeClr val="tx1"/>
                </a:solidFill>
                <a:latin typeface="微软雅黑" panose="020B0503020204020204" charset="-122"/>
                <a:ea typeface="微软雅黑" panose="020B0503020204020204" charset="-122"/>
              </a:endParaRPr>
            </a:p>
          </p:txBody>
        </p:sp>
        <p:sp>
          <p:nvSpPr>
            <p:cNvPr id="14" name="圆柱形 13"/>
            <p:cNvSpPr/>
            <p:nvPr/>
          </p:nvSpPr>
          <p:spPr>
            <a:xfrm>
              <a:off x="4886"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报告类</a:t>
              </a:r>
              <a:endParaRPr lang="zh-CN" altLang="en-US" sz="1000">
                <a:solidFill>
                  <a:schemeClr val="tx1"/>
                </a:solidFill>
                <a:latin typeface="微软雅黑" panose="020B0503020204020204" charset="-122"/>
                <a:ea typeface="微软雅黑" panose="020B0503020204020204" charset="-122"/>
              </a:endParaRPr>
            </a:p>
          </p:txBody>
        </p:sp>
        <p:sp>
          <p:nvSpPr>
            <p:cNvPr id="15" name="圆柱形 14"/>
            <p:cNvSpPr/>
            <p:nvPr/>
          </p:nvSpPr>
          <p:spPr>
            <a:xfrm>
              <a:off x="598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sp>
        <p:nvSpPr>
          <p:cNvPr id="16" name="文本框 15"/>
          <p:cNvSpPr txBox="1"/>
          <p:nvPr/>
        </p:nvSpPr>
        <p:spPr>
          <a:xfrm>
            <a:off x="4878705" y="4439920"/>
            <a:ext cx="1157605" cy="229870"/>
          </a:xfrm>
          <a:prstGeom prst="rect">
            <a:avLst/>
          </a:prstGeom>
          <a:noFill/>
        </p:spPr>
        <p:txBody>
          <a:bodyPr wrap="square" rtlCol="0">
            <a:sp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明细实体文档调用</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48" name="文本占位符 1"/>
          <p:cNvSpPr>
            <a:spLocks noGrp="1"/>
          </p:cNvSpPr>
          <p:nvPr/>
        </p:nvSpPr>
        <p:spPr>
          <a:xfrm>
            <a:off x="320675" y="922020"/>
            <a:ext cx="1146111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专题知识图谱加工是明细实体文档的专属加工链路，</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按业务专题构建专题知识图谱，实现</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 "</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一类文档一张图</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 </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的知识融合，支撑要素级查询与多跳关联分析。</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专题知识图谱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3" name="矩形 52"/>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2.3.2 </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专题知识图谱加工</a:t>
            </a:r>
            <a:r>
              <a:rPr kumimoji="0"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本体</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建模</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320675" y="922020"/>
            <a:ext cx="1162367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面向明细实体专题</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本体建模需求，提供可视化图本体建模能力，</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支持通过图实例管理构建多个专题知识图谱，支持</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AI</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自动生成和人工修改的方式构建专题知识图谱本体模型，满足不同业务线的细粒度知识建模需求。</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15" name="m3-bg"/>
          <p:cNvSpPr/>
          <p:nvPr>
            <p:custDataLst>
              <p:tags r:id="rId1"/>
            </p:custDataLst>
          </p:nvPr>
        </p:nvSpPr>
        <p:spPr>
          <a:xfrm>
            <a:off x="320675" y="2087245"/>
            <a:ext cx="3886200" cy="4570095"/>
          </a:xfrm>
          <a:prstGeom prst="roundRect">
            <a:avLst>
              <a:gd name="adj" fmla="val 2000"/>
            </a:avLst>
          </a:prstGeom>
          <a:solidFill>
            <a:srgbClr val="FFFFFF"/>
          </a:solidFill>
          <a:ln w="12700">
            <a:solidFill>
              <a:srgbClr val="BFDBFE"/>
            </a:solidFill>
          </a:ln>
        </p:spPr>
      </p:sp>
      <p:sp>
        <p:nvSpPr>
          <p:cNvPr id="16" name="m3-header"/>
          <p:cNvSpPr/>
          <p:nvPr>
            <p:custDataLst>
              <p:tags r:id="rId2"/>
            </p:custDataLst>
          </p:nvPr>
        </p:nvSpPr>
        <p:spPr>
          <a:xfrm>
            <a:off x="320675" y="2087245"/>
            <a:ext cx="3886200" cy="304800"/>
          </a:xfrm>
          <a:prstGeom prst="roundRect">
            <a:avLst>
              <a:gd name="adj" fmla="val 2000"/>
            </a:avLst>
          </a:prstGeom>
          <a:solidFill>
            <a:srgbClr val="2563EB"/>
          </a:solidFill>
          <a:ln>
            <a:noFill/>
          </a:ln>
        </p:spPr>
      </p:sp>
      <p:sp>
        <p:nvSpPr>
          <p:cNvPr id="17" name="m3-header-text"/>
          <p:cNvSpPr txBox="1"/>
          <p:nvPr>
            <p:custDataLst>
              <p:tags r:id="rId3"/>
            </p:custDataLst>
          </p:nvPr>
        </p:nvSpPr>
        <p:spPr>
          <a:xfrm>
            <a:off x="473075" y="2106295"/>
            <a:ext cx="3581400" cy="26670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图实例管理</a:t>
            </a:r>
            <a:endParaRPr lang="en-US" sz="1400" b="1">
              <a:solidFill>
                <a:srgbClr val="FFFFFF"/>
              </a:solidFill>
              <a:latin typeface="微软雅黑" panose="020B0503020204020204" charset="-122"/>
              <a:ea typeface="微软雅黑" panose="020B0503020204020204" charset="-122"/>
            </a:endParaRPr>
          </a:p>
        </p:txBody>
      </p:sp>
      <p:sp>
        <p:nvSpPr>
          <p:cNvPr id="18" name="m3-content"/>
          <p:cNvSpPr txBox="1"/>
          <p:nvPr>
            <p:custDataLst>
              <p:tags r:id="rId4"/>
            </p:custDataLst>
          </p:nvPr>
        </p:nvSpPr>
        <p:spPr>
          <a:xfrm>
            <a:off x="473075" y="2506345"/>
            <a:ext cx="3581400" cy="1943100"/>
          </a:xfrm>
          <a:prstGeom prst="rect">
            <a:avLst/>
          </a:prstGeom>
          <a:noFill/>
          <a:ln>
            <a:noFill/>
          </a:ln>
        </p:spPr>
        <p:txBody>
          <a:bodyPr wrap="square" lIns="0" tIns="0" rIns="0" bIns="0" rtlCol="0"/>
          <a:lstStyle/>
          <a:p>
            <a:pPr>
              <a:lnSpc>
                <a:spcPct val="160000"/>
              </a:lnSpc>
            </a:pPr>
            <a:r>
              <a:rPr lang="en-US" sz="1030" b="1">
                <a:solidFill>
                  <a:srgbClr val="2563EB"/>
                </a:solidFill>
                <a:latin typeface="微软雅黑" panose="020B0503020204020204" charset="-122"/>
                <a:ea typeface="微软雅黑" panose="020B0503020204020204" charset="-122"/>
                <a:cs typeface="微软雅黑" panose="020B0503020204020204" charset="-122"/>
              </a:rPr>
              <a:t>图实例：独立知识图谱空间</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每个图实例是一个完整的独立图谱空间，用于区分不同业务领域的知识图谱，</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示例如下</a:t>
            </a:r>
            <a:r>
              <a:rPr lang="en-US" sz="1030">
                <a:solidFill>
                  <a:srgbClr val="1E293B"/>
                </a:solidFill>
                <a:latin typeface="微软雅黑" panose="020B0503020204020204" charset="-122"/>
                <a:ea typeface="微软雅黑" panose="020B0503020204020204" charset="-122"/>
                <a:cs typeface="微软雅黑" panose="020B0503020204020204" charset="-122"/>
              </a:rPr>
              <a:t>：</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spcBef>
                <a:spcPts val="400"/>
              </a:spcBef>
            </a:pPr>
            <a:r>
              <a:rPr lang="en-US" sz="1030" b="1">
                <a:solidFill>
                  <a:srgbClr val="1E293B"/>
                </a:solidFill>
                <a:latin typeface="微软雅黑" panose="020B0503020204020204" charset="-122"/>
                <a:ea typeface="微软雅黑" panose="020B0503020204020204" charset="-122"/>
                <a:cs typeface="微软雅黑" panose="020B0503020204020204" charset="-122"/>
              </a:rPr>
              <a:t>• 授信合同图实例</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存储所有授信合同相关实体和关系</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spcBef>
                <a:spcPts val="400"/>
              </a:spcBef>
            </a:pPr>
            <a:r>
              <a:rPr lang="en-US" sz="1030" b="1">
                <a:solidFill>
                  <a:srgbClr val="1E293B"/>
                </a:solidFill>
                <a:latin typeface="微软雅黑" panose="020B0503020204020204" charset="-122"/>
                <a:ea typeface="微软雅黑" panose="020B0503020204020204" charset="-122"/>
                <a:cs typeface="微软雅黑" panose="020B0503020204020204" charset="-122"/>
              </a:rPr>
              <a:t>• 司法诉讼图实例</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存储所有司法诉讼相关实体和关系</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spcBef>
                <a:spcPts val="400"/>
              </a:spcBef>
            </a:pPr>
            <a:r>
              <a:rPr lang="en-US" sz="1030" b="1">
                <a:solidFill>
                  <a:srgbClr val="1E293B"/>
                </a:solidFill>
                <a:latin typeface="微软雅黑" panose="020B0503020204020204" charset="-122"/>
                <a:ea typeface="微软雅黑" panose="020B0503020204020204" charset="-122"/>
                <a:cs typeface="微软雅黑" panose="020B0503020204020204" charset="-122"/>
              </a:rPr>
              <a:t>• 企业经营图实例</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存储所有企业经营相关实体和关系</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7" name="m1-bg"/>
          <p:cNvSpPr/>
          <p:nvPr>
            <p:custDataLst>
              <p:tags r:id="rId5"/>
            </p:custDataLst>
          </p:nvPr>
        </p:nvSpPr>
        <p:spPr>
          <a:xfrm>
            <a:off x="8075295" y="2076450"/>
            <a:ext cx="3619500" cy="4570095"/>
          </a:xfrm>
          <a:prstGeom prst="roundRect">
            <a:avLst>
              <a:gd name="adj" fmla="val 2000"/>
            </a:avLst>
          </a:prstGeom>
          <a:solidFill>
            <a:srgbClr val="FFFFFF"/>
          </a:solidFill>
          <a:ln w="12700">
            <a:solidFill>
              <a:srgbClr val="BFDBFE"/>
            </a:solidFill>
          </a:ln>
        </p:spPr>
      </p:sp>
      <p:sp>
        <p:nvSpPr>
          <p:cNvPr id="8" name="m1-header"/>
          <p:cNvSpPr/>
          <p:nvPr>
            <p:custDataLst>
              <p:tags r:id="rId6"/>
            </p:custDataLst>
          </p:nvPr>
        </p:nvSpPr>
        <p:spPr>
          <a:xfrm>
            <a:off x="8075295" y="2076450"/>
            <a:ext cx="3619500" cy="304800"/>
          </a:xfrm>
          <a:prstGeom prst="roundRect">
            <a:avLst>
              <a:gd name="adj" fmla="val 2000"/>
            </a:avLst>
          </a:prstGeom>
          <a:solidFill>
            <a:srgbClr val="2563EB"/>
          </a:solidFill>
          <a:ln>
            <a:noFill/>
          </a:ln>
        </p:spPr>
      </p:sp>
      <p:sp>
        <p:nvSpPr>
          <p:cNvPr id="9" name="m1-header-text"/>
          <p:cNvSpPr txBox="1"/>
          <p:nvPr>
            <p:custDataLst>
              <p:tags r:id="rId7"/>
            </p:custDataLst>
          </p:nvPr>
        </p:nvSpPr>
        <p:spPr>
          <a:xfrm>
            <a:off x="8227695" y="2095500"/>
            <a:ext cx="3314700" cy="26670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图本体</a:t>
            </a:r>
            <a:r>
              <a:rPr lang="zh-CN" altLang="en-US" sz="1400" b="1">
                <a:solidFill>
                  <a:srgbClr val="FFFFFF"/>
                </a:solidFill>
                <a:latin typeface="微软雅黑" panose="020B0503020204020204" charset="-122"/>
                <a:ea typeface="微软雅黑" panose="020B0503020204020204" charset="-122"/>
              </a:rPr>
              <a:t>编辑</a:t>
            </a:r>
            <a:endParaRPr lang="en-US" altLang="zh-CN" sz="1400" b="1">
              <a:solidFill>
                <a:srgbClr val="FFFFFF"/>
              </a:solidFill>
              <a:latin typeface="微软雅黑" panose="020B0503020204020204" charset="-122"/>
              <a:ea typeface="微软雅黑" panose="020B0503020204020204" charset="-122"/>
            </a:endParaRPr>
          </a:p>
        </p:txBody>
      </p:sp>
      <p:sp>
        <p:nvSpPr>
          <p:cNvPr id="10" name="m1-content"/>
          <p:cNvSpPr txBox="1"/>
          <p:nvPr>
            <p:custDataLst>
              <p:tags r:id="rId8"/>
            </p:custDataLst>
          </p:nvPr>
        </p:nvSpPr>
        <p:spPr>
          <a:xfrm>
            <a:off x="8227695" y="2495550"/>
            <a:ext cx="3314700" cy="1943100"/>
          </a:xfrm>
          <a:prstGeom prst="rect">
            <a:avLst/>
          </a:prstGeom>
          <a:noFill/>
          <a:ln>
            <a:noFill/>
          </a:ln>
        </p:spPr>
        <p:txBody>
          <a:bodyPr wrap="square" lIns="0" tIns="0" rIns="0" bIns="0" rtlCol="0"/>
          <a:lstStyle/>
          <a:p>
            <a:pPr>
              <a:lnSpc>
                <a:spcPct val="160000"/>
              </a:lnSpc>
            </a:pPr>
            <a:r>
              <a:rPr lang="en-US" sz="1030" b="1">
                <a:solidFill>
                  <a:srgbClr val="2563EB"/>
                </a:solidFill>
                <a:latin typeface="微软雅黑" panose="020B0503020204020204" charset="-122"/>
                <a:ea typeface="微软雅黑" panose="020B0503020204020204" charset="-122"/>
                <a:cs typeface="微软雅黑" panose="020B0503020204020204" charset="-122"/>
              </a:rPr>
              <a:t>可视化定义本体</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实体类型</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定义</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sym typeface="+mn-ea"/>
              </a:rPr>
              <a:t>• </a:t>
            </a:r>
            <a:r>
              <a:rPr lang="en-US" sz="1030">
                <a:solidFill>
                  <a:srgbClr val="1E293B"/>
                </a:solidFill>
                <a:latin typeface="微软雅黑" panose="020B0503020204020204" charset="-122"/>
                <a:ea typeface="微软雅黑" panose="020B0503020204020204" charset="-122"/>
                <a:cs typeface="微软雅黑" panose="020B0503020204020204" charset="-122"/>
              </a:rPr>
              <a:t>关系类型定义</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属性定义</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spcBef>
                <a:spcPts val="600"/>
              </a:spcBef>
            </a:pPr>
            <a:r>
              <a:rPr lang="en-US" sz="1030" b="1">
                <a:solidFill>
                  <a:srgbClr val="2563EB"/>
                </a:solidFill>
                <a:latin typeface="微软雅黑" panose="020B0503020204020204" charset="-122"/>
                <a:ea typeface="微软雅黑" panose="020B0503020204020204" charset="-122"/>
                <a:cs typeface="微软雅黑" panose="020B0503020204020204" charset="-122"/>
              </a:rPr>
              <a:t>生命周期管控</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本体版本管理、审核发布全流程</a:t>
            </a:r>
            <a:endParaRPr lang="en-US" sz="103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11" name="m2-bg"/>
          <p:cNvSpPr/>
          <p:nvPr>
            <p:custDataLst>
              <p:tags r:id="rId9"/>
            </p:custDataLst>
          </p:nvPr>
        </p:nvSpPr>
        <p:spPr>
          <a:xfrm>
            <a:off x="4331335" y="2073910"/>
            <a:ext cx="3619500" cy="4582795"/>
          </a:xfrm>
          <a:prstGeom prst="roundRect">
            <a:avLst>
              <a:gd name="adj" fmla="val 2000"/>
            </a:avLst>
          </a:prstGeom>
          <a:solidFill>
            <a:srgbClr val="FFFFFF"/>
          </a:solidFill>
          <a:ln w="12700">
            <a:solidFill>
              <a:srgbClr val="BFDBFE"/>
            </a:solidFill>
          </a:ln>
        </p:spPr>
      </p:sp>
      <p:sp>
        <p:nvSpPr>
          <p:cNvPr id="12" name="m2-header"/>
          <p:cNvSpPr/>
          <p:nvPr>
            <p:custDataLst>
              <p:tags r:id="rId10"/>
            </p:custDataLst>
          </p:nvPr>
        </p:nvSpPr>
        <p:spPr>
          <a:xfrm>
            <a:off x="4331335" y="2073910"/>
            <a:ext cx="3619500" cy="304800"/>
          </a:xfrm>
          <a:prstGeom prst="roundRect">
            <a:avLst>
              <a:gd name="adj" fmla="val 2000"/>
            </a:avLst>
          </a:prstGeom>
          <a:solidFill>
            <a:srgbClr val="2563EB"/>
          </a:solidFill>
          <a:ln>
            <a:noFill/>
          </a:ln>
        </p:spPr>
      </p:sp>
      <p:sp>
        <p:nvSpPr>
          <p:cNvPr id="13" name="m2-header-text"/>
          <p:cNvSpPr txBox="1"/>
          <p:nvPr>
            <p:custDataLst>
              <p:tags r:id="rId11"/>
            </p:custDataLst>
          </p:nvPr>
        </p:nvSpPr>
        <p:spPr>
          <a:xfrm>
            <a:off x="4483735" y="2092960"/>
            <a:ext cx="3314700" cy="26670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cs typeface="微软雅黑" panose="020B0503020204020204" charset="-122"/>
              </a:rPr>
              <a:t>图本体AI生成</a:t>
            </a:r>
            <a:endParaRPr lang="en-US" sz="14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m2-content"/>
          <p:cNvSpPr txBox="1"/>
          <p:nvPr>
            <p:custDataLst>
              <p:tags r:id="rId12"/>
            </p:custDataLst>
          </p:nvPr>
        </p:nvSpPr>
        <p:spPr>
          <a:xfrm>
            <a:off x="4483735" y="2493010"/>
            <a:ext cx="3314700" cy="1943100"/>
          </a:xfrm>
          <a:prstGeom prst="rect">
            <a:avLst/>
          </a:prstGeom>
          <a:noFill/>
          <a:ln>
            <a:noFill/>
          </a:ln>
        </p:spPr>
        <p:txBody>
          <a:bodyPr wrap="square" lIns="0" tIns="0" rIns="0" bIns="0" rtlCol="0"/>
          <a:lstStyle/>
          <a:p>
            <a:pPr>
              <a:lnSpc>
                <a:spcPct val="160000"/>
              </a:lnSpc>
            </a:pPr>
            <a:r>
              <a:rPr lang="en-US" sz="1030" b="1">
                <a:solidFill>
                  <a:srgbClr val="2563EB"/>
                </a:solidFill>
                <a:latin typeface="微软雅黑" panose="020B0503020204020204" charset="-122"/>
                <a:ea typeface="微软雅黑" panose="020B0503020204020204" charset="-122"/>
                <a:cs typeface="微软雅黑" panose="020B0503020204020204" charset="-122"/>
              </a:rPr>
              <a:t>智能</a:t>
            </a:r>
            <a:r>
              <a:rPr lang="zh-CN" altLang="en-US" sz="1030" b="1">
                <a:solidFill>
                  <a:srgbClr val="2563EB"/>
                </a:solidFill>
                <a:latin typeface="微软雅黑" panose="020B0503020204020204" charset="-122"/>
                <a:ea typeface="微软雅黑" panose="020B0503020204020204" charset="-122"/>
                <a:cs typeface="微软雅黑" panose="020B0503020204020204" charset="-122"/>
              </a:rPr>
              <a:t>图本体</a:t>
            </a:r>
            <a:r>
              <a:rPr lang="en-US" sz="1030" b="1">
                <a:solidFill>
                  <a:srgbClr val="2563EB"/>
                </a:solidFill>
                <a:latin typeface="微软雅黑" panose="020B0503020204020204" charset="-122"/>
                <a:ea typeface="微软雅黑" panose="020B0503020204020204" charset="-122"/>
                <a:cs typeface="微软雅黑" panose="020B0503020204020204" charset="-122"/>
              </a:rPr>
              <a:t>推荐</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上传业务样例文档</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大模型自动</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生成推荐的</a:t>
            </a:r>
            <a:r>
              <a:rPr lang="en-US" sz="1030">
                <a:solidFill>
                  <a:srgbClr val="1E293B"/>
                </a:solidFill>
                <a:latin typeface="微软雅黑" panose="020B0503020204020204" charset="-122"/>
                <a:ea typeface="微软雅黑" panose="020B0503020204020204" charset="-122"/>
                <a:cs typeface="微软雅黑" panose="020B0503020204020204" charset="-122"/>
              </a:rPr>
              <a:t>专题</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图本体</a:t>
            </a:r>
            <a:r>
              <a:rPr lang="en-US" sz="1030">
                <a:solidFill>
                  <a:srgbClr val="1E293B"/>
                </a:solidFill>
                <a:latin typeface="微软雅黑" panose="020B0503020204020204" charset="-122"/>
                <a:ea typeface="微软雅黑" panose="020B0503020204020204" charset="-122"/>
                <a:cs typeface="微软雅黑" panose="020B0503020204020204" charset="-122"/>
              </a:rPr>
              <a:t>设计</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en-US" sz="103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支持对专题图本体进行编辑修改</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spcBef>
                <a:spcPts val="600"/>
              </a:spcBef>
            </a:pPr>
            <a:r>
              <a:rPr lang="en-US" sz="1030" b="1">
                <a:solidFill>
                  <a:srgbClr val="2563EB"/>
                </a:solidFill>
                <a:latin typeface="微软雅黑" panose="020B0503020204020204" charset="-122"/>
                <a:ea typeface="微软雅黑" panose="020B0503020204020204" charset="-122"/>
                <a:cs typeface="微软雅黑" panose="020B0503020204020204" charset="-122"/>
              </a:rPr>
              <a:t>AI生成示例</a:t>
            </a:r>
            <a:endParaRPr lang="en-US" sz="1030">
              <a:latin typeface="微软雅黑" panose="020B0503020204020204" charset="-122"/>
              <a:ea typeface="微软雅黑" panose="020B0503020204020204" charset="-122"/>
              <a:cs typeface="微软雅黑" panose="020B0503020204020204" charset="-122"/>
            </a:endParaRPr>
          </a:p>
          <a:p>
            <a:pPr>
              <a:lnSpc>
                <a:spcPct val="160000"/>
              </a:lnSpc>
            </a:pPr>
            <a:r>
              <a:rPr lang="zh-CN" altLang="en-US" sz="1030">
                <a:solidFill>
                  <a:srgbClr val="1E293B"/>
                </a:solidFill>
                <a:latin typeface="微软雅黑" panose="020B0503020204020204" charset="-122"/>
                <a:ea typeface="微软雅黑" panose="020B0503020204020204" charset="-122"/>
                <a:cs typeface="微软雅黑" panose="020B0503020204020204" charset="-122"/>
              </a:rPr>
              <a:t>上传</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1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份明细实体文档（审计报告）</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a:t>
            </a:r>
            <a:r>
              <a:rPr lang="en-US" altLang="en-US" sz="1030">
                <a:solidFill>
                  <a:srgbClr val="1E293B"/>
                </a:solidFill>
                <a:latin typeface="微软雅黑" panose="020B0503020204020204" charset="-122"/>
                <a:ea typeface="微软雅黑" panose="020B0503020204020204" charset="-122"/>
                <a:cs typeface="微软雅黑" panose="020B0503020204020204" charset="-122"/>
              </a:rPr>
              <a:t>→</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AI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自动抽取推荐：</a:t>
            </a:r>
            <a:endParaRPr lang="zh-CN" altLang="en-US" sz="103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实体：审计场景</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审计重点</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审计要点</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审计指标</a:t>
            </a:r>
            <a:endParaRPr lang="zh-CN" altLang="en-US" sz="103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r>
              <a:rPr lang="zh-CN" altLang="en-US" sz="1030">
                <a:solidFill>
                  <a:srgbClr val="1E293B"/>
                </a:solidFill>
                <a:latin typeface="微软雅黑" panose="020B0503020204020204" charset="-122"/>
                <a:ea typeface="微软雅黑" panose="020B0503020204020204" charset="-122"/>
                <a:cs typeface="微软雅黑" panose="020B0503020204020204" charset="-122"/>
              </a:rPr>
              <a:t>关系：审计场景</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审计重点</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审计重点</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审计要点</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 / </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审计要点</a:t>
            </a:r>
            <a:r>
              <a:rPr lang="en-US" altLang="zh-CN" sz="103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030">
                <a:solidFill>
                  <a:srgbClr val="1E293B"/>
                </a:solidFill>
                <a:latin typeface="微软雅黑" panose="020B0503020204020204" charset="-122"/>
                <a:ea typeface="微软雅黑" panose="020B0503020204020204" charset="-122"/>
                <a:cs typeface="微软雅黑" panose="020B0503020204020204" charset="-122"/>
              </a:rPr>
              <a:t>审计指标</a:t>
            </a:r>
            <a:endParaRPr lang="zh-CN" altLang="en-US" sz="1030">
              <a:solidFill>
                <a:srgbClr val="1E293B"/>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custDataLst>
              <p:tags r:id="rId13"/>
            </p:custDataLst>
          </p:nvPr>
        </p:nvPicPr>
        <p:blipFill>
          <a:blip r:embed="rId14"/>
          <a:stretch>
            <a:fillRect/>
          </a:stretch>
        </p:blipFill>
        <p:spPr>
          <a:xfrm>
            <a:off x="4455160" y="4963160"/>
            <a:ext cx="3315335" cy="1526540"/>
          </a:xfrm>
          <a:prstGeom prst="rect">
            <a:avLst/>
          </a:prstGeom>
        </p:spPr>
      </p:pic>
      <p:pic>
        <p:nvPicPr>
          <p:cNvPr id="4" name="图片 3"/>
          <p:cNvPicPr>
            <a:picLocks noChangeAspect="1"/>
          </p:cNvPicPr>
          <p:nvPr>
            <p:custDataLst>
              <p:tags r:id="rId15"/>
            </p:custDataLst>
          </p:nvPr>
        </p:nvPicPr>
        <p:blipFill>
          <a:blip r:embed="rId16"/>
          <a:stretch>
            <a:fillRect/>
          </a:stretch>
        </p:blipFill>
        <p:spPr>
          <a:xfrm>
            <a:off x="334645" y="4965700"/>
            <a:ext cx="3829050" cy="1410970"/>
          </a:xfrm>
          <a:prstGeom prst="rect">
            <a:avLst/>
          </a:prstGeom>
        </p:spPr>
      </p:pic>
      <p:pic>
        <p:nvPicPr>
          <p:cNvPr id="5" name="图片 4"/>
          <p:cNvPicPr>
            <a:picLocks noChangeAspect="1"/>
          </p:cNvPicPr>
          <p:nvPr>
            <p:custDataLst>
              <p:tags r:id="rId17"/>
            </p:custDataLst>
          </p:nvPr>
        </p:nvPicPr>
        <p:blipFill>
          <a:blip r:embed="rId18"/>
          <a:stretch>
            <a:fillRect/>
          </a:stretch>
        </p:blipFill>
        <p:spPr>
          <a:xfrm>
            <a:off x="8227695" y="4819015"/>
            <a:ext cx="3115310" cy="1718310"/>
          </a:xfrm>
          <a:prstGeom prst="rect">
            <a:avLst/>
          </a:prstGeom>
        </p:spPr>
      </p:pic>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专题知识图谱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3" name="矩形 52"/>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ight-bg"/>
          <p:cNvSpPr/>
          <p:nvPr/>
        </p:nvSpPr>
        <p:spPr>
          <a:xfrm>
            <a:off x="4563110" y="2091690"/>
            <a:ext cx="7268845" cy="4440555"/>
          </a:xfrm>
          <a:prstGeom prst="roundRect">
            <a:avLst>
              <a:gd name="adj" fmla="val 2000"/>
            </a:avLst>
          </a:prstGeom>
          <a:solidFill>
            <a:srgbClr val="FFFFFF"/>
          </a:solidFill>
          <a:ln w="12700">
            <a:solidFill>
              <a:srgbClr val="BFDBFE"/>
            </a:solidFill>
          </a:ln>
        </p:spPr>
      </p:sp>
      <p:sp>
        <p:nvSpPr>
          <p:cNvPr id="13" name="right-header"/>
          <p:cNvSpPr/>
          <p:nvPr/>
        </p:nvSpPr>
        <p:spPr>
          <a:xfrm>
            <a:off x="4563110" y="2091690"/>
            <a:ext cx="7268845" cy="290830"/>
          </a:xfrm>
          <a:prstGeom prst="roundRect">
            <a:avLst>
              <a:gd name="adj" fmla="val 2000"/>
            </a:avLst>
          </a:prstGeom>
          <a:solidFill>
            <a:srgbClr val="2563EB"/>
          </a:solidFill>
          <a:ln>
            <a:noFill/>
          </a:ln>
        </p:spPr>
      </p:sp>
      <p:sp>
        <p:nvSpPr>
          <p:cNvPr id="14" name="right-header-icon"/>
          <p:cNvSpPr/>
          <p:nvPr/>
        </p:nvSpPr>
        <p:spPr>
          <a:xfrm>
            <a:off x="4715510" y="2148840"/>
            <a:ext cx="190500" cy="190500"/>
          </a:xfrm>
          <a:custGeom>
            <a:avLst/>
            <a:gdLst/>
            <a:ahLst/>
            <a:cxnLst/>
            <a:rect l="l" t="t" r="r" b="b"/>
            <a:pathLst>
              <a:path w="640" h="512">
                <a:moveTo>
                  <a:pt x="416" y="211"/>
                </a:moveTo>
                <a:cubicBezTo>
                  <a:pt x="428" y="207"/>
                  <a:pt x="441" y="213"/>
                  <a:pt x="446" y="224"/>
                </a:cubicBezTo>
                <a:lnTo>
                  <a:pt x="465" y="262"/>
                </a:lnTo>
                <a:cubicBezTo>
                  <a:pt x="475" y="263"/>
                  <a:pt x="485" y="266"/>
                  <a:pt x="495" y="270"/>
                </a:cubicBezTo>
                <a:lnTo>
                  <a:pt x="530" y="247"/>
                </a:lnTo>
                <a:cubicBezTo>
                  <a:pt x="540" y="240"/>
                  <a:pt x="554" y="241"/>
                  <a:pt x="563" y="250"/>
                </a:cubicBezTo>
                <a:lnTo>
                  <a:pt x="582" y="269"/>
                </a:lnTo>
                <a:cubicBezTo>
                  <a:pt x="591" y="278"/>
                  <a:pt x="593" y="292"/>
                  <a:pt x="586" y="303"/>
                </a:cubicBezTo>
                <a:lnTo>
                  <a:pt x="562" y="337"/>
                </a:lnTo>
                <a:cubicBezTo>
                  <a:pt x="564" y="342"/>
                  <a:pt x="566" y="347"/>
                  <a:pt x="567" y="352"/>
                </a:cubicBezTo>
                <a:cubicBezTo>
                  <a:pt x="569" y="357"/>
                  <a:pt x="570" y="362"/>
                  <a:pt x="570" y="367"/>
                </a:cubicBezTo>
                <a:lnTo>
                  <a:pt x="608" y="386"/>
                </a:lnTo>
                <a:cubicBezTo>
                  <a:pt x="619" y="392"/>
                  <a:pt x="625" y="404"/>
                  <a:pt x="622" y="416"/>
                </a:cubicBezTo>
                <a:lnTo>
                  <a:pt x="615" y="443"/>
                </a:lnTo>
                <a:cubicBezTo>
                  <a:pt x="612" y="455"/>
                  <a:pt x="600" y="463"/>
                  <a:pt x="588" y="462"/>
                </a:cubicBezTo>
                <a:lnTo>
                  <a:pt x="546" y="459"/>
                </a:lnTo>
                <a:cubicBezTo>
                  <a:pt x="539" y="468"/>
                  <a:pt x="532" y="475"/>
                  <a:pt x="524" y="481"/>
                </a:cubicBezTo>
                <a:lnTo>
                  <a:pt x="527" y="523"/>
                </a:lnTo>
                <a:cubicBezTo>
                  <a:pt x="527" y="536"/>
                  <a:pt x="519" y="547"/>
                  <a:pt x="507" y="551"/>
                </a:cubicBezTo>
                <a:lnTo>
                  <a:pt x="481" y="558"/>
                </a:lnTo>
                <a:cubicBezTo>
                  <a:pt x="469" y="561"/>
                  <a:pt x="456" y="555"/>
                  <a:pt x="450" y="544"/>
                </a:cubicBezTo>
                <a:lnTo>
                  <a:pt x="432" y="506"/>
                </a:lnTo>
                <a:cubicBezTo>
                  <a:pt x="421" y="505"/>
                  <a:pt x="411" y="502"/>
                  <a:pt x="402" y="498"/>
                </a:cubicBezTo>
                <a:lnTo>
                  <a:pt x="367" y="521"/>
                </a:lnTo>
                <a:cubicBezTo>
                  <a:pt x="356" y="528"/>
                  <a:pt x="342" y="527"/>
                  <a:pt x="334" y="518"/>
                </a:cubicBezTo>
                <a:lnTo>
                  <a:pt x="314" y="499"/>
                </a:lnTo>
                <a:cubicBezTo>
                  <a:pt x="305" y="490"/>
                  <a:pt x="304" y="476"/>
                  <a:pt x="311" y="466"/>
                </a:cubicBezTo>
                <a:lnTo>
                  <a:pt x="334" y="431"/>
                </a:lnTo>
                <a:cubicBezTo>
                  <a:pt x="332" y="426"/>
                  <a:pt x="331" y="421"/>
                  <a:pt x="329" y="416"/>
                </a:cubicBezTo>
                <a:cubicBezTo>
                  <a:pt x="328" y="411"/>
                  <a:pt x="327" y="406"/>
                  <a:pt x="326" y="401"/>
                </a:cubicBezTo>
                <a:lnTo>
                  <a:pt x="289" y="382"/>
                </a:lnTo>
                <a:cubicBezTo>
                  <a:pt x="277" y="376"/>
                  <a:pt x="272" y="364"/>
                  <a:pt x="275" y="352"/>
                </a:cubicBezTo>
                <a:lnTo>
                  <a:pt x="282" y="325"/>
                </a:lnTo>
                <a:cubicBezTo>
                  <a:pt x="285" y="313"/>
                  <a:pt x="296" y="305"/>
                  <a:pt x="309" y="306"/>
                </a:cubicBezTo>
                <a:lnTo>
                  <a:pt x="351" y="309"/>
                </a:lnTo>
                <a:cubicBezTo>
                  <a:pt x="357" y="300"/>
                  <a:pt x="365" y="293"/>
                  <a:pt x="373" y="287"/>
                </a:cubicBezTo>
                <a:lnTo>
                  <a:pt x="370" y="245"/>
                </a:lnTo>
                <a:cubicBezTo>
                  <a:pt x="369" y="232"/>
                  <a:pt x="377" y="221"/>
                  <a:pt x="390" y="218"/>
                </a:cubicBezTo>
                <a:lnTo>
                  <a:pt x="416" y="211"/>
                </a:lnTo>
                <a:close/>
                <a:moveTo>
                  <a:pt x="448" y="340"/>
                </a:moveTo>
                <a:cubicBezTo>
                  <a:pt x="424" y="340"/>
                  <a:pt x="404" y="360"/>
                  <a:pt x="404" y="384"/>
                </a:cubicBezTo>
                <a:cubicBezTo>
                  <a:pt x="404" y="408"/>
                  <a:pt x="424" y="428"/>
                  <a:pt x="449" y="428"/>
                </a:cubicBezTo>
                <a:cubicBezTo>
                  <a:pt x="473" y="428"/>
                  <a:pt x="492" y="408"/>
                  <a:pt x="492" y="384"/>
                </a:cubicBezTo>
                <a:cubicBezTo>
                  <a:pt x="492" y="360"/>
                  <a:pt x="473" y="340"/>
                  <a:pt x="448" y="340"/>
                </a:cubicBezTo>
                <a:close/>
              </a:path>
              <a:path w="640" h="512">
                <a:moveTo>
                  <a:pt x="225" y="-45"/>
                </a:moveTo>
                <a:lnTo>
                  <a:pt x="251" y="-38"/>
                </a:lnTo>
                <a:cubicBezTo>
                  <a:pt x="263" y="-35"/>
                  <a:pt x="271" y="-24"/>
                  <a:pt x="271" y="-11"/>
                </a:cubicBezTo>
                <a:lnTo>
                  <a:pt x="268" y="30"/>
                </a:lnTo>
                <a:cubicBezTo>
                  <a:pt x="276" y="37"/>
                  <a:pt x="284" y="44"/>
                  <a:pt x="290" y="53"/>
                </a:cubicBezTo>
                <a:lnTo>
                  <a:pt x="332" y="50"/>
                </a:lnTo>
                <a:cubicBezTo>
                  <a:pt x="344" y="49"/>
                  <a:pt x="356" y="57"/>
                  <a:pt x="359" y="69"/>
                </a:cubicBezTo>
                <a:lnTo>
                  <a:pt x="366" y="96"/>
                </a:lnTo>
                <a:cubicBezTo>
                  <a:pt x="369" y="108"/>
                  <a:pt x="364" y="120"/>
                  <a:pt x="352" y="126"/>
                </a:cubicBezTo>
                <a:lnTo>
                  <a:pt x="315" y="145"/>
                </a:lnTo>
                <a:cubicBezTo>
                  <a:pt x="314" y="150"/>
                  <a:pt x="313" y="155"/>
                  <a:pt x="312" y="160"/>
                </a:cubicBezTo>
                <a:cubicBezTo>
                  <a:pt x="310" y="165"/>
                  <a:pt x="308" y="170"/>
                  <a:pt x="307" y="174"/>
                </a:cubicBezTo>
                <a:lnTo>
                  <a:pt x="330" y="209"/>
                </a:lnTo>
                <a:cubicBezTo>
                  <a:pt x="337" y="220"/>
                  <a:pt x="335" y="234"/>
                  <a:pt x="327" y="243"/>
                </a:cubicBezTo>
                <a:lnTo>
                  <a:pt x="307" y="262"/>
                </a:lnTo>
                <a:cubicBezTo>
                  <a:pt x="298" y="271"/>
                  <a:pt x="285" y="272"/>
                  <a:pt x="274" y="265"/>
                </a:cubicBezTo>
                <a:lnTo>
                  <a:pt x="239" y="242"/>
                </a:lnTo>
                <a:cubicBezTo>
                  <a:pt x="230" y="246"/>
                  <a:pt x="219" y="249"/>
                  <a:pt x="209" y="250"/>
                </a:cubicBezTo>
                <a:lnTo>
                  <a:pt x="191" y="288"/>
                </a:lnTo>
                <a:cubicBezTo>
                  <a:pt x="185" y="299"/>
                  <a:pt x="172" y="305"/>
                  <a:pt x="160" y="302"/>
                </a:cubicBezTo>
                <a:lnTo>
                  <a:pt x="134" y="295"/>
                </a:lnTo>
                <a:cubicBezTo>
                  <a:pt x="122" y="291"/>
                  <a:pt x="114" y="280"/>
                  <a:pt x="114" y="267"/>
                </a:cubicBezTo>
                <a:lnTo>
                  <a:pt x="117" y="225"/>
                </a:lnTo>
                <a:cubicBezTo>
                  <a:pt x="109" y="219"/>
                  <a:pt x="101" y="212"/>
                  <a:pt x="95" y="203"/>
                </a:cubicBezTo>
                <a:lnTo>
                  <a:pt x="53" y="206"/>
                </a:lnTo>
                <a:cubicBezTo>
                  <a:pt x="41" y="207"/>
                  <a:pt x="29" y="199"/>
                  <a:pt x="26" y="187"/>
                </a:cubicBezTo>
                <a:lnTo>
                  <a:pt x="19" y="160"/>
                </a:lnTo>
                <a:cubicBezTo>
                  <a:pt x="16" y="148"/>
                  <a:pt x="21" y="136"/>
                  <a:pt x="33" y="130"/>
                </a:cubicBezTo>
                <a:lnTo>
                  <a:pt x="70" y="111"/>
                </a:lnTo>
                <a:cubicBezTo>
                  <a:pt x="71" y="106"/>
                  <a:pt x="72" y="101"/>
                  <a:pt x="73" y="96"/>
                </a:cubicBezTo>
                <a:cubicBezTo>
                  <a:pt x="75" y="91"/>
                  <a:pt x="76" y="86"/>
                  <a:pt x="78" y="81"/>
                </a:cubicBezTo>
                <a:lnTo>
                  <a:pt x="55" y="47"/>
                </a:lnTo>
                <a:cubicBezTo>
                  <a:pt x="48" y="36"/>
                  <a:pt x="50" y="22"/>
                  <a:pt x="58" y="13"/>
                </a:cubicBezTo>
                <a:lnTo>
                  <a:pt x="78" y="-6"/>
                </a:lnTo>
                <a:cubicBezTo>
                  <a:pt x="87" y="-15"/>
                  <a:pt x="100" y="-16"/>
                  <a:pt x="111" y="-9"/>
                </a:cubicBezTo>
                <a:lnTo>
                  <a:pt x="146" y="14"/>
                </a:lnTo>
                <a:cubicBezTo>
                  <a:pt x="155" y="10"/>
                  <a:pt x="165" y="7"/>
                  <a:pt x="176" y="6"/>
                </a:cubicBezTo>
                <a:lnTo>
                  <a:pt x="194" y="-32"/>
                </a:lnTo>
                <a:cubicBezTo>
                  <a:pt x="200" y="-43"/>
                  <a:pt x="213" y="-49"/>
                  <a:pt x="225" y="-45"/>
                </a:cubicBezTo>
                <a:close/>
                <a:moveTo>
                  <a:pt x="192" y="84"/>
                </a:moveTo>
                <a:cubicBezTo>
                  <a:pt x="168" y="84"/>
                  <a:pt x="148" y="104"/>
                  <a:pt x="148" y="128"/>
                </a:cubicBezTo>
                <a:cubicBezTo>
                  <a:pt x="148" y="152"/>
                  <a:pt x="168" y="172"/>
                  <a:pt x="192" y="172"/>
                </a:cubicBezTo>
                <a:cubicBezTo>
                  <a:pt x="217" y="172"/>
                  <a:pt x="236" y="152"/>
                  <a:pt x="236" y="128"/>
                </a:cubicBezTo>
                <a:cubicBezTo>
                  <a:pt x="236" y="104"/>
                  <a:pt x="217" y="84"/>
                  <a:pt x="192" y="84"/>
                </a:cubicBezTo>
                <a:close/>
              </a:path>
            </a:pathLst>
          </a:custGeom>
          <a:solidFill>
            <a:srgbClr val="FFFFFF"/>
          </a:solidFill>
          <a:ln>
            <a:noFill/>
          </a:ln>
        </p:spPr>
      </p:sp>
      <p:sp>
        <p:nvSpPr>
          <p:cNvPr id="15" name="right-header-text"/>
          <p:cNvSpPr txBox="1"/>
          <p:nvPr/>
        </p:nvSpPr>
        <p:spPr>
          <a:xfrm>
            <a:off x="4963160" y="2110740"/>
            <a:ext cx="5181600" cy="26670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多模态解析配置</a:t>
            </a:r>
            <a:endParaRPr lang="en-US" sz="1400" b="1">
              <a:solidFill>
                <a:srgbClr val="FFFFFF"/>
              </a:solidFill>
              <a:latin typeface="微软雅黑" panose="020B0503020204020204" charset="-122"/>
              <a:ea typeface="微软雅黑" panose="020B0503020204020204" charset="-122"/>
            </a:endParaRPr>
          </a:p>
        </p:txBody>
      </p:sp>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2.3.2 专题知识图谱加工-文档结构化解析</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320675" y="922020"/>
            <a:ext cx="1162367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支持多模态非结构化文档的智能解析，将</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PDF</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、扫描件、图片等格式的文档转换为可处理的结构化内容，</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精准还原文档中的文字、表格、版式与语义关系，为后续知识抽取、图谱构建等环节提供高质量、标准化的基础输入。</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graphicFrame>
        <p:nvGraphicFramePr>
          <p:cNvPr id="6" name="Table 6"/>
          <p:cNvGraphicFramePr>
            <a:graphicFrameLocks noGrp="1"/>
          </p:cNvGraphicFramePr>
          <p:nvPr>
            <p:custDataLst>
              <p:tags r:id="rId1"/>
            </p:custDataLst>
          </p:nvPr>
        </p:nvGraphicFramePr>
        <p:xfrm>
          <a:off x="4732655" y="2921000"/>
          <a:ext cx="6839585" cy="3402965"/>
        </p:xfrm>
        <a:graphic>
          <a:graphicData uri="http://schemas.openxmlformats.org/drawingml/2006/table">
            <a:tbl>
              <a:tblPr>
                <a:effectLst/>
              </a:tblPr>
              <a:tblGrid>
                <a:gridCol w="1243330"/>
                <a:gridCol w="2332355"/>
                <a:gridCol w="1398905"/>
                <a:gridCol w="1864995"/>
              </a:tblGrid>
              <a:tr h="418465">
                <a:tc>
                  <a:txBody>
                    <a:bodyPr/>
                    <a:lstStyle/>
                    <a:p>
                      <a:pPr marL="0" indent="0" algn="ctr">
                        <a:lnSpc>
                          <a:spcPct val="100000"/>
                        </a:lnSpc>
                        <a:defRPr/>
                      </a:pPr>
                      <a:r>
                        <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rPr>
                        <a:t>解析类型</a:t>
                      </a:r>
                      <a:endPar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solidFill>
                      <a:srgbClr val="F0F5FB">
                        <a:alpha val="100000"/>
                      </a:srgbClr>
                    </a:solidFill>
                  </a:tcPr>
                </a:tc>
                <a:tc>
                  <a:txBody>
                    <a:bodyPr/>
                    <a:lstStyle/>
                    <a:p>
                      <a:pPr marL="0" indent="0" algn="ctr">
                        <a:lnSpc>
                          <a:spcPct val="100000"/>
                        </a:lnSpc>
                        <a:defRPr/>
                      </a:pPr>
                      <a:r>
                        <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rPr>
                        <a:t>支持能力</a:t>
                      </a:r>
                      <a:endPar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solidFill>
                      <a:srgbClr val="F0F5FB">
                        <a:alpha val="100000"/>
                      </a:srgbClr>
                    </a:solidFill>
                  </a:tcPr>
                </a:tc>
                <a:tc>
                  <a:txBody>
                    <a:bodyPr/>
                    <a:lstStyle/>
                    <a:p>
                      <a:pPr marL="0" indent="0" algn="ctr">
                        <a:lnSpc>
                          <a:spcPct val="100000"/>
                        </a:lnSpc>
                        <a:defRPr/>
                      </a:pPr>
                      <a:r>
                        <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rPr>
                        <a:t>工具方法</a:t>
                      </a:r>
                      <a:endPar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solidFill>
                      <a:srgbClr val="F0F5FB">
                        <a:alpha val="100000"/>
                      </a:srgbClr>
                    </a:solidFill>
                  </a:tcPr>
                </a:tc>
                <a:tc>
                  <a:txBody>
                    <a:bodyPr/>
                    <a:lstStyle/>
                    <a:p>
                      <a:pPr marL="0" indent="0" algn="ctr">
                        <a:lnSpc>
                          <a:spcPct val="100000"/>
                        </a:lnSpc>
                        <a:defRPr/>
                      </a:pPr>
                      <a:r>
                        <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rPr>
                        <a:t>解决痛点</a:t>
                      </a:r>
                      <a:endParaRPr lang="en-US" sz="1100" b="1" i="0" u="none" strike="noStrike">
                        <a:solidFill>
                          <a:srgbClr val="2E75B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solidFill>
                      <a:srgbClr val="F0F5FB">
                        <a:alpha val="100000"/>
                      </a:srgbClr>
                    </a:solidFill>
                  </a:tcPr>
                </a:tc>
              </a:tr>
              <a:tr h="746760">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扫描件/图片文档</a:t>
                      </a:r>
                      <a:endPar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支持PDF扫描件、盖章文件、手写签字文档的文字识别，保留排版结构</a:t>
                      </a:r>
                      <a:endPar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PaddleOCR+VLM多模态校验</a:t>
                      </a:r>
                      <a:endPar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解决传统OCR识别错字率高、排版混乱问题，识别准确率达98%以上</a:t>
                      </a:r>
                      <a:endPar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r>
              <a:tr h="746125">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长表格/嵌套表格</a:t>
                      </a:r>
                      <a:endPar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支持跨页长表格、单元格嵌套表格、合并单元格的结构化识别，保留行列关系</a:t>
                      </a:r>
                      <a:endPar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MinerU表格解析引擎+结构还原</a:t>
                      </a:r>
                      <a:endPar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解决传统解析表格错位、嵌套结构丢失问题，表格数据可直接用于要素抽取</a:t>
                      </a:r>
                      <a:endPar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r>
              <a:tr h="745490">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印章/手写签字</a:t>
                      </a:r>
                      <a:endPar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自动识别文档中印章位置、盖章单位、手写签字位置与签字人</a:t>
                      </a:r>
                      <a:endPar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目标检测模型+印章库比对</a:t>
                      </a:r>
                      <a:endPar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自动识别文档有效性，无需人工检查盖章签字，提升审核效率</a:t>
                      </a:r>
                      <a:endPar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r>
              <a:tr h="746125">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公式/特殊符号</a:t>
                      </a:r>
                      <a:endParaRPr lang="en-US" sz="1100" b="0"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识别财务公式、利率符号、编号等特殊格式内容</a:t>
                      </a:r>
                      <a:endPar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LaTeX公式识别+正则校验</a:t>
                      </a:r>
                      <a:endParaRPr lang="en-US" sz="1100" b="0"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c>
                  <a:txBody>
                    <a:bodyPr/>
                    <a:lstStyle/>
                    <a:p>
                      <a:pPr marL="0" indent="0" algn="ctr">
                        <a:lnSpc>
                          <a:spcPct val="108000"/>
                        </a:lnSpc>
                        <a:defRPr/>
                      </a:pPr>
                      <a:r>
                        <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解决传统解析特殊符号乱码问题，保证财务、利率类数据识别准确</a:t>
                      </a:r>
                      <a:endParaRPr lang="en-US" sz="1100" b="0"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cap="flat" cmpd="sng" algn="ctr">
                      <a:solidFill>
                        <a:srgbClr val="2E75B6"/>
                      </a:solidFill>
                      <a:prstDash val="solid"/>
                      <a:round/>
                      <a:headEnd type="none" w="med" len="med"/>
                      <a:tailEnd type="none" w="med" len="med"/>
                    </a:lnL>
                    <a:lnR w="12700" cap="flat" cmpd="sng" algn="ctr">
                      <a:solidFill>
                        <a:srgbClr val="2E75B6"/>
                      </a:solidFill>
                      <a:prstDash val="solid"/>
                      <a:round/>
                      <a:headEnd type="none" w="med" len="med"/>
                      <a:tailEnd type="none" w="med" len="med"/>
                    </a:lnR>
                    <a:lnT w="12700" cap="flat" cmpd="sng" algn="ctr">
                      <a:solidFill>
                        <a:srgbClr val="2E75B6"/>
                      </a:solidFill>
                      <a:prstDash val="solid"/>
                      <a:round/>
                      <a:headEnd type="none" w="med" len="med"/>
                      <a:tailEnd type="none" w="med" len="med"/>
                    </a:lnT>
                    <a:lnB w="12700" cap="flat" cmpd="sng" algn="ctr">
                      <a:solidFill>
                        <a:srgbClr val="2E75B6"/>
                      </a:solidFill>
                      <a:prstDash val="solid"/>
                      <a:round/>
                      <a:headEnd type="none" w="med" len="med"/>
                      <a:tailEnd type="none" w="med" len="med"/>
                    </a:lnB>
                    <a:noFill/>
                  </a:tcPr>
                </a:tc>
              </a:tr>
            </a:tbl>
          </a:graphicData>
        </a:graphic>
      </p:graphicFrame>
      <p:sp>
        <p:nvSpPr>
          <p:cNvPr id="7" name="left-bg"/>
          <p:cNvSpPr/>
          <p:nvPr/>
        </p:nvSpPr>
        <p:spPr>
          <a:xfrm>
            <a:off x="474345" y="2072640"/>
            <a:ext cx="3272790" cy="4458970"/>
          </a:xfrm>
          <a:prstGeom prst="roundRect">
            <a:avLst>
              <a:gd name="adj" fmla="val 2000"/>
            </a:avLst>
          </a:prstGeom>
          <a:solidFill>
            <a:srgbClr val="FFFFFF"/>
          </a:solidFill>
          <a:ln w="12700">
            <a:solidFill>
              <a:srgbClr val="BFDBFE"/>
            </a:solidFill>
          </a:ln>
        </p:spPr>
      </p:sp>
      <p:sp>
        <p:nvSpPr>
          <p:cNvPr id="8" name="left-header"/>
          <p:cNvSpPr/>
          <p:nvPr/>
        </p:nvSpPr>
        <p:spPr>
          <a:xfrm>
            <a:off x="474345" y="2072640"/>
            <a:ext cx="3272790" cy="290830"/>
          </a:xfrm>
          <a:prstGeom prst="roundRect">
            <a:avLst>
              <a:gd name="adj" fmla="val 2000"/>
            </a:avLst>
          </a:prstGeom>
          <a:solidFill>
            <a:srgbClr val="2563EB"/>
          </a:solidFill>
          <a:ln>
            <a:noFill/>
          </a:ln>
        </p:spPr>
      </p:sp>
      <p:sp>
        <p:nvSpPr>
          <p:cNvPr id="9" name="left-header-icon"/>
          <p:cNvSpPr/>
          <p:nvPr/>
        </p:nvSpPr>
        <p:spPr>
          <a:xfrm>
            <a:off x="626745" y="2129790"/>
            <a:ext cx="190500" cy="190500"/>
          </a:xfrm>
          <a:custGeom>
            <a:avLst/>
            <a:gdLst/>
            <a:ahLst/>
            <a:cxnLst/>
            <a:rect l="l" t="t" r="r" b="b"/>
            <a:pathLst>
              <a:path w="576" h="512">
                <a:moveTo>
                  <a:pt x="56" y="226"/>
                </a:moveTo>
                <a:lnTo>
                  <a:pt x="32" y="296"/>
                </a:lnTo>
                <a:lnTo>
                  <a:pt x="32" y="96"/>
                </a:lnTo>
                <a:cubicBezTo>
                  <a:pt x="32" y="61"/>
                  <a:pt x="61" y="32"/>
                  <a:pt x="96" y="32"/>
                </a:cubicBezTo>
                <a:lnTo>
                  <a:pt x="235" y="32"/>
                </a:lnTo>
                <a:cubicBezTo>
                  <a:pt x="249" y="32"/>
                  <a:pt x="262" y="37"/>
                  <a:pt x="274" y="45"/>
                </a:cubicBezTo>
                <a:lnTo>
                  <a:pt x="312" y="74"/>
                </a:lnTo>
                <a:cubicBezTo>
                  <a:pt x="317" y="78"/>
                  <a:pt x="324" y="80"/>
                  <a:pt x="331" y="80"/>
                </a:cubicBezTo>
                <a:lnTo>
                  <a:pt x="448" y="80"/>
                </a:lnTo>
                <a:cubicBezTo>
                  <a:pt x="484" y="80"/>
                  <a:pt x="512" y="109"/>
                  <a:pt x="512" y="144"/>
                </a:cubicBezTo>
                <a:lnTo>
                  <a:pt x="512" y="160"/>
                </a:lnTo>
                <a:lnTo>
                  <a:pt x="147" y="160"/>
                </a:lnTo>
                <a:cubicBezTo>
                  <a:pt x="106" y="160"/>
                  <a:pt x="69" y="186"/>
                  <a:pt x="56" y="226"/>
                </a:cubicBezTo>
                <a:close/>
                <a:moveTo>
                  <a:pt x="478" y="448"/>
                </a:moveTo>
                <a:lnTo>
                  <a:pt x="99" y="448"/>
                </a:lnTo>
                <a:cubicBezTo>
                  <a:pt x="66" y="448"/>
                  <a:pt x="43" y="416"/>
                  <a:pt x="54" y="385"/>
                </a:cubicBezTo>
                <a:lnTo>
                  <a:pt x="102" y="241"/>
                </a:lnTo>
                <a:cubicBezTo>
                  <a:pt x="108" y="221"/>
                  <a:pt x="126" y="208"/>
                  <a:pt x="147" y="208"/>
                </a:cubicBezTo>
                <a:lnTo>
                  <a:pt x="526" y="208"/>
                </a:lnTo>
                <a:cubicBezTo>
                  <a:pt x="559" y="208"/>
                  <a:pt x="582" y="240"/>
                  <a:pt x="571" y="271"/>
                </a:cubicBezTo>
                <a:lnTo>
                  <a:pt x="523" y="415"/>
                </a:lnTo>
                <a:cubicBezTo>
                  <a:pt x="517" y="435"/>
                  <a:pt x="498" y="448"/>
                  <a:pt x="478" y="448"/>
                </a:cubicBezTo>
                <a:close/>
              </a:path>
            </a:pathLst>
          </a:custGeom>
          <a:solidFill>
            <a:srgbClr val="FFFFFF"/>
          </a:solidFill>
          <a:ln>
            <a:noFill/>
          </a:ln>
        </p:spPr>
      </p:sp>
      <p:sp>
        <p:nvSpPr>
          <p:cNvPr id="10" name="left-header-text"/>
          <p:cNvSpPr txBox="1"/>
          <p:nvPr/>
        </p:nvSpPr>
        <p:spPr>
          <a:xfrm>
            <a:off x="874395" y="2091690"/>
            <a:ext cx="2341721" cy="28956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微软雅黑" panose="020B0503020204020204" charset="-122"/>
                <a:ea typeface="微软雅黑" panose="020B0503020204020204" charset="-122"/>
              </a:rPr>
              <a:t>文档配置</a:t>
            </a:r>
            <a:endParaRPr lang="en-US" sz="1400" b="1">
              <a:solidFill>
                <a:srgbClr val="FFFFFF"/>
              </a:solidFill>
              <a:latin typeface="微软雅黑" panose="020B0503020204020204" charset="-122"/>
              <a:ea typeface="微软雅黑" panose="020B0503020204020204" charset="-122"/>
            </a:endParaRPr>
          </a:p>
        </p:txBody>
      </p:sp>
      <p:sp>
        <p:nvSpPr>
          <p:cNvPr id="11" name="left-content"/>
          <p:cNvSpPr txBox="1"/>
          <p:nvPr/>
        </p:nvSpPr>
        <p:spPr>
          <a:xfrm>
            <a:off x="651510" y="2529840"/>
            <a:ext cx="2987040" cy="3674745"/>
          </a:xfrm>
          <a:prstGeom prst="rect">
            <a:avLst/>
          </a:prstGeom>
          <a:noFill/>
          <a:ln>
            <a:noFill/>
          </a:ln>
        </p:spPr>
        <p:txBody>
          <a:bodyPr wrap="square" lIns="0" tIns="0" rIns="0" bIns="0" rtlCol="0"/>
          <a:lstStyle/>
          <a:p>
            <a:pPr>
              <a:lnSpc>
                <a:spcPct val="160000"/>
              </a:lnSpc>
            </a:pPr>
            <a:r>
              <a:rPr lang="en-US" sz="1200" b="1">
                <a:solidFill>
                  <a:srgbClr val="2563EB"/>
                </a:solidFill>
                <a:latin typeface="微软雅黑" panose="020B0503020204020204" charset="-122"/>
                <a:ea typeface="微软雅黑" panose="020B0503020204020204" charset="-122"/>
                <a:cs typeface="微软雅黑" panose="020B0503020204020204" charset="-122"/>
                <a:sym typeface="+mn-ea"/>
              </a:rPr>
              <a:t>选择加工文档集合</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从资源层选择待加工的明细实体文档</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按文档类型分组：合同类/司法类/财报类</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支持</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基于文档目录</a:t>
            </a:r>
            <a:r>
              <a:rPr lang="en-US" sz="1200">
                <a:solidFill>
                  <a:srgbClr val="1E293B"/>
                </a:solidFill>
                <a:latin typeface="微软雅黑" panose="020B0503020204020204" charset="-122"/>
                <a:ea typeface="微软雅黑" panose="020B0503020204020204" charset="-122"/>
                <a:cs typeface="微软雅黑" panose="020B0503020204020204" charset="-122"/>
              </a:rPr>
              <a:t>批量选择和</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基于标签选择</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文档类型标识</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基于技术元数据</a:t>
            </a:r>
            <a:r>
              <a:rPr lang="en-US" sz="1200">
                <a:solidFill>
                  <a:srgbClr val="1E293B"/>
                </a:solidFill>
                <a:latin typeface="微软雅黑" panose="020B0503020204020204" charset="-122"/>
                <a:ea typeface="微软雅黑" panose="020B0503020204020204" charset="-122"/>
                <a:cs typeface="微软雅黑" panose="020B0503020204020204" charset="-122"/>
              </a:rPr>
              <a:t>识别文档格式（PDF/Word/图片/扫描件）</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r>
              <a:rPr lang="en-US" sz="1200" b="1">
                <a:solidFill>
                  <a:srgbClr val="2563EB"/>
                </a:solidFill>
                <a:latin typeface="微软雅黑" panose="020B0503020204020204" charset="-122"/>
                <a:ea typeface="微软雅黑" panose="020B0503020204020204" charset="-122"/>
                <a:cs typeface="微软雅黑" panose="020B0503020204020204" charset="-122"/>
              </a:rPr>
              <a:t>权限与密级</a:t>
            </a:r>
            <a:r>
              <a:rPr lang="zh-CN" altLang="en-US" sz="1200" b="1">
                <a:solidFill>
                  <a:srgbClr val="2563EB"/>
                </a:solidFill>
                <a:latin typeface="微软雅黑" panose="020B0503020204020204" charset="-122"/>
                <a:ea typeface="微软雅黑" panose="020B0503020204020204" charset="-122"/>
                <a:cs typeface="微软雅黑" panose="020B0503020204020204" charset="-122"/>
              </a:rPr>
              <a:t>管控</a:t>
            </a:r>
            <a:endParaRPr lang="en-US" sz="1200">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rPr>
              <a:t>• 继承</a:t>
            </a:r>
            <a:r>
              <a:rPr lang="zh-CN" altLang="en-US" sz="1200">
                <a:solidFill>
                  <a:srgbClr val="1E293B"/>
                </a:solidFill>
                <a:latin typeface="微软雅黑" panose="020B0503020204020204" charset="-122"/>
                <a:ea typeface="微软雅黑" panose="020B0503020204020204" charset="-122"/>
                <a:cs typeface="微软雅黑" panose="020B0503020204020204" charset="-122"/>
              </a:rPr>
              <a:t>资源层的</a:t>
            </a:r>
            <a:r>
              <a:rPr lang="en-US" sz="1200">
                <a:solidFill>
                  <a:srgbClr val="1E293B"/>
                </a:solidFill>
                <a:latin typeface="微软雅黑" panose="020B0503020204020204" charset="-122"/>
                <a:ea typeface="微软雅黑" panose="020B0503020204020204" charset="-122"/>
                <a:cs typeface="微软雅黑" panose="020B0503020204020204" charset="-122"/>
              </a:rPr>
              <a:t>文档权限设置</a:t>
            </a:r>
            <a:endParaRPr lang="en-US" sz="120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r>
              <a:rPr lang="en-US" sz="120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200">
                <a:solidFill>
                  <a:srgbClr val="1E293B"/>
                </a:solidFill>
                <a:latin typeface="微软雅黑" panose="020B0503020204020204" charset="-122"/>
                <a:ea typeface="微软雅黑" panose="020B0503020204020204" charset="-122"/>
                <a:cs typeface="微软雅黑" panose="020B0503020204020204" charset="-122"/>
                <a:sym typeface="+mn-ea"/>
              </a:rPr>
              <a:t>只能选择权限范围内的文档</a:t>
            </a:r>
            <a:endParaRPr lang="en-US" sz="120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endParaRPr lang="en-US" sz="12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3" name="left-content"/>
          <p:cNvSpPr txBox="1"/>
          <p:nvPr/>
        </p:nvSpPr>
        <p:spPr>
          <a:xfrm>
            <a:off x="4732655" y="2508250"/>
            <a:ext cx="2987040" cy="412750"/>
          </a:xfrm>
          <a:prstGeom prst="rect">
            <a:avLst/>
          </a:prstGeom>
          <a:noFill/>
          <a:ln>
            <a:noFill/>
          </a:ln>
        </p:spPr>
        <p:txBody>
          <a:bodyPr wrap="square" lIns="0" tIns="0" rIns="0" bIns="0" rtlCol="0"/>
          <a:lstStyle/>
          <a:p>
            <a:pPr>
              <a:lnSpc>
                <a:spcPct val="160000"/>
              </a:lnSpc>
            </a:pPr>
            <a:r>
              <a:rPr lang="en-US" sz="1200" b="1">
                <a:solidFill>
                  <a:srgbClr val="2563EB"/>
                </a:solidFill>
                <a:latin typeface="微软雅黑" panose="020B0503020204020204" charset="-122"/>
                <a:ea typeface="微软雅黑" panose="020B0503020204020204" charset="-122"/>
                <a:sym typeface="+mn-ea"/>
              </a:rPr>
              <a:t>支持多类型内容解析</a:t>
            </a:r>
            <a:r>
              <a:rPr lang="zh-CN" altLang="en-US" sz="1200" b="1">
                <a:solidFill>
                  <a:srgbClr val="2563EB"/>
                </a:solidFill>
                <a:latin typeface="微软雅黑" panose="020B0503020204020204" charset="-122"/>
                <a:ea typeface="微软雅黑" panose="020B0503020204020204" charset="-122"/>
                <a:sym typeface="+mn-ea"/>
              </a:rPr>
              <a:t>配置</a:t>
            </a:r>
            <a:r>
              <a:rPr lang="en-US" altLang="zh-CN" sz="1200" b="1">
                <a:solidFill>
                  <a:srgbClr val="2563EB"/>
                </a:solidFill>
                <a:latin typeface="微软雅黑" panose="020B0503020204020204" charset="-122"/>
                <a:ea typeface="微软雅黑" panose="020B0503020204020204" charset="-122"/>
                <a:sym typeface="+mn-ea"/>
              </a:rPr>
              <a:t>：</a:t>
            </a:r>
            <a:endParaRPr lang="en-US" altLang="zh-CN" sz="1200" b="1">
              <a:solidFill>
                <a:srgbClr val="2563EB"/>
              </a:solidFill>
              <a:latin typeface="微软雅黑" panose="020B0503020204020204" charset="-122"/>
              <a:ea typeface="微软雅黑" panose="020B0503020204020204" charset="-122"/>
              <a:sym typeface="+mn-ea"/>
            </a:endParaRPr>
          </a:p>
        </p:txBody>
      </p:sp>
      <p:sp>
        <p:nvSpPr>
          <p:cNvPr id="4" name="右箭头 3"/>
          <p:cNvSpPr/>
          <p:nvPr/>
        </p:nvSpPr>
        <p:spPr>
          <a:xfrm>
            <a:off x="3975100" y="3096895"/>
            <a:ext cx="480060" cy="2356485"/>
          </a:xfrm>
          <a:prstGeom prst="rightArrow">
            <a:avLst/>
          </a:prstGeom>
        </p:spPr>
        <p:style>
          <a:lnRef idx="0">
            <a:srgbClr val="FFFFFF"/>
          </a:lnRef>
          <a:fillRef idx="2">
            <a:schemeClr val="accent1"/>
          </a:fillRef>
          <a:effectRef idx="0">
            <a:srgbClr val="FFFFFF"/>
          </a:effectRef>
          <a:fontRef idx="minor">
            <a:schemeClr val="lt1"/>
          </a:fontRef>
        </p:style>
        <p:txBody>
          <a:bodyPr rtlCol="0" anchor="ctr"/>
          <a:lstStyle/>
          <a:p>
            <a:pPr algn="ctr"/>
            <a:endParaRPr lang="zh-CN" altLang="en-US"/>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专题知识图谱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3" name="矩形 52"/>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2.3.2 </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专题知识图谱加工</a:t>
            </a:r>
            <a:r>
              <a:rPr kumimoji="0"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图谱</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知识抽取</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7" name="m1-bg"/>
          <p:cNvSpPr/>
          <p:nvPr>
            <p:custDataLst>
              <p:tags r:id="rId1"/>
            </p:custDataLst>
          </p:nvPr>
        </p:nvSpPr>
        <p:spPr>
          <a:xfrm>
            <a:off x="293370" y="2171065"/>
            <a:ext cx="3619500" cy="4191000"/>
          </a:xfrm>
          <a:prstGeom prst="roundRect">
            <a:avLst>
              <a:gd name="adj" fmla="val 2000"/>
            </a:avLst>
          </a:prstGeom>
          <a:solidFill>
            <a:srgbClr val="FFFFFF"/>
          </a:solidFill>
          <a:ln w="12700">
            <a:solidFill>
              <a:srgbClr val="BFDBFE"/>
            </a:solidFill>
          </a:ln>
        </p:spPr>
      </p:sp>
      <p:sp>
        <p:nvSpPr>
          <p:cNvPr id="12" name="m2-bg"/>
          <p:cNvSpPr/>
          <p:nvPr>
            <p:custDataLst>
              <p:tags r:id="rId2"/>
            </p:custDataLst>
          </p:nvPr>
        </p:nvSpPr>
        <p:spPr>
          <a:xfrm>
            <a:off x="4065270" y="2171065"/>
            <a:ext cx="3619500" cy="4191000"/>
          </a:xfrm>
          <a:prstGeom prst="roundRect">
            <a:avLst>
              <a:gd name="adj" fmla="val 2000"/>
            </a:avLst>
          </a:prstGeom>
          <a:solidFill>
            <a:srgbClr val="FFFFFF"/>
          </a:solidFill>
          <a:ln w="12700">
            <a:solidFill>
              <a:srgbClr val="BFDBFE"/>
            </a:solidFill>
          </a:ln>
        </p:spPr>
      </p:sp>
      <p:sp>
        <p:nvSpPr>
          <p:cNvPr id="16" name="m2-content"/>
          <p:cNvSpPr txBox="1"/>
          <p:nvPr>
            <p:custDataLst>
              <p:tags r:id="rId3"/>
            </p:custDataLst>
          </p:nvPr>
        </p:nvSpPr>
        <p:spPr>
          <a:xfrm>
            <a:off x="4217670" y="2590165"/>
            <a:ext cx="3314700" cy="3657600"/>
          </a:xfrm>
          <a:prstGeom prst="rect">
            <a:avLst/>
          </a:prstGeom>
          <a:noFill/>
          <a:ln>
            <a:noFill/>
          </a:ln>
        </p:spPr>
        <p:txBody>
          <a:bodyPr wrap="square" lIns="0" tIns="0" rIns="0" bIns="0" rtlCol="0"/>
          <a:lstStyle/>
          <a:p>
            <a:pPr>
              <a:lnSpc>
                <a:spcPct val="160000"/>
              </a:lnSpc>
            </a:pPr>
            <a:r>
              <a:rPr lang="en-US" sz="1400" b="1">
                <a:solidFill>
                  <a:srgbClr val="2563EB"/>
                </a:solidFill>
                <a:latin typeface="微软雅黑" panose="020B0503020204020204" charset="-122"/>
                <a:ea typeface="微软雅黑" panose="020B0503020204020204" charset="-122"/>
                <a:cs typeface="微软雅黑" panose="020B0503020204020204" charset="-122"/>
              </a:rPr>
              <a:t>算子</a:t>
            </a:r>
            <a:r>
              <a:rPr lang="zh-CN" altLang="en-US" sz="1400" b="1">
                <a:solidFill>
                  <a:srgbClr val="2563EB"/>
                </a:solidFill>
                <a:latin typeface="微软雅黑" panose="020B0503020204020204" charset="-122"/>
                <a:ea typeface="微软雅黑" panose="020B0503020204020204" charset="-122"/>
                <a:cs typeface="微软雅黑" panose="020B0503020204020204" charset="-122"/>
              </a:rPr>
              <a:t>配置</a:t>
            </a:r>
            <a:endParaRPr lang="en-US" sz="1400">
              <a:latin typeface="微软雅黑" panose="020B0503020204020204" charset="-122"/>
              <a:ea typeface="微软雅黑" panose="020B0503020204020204" charset="-122"/>
              <a:cs typeface="微软雅黑" panose="020B0503020204020204" charset="-122"/>
            </a:endParaRPr>
          </a:p>
          <a:p>
            <a:pPr>
              <a:lnSpc>
                <a:spcPct val="160000"/>
              </a:lnSpc>
            </a:pPr>
            <a:r>
              <a:rPr lang="en-US" sz="140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400">
                <a:latin typeface="微软雅黑" panose="020B0503020204020204" charset="-122"/>
                <a:ea typeface="微软雅黑" panose="020B0503020204020204" charset="-122"/>
                <a:cs typeface="微软雅黑" panose="020B0503020204020204" charset="-122"/>
              </a:rPr>
              <a:t>配置实体、关系、属性抽取算子，搭配对齐融合与质检算子，保障数据一致性。</a:t>
            </a:r>
            <a:endParaRPr lang="zh-CN" altLang="en-US" sz="1400">
              <a:latin typeface="微软雅黑" panose="020B0503020204020204" charset="-122"/>
              <a:ea typeface="微软雅黑" panose="020B0503020204020204" charset="-122"/>
              <a:cs typeface="微软雅黑" panose="020B0503020204020204" charset="-122"/>
            </a:endParaRPr>
          </a:p>
          <a:p>
            <a:pPr>
              <a:lnSpc>
                <a:spcPct val="160000"/>
              </a:lnSpc>
            </a:pPr>
            <a:endParaRPr lang="zh-CN" altLang="en-US" sz="1400">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r>
              <a:rPr lang="en-US" sz="1400" b="1">
                <a:solidFill>
                  <a:srgbClr val="2563EB"/>
                </a:solidFill>
                <a:latin typeface="微软雅黑" panose="020B0503020204020204" charset="-122"/>
                <a:ea typeface="微软雅黑" panose="020B0503020204020204" charset="-122"/>
                <a:cs typeface="微软雅黑" panose="020B0503020204020204" charset="-122"/>
              </a:rPr>
              <a:t>算子</a:t>
            </a:r>
            <a:r>
              <a:rPr lang="zh-CN" altLang="en-US" sz="1400" b="1">
                <a:solidFill>
                  <a:srgbClr val="2563EB"/>
                </a:solidFill>
                <a:latin typeface="微软雅黑" panose="020B0503020204020204" charset="-122"/>
                <a:ea typeface="微软雅黑" panose="020B0503020204020204" charset="-122"/>
                <a:cs typeface="微软雅黑" panose="020B0503020204020204" charset="-122"/>
              </a:rPr>
              <a:t>管理</a:t>
            </a:r>
            <a:endParaRPr lang="en-US" sz="1400">
              <a:latin typeface="微软雅黑" panose="020B0503020204020204" charset="-122"/>
              <a:ea typeface="微软雅黑" panose="020B0503020204020204" charset="-122"/>
              <a:cs typeface="微软雅黑" panose="020B0503020204020204" charset="-122"/>
            </a:endParaRPr>
          </a:p>
          <a:p>
            <a:pPr>
              <a:lnSpc>
                <a:spcPct val="160000"/>
              </a:lnSpc>
            </a:pPr>
            <a:r>
              <a:rPr lang="en-US" sz="140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支持根据业务需求自定义抽取算子</a:t>
            </a:r>
            <a:r>
              <a:rPr lang="en-US" altLang="zh-CN" sz="14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融合算子和质检算子</a:t>
            </a:r>
            <a:r>
              <a:rPr lang="en-US" altLang="zh-CN" sz="1400">
                <a:solidFill>
                  <a:srgbClr val="1E293B"/>
                </a:solidFill>
                <a:latin typeface="微软雅黑" panose="020B0503020204020204" charset="-122"/>
                <a:ea typeface="微软雅黑" panose="020B0503020204020204" charset="-122"/>
                <a:cs typeface="微软雅黑" panose="020B0503020204020204" charset="-122"/>
              </a:rPr>
              <a:t>，</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通过算子管理进行上传和版本管理</a:t>
            </a:r>
            <a:endParaRPr lang="en-US" sz="1400">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endParaRPr lang="en-US" sz="14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17" name="m3-bg"/>
          <p:cNvSpPr/>
          <p:nvPr>
            <p:custDataLst>
              <p:tags r:id="rId4"/>
            </p:custDataLst>
          </p:nvPr>
        </p:nvSpPr>
        <p:spPr>
          <a:xfrm>
            <a:off x="7837170" y="2171065"/>
            <a:ext cx="3886200" cy="4191000"/>
          </a:xfrm>
          <a:prstGeom prst="roundRect">
            <a:avLst>
              <a:gd name="adj" fmla="val 2000"/>
            </a:avLst>
          </a:prstGeom>
          <a:solidFill>
            <a:srgbClr val="FFFFFF"/>
          </a:solidFill>
          <a:ln w="12700">
            <a:solidFill>
              <a:srgbClr val="BFDBFE"/>
            </a:solidFill>
          </a:ln>
        </p:spPr>
      </p:sp>
      <p:grpSp>
        <p:nvGrpSpPr>
          <p:cNvPr id="3" name="组合 2"/>
          <p:cNvGrpSpPr/>
          <p:nvPr>
            <p:custDataLst>
              <p:tags r:id="rId5"/>
            </p:custDataLst>
          </p:nvPr>
        </p:nvGrpSpPr>
        <p:grpSpPr>
          <a:xfrm>
            <a:off x="293370" y="2063750"/>
            <a:ext cx="11430000" cy="412115"/>
            <a:chOff x="462" y="3375"/>
            <a:chExt cx="18000" cy="480"/>
          </a:xfrm>
        </p:grpSpPr>
        <p:sp>
          <p:nvSpPr>
            <p:cNvPr id="8" name="m1-header"/>
            <p:cNvSpPr/>
            <p:nvPr>
              <p:custDataLst>
                <p:tags r:id="rId6"/>
              </p:custDataLst>
            </p:nvPr>
          </p:nvSpPr>
          <p:spPr>
            <a:xfrm>
              <a:off x="462" y="3375"/>
              <a:ext cx="5700" cy="480"/>
            </a:xfrm>
            <a:prstGeom prst="roundRect">
              <a:avLst>
                <a:gd name="adj" fmla="val 2000"/>
              </a:avLst>
            </a:prstGeom>
            <a:solidFill>
              <a:srgbClr val="2563EB"/>
            </a:solidFill>
            <a:ln>
              <a:noFill/>
            </a:ln>
          </p:spPr>
        </p:sp>
        <p:sp>
          <p:nvSpPr>
            <p:cNvPr id="9" name="m1-header-icon"/>
            <p:cNvSpPr/>
            <p:nvPr>
              <p:custDataLst>
                <p:tags r:id="rId7"/>
              </p:custDataLst>
            </p:nvPr>
          </p:nvSpPr>
          <p:spPr>
            <a:xfrm>
              <a:off x="702" y="3465"/>
              <a:ext cx="541" cy="300"/>
            </a:xfrm>
            <a:custGeom>
              <a:avLst/>
              <a:gdLst/>
              <a:ahLst/>
              <a:cxnLst/>
              <a:rect l="l" t="t" r="r" b="b"/>
              <a:pathLst>
                <a:path w="640" h="512">
                  <a:moveTo>
                    <a:pt x="352" y="0"/>
                  </a:moveTo>
                  <a:cubicBezTo>
                    <a:pt x="352" y="-18"/>
                    <a:pt x="338" y="-32"/>
                    <a:pt x="320" y="-32"/>
                  </a:cubicBezTo>
                  <a:cubicBezTo>
                    <a:pt x="302" y="-32"/>
                    <a:pt x="288" y="-18"/>
                    <a:pt x="288" y="0"/>
                  </a:cubicBezTo>
                  <a:lnTo>
                    <a:pt x="288" y="64"/>
                  </a:lnTo>
                  <a:lnTo>
                    <a:pt x="192" y="64"/>
                  </a:lnTo>
                  <a:cubicBezTo>
                    <a:pt x="139" y="64"/>
                    <a:pt x="96" y="107"/>
                    <a:pt x="96" y="160"/>
                  </a:cubicBezTo>
                  <a:lnTo>
                    <a:pt x="96" y="384"/>
                  </a:lnTo>
                  <a:cubicBezTo>
                    <a:pt x="96" y="437"/>
                    <a:pt x="139" y="480"/>
                    <a:pt x="192" y="480"/>
                  </a:cubicBezTo>
                  <a:lnTo>
                    <a:pt x="448" y="480"/>
                  </a:lnTo>
                  <a:cubicBezTo>
                    <a:pt x="501" y="480"/>
                    <a:pt x="544" y="437"/>
                    <a:pt x="544" y="384"/>
                  </a:cubicBezTo>
                  <a:lnTo>
                    <a:pt x="544" y="160"/>
                  </a:lnTo>
                  <a:cubicBezTo>
                    <a:pt x="544" y="107"/>
                    <a:pt x="501" y="64"/>
                    <a:pt x="448" y="64"/>
                  </a:cubicBezTo>
                  <a:lnTo>
                    <a:pt x="352" y="64"/>
                  </a:lnTo>
                  <a:lnTo>
                    <a:pt x="352" y="0"/>
                  </a:lnTo>
                  <a:close/>
                  <a:moveTo>
                    <a:pt x="160" y="368"/>
                  </a:moveTo>
                  <a:cubicBezTo>
                    <a:pt x="160" y="355"/>
                    <a:pt x="171" y="344"/>
                    <a:pt x="184" y="344"/>
                  </a:cubicBezTo>
                  <a:lnTo>
                    <a:pt x="216" y="344"/>
                  </a:lnTo>
                  <a:cubicBezTo>
                    <a:pt x="229" y="344"/>
                    <a:pt x="240" y="355"/>
                    <a:pt x="240" y="368"/>
                  </a:cubicBezTo>
                  <a:cubicBezTo>
                    <a:pt x="240" y="381"/>
                    <a:pt x="229" y="392"/>
                    <a:pt x="216" y="392"/>
                  </a:cubicBezTo>
                  <a:lnTo>
                    <a:pt x="184" y="392"/>
                  </a:lnTo>
                  <a:cubicBezTo>
                    <a:pt x="171" y="392"/>
                    <a:pt x="160" y="381"/>
                    <a:pt x="160" y="368"/>
                  </a:cubicBezTo>
                  <a:close/>
                  <a:moveTo>
                    <a:pt x="280" y="368"/>
                  </a:moveTo>
                  <a:cubicBezTo>
                    <a:pt x="280" y="355"/>
                    <a:pt x="291" y="344"/>
                    <a:pt x="304" y="344"/>
                  </a:cubicBezTo>
                  <a:lnTo>
                    <a:pt x="336" y="344"/>
                  </a:lnTo>
                  <a:cubicBezTo>
                    <a:pt x="349" y="344"/>
                    <a:pt x="360" y="355"/>
                    <a:pt x="360" y="368"/>
                  </a:cubicBezTo>
                  <a:cubicBezTo>
                    <a:pt x="360" y="381"/>
                    <a:pt x="349" y="392"/>
                    <a:pt x="336" y="392"/>
                  </a:cubicBezTo>
                  <a:lnTo>
                    <a:pt x="304" y="392"/>
                  </a:lnTo>
                  <a:cubicBezTo>
                    <a:pt x="291" y="392"/>
                    <a:pt x="280" y="381"/>
                    <a:pt x="280" y="368"/>
                  </a:cubicBezTo>
                  <a:close/>
                  <a:moveTo>
                    <a:pt x="400" y="368"/>
                  </a:moveTo>
                  <a:cubicBezTo>
                    <a:pt x="400" y="355"/>
                    <a:pt x="411" y="344"/>
                    <a:pt x="424" y="344"/>
                  </a:cubicBezTo>
                  <a:lnTo>
                    <a:pt x="456" y="344"/>
                  </a:lnTo>
                  <a:cubicBezTo>
                    <a:pt x="469" y="344"/>
                    <a:pt x="480" y="355"/>
                    <a:pt x="480" y="368"/>
                  </a:cubicBezTo>
                  <a:cubicBezTo>
                    <a:pt x="480" y="381"/>
                    <a:pt x="469" y="392"/>
                    <a:pt x="456" y="392"/>
                  </a:cubicBezTo>
                  <a:lnTo>
                    <a:pt x="424" y="392"/>
                  </a:lnTo>
                  <a:cubicBezTo>
                    <a:pt x="411" y="392"/>
                    <a:pt x="400" y="381"/>
                    <a:pt x="400" y="368"/>
                  </a:cubicBezTo>
                  <a:close/>
                  <a:moveTo>
                    <a:pt x="224" y="176"/>
                  </a:moveTo>
                  <a:cubicBezTo>
                    <a:pt x="251" y="176"/>
                    <a:pt x="272" y="197"/>
                    <a:pt x="272" y="224"/>
                  </a:cubicBezTo>
                  <a:cubicBezTo>
                    <a:pt x="272" y="251"/>
                    <a:pt x="251" y="272"/>
                    <a:pt x="224" y="272"/>
                  </a:cubicBezTo>
                  <a:cubicBezTo>
                    <a:pt x="197" y="272"/>
                    <a:pt x="176" y="251"/>
                    <a:pt x="176" y="224"/>
                  </a:cubicBezTo>
                  <a:cubicBezTo>
                    <a:pt x="176" y="197"/>
                    <a:pt x="197" y="176"/>
                    <a:pt x="224" y="176"/>
                  </a:cubicBezTo>
                  <a:close/>
                  <a:moveTo>
                    <a:pt x="368" y="224"/>
                  </a:moveTo>
                  <a:cubicBezTo>
                    <a:pt x="368" y="197"/>
                    <a:pt x="389" y="176"/>
                    <a:pt x="416" y="176"/>
                  </a:cubicBezTo>
                  <a:cubicBezTo>
                    <a:pt x="443" y="176"/>
                    <a:pt x="464" y="197"/>
                    <a:pt x="464" y="224"/>
                  </a:cubicBezTo>
                  <a:cubicBezTo>
                    <a:pt x="464" y="251"/>
                    <a:pt x="443" y="272"/>
                    <a:pt x="416" y="272"/>
                  </a:cubicBezTo>
                  <a:cubicBezTo>
                    <a:pt x="389" y="272"/>
                    <a:pt x="368" y="251"/>
                    <a:pt x="368" y="224"/>
                  </a:cubicBezTo>
                  <a:close/>
                </a:path>
                <a:path w="640" h="512">
                  <a:moveTo>
                    <a:pt x="64" y="224"/>
                  </a:moveTo>
                  <a:cubicBezTo>
                    <a:pt x="64" y="206"/>
                    <a:pt x="50" y="192"/>
                    <a:pt x="32" y="192"/>
                  </a:cubicBezTo>
                  <a:cubicBezTo>
                    <a:pt x="14" y="192"/>
                    <a:pt x="0" y="206"/>
                    <a:pt x="0" y="224"/>
                  </a:cubicBezTo>
                  <a:lnTo>
                    <a:pt x="0" y="320"/>
                  </a:lnTo>
                  <a:cubicBezTo>
                    <a:pt x="0" y="338"/>
                    <a:pt x="14" y="352"/>
                    <a:pt x="32" y="352"/>
                  </a:cubicBezTo>
                  <a:cubicBezTo>
                    <a:pt x="50" y="352"/>
                    <a:pt x="64" y="338"/>
                    <a:pt x="64" y="320"/>
                  </a:cubicBezTo>
                  <a:lnTo>
                    <a:pt x="64" y="224"/>
                  </a:lnTo>
                  <a:close/>
                </a:path>
                <a:path w="640" h="512">
                  <a:moveTo>
                    <a:pt x="608" y="192"/>
                  </a:moveTo>
                  <a:cubicBezTo>
                    <a:pt x="590" y="192"/>
                    <a:pt x="576" y="206"/>
                    <a:pt x="576" y="224"/>
                  </a:cubicBezTo>
                  <a:lnTo>
                    <a:pt x="576" y="320"/>
                  </a:lnTo>
                  <a:cubicBezTo>
                    <a:pt x="576" y="338"/>
                    <a:pt x="590" y="352"/>
                    <a:pt x="608" y="352"/>
                  </a:cubicBezTo>
                  <a:cubicBezTo>
                    <a:pt x="626" y="352"/>
                    <a:pt x="640" y="338"/>
                    <a:pt x="640" y="320"/>
                  </a:cubicBezTo>
                  <a:lnTo>
                    <a:pt x="640" y="224"/>
                  </a:lnTo>
                  <a:cubicBezTo>
                    <a:pt x="640" y="206"/>
                    <a:pt x="626" y="192"/>
                    <a:pt x="608" y="192"/>
                  </a:cubicBezTo>
                  <a:close/>
                </a:path>
              </a:pathLst>
            </a:custGeom>
            <a:solidFill>
              <a:srgbClr val="FFFFFF"/>
            </a:solidFill>
            <a:ln>
              <a:noFill/>
            </a:ln>
          </p:spPr>
        </p:sp>
        <p:sp>
          <p:nvSpPr>
            <p:cNvPr id="10" name="m1-header-text"/>
            <p:cNvSpPr txBox="1"/>
            <p:nvPr>
              <p:custDataLst>
                <p:tags r:id="rId8"/>
              </p:custDataLst>
            </p:nvPr>
          </p:nvSpPr>
          <p:spPr>
            <a:xfrm>
              <a:off x="1469" y="3405"/>
              <a:ext cx="4423" cy="42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MiSans" pitchFamily="34" charset="-122"/>
                  <a:ea typeface="MiSans" pitchFamily="34" charset="-122"/>
                </a:rPr>
                <a:t>LLM模型配置</a:t>
              </a:r>
              <a:endParaRPr lang="en-US" sz="1400" b="1">
                <a:solidFill>
                  <a:srgbClr val="FFFFFF"/>
                </a:solidFill>
                <a:latin typeface="MiSans" pitchFamily="34" charset="-122"/>
                <a:ea typeface="MiSans" pitchFamily="34" charset="-122"/>
              </a:endParaRPr>
            </a:p>
          </p:txBody>
        </p:sp>
        <p:sp>
          <p:nvSpPr>
            <p:cNvPr id="13" name="m2-header"/>
            <p:cNvSpPr/>
            <p:nvPr>
              <p:custDataLst>
                <p:tags r:id="rId9"/>
              </p:custDataLst>
            </p:nvPr>
          </p:nvSpPr>
          <p:spPr>
            <a:xfrm>
              <a:off x="6402" y="3375"/>
              <a:ext cx="5700" cy="480"/>
            </a:xfrm>
            <a:prstGeom prst="roundRect">
              <a:avLst>
                <a:gd name="adj" fmla="val 2000"/>
              </a:avLst>
            </a:prstGeom>
            <a:solidFill>
              <a:srgbClr val="2563EB"/>
            </a:solidFill>
            <a:ln>
              <a:noFill/>
            </a:ln>
          </p:spPr>
        </p:sp>
        <p:sp>
          <p:nvSpPr>
            <p:cNvPr id="14" name="m2-header-icon"/>
            <p:cNvSpPr/>
            <p:nvPr>
              <p:custDataLst>
                <p:tags r:id="rId10"/>
              </p:custDataLst>
            </p:nvPr>
          </p:nvSpPr>
          <p:spPr>
            <a:xfrm>
              <a:off x="6642" y="3465"/>
              <a:ext cx="495" cy="300"/>
            </a:xfrm>
            <a:custGeom>
              <a:avLst/>
              <a:gdLst/>
              <a:ahLst/>
              <a:cxnLst/>
              <a:rect l="l" t="t" r="r" b="b"/>
              <a:pathLst>
                <a:path w="512" h="512">
                  <a:moveTo>
                    <a:pt x="482" y="240"/>
                  </a:moveTo>
                  <a:cubicBezTo>
                    <a:pt x="464" y="239"/>
                    <a:pt x="449" y="252"/>
                    <a:pt x="448" y="270"/>
                  </a:cubicBezTo>
                  <a:cubicBezTo>
                    <a:pt x="444" y="317"/>
                    <a:pt x="424" y="359"/>
                    <a:pt x="393" y="391"/>
                  </a:cubicBezTo>
                  <a:lnTo>
                    <a:pt x="361" y="359"/>
                  </a:lnTo>
                  <a:cubicBezTo>
                    <a:pt x="354" y="352"/>
                    <a:pt x="344" y="350"/>
                    <a:pt x="335" y="354"/>
                  </a:cubicBezTo>
                  <a:cubicBezTo>
                    <a:pt x="326" y="358"/>
                    <a:pt x="320" y="366"/>
                    <a:pt x="320" y="376"/>
                  </a:cubicBezTo>
                  <a:lnTo>
                    <a:pt x="320" y="488"/>
                  </a:lnTo>
                  <a:cubicBezTo>
                    <a:pt x="320" y="501"/>
                    <a:pt x="331" y="512"/>
                    <a:pt x="344" y="512"/>
                  </a:cubicBezTo>
                  <a:lnTo>
                    <a:pt x="456" y="512"/>
                  </a:lnTo>
                  <a:cubicBezTo>
                    <a:pt x="466" y="512"/>
                    <a:pt x="475" y="506"/>
                    <a:pt x="478" y="497"/>
                  </a:cubicBezTo>
                  <a:cubicBezTo>
                    <a:pt x="482" y="488"/>
                    <a:pt x="480" y="478"/>
                    <a:pt x="473" y="471"/>
                  </a:cubicBezTo>
                  <a:lnTo>
                    <a:pt x="438" y="436"/>
                  </a:lnTo>
                  <a:cubicBezTo>
                    <a:pt x="480" y="394"/>
                    <a:pt x="507" y="337"/>
                    <a:pt x="511" y="274"/>
                  </a:cubicBezTo>
                  <a:cubicBezTo>
                    <a:pt x="513" y="257"/>
                    <a:pt x="499" y="241"/>
                    <a:pt x="482" y="240"/>
                  </a:cubicBezTo>
                  <a:close/>
                </a:path>
                <a:path w="512" h="512">
                  <a:moveTo>
                    <a:pt x="39" y="41"/>
                  </a:moveTo>
                  <a:lnTo>
                    <a:pt x="74" y="76"/>
                  </a:lnTo>
                  <a:cubicBezTo>
                    <a:pt x="32" y="118"/>
                    <a:pt x="5" y="175"/>
                    <a:pt x="1" y="238"/>
                  </a:cubicBezTo>
                  <a:cubicBezTo>
                    <a:pt x="-1" y="255"/>
                    <a:pt x="13" y="271"/>
                    <a:pt x="30" y="272"/>
                  </a:cubicBezTo>
                  <a:cubicBezTo>
                    <a:pt x="48" y="273"/>
                    <a:pt x="63" y="260"/>
                    <a:pt x="65" y="242"/>
                  </a:cubicBezTo>
                  <a:cubicBezTo>
                    <a:pt x="68" y="195"/>
                    <a:pt x="88" y="153"/>
                    <a:pt x="119" y="121"/>
                  </a:cubicBezTo>
                  <a:lnTo>
                    <a:pt x="151" y="153"/>
                  </a:lnTo>
                  <a:cubicBezTo>
                    <a:pt x="158" y="160"/>
                    <a:pt x="168" y="162"/>
                    <a:pt x="177" y="158"/>
                  </a:cubicBezTo>
                  <a:cubicBezTo>
                    <a:pt x="186" y="154"/>
                    <a:pt x="192" y="146"/>
                    <a:pt x="192" y="136"/>
                  </a:cubicBezTo>
                  <a:lnTo>
                    <a:pt x="192" y="24"/>
                  </a:lnTo>
                  <a:cubicBezTo>
                    <a:pt x="192" y="11"/>
                    <a:pt x="181" y="0"/>
                    <a:pt x="168" y="0"/>
                  </a:cubicBezTo>
                  <a:lnTo>
                    <a:pt x="56" y="0"/>
                  </a:lnTo>
                  <a:cubicBezTo>
                    <a:pt x="46" y="0"/>
                    <a:pt x="38" y="6"/>
                    <a:pt x="34" y="15"/>
                  </a:cubicBezTo>
                  <a:cubicBezTo>
                    <a:pt x="30" y="24"/>
                    <a:pt x="32" y="34"/>
                    <a:pt x="39" y="41"/>
                  </a:cubicBezTo>
                  <a:close/>
                </a:path>
                <a:path w="512" h="512">
                  <a:moveTo>
                    <a:pt x="240" y="30"/>
                  </a:moveTo>
                  <a:cubicBezTo>
                    <a:pt x="239" y="48"/>
                    <a:pt x="252" y="63"/>
                    <a:pt x="270" y="65"/>
                  </a:cubicBezTo>
                  <a:cubicBezTo>
                    <a:pt x="317" y="68"/>
                    <a:pt x="359" y="88"/>
                    <a:pt x="391" y="119"/>
                  </a:cubicBezTo>
                  <a:lnTo>
                    <a:pt x="359" y="151"/>
                  </a:lnTo>
                  <a:cubicBezTo>
                    <a:pt x="352" y="158"/>
                    <a:pt x="350" y="168"/>
                    <a:pt x="354" y="177"/>
                  </a:cubicBezTo>
                  <a:cubicBezTo>
                    <a:pt x="358" y="186"/>
                    <a:pt x="366" y="192"/>
                    <a:pt x="376" y="192"/>
                  </a:cubicBezTo>
                  <a:lnTo>
                    <a:pt x="488" y="192"/>
                  </a:lnTo>
                  <a:cubicBezTo>
                    <a:pt x="501" y="192"/>
                    <a:pt x="512" y="181"/>
                    <a:pt x="512" y="168"/>
                  </a:cubicBezTo>
                  <a:lnTo>
                    <a:pt x="512" y="56"/>
                  </a:lnTo>
                  <a:cubicBezTo>
                    <a:pt x="512" y="46"/>
                    <a:pt x="506" y="38"/>
                    <a:pt x="497" y="34"/>
                  </a:cubicBezTo>
                  <a:cubicBezTo>
                    <a:pt x="488" y="30"/>
                    <a:pt x="478" y="32"/>
                    <a:pt x="471" y="39"/>
                  </a:cubicBezTo>
                  <a:lnTo>
                    <a:pt x="436" y="74"/>
                  </a:lnTo>
                  <a:cubicBezTo>
                    <a:pt x="394" y="32"/>
                    <a:pt x="337" y="5"/>
                    <a:pt x="274" y="1"/>
                  </a:cubicBezTo>
                  <a:cubicBezTo>
                    <a:pt x="257" y="-1"/>
                    <a:pt x="241" y="13"/>
                    <a:pt x="240" y="30"/>
                  </a:cubicBezTo>
                  <a:close/>
                </a:path>
                <a:path w="512" h="512">
                  <a:moveTo>
                    <a:pt x="41" y="473"/>
                  </a:moveTo>
                  <a:lnTo>
                    <a:pt x="76" y="438"/>
                  </a:lnTo>
                  <a:cubicBezTo>
                    <a:pt x="118" y="480"/>
                    <a:pt x="175" y="507"/>
                    <a:pt x="238" y="511"/>
                  </a:cubicBezTo>
                  <a:cubicBezTo>
                    <a:pt x="255" y="513"/>
                    <a:pt x="271" y="499"/>
                    <a:pt x="272" y="482"/>
                  </a:cubicBezTo>
                  <a:cubicBezTo>
                    <a:pt x="273" y="464"/>
                    <a:pt x="260" y="449"/>
                    <a:pt x="242" y="448"/>
                  </a:cubicBezTo>
                  <a:cubicBezTo>
                    <a:pt x="195" y="444"/>
                    <a:pt x="153" y="424"/>
                    <a:pt x="121" y="393"/>
                  </a:cubicBezTo>
                  <a:lnTo>
                    <a:pt x="153" y="361"/>
                  </a:lnTo>
                  <a:cubicBezTo>
                    <a:pt x="160" y="354"/>
                    <a:pt x="162" y="344"/>
                    <a:pt x="158" y="335"/>
                  </a:cubicBezTo>
                  <a:cubicBezTo>
                    <a:pt x="154" y="326"/>
                    <a:pt x="146" y="320"/>
                    <a:pt x="136" y="320"/>
                  </a:cubicBezTo>
                  <a:lnTo>
                    <a:pt x="24" y="320"/>
                  </a:lnTo>
                  <a:cubicBezTo>
                    <a:pt x="11" y="320"/>
                    <a:pt x="0" y="331"/>
                    <a:pt x="0" y="344"/>
                  </a:cubicBezTo>
                  <a:lnTo>
                    <a:pt x="0" y="456"/>
                  </a:lnTo>
                  <a:cubicBezTo>
                    <a:pt x="0" y="466"/>
                    <a:pt x="6" y="475"/>
                    <a:pt x="15" y="478"/>
                  </a:cubicBezTo>
                  <a:cubicBezTo>
                    <a:pt x="24" y="482"/>
                    <a:pt x="34" y="480"/>
                    <a:pt x="41" y="473"/>
                  </a:cubicBezTo>
                  <a:close/>
                </a:path>
              </a:pathLst>
            </a:custGeom>
            <a:solidFill>
              <a:srgbClr val="FFFFFF"/>
            </a:solidFill>
            <a:ln>
              <a:noFill/>
            </a:ln>
          </p:spPr>
        </p:sp>
        <p:sp>
          <p:nvSpPr>
            <p:cNvPr id="15" name="m2-header-text"/>
            <p:cNvSpPr txBox="1"/>
            <p:nvPr>
              <p:custDataLst>
                <p:tags r:id="rId11"/>
              </p:custDataLst>
            </p:nvPr>
          </p:nvSpPr>
          <p:spPr>
            <a:xfrm>
              <a:off x="7289" y="3405"/>
              <a:ext cx="4543" cy="42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MiSans" pitchFamily="34" charset="-122"/>
                  <a:ea typeface="MiSans" pitchFamily="34" charset="-122"/>
                </a:rPr>
                <a:t>算子流水线配置</a:t>
              </a:r>
              <a:endParaRPr lang="en-US" sz="1400" b="1">
                <a:solidFill>
                  <a:srgbClr val="FFFFFF"/>
                </a:solidFill>
                <a:latin typeface="MiSans" pitchFamily="34" charset="-122"/>
                <a:ea typeface="MiSans" pitchFamily="34" charset="-122"/>
              </a:endParaRPr>
            </a:p>
          </p:txBody>
        </p:sp>
        <p:sp>
          <p:nvSpPr>
            <p:cNvPr id="18" name="m3-header"/>
            <p:cNvSpPr/>
            <p:nvPr>
              <p:custDataLst>
                <p:tags r:id="rId12"/>
              </p:custDataLst>
            </p:nvPr>
          </p:nvSpPr>
          <p:spPr>
            <a:xfrm>
              <a:off x="12342" y="3375"/>
              <a:ext cx="6120" cy="480"/>
            </a:xfrm>
            <a:prstGeom prst="roundRect">
              <a:avLst>
                <a:gd name="adj" fmla="val 2000"/>
              </a:avLst>
            </a:prstGeom>
            <a:solidFill>
              <a:srgbClr val="2563EB"/>
            </a:solidFill>
            <a:ln>
              <a:noFill/>
            </a:ln>
          </p:spPr>
        </p:sp>
        <p:sp>
          <p:nvSpPr>
            <p:cNvPr id="19" name="m3-header-icon"/>
            <p:cNvSpPr/>
            <p:nvPr>
              <p:custDataLst>
                <p:tags r:id="rId13"/>
              </p:custDataLst>
            </p:nvPr>
          </p:nvSpPr>
          <p:spPr>
            <a:xfrm>
              <a:off x="12582" y="3465"/>
              <a:ext cx="541" cy="300"/>
            </a:xfrm>
            <a:custGeom>
              <a:avLst/>
              <a:gdLst/>
              <a:ahLst/>
              <a:cxnLst/>
              <a:rect l="l" t="t" r="r" b="b"/>
              <a:pathLst>
                <a:path w="576" h="512">
                  <a:moveTo>
                    <a:pt x="263" y="-27"/>
                  </a:moveTo>
                  <a:lnTo>
                    <a:pt x="278" y="10"/>
                  </a:lnTo>
                  <a:lnTo>
                    <a:pt x="315" y="25"/>
                  </a:lnTo>
                  <a:cubicBezTo>
                    <a:pt x="318" y="26"/>
                    <a:pt x="320" y="29"/>
                    <a:pt x="320" y="32"/>
                  </a:cubicBezTo>
                  <a:cubicBezTo>
                    <a:pt x="320" y="35"/>
                    <a:pt x="318" y="38"/>
                    <a:pt x="315" y="39"/>
                  </a:cubicBezTo>
                  <a:lnTo>
                    <a:pt x="278" y="54"/>
                  </a:lnTo>
                  <a:lnTo>
                    <a:pt x="263" y="91"/>
                  </a:lnTo>
                  <a:cubicBezTo>
                    <a:pt x="262" y="94"/>
                    <a:pt x="259" y="96"/>
                    <a:pt x="256" y="96"/>
                  </a:cubicBezTo>
                  <a:cubicBezTo>
                    <a:pt x="253" y="96"/>
                    <a:pt x="250" y="94"/>
                    <a:pt x="249" y="91"/>
                  </a:cubicBezTo>
                  <a:lnTo>
                    <a:pt x="234" y="54"/>
                  </a:lnTo>
                  <a:lnTo>
                    <a:pt x="197" y="39"/>
                  </a:lnTo>
                  <a:cubicBezTo>
                    <a:pt x="194" y="38"/>
                    <a:pt x="192" y="35"/>
                    <a:pt x="192" y="32"/>
                  </a:cubicBezTo>
                  <a:cubicBezTo>
                    <a:pt x="192" y="29"/>
                    <a:pt x="194" y="26"/>
                    <a:pt x="197" y="25"/>
                  </a:cubicBezTo>
                  <a:lnTo>
                    <a:pt x="234" y="10"/>
                  </a:lnTo>
                  <a:lnTo>
                    <a:pt x="249" y="-27"/>
                  </a:lnTo>
                  <a:cubicBezTo>
                    <a:pt x="250" y="-30"/>
                    <a:pt x="253" y="-32"/>
                    <a:pt x="256" y="-32"/>
                  </a:cubicBezTo>
                  <a:cubicBezTo>
                    <a:pt x="259" y="-32"/>
                    <a:pt x="262" y="-30"/>
                    <a:pt x="263" y="-27"/>
                  </a:cubicBezTo>
                  <a:close/>
                </a:path>
                <a:path w="576" h="512">
                  <a:moveTo>
                    <a:pt x="111" y="42"/>
                  </a:moveTo>
                  <a:lnTo>
                    <a:pt x="132" y="92"/>
                  </a:lnTo>
                  <a:lnTo>
                    <a:pt x="182" y="113"/>
                  </a:lnTo>
                  <a:cubicBezTo>
                    <a:pt x="188" y="116"/>
                    <a:pt x="192" y="122"/>
                    <a:pt x="192" y="128"/>
                  </a:cubicBezTo>
                  <a:cubicBezTo>
                    <a:pt x="192" y="134"/>
                    <a:pt x="188" y="140"/>
                    <a:pt x="182" y="143"/>
                  </a:cubicBezTo>
                  <a:lnTo>
                    <a:pt x="132" y="164"/>
                  </a:lnTo>
                  <a:lnTo>
                    <a:pt x="111" y="214"/>
                  </a:lnTo>
                  <a:cubicBezTo>
                    <a:pt x="108" y="220"/>
                    <a:pt x="102" y="224"/>
                    <a:pt x="96" y="224"/>
                  </a:cubicBezTo>
                  <a:cubicBezTo>
                    <a:pt x="90" y="224"/>
                    <a:pt x="84" y="220"/>
                    <a:pt x="81" y="214"/>
                  </a:cubicBezTo>
                  <a:lnTo>
                    <a:pt x="60" y="164"/>
                  </a:lnTo>
                  <a:lnTo>
                    <a:pt x="10" y="143"/>
                  </a:lnTo>
                  <a:cubicBezTo>
                    <a:pt x="4" y="140"/>
                    <a:pt x="0" y="134"/>
                    <a:pt x="0" y="128"/>
                  </a:cubicBezTo>
                  <a:cubicBezTo>
                    <a:pt x="0" y="122"/>
                    <a:pt x="4" y="116"/>
                    <a:pt x="10" y="113"/>
                  </a:cubicBezTo>
                  <a:lnTo>
                    <a:pt x="60" y="92"/>
                  </a:lnTo>
                  <a:lnTo>
                    <a:pt x="81" y="42"/>
                  </a:lnTo>
                  <a:cubicBezTo>
                    <a:pt x="84" y="36"/>
                    <a:pt x="90" y="32"/>
                    <a:pt x="96" y="32"/>
                  </a:cubicBezTo>
                  <a:cubicBezTo>
                    <a:pt x="102" y="32"/>
                    <a:pt x="108" y="36"/>
                    <a:pt x="111" y="42"/>
                  </a:cubicBezTo>
                  <a:close/>
                </a:path>
                <a:path w="576" h="512">
                  <a:moveTo>
                    <a:pt x="464" y="304"/>
                  </a:moveTo>
                  <a:cubicBezTo>
                    <a:pt x="470" y="304"/>
                    <a:pt x="476" y="308"/>
                    <a:pt x="479" y="314"/>
                  </a:cubicBezTo>
                  <a:lnTo>
                    <a:pt x="500" y="364"/>
                  </a:lnTo>
                  <a:lnTo>
                    <a:pt x="550" y="385"/>
                  </a:lnTo>
                  <a:cubicBezTo>
                    <a:pt x="556" y="388"/>
                    <a:pt x="560" y="394"/>
                    <a:pt x="560" y="400"/>
                  </a:cubicBezTo>
                  <a:cubicBezTo>
                    <a:pt x="560" y="406"/>
                    <a:pt x="556" y="412"/>
                    <a:pt x="550" y="415"/>
                  </a:cubicBezTo>
                  <a:lnTo>
                    <a:pt x="500" y="436"/>
                  </a:lnTo>
                  <a:lnTo>
                    <a:pt x="479" y="486"/>
                  </a:lnTo>
                  <a:cubicBezTo>
                    <a:pt x="476" y="492"/>
                    <a:pt x="470" y="496"/>
                    <a:pt x="464" y="496"/>
                  </a:cubicBezTo>
                  <a:cubicBezTo>
                    <a:pt x="458" y="496"/>
                    <a:pt x="452" y="492"/>
                    <a:pt x="449" y="486"/>
                  </a:cubicBezTo>
                  <a:lnTo>
                    <a:pt x="428" y="436"/>
                  </a:lnTo>
                  <a:lnTo>
                    <a:pt x="378" y="415"/>
                  </a:lnTo>
                  <a:cubicBezTo>
                    <a:pt x="372" y="412"/>
                    <a:pt x="368" y="406"/>
                    <a:pt x="368" y="400"/>
                  </a:cubicBezTo>
                  <a:cubicBezTo>
                    <a:pt x="368" y="394"/>
                    <a:pt x="372" y="388"/>
                    <a:pt x="378" y="385"/>
                  </a:cubicBezTo>
                  <a:lnTo>
                    <a:pt x="428" y="364"/>
                  </a:lnTo>
                  <a:lnTo>
                    <a:pt x="449" y="314"/>
                  </a:lnTo>
                  <a:cubicBezTo>
                    <a:pt x="452" y="308"/>
                    <a:pt x="458" y="304"/>
                    <a:pt x="464" y="304"/>
                  </a:cubicBezTo>
                  <a:close/>
                </a:path>
                <a:path w="576" h="512">
                  <a:moveTo>
                    <a:pt x="460" y="0"/>
                  </a:moveTo>
                  <a:cubicBezTo>
                    <a:pt x="471" y="0"/>
                    <a:pt x="482" y="4"/>
                    <a:pt x="490" y="12"/>
                  </a:cubicBezTo>
                  <a:lnTo>
                    <a:pt x="532" y="55"/>
                  </a:lnTo>
                  <a:cubicBezTo>
                    <a:pt x="540" y="62"/>
                    <a:pt x="544" y="73"/>
                    <a:pt x="544" y="84"/>
                  </a:cubicBezTo>
                  <a:cubicBezTo>
                    <a:pt x="544" y="95"/>
                    <a:pt x="540" y="106"/>
                    <a:pt x="532" y="114"/>
                  </a:cubicBezTo>
                  <a:lnTo>
                    <a:pt x="444" y="202"/>
                  </a:lnTo>
                  <a:lnTo>
                    <a:pt x="342" y="100"/>
                  </a:lnTo>
                  <a:lnTo>
                    <a:pt x="430" y="12"/>
                  </a:lnTo>
                  <a:cubicBezTo>
                    <a:pt x="438" y="4"/>
                    <a:pt x="449" y="0"/>
                    <a:pt x="460" y="0"/>
                  </a:cubicBezTo>
                  <a:close/>
                </a:path>
                <a:path w="576" h="512">
                  <a:moveTo>
                    <a:pt x="44" y="399"/>
                  </a:moveTo>
                  <a:lnTo>
                    <a:pt x="308" y="134"/>
                  </a:lnTo>
                  <a:lnTo>
                    <a:pt x="410" y="236"/>
                  </a:lnTo>
                  <a:lnTo>
                    <a:pt x="146" y="500"/>
                  </a:lnTo>
                  <a:cubicBezTo>
                    <a:pt x="138" y="508"/>
                    <a:pt x="127" y="512"/>
                    <a:pt x="116" y="512"/>
                  </a:cubicBezTo>
                  <a:cubicBezTo>
                    <a:pt x="105" y="512"/>
                    <a:pt x="94" y="508"/>
                    <a:pt x="87" y="500"/>
                  </a:cubicBezTo>
                  <a:lnTo>
                    <a:pt x="44" y="458"/>
                  </a:lnTo>
                  <a:cubicBezTo>
                    <a:pt x="36" y="450"/>
                    <a:pt x="32" y="439"/>
                    <a:pt x="32" y="428"/>
                  </a:cubicBezTo>
                  <a:cubicBezTo>
                    <a:pt x="32" y="417"/>
                    <a:pt x="36" y="406"/>
                    <a:pt x="44" y="399"/>
                  </a:cubicBezTo>
                  <a:close/>
                </a:path>
              </a:pathLst>
            </a:custGeom>
            <a:solidFill>
              <a:srgbClr val="FFFFFF"/>
            </a:solidFill>
            <a:ln>
              <a:noFill/>
            </a:ln>
          </p:spPr>
        </p:sp>
        <p:sp>
          <p:nvSpPr>
            <p:cNvPr id="20" name="m3-header-text"/>
            <p:cNvSpPr txBox="1"/>
            <p:nvPr>
              <p:custDataLst>
                <p:tags r:id="rId14"/>
              </p:custDataLst>
            </p:nvPr>
          </p:nvSpPr>
          <p:spPr>
            <a:xfrm>
              <a:off x="13361" y="3405"/>
              <a:ext cx="4831" cy="420"/>
            </a:xfrm>
            <a:prstGeom prst="rect">
              <a:avLst/>
            </a:prstGeom>
            <a:noFill/>
            <a:ln>
              <a:noFill/>
            </a:ln>
          </p:spPr>
          <p:txBody>
            <a:bodyPr wrap="none" lIns="0" tIns="0" rIns="0" bIns="0" rtlCol="0" anchor="ctr"/>
            <a:lstStyle/>
            <a:p>
              <a:pPr algn="l">
                <a:lnSpc>
                  <a:spcPct val="120000"/>
                </a:lnSpc>
              </a:pPr>
              <a:r>
                <a:rPr lang="en-US" sz="1400" b="1">
                  <a:solidFill>
                    <a:srgbClr val="FFFFFF"/>
                  </a:solidFill>
                  <a:latin typeface="MiSans" pitchFamily="34" charset="-122"/>
                  <a:ea typeface="MiSans" pitchFamily="34" charset="-122"/>
                </a:rPr>
                <a:t>抽取提示词配置</a:t>
              </a:r>
              <a:endParaRPr lang="en-US" sz="1400" b="1">
                <a:solidFill>
                  <a:srgbClr val="FFFFFF"/>
                </a:solidFill>
                <a:latin typeface="MiSans" pitchFamily="34" charset="-122"/>
                <a:ea typeface="MiSans" pitchFamily="34" charset="-122"/>
              </a:endParaRPr>
            </a:p>
          </p:txBody>
        </p:sp>
      </p:grpSp>
      <p:sp>
        <p:nvSpPr>
          <p:cNvPr id="21" name="m3-content"/>
          <p:cNvSpPr txBox="1"/>
          <p:nvPr>
            <p:custDataLst>
              <p:tags r:id="rId15"/>
            </p:custDataLst>
          </p:nvPr>
        </p:nvSpPr>
        <p:spPr>
          <a:xfrm>
            <a:off x="7989570" y="2590165"/>
            <a:ext cx="3581400" cy="3657600"/>
          </a:xfrm>
          <a:prstGeom prst="rect">
            <a:avLst/>
          </a:prstGeom>
          <a:noFill/>
          <a:ln>
            <a:noFill/>
          </a:ln>
        </p:spPr>
        <p:txBody>
          <a:bodyPr wrap="square" lIns="0" tIns="0" rIns="0" bIns="0" rtlCol="0"/>
          <a:lstStyle/>
          <a:p>
            <a:pPr>
              <a:lnSpc>
                <a:spcPct val="160000"/>
              </a:lnSpc>
            </a:pPr>
            <a:r>
              <a:rPr lang="en-US" sz="1400" b="1">
                <a:solidFill>
                  <a:srgbClr val="2563EB"/>
                </a:solidFill>
                <a:latin typeface="微软雅黑" panose="020B0503020204020204" charset="-122"/>
                <a:ea typeface="微软雅黑" panose="020B0503020204020204" charset="-122"/>
                <a:cs typeface="微软雅黑" panose="020B0503020204020204" charset="-122"/>
              </a:rPr>
              <a:t>Prompt模板管理</a:t>
            </a:r>
            <a:endParaRPr lang="en-US" sz="1400">
              <a:latin typeface="微软雅黑" panose="020B0503020204020204" charset="-122"/>
              <a:ea typeface="微软雅黑" panose="020B0503020204020204" charset="-122"/>
              <a:cs typeface="微软雅黑" panose="020B0503020204020204" charset="-122"/>
            </a:endParaRPr>
          </a:p>
          <a:p>
            <a:pPr>
              <a:lnSpc>
                <a:spcPct val="160000"/>
              </a:lnSpc>
            </a:pPr>
            <a:r>
              <a:rPr lang="en-US" sz="1400">
                <a:solidFill>
                  <a:srgbClr val="1E293B"/>
                </a:solidFill>
                <a:latin typeface="微软雅黑" panose="020B0503020204020204" charset="-122"/>
                <a:ea typeface="微软雅黑" panose="020B0503020204020204" charset="-122"/>
                <a:cs typeface="微软雅黑" panose="020B0503020204020204" charset="-122"/>
              </a:rPr>
              <a:t>• 内置抽取Prompt模板，</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支持自定义抽取</a:t>
            </a:r>
            <a:r>
              <a:rPr lang="en-US" altLang="zh-CN" sz="1400">
                <a:solidFill>
                  <a:srgbClr val="1E293B"/>
                </a:solidFill>
                <a:latin typeface="微软雅黑" panose="020B0503020204020204" charset="-122"/>
                <a:ea typeface="微软雅黑" panose="020B0503020204020204" charset="-122"/>
                <a:cs typeface="微软雅黑" panose="020B0503020204020204" charset="-122"/>
              </a:rPr>
              <a:t>prompt</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内容</a:t>
            </a:r>
            <a:endParaRPr lang="en-US" altLang="zh-CN" sz="140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endParaRPr lang="en-US" sz="1400" b="1">
              <a:solidFill>
                <a:srgbClr val="2563EB"/>
              </a:solidFill>
              <a:latin typeface="微软雅黑" panose="020B0503020204020204" charset="-122"/>
              <a:ea typeface="微软雅黑" panose="020B0503020204020204" charset="-122"/>
              <a:cs typeface="微软雅黑" panose="020B0503020204020204" charset="-122"/>
            </a:endParaRPr>
          </a:p>
          <a:p>
            <a:pPr>
              <a:lnSpc>
                <a:spcPct val="160000"/>
              </a:lnSpc>
              <a:spcBef>
                <a:spcPts val="800"/>
              </a:spcBef>
            </a:pPr>
            <a:r>
              <a:rPr lang="en-US" sz="1400" b="1">
                <a:solidFill>
                  <a:srgbClr val="2563EB"/>
                </a:solidFill>
                <a:latin typeface="微软雅黑" panose="020B0503020204020204" charset="-122"/>
                <a:ea typeface="微软雅黑" panose="020B0503020204020204" charset="-122"/>
                <a:cs typeface="微软雅黑" panose="020B0503020204020204" charset="-122"/>
              </a:rPr>
              <a:t>效果调优</a:t>
            </a:r>
            <a:endParaRPr lang="en-US" sz="1400">
              <a:latin typeface="微软雅黑" panose="020B0503020204020204" charset="-122"/>
              <a:ea typeface="微软雅黑" panose="020B0503020204020204" charset="-122"/>
              <a:cs typeface="微软雅黑" panose="020B0503020204020204" charset="-122"/>
            </a:endParaRPr>
          </a:p>
          <a:p>
            <a:pPr>
              <a:lnSpc>
                <a:spcPct val="160000"/>
              </a:lnSpc>
            </a:pPr>
            <a:r>
              <a:rPr lang="en-US" sz="1400">
                <a:solidFill>
                  <a:srgbClr val="1E293B"/>
                </a:solidFill>
                <a:latin typeface="微软雅黑" panose="020B0503020204020204" charset="-122"/>
                <a:ea typeface="微软雅黑" panose="020B0503020204020204" charset="-122"/>
                <a:cs typeface="微软雅黑" panose="020B0503020204020204" charset="-122"/>
              </a:rPr>
              <a:t>• 抽取结果实时预览</a:t>
            </a:r>
            <a:endParaRPr lang="en-US" sz="1400">
              <a:latin typeface="微软雅黑" panose="020B0503020204020204" charset="-122"/>
              <a:ea typeface="微软雅黑" panose="020B0503020204020204" charset="-122"/>
              <a:cs typeface="微软雅黑" panose="020B0503020204020204" charset="-122"/>
            </a:endParaRPr>
          </a:p>
          <a:p>
            <a:pPr>
              <a:lnSpc>
                <a:spcPct val="160000"/>
              </a:lnSpc>
            </a:pPr>
            <a:r>
              <a:rPr lang="en-US" sz="140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支持基于大模型进行</a:t>
            </a:r>
            <a:r>
              <a:rPr lang="en-US" sz="1400">
                <a:solidFill>
                  <a:srgbClr val="1E293B"/>
                </a:solidFill>
                <a:latin typeface="微软雅黑" panose="020B0503020204020204" charset="-122"/>
                <a:ea typeface="微软雅黑" panose="020B0503020204020204" charset="-122"/>
                <a:cs typeface="微软雅黑" panose="020B0503020204020204" charset="-122"/>
              </a:rPr>
              <a:t>Prompt</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调优</a:t>
            </a:r>
            <a:endParaRPr lang="zh-CN" altLang="en-US" sz="14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4" name="m2-content"/>
          <p:cNvSpPr txBox="1"/>
          <p:nvPr>
            <p:custDataLst>
              <p:tags r:id="rId16"/>
            </p:custDataLst>
          </p:nvPr>
        </p:nvSpPr>
        <p:spPr>
          <a:xfrm>
            <a:off x="421640" y="2590165"/>
            <a:ext cx="3314700" cy="3657600"/>
          </a:xfrm>
          <a:prstGeom prst="rect">
            <a:avLst/>
          </a:prstGeom>
          <a:noFill/>
          <a:ln>
            <a:noFill/>
          </a:ln>
        </p:spPr>
        <p:txBody>
          <a:bodyPr wrap="square" lIns="0" tIns="0" rIns="0" bIns="0" rtlCol="0"/>
          <a:lstStyle/>
          <a:p>
            <a:pPr algn="l">
              <a:lnSpc>
                <a:spcPct val="160000"/>
              </a:lnSpc>
              <a:spcBef>
                <a:spcPts val="800"/>
              </a:spcBef>
              <a:buClrTx/>
              <a:buSzTx/>
              <a:buFontTx/>
            </a:pPr>
            <a:r>
              <a:rPr lang="en-US" sz="1400" b="1">
                <a:solidFill>
                  <a:srgbClr val="2563EB"/>
                </a:solidFill>
                <a:latin typeface="微软雅黑" panose="020B0503020204020204" charset="-122"/>
                <a:ea typeface="微软雅黑" panose="020B0503020204020204" charset="-122"/>
                <a:cs typeface="微软雅黑" panose="020B0503020204020204" charset="-122"/>
              </a:rPr>
              <a:t>模型配置</a:t>
            </a:r>
            <a:endParaRPr lang="en-US" sz="1400" b="1">
              <a:solidFill>
                <a:srgbClr val="2563EB"/>
              </a:solidFill>
              <a:latin typeface="微软雅黑" panose="020B0503020204020204" charset="-122"/>
              <a:ea typeface="微软雅黑" panose="020B0503020204020204" charset="-122"/>
              <a:cs typeface="微软雅黑" panose="020B0503020204020204" charset="-122"/>
            </a:endParaRPr>
          </a:p>
          <a:p>
            <a:pPr>
              <a:lnSpc>
                <a:spcPct val="160000"/>
              </a:lnSpc>
            </a:pPr>
            <a:r>
              <a:rPr lang="en-US" sz="140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支持</a:t>
            </a:r>
            <a:r>
              <a:rPr lang="en-US" altLang="zh-CN" sz="1400">
                <a:solidFill>
                  <a:srgbClr val="1E293B"/>
                </a:solidFill>
                <a:latin typeface="微软雅黑" panose="020B0503020204020204" charset="-122"/>
                <a:ea typeface="微软雅黑" panose="020B0503020204020204" charset="-122"/>
                <a:cs typeface="微软雅黑" panose="020B0503020204020204" charset="-122"/>
              </a:rPr>
              <a:t>Qwen</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a:t>
            </a:r>
            <a:r>
              <a:rPr lang="en-US" altLang="zh-CN" sz="1400">
                <a:solidFill>
                  <a:srgbClr val="1E293B"/>
                </a:solidFill>
                <a:latin typeface="微软雅黑" panose="020B0503020204020204" charset="-122"/>
                <a:ea typeface="微软雅黑" panose="020B0503020204020204" charset="-122"/>
                <a:cs typeface="微软雅黑" panose="020B0503020204020204" charset="-122"/>
              </a:rPr>
              <a:t>GLM</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等主流大模型配置，适配通用与垂直领域抽取需求。</a:t>
            </a:r>
            <a:endParaRPr lang="zh-CN" altLang="en-US" sz="1400">
              <a:solidFill>
                <a:srgbClr val="1E293B"/>
              </a:solidFill>
              <a:latin typeface="微软雅黑" panose="020B0503020204020204" charset="-122"/>
              <a:ea typeface="微软雅黑" panose="020B0503020204020204" charset="-122"/>
              <a:cs typeface="微软雅黑" panose="020B0503020204020204" charset="-122"/>
            </a:endParaRPr>
          </a:p>
          <a:p>
            <a:pPr>
              <a:lnSpc>
                <a:spcPct val="160000"/>
              </a:lnSpc>
            </a:pPr>
            <a:endParaRPr lang="zh-CN" altLang="en-US" sz="1400" b="1">
              <a:solidFill>
                <a:srgbClr val="1E293B"/>
              </a:solidFill>
              <a:latin typeface="微软雅黑" panose="020B0503020204020204" charset="-122"/>
              <a:ea typeface="微软雅黑" panose="020B0503020204020204" charset="-122"/>
              <a:cs typeface="微软雅黑" panose="020B0503020204020204" charset="-122"/>
            </a:endParaRPr>
          </a:p>
          <a:p>
            <a:pPr algn="l">
              <a:lnSpc>
                <a:spcPct val="160000"/>
              </a:lnSpc>
              <a:spcBef>
                <a:spcPts val="800"/>
              </a:spcBef>
              <a:buClrTx/>
              <a:buSzTx/>
              <a:buFontTx/>
            </a:pPr>
            <a:r>
              <a:rPr lang="en-US" sz="1400" b="1">
                <a:solidFill>
                  <a:srgbClr val="2563EB"/>
                </a:solidFill>
                <a:latin typeface="微软雅黑" panose="020B0503020204020204" charset="-122"/>
                <a:ea typeface="微软雅黑" panose="020B0503020204020204" charset="-122"/>
                <a:cs typeface="微软雅黑" panose="020B0503020204020204" charset="-122"/>
              </a:rPr>
              <a:t>模型参数配置</a:t>
            </a:r>
            <a:endParaRPr lang="en-US" sz="1400" b="1">
              <a:solidFill>
                <a:srgbClr val="2563EB"/>
              </a:solidFill>
              <a:latin typeface="微软雅黑" panose="020B0503020204020204" charset="-122"/>
              <a:ea typeface="微软雅黑" panose="020B0503020204020204" charset="-122"/>
              <a:cs typeface="微软雅黑" panose="020B0503020204020204" charset="-122"/>
            </a:endParaRPr>
          </a:p>
          <a:p>
            <a:pPr>
              <a:lnSpc>
                <a:spcPct val="160000"/>
              </a:lnSpc>
            </a:pPr>
            <a:r>
              <a:rPr lang="en-US" sz="1400">
                <a:solidFill>
                  <a:srgbClr val="1E293B"/>
                </a:solidFill>
                <a:latin typeface="微软雅黑" panose="020B0503020204020204" charset="-122"/>
                <a:ea typeface="微软雅黑" panose="020B0503020204020204" charset="-122"/>
                <a:cs typeface="微软雅黑" panose="020B0503020204020204" charset="-122"/>
              </a:rPr>
              <a:t>• </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配置温度、</a:t>
            </a:r>
            <a:r>
              <a:rPr lang="en-US" altLang="zh-CN" sz="1400">
                <a:solidFill>
                  <a:srgbClr val="1E293B"/>
                </a:solidFill>
                <a:latin typeface="微软雅黑" panose="020B0503020204020204" charset="-122"/>
                <a:ea typeface="微软雅黑" panose="020B0503020204020204" charset="-122"/>
                <a:cs typeface="微软雅黑" panose="020B0503020204020204" charset="-122"/>
              </a:rPr>
              <a:t>Top-P</a:t>
            </a:r>
            <a:r>
              <a:rPr lang="zh-CN" altLang="en-US" sz="1400">
                <a:solidFill>
                  <a:srgbClr val="1E293B"/>
                </a:solidFill>
                <a:latin typeface="微软雅黑" panose="020B0503020204020204" charset="-122"/>
                <a:ea typeface="微软雅黑" panose="020B0503020204020204" charset="-122"/>
                <a:cs typeface="微软雅黑" panose="020B0503020204020204" charset="-122"/>
              </a:rPr>
              <a:t>等推理参数，设定并发数平衡效率与成本</a:t>
            </a:r>
            <a:endParaRPr lang="zh-CN" altLang="en-US" sz="1400">
              <a:solidFill>
                <a:srgbClr val="1E293B"/>
              </a:solidFill>
              <a:latin typeface="微软雅黑" panose="020B0503020204020204" charset="-122"/>
              <a:ea typeface="微软雅黑" panose="020B0503020204020204" charset="-122"/>
              <a:cs typeface="微软雅黑" panose="020B0503020204020204" charset="-122"/>
            </a:endParaRPr>
          </a:p>
        </p:txBody>
      </p:sp>
      <p:sp>
        <p:nvSpPr>
          <p:cNvPr id="48" name="文本占位符 1"/>
          <p:cNvSpPr>
            <a:spLocks noGrp="1"/>
          </p:cNvSpPr>
          <p:nvPr/>
        </p:nvSpPr>
        <p:spPr>
          <a:xfrm>
            <a:off x="320675" y="922020"/>
            <a:ext cx="1162367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基于大模型与多算子流水线，</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自动从结构化解析结果中抽取实体、关系与属性，内置金融领域抽取模板，全面保障知识抽取的准确率与规范性，实现高效高质量的图谱构建。</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专题知识图谱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3" name="矩形 52"/>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2.3.2 专题知识图谱加工-图谱生成</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81" name="圆角矩形 80"/>
          <p:cNvSpPr/>
          <p:nvPr/>
        </p:nvSpPr>
        <p:spPr>
          <a:xfrm>
            <a:off x="411480" y="1932940"/>
            <a:ext cx="4327525" cy="4665980"/>
          </a:xfrm>
          <a:prstGeom prst="roundRect">
            <a:avLst>
              <a:gd name="adj" fmla="val 2516"/>
            </a:avLst>
          </a:prstGeom>
          <a:solidFill>
            <a:srgbClr val="FBFDFD"/>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kumimoji="1" lang="zh-CN" altLang="en-US" sz="1800" b="1" dirty="0">
                <a:solidFill>
                  <a:srgbClr val="4472C4"/>
                </a:solidFill>
                <a:latin typeface="微软雅黑" panose="020B0503020204020204" charset="-122"/>
                <a:ea typeface="微软雅黑" panose="020B0503020204020204" charset="-122"/>
              </a:rPr>
              <a:t>专题知识图谱构建</a:t>
            </a:r>
            <a:endParaRPr kumimoji="1" lang="zh-CN" altLang="en-US" sz="1800" b="1" dirty="0">
              <a:solidFill>
                <a:srgbClr val="4472C4"/>
              </a:solidFill>
              <a:latin typeface="微软雅黑" panose="020B0503020204020204" charset="-122"/>
              <a:ea typeface="微软雅黑" panose="020B0503020204020204" charset="-122"/>
            </a:endParaRPr>
          </a:p>
        </p:txBody>
      </p:sp>
      <p:sp>
        <p:nvSpPr>
          <p:cNvPr id="4" name="AutoShape 8"/>
          <p:cNvSpPr/>
          <p:nvPr/>
        </p:nvSpPr>
        <p:spPr>
          <a:xfrm>
            <a:off x="592455" y="2547620"/>
            <a:ext cx="3728085" cy="1090930"/>
          </a:xfrm>
          <a:prstGeom prst="roundRect">
            <a:avLst>
              <a:gd name="adj" fmla="val 0"/>
            </a:avLst>
          </a:prstGeom>
          <a:solidFill>
            <a:schemeClr val="bg1">
              <a:lumMod val="95000"/>
            </a:schemeClr>
          </a:solidFill>
          <a:ln cap="flat" cmpd="sng">
            <a:solidFill>
              <a:schemeClr val="bg1">
                <a:lumMod val="85000"/>
                <a:alpha val="100000"/>
              </a:schemeClr>
            </a:solidFill>
            <a:prstDash val="solid"/>
            <a:round/>
          </a:ln>
        </p:spPr>
        <p:txBody>
          <a:bodyPr vert="horz" wrap="square" lIns="63500" tIns="63500" rIns="63500" bIns="63500" rtlCol="0" anchor="ctr"/>
          <a:lstStyle/>
          <a:p>
            <a:pPr algn="ctr">
              <a:defRPr/>
            </a:pPr>
            <a:endParaRPr>
              <a:solidFill>
                <a:schemeClr val="tx1"/>
              </a:solidFill>
              <a:latin typeface="微软雅黑" panose="020B0503020204020204" charset="-122"/>
              <a:ea typeface="微软雅黑" panose="020B0503020204020204" charset="-122"/>
            </a:endParaRPr>
          </a:p>
        </p:txBody>
      </p:sp>
      <p:sp>
        <p:nvSpPr>
          <p:cNvPr id="5" name="AutoShape 9"/>
          <p:cNvSpPr/>
          <p:nvPr/>
        </p:nvSpPr>
        <p:spPr>
          <a:xfrm>
            <a:off x="719455" y="2656840"/>
            <a:ext cx="3488690" cy="9182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01 文档标准化接入</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marL="0" indent="0" algn="l">
              <a:lnSpc>
                <a:spcPct val="100000"/>
              </a:lnSpc>
            </a:pP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归集</a:t>
            </a:r>
            <a:r>
              <a:rPr lang="zh-CN" alt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个人房屋抵押贷款合同类</a:t>
            </a: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等多源非结构化文档，统一格式标准与存储路径，夯实数据基础。</a:t>
            </a:r>
            <a:endPar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6"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33955" y="3702050"/>
            <a:ext cx="254000" cy="254000"/>
          </a:xfrm>
          <a:prstGeom prst="rect">
            <a:avLst/>
          </a:prstGeom>
        </p:spPr>
      </p:pic>
      <p:sp>
        <p:nvSpPr>
          <p:cNvPr id="7" name="AutoShape 11"/>
          <p:cNvSpPr/>
          <p:nvPr/>
        </p:nvSpPr>
        <p:spPr>
          <a:xfrm>
            <a:off x="592455" y="4019550"/>
            <a:ext cx="3728085" cy="990600"/>
          </a:xfrm>
          <a:prstGeom prst="roundRect">
            <a:avLst>
              <a:gd name="adj" fmla="val 0"/>
            </a:avLst>
          </a:prstGeom>
          <a:solidFill>
            <a:schemeClr val="bg1">
              <a:lumMod val="95000"/>
            </a:schemeClr>
          </a:solidFill>
          <a:ln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6" name="AutoShape 12"/>
          <p:cNvSpPr/>
          <p:nvPr/>
        </p:nvSpPr>
        <p:spPr>
          <a:xfrm>
            <a:off x="719455" y="4083050"/>
            <a:ext cx="3488690" cy="863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02 智能实体抽取</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marL="0" indent="0" algn="l">
              <a:lnSpc>
                <a:spcPct val="100000"/>
              </a:lnSpc>
            </a:pP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自动识别并抽取</a:t>
            </a:r>
            <a:r>
              <a:rPr lang="zh-CN"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抵押人、抵押权人、合同、利率、期限、用途、还款额等</a:t>
            </a: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等核心实体，实现关键信息的结构化提取。</a:t>
            </a:r>
            <a:endPar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17"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433955" y="5073650"/>
            <a:ext cx="254000" cy="254000"/>
          </a:xfrm>
          <a:prstGeom prst="rect">
            <a:avLst/>
          </a:prstGeom>
        </p:spPr>
      </p:pic>
      <p:sp>
        <p:nvSpPr>
          <p:cNvPr id="18" name="AutoShape 14"/>
          <p:cNvSpPr/>
          <p:nvPr/>
        </p:nvSpPr>
        <p:spPr>
          <a:xfrm>
            <a:off x="592455" y="5391150"/>
            <a:ext cx="3728085" cy="990600"/>
          </a:xfrm>
          <a:prstGeom prst="roundRect">
            <a:avLst>
              <a:gd name="adj" fmla="val 0"/>
            </a:avLst>
          </a:prstGeom>
          <a:solidFill>
            <a:schemeClr val="bg1">
              <a:lumMod val="95000"/>
            </a:schemeClr>
          </a:solidFill>
          <a:ln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9" name="AutoShape 15"/>
          <p:cNvSpPr/>
          <p:nvPr/>
        </p:nvSpPr>
        <p:spPr>
          <a:xfrm>
            <a:off x="719455" y="5454650"/>
            <a:ext cx="3488690" cy="8636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03 关联关系与图谱生成</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marL="0" indent="0" algn="l">
              <a:lnSpc>
                <a:spcPct val="100000"/>
              </a:lnSpc>
            </a:pP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自动挖掘实体间业务关系，构建可视化的业务投产知识网络，形成“业务</a:t>
            </a:r>
            <a:r>
              <a:rPr lang="zh-CN" alt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需求</a:t>
            </a:r>
            <a:r>
              <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一张图”。</a:t>
            </a:r>
            <a:endParaRPr lang="en-US" sz="12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0" name="圆角矩形 19"/>
          <p:cNvSpPr/>
          <p:nvPr/>
        </p:nvSpPr>
        <p:spPr>
          <a:xfrm>
            <a:off x="5795645" y="2032635"/>
            <a:ext cx="5814695" cy="4566285"/>
          </a:xfrm>
          <a:prstGeom prst="roundRect">
            <a:avLst>
              <a:gd name="adj" fmla="val 2516"/>
            </a:avLst>
          </a:prstGeom>
          <a:solidFill>
            <a:srgbClr val="FBFDFD"/>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kumimoji="1" lang="zh-CN" altLang="en-US" sz="1800" b="1" dirty="0">
                <a:solidFill>
                  <a:srgbClr val="4472C4"/>
                </a:solidFill>
                <a:latin typeface="微软雅黑" panose="020B0503020204020204" charset="-122"/>
                <a:ea typeface="微软雅黑" panose="020B0503020204020204" charset="-122"/>
              </a:rPr>
              <a:t>业务知识一张图</a:t>
            </a:r>
            <a:r>
              <a:rPr kumimoji="1" lang="en-US" altLang="zh-CN" sz="1800" b="1" dirty="0">
                <a:solidFill>
                  <a:srgbClr val="4472C4"/>
                </a:solidFill>
                <a:latin typeface="微软雅黑" panose="020B0503020204020204" charset="-122"/>
                <a:ea typeface="微软雅黑" panose="020B0503020204020204" charset="-122"/>
              </a:rPr>
              <a:t>（</a:t>
            </a:r>
            <a:r>
              <a:rPr kumimoji="1" lang="zh-CN" altLang="en-US" sz="1800" b="1" dirty="0">
                <a:solidFill>
                  <a:srgbClr val="4472C4"/>
                </a:solidFill>
                <a:latin typeface="微软雅黑" panose="020B0503020204020204" charset="-122"/>
                <a:ea typeface="微软雅黑" panose="020B0503020204020204" charset="-122"/>
              </a:rPr>
              <a:t>专题图谱</a:t>
            </a:r>
            <a:r>
              <a:rPr kumimoji="1" lang="en-US" altLang="zh-CN" sz="1800" b="1" dirty="0">
                <a:solidFill>
                  <a:srgbClr val="4472C4"/>
                </a:solidFill>
                <a:latin typeface="微软雅黑" panose="020B0503020204020204" charset="-122"/>
                <a:ea typeface="微软雅黑" panose="020B0503020204020204" charset="-122"/>
              </a:rPr>
              <a:t>）</a:t>
            </a:r>
            <a:endParaRPr kumimoji="1" lang="en-US" altLang="zh-CN" sz="1800" b="1" dirty="0">
              <a:solidFill>
                <a:srgbClr val="4472C4"/>
              </a:solidFill>
              <a:latin typeface="微软雅黑" panose="020B0503020204020204" charset="-122"/>
              <a:ea typeface="微软雅黑" panose="020B0503020204020204" charset="-122"/>
            </a:endParaRPr>
          </a:p>
        </p:txBody>
      </p:sp>
      <p:sp>
        <p:nvSpPr>
          <p:cNvPr id="29" name="圆角矩形 9"/>
          <p:cNvSpPr/>
          <p:nvPr/>
        </p:nvSpPr>
        <p:spPr bwMode="auto">
          <a:xfrm>
            <a:off x="126365" y="906145"/>
            <a:ext cx="11795125" cy="919480"/>
          </a:xfrm>
          <a:prstGeom prst="roundRect">
            <a:avLst>
              <a:gd name="adj" fmla="val 3086"/>
            </a:avLst>
          </a:prstGeom>
          <a:noFill/>
          <a:ln w="9525" cap="rnd" cmpd="sng" algn="ctr">
            <a:solidFill>
              <a:srgbClr val="009692"/>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dirty="0">
                <a:effectLst/>
                <a:latin typeface="微软雅黑" panose="020B0503020204020204" charset="-122"/>
                <a:ea typeface="微软雅黑" panose="020B0503020204020204" charset="-122"/>
              </a:rPr>
              <a:t>专题知识图谱生成模块承接文档解析与要素抽取结果，</a:t>
            </a:r>
            <a:r>
              <a:rPr lang="zh-CN" altLang="en-US" b="1" dirty="0">
                <a:solidFill>
                  <a:srgbClr val="C00000"/>
                </a:solidFill>
                <a:effectLst/>
                <a:latin typeface="微软雅黑" panose="020B0503020204020204" charset="-122"/>
                <a:ea typeface="微软雅黑" panose="020B0503020204020204" charset="-122"/>
              </a:rPr>
              <a:t>在专题本体约束下自动完成实体</a:t>
            </a:r>
            <a:r>
              <a:rPr lang="en-US" altLang="zh-CN" b="1" dirty="0">
                <a:solidFill>
                  <a:srgbClr val="C00000"/>
                </a:solidFill>
                <a:effectLst/>
                <a:latin typeface="微软雅黑" panose="020B0503020204020204" charset="-122"/>
                <a:ea typeface="微软雅黑" panose="020B0503020204020204" charset="-122"/>
              </a:rPr>
              <a:t> / </a:t>
            </a:r>
            <a:r>
              <a:rPr lang="zh-CN" altLang="en-US" b="1" dirty="0">
                <a:solidFill>
                  <a:srgbClr val="C00000"/>
                </a:solidFill>
                <a:effectLst/>
                <a:latin typeface="微软雅黑" panose="020B0503020204020204" charset="-122"/>
                <a:ea typeface="微软雅黑" panose="020B0503020204020204" charset="-122"/>
              </a:rPr>
              <a:t>关系</a:t>
            </a:r>
            <a:r>
              <a:rPr lang="en-US" altLang="zh-CN" b="1" dirty="0">
                <a:solidFill>
                  <a:srgbClr val="C00000"/>
                </a:solidFill>
                <a:effectLst/>
                <a:latin typeface="微软雅黑" panose="020B0503020204020204" charset="-122"/>
                <a:ea typeface="微软雅黑" panose="020B0503020204020204" charset="-122"/>
              </a:rPr>
              <a:t> / </a:t>
            </a:r>
            <a:r>
              <a:rPr lang="zh-CN" altLang="en-US" b="1" dirty="0">
                <a:solidFill>
                  <a:srgbClr val="C00000"/>
                </a:solidFill>
                <a:effectLst/>
                <a:latin typeface="微软雅黑" panose="020B0503020204020204" charset="-122"/>
                <a:ea typeface="微软雅黑" panose="020B0503020204020204" charset="-122"/>
              </a:rPr>
              <a:t>属性抽取、跨文档知识融合与质量校验，自动生成</a:t>
            </a:r>
            <a:r>
              <a:rPr lang="en-US" altLang="zh-CN" b="1" dirty="0">
                <a:solidFill>
                  <a:srgbClr val="C00000"/>
                </a:solidFill>
                <a:effectLst/>
                <a:latin typeface="微软雅黑" panose="020B0503020204020204" charset="-122"/>
                <a:ea typeface="微软雅黑" panose="020B0503020204020204" charset="-122"/>
              </a:rPr>
              <a:t> "</a:t>
            </a:r>
            <a:r>
              <a:rPr lang="zh-CN" altLang="en-US" b="1" dirty="0">
                <a:solidFill>
                  <a:srgbClr val="C00000"/>
                </a:solidFill>
                <a:effectLst/>
                <a:latin typeface="微软雅黑" panose="020B0503020204020204" charset="-122"/>
                <a:ea typeface="微软雅黑" panose="020B0503020204020204" charset="-122"/>
              </a:rPr>
              <a:t>一类文档一张图</a:t>
            </a:r>
            <a:r>
              <a:rPr lang="en-US" altLang="zh-CN" b="1" dirty="0">
                <a:solidFill>
                  <a:srgbClr val="C00000"/>
                </a:solidFill>
                <a:effectLst/>
                <a:latin typeface="微软雅黑" panose="020B0503020204020204" charset="-122"/>
                <a:ea typeface="微软雅黑" panose="020B0503020204020204" charset="-122"/>
              </a:rPr>
              <a:t>" </a:t>
            </a:r>
            <a:r>
              <a:rPr lang="zh-CN" altLang="en-US" b="1" dirty="0">
                <a:solidFill>
                  <a:srgbClr val="C00000"/>
                </a:solidFill>
                <a:effectLst/>
                <a:latin typeface="微软雅黑" panose="020B0503020204020204" charset="-122"/>
                <a:ea typeface="微软雅黑" panose="020B0503020204020204" charset="-122"/>
              </a:rPr>
              <a:t>的专题知识图谱，支撑要素级查询与多跳关联分析。</a:t>
            </a:r>
            <a:endParaRPr lang="zh-CN" altLang="en-US" b="1" dirty="0">
              <a:solidFill>
                <a:srgbClr val="C00000"/>
              </a:solidFill>
              <a:effectLst/>
              <a:latin typeface="微软雅黑" panose="020B0503020204020204" charset="-122"/>
              <a:ea typeface="微软雅黑" panose="020B0503020204020204" charset="-122"/>
            </a:endParaRPr>
          </a:p>
        </p:txBody>
      </p:sp>
      <p:sp>
        <p:nvSpPr>
          <p:cNvPr id="97" name="燕尾形 96"/>
          <p:cNvSpPr/>
          <p:nvPr/>
        </p:nvSpPr>
        <p:spPr>
          <a:xfrm>
            <a:off x="5031105" y="3638550"/>
            <a:ext cx="473075" cy="1532255"/>
          </a:xfrm>
          <a:prstGeom prst="chevron">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3600">
              <a:solidFill>
                <a:srgbClr val="6666FF"/>
              </a:solidFill>
            </a:endParaRPr>
          </a:p>
        </p:txBody>
      </p:sp>
      <p:pic>
        <p:nvPicPr>
          <p:cNvPr id="53" name="图片 52" descr="2e679ce25d2d91be7745e79f3779e1c6"/>
          <p:cNvPicPr>
            <a:picLocks noChangeAspect="1"/>
          </p:cNvPicPr>
          <p:nvPr/>
        </p:nvPicPr>
        <p:blipFill>
          <a:blip r:embed="rId3"/>
          <a:stretch>
            <a:fillRect/>
          </a:stretch>
        </p:blipFill>
        <p:spPr>
          <a:xfrm>
            <a:off x="5632450" y="3131185"/>
            <a:ext cx="5668010" cy="2323465"/>
          </a:xfrm>
          <a:prstGeom prst="rect">
            <a:avLst/>
          </a:prstGeom>
        </p:spPr>
      </p:pic>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专题知识图谱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3" name="矩形 2"/>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229870" y="4098290"/>
            <a:ext cx="4959985" cy="2647315"/>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rPr>
              <a:t>专题知识图谱</a:t>
            </a:r>
            <a:r>
              <a:rPr kumimoji="1" lang="en-US" altLang="zh-CN" sz="1600" b="1" dirty="0">
                <a:solidFill>
                  <a:schemeClr val="accent1"/>
                </a:solidFill>
                <a:latin typeface="微软雅黑" panose="020B0503020204020204" charset="-122"/>
                <a:ea typeface="微软雅黑" panose="020B0503020204020204" charset="-122"/>
              </a:rPr>
              <a:t>-</a:t>
            </a:r>
            <a:r>
              <a:rPr kumimoji="1" lang="zh-CN" altLang="en-US" sz="1600" b="1" dirty="0">
                <a:solidFill>
                  <a:schemeClr val="accent1"/>
                </a:solidFill>
                <a:latin typeface="微软雅黑" panose="020B0503020204020204" charset="-122"/>
                <a:ea typeface="微软雅黑" panose="020B0503020204020204" charset="-122"/>
              </a:rPr>
              <a:t>本体模型（实体</a:t>
            </a:r>
            <a:r>
              <a:rPr kumimoji="1" lang="en-US" altLang="zh-CN" sz="1600" b="1" dirty="0">
                <a:solidFill>
                  <a:schemeClr val="accent1"/>
                </a:solidFill>
                <a:latin typeface="微软雅黑" panose="020B0503020204020204" charset="-122"/>
                <a:ea typeface="微软雅黑" panose="020B0503020204020204" charset="-122"/>
              </a:rPr>
              <a:t>+</a:t>
            </a:r>
            <a:r>
              <a:rPr kumimoji="1" lang="zh-CN" altLang="en-US" sz="1600" b="1" dirty="0">
                <a:solidFill>
                  <a:schemeClr val="accent1"/>
                </a:solidFill>
                <a:latin typeface="微软雅黑" panose="020B0503020204020204" charset="-122"/>
                <a:ea typeface="微软雅黑" panose="020B0503020204020204" charset="-122"/>
              </a:rPr>
              <a:t>关系）</a:t>
            </a:r>
            <a:endParaRPr kumimoji="1" lang="zh-CN" altLang="en-US" sz="1600" b="1" dirty="0">
              <a:solidFill>
                <a:schemeClr val="accent1"/>
              </a:solidFill>
              <a:latin typeface="微软雅黑" panose="020B0503020204020204" charset="-122"/>
              <a:ea typeface="微软雅黑" panose="020B0503020204020204" charset="-122"/>
            </a:endParaRPr>
          </a:p>
        </p:txBody>
      </p:sp>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2.3.2 </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明细实体文档加工流程示例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3" name="圆角矩形 12"/>
          <p:cNvSpPr/>
          <p:nvPr/>
        </p:nvSpPr>
        <p:spPr>
          <a:xfrm>
            <a:off x="320675" y="1028700"/>
            <a:ext cx="4869815" cy="2647315"/>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rPr>
              <a:t>明细实体文档</a:t>
            </a:r>
            <a:endParaRPr kumimoji="1" lang="zh-CN" altLang="en-US" sz="1600" b="1" dirty="0">
              <a:solidFill>
                <a:schemeClr val="accent1"/>
              </a:solidFill>
              <a:latin typeface="微软雅黑" panose="020B0503020204020204" charset="-122"/>
              <a:ea typeface="微软雅黑" panose="020B0503020204020204" charset="-122"/>
            </a:endParaRPr>
          </a:p>
        </p:txBody>
      </p:sp>
      <p:sp>
        <p:nvSpPr>
          <p:cNvPr id="22" name="文本框 21"/>
          <p:cNvSpPr txBox="1"/>
          <p:nvPr>
            <p:custDataLst>
              <p:tags r:id="rId1"/>
            </p:custDataLst>
          </p:nvPr>
        </p:nvSpPr>
        <p:spPr>
          <a:xfrm>
            <a:off x="320675" y="1420495"/>
            <a:ext cx="4739005" cy="645160"/>
          </a:xfrm>
          <a:prstGeom prst="rect">
            <a:avLst/>
          </a:prstGeom>
          <a:noFill/>
        </p:spPr>
        <p:txBody>
          <a:bodyPr wrap="square" rtlCol="0" anchor="t">
            <a:spAutoFit/>
          </a:bodyPr>
          <a:lstStyle/>
          <a:p>
            <a:pPr algn="l">
              <a:lnSpc>
                <a:spcPct val="150000"/>
              </a:lnSpc>
            </a:pPr>
            <a:r>
              <a:rPr lang="zh-CN" altLang="en-US" sz="1200" dirty="0">
                <a:solidFill>
                  <a:srgbClr val="1E293B"/>
                </a:solidFill>
                <a:latin typeface="微软雅黑" panose="020B0503020204020204" charset="-122"/>
                <a:ea typeface="微软雅黑" panose="020B0503020204020204" charset="-122"/>
                <a:cs typeface="微软雅黑" panose="020B0503020204020204" charset="-122"/>
                <a:sym typeface="+mn-ea"/>
              </a:rPr>
              <a:t>指承载具体业务、客户、事件事实信息的实例化、凭证性文档，仅对应单个业务实例或主体，是业务过程的留痕与事实依据。</a:t>
            </a:r>
            <a:endParaRPr lang="zh-CN" altLang="en-US" sz="1200" dirty="0">
              <a:solidFill>
                <a:srgbClr val="1E293B"/>
              </a:solidFill>
              <a:latin typeface="微软雅黑" panose="020B0503020204020204" charset="-122"/>
              <a:ea typeface="微软雅黑" panose="020B0503020204020204" charset="-122"/>
              <a:cs typeface="微软雅黑" panose="020B0503020204020204" charset="-122"/>
              <a:sym typeface="+mn-ea"/>
            </a:endParaRPr>
          </a:p>
        </p:txBody>
      </p:sp>
      <p:pic>
        <p:nvPicPr>
          <p:cNvPr id="24" name="图片 23"/>
          <p:cNvPicPr>
            <a:picLocks noChangeAspect="1"/>
          </p:cNvPicPr>
          <p:nvPr>
            <p:custDataLst>
              <p:tags r:id="rId2"/>
            </p:custDataLst>
          </p:nvPr>
        </p:nvPicPr>
        <p:blipFill>
          <a:blip r:embed="rId3"/>
          <a:stretch>
            <a:fillRect/>
          </a:stretch>
        </p:blipFill>
        <p:spPr>
          <a:xfrm>
            <a:off x="892175" y="2186940"/>
            <a:ext cx="2278380" cy="1435735"/>
          </a:xfrm>
          <a:prstGeom prst="rect">
            <a:avLst/>
          </a:prstGeom>
          <a:effectLst>
            <a:outerShdw blurRad="50800" dist="38100" dir="2700000" algn="tl" rotWithShape="0">
              <a:prstClr val="black">
                <a:alpha val="40000"/>
              </a:prstClr>
            </a:outerShdw>
          </a:effectLst>
        </p:spPr>
      </p:pic>
      <p:sp>
        <p:nvSpPr>
          <p:cNvPr id="3" name="圆角矩形 2"/>
          <p:cNvSpPr/>
          <p:nvPr/>
        </p:nvSpPr>
        <p:spPr>
          <a:xfrm>
            <a:off x="5772785" y="1028700"/>
            <a:ext cx="5799455" cy="2734945"/>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rPr>
              <a:t>专题知识图谱</a:t>
            </a:r>
            <a:r>
              <a:rPr kumimoji="1" lang="en-US" sz="1600" b="1" dirty="0">
                <a:solidFill>
                  <a:schemeClr val="accent1"/>
                </a:solidFill>
                <a:latin typeface="微软雅黑" panose="020B0503020204020204" charset="-122"/>
                <a:ea typeface="微软雅黑" panose="020B0503020204020204" charset="-122"/>
              </a:rPr>
              <a:t>-</a:t>
            </a:r>
            <a:r>
              <a:rPr kumimoji="1" lang="zh-CN" altLang="en-US" sz="1600" b="1" dirty="0">
                <a:solidFill>
                  <a:schemeClr val="accent1"/>
                </a:solidFill>
                <a:latin typeface="微软雅黑" panose="020B0503020204020204" charset="-122"/>
                <a:ea typeface="微软雅黑" panose="020B0503020204020204" charset="-122"/>
              </a:rPr>
              <a:t>实例</a:t>
            </a:r>
            <a:endParaRPr kumimoji="1" lang="en-US" altLang="zh-CN" sz="1600" b="1" dirty="0">
              <a:solidFill>
                <a:schemeClr val="accent1"/>
              </a:solidFill>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4"/>
          <a:stretch>
            <a:fillRect/>
          </a:stretch>
        </p:blipFill>
        <p:spPr>
          <a:xfrm>
            <a:off x="320675" y="4690110"/>
            <a:ext cx="4738370" cy="1863725"/>
          </a:xfrm>
          <a:prstGeom prst="rect">
            <a:avLst/>
          </a:prstGeom>
        </p:spPr>
      </p:pic>
      <p:sp>
        <p:nvSpPr>
          <p:cNvPr id="6" name="圆角矩形 5"/>
          <p:cNvSpPr/>
          <p:nvPr/>
        </p:nvSpPr>
        <p:spPr>
          <a:xfrm>
            <a:off x="5772150" y="4098290"/>
            <a:ext cx="5901055" cy="2647315"/>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sym typeface="+mn-ea"/>
              </a:rPr>
              <a:t>根据本体模型从明细文档中进行实体</a:t>
            </a:r>
            <a:r>
              <a:rPr kumimoji="1" lang="en-US" altLang="zh-CN" sz="1600" b="1" dirty="0">
                <a:solidFill>
                  <a:schemeClr val="accent1"/>
                </a:solidFill>
                <a:latin typeface="微软雅黑" panose="020B0503020204020204" charset="-122"/>
                <a:ea typeface="微软雅黑" panose="020B0503020204020204" charset="-122"/>
                <a:sym typeface="+mn-ea"/>
              </a:rPr>
              <a:t>+</a:t>
            </a:r>
            <a:r>
              <a:rPr kumimoji="1" lang="zh-CN" altLang="en-US" sz="1600" b="1" dirty="0">
                <a:solidFill>
                  <a:schemeClr val="accent1"/>
                </a:solidFill>
                <a:latin typeface="微软雅黑" panose="020B0503020204020204" charset="-122"/>
                <a:ea typeface="微软雅黑" panose="020B0503020204020204" charset="-122"/>
                <a:sym typeface="+mn-ea"/>
              </a:rPr>
              <a:t>关系抽取</a:t>
            </a:r>
            <a:endParaRPr kumimoji="1" lang="zh-CN" altLang="en-US" sz="1600" b="1" dirty="0">
              <a:solidFill>
                <a:schemeClr val="accent1"/>
              </a:solidFill>
              <a:latin typeface="微软雅黑" panose="020B0503020204020204" charset="-122"/>
              <a:ea typeface="微软雅黑" panose="020B0503020204020204" charset="-122"/>
              <a:sym typeface="+mn-ea"/>
            </a:endParaRPr>
          </a:p>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sym typeface="+mn-ea"/>
              </a:rPr>
              <a:t>（大模型抽取</a:t>
            </a:r>
            <a:r>
              <a:rPr kumimoji="1" lang="en-US" altLang="zh-CN" sz="1600" b="1" dirty="0">
                <a:solidFill>
                  <a:schemeClr val="accent1"/>
                </a:solidFill>
                <a:latin typeface="微软雅黑" panose="020B0503020204020204" charset="-122"/>
                <a:ea typeface="微软雅黑" panose="020B0503020204020204" charset="-122"/>
                <a:sym typeface="+mn-ea"/>
              </a:rPr>
              <a:t>+</a:t>
            </a:r>
            <a:r>
              <a:rPr kumimoji="1" lang="zh-CN" altLang="en-US" sz="1600" b="1" dirty="0">
                <a:solidFill>
                  <a:schemeClr val="accent1"/>
                </a:solidFill>
                <a:latin typeface="微软雅黑" panose="020B0503020204020204" charset="-122"/>
                <a:ea typeface="微软雅黑" panose="020B0503020204020204" charset="-122"/>
                <a:sym typeface="+mn-ea"/>
              </a:rPr>
              <a:t>算子精加工）</a:t>
            </a:r>
            <a:endParaRPr kumimoji="1" lang="zh-CN" altLang="en-US" sz="1600" b="1" dirty="0">
              <a:solidFill>
                <a:schemeClr val="accent1"/>
              </a:solidFill>
              <a:latin typeface="微软雅黑" panose="020B0503020204020204" charset="-122"/>
              <a:ea typeface="微软雅黑" panose="020B0503020204020204" charset="-122"/>
              <a:sym typeface="+mn-ea"/>
            </a:endParaRPr>
          </a:p>
        </p:txBody>
      </p:sp>
      <p:pic>
        <p:nvPicPr>
          <p:cNvPr id="9" name="图片 8" descr="2e679ce25d2d91be7745e79f3779e1c6"/>
          <p:cNvPicPr>
            <a:picLocks noChangeAspect="1"/>
          </p:cNvPicPr>
          <p:nvPr/>
        </p:nvPicPr>
        <p:blipFill>
          <a:blip r:embed="rId5"/>
          <a:stretch>
            <a:fillRect/>
          </a:stretch>
        </p:blipFill>
        <p:spPr>
          <a:xfrm>
            <a:off x="5958205" y="1439545"/>
            <a:ext cx="5481320" cy="2245995"/>
          </a:xfrm>
          <a:prstGeom prst="rect">
            <a:avLst/>
          </a:prstGeom>
        </p:spPr>
      </p:pic>
      <p:sp>
        <p:nvSpPr>
          <p:cNvPr id="11" name="右箭头 10"/>
          <p:cNvSpPr/>
          <p:nvPr/>
        </p:nvSpPr>
        <p:spPr>
          <a:xfrm rot="5400000">
            <a:off x="2435647" y="3669282"/>
            <a:ext cx="267429" cy="35616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右箭头 11"/>
          <p:cNvSpPr/>
          <p:nvPr/>
        </p:nvSpPr>
        <p:spPr>
          <a:xfrm>
            <a:off x="5375062" y="5233922"/>
            <a:ext cx="267429" cy="35616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右箭头 13"/>
          <p:cNvSpPr/>
          <p:nvPr/>
        </p:nvSpPr>
        <p:spPr>
          <a:xfrm rot="16200000">
            <a:off x="8617372" y="3752467"/>
            <a:ext cx="267429" cy="35616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aphicFrame>
        <p:nvGraphicFramePr>
          <p:cNvPr id="10" name="对象 9">
            <a:hlinkClick r:id="" action="ppaction://ole?verb=0"/>
          </p:cNvPr>
          <p:cNvGraphicFramePr>
            <a:graphicFrameLocks noChangeAspect="1"/>
          </p:cNvGraphicFramePr>
          <p:nvPr/>
        </p:nvGraphicFramePr>
        <p:xfrm>
          <a:off x="3660140" y="2379980"/>
          <a:ext cx="938530" cy="938530"/>
        </p:xfrm>
        <a:graphic>
          <a:graphicData uri="http://schemas.openxmlformats.org/presentationml/2006/ole">
            <mc:AlternateContent xmlns:mc="http://schemas.openxmlformats.org/markup-compatibility/2006">
              <mc:Choice xmlns:v="urn:schemas-microsoft-com:vml" Requires="v">
                <p:oleObj spid="_x0000_s1026" name="" showAsIcon="1" r:id="rId6" imgW="1524000" imgH="1524000" progId="Package">
                  <p:embed/>
                </p:oleObj>
              </mc:Choice>
              <mc:Fallback>
                <p:oleObj name="" showAsIcon="1" r:id="rId6" imgW="1524000" imgH="1524000" progId="Package">
                  <p:embed/>
                  <p:pic>
                    <p:nvPicPr>
                      <p:cNvPr id="0" name="图片 1024"/>
                      <p:cNvPicPr/>
                      <p:nvPr/>
                    </p:nvPicPr>
                    <p:blipFill>
                      <a:blip r:embed="rId7"/>
                      <a:stretch>
                        <a:fillRect/>
                      </a:stretch>
                    </p:blipFill>
                    <p:spPr>
                      <a:xfrm>
                        <a:off x="3660140" y="2379980"/>
                        <a:ext cx="938530" cy="938530"/>
                      </a:xfrm>
                      <a:prstGeom prst="rect">
                        <a:avLst/>
                      </a:prstGeom>
                    </p:spPr>
                  </p:pic>
                </p:oleObj>
              </mc:Fallback>
            </mc:AlternateContent>
          </a:graphicData>
        </a:graphic>
      </p:graphicFrame>
      <p:pic>
        <p:nvPicPr>
          <p:cNvPr id="5" name="图片 4"/>
          <p:cNvPicPr>
            <a:picLocks noChangeAspect="1"/>
          </p:cNvPicPr>
          <p:nvPr/>
        </p:nvPicPr>
        <p:blipFill>
          <a:blip r:embed="rId8"/>
          <a:stretch>
            <a:fillRect/>
          </a:stretch>
        </p:blipFill>
        <p:spPr>
          <a:xfrm>
            <a:off x="6096000" y="4623435"/>
            <a:ext cx="3195320" cy="1285875"/>
          </a:xfrm>
          <a:prstGeom prst="rect">
            <a:avLst/>
          </a:prstGeom>
        </p:spPr>
      </p:pic>
      <p:pic>
        <p:nvPicPr>
          <p:cNvPr id="15" name="图片 14"/>
          <p:cNvPicPr>
            <a:picLocks noChangeAspect="1"/>
          </p:cNvPicPr>
          <p:nvPr/>
        </p:nvPicPr>
        <p:blipFill>
          <a:blip r:embed="rId9"/>
          <a:stretch>
            <a:fillRect/>
          </a:stretch>
        </p:blipFill>
        <p:spPr>
          <a:xfrm>
            <a:off x="7740015" y="5039995"/>
            <a:ext cx="3832225" cy="1513840"/>
          </a:xfrm>
          <a:prstGeom prst="rect">
            <a:avLst/>
          </a:prstGeom>
        </p:spPr>
      </p:pic>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专题知识图谱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3" name="矩形 52"/>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2.3.2 </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明细实体文档检索流程示例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AutoShape 26"/>
          <p:cNvSpPr/>
          <p:nvPr/>
        </p:nvSpPr>
        <p:spPr>
          <a:xfrm>
            <a:off x="410845" y="2391410"/>
            <a:ext cx="2995295" cy="611505"/>
          </a:xfrm>
          <a:prstGeom prst="roundRect">
            <a:avLst>
              <a:gd name="adj" fmla="val 16666"/>
            </a:avLst>
          </a:prstGeom>
          <a:solidFill>
            <a:srgbClr val="E8F0FE">
              <a:alpha val="100000"/>
            </a:srgbClr>
          </a:solidFill>
          <a:ln w="12700" cap="flat" cmpd="sng">
            <a:solidFill>
              <a:srgbClr val="4A90D9">
                <a:alpha val="100000"/>
              </a:srgbClr>
            </a:solidFill>
            <a:prstDash val="solid"/>
            <a:round/>
          </a:ln>
        </p:spPr>
        <p:txBody>
          <a:bodyPr vert="horz" wrap="square" lIns="127000" tIns="101600" rIns="127000" bIns="0" rtlCol="0" anchor="ctr" anchorCtr="0"/>
          <a:lstStyle/>
          <a:p>
            <a:pPr marL="0" indent="0" algn="l">
              <a:lnSpc>
                <a:spcPct val="100000"/>
              </a:lnSpc>
              <a:defRPr/>
            </a:pPr>
            <a:r>
              <a:rPr lang="en-US" sz="1100" b="1" i="0" u="none" strike="noStrike">
                <a:solidFill>
                  <a:srgbClr val="1E5AA8"/>
                </a:solidFill>
                <a:latin typeface="Noto Sans SC" panose="020B0200000000000000" charset="-122"/>
                <a:ea typeface="Noto Sans SC" panose="020B0200000000000000" charset="-122"/>
                <a:cs typeface="Noto Sans SC" panose="020B0200000000000000" charset="-122"/>
                <a:sym typeface="Noto Sans SC" panose="020B0200000000000000" charset="-122"/>
              </a:rPr>
              <a:t>🔍 用户查询：</a:t>
            </a:r>
            <a:r>
              <a:rPr lang="zh-CN" altLang="en-US" sz="11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“张伟（客户</a:t>
            </a:r>
            <a:r>
              <a:rPr lang="en-US" altLang="zh-CN" sz="11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r>
              <a:rPr lang="zh-CN" altLang="en-US" sz="11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1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XXXXXXX</a:t>
            </a:r>
            <a:r>
              <a:rPr lang="zh-CN" altLang="en-US" sz="11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）的房屋抵押贷款在贷后监控中，每月还款金额是多少？”</a:t>
            </a:r>
            <a:endParaRPr lang="zh-CN" altLang="en-US" sz="110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椭圆 3"/>
          <p:cNvSpPr/>
          <p:nvPr/>
        </p:nvSpPr>
        <p:spPr>
          <a:xfrm>
            <a:off x="314325" y="189738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1</a:t>
            </a:r>
            <a:endParaRPr lang="en-US" altLang="zh-CN" sz="1400">
              <a:latin typeface="微软雅黑" panose="020B0503020204020204" charset="-122"/>
              <a:ea typeface="微软雅黑" panose="020B0503020204020204" charset="-122"/>
            </a:endParaRPr>
          </a:p>
        </p:txBody>
      </p:sp>
      <p:sp>
        <p:nvSpPr>
          <p:cNvPr id="6" name="文本框 5"/>
          <p:cNvSpPr txBox="1"/>
          <p:nvPr/>
        </p:nvSpPr>
        <p:spPr>
          <a:xfrm>
            <a:off x="779780" y="1896745"/>
            <a:ext cx="1449070" cy="337185"/>
          </a:xfrm>
          <a:prstGeom prst="rect">
            <a:avLst/>
          </a:prstGeom>
          <a:solidFill>
            <a:schemeClr val="accent1">
              <a:lumMod val="20000"/>
              <a:lumOff val="80000"/>
            </a:schemeClr>
          </a:solidFill>
        </p:spPr>
        <p:txBody>
          <a:bodyPr wrap="square" rtlCol="0">
            <a:spAutoFit/>
          </a:bodyPr>
          <a:lstStyle/>
          <a:p>
            <a:r>
              <a:rPr lang="zh-CN" sz="1600">
                <a:latin typeface="微软雅黑" panose="020B0503020204020204" charset="-122"/>
                <a:ea typeface="微软雅黑" panose="020B0503020204020204" charset="-122"/>
                <a:cs typeface="微软雅黑" panose="020B0503020204020204" charset="-122"/>
              </a:rPr>
              <a:t>客户提出问题</a:t>
            </a:r>
            <a:endParaRPr lang="zh-CN" sz="1600">
              <a:latin typeface="微软雅黑" panose="020B0503020204020204" charset="-122"/>
              <a:ea typeface="微软雅黑" panose="020B0503020204020204" charset="-122"/>
              <a:cs typeface="微软雅黑" panose="020B0503020204020204" charset="-122"/>
            </a:endParaRPr>
          </a:p>
        </p:txBody>
      </p:sp>
      <p:sp>
        <p:nvSpPr>
          <p:cNvPr id="48" name="文本占位符 1"/>
          <p:cNvSpPr>
            <a:spLocks noGrp="1"/>
          </p:cNvSpPr>
          <p:nvPr/>
        </p:nvSpPr>
        <p:spPr>
          <a:xfrm>
            <a:off x="410845" y="889635"/>
            <a:ext cx="11370945" cy="671830"/>
          </a:xfrm>
          <a:prstGeom prst="rect">
            <a:avLst/>
          </a:prstGeom>
          <a:ln w="9525" cmpd="sng">
            <a:solidFill>
              <a:srgbClr val="0070C0"/>
            </a:solidFill>
            <a:prstDash val="dash"/>
          </a:ln>
        </p:spPr>
        <p:txBody>
          <a:bodyPr vert="horz" tIns="45708" rtlCol="0" anchor="ctr">
            <a:noAutofit/>
          </a:bodyPr>
          <a:lstStyle/>
          <a:p>
            <a:pPr lvl="0" indent="457200" algn="just">
              <a:lnSpc>
                <a:spcPts val="2800"/>
              </a:lnSpc>
              <a:spcBef>
                <a:spcPts val="0"/>
              </a:spcBef>
              <a:spcAft>
                <a:spcPts val="0"/>
              </a:spcAft>
              <a:buClr>
                <a:srgbClr val="FF0000"/>
              </a:buClr>
              <a:buSzTx/>
              <a:buFont typeface="Wingdings" panose="05000000000000000000" charset="0"/>
              <a:defRPr/>
              <a:extLst>
                <a:ext uri="{35155182-B16C-46BC-9424-99874614C6A1}">
                  <wpsdc:indentchars xmlns:wpsdc="http://www.wps.cn/officeDocument/2017/drawingmlCustomData" val="200" checksum="59296752"/>
                </a:ext>
              </a:extLst>
            </a:pP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语义图谱基于四要素快速筛选子图，缩小检索范围，从语义检索的专题明细图谱中进行多跳遍历，找到准确答案</a:t>
            </a:r>
            <a:endParaRPr lang="zh-CN" altLang="en-US"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29" name="椭圆 28"/>
          <p:cNvSpPr/>
          <p:nvPr/>
        </p:nvSpPr>
        <p:spPr>
          <a:xfrm>
            <a:off x="4055745" y="189738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2</a:t>
            </a:r>
            <a:endParaRPr lang="en-US" altLang="zh-CN" sz="1400">
              <a:latin typeface="微软雅黑" panose="020B0503020204020204" charset="-122"/>
              <a:ea typeface="微软雅黑" panose="020B0503020204020204" charset="-122"/>
            </a:endParaRPr>
          </a:p>
        </p:txBody>
      </p:sp>
      <p:sp>
        <p:nvSpPr>
          <p:cNvPr id="30" name="文本框 29"/>
          <p:cNvSpPr txBox="1"/>
          <p:nvPr/>
        </p:nvSpPr>
        <p:spPr>
          <a:xfrm>
            <a:off x="4533900" y="1888490"/>
            <a:ext cx="2822575" cy="337185"/>
          </a:xfrm>
          <a:prstGeom prst="rect">
            <a:avLst/>
          </a:prstGeom>
          <a:solidFill>
            <a:schemeClr val="accent1">
              <a:lumMod val="20000"/>
              <a:lumOff val="80000"/>
            </a:schemeClr>
          </a:solidFill>
        </p:spPr>
        <p:txBody>
          <a:bodyPr wrap="square" rtlCol="0">
            <a:noAutofit/>
          </a:bodyPr>
          <a:lstStyle/>
          <a:p>
            <a:r>
              <a:rPr lang="zh-CN" altLang="en-US" sz="1400">
                <a:latin typeface="微软雅黑" panose="020B0503020204020204" charset="-122"/>
                <a:ea typeface="微软雅黑" panose="020B0503020204020204" charset="-122"/>
                <a:cs typeface="微软雅黑" panose="020B0503020204020204" charset="-122"/>
                <a:sym typeface="+mn-ea"/>
              </a:rPr>
              <a:t>统一语义图谱初筛</a:t>
            </a:r>
            <a:r>
              <a:rPr lang="zh-CN" altLang="en-US" sz="1400">
                <a:latin typeface="微软雅黑" panose="020B0503020204020204" charset="-122"/>
                <a:ea typeface="微软雅黑" panose="020B0503020204020204" charset="-122"/>
                <a:cs typeface="微软雅黑" panose="020B0503020204020204" charset="-122"/>
              </a:rPr>
              <a:t>定位专题图谱</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7" name="AutoShape 28"/>
          <p:cNvSpPr/>
          <p:nvPr/>
        </p:nvSpPr>
        <p:spPr>
          <a:xfrm>
            <a:off x="4283710" y="2284730"/>
            <a:ext cx="3456940" cy="762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房屋抵押</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 场景节点：</a:t>
            </a:r>
            <a:r>
              <a:rPr lang="en-US" sz="9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个人</a:t>
            </a:r>
            <a:r>
              <a:rPr lang="zh-CN" altLang="en-US" sz="9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房屋</a:t>
            </a:r>
            <a:r>
              <a:rPr lang="en-US" sz="9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抵押</a:t>
            </a:r>
            <a:r>
              <a:rPr lang="zh-CN" altLang="en-US" sz="9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a:t>
            </a:r>
            <a:endParaRPr lang="en-US" sz="9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92000"/>
              </a:lnSpc>
              <a:defRPr/>
            </a:pPr>
            <a:r>
              <a:rPr lang="en-US" sz="9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9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贷款客户</a:t>
            </a:r>
            <a:r>
              <a:rPr lang="en-US" sz="9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 对象节点：</a:t>
            </a:r>
            <a:r>
              <a:rPr lang="zh-CN" altLang="en-US" sz="9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个人贷款客户</a:t>
            </a:r>
            <a:endParaRPr lang="en-US" sz="9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92000"/>
              </a:lnSpc>
              <a:defRPr/>
            </a:pP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贷后监控</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 活动节点：</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贷后管理</a:t>
            </a:r>
            <a:endPar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92000"/>
              </a:lnSpc>
              <a:defRPr/>
            </a:pPr>
            <a:r>
              <a:rPr lang="en-US" sz="9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还款金额</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 术语节点：</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还款金额</a:t>
            </a:r>
            <a:endPar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图片 7"/>
          <p:cNvPicPr>
            <a:picLocks noChangeAspect="1"/>
          </p:cNvPicPr>
          <p:nvPr/>
        </p:nvPicPr>
        <p:blipFill>
          <a:blip r:embed="rId1"/>
          <a:stretch>
            <a:fillRect/>
          </a:stretch>
        </p:blipFill>
        <p:spPr>
          <a:xfrm>
            <a:off x="6506210" y="2552700"/>
            <a:ext cx="984250" cy="1023620"/>
          </a:xfrm>
          <a:prstGeom prst="rect">
            <a:avLst/>
          </a:prstGeom>
        </p:spPr>
      </p:pic>
      <p:sp>
        <p:nvSpPr>
          <p:cNvPr id="40" name="椭圆 39"/>
          <p:cNvSpPr/>
          <p:nvPr/>
        </p:nvSpPr>
        <p:spPr>
          <a:xfrm>
            <a:off x="7966075" y="189738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3</a:t>
            </a:r>
            <a:endParaRPr lang="en-US" altLang="zh-CN" sz="1400">
              <a:latin typeface="微软雅黑" panose="020B0503020204020204" charset="-122"/>
              <a:ea typeface="微软雅黑" panose="020B0503020204020204" charset="-122"/>
            </a:endParaRPr>
          </a:p>
        </p:txBody>
      </p:sp>
      <p:sp>
        <p:nvSpPr>
          <p:cNvPr id="42" name="AutoShape 19"/>
          <p:cNvSpPr txBox="1"/>
          <p:nvPr/>
        </p:nvSpPr>
        <p:spPr>
          <a:xfrm>
            <a:off x="8441055" y="1844675"/>
            <a:ext cx="3340735" cy="457200"/>
          </a:xfrm>
          <a:prstGeom prst="roundRect">
            <a:avLst>
              <a:gd name="adj" fmla="val 0"/>
            </a:avLst>
          </a:prstGeom>
          <a:solidFill>
            <a:schemeClr val="accent1">
              <a:lumMod val="20000"/>
              <a:lumOff val="80000"/>
            </a:schemeClr>
          </a:solidFill>
        </p:spPr>
        <p:txBody>
          <a:bodyPr vert="horz" wrap="square" lIns="91440" tIns="45720" rIns="91440" bIns="45720" rtlCol="0" anchor="t" anchorCtr="0">
            <a:noAutofit/>
          </a:bodyPr>
          <a:lstStyle/>
          <a:p>
            <a:pPr lvl="0" algn="l">
              <a:buClrTx/>
              <a:buSzTx/>
              <a:buFontTx/>
            </a:pP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初筛结果 → 锁定《房屋抵押贷款合同》专题知识图谱</a:t>
            </a:r>
            <a:r>
              <a:rPr lang="en-US" altLang="zh-CN" sz="1400">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本体</a:t>
            </a: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10" name="图片 9"/>
          <p:cNvPicPr>
            <a:picLocks noChangeAspect="1"/>
          </p:cNvPicPr>
          <p:nvPr/>
        </p:nvPicPr>
        <p:blipFill>
          <a:blip r:embed="rId2"/>
          <a:stretch>
            <a:fillRect/>
          </a:stretch>
        </p:blipFill>
        <p:spPr>
          <a:xfrm>
            <a:off x="4286250" y="3712210"/>
            <a:ext cx="3289300" cy="2873375"/>
          </a:xfrm>
          <a:prstGeom prst="rect">
            <a:avLst/>
          </a:prstGeom>
        </p:spPr>
      </p:pic>
      <p:pic>
        <p:nvPicPr>
          <p:cNvPr id="11" name="图片 10"/>
          <p:cNvPicPr>
            <a:picLocks noChangeAspect="1"/>
          </p:cNvPicPr>
          <p:nvPr/>
        </p:nvPicPr>
        <p:blipFill>
          <a:blip r:embed="rId3"/>
          <a:stretch>
            <a:fillRect/>
          </a:stretch>
        </p:blipFill>
        <p:spPr>
          <a:xfrm>
            <a:off x="8947785" y="2552700"/>
            <a:ext cx="2327275" cy="2097405"/>
          </a:xfrm>
          <a:prstGeom prst="rect">
            <a:avLst/>
          </a:prstGeom>
        </p:spPr>
      </p:pic>
      <p:sp>
        <p:nvSpPr>
          <p:cNvPr id="12" name="椭圆 11"/>
          <p:cNvSpPr/>
          <p:nvPr/>
        </p:nvSpPr>
        <p:spPr>
          <a:xfrm>
            <a:off x="7966075" y="490220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4</a:t>
            </a:r>
            <a:endParaRPr lang="en-US" altLang="zh-CN" sz="1400">
              <a:latin typeface="微软雅黑" panose="020B0503020204020204" charset="-122"/>
              <a:ea typeface="微软雅黑" panose="020B0503020204020204" charset="-122"/>
            </a:endParaRPr>
          </a:p>
        </p:txBody>
      </p:sp>
      <p:sp>
        <p:nvSpPr>
          <p:cNvPr id="45" name="AutoShape 19"/>
          <p:cNvSpPr txBox="1"/>
          <p:nvPr/>
        </p:nvSpPr>
        <p:spPr>
          <a:xfrm>
            <a:off x="8441055" y="4904740"/>
            <a:ext cx="3340735" cy="581025"/>
          </a:xfrm>
          <a:prstGeom prst="roundRect">
            <a:avLst>
              <a:gd name="adj" fmla="val 0"/>
            </a:avLst>
          </a:prstGeom>
          <a:solidFill>
            <a:schemeClr val="accent1">
              <a:lumMod val="20000"/>
              <a:lumOff val="80000"/>
            </a:schemeClr>
          </a:solidFill>
        </p:spPr>
        <p:txBody>
          <a:bodyPr vert="horz" wrap="square" lIns="91440" tIns="45720" rIns="91440" bIns="45720" rtlCol="0" anchor="t" anchorCtr="0">
            <a:noAutofit/>
          </a:bodyPr>
          <a:lstStyle/>
          <a:p>
            <a:pPr lvl="0" algn="l">
              <a:buClrTx/>
              <a:buSzTx/>
              <a:buFontTx/>
            </a:pP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基于专题知识图谱</a:t>
            </a:r>
            <a:r>
              <a:rPr lang="en-US" altLang="zh-CN" sz="1400">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实例进行多跳遍历检索（精确召回）</a:t>
            </a: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lvl="0" algn="l">
              <a:buClrTx/>
              <a:buSzTx/>
              <a:buFontTx/>
            </a:pP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9" name="椭圆 68"/>
          <p:cNvSpPr/>
          <p:nvPr/>
        </p:nvSpPr>
        <p:spPr>
          <a:xfrm>
            <a:off x="434975" y="4431665"/>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5</a:t>
            </a:r>
            <a:endParaRPr lang="en-US" altLang="zh-CN" sz="1400">
              <a:latin typeface="微软雅黑" panose="020B0503020204020204" charset="-122"/>
              <a:ea typeface="微软雅黑" panose="020B0503020204020204" charset="-122"/>
            </a:endParaRPr>
          </a:p>
        </p:txBody>
      </p:sp>
      <p:sp>
        <p:nvSpPr>
          <p:cNvPr id="70" name="AutoShape 19"/>
          <p:cNvSpPr txBox="1"/>
          <p:nvPr/>
        </p:nvSpPr>
        <p:spPr>
          <a:xfrm>
            <a:off x="900430" y="4433570"/>
            <a:ext cx="2254250" cy="362585"/>
          </a:xfrm>
          <a:prstGeom prst="roundRect">
            <a:avLst>
              <a:gd name="adj" fmla="val 0"/>
            </a:avLst>
          </a:prstGeom>
          <a:solidFill>
            <a:schemeClr val="accent1">
              <a:lumMod val="20000"/>
              <a:lumOff val="80000"/>
            </a:schemeClr>
          </a:solidFill>
        </p:spPr>
        <p:txBody>
          <a:bodyPr vert="horz" wrap="square" lIns="91440" tIns="45720" rIns="91440" bIns="45720" rtlCol="0" anchor="t" anchorCtr="0">
            <a:noAutofit/>
          </a:bodyPr>
          <a:lstStyle/>
          <a:p>
            <a:pPr lvl="0" algn="l">
              <a:buClrTx/>
              <a:buSzTx/>
              <a:buFontTx/>
            </a:pP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生成答案</a:t>
            </a: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8" name="AutoShape 34"/>
          <p:cNvSpPr/>
          <p:nvPr/>
        </p:nvSpPr>
        <p:spPr>
          <a:xfrm>
            <a:off x="351155" y="4850765"/>
            <a:ext cx="2822575" cy="1297940"/>
          </a:xfrm>
          <a:prstGeom prst="roundRect">
            <a:avLst>
              <a:gd name="adj" fmla="val 12500"/>
            </a:avLst>
          </a:prstGeom>
          <a:solidFill>
            <a:srgbClr val="F0F9F0">
              <a:alpha val="100000"/>
            </a:srgbClr>
          </a:solidFill>
          <a:ln w="12700" cap="flat" cmpd="sng">
            <a:solidFill>
              <a:srgbClr val="76B876">
                <a:alpha val="100000"/>
              </a:srgbClr>
            </a:solidFill>
            <a:prstDash val="solid"/>
            <a:round/>
          </a:ln>
        </p:spPr>
        <p:txBody>
          <a:bodyPr vert="horz" wrap="square" lIns="101600" tIns="63500" rIns="101600" bIns="0" rtlCol="0" anchor="ctr" anchorCtr="0"/>
          <a:lstStyle/>
          <a:p>
            <a:pPr indent="0" algn="l" fontAlgn="auto">
              <a:lnSpc>
                <a:spcPct val="150000"/>
              </a:lnSpc>
              <a:defRPr/>
            </a:pPr>
            <a:r>
              <a:rPr lang="en-US" sz="9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【系统生成回答】</a:t>
            </a:r>
            <a:endParaRPr lang="en-US" sz="1200">
              <a:solidFill>
                <a:schemeClr val="tx1"/>
              </a:solidFill>
              <a:latin typeface="微软雅黑" panose="020B0503020204020204" charset="-122"/>
              <a:ea typeface="微软雅黑" panose="020B0503020204020204" charset="-122"/>
              <a:cs typeface="微软雅黑" panose="020B0503020204020204" charset="-122"/>
            </a:endParaRPr>
          </a:p>
          <a:p>
            <a:pPr marL="0" indent="0" algn="l">
              <a:lnSpc>
                <a:spcPct val="125000"/>
              </a:lnSpc>
              <a:defRPr/>
            </a:pPr>
            <a:r>
              <a:rPr lang="en-US" sz="900">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抵押人张伟</a:t>
            </a:r>
            <a:r>
              <a:rPr lang="zh-CN" altLang="en-US" sz="900">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a:t>
            </a:r>
            <a:r>
              <a:rPr lang="en-US" altLang="zh-CN" sz="900">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r>
              <a:rPr lang="zh-CN" altLang="en-US" sz="900">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900">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XXXXXXX</a:t>
            </a:r>
            <a:r>
              <a:rPr lang="zh-CN" altLang="en-US" sz="900">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900">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在中信银行北京朝阳支行办理的个人房屋抵押贷款（合同号：中信银房抵字〔2024〕第BJCY00372号），采用等额本息还款方式，每月还款金额为人民币12,331.24元，还款日为每月15日。</a:t>
            </a:r>
            <a:endParaRPr 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1" name="右箭头 70"/>
          <p:cNvSpPr/>
          <p:nvPr/>
        </p:nvSpPr>
        <p:spPr>
          <a:xfrm rot="16200000">
            <a:off x="1641475" y="3491865"/>
            <a:ext cx="452120" cy="516255"/>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 name="右箭头 22"/>
          <p:cNvSpPr/>
          <p:nvPr/>
        </p:nvSpPr>
        <p:spPr>
          <a:xfrm>
            <a:off x="3410585" y="1867535"/>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5" name="右箭头 24"/>
          <p:cNvSpPr/>
          <p:nvPr/>
        </p:nvSpPr>
        <p:spPr>
          <a:xfrm>
            <a:off x="7479030" y="1844675"/>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右箭头 26"/>
          <p:cNvSpPr/>
          <p:nvPr/>
        </p:nvSpPr>
        <p:spPr>
          <a:xfrm rot="10800000">
            <a:off x="7490460" y="4892675"/>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右箭头 27"/>
          <p:cNvSpPr/>
          <p:nvPr/>
        </p:nvSpPr>
        <p:spPr>
          <a:xfrm rot="10800000">
            <a:off x="3775710" y="4970145"/>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3060065" y="1679575"/>
            <a:ext cx="1141730" cy="275590"/>
          </a:xfrm>
          <a:prstGeom prst="rect">
            <a:avLst/>
          </a:prstGeom>
          <a:noFill/>
        </p:spPr>
        <p:txBody>
          <a:bodyPr wrap="square" rtlCol="0">
            <a:spAutoFit/>
          </a:bodyPr>
          <a:lstStyle/>
          <a:p>
            <a:r>
              <a:rPr lang="en-US" altLang="zh-CN" sz="1200">
                <a:latin typeface="微软雅黑" panose="020B0503020204020204" charset="-122"/>
                <a:ea typeface="微软雅黑" panose="020B0503020204020204" charset="-122"/>
                <a:cs typeface="微软雅黑" panose="020B0503020204020204" charset="-122"/>
              </a:rPr>
              <a:t>skill</a:t>
            </a:r>
            <a:r>
              <a:rPr lang="zh-CN" altLang="en-US" sz="1200">
                <a:latin typeface="微软雅黑" panose="020B0503020204020204" charset="-122"/>
                <a:ea typeface="微软雅黑" panose="020B0503020204020204" charset="-122"/>
                <a:cs typeface="微软雅黑" panose="020B0503020204020204" charset="-122"/>
              </a:rPr>
              <a:t>服务调用</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4823460" y="4191635"/>
            <a:ext cx="556260" cy="275590"/>
          </a:xfrm>
          <a:prstGeom prst="rect">
            <a:avLst/>
          </a:prstGeom>
          <a:solidFill>
            <a:srgbClr val="F8F8F8"/>
          </a:solidFill>
        </p:spPr>
        <p:txBody>
          <a:bodyPr wrap="square" rtlCol="0">
            <a:spAutoFit/>
          </a:bodyPr>
          <a:lstStyle/>
          <a:p>
            <a:pPr lvl="0" algn="l">
              <a:buClrTx/>
              <a:buSzTx/>
              <a:buFontTx/>
            </a:pPr>
            <a:r>
              <a:rPr lang="en-US" sz="1200" b="1">
                <a:solidFill>
                  <a:srgbClr val="323232"/>
                </a:solidFill>
                <a:latin typeface="微软雅黑" panose="020B0503020204020204" charset="-122"/>
                <a:ea typeface="微软雅黑" panose="020B0503020204020204" charset="-122"/>
                <a:cs typeface="微软雅黑" panose="020B0503020204020204" charset="-122"/>
                <a:sym typeface="+mn-ea"/>
              </a:rPr>
              <a:t>张伟</a:t>
            </a:r>
            <a:endParaRPr lang="en-US" sz="1200" b="1">
              <a:solidFill>
                <a:srgbClr val="323232"/>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6645910" y="4073525"/>
            <a:ext cx="1210310" cy="275590"/>
          </a:xfrm>
          <a:prstGeom prst="rect">
            <a:avLst/>
          </a:prstGeom>
          <a:solidFill>
            <a:srgbClr val="F8F8F8"/>
          </a:solidFill>
        </p:spPr>
        <p:txBody>
          <a:bodyPr wrap="square" rtlCol="0">
            <a:spAutoFit/>
          </a:bodyPr>
          <a:lstStyle/>
          <a:p>
            <a:r>
              <a:rPr lang="en-US" sz="1200" b="1">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rPr>
              <a:t>12,331.24元</a:t>
            </a:r>
            <a:endParaRPr lang="en-US" altLang="en-US" sz="1200" b="1">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专题知识图谱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3" name="矩形 52"/>
          <p:cNvSpPr/>
          <p:nvPr/>
        </p:nvSpPr>
        <p:spPr>
          <a:xfrm>
            <a:off x="10726420"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向量知识库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加工流程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1" name="矩形 40"/>
          <p:cNvSpPr/>
          <p:nvPr/>
        </p:nvSpPr>
        <p:spPr>
          <a:xfrm>
            <a:off x="147320" y="5114290"/>
            <a:ext cx="11890375" cy="108585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资源层</a:t>
            </a:r>
            <a:endParaRPr lang="zh-CN" altLang="en-US" sz="1400" b="1" dirty="0">
              <a:solidFill>
                <a:schemeClr val="tx2"/>
              </a:solidFill>
              <a:latin typeface="微软雅黑" panose="020B0503020204020204" charset="-122"/>
              <a:ea typeface="微软雅黑" panose="020B0503020204020204" charset="-122"/>
            </a:endParaRPr>
          </a:p>
        </p:txBody>
      </p:sp>
      <p:sp>
        <p:nvSpPr>
          <p:cNvPr id="3" name="矩形 2"/>
          <p:cNvSpPr/>
          <p:nvPr/>
        </p:nvSpPr>
        <p:spPr>
          <a:xfrm>
            <a:off x="320675" y="2112010"/>
            <a:ext cx="1764665" cy="2021840"/>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知识库配置</a:t>
            </a:r>
            <a:endParaRPr lang="zh-CN" altLang="en-US" sz="1400" b="1">
              <a:latin typeface="微软雅黑" panose="020B0503020204020204" charset="-122"/>
              <a:ea typeface="微软雅黑" panose="020B0503020204020204" charset="-122"/>
            </a:endParaRPr>
          </a:p>
        </p:txBody>
      </p:sp>
      <p:sp>
        <p:nvSpPr>
          <p:cNvPr id="4" name="矩形 3"/>
          <p:cNvSpPr/>
          <p:nvPr/>
        </p:nvSpPr>
        <p:spPr>
          <a:xfrm>
            <a:off x="463550" y="2520950"/>
            <a:ext cx="68199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知识库类型配</a:t>
            </a:r>
            <a:endParaRPr lang="zh-CN" altLang="en-US" sz="1200" dirty="0">
              <a:solidFill>
                <a:schemeClr val="tx1"/>
              </a:solidFill>
              <a:latin typeface="微软雅黑" panose="020B0503020204020204" charset="-122"/>
              <a:ea typeface="微软雅黑" panose="020B0503020204020204" charset="-122"/>
            </a:endParaRPr>
          </a:p>
        </p:txBody>
      </p:sp>
      <p:sp>
        <p:nvSpPr>
          <p:cNvPr id="5" name="矩形 4"/>
          <p:cNvSpPr/>
          <p:nvPr/>
        </p:nvSpPr>
        <p:spPr>
          <a:xfrm>
            <a:off x="1314450" y="2520950"/>
            <a:ext cx="68199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知识存储配置</a:t>
            </a:r>
            <a:endParaRPr lang="zh-CN" altLang="en-US" sz="1200" dirty="0">
              <a:solidFill>
                <a:schemeClr val="tx1"/>
              </a:solidFill>
              <a:latin typeface="微软雅黑" panose="020B0503020204020204" charset="-122"/>
              <a:ea typeface="微软雅黑" panose="020B0503020204020204" charset="-122"/>
            </a:endParaRPr>
          </a:p>
        </p:txBody>
      </p:sp>
      <p:cxnSp>
        <p:nvCxnSpPr>
          <p:cNvPr id="6" name="直接箭头连接符 5"/>
          <p:cNvCxnSpPr/>
          <p:nvPr/>
        </p:nvCxnSpPr>
        <p:spPr>
          <a:xfrm>
            <a:off x="1145634" y="3235325"/>
            <a:ext cx="1689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 name="矩形 6"/>
          <p:cNvSpPr/>
          <p:nvPr/>
        </p:nvSpPr>
        <p:spPr>
          <a:xfrm>
            <a:off x="2237105" y="2112010"/>
            <a:ext cx="2138045" cy="2021840"/>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文档解析</a:t>
            </a:r>
            <a:endParaRPr lang="zh-CN" altLang="en-US" sz="1400" b="1">
              <a:latin typeface="微软雅黑" panose="020B0503020204020204" charset="-122"/>
              <a:ea typeface="微软雅黑" panose="020B0503020204020204" charset="-122"/>
            </a:endParaRPr>
          </a:p>
        </p:txBody>
      </p:sp>
      <p:sp>
        <p:nvSpPr>
          <p:cNvPr id="8" name="矩形 7"/>
          <p:cNvSpPr/>
          <p:nvPr/>
        </p:nvSpPr>
        <p:spPr>
          <a:xfrm>
            <a:off x="2346325" y="2520950"/>
            <a:ext cx="53086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文档配置</a:t>
            </a:r>
            <a:endParaRPr lang="zh-CN" altLang="en-US" sz="1200" dirty="0">
              <a:solidFill>
                <a:schemeClr val="tx1"/>
              </a:solidFill>
              <a:latin typeface="微软雅黑" panose="020B0503020204020204" charset="-122"/>
              <a:ea typeface="微软雅黑" panose="020B0503020204020204" charset="-122"/>
            </a:endParaRPr>
          </a:p>
        </p:txBody>
      </p:sp>
      <p:sp>
        <p:nvSpPr>
          <p:cNvPr id="9" name="矩形 8"/>
          <p:cNvSpPr/>
          <p:nvPr/>
        </p:nvSpPr>
        <p:spPr>
          <a:xfrm>
            <a:off x="3041015" y="2520950"/>
            <a:ext cx="53086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解析工具管理</a:t>
            </a:r>
            <a:endParaRPr lang="zh-CN" altLang="en-US" sz="1200" dirty="0">
              <a:solidFill>
                <a:schemeClr val="tx1"/>
              </a:solidFill>
              <a:latin typeface="微软雅黑" panose="020B0503020204020204" charset="-122"/>
              <a:ea typeface="微软雅黑" panose="020B0503020204020204" charset="-122"/>
            </a:endParaRPr>
          </a:p>
        </p:txBody>
      </p:sp>
      <p:sp>
        <p:nvSpPr>
          <p:cNvPr id="10" name="矩形 9"/>
          <p:cNvSpPr/>
          <p:nvPr/>
        </p:nvSpPr>
        <p:spPr>
          <a:xfrm>
            <a:off x="3735705" y="2520950"/>
            <a:ext cx="53086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多模态解析</a:t>
            </a:r>
            <a:endParaRPr lang="zh-CN" altLang="en-US" sz="1200" dirty="0">
              <a:solidFill>
                <a:schemeClr val="tx1"/>
              </a:solidFill>
              <a:latin typeface="微软雅黑" panose="020B0503020204020204" charset="-122"/>
              <a:ea typeface="微软雅黑" panose="020B0503020204020204" charset="-122"/>
            </a:endParaRPr>
          </a:p>
        </p:txBody>
      </p:sp>
      <p:cxnSp>
        <p:nvCxnSpPr>
          <p:cNvPr id="11" name="直接箭头连接符 10"/>
          <p:cNvCxnSpPr>
            <a:stCxn id="8" idx="3"/>
            <a:endCxn id="9" idx="1"/>
          </p:cNvCxnSpPr>
          <p:nvPr/>
        </p:nvCxnSpPr>
        <p:spPr>
          <a:xfrm>
            <a:off x="2877279" y="3235325"/>
            <a:ext cx="16383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9" idx="3"/>
            <a:endCxn id="10" idx="1"/>
          </p:cNvCxnSpPr>
          <p:nvPr/>
        </p:nvCxnSpPr>
        <p:spPr>
          <a:xfrm>
            <a:off x="3571969" y="3235325"/>
            <a:ext cx="16383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矩形 12"/>
          <p:cNvSpPr/>
          <p:nvPr/>
        </p:nvSpPr>
        <p:spPr>
          <a:xfrm>
            <a:off x="4492625" y="2112010"/>
            <a:ext cx="2138045" cy="2021840"/>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文档切片</a:t>
            </a:r>
            <a:endParaRPr lang="zh-CN" altLang="en-US" sz="1400" b="1">
              <a:latin typeface="微软雅黑" panose="020B0503020204020204" charset="-122"/>
              <a:ea typeface="微软雅黑" panose="020B0503020204020204" charset="-122"/>
            </a:endParaRPr>
          </a:p>
        </p:txBody>
      </p:sp>
      <p:sp>
        <p:nvSpPr>
          <p:cNvPr id="14" name="矩形 13"/>
          <p:cNvSpPr/>
          <p:nvPr/>
        </p:nvSpPr>
        <p:spPr>
          <a:xfrm>
            <a:off x="4601845" y="2520950"/>
            <a:ext cx="53086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切片算法</a:t>
            </a:r>
            <a:endParaRPr lang="zh-CN" altLang="en-US" sz="1200" dirty="0">
              <a:solidFill>
                <a:schemeClr val="tx1"/>
              </a:solidFill>
              <a:latin typeface="微软雅黑" panose="020B0503020204020204" charset="-122"/>
              <a:ea typeface="微软雅黑" panose="020B0503020204020204" charset="-122"/>
            </a:endParaRPr>
          </a:p>
        </p:txBody>
      </p:sp>
      <p:sp>
        <p:nvSpPr>
          <p:cNvPr id="15" name="矩形 14"/>
          <p:cNvSpPr/>
          <p:nvPr/>
        </p:nvSpPr>
        <p:spPr>
          <a:xfrm>
            <a:off x="5296535" y="2520950"/>
            <a:ext cx="53086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分片大小/重叠</a:t>
            </a:r>
            <a:endParaRPr lang="zh-CN" altLang="en-US" sz="1200" dirty="0">
              <a:solidFill>
                <a:schemeClr val="tx1"/>
              </a:solidFill>
              <a:latin typeface="微软雅黑" panose="020B0503020204020204" charset="-122"/>
              <a:ea typeface="微软雅黑" panose="020B0503020204020204" charset="-122"/>
            </a:endParaRPr>
          </a:p>
        </p:txBody>
      </p:sp>
      <p:sp>
        <p:nvSpPr>
          <p:cNvPr id="16" name="矩形 15"/>
          <p:cNvSpPr/>
          <p:nvPr/>
        </p:nvSpPr>
        <p:spPr>
          <a:xfrm>
            <a:off x="5991225" y="2520950"/>
            <a:ext cx="53086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200" dirty="0">
                <a:solidFill>
                  <a:schemeClr val="tx1"/>
                </a:solidFill>
                <a:latin typeface="微软雅黑" panose="020B0503020204020204" charset="-122"/>
                <a:ea typeface="微软雅黑" panose="020B0503020204020204" charset="-122"/>
              </a:rPr>
              <a:t>分片预览</a:t>
            </a:r>
            <a:endParaRPr lang="zh-CN" altLang="en-US" sz="1200" dirty="0">
              <a:solidFill>
                <a:schemeClr val="tx1"/>
              </a:solidFill>
              <a:latin typeface="微软雅黑" panose="020B0503020204020204" charset="-122"/>
              <a:ea typeface="微软雅黑" panose="020B0503020204020204" charset="-122"/>
            </a:endParaRPr>
          </a:p>
        </p:txBody>
      </p:sp>
      <p:cxnSp>
        <p:nvCxnSpPr>
          <p:cNvPr id="17" name="直接箭头连接符 16"/>
          <p:cNvCxnSpPr>
            <a:stCxn id="14" idx="3"/>
            <a:endCxn id="15" idx="1"/>
          </p:cNvCxnSpPr>
          <p:nvPr/>
        </p:nvCxnSpPr>
        <p:spPr>
          <a:xfrm>
            <a:off x="5132799" y="3235325"/>
            <a:ext cx="16383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15" idx="3"/>
            <a:endCxn id="16" idx="1"/>
          </p:cNvCxnSpPr>
          <p:nvPr/>
        </p:nvCxnSpPr>
        <p:spPr>
          <a:xfrm>
            <a:off x="5827489" y="3235325"/>
            <a:ext cx="16383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矩形 19"/>
          <p:cNvSpPr/>
          <p:nvPr/>
        </p:nvSpPr>
        <p:spPr>
          <a:xfrm>
            <a:off x="6748780" y="2112010"/>
            <a:ext cx="1764665" cy="2021840"/>
          </a:xfrm>
          <a:prstGeom prst="rect">
            <a:avLst/>
          </a:prstGeom>
          <a:ln>
            <a:prstDash val="dash"/>
          </a:ln>
        </p:spPr>
        <p:style>
          <a:lnRef idx="3">
            <a:schemeClr val="accent1"/>
          </a:lnRef>
          <a:fillRef idx="0">
            <a:srgbClr val="FFFFFF"/>
          </a:fillRef>
          <a:effectRef idx="0">
            <a:srgbClr val="FFFFFF"/>
          </a:effectRef>
          <a:fontRef idx="minor">
            <a:schemeClr val="tx1"/>
          </a:fontRef>
        </p:style>
        <p:txBody>
          <a:bodyPr rtlCol="0" anchor="t" anchorCtr="0"/>
          <a:lstStyle/>
          <a:p>
            <a:pPr algn="ctr"/>
            <a:r>
              <a:rPr lang="zh-CN" altLang="en-US" sz="1400" b="1">
                <a:latin typeface="微软雅黑" panose="020B0503020204020204" charset="-122"/>
                <a:ea typeface="微软雅黑" panose="020B0503020204020204" charset="-122"/>
              </a:rPr>
              <a:t>向量生成</a:t>
            </a:r>
            <a:endParaRPr lang="zh-CN" altLang="en-US" sz="1400" b="1">
              <a:latin typeface="微软雅黑" panose="020B0503020204020204" charset="-122"/>
              <a:ea typeface="微软雅黑" panose="020B0503020204020204" charset="-122"/>
            </a:endParaRPr>
          </a:p>
        </p:txBody>
      </p:sp>
      <p:sp>
        <p:nvSpPr>
          <p:cNvPr id="21" name="矩形 20"/>
          <p:cNvSpPr/>
          <p:nvPr/>
        </p:nvSpPr>
        <p:spPr>
          <a:xfrm>
            <a:off x="6891655" y="2520950"/>
            <a:ext cx="68199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en-US" altLang="zh-CN" sz="1200" dirty="0">
                <a:solidFill>
                  <a:schemeClr val="tx1"/>
                </a:solidFill>
                <a:latin typeface="微软雅黑" panose="020B0503020204020204" charset="-122"/>
                <a:ea typeface="微软雅黑" panose="020B0503020204020204" charset="-122"/>
              </a:rPr>
              <a:t>chunk</a:t>
            </a:r>
            <a:r>
              <a:rPr lang="zh-CN" altLang="en-US" sz="1200" dirty="0">
                <a:solidFill>
                  <a:schemeClr val="tx1"/>
                </a:solidFill>
                <a:latin typeface="微软雅黑" panose="020B0503020204020204" charset="-122"/>
                <a:ea typeface="微软雅黑" panose="020B0503020204020204" charset="-122"/>
              </a:rPr>
              <a:t>关键词提取</a:t>
            </a:r>
            <a:endParaRPr lang="zh-CN" altLang="en-US" sz="1200" dirty="0">
              <a:solidFill>
                <a:schemeClr val="tx1"/>
              </a:solidFill>
              <a:latin typeface="微软雅黑" panose="020B0503020204020204" charset="-122"/>
              <a:ea typeface="微软雅黑" panose="020B0503020204020204" charset="-122"/>
            </a:endParaRPr>
          </a:p>
        </p:txBody>
      </p:sp>
      <p:sp>
        <p:nvSpPr>
          <p:cNvPr id="22" name="矩形 21"/>
          <p:cNvSpPr/>
          <p:nvPr/>
        </p:nvSpPr>
        <p:spPr>
          <a:xfrm>
            <a:off x="7742555" y="2520950"/>
            <a:ext cx="681990"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en-US" altLang="zh-CN" sz="1200" dirty="0">
                <a:solidFill>
                  <a:schemeClr val="tx1"/>
                </a:solidFill>
                <a:latin typeface="微软雅黑" panose="020B0503020204020204" charset="-122"/>
                <a:ea typeface="微软雅黑" panose="020B0503020204020204" charset="-122"/>
              </a:rPr>
              <a:t>chunk</a:t>
            </a:r>
            <a:r>
              <a:rPr lang="zh-CN" altLang="en-US" sz="1200" dirty="0">
                <a:solidFill>
                  <a:schemeClr val="tx1"/>
                </a:solidFill>
                <a:latin typeface="微软雅黑" panose="020B0503020204020204" charset="-122"/>
                <a:ea typeface="微软雅黑" panose="020B0503020204020204" charset="-122"/>
              </a:rPr>
              <a:t>向量生成</a:t>
            </a:r>
            <a:endParaRPr lang="zh-CN" altLang="en-US" sz="1200" dirty="0">
              <a:solidFill>
                <a:schemeClr val="tx1"/>
              </a:solidFill>
              <a:latin typeface="微软雅黑" panose="020B0503020204020204" charset="-122"/>
              <a:ea typeface="微软雅黑" panose="020B0503020204020204" charset="-122"/>
            </a:endParaRPr>
          </a:p>
        </p:txBody>
      </p:sp>
      <p:cxnSp>
        <p:nvCxnSpPr>
          <p:cNvPr id="23" name="直接箭头连接符 22"/>
          <p:cNvCxnSpPr/>
          <p:nvPr/>
        </p:nvCxnSpPr>
        <p:spPr>
          <a:xfrm>
            <a:off x="7573739" y="3235325"/>
            <a:ext cx="1689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4" name="矩形 23"/>
          <p:cNvSpPr/>
          <p:nvPr/>
        </p:nvSpPr>
        <p:spPr>
          <a:xfrm>
            <a:off x="8931910" y="2520950"/>
            <a:ext cx="1129665"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向量知识库</a:t>
            </a:r>
            <a:endParaRPr lang="zh-CN" altLang="en-US" sz="1200" dirty="0">
              <a:solidFill>
                <a:schemeClr val="tx1"/>
              </a:solidFill>
              <a:latin typeface="微软雅黑" panose="020B0503020204020204" charset="-122"/>
              <a:ea typeface="微软雅黑" panose="020B0503020204020204" charset="-122"/>
            </a:endParaRPr>
          </a:p>
        </p:txBody>
      </p:sp>
      <p:sp>
        <p:nvSpPr>
          <p:cNvPr id="25" name="矩形 24"/>
          <p:cNvSpPr/>
          <p:nvPr/>
        </p:nvSpPr>
        <p:spPr>
          <a:xfrm>
            <a:off x="10281920" y="2520950"/>
            <a:ext cx="1129665" cy="142875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lvl="0" algn="ctr">
              <a:buClrTx/>
              <a:buSzTx/>
              <a:buFontTx/>
            </a:pPr>
            <a:r>
              <a:rPr lang="zh-CN" altLang="en-US" sz="1200" dirty="0">
                <a:solidFill>
                  <a:schemeClr val="tx1"/>
                </a:solidFill>
                <a:latin typeface="微软雅黑" panose="020B0503020204020204" charset="-122"/>
                <a:ea typeface="微软雅黑" panose="020B0503020204020204" charset="-122"/>
              </a:rPr>
              <a:t>知识向量索引</a:t>
            </a:r>
            <a:endParaRPr lang="zh-CN" altLang="en-US" sz="1200" dirty="0">
              <a:solidFill>
                <a:schemeClr val="tx1"/>
              </a:solidFill>
              <a:latin typeface="微软雅黑" panose="020B0503020204020204" charset="-122"/>
              <a:ea typeface="微软雅黑" panose="020B0503020204020204" charset="-122"/>
            </a:endParaRPr>
          </a:p>
        </p:txBody>
      </p:sp>
      <p:cxnSp>
        <p:nvCxnSpPr>
          <p:cNvPr id="29" name="直接箭头连接符 28"/>
          <p:cNvCxnSpPr/>
          <p:nvPr/>
        </p:nvCxnSpPr>
        <p:spPr>
          <a:xfrm>
            <a:off x="10061669" y="3235325"/>
            <a:ext cx="22034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a:stCxn id="5" idx="3"/>
            <a:endCxn id="8" idx="1"/>
          </p:cNvCxnSpPr>
          <p:nvPr/>
        </p:nvCxnSpPr>
        <p:spPr>
          <a:xfrm>
            <a:off x="1996534" y="3235325"/>
            <a:ext cx="34988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10" idx="3"/>
            <a:endCxn id="14" idx="1"/>
          </p:cNvCxnSpPr>
          <p:nvPr/>
        </p:nvCxnSpPr>
        <p:spPr>
          <a:xfrm>
            <a:off x="4266659" y="3235325"/>
            <a:ext cx="33528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a:stCxn id="16" idx="3"/>
            <a:endCxn id="21" idx="1"/>
          </p:cNvCxnSpPr>
          <p:nvPr/>
        </p:nvCxnSpPr>
        <p:spPr>
          <a:xfrm>
            <a:off x="6522179" y="3235325"/>
            <a:ext cx="36957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22" idx="3"/>
            <a:endCxn id="24" idx="1"/>
          </p:cNvCxnSpPr>
          <p:nvPr/>
        </p:nvCxnSpPr>
        <p:spPr>
          <a:xfrm>
            <a:off x="8424639" y="3235325"/>
            <a:ext cx="50736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pSp>
        <p:nvGrpSpPr>
          <p:cNvPr id="19" name="组合 18"/>
          <p:cNvGrpSpPr/>
          <p:nvPr/>
        </p:nvGrpSpPr>
        <p:grpSpPr>
          <a:xfrm>
            <a:off x="1134110" y="5201285"/>
            <a:ext cx="2879725" cy="946785"/>
            <a:chOff x="14253" y="8844"/>
            <a:chExt cx="4716" cy="1658"/>
          </a:xfrm>
        </p:grpSpPr>
        <p:sp>
          <p:nvSpPr>
            <p:cNvPr id="33" name="矩形 32"/>
            <p:cNvSpPr/>
            <p:nvPr/>
          </p:nvSpPr>
          <p:spPr>
            <a:xfrm>
              <a:off x="14253" y="8844"/>
              <a:ext cx="4716" cy="1658"/>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文档标准元数据</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4" name="矩形 33"/>
            <p:cNvSpPr/>
            <p:nvPr/>
          </p:nvSpPr>
          <p:spPr>
            <a:xfrm>
              <a:off x="14400"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业务</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p:txBody>
        </p:sp>
        <p:sp>
          <p:nvSpPr>
            <p:cNvPr id="35" name="矩形 34"/>
            <p:cNvSpPr/>
            <p:nvPr/>
          </p:nvSpPr>
          <p:spPr>
            <a:xfrm>
              <a:off x="15947" y="9432"/>
              <a:ext cx="1450"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管理</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p:txBody>
        </p:sp>
        <p:sp>
          <p:nvSpPr>
            <p:cNvPr id="36" name="矩形 35"/>
            <p:cNvSpPr/>
            <p:nvPr/>
          </p:nvSpPr>
          <p:spPr>
            <a:xfrm>
              <a:off x="17512" y="9432"/>
              <a:ext cx="1242" cy="934"/>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dirty="0">
                  <a:solidFill>
                    <a:schemeClr val="tx1"/>
                  </a:solidFill>
                  <a:latin typeface="微软雅黑" panose="020B0503020204020204" charset="-122"/>
                  <a:ea typeface="微软雅黑" panose="020B0503020204020204" charset="-122"/>
                </a:rPr>
                <a:t>技术</a:t>
              </a:r>
              <a:endParaRPr lang="zh-CN" altLang="en-US" sz="1000" dirty="0">
                <a:solidFill>
                  <a:schemeClr val="tx1"/>
                </a:solidFill>
                <a:latin typeface="微软雅黑" panose="020B0503020204020204" charset="-122"/>
                <a:ea typeface="微软雅黑" panose="020B0503020204020204" charset="-122"/>
              </a:endParaRPr>
            </a:p>
            <a:p>
              <a:pPr algn="ctr"/>
              <a:r>
                <a:rPr lang="zh-CN" altLang="en-US" sz="1000" dirty="0">
                  <a:solidFill>
                    <a:schemeClr val="tx1"/>
                  </a:solidFill>
                  <a:latin typeface="微软雅黑" panose="020B0503020204020204" charset="-122"/>
                  <a:ea typeface="微软雅黑" panose="020B0503020204020204" charset="-122"/>
                </a:rPr>
                <a:t>元数据</a:t>
              </a:r>
              <a:endParaRPr lang="zh-CN" altLang="en-US" sz="1000" dirty="0">
                <a:solidFill>
                  <a:schemeClr val="tx1"/>
                </a:solidFill>
                <a:latin typeface="微软雅黑" panose="020B0503020204020204" charset="-122"/>
                <a:ea typeface="微软雅黑" panose="020B0503020204020204" charset="-122"/>
              </a:endParaRPr>
            </a:p>
          </p:txBody>
        </p:sp>
      </p:grpSp>
      <p:sp>
        <p:nvSpPr>
          <p:cNvPr id="37" name="矩形 36"/>
          <p:cNvSpPr/>
          <p:nvPr/>
        </p:nvSpPr>
        <p:spPr>
          <a:xfrm>
            <a:off x="8060055" y="5201285"/>
            <a:ext cx="3874135" cy="94742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类实体文档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38" name="组合 37"/>
          <p:cNvGrpSpPr/>
          <p:nvPr/>
        </p:nvGrpSpPr>
        <p:grpSpPr>
          <a:xfrm>
            <a:off x="8195310" y="5598160"/>
            <a:ext cx="3658235" cy="419735"/>
            <a:chOff x="1498" y="4598"/>
            <a:chExt cx="5493" cy="664"/>
          </a:xfrm>
        </p:grpSpPr>
        <p:sp>
          <p:nvSpPr>
            <p:cNvPr id="39" name="圆柱形 38"/>
            <p:cNvSpPr/>
            <p:nvPr/>
          </p:nvSpPr>
          <p:spPr>
            <a:xfrm>
              <a:off x="1498"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规划类</a:t>
              </a:r>
              <a:endParaRPr lang="zh-CN" altLang="en-US" sz="1000">
                <a:solidFill>
                  <a:schemeClr val="tx1"/>
                </a:solidFill>
                <a:latin typeface="微软雅黑" panose="020B0503020204020204" charset="-122"/>
                <a:ea typeface="微软雅黑" panose="020B0503020204020204" charset="-122"/>
              </a:endParaRPr>
            </a:p>
          </p:txBody>
        </p:sp>
        <p:sp>
          <p:nvSpPr>
            <p:cNvPr id="40" name="圆柱形 39"/>
            <p:cNvSpPr/>
            <p:nvPr/>
          </p:nvSpPr>
          <p:spPr>
            <a:xfrm>
              <a:off x="2603"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法规类</a:t>
              </a:r>
              <a:endParaRPr lang="zh-CN" altLang="en-US" sz="1000">
                <a:solidFill>
                  <a:schemeClr val="tx1"/>
                </a:solidFill>
                <a:latin typeface="微软雅黑" panose="020B0503020204020204" charset="-122"/>
                <a:ea typeface="微软雅黑" panose="020B0503020204020204" charset="-122"/>
              </a:endParaRPr>
            </a:p>
          </p:txBody>
        </p:sp>
        <p:sp>
          <p:nvSpPr>
            <p:cNvPr id="56" name="圆柱形 55"/>
            <p:cNvSpPr/>
            <p:nvPr/>
          </p:nvSpPr>
          <p:spPr>
            <a:xfrm>
              <a:off x="37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sym typeface="+mn-ea"/>
                </a:rPr>
                <a:t>制度类</a:t>
              </a:r>
              <a:endParaRPr lang="zh-CN" altLang="en-US" sz="1000">
                <a:solidFill>
                  <a:schemeClr val="tx1"/>
                </a:solidFill>
                <a:latin typeface="微软雅黑" panose="020B0503020204020204" charset="-122"/>
                <a:ea typeface="微软雅黑" panose="020B0503020204020204" charset="-122"/>
              </a:endParaRPr>
            </a:p>
          </p:txBody>
        </p:sp>
        <p:sp>
          <p:nvSpPr>
            <p:cNvPr id="64" name="圆柱形 63"/>
            <p:cNvSpPr/>
            <p:nvPr/>
          </p:nvSpPr>
          <p:spPr>
            <a:xfrm>
              <a:off x="486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手册类</a:t>
              </a:r>
              <a:endParaRPr lang="zh-CN" altLang="en-US" sz="1000">
                <a:solidFill>
                  <a:schemeClr val="tx1"/>
                </a:solidFill>
                <a:latin typeface="微软雅黑" panose="020B0503020204020204" charset="-122"/>
                <a:ea typeface="微软雅黑" panose="020B0503020204020204" charset="-122"/>
              </a:endParaRPr>
            </a:p>
          </p:txBody>
        </p:sp>
        <p:sp>
          <p:nvSpPr>
            <p:cNvPr id="65" name="圆柱形 64"/>
            <p:cNvSpPr/>
            <p:nvPr/>
          </p:nvSpPr>
          <p:spPr>
            <a:xfrm>
              <a:off x="596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sp>
        <p:nvSpPr>
          <p:cNvPr id="66" name="矩形 65"/>
          <p:cNvSpPr/>
          <p:nvPr/>
        </p:nvSpPr>
        <p:spPr>
          <a:xfrm>
            <a:off x="4129405" y="5201285"/>
            <a:ext cx="3813810" cy="94742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明细类实体文档</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67" name="组合 66"/>
          <p:cNvGrpSpPr/>
          <p:nvPr/>
        </p:nvGrpSpPr>
        <p:grpSpPr>
          <a:xfrm>
            <a:off x="4232910" y="5598160"/>
            <a:ext cx="3658235" cy="419735"/>
            <a:chOff x="1509" y="4598"/>
            <a:chExt cx="5493" cy="664"/>
          </a:xfrm>
        </p:grpSpPr>
        <p:sp>
          <p:nvSpPr>
            <p:cNvPr id="68" name="圆柱形 67"/>
            <p:cNvSpPr/>
            <p:nvPr/>
          </p:nvSpPr>
          <p:spPr>
            <a:xfrm>
              <a:off x="1509"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合同类</a:t>
              </a:r>
              <a:endParaRPr lang="zh-CN" altLang="en-US" sz="1000">
                <a:solidFill>
                  <a:schemeClr val="tx1"/>
                </a:solidFill>
                <a:latin typeface="微软雅黑" panose="020B0503020204020204" charset="-122"/>
                <a:ea typeface="微软雅黑" panose="020B0503020204020204" charset="-122"/>
              </a:endParaRPr>
            </a:p>
          </p:txBody>
        </p:sp>
        <p:sp>
          <p:nvSpPr>
            <p:cNvPr id="69" name="圆柱形 68"/>
            <p:cNvSpPr/>
            <p:nvPr/>
          </p:nvSpPr>
          <p:spPr>
            <a:xfrm>
              <a:off x="2614"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征信类</a:t>
              </a:r>
              <a:endParaRPr lang="zh-CN" altLang="en-US" sz="1000">
                <a:solidFill>
                  <a:schemeClr val="tx1"/>
                </a:solidFill>
                <a:latin typeface="微软雅黑" panose="020B0503020204020204" charset="-122"/>
                <a:ea typeface="微软雅黑" panose="020B0503020204020204" charset="-122"/>
              </a:endParaRPr>
            </a:p>
          </p:txBody>
        </p:sp>
        <p:sp>
          <p:nvSpPr>
            <p:cNvPr id="70" name="圆柱形 69"/>
            <p:cNvSpPr/>
            <p:nvPr/>
          </p:nvSpPr>
          <p:spPr>
            <a:xfrm>
              <a:off x="372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司法类</a:t>
              </a:r>
              <a:endParaRPr lang="zh-CN" altLang="en-US" sz="1000">
                <a:solidFill>
                  <a:schemeClr val="tx1"/>
                </a:solidFill>
                <a:latin typeface="微软雅黑" panose="020B0503020204020204" charset="-122"/>
                <a:ea typeface="微软雅黑" panose="020B0503020204020204" charset="-122"/>
              </a:endParaRPr>
            </a:p>
          </p:txBody>
        </p:sp>
        <p:sp>
          <p:nvSpPr>
            <p:cNvPr id="71" name="圆柱形 70"/>
            <p:cNvSpPr/>
            <p:nvPr/>
          </p:nvSpPr>
          <p:spPr>
            <a:xfrm>
              <a:off x="4886"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报告类</a:t>
              </a:r>
              <a:endParaRPr lang="zh-CN" altLang="en-US" sz="1000">
                <a:solidFill>
                  <a:schemeClr val="tx1"/>
                </a:solidFill>
                <a:latin typeface="微软雅黑" panose="020B0503020204020204" charset="-122"/>
                <a:ea typeface="微软雅黑" panose="020B0503020204020204" charset="-122"/>
              </a:endParaRPr>
            </a:p>
          </p:txBody>
        </p:sp>
        <p:sp>
          <p:nvSpPr>
            <p:cNvPr id="72" name="圆柱形 71"/>
            <p:cNvSpPr/>
            <p:nvPr/>
          </p:nvSpPr>
          <p:spPr>
            <a:xfrm>
              <a:off x="5980" y="4598"/>
              <a:ext cx="1022" cy="664"/>
            </a:xfrm>
            <a:prstGeom prst="can">
              <a:avLst/>
            </a:prstGeom>
            <a:solidFill>
              <a:schemeClr val="accent1">
                <a:lumMod val="20000"/>
                <a:lumOff val="80000"/>
              </a:schemeClr>
            </a:solidFill>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p:txBody>
        </p:sp>
      </p:grpSp>
      <p:cxnSp>
        <p:nvCxnSpPr>
          <p:cNvPr id="97" name="肘形连接符 96"/>
          <p:cNvCxnSpPr>
            <a:stCxn id="37" idx="0"/>
            <a:endCxn id="8" idx="2"/>
          </p:cNvCxnSpPr>
          <p:nvPr/>
        </p:nvCxnSpPr>
        <p:spPr>
          <a:xfrm rot="16200000" flipV="1">
            <a:off x="5678805" y="882650"/>
            <a:ext cx="1251585" cy="7385685"/>
          </a:xfrm>
          <a:prstGeom prst="bentConnector3">
            <a:avLst>
              <a:gd name="adj1" fmla="val 49975"/>
            </a:avLst>
          </a:prstGeom>
          <a:ln>
            <a:tailEnd type="arrow"/>
          </a:ln>
        </p:spPr>
        <p:style>
          <a:lnRef idx="2">
            <a:schemeClr val="accent1"/>
          </a:lnRef>
          <a:fillRef idx="0">
            <a:srgbClr val="FFFFFF"/>
          </a:fillRef>
          <a:effectRef idx="0">
            <a:srgbClr val="FFFFFF"/>
          </a:effectRef>
          <a:fontRef idx="minor">
            <a:schemeClr val="tx1"/>
          </a:fontRef>
        </p:style>
      </p:cxnSp>
      <p:sp>
        <p:nvSpPr>
          <p:cNvPr id="112" name="文本框 111"/>
          <p:cNvSpPr txBox="1"/>
          <p:nvPr/>
        </p:nvSpPr>
        <p:spPr>
          <a:xfrm>
            <a:off x="4601845" y="4351655"/>
            <a:ext cx="1157605" cy="229870"/>
          </a:xfrm>
          <a:prstGeom prst="rect">
            <a:avLst/>
          </a:prstGeom>
          <a:noFill/>
        </p:spPr>
        <p:txBody>
          <a:bodyPr wrap="square" rtlCol="0">
            <a:spAutoFit/>
          </a:bodyPr>
          <a:lstStyle/>
          <a:p>
            <a:pPr algn="ctr"/>
            <a:r>
              <a:rPr lang="zh-CN" altLang="en-US" sz="900" dirty="0">
                <a:solidFill>
                  <a:schemeClr val="bg1">
                    <a:lumMod val="50000"/>
                  </a:schemeClr>
                </a:solidFill>
                <a:latin typeface="微软雅黑" panose="020B0503020204020204" charset="-122"/>
                <a:ea typeface="微软雅黑" panose="020B0503020204020204" charset="-122"/>
              </a:rPr>
              <a:t>文档调用</a:t>
            </a:r>
            <a:endParaRPr lang="zh-CN" altLang="en-US" sz="900" dirty="0">
              <a:solidFill>
                <a:schemeClr val="bg1">
                  <a:lumMod val="50000"/>
                </a:schemeClr>
              </a:solidFill>
              <a:latin typeface="微软雅黑" panose="020B0503020204020204" charset="-122"/>
              <a:ea typeface="微软雅黑" panose="020B0503020204020204" charset="-122"/>
            </a:endParaRPr>
          </a:p>
        </p:txBody>
      </p:sp>
      <p:sp>
        <p:nvSpPr>
          <p:cNvPr id="48" name="文本占位符 1"/>
          <p:cNvSpPr>
            <a:spLocks noGrp="1"/>
          </p:cNvSpPr>
          <p:nvPr/>
        </p:nvSpPr>
        <p:spPr>
          <a:xfrm>
            <a:off x="320675" y="922020"/>
            <a:ext cx="11461115" cy="947420"/>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通过知识库配置</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文档解析</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文档切片</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向量生成</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构建金融领域适配的向量索引，解决通用向量模型金融术语识别差、召回准确率低的问题。</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cxnSp>
        <p:nvCxnSpPr>
          <p:cNvPr id="31" name="肘形连接符 30"/>
          <p:cNvCxnSpPr>
            <a:stCxn id="66" idx="0"/>
            <a:endCxn id="8" idx="2"/>
          </p:cNvCxnSpPr>
          <p:nvPr/>
        </p:nvCxnSpPr>
        <p:spPr>
          <a:xfrm rot="16200000" flipV="1">
            <a:off x="3697605" y="2863215"/>
            <a:ext cx="1251585" cy="3424555"/>
          </a:xfrm>
          <a:prstGeom prst="bentConnector3">
            <a:avLst>
              <a:gd name="adj1" fmla="val 49975"/>
            </a:avLst>
          </a:prstGeom>
          <a:ln>
            <a:tailEnd type="arrow"/>
          </a:ln>
        </p:spPr>
        <p:style>
          <a:lnRef idx="2">
            <a:schemeClr val="accent1"/>
          </a:lnRef>
          <a:fillRef idx="0">
            <a:srgbClr val="FFFFFF"/>
          </a:fillRef>
          <a:effectRef idx="0">
            <a:srgbClr val="FFFFFF"/>
          </a:effectRef>
          <a:fontRef idx="minor">
            <a:schemeClr val="tx1"/>
          </a:fontRef>
        </p:style>
      </p:cxn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向量</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加工-基础配置</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22020"/>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向量库是向量加工的基础容器，</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完成分类配置、存储配置与嵌入模型选型，为后续文档解析、切片、向量化提供标准化运行环境，确保金融级数据的安全性与规范性。</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pic>
        <p:nvPicPr>
          <p:cNvPr id="5"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74650" y="2101215"/>
            <a:ext cx="406400" cy="406400"/>
          </a:xfrm>
          <a:prstGeom prst="rect">
            <a:avLst/>
          </a:prstGeom>
        </p:spPr>
      </p:pic>
      <p:sp>
        <p:nvSpPr>
          <p:cNvPr id="19" name="AutoShape 7"/>
          <p:cNvSpPr/>
          <p:nvPr/>
        </p:nvSpPr>
        <p:spPr>
          <a:xfrm>
            <a:off x="908050" y="2101215"/>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知识库类型配置</a:t>
            </a:r>
            <a:endPar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0" name="AutoShape 8"/>
          <p:cNvSpPr/>
          <p:nvPr/>
        </p:nvSpPr>
        <p:spPr>
          <a:xfrm>
            <a:off x="374650" y="2609215"/>
            <a:ext cx="5334000" cy="12700"/>
          </a:xfrm>
          <a:prstGeom prst="roundRect">
            <a:avLst>
              <a:gd name="adj" fmla="val 0"/>
            </a:avLst>
          </a:prstGeom>
          <a:solidFill>
            <a:srgbClr val="1A4D3E">
              <a:alpha val="2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1" name="AutoShape 9"/>
          <p:cNvSpPr/>
          <p:nvPr/>
        </p:nvSpPr>
        <p:spPr>
          <a:xfrm>
            <a:off x="374650" y="2736215"/>
            <a:ext cx="5334000" cy="1632585"/>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01 标准流程：</a:t>
            </a: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建库申请 → 类型核定</a:t>
            </a:r>
            <a:r>
              <a:rPr lang="zh-CN" alt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1200">
                <a:latin typeface="微软雅黑" panose="020B0503020204020204" charset="-122"/>
                <a:ea typeface="微软雅黑" panose="020B0503020204020204" charset="-122"/>
                <a:cs typeface="微软雅黑" panose="020B0503020204020204" charset="-122"/>
                <a:sym typeface="+mn-ea"/>
              </a:rPr>
              <a:t>vector</a:t>
            </a:r>
            <a:r>
              <a:rPr lang="zh-CN" alt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或</a:t>
            </a:r>
            <a:r>
              <a:rPr lang="en-US" altLang="zh-CN"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graphRAG</a:t>
            </a:r>
            <a:r>
              <a:rPr lang="zh-CN" alt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lang="en-US" altLang="zh-CN"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 Embedding</a:t>
            </a: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模型绑定，形成从创建到可用的</a:t>
            </a:r>
            <a:r>
              <a:rPr lang="zh-CN" alt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配置管理</a:t>
            </a: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defRPr/>
            </a:pPr>
            <a:r>
              <a:rPr lang="en-US" sz="12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关键要素：</a:t>
            </a:r>
            <a:r>
              <a:rPr lang="en-US" sz="12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需明确命名规范、业务属性（信贷/合规/审计）、适配的嵌入模型及具体的业务覆盖范围。</a:t>
            </a:r>
            <a:endParaRPr lang="en-US" sz="1200">
              <a:latin typeface="微软雅黑" panose="020B0503020204020204" charset="-122"/>
              <a:ea typeface="微软雅黑" panose="020B0503020204020204" charset="-122"/>
              <a:cs typeface="微软雅黑" panose="020B0503020204020204" charset="-122"/>
            </a:endParaRPr>
          </a:p>
          <a:p>
            <a:pPr marL="0" indent="0" algn="l">
              <a:lnSpc>
                <a:spcPct val="117000"/>
              </a:lnSpc>
              <a:defRPr/>
            </a:pPr>
            <a:endParaRPr lang="en-US" sz="1200">
              <a:latin typeface="微软雅黑" panose="020B0503020204020204" charset="-122"/>
              <a:ea typeface="微软雅黑" panose="020B0503020204020204" charset="-122"/>
              <a:cs typeface="微软雅黑" panose="020B0503020204020204" charset="-122"/>
            </a:endParaRPr>
          </a:p>
        </p:txBody>
      </p:sp>
      <p:sp>
        <p:nvSpPr>
          <p:cNvPr id="26" name="AutoShape 6"/>
          <p:cNvSpPr/>
          <p:nvPr>
            <p:custDataLst>
              <p:tags r:id="rId3"/>
            </p:custDataLst>
          </p:nvPr>
        </p:nvSpPr>
        <p:spPr>
          <a:xfrm>
            <a:off x="6130290" y="2596515"/>
            <a:ext cx="5785485" cy="422275"/>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nchorCtr="0"/>
          <a:lstStyle/>
          <a:p>
            <a:pPr lvl="0" algn="ctr">
              <a:buClrTx/>
              <a:buSzTx/>
              <a:buFontTx/>
              <a:defRPr/>
            </a:pPr>
            <a:r>
              <a:rPr 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 知识库创建与</a:t>
            </a: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知识存储</a:t>
            </a:r>
            <a:r>
              <a:rPr 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配置</a:t>
            </a: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功能</a:t>
            </a:r>
            <a:endPar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3" name="文本框 32"/>
          <p:cNvSpPr txBox="1"/>
          <p:nvPr/>
        </p:nvSpPr>
        <p:spPr>
          <a:xfrm>
            <a:off x="6228080" y="3063240"/>
            <a:ext cx="5587365" cy="2581910"/>
          </a:xfrm>
          <a:prstGeom prst="rect">
            <a:avLst/>
          </a:prstGeom>
          <a:noFill/>
        </p:spPr>
        <p:txBody>
          <a:bodyPr wrap="square" rtlCol="0">
            <a:noAutofit/>
          </a:bodyPr>
          <a:lstStyle/>
          <a:p>
            <a:pPr algn="l" fontAlgn="auto">
              <a:lnSpc>
                <a:spcPct val="1500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1. 知识库配置</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fontAlgn="auto">
              <a:lnSpc>
                <a:spcPct val="150000"/>
              </a:lnSpc>
              <a:buFont typeface="Arial" panose="020B0604020202090204" pitchFamily="34" charset="0"/>
              <a:buChar char="•"/>
            </a:pPr>
            <a:r>
              <a:rPr lang="zh-CN" altLang="en-US" sz="1200" b="1">
                <a:solidFill>
                  <a:schemeClr val="tx1"/>
                </a:solidFill>
                <a:latin typeface="微软雅黑" panose="020B0503020204020204" charset="-122"/>
                <a:ea typeface="微软雅黑" panose="020B0503020204020204" charset="-122"/>
                <a:cs typeface="微软雅黑" panose="020B0503020204020204" charset="-122"/>
              </a:rPr>
              <a:t>知识库创建：</a:t>
            </a:r>
            <a:r>
              <a:rPr lang="zh-CN" altLang="en-US" sz="1200">
                <a:latin typeface="微软雅黑" panose="020B0503020204020204" charset="-122"/>
                <a:ea typeface="微软雅黑" panose="020B0503020204020204" charset="-122"/>
                <a:cs typeface="微软雅黑" panose="020B0503020204020204" charset="-122"/>
              </a:rPr>
              <a:t>按业务场景创建独立知识库，支持多知识库隔离管理</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fontAlgn="auto">
              <a:lnSpc>
                <a:spcPct val="150000"/>
              </a:lnSpc>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基础信息配置：</a:t>
            </a:r>
            <a:r>
              <a:rPr lang="zh-CN" altLang="en-US" sz="1200">
                <a:latin typeface="微软雅黑" panose="020B0503020204020204" charset="-122"/>
                <a:ea typeface="微软雅黑" panose="020B0503020204020204" charset="-122"/>
                <a:cs typeface="微软雅黑" panose="020B0503020204020204" charset="-122"/>
              </a:rPr>
              <a:t>知识库名称、描述等业务属性配置</a:t>
            </a:r>
            <a:endParaRPr lang="zh-CN" altLang="en-US" sz="1200">
              <a:latin typeface="微软雅黑" panose="020B0503020204020204" charset="-122"/>
              <a:ea typeface="微软雅黑" panose="020B0503020204020204" charset="-122"/>
              <a:cs typeface="微软雅黑" panose="020B0503020204020204" charset="-122"/>
            </a:endParaRPr>
          </a:p>
          <a:p>
            <a:pPr algn="l" fontAlgn="auto">
              <a:lnSpc>
                <a:spcPct val="150000"/>
              </a:lnSpc>
              <a:buClrTx/>
              <a:buSzTx/>
              <a:buFontTx/>
              <a:buNone/>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sym typeface="+mn-ea"/>
              </a:rPr>
              <a:t>2. 存储配置</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fontAlgn="auto">
              <a:lnSpc>
                <a:spcPct val="150000"/>
              </a:lnSpc>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知识库类型选择：</a:t>
            </a:r>
            <a:r>
              <a:rPr lang="zh-CN" altLang="en-US" sz="1200">
                <a:latin typeface="微软雅黑" panose="020B0503020204020204" charset="-122"/>
                <a:ea typeface="微软雅黑" panose="020B0503020204020204" charset="-122"/>
                <a:cs typeface="微软雅黑" panose="020B0503020204020204" charset="-122"/>
              </a:rPr>
              <a:t>选择传统</a:t>
            </a:r>
            <a:r>
              <a:rPr lang="en-US" altLang="zh-CN" sz="1200">
                <a:latin typeface="微软雅黑" panose="020B0503020204020204" charset="-122"/>
                <a:ea typeface="微软雅黑" panose="020B0503020204020204" charset="-122"/>
                <a:cs typeface="微软雅黑" panose="020B0503020204020204" charset="-122"/>
              </a:rPr>
              <a:t>vector</a:t>
            </a:r>
            <a:r>
              <a:rPr lang="zh-CN" altLang="en-US" sz="1200">
                <a:latin typeface="微软雅黑" panose="020B0503020204020204" charset="-122"/>
                <a:ea typeface="微软雅黑" panose="020B0503020204020204" charset="-122"/>
                <a:cs typeface="微软雅黑" panose="020B0503020204020204" charset="-122"/>
              </a:rPr>
              <a:t>知识库或</a:t>
            </a:r>
            <a:r>
              <a:rPr lang="en-US" altLang="zh-CN" sz="1200">
                <a:latin typeface="微软雅黑" panose="020B0503020204020204" charset="-122"/>
                <a:ea typeface="微软雅黑" panose="020B0503020204020204" charset="-122"/>
                <a:cs typeface="微软雅黑" panose="020B0503020204020204" charset="-122"/>
              </a:rPr>
              <a:t>GraphRAG</a:t>
            </a:r>
            <a:r>
              <a:rPr lang="zh-CN" altLang="en-US" sz="1200">
                <a:latin typeface="微软雅黑" panose="020B0503020204020204" charset="-122"/>
                <a:ea typeface="微软雅黑" panose="020B0503020204020204" charset="-122"/>
                <a:cs typeface="微软雅黑" panose="020B0503020204020204" charset="-122"/>
              </a:rPr>
              <a:t>知识库</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fontAlgn="auto">
              <a:lnSpc>
                <a:spcPct val="150000"/>
              </a:lnSpc>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嵌入模型绑定：</a:t>
            </a:r>
            <a:r>
              <a:rPr lang="zh-CN" altLang="en-US" sz="1200">
                <a:latin typeface="微软雅黑" panose="020B0503020204020204" charset="-122"/>
                <a:ea typeface="微软雅黑" panose="020B0503020204020204" charset="-122"/>
                <a:cs typeface="微软雅黑" panose="020B0503020204020204" charset="-122"/>
              </a:rPr>
              <a:t>绑定指定 </a:t>
            </a:r>
            <a:r>
              <a:rPr lang="en-US" altLang="zh-CN" sz="1200">
                <a:latin typeface="微软雅黑" panose="020B0503020204020204" charset="-122"/>
                <a:ea typeface="微软雅黑" panose="020B0503020204020204" charset="-122"/>
                <a:cs typeface="微软雅黑" panose="020B0503020204020204" charset="-122"/>
              </a:rPr>
              <a:t>Embedding </a:t>
            </a:r>
            <a:r>
              <a:rPr lang="zh-CN" altLang="en-US" sz="1200">
                <a:latin typeface="微软雅黑" panose="020B0503020204020204" charset="-122"/>
                <a:ea typeface="微软雅黑" panose="020B0503020204020204" charset="-122"/>
                <a:cs typeface="微软雅黑" panose="020B0503020204020204" charset="-122"/>
              </a:rPr>
              <a:t>模型</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fontAlgn="auto">
              <a:lnSpc>
                <a:spcPct val="150000"/>
              </a:lnSpc>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图库选择：</a:t>
            </a:r>
            <a:r>
              <a:rPr lang="en-US" altLang="zh-CN" sz="1200">
                <a:latin typeface="微软雅黑" panose="020B0503020204020204" charset="-122"/>
                <a:ea typeface="微软雅黑" panose="020B0503020204020204" charset="-122"/>
                <a:cs typeface="微软雅黑" panose="020B0503020204020204" charset="-122"/>
                <a:sym typeface="+mn-ea"/>
              </a:rPr>
              <a:t>GraphRAG</a:t>
            </a:r>
            <a:r>
              <a:rPr lang="zh-CN" altLang="en-US" sz="1200">
                <a:latin typeface="微软雅黑" panose="020B0503020204020204" charset="-122"/>
                <a:ea typeface="微软雅黑" panose="020B0503020204020204" charset="-122"/>
                <a:cs typeface="微软雅黑" panose="020B0503020204020204" charset="-122"/>
                <a:sym typeface="+mn-ea"/>
              </a:rPr>
              <a:t>向量库支持图库选择</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fontAlgn="auto">
              <a:lnSpc>
                <a:spcPct val="150000"/>
              </a:lnSpc>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知识库列别配置：</a:t>
            </a:r>
            <a:r>
              <a:rPr lang="zh-CN" altLang="en-US" sz="1200">
                <a:latin typeface="微软雅黑" panose="020B0503020204020204" charset="-122"/>
                <a:ea typeface="微软雅黑" panose="020B0503020204020204" charset="-122"/>
                <a:cs typeface="微软雅黑" panose="020B0503020204020204" charset="-122"/>
              </a:rPr>
              <a:t>个人 / 团队级知识库访问控制，保障知识资产权限隔离</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34" name="矩形 33"/>
          <p:cNvSpPr/>
          <p:nvPr/>
        </p:nvSpPr>
        <p:spPr>
          <a:xfrm>
            <a:off x="6130290" y="3029585"/>
            <a:ext cx="5785485" cy="331216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35" name="Table 20"/>
          <p:cNvGraphicFramePr>
            <a:graphicFrameLocks noGrp="1"/>
          </p:cNvGraphicFramePr>
          <p:nvPr/>
        </p:nvGraphicFramePr>
        <p:xfrm>
          <a:off x="273050" y="4843145"/>
          <a:ext cx="5461000" cy="1498600"/>
        </p:xfrm>
        <a:graphic>
          <a:graphicData uri="http://schemas.openxmlformats.org/drawingml/2006/table">
            <a:tbl>
              <a:tblPr>
                <a:effectLst/>
              </a:tblPr>
              <a:tblGrid>
                <a:gridCol w="1270000"/>
                <a:gridCol w="952500"/>
                <a:gridCol w="1651000"/>
                <a:gridCol w="1587500"/>
              </a:tblGrid>
              <a:tr h="355600">
                <a:tc>
                  <a:txBody>
                    <a:bodyPr/>
                    <a:lstStyle/>
                    <a:p>
                      <a:pPr marL="0" indent="0" algn="ctr">
                        <a:lnSpc>
                          <a:spcPct val="100000"/>
                        </a:lnSpc>
                        <a:defRPr/>
                      </a:pPr>
                      <a:r>
                        <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模型名称</a:t>
                      </a:r>
                      <a:endPar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c>
                  <a:txBody>
                    <a:bodyPr/>
                    <a:lstStyle/>
                    <a:p>
                      <a:pPr marL="0" indent="0" algn="ctr">
                        <a:lnSpc>
                          <a:spcPct val="100000"/>
                        </a:lnSpc>
                        <a:defRPr/>
                      </a:pPr>
                      <a:r>
                        <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维度</a:t>
                      </a:r>
                      <a:endPar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c>
                  <a:txBody>
                    <a:bodyPr/>
                    <a:lstStyle/>
                    <a:p>
                      <a:pPr marL="0" indent="0" algn="ctr">
                        <a:lnSpc>
                          <a:spcPct val="100000"/>
                        </a:lnSpc>
                        <a:defRPr/>
                      </a:pPr>
                      <a:r>
                        <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核心优势</a:t>
                      </a:r>
                      <a:endPar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c>
                  <a:txBody>
                    <a:bodyPr/>
                    <a:lstStyle/>
                    <a:p>
                      <a:pPr marL="0" indent="0" algn="ctr">
                        <a:lnSpc>
                          <a:spcPct val="100000"/>
                        </a:lnSpc>
                        <a:defRPr/>
                      </a:pPr>
                      <a:r>
                        <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适用场景</a:t>
                      </a:r>
                      <a:endPar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r>
              <a:tr h="317500">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BGE-large-zh</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1024</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中文语义表现最优</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纯中文知识库</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r>
              <a:tr h="317500">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通义向量</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1024</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生态完善合规强</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企业级部署</a:t>
                      </a:r>
                      <a:endParaRPr 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r>
              <a:tr h="317500">
                <a:tc>
                  <a:txBody>
                    <a:bodyPr/>
                    <a:lstStyle/>
                    <a:p>
                      <a:pPr marL="0" indent="0" algn="ctr">
                        <a:lnSpc>
                          <a:spcPct val="100000"/>
                        </a:lnSpc>
                        <a:buNone/>
                        <a:defRPr/>
                      </a:pPr>
                      <a:r>
                        <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buNone/>
                        <a:defRPr/>
                      </a:pPr>
                      <a:r>
                        <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buNone/>
                        <a:defRPr/>
                      </a:pPr>
                      <a:r>
                        <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buNone/>
                        <a:defRPr/>
                      </a:pPr>
                      <a:r>
                        <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endParaRPr lang="zh-CN" altLang="en-US" sz="1100" b="0" i="0" u="none" strike="noStrike">
                        <a:solidFill>
                          <a:srgbClr val="1F2329"/>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r>
            </a:tbl>
          </a:graphicData>
        </a:graphic>
      </p:graphicFrame>
      <p:sp>
        <p:nvSpPr>
          <p:cNvPr id="36" name="AutoShape 22"/>
          <p:cNvSpPr/>
          <p:nvPr/>
        </p:nvSpPr>
        <p:spPr>
          <a:xfrm>
            <a:off x="283845" y="4493260"/>
            <a:ext cx="5398135"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 Embedding </a:t>
            </a: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模型</a:t>
            </a:r>
            <a:endPar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向量</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加工-文档解析</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889635"/>
            <a:ext cx="11370945" cy="1016000"/>
          </a:xfrm>
          <a:prstGeom prst="rect">
            <a:avLst/>
          </a:prstGeom>
          <a:ln w="9525" cmpd="sng">
            <a:solidFill>
              <a:srgbClr val="0070C0"/>
            </a:solidFill>
            <a:prstDash val="dash"/>
          </a:ln>
        </p:spPr>
        <p:txBody>
          <a:bodyPr vert="horz" tIns="45708" rtlCol="0" anchor="ctr">
            <a:noAutofit/>
          </a:bodyPr>
          <a:lstStyle/>
          <a:p>
            <a:pPr lvl="0" indent="457200" algn="just">
              <a:lnSpc>
                <a:spcPts val="2800"/>
              </a:lnSpc>
              <a:spcBef>
                <a:spcPts val="0"/>
              </a:spcBef>
              <a:spcAft>
                <a:spcPts val="0"/>
              </a:spcAft>
              <a:buClr>
                <a:srgbClr val="FF0000"/>
              </a:buClr>
              <a:buSzTx/>
              <a:buFont typeface="Wingdings" panose="05000000000000000000" charset="0"/>
              <a:defRPr/>
              <a:extLst>
                <a:ext uri="{35155182-B16C-46BC-9424-99874614C6A1}">
                  <wpsdc:indentchars xmlns:wpsdc="http://www.wps.cn/officeDocument/2017/drawingmlCustomData" val="200" checksum="59296752"/>
                </a:ext>
              </a:extLst>
            </a:pPr>
            <a:r>
              <a:rPr lang="zh-CN" altLang="en-US" noProof="0" dirty="0">
                <a:ln>
                  <a:noFill/>
                </a:ln>
                <a:solidFill>
                  <a:prstClr val="black"/>
                </a:solidFill>
                <a:effectLst/>
                <a:uLnTx/>
                <a:uFillTx/>
                <a:latin typeface="微软雅黑" panose="020B0503020204020204" charset="-122"/>
                <a:ea typeface="微软雅黑" panose="020B0503020204020204" charset="-122"/>
                <a:sym typeface="+mn-ea"/>
              </a:rPr>
              <a:t>文档解析作为向量化处理的核心前置环节，该模块实现了PDF、Word、扫描件等非结构化文档的深度结构化转换。</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其核心突破在于引入VLM视觉大模型，将文档中的图片、流程图、表格截图转化为可理解的文字描述，彻底解决传统检索中“图片即盲区”的痛点。</a:t>
            </a:r>
            <a:endParaRPr lang="zh-CN" altLang="en-US"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22" name="AutoShape 22"/>
          <p:cNvSpPr/>
          <p:nvPr/>
        </p:nvSpPr>
        <p:spPr>
          <a:xfrm>
            <a:off x="256540" y="4157980"/>
            <a:ext cx="5398135"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文档解析</a:t>
            </a: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模型介绍</a:t>
            </a:r>
            <a:endPar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graphicFrame>
        <p:nvGraphicFramePr>
          <p:cNvPr id="23" name="Table 23"/>
          <p:cNvGraphicFramePr>
            <a:graphicFrameLocks noGrp="1"/>
          </p:cNvGraphicFramePr>
          <p:nvPr>
            <p:custDataLst>
              <p:tags r:id="rId1"/>
            </p:custDataLst>
          </p:nvPr>
        </p:nvGraphicFramePr>
        <p:xfrm>
          <a:off x="238125" y="4529455"/>
          <a:ext cx="5858510" cy="2184400"/>
        </p:xfrm>
        <a:graphic>
          <a:graphicData uri="http://schemas.openxmlformats.org/drawingml/2006/table">
            <a:tbl>
              <a:tblPr>
                <a:effectLst/>
              </a:tblPr>
              <a:tblGrid>
                <a:gridCol w="955675"/>
                <a:gridCol w="1273175"/>
                <a:gridCol w="1400810"/>
                <a:gridCol w="1146175"/>
                <a:gridCol w="1082675"/>
              </a:tblGrid>
              <a:tr h="340360">
                <a:tc>
                  <a:txBody>
                    <a:bodyPr/>
                    <a:lstStyle/>
                    <a:p>
                      <a:pPr marL="0" indent="0" algn="ctr">
                        <a:lnSpc>
                          <a:spcPct val="100000"/>
                        </a:lnSpc>
                        <a:defRPr/>
                      </a:pPr>
                      <a:r>
                        <a:rPr lang="zh-CN" alt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文档解析模型</a:t>
                      </a:r>
                      <a:endParaRPr lang="zh-CN" alt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solidFill>
                  </a:tcPr>
                </a:tc>
                <a:tc>
                  <a:txBody>
                    <a:bodyPr/>
                    <a:lstStyle/>
                    <a:p>
                      <a:pPr marL="0" indent="0" algn="ctr">
                        <a:lnSpc>
                          <a:spcPct val="100000"/>
                        </a:lnSpc>
                        <a:defRPr/>
                      </a:pPr>
                      <a:r>
                        <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核心技术原理</a:t>
                      </a:r>
                      <a:endPar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solidFill>
                  </a:tcPr>
                </a:tc>
                <a:tc>
                  <a:txBody>
                    <a:bodyPr/>
                    <a:lstStyle/>
                    <a:p>
                      <a:pPr marL="0" indent="0" algn="ctr">
                        <a:lnSpc>
                          <a:spcPct val="100000"/>
                        </a:lnSpc>
                        <a:defRPr/>
                      </a:pPr>
                      <a:r>
                        <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最佳适用场景</a:t>
                      </a:r>
                      <a:endPar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solidFill>
                  </a:tcPr>
                </a:tc>
                <a:tc>
                  <a:txBody>
                    <a:bodyPr/>
                    <a:lstStyle/>
                    <a:p>
                      <a:pPr marL="0" indent="0" algn="ctr">
                        <a:lnSpc>
                          <a:spcPct val="100000"/>
                        </a:lnSpc>
                        <a:defRPr/>
                      </a:pPr>
                      <a:r>
                        <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核心优势</a:t>
                      </a:r>
                      <a:endPar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solidFill>
                  </a:tcPr>
                </a:tc>
                <a:tc>
                  <a:txBody>
                    <a:bodyPr/>
                    <a:lstStyle/>
                    <a:p>
                      <a:pPr marL="0" indent="0" algn="ctr">
                        <a:lnSpc>
                          <a:spcPct val="100000"/>
                        </a:lnSpc>
                        <a:defRPr/>
                      </a:pPr>
                      <a:r>
                        <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标准输出格式</a:t>
                      </a:r>
                      <a:endParaRPr lang="en-US" sz="9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solidFill>
                  </a:tcPr>
                </a:tc>
              </a:tr>
              <a:tr h="614680">
                <a:tc>
                  <a:txBody>
                    <a:bodyPr/>
                    <a:lstStyle/>
                    <a:p>
                      <a:pPr marL="0" indent="0" algn="ctr">
                        <a:lnSpc>
                          <a:spcPct val="100000"/>
                        </a:lnSpc>
                        <a:defRPr/>
                      </a:pPr>
                      <a:r>
                        <a:rPr lang="en-US"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rPr>
                        <a:t>DeepDoc视觉解析</a:t>
                      </a:r>
                      <a:endParaRPr lang="en-US"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l">
                        <a:lnSpc>
                          <a:spcPct val="100000"/>
                        </a:lnSpc>
                        <a:defRPr/>
                      </a:pPr>
                      <a:r>
                        <a:rPr 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基于Transformer的视觉模型+OCR混合架构</a:t>
                      </a:r>
                      <a:endParaRPr 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l">
                        <a:lnSpc>
                          <a:spcPct val="100000"/>
                        </a:lnSpc>
                        <a:defRPr/>
                      </a:pPr>
                      <a:r>
                        <a:rPr 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扫描件、复杂版式PDF、含大量图表的文档</a:t>
                      </a:r>
                      <a:endParaRPr 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ctr">
                        <a:lnSpc>
                          <a:spcPct val="100000"/>
                        </a:lnSpc>
                        <a:defRPr/>
                      </a:pPr>
                      <a:r>
                        <a:rPr 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表格与图片识别精度极高</a:t>
                      </a:r>
                      <a:endParaRPr 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ctr">
                        <a:lnSpc>
                          <a:spcPct val="100000"/>
                        </a:lnSpc>
                        <a:defRPr/>
                      </a:pPr>
                      <a:r>
                        <a:rPr 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Markdown + HTML</a:t>
                      </a:r>
                      <a:endParaRPr 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r>
              <a:tr h="614680">
                <a:tc>
                  <a:txBody>
                    <a:bodyPr/>
                    <a:lstStyle/>
                    <a:p>
                      <a:pPr marL="0" indent="0" algn="ctr">
                        <a:lnSpc>
                          <a:spcPct val="100000"/>
                        </a:lnSpc>
                        <a:defRPr/>
                      </a:pPr>
                      <a:r>
                        <a:rPr lang="en-US"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rPr>
                        <a:t>MinerU布局解析</a:t>
                      </a:r>
                      <a:endParaRPr lang="en-US"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l">
                        <a:lnSpc>
                          <a:spcPct val="100000"/>
                        </a:lnSpc>
                        <a:defRPr/>
                      </a:pPr>
                      <a:r>
                        <a:rPr 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深度学习驱动的文档物理布局与逻辑结构分析</a:t>
                      </a:r>
                      <a:r>
                        <a:rPr lang="zh-CN" alt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，支持</a:t>
                      </a:r>
                      <a:r>
                        <a:rPr lang="en-US" altLang="zh-CN"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VLM</a:t>
                      </a:r>
                      <a:r>
                        <a:rPr lang="zh-CN" alt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调用</a:t>
                      </a:r>
                      <a:endParaRPr lang="zh-CN" alt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l">
                        <a:lnSpc>
                          <a:spcPct val="100000"/>
                        </a:lnSpc>
                        <a:defRPr/>
                      </a:pPr>
                      <a:r>
                        <a:rPr 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学术论文、国家标准、产品手册、规范类文档</a:t>
                      </a:r>
                      <a:r>
                        <a:rPr lang="zh-CN" alt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，可生成图片描述</a:t>
                      </a:r>
                      <a:endParaRPr lang="zh-CN" alt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ctr">
                        <a:lnSpc>
                          <a:spcPct val="100000"/>
                        </a:lnSpc>
                        <a:defRPr/>
                      </a:pPr>
                      <a:r>
                        <a:rPr 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rPr>
                        <a:t>目录层级与公式识别精准</a:t>
                      </a:r>
                      <a:endParaRPr lang="en-US" sz="900" b="0" i="0" u="none" strike="noStrike">
                        <a:solidFill>
                          <a:srgbClr val="50505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indent="0" algn="ctr">
                        <a:lnSpc>
                          <a:spcPct val="100000"/>
                        </a:lnSpc>
                        <a:defRPr/>
                      </a:pPr>
                      <a:r>
                        <a:rPr 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纯净Markdown文本</a:t>
                      </a:r>
                      <a:endParaRPr lang="en-US" sz="9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r>
              <a:tr h="614680">
                <a:tc>
                  <a:txBody>
                    <a:bodyPr/>
                    <a:lstStyle/>
                    <a:p>
                      <a:pPr marL="0" indent="0" algn="ctr">
                        <a:lnSpc>
                          <a:spcPct val="100000"/>
                        </a:lnSpc>
                        <a:defRPr/>
                      </a:pPr>
                      <a:r>
                        <a:rPr lang="en-US" altLang="zh-CN"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rPr>
                        <a:t>Paddle-OCR-VL</a:t>
                      </a:r>
                      <a:r>
                        <a:rPr lang="zh-CN" altLang="en-US"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rPr>
                        <a:t>语义</a:t>
                      </a:r>
                      <a:r>
                        <a:rPr lang="en-US"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rPr>
                        <a:t>识别</a:t>
                      </a:r>
                      <a:endParaRPr lang="en-US" sz="900" b="0" i="0" u="none" strike="noStrike">
                        <a:solidFill>
                          <a:srgbClr val="323232"/>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algn="l">
                        <a:lnSpc>
                          <a:spcPct val="100000"/>
                        </a:lnSpc>
                        <a:buSzTx/>
                        <a:defRPr/>
                      </a:pPr>
                      <a:r>
                        <a:rPr lang="en-US" sz="900">
                          <a:solidFill>
                            <a:srgbClr val="505050"/>
                          </a:solidFill>
                          <a:latin typeface="微软雅黑" panose="020B0503020204020204" charset="-122"/>
                          <a:ea typeface="微软雅黑" panose="020B0503020204020204" charset="-122"/>
                          <a:cs typeface="微软雅黑" panose="020B0503020204020204" charset="-122"/>
                        </a:rPr>
                        <a:t>多模态视觉语言 OCR 引擎，端到端版面结构还原</a:t>
                      </a:r>
                      <a:endParaRPr lang="en-US" sz="900">
                        <a:solidFill>
                          <a:srgbClr val="505050"/>
                        </a:solidFill>
                        <a:latin typeface="微软雅黑" panose="020B0503020204020204" charset="-122"/>
                        <a:ea typeface="微软雅黑" panose="020B0503020204020204" charset="-122"/>
                        <a:cs typeface="微软雅黑" panose="020B0503020204020204"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algn="l">
                        <a:lnSpc>
                          <a:spcPct val="100000"/>
                        </a:lnSpc>
                        <a:buSzTx/>
                        <a:defRPr/>
                      </a:pPr>
                      <a:r>
                        <a:rPr lang="zh-CN" altLang="en-US" sz="900">
                          <a:solidFill>
                            <a:srgbClr val="505050"/>
                          </a:solidFill>
                          <a:latin typeface="微软雅黑" panose="020B0503020204020204" charset="-122"/>
                          <a:ea typeface="微软雅黑" panose="020B0503020204020204" charset="-122"/>
                          <a:cs typeface="Noto Sans SC" panose="020B0200000000000000" charset="-122"/>
                        </a:rPr>
                        <a:t>图文混排扫描件、带印章表格、复杂版式截图</a:t>
                      </a:r>
                      <a:endParaRPr lang="zh-CN" altLang="en-US" sz="900">
                        <a:solidFill>
                          <a:srgbClr val="505050"/>
                        </a:solidFill>
                        <a:latin typeface="微软雅黑" panose="020B0503020204020204" charset="-122"/>
                        <a:ea typeface="微软雅黑" panose="020B0503020204020204" charset="-122"/>
                        <a:cs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algn="ctr">
                        <a:lnSpc>
                          <a:spcPct val="100000"/>
                        </a:lnSpc>
                        <a:buSzTx/>
                        <a:defRPr/>
                      </a:pPr>
                      <a:r>
                        <a:rPr lang="zh-CN" altLang="en-US" sz="900">
                          <a:solidFill>
                            <a:srgbClr val="505050"/>
                          </a:solidFill>
                          <a:latin typeface="微软雅黑" panose="020B0503020204020204" charset="-122"/>
                          <a:ea typeface="微软雅黑" panose="020B0503020204020204" charset="-122"/>
                          <a:cs typeface="Noto Sans SC" panose="020B0200000000000000" charset="-122"/>
                        </a:rPr>
                        <a:t>版面结构识别精准与字段补全</a:t>
                      </a:r>
                      <a:endParaRPr lang="zh-CN" altLang="en-US" sz="900">
                        <a:solidFill>
                          <a:srgbClr val="505050"/>
                        </a:solidFill>
                        <a:latin typeface="微软雅黑" panose="020B0503020204020204" charset="-122"/>
                        <a:ea typeface="微软雅黑" panose="020B0503020204020204" charset="-122"/>
                        <a:cs typeface="Noto Sans SC" panose="020B0200000000000000"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c>
                  <a:txBody>
                    <a:bodyPr/>
                    <a:lstStyle/>
                    <a:p>
                      <a:pPr marL="0" algn="ctr">
                        <a:lnSpc>
                          <a:spcPct val="100000"/>
                        </a:lnSpc>
                        <a:buSzTx/>
                        <a:defRPr/>
                      </a:pPr>
                      <a:r>
                        <a:rPr lang="en-US" sz="900">
                          <a:solidFill>
                            <a:srgbClr val="505050"/>
                          </a:solidFill>
                          <a:latin typeface="微软雅黑" panose="020B0503020204020204" charset="-122"/>
                          <a:ea typeface="微软雅黑" panose="020B0503020204020204" charset="-122"/>
                          <a:cs typeface="微软雅黑" panose="020B0503020204020204" charset="-122"/>
                        </a:rPr>
                        <a:t>结构化文本 +表格 HTML</a:t>
                      </a:r>
                      <a:endParaRPr lang="en-US" sz="900">
                        <a:solidFill>
                          <a:srgbClr val="505050"/>
                        </a:solidFill>
                        <a:latin typeface="微软雅黑" panose="020B0503020204020204" charset="-122"/>
                        <a:ea typeface="微软雅黑" panose="020B0503020204020204" charset="-122"/>
                        <a:cs typeface="微软雅黑" panose="020B0503020204020204" charset="-122"/>
                      </a:endParaRPr>
                    </a:p>
                  </a:txBody>
                  <a:tcPr marL="101600" marR="101600" marT="101600" marB="10160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solidFill>
                      <a:schemeClr val="accent1">
                        <a:lumMod val="20000"/>
                        <a:lumOff val="80000"/>
                      </a:schemeClr>
                    </a:solidFill>
                  </a:tcPr>
                </a:tc>
              </a:tr>
            </a:tbl>
          </a:graphicData>
        </a:graphic>
      </p:graphicFrame>
      <p:pic>
        <p:nvPicPr>
          <p:cNvPr id="3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675" y="1978660"/>
            <a:ext cx="355600" cy="355600"/>
          </a:xfrm>
          <a:prstGeom prst="rect">
            <a:avLst/>
          </a:prstGeom>
        </p:spPr>
      </p:pic>
      <p:sp>
        <p:nvSpPr>
          <p:cNvPr id="38" name="AutoShape 8"/>
          <p:cNvSpPr/>
          <p:nvPr/>
        </p:nvSpPr>
        <p:spPr>
          <a:xfrm>
            <a:off x="765175" y="1978660"/>
            <a:ext cx="5016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文档类型与解析工具管理</a:t>
            </a:r>
            <a:endPar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0" name="AutoShape 10"/>
          <p:cNvSpPr/>
          <p:nvPr/>
        </p:nvSpPr>
        <p:spPr>
          <a:xfrm>
            <a:off x="384175" y="2500630"/>
            <a:ext cx="5711825" cy="167894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01 标准化解析链路：</a:t>
            </a:r>
            <a:r>
              <a:rPr lang="en-US" sz="1200" b="0" i="0" u="none" strike="noStrike">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实现“文档</a:t>
            </a:r>
            <a:r>
              <a:rPr lang="zh-CN" altLang="en-US" sz="1200" b="0" i="0" u="none" strike="noStrike">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配置</a:t>
            </a:r>
            <a:r>
              <a:rPr lang="en-US" sz="1200" b="0" i="0" u="none" strike="noStrike">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→格式自动识别→解析器匹配→执行解析→结果校验”的自动化闭环，减少人工干预。</a:t>
            </a:r>
            <a:endParaRPr lang="en-US" sz="1200" b="0" i="0" u="none" strike="noStrike">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defRPr/>
            </a:pPr>
            <a:r>
              <a:rPr lang="en-US" sz="12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多格式全兼容：</a:t>
            </a:r>
            <a:r>
              <a:rPr lang="en-US"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覆盖PDF/Word/Excel/图片/txt</a:t>
            </a:r>
            <a:r>
              <a:rPr lang="zh-CN" altLang="en-US"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文本</a:t>
            </a:r>
            <a:r>
              <a:rPr lang="en-US" altLang="zh-CN"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/PPTX</a:t>
            </a:r>
            <a:r>
              <a:rPr lang="en-US"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等格式，集成DeepDoc视觉解析与MinerU</a:t>
            </a:r>
            <a:r>
              <a:rPr lang="zh-CN" altLang="en-US"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PaddleOCR-VL</a:t>
            </a:r>
            <a:r>
              <a:rPr lang="zh-CN" altLang="en-US"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多模态解析</a:t>
            </a:r>
            <a:r>
              <a:rPr lang="en-US" sz="1200">
                <a:solidFill>
                  <a:srgbClr val="424242"/>
                </a:solidFill>
                <a:latin typeface="微软雅黑" panose="020B0503020204020204" charset="-122"/>
                <a:ea typeface="微软雅黑" panose="020B0503020204020204" charset="-122"/>
                <a:cs typeface="微软雅黑" panose="020B0503020204020204" charset="-122"/>
                <a:sym typeface="Noto Sans SC" panose="020B0200000000000000" charset="-122"/>
              </a:rPr>
              <a:t>，攻克复杂版式难题。</a:t>
            </a:r>
            <a:endParaRPr lang="en-US" sz="1200">
              <a:latin typeface="微软雅黑" panose="020B0503020204020204" charset="-122"/>
              <a:ea typeface="微软雅黑" panose="020B0503020204020204" charset="-122"/>
              <a:cs typeface="微软雅黑" panose="020B0503020204020204" charset="-122"/>
            </a:endParaRPr>
          </a:p>
        </p:txBody>
      </p:sp>
      <p:sp>
        <p:nvSpPr>
          <p:cNvPr id="50" name="AutoShape 8"/>
          <p:cNvSpPr/>
          <p:nvPr/>
        </p:nvSpPr>
        <p:spPr>
          <a:xfrm>
            <a:off x="294005" y="2405380"/>
            <a:ext cx="5334000" cy="12700"/>
          </a:xfrm>
          <a:prstGeom prst="roundRect">
            <a:avLst>
              <a:gd name="adj" fmla="val 0"/>
            </a:avLst>
          </a:prstGeom>
          <a:solidFill>
            <a:srgbClr val="1A4D3E">
              <a:alpha val="2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4" name="AutoShape 6"/>
          <p:cNvSpPr/>
          <p:nvPr>
            <p:custDataLst>
              <p:tags r:id="rId4"/>
            </p:custDataLst>
          </p:nvPr>
        </p:nvSpPr>
        <p:spPr>
          <a:xfrm>
            <a:off x="6330315" y="2145030"/>
            <a:ext cx="5452110" cy="422275"/>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nchorCtr="0"/>
          <a:lstStyle/>
          <a:p>
            <a:pPr lvl="0" algn="ctr">
              <a:buClrTx/>
              <a:buSzTx/>
              <a:buFontTx/>
              <a:defRPr/>
            </a:pPr>
            <a:r>
              <a:rPr 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文档解析功能</a:t>
            </a:r>
            <a:endPar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5" name="文本框 54"/>
          <p:cNvSpPr txBox="1"/>
          <p:nvPr/>
        </p:nvSpPr>
        <p:spPr>
          <a:xfrm>
            <a:off x="6379845" y="2575560"/>
            <a:ext cx="5354320" cy="3843655"/>
          </a:xfrm>
          <a:prstGeom prst="rect">
            <a:avLst/>
          </a:prstGeom>
          <a:noFill/>
        </p:spPr>
        <p:txBody>
          <a:bodyPr wrap="square" rtlCol="0">
            <a:noAutofit/>
          </a:bodyPr>
          <a:lstStyle/>
          <a:p>
            <a:pPr algn="l" fontAlgn="auto">
              <a:lnSpc>
                <a:spcPts val="19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1. 文档配置</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文件配置：</a:t>
            </a:r>
            <a:r>
              <a:rPr lang="zh-CN" altLang="en-US" sz="1200">
                <a:latin typeface="微软雅黑" panose="020B0503020204020204" charset="-122"/>
                <a:ea typeface="微软雅黑" panose="020B0503020204020204" charset="-122"/>
                <a:cs typeface="微软雅黑" panose="020B0503020204020204" charset="-122"/>
              </a:rPr>
              <a:t>获取资源层文件目录，及通过元数据和标签进行文档筛选</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文档重解析：</a:t>
            </a:r>
            <a:r>
              <a:rPr lang="zh-CN" altLang="en-US" sz="1200">
                <a:latin typeface="微软雅黑" panose="020B0503020204020204" charset="-122"/>
                <a:ea typeface="微软雅黑" panose="020B0503020204020204" charset="-122"/>
                <a:cs typeface="微软雅黑" panose="020B0503020204020204" charset="-122"/>
              </a:rPr>
              <a:t>清除已有切片并重新执行解析流程</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批量操作：</a:t>
            </a:r>
            <a:r>
              <a:rPr lang="zh-CN" altLang="en-US" sz="1200">
                <a:latin typeface="微软雅黑" panose="020B0503020204020204" charset="-122"/>
                <a:ea typeface="微软雅黑" panose="020B0503020204020204" charset="-122"/>
                <a:cs typeface="微软雅黑" panose="020B0503020204020204" charset="-122"/>
              </a:rPr>
              <a:t>批量启用、禁用、解析、删除文件</a:t>
            </a:r>
            <a:endParaRPr lang="zh-CN" altLang="en-US" sz="1200">
              <a:latin typeface="微软雅黑" panose="020B0503020204020204" charset="-122"/>
              <a:ea typeface="微软雅黑" panose="020B0503020204020204" charset="-122"/>
              <a:cs typeface="微软雅黑" panose="020B0503020204020204" charset="-122"/>
            </a:endParaRPr>
          </a:p>
          <a:p>
            <a:pPr algn="l" fontAlgn="auto">
              <a:lnSpc>
                <a:spcPts val="19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2. 解析工具管理</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en-US" altLang="zh-CN" sz="1200" b="1">
                <a:latin typeface="微软雅黑" panose="020B0503020204020204" charset="-122"/>
                <a:ea typeface="微软雅黑" panose="020B0503020204020204" charset="-122"/>
                <a:cs typeface="微软雅黑" panose="020B0503020204020204" charset="-122"/>
              </a:rPr>
              <a:t>DeepDoc </a:t>
            </a:r>
            <a:endParaRPr lang="en-US" altLang="zh-CN" sz="1200" b="1">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en-US" altLang="zh-CN" sz="1200" b="1">
                <a:latin typeface="微软雅黑" panose="020B0503020204020204" charset="-122"/>
                <a:ea typeface="微软雅黑" panose="020B0503020204020204" charset="-122"/>
                <a:cs typeface="微软雅黑" panose="020B0503020204020204" charset="-122"/>
              </a:rPr>
              <a:t>MinerU </a:t>
            </a:r>
            <a:endParaRPr lang="zh-CN" altLang="en-US" sz="1200" b="1">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en-US" altLang="zh-CN" sz="1200" b="1">
                <a:latin typeface="微软雅黑" panose="020B0503020204020204" charset="-122"/>
                <a:ea typeface="微软雅黑" panose="020B0503020204020204" charset="-122"/>
                <a:cs typeface="微软雅黑" panose="020B0503020204020204" charset="-122"/>
              </a:rPr>
              <a:t>PaddleOCR-VL</a:t>
            </a:r>
            <a:endParaRPr lang="en-US" altLang="zh-CN" sz="1200" b="1">
              <a:latin typeface="微软雅黑" panose="020B0503020204020204" charset="-122"/>
              <a:ea typeface="微软雅黑" panose="020B0503020204020204" charset="-122"/>
              <a:cs typeface="微软雅黑" panose="020B0503020204020204" charset="-122"/>
            </a:endParaRPr>
          </a:p>
          <a:p>
            <a:pPr algn="l" fontAlgn="auto">
              <a:lnSpc>
                <a:spcPts val="19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3. 多模态解析</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文本解析：</a:t>
            </a:r>
            <a:r>
              <a:rPr lang="zh-CN" altLang="en-US" sz="1200">
                <a:latin typeface="微软雅黑" panose="020B0503020204020204" charset="-122"/>
                <a:ea typeface="微软雅黑" panose="020B0503020204020204" charset="-122"/>
                <a:cs typeface="微软雅黑" panose="020B0503020204020204" charset="-122"/>
              </a:rPr>
              <a:t>纯文本、</a:t>
            </a:r>
            <a:r>
              <a:rPr lang="en-US" altLang="zh-CN" sz="1200">
                <a:latin typeface="微软雅黑" panose="020B0503020204020204" charset="-122"/>
                <a:ea typeface="微软雅黑" panose="020B0503020204020204" charset="-122"/>
                <a:cs typeface="微软雅黑" panose="020B0503020204020204" charset="-122"/>
              </a:rPr>
              <a:t>Markdown、Word </a:t>
            </a:r>
            <a:r>
              <a:rPr lang="zh-CN" altLang="en-US" sz="1200">
                <a:latin typeface="微软雅黑" panose="020B0503020204020204" charset="-122"/>
                <a:ea typeface="微软雅黑" panose="020B0503020204020204" charset="-122"/>
                <a:cs typeface="微软雅黑" panose="020B0503020204020204" charset="-122"/>
              </a:rPr>
              <a:t>等文本类文件结构化提取</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en-US" altLang="zh-CN" sz="1200" b="1">
                <a:latin typeface="微软雅黑" panose="020B0503020204020204" charset="-122"/>
                <a:ea typeface="微软雅黑" panose="020B0503020204020204" charset="-122"/>
                <a:cs typeface="微软雅黑" panose="020B0503020204020204" charset="-122"/>
              </a:rPr>
              <a:t>PDF </a:t>
            </a:r>
            <a:r>
              <a:rPr lang="zh-CN" altLang="en-US" sz="1200" b="1">
                <a:latin typeface="微软雅黑" panose="020B0503020204020204" charset="-122"/>
                <a:ea typeface="微软雅黑" panose="020B0503020204020204" charset="-122"/>
                <a:cs typeface="微软雅黑" panose="020B0503020204020204" charset="-122"/>
              </a:rPr>
              <a:t>解析：</a:t>
            </a:r>
            <a:r>
              <a:rPr lang="zh-CN" altLang="en-US" sz="1200">
                <a:latin typeface="微软雅黑" panose="020B0503020204020204" charset="-122"/>
                <a:ea typeface="微软雅黑" panose="020B0503020204020204" charset="-122"/>
                <a:cs typeface="微软雅黑" panose="020B0503020204020204" charset="-122"/>
              </a:rPr>
              <a:t>支持普通 </a:t>
            </a:r>
            <a:r>
              <a:rPr lang="en-US" altLang="zh-CN" sz="1200">
                <a:latin typeface="微软雅黑" panose="020B0503020204020204" charset="-122"/>
                <a:ea typeface="微软雅黑" panose="020B0503020204020204" charset="-122"/>
                <a:cs typeface="微软雅黑" panose="020B0503020204020204" charset="-122"/>
              </a:rPr>
              <a:t>PDF </a:t>
            </a:r>
            <a:r>
              <a:rPr lang="zh-CN" altLang="en-US" sz="1200">
                <a:latin typeface="微软雅黑" panose="020B0503020204020204" charset="-122"/>
                <a:ea typeface="微软雅黑" panose="020B0503020204020204" charset="-122"/>
                <a:cs typeface="微软雅黑" panose="020B0503020204020204" charset="-122"/>
              </a:rPr>
              <a:t>与扫描件 </a:t>
            </a:r>
            <a:r>
              <a:rPr lang="en-US" altLang="zh-CN" sz="1200">
                <a:latin typeface="微软雅黑" panose="020B0503020204020204" charset="-122"/>
                <a:ea typeface="微软雅黑" panose="020B0503020204020204" charset="-122"/>
                <a:cs typeface="微软雅黑" panose="020B0503020204020204" charset="-122"/>
              </a:rPr>
              <a:t>PDF，</a:t>
            </a:r>
            <a:r>
              <a:rPr lang="zh-CN" altLang="en-US" sz="1200">
                <a:latin typeface="微软雅黑" panose="020B0503020204020204" charset="-122"/>
                <a:ea typeface="微软雅黑" panose="020B0503020204020204" charset="-122"/>
                <a:cs typeface="微软雅黑" panose="020B0503020204020204" charset="-122"/>
              </a:rPr>
              <a:t>大文件懒加载分块解析</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图片解析：</a:t>
            </a:r>
            <a:r>
              <a:rPr lang="zh-CN" altLang="en-US" sz="1200">
                <a:latin typeface="微软雅黑" panose="020B0503020204020204" charset="-122"/>
                <a:ea typeface="微软雅黑" panose="020B0503020204020204" charset="-122"/>
                <a:cs typeface="微软雅黑" panose="020B0503020204020204" charset="-122"/>
              </a:rPr>
              <a:t>图片内容 </a:t>
            </a:r>
            <a:r>
              <a:rPr lang="en-US" altLang="zh-CN" sz="1200">
                <a:latin typeface="微软雅黑" panose="020B0503020204020204" charset="-122"/>
                <a:ea typeface="微软雅黑" panose="020B0503020204020204" charset="-122"/>
                <a:cs typeface="微软雅黑" panose="020B0503020204020204" charset="-122"/>
              </a:rPr>
              <a:t>OCR </a:t>
            </a:r>
            <a:r>
              <a:rPr lang="zh-CN" altLang="en-US" sz="1200">
                <a:latin typeface="微软雅黑" panose="020B0503020204020204" charset="-122"/>
                <a:ea typeface="微软雅黑" panose="020B0503020204020204" charset="-122"/>
                <a:cs typeface="微软雅黑" panose="020B0503020204020204" charset="-122"/>
              </a:rPr>
              <a:t>识别 + </a:t>
            </a:r>
            <a:r>
              <a:rPr lang="en-US" altLang="zh-CN" sz="1200">
                <a:latin typeface="微软雅黑" panose="020B0503020204020204" charset="-122"/>
                <a:ea typeface="微软雅黑" panose="020B0503020204020204" charset="-122"/>
                <a:cs typeface="微软雅黑" panose="020B0503020204020204" charset="-122"/>
              </a:rPr>
              <a:t>VLM </a:t>
            </a:r>
            <a:r>
              <a:rPr lang="zh-CN" altLang="en-US" sz="1200">
                <a:latin typeface="微软雅黑" panose="020B0503020204020204" charset="-122"/>
                <a:ea typeface="微软雅黑" panose="020B0503020204020204" charset="-122"/>
                <a:cs typeface="微软雅黑" panose="020B0503020204020204" charset="-122"/>
              </a:rPr>
              <a:t>语义描述双通路处理</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表格解析：</a:t>
            </a:r>
            <a:r>
              <a:rPr lang="zh-CN" sz="1200">
                <a:latin typeface="微软雅黑" panose="020B0503020204020204" charset="-122"/>
                <a:ea typeface="微软雅黑" panose="020B0503020204020204" charset="-122"/>
                <a:cs typeface="微软雅黑" panose="020B0503020204020204" charset="-122"/>
              </a:rPr>
              <a:t>多表头、合并单元格，跨页表格等识别</a:t>
            </a:r>
            <a:endParaRPr lang="en-US" altLang="zh-CN"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图文混排还原：</a:t>
            </a:r>
            <a:r>
              <a:rPr lang="zh-CN" altLang="en-US" sz="1200">
                <a:latin typeface="微软雅黑" panose="020B0503020204020204" charset="-122"/>
                <a:ea typeface="微软雅黑" panose="020B0503020204020204" charset="-122"/>
                <a:cs typeface="微软雅黑" panose="020B0503020204020204" charset="-122"/>
              </a:rPr>
              <a:t>图片、表格与上下文文字归入同一 </a:t>
            </a:r>
            <a:r>
              <a:rPr lang="en-US" altLang="zh-CN" sz="1200">
                <a:latin typeface="微软雅黑" panose="020B0503020204020204" charset="-122"/>
                <a:ea typeface="微软雅黑" panose="020B0503020204020204" charset="-122"/>
                <a:cs typeface="微软雅黑" panose="020B0503020204020204" charset="-122"/>
              </a:rPr>
              <a:t>Chunk，</a:t>
            </a:r>
            <a:r>
              <a:rPr lang="zh-CN" altLang="en-US" sz="1200">
                <a:latin typeface="微软雅黑" panose="020B0503020204020204" charset="-122"/>
                <a:ea typeface="微软雅黑" panose="020B0503020204020204" charset="-122"/>
                <a:cs typeface="微软雅黑" panose="020B0503020204020204" charset="-122"/>
              </a:rPr>
              <a:t>保留语义关联</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公式识别：</a:t>
            </a:r>
            <a:r>
              <a:rPr lang="zh-CN" altLang="en-US" sz="1200">
                <a:latin typeface="微软雅黑" panose="020B0503020204020204" charset="-122"/>
                <a:ea typeface="微软雅黑" panose="020B0503020204020204" charset="-122"/>
                <a:cs typeface="微软雅黑" panose="020B0503020204020204" charset="-122"/>
              </a:rPr>
              <a:t>数学公式结构化提取与还原</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目录增强：</a:t>
            </a:r>
            <a:r>
              <a:rPr lang="zh-CN" altLang="en-US" sz="1200">
                <a:latin typeface="微软雅黑" panose="020B0503020204020204" charset="-122"/>
                <a:ea typeface="微软雅黑" panose="020B0503020204020204" charset="-122"/>
                <a:cs typeface="微软雅黑" panose="020B0503020204020204" charset="-122"/>
              </a:rPr>
              <a:t>目录识别与章节映射，关联 </a:t>
            </a:r>
            <a:r>
              <a:rPr lang="en-US" altLang="zh-CN" sz="1200">
                <a:latin typeface="微软雅黑" panose="020B0503020204020204" charset="-122"/>
                <a:ea typeface="微软雅黑" panose="020B0503020204020204" charset="-122"/>
                <a:cs typeface="微软雅黑" panose="020B0503020204020204" charset="-122"/>
              </a:rPr>
              <a:t>PageIndex </a:t>
            </a:r>
            <a:r>
              <a:rPr lang="zh-CN" altLang="en-US" sz="1200">
                <a:latin typeface="微软雅黑" panose="020B0503020204020204" charset="-122"/>
                <a:ea typeface="微软雅黑" panose="020B0503020204020204" charset="-122"/>
                <a:cs typeface="微软雅黑" panose="020B0503020204020204" charset="-122"/>
              </a:rPr>
              <a:t>用于定位检索</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ts val="19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音视频解析</a:t>
            </a:r>
            <a:r>
              <a:rPr lang="en-US" altLang="zh-CN" sz="1200" b="1">
                <a:latin typeface="微软雅黑" panose="020B0503020204020204" charset="-122"/>
                <a:ea typeface="微软雅黑" panose="020B0503020204020204" charset="-122"/>
                <a:cs typeface="微软雅黑" panose="020B0503020204020204" charset="-122"/>
              </a:rPr>
              <a:t>：</a:t>
            </a:r>
            <a:r>
              <a:rPr lang="zh-CN" altLang="en-US" sz="1200">
                <a:latin typeface="微软雅黑" panose="020B0503020204020204" charset="-122"/>
                <a:ea typeface="微软雅黑" panose="020B0503020204020204" charset="-122"/>
                <a:cs typeface="微软雅黑" panose="020B0503020204020204" charset="-122"/>
              </a:rPr>
              <a:t>支持音视频转换文本的解析</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56" name="矩形 55"/>
          <p:cNvSpPr/>
          <p:nvPr/>
        </p:nvSpPr>
        <p:spPr>
          <a:xfrm>
            <a:off x="6329680" y="2578100"/>
            <a:ext cx="5452745" cy="4135120"/>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向量</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加工-文档解析示例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AutoShape 4"/>
          <p:cNvSpPr/>
          <p:nvPr>
            <p:custDataLst>
              <p:tags r:id="rId1"/>
            </p:custDataLst>
          </p:nvPr>
        </p:nvSpPr>
        <p:spPr>
          <a:xfrm>
            <a:off x="1016000" y="130048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解析前 · 原始PDF文档</a:t>
            </a:r>
            <a:endParaRPr lang="en-US" sz="1600" b="1"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 name="AutoShape 5"/>
          <p:cNvSpPr/>
          <p:nvPr>
            <p:custDataLst>
              <p:tags r:id="rId2"/>
            </p:custDataLst>
          </p:nvPr>
        </p:nvSpPr>
        <p:spPr>
          <a:xfrm>
            <a:off x="6350000" y="130048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解析后 · 结构化输出</a:t>
            </a:r>
            <a:endParaRPr lang="en-US" sz="16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 name="AutoShape 7"/>
          <p:cNvSpPr/>
          <p:nvPr>
            <p:custDataLst>
              <p:tags r:id="rId3"/>
            </p:custDataLst>
          </p:nvPr>
        </p:nvSpPr>
        <p:spPr>
          <a:xfrm>
            <a:off x="1143000" y="1744980"/>
            <a:ext cx="4699000" cy="1079500"/>
          </a:xfrm>
          <a:prstGeom prst="roundRect">
            <a:avLst>
              <a:gd name="adj" fmla="val 4705"/>
            </a:avLst>
          </a:prstGeom>
          <a:solidFill>
            <a:srgbClr val="F9FAFB">
              <a:alpha val="100000"/>
            </a:srgbClr>
          </a:solidFill>
          <a:ln w="12700" cap="flat" cmpd="sng">
            <a:solidFill>
              <a:srgbClr val="E5E7EB">
                <a:alpha val="100000"/>
              </a:srgbClr>
            </a:solidFill>
            <a:prstDash val="solid"/>
            <a:round/>
          </a:ln>
        </p:spPr>
        <p:txBody>
          <a:bodyPr vert="horz" wrap="square" lIns="101600" tIns="76200" rIns="101600" bIns="76200" rtlCol="0" anchor="ctr" anchorCtr="0"/>
          <a:lstStyle/>
          <a:p>
            <a:pPr marL="0" indent="0" algn="ctr">
              <a:lnSpc>
                <a:spcPct val="100000"/>
              </a:lnSpc>
              <a:defRPr/>
            </a:pP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Songti SC" panose="02010800040101010101" charset="-122"/>
              </a:rPr>
              <a:t>【年报·</a:t>
            </a:r>
            <a:r>
              <a:rPr lang="zh-CN" alt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Songti SC" panose="02010800040101010101" charset="-122"/>
              </a:rPr>
              <a:t>经营业绩</a:t>
            </a:r>
            <a:r>
              <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Songti SC" panose="02010800040101010101" charset="-122"/>
              </a:rPr>
              <a:t>】</a:t>
            </a:r>
            <a:endPar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Songti SC" panose="02010800040101010101" charset="-122"/>
            </a:endParaRPr>
          </a:p>
          <a:p>
            <a:pPr marL="0" indent="0" algn="ctr">
              <a:lnSpc>
                <a:spcPct val="100000"/>
              </a:lnSpc>
              <a:defRPr/>
            </a:pPr>
            <a:endPar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Songti SC" panose="02010800040101010101" charset="-122"/>
            </a:endParaRPr>
          </a:p>
          <a:p>
            <a:pPr marL="0" indent="0" algn="ctr">
              <a:lnSpc>
                <a:spcPct val="100000"/>
              </a:lnSpc>
              <a:defRPr/>
            </a:pPr>
            <a:endPar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Songti SC" panose="02010800040101010101" charset="-122"/>
            </a:endParaRPr>
          </a:p>
          <a:p>
            <a:pPr marL="0" indent="0" algn="ctr">
              <a:lnSpc>
                <a:spcPct val="100000"/>
              </a:lnSpc>
              <a:defRPr/>
            </a:pPr>
            <a:endParaRPr lang="en-US" sz="1100" b="1" i="0" u="none" strike="noStrike">
              <a:solidFill>
                <a:srgbClr val="4B5563"/>
              </a:solidFill>
              <a:latin typeface="微软雅黑" panose="020B0503020204020204" charset="-122"/>
              <a:ea typeface="微软雅黑" panose="020B0503020204020204" charset="-122"/>
              <a:cs typeface="微软雅黑" panose="020B0503020204020204" charset="-122"/>
              <a:sym typeface="Songti SC" panose="02010800040101010101" charset="-122"/>
            </a:endParaRPr>
          </a:p>
          <a:p>
            <a:pPr marL="0" indent="0" algn="ctr">
              <a:lnSpc>
                <a:spcPct val="100000"/>
              </a:lnSpc>
              <a:defRPr/>
            </a:pPr>
            <a:endParaRPr lang="en-US" sz="1100">
              <a:latin typeface="微软雅黑" panose="020B0503020204020204" charset="-122"/>
              <a:ea typeface="微软雅黑" panose="020B0503020204020204" charset="-122"/>
              <a:cs typeface="微软雅黑" panose="020B0503020204020204" charset="-122"/>
            </a:endParaRPr>
          </a:p>
          <a:p>
            <a:pPr marL="0" indent="0" algn="r">
              <a:lnSpc>
                <a:spcPct val="100000"/>
              </a:lnSpc>
            </a:pPr>
            <a:r>
              <a:rPr lang="en-US" sz="900" b="0" i="0" u="none" strike="noStrike">
                <a:solidFill>
                  <a:srgbClr val="9CA3AF"/>
                </a:solidFill>
                <a:latin typeface="微软雅黑" panose="020B0503020204020204" charset="-122"/>
                <a:ea typeface="微软雅黑" panose="020B0503020204020204" charset="-122"/>
                <a:cs typeface="微软雅黑" panose="020B0503020204020204" charset="-122"/>
                <a:sym typeface="Songti SC" panose="02010800040101010101" charset="-122"/>
              </a:rPr>
              <a:t>图文混杂 · 图表无文字层</a:t>
            </a:r>
            <a:endParaRPr lang="en-US" sz="900" b="0" i="0" u="none" strike="noStrike">
              <a:solidFill>
                <a:srgbClr val="9CA3AF"/>
              </a:solidFill>
              <a:latin typeface="微软雅黑" panose="020B0503020204020204" charset="-122"/>
              <a:ea typeface="微软雅黑" panose="020B0503020204020204" charset="-122"/>
              <a:cs typeface="微软雅黑" panose="020B0503020204020204" charset="-122"/>
              <a:sym typeface="Songti SC" panose="02010800040101010101" charset="-122"/>
            </a:endParaRPr>
          </a:p>
        </p:txBody>
      </p:sp>
      <p:sp>
        <p:nvSpPr>
          <p:cNvPr id="8" name="AutoShape 8"/>
          <p:cNvSpPr/>
          <p:nvPr>
            <p:custDataLst>
              <p:tags r:id="rId4"/>
            </p:custDataLst>
          </p:nvPr>
        </p:nvSpPr>
        <p:spPr>
          <a:xfrm>
            <a:off x="6350000" y="1744980"/>
            <a:ext cx="4699000" cy="1079500"/>
          </a:xfrm>
          <a:prstGeom prst="roundRect">
            <a:avLst>
              <a:gd name="adj" fmla="val 4705"/>
            </a:avLst>
          </a:prstGeom>
          <a:solidFill>
            <a:schemeClr val="accent1">
              <a:lumMod val="20000"/>
              <a:lumOff val="80000"/>
            </a:schemeClr>
          </a:solidFill>
          <a:ln w="12700" cap="flat" cmpd="sng">
            <a:solidFill>
              <a:schemeClr val="accent1">
                <a:alpha val="100000"/>
              </a:schemeClr>
            </a:solidFill>
            <a:prstDash val="solid"/>
            <a:round/>
          </a:ln>
        </p:spPr>
        <p:txBody>
          <a:bodyPr vert="horz" wrap="square" lIns="101600" tIns="76200" rIns="101600" bIns="76200" rtlCol="0" anchor="ctr" anchorCtr="0"/>
          <a:lstStyle/>
          <a:p>
            <a:pPr marL="0" indent="0" algn="ctr">
              <a:lnSpc>
                <a:spcPct val="100000"/>
              </a:lnSpc>
              <a:defRPr/>
            </a:pPr>
            <a:r>
              <a:rPr lang="en-US" sz="10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解析结果 · 图文混排</a:t>
            </a:r>
            <a:r>
              <a:rPr lang="en-US" sz="900" b="0" i="0" u="none" strike="noStrike">
                <a:solidFill>
                  <a:srgbClr val="374151">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en-US" sz="9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年报·</a:t>
            </a:r>
            <a:r>
              <a:rPr lang="zh-CN" altLang="en-US" sz="9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经营业绩</a:t>
            </a:r>
            <a:r>
              <a:rPr lang="en-US" sz="9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 | DeepDoc+VLM</a:t>
            </a:r>
            <a:endParaRPr lang="en-US" sz="900" b="0" i="0" u="none" strike="noStrike">
              <a:solidFill>
                <a:schemeClr val="tx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 正文：</a:t>
            </a:r>
            <a:r>
              <a:rPr lang="zh-CN" alt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营业收入：营业收入</a:t>
            </a:r>
            <a:r>
              <a:rPr lang="en-US" altLang="zh-CN"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2,124.75 </a:t>
            </a:r>
            <a:r>
              <a:rPr lang="zh-CN" alt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亿元，总资产</a:t>
            </a:r>
            <a:r>
              <a:rPr lang="en-US" altLang="zh-CN"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101,310.28</a:t>
            </a:r>
            <a:r>
              <a:rPr lang="zh-CN" alt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亿元，归母净利润706.18亿元，净利润增速</a:t>
            </a:r>
            <a:r>
              <a:rPr lang="en-US" altLang="zh-CN"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2.98%</a:t>
            </a:r>
            <a:endPar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pPr>
            <a:r>
              <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 图表：[</a:t>
            </a:r>
            <a:r>
              <a:rPr lang="zh-CN" alt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经营概况</a:t>
            </a:r>
            <a:r>
              <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endPar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 name="AutoShape 10"/>
          <p:cNvSpPr/>
          <p:nvPr>
            <p:custDataLst>
              <p:tags r:id="rId5"/>
            </p:custDataLst>
          </p:nvPr>
        </p:nvSpPr>
        <p:spPr>
          <a:xfrm>
            <a:off x="1143000" y="2951480"/>
            <a:ext cx="4699000" cy="1333500"/>
          </a:xfrm>
          <a:prstGeom prst="roundRect">
            <a:avLst>
              <a:gd name="adj" fmla="val 3809"/>
            </a:avLst>
          </a:prstGeom>
          <a:solidFill>
            <a:srgbClr val="F9FAFB">
              <a:alpha val="100000"/>
            </a:srgbClr>
          </a:solidFill>
          <a:ln w="12700" cap="flat" cmpd="sng">
            <a:solidFill>
              <a:srgbClr val="E5E7EB">
                <a:alpha val="100000"/>
              </a:srgbClr>
            </a:solidFill>
            <a:prstDash val="solid"/>
            <a:round/>
          </a:ln>
        </p:spPr>
        <p:txBody>
          <a:bodyPr vert="horz" wrap="square" lIns="76200" tIns="50800" rIns="76200" bIns="50800" rtlCol="0" anchor="ctr" anchorCtr="0"/>
          <a:lstStyle/>
          <a:p>
            <a:pPr marL="0" indent="0" algn="r">
              <a:lnSpc>
                <a:spcPct val="92000"/>
              </a:lnSpc>
            </a:pPr>
            <a:endPar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endPar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endPar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endPar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endPar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endPar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endPar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r>
              <a:rPr lang="en-US" sz="9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产品手册参数表跨页断裂 · 数据不连续</a:t>
            </a:r>
            <a:endParaRPr lang="en-US" sz="800" b="0" i="0" u="none" strike="noStrike">
              <a:solidFill>
                <a:srgbClr val="9CA3AF"/>
              </a:solidFill>
              <a:latin typeface="微软雅黑" panose="020B0503020204020204" charset="-122"/>
              <a:ea typeface="微软雅黑" panose="020B0503020204020204" charset="-122"/>
              <a:cs typeface="微软雅黑" panose="020B0503020204020204" charset="-122"/>
              <a:sym typeface="Songti SC" panose="02010800040101010101" charset="-122"/>
            </a:endParaRPr>
          </a:p>
        </p:txBody>
      </p:sp>
      <p:sp>
        <p:nvSpPr>
          <p:cNvPr id="11" name="AutoShape 11"/>
          <p:cNvSpPr/>
          <p:nvPr>
            <p:custDataLst>
              <p:tags r:id="rId6"/>
            </p:custDataLst>
          </p:nvPr>
        </p:nvSpPr>
        <p:spPr>
          <a:xfrm>
            <a:off x="6350000" y="2951480"/>
            <a:ext cx="4699000" cy="1333500"/>
          </a:xfrm>
          <a:prstGeom prst="roundRect">
            <a:avLst>
              <a:gd name="adj" fmla="val 3809"/>
            </a:avLst>
          </a:prstGeom>
          <a:solidFill>
            <a:schemeClr val="accent1">
              <a:lumMod val="20000"/>
              <a:lumOff val="80000"/>
            </a:schemeClr>
          </a:solidFill>
          <a:ln w="12700" cap="flat" cmpd="sng">
            <a:solidFill>
              <a:schemeClr val="accent1">
                <a:alpha val="100000"/>
              </a:schemeClr>
            </a:solidFill>
            <a:prstDash val="solid"/>
            <a:round/>
          </a:ln>
        </p:spPr>
        <p:txBody>
          <a:bodyPr vert="horz" wrap="square" lIns="101600" tIns="63500" rIns="101600" bIns="63500" rtlCol="0" anchor="ctr" anchorCtr="0"/>
          <a:lstStyle/>
          <a:p>
            <a:pPr marL="0" indent="0" algn="ctr">
              <a:lnSpc>
                <a:spcPct val="92000"/>
              </a:lnSpc>
              <a:defRPr/>
            </a:pPr>
            <a:r>
              <a:rPr lang="en-US" sz="900" b="1">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解析结果 · 跨页表格</a:t>
            </a:r>
            <a:r>
              <a:rPr lang="en-US" sz="9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产品手册 | 费率参数表 | 跨页合并</a:t>
            </a:r>
            <a:endParaRPr lang="en-US" sz="900"/>
          </a:p>
          <a:p>
            <a:pPr marL="0" indent="0" algn="ctr">
              <a:lnSpc>
                <a:spcPct val="92000"/>
              </a:lnSpc>
            </a:pPr>
            <a:r>
              <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产品名称：鑫享固收+一年，产品代码：</a:t>
            </a:r>
            <a:r>
              <a:rPr lang="en-US" altLang="zh-CN"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LX2024004</a:t>
            </a:r>
            <a:r>
              <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，产品类型：混合类，管理费率：</a:t>
            </a:r>
            <a:r>
              <a:rPr lang="en-US" altLang="zh-CN"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0.60%</a:t>
            </a:r>
            <a:r>
              <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，托管费率：</a:t>
            </a:r>
            <a:r>
              <a:rPr lang="en-US" altLang="zh-CN"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0.08%</a:t>
            </a:r>
            <a:r>
              <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，认购费率：</a:t>
            </a:r>
            <a:r>
              <a:rPr lang="en-US" altLang="zh-CN"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0.20%</a:t>
            </a:r>
            <a:r>
              <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，赎回费率：持有&lt;7天:1.5%</a:t>
            </a:r>
            <a:endPar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92000"/>
              </a:lnSpc>
            </a:pPr>
            <a:r>
              <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7天≤持有&lt;30天:0.5%持有≥30天:0.00%，风险等级：</a:t>
            </a:r>
            <a:r>
              <a:rPr lang="en-US" altLang="zh-CN"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R3 </a:t>
            </a:r>
            <a:r>
              <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中风险</a:t>
            </a:r>
            <a:endParaRPr lang="zh-CN" altLang="en-US" sz="900">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a:lnSpc>
                <a:spcPct val="92000"/>
              </a:lnSpc>
            </a:pPr>
            <a:endParaRPr lang="en-US" sz="9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r">
              <a:lnSpc>
                <a:spcPct val="92000"/>
              </a:lnSpc>
            </a:pPr>
            <a:r>
              <a:rPr lang="en-US" sz="900">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跨页表格自动拼接 · 手册参数结构化提取</a:t>
            </a:r>
            <a:endParaRPr lang="en-US" sz="9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1143000" y="4411980"/>
            <a:ext cx="4699000" cy="1333500"/>
          </a:xfrm>
          <a:prstGeom prst="roundRect">
            <a:avLst>
              <a:gd name="adj" fmla="val 3809"/>
            </a:avLst>
          </a:prstGeom>
          <a:solidFill>
            <a:srgbClr val="F9FAFB">
              <a:alpha val="100000"/>
            </a:srgbClr>
          </a:solidFill>
          <a:ln w="12700" cap="flat" cmpd="sng">
            <a:solidFill>
              <a:srgbClr val="E5E7EB">
                <a:alpha val="100000"/>
              </a:srgbClr>
            </a:solidFill>
            <a:prstDash val="solid"/>
            <a:round/>
          </a:ln>
        </p:spPr>
        <p:txBody>
          <a:bodyPr vert="horz" wrap="square" lIns="101600" tIns="76200" rIns="101600" bIns="76200" rtlCol="0" anchor="ctr" anchorCtr="0"/>
          <a:lstStyle/>
          <a:p>
            <a:pPr marL="0" indent="0" algn="r">
              <a:lnSpc>
                <a:spcPct val="100000"/>
              </a:lnSpc>
            </a:pPr>
            <a:r>
              <a:rPr lang="en-US" sz="900" b="0" i="0" u="none" strike="noStrike">
                <a:solidFill>
                  <a:srgbClr val="9CA3AF"/>
                </a:solidFill>
                <a:latin typeface="微软雅黑" panose="020B0503020204020204" charset="-122"/>
                <a:ea typeface="微软雅黑" panose="020B0503020204020204" charset="-122"/>
                <a:cs typeface="微软雅黑" panose="020B0503020204020204" charset="-122"/>
                <a:sym typeface="Songti SC" panose="02010800040101010101" charset="-122"/>
              </a:rPr>
              <a:t>条款截断 · 语义断裂</a:t>
            </a:r>
            <a:endParaRPr lang="en-US" sz="900" b="0" i="0" u="none" strike="noStrike">
              <a:solidFill>
                <a:srgbClr val="9CA3AF"/>
              </a:solidFill>
              <a:latin typeface="微软雅黑" panose="020B0503020204020204" charset="-122"/>
              <a:ea typeface="微软雅黑" panose="020B0503020204020204" charset="-122"/>
              <a:cs typeface="微软雅黑" panose="020B0503020204020204" charset="-122"/>
              <a:sym typeface="Songti SC" panose="02010800040101010101" charset="-122"/>
            </a:endParaRPr>
          </a:p>
        </p:txBody>
      </p:sp>
      <p:sp>
        <p:nvSpPr>
          <p:cNvPr id="14" name="AutoShape 14"/>
          <p:cNvSpPr/>
          <p:nvPr/>
        </p:nvSpPr>
        <p:spPr>
          <a:xfrm>
            <a:off x="6350000" y="4411980"/>
            <a:ext cx="4699000" cy="1333500"/>
          </a:xfrm>
          <a:prstGeom prst="roundRect">
            <a:avLst>
              <a:gd name="adj" fmla="val 3809"/>
            </a:avLst>
          </a:prstGeom>
          <a:solidFill>
            <a:schemeClr val="accent1">
              <a:lumMod val="20000"/>
              <a:lumOff val="80000"/>
            </a:schemeClr>
          </a:solidFill>
          <a:ln w="12700" cap="flat" cmpd="sng">
            <a:solidFill>
              <a:schemeClr val="accent1">
                <a:alpha val="100000"/>
              </a:schemeClr>
            </a:solidFill>
            <a:prstDash val="solid"/>
            <a:round/>
          </a:ln>
        </p:spPr>
        <p:txBody>
          <a:bodyPr vert="horz" wrap="square" lIns="101600" tIns="76200" rIns="101600" bIns="76200" rtlCol="0" anchor="ctr" anchorCtr="0"/>
          <a:lstStyle/>
          <a:p>
            <a:pPr marL="0" indent="0" algn="ctr">
              <a:lnSpc>
                <a:spcPct val="100000"/>
              </a:lnSpc>
              <a:defRPr/>
            </a:pPr>
            <a:r>
              <a:rPr lang="en-US" sz="10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解析结果 · 跨页文本</a:t>
            </a:r>
            <a:r>
              <a:rPr lang="en-US" sz="900" b="0" i="0" u="none" strike="noStrike">
                <a:solidFill>
                  <a:srgbClr val="374151">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 制度文件 | DeepDoc语义缝合</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zh-CN" altLang="en-US" sz="1000">
                <a:latin typeface="微软雅黑" panose="020B0503020204020204" charset="-122"/>
                <a:ea typeface="微软雅黑" panose="020B0503020204020204" charset="-122"/>
                <a:cs typeface="微软雅黑" panose="020B0503020204020204" charset="-122"/>
                <a:sym typeface="+mn-ea"/>
              </a:rPr>
              <a:t>第三十四条  在贷款发放和支付过程中，借款人出现以下情形的，贷款人应与借款人协商补充贷款发放和支付条件，或根据合同约定变更贷款支付方式、停止或中止贷款资金的发放和支付：</a:t>
            </a:r>
            <a:endParaRPr lang="zh-CN" altLang="en-US" sz="10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zh-CN" altLang="en-US" sz="1000">
                <a:latin typeface="微软雅黑" panose="020B0503020204020204" charset="-122"/>
                <a:ea typeface="微软雅黑" panose="020B0503020204020204" charset="-122"/>
                <a:cs typeface="微软雅黑" panose="020B0503020204020204" charset="-122"/>
                <a:sym typeface="+mn-ea"/>
              </a:rPr>
              <a:t>（一）信用状况下降；</a:t>
            </a:r>
            <a:endParaRPr lang="zh-CN" altLang="en-US" sz="10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zh-CN" altLang="en-US" sz="1000">
                <a:latin typeface="微软雅黑" panose="020B0503020204020204" charset="-122"/>
                <a:ea typeface="微软雅黑" panose="020B0503020204020204" charset="-122"/>
                <a:cs typeface="微软雅黑" panose="020B0503020204020204" charset="-122"/>
                <a:sym typeface="+mn-ea"/>
              </a:rPr>
              <a:t>（二）经营及财务状况明显趋差；</a:t>
            </a:r>
            <a:endParaRPr lang="zh-CN" altLang="en-US" sz="1000">
              <a:latin typeface="微软雅黑" panose="020B0503020204020204" charset="-122"/>
              <a:ea typeface="微软雅黑" panose="020B0503020204020204" charset="-122"/>
              <a:cs typeface="微软雅黑" panose="020B0503020204020204" charset="-122"/>
            </a:endParaRPr>
          </a:p>
          <a:p>
            <a:pPr marL="0" indent="0" algn="ctr">
              <a:lnSpc>
                <a:spcPct val="100000"/>
              </a:lnSpc>
            </a:pPr>
            <a:r>
              <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AutoShape 18"/>
          <p:cNvSpPr/>
          <p:nvPr/>
        </p:nvSpPr>
        <p:spPr>
          <a:xfrm>
            <a:off x="508000" y="6494145"/>
            <a:ext cx="1117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0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技术基座：PaddleOCR-VL（视觉文字识别） + DeepDoc（版面解析） + MinerU（结构化提取） + VLM（语义增强）</a:t>
            </a:r>
            <a:endParaRPr lang="en-US" sz="10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9" name="图片 8"/>
          <p:cNvPicPr>
            <a:picLocks noChangeAspect="1"/>
          </p:cNvPicPr>
          <p:nvPr/>
        </p:nvPicPr>
        <p:blipFill>
          <a:blip r:embed="rId7"/>
          <a:stretch>
            <a:fillRect/>
          </a:stretch>
        </p:blipFill>
        <p:spPr>
          <a:xfrm>
            <a:off x="1379220" y="3002280"/>
            <a:ext cx="2787015" cy="934720"/>
          </a:xfrm>
          <a:prstGeom prst="rect">
            <a:avLst/>
          </a:prstGeom>
          <a:ln>
            <a:solidFill>
              <a:schemeClr val="bg1">
                <a:lumMod val="75000"/>
              </a:schemeClr>
            </a:solidFill>
          </a:ln>
        </p:spPr>
      </p:pic>
      <p:pic>
        <p:nvPicPr>
          <p:cNvPr id="25" name="图片 24"/>
          <p:cNvPicPr>
            <a:picLocks noChangeAspect="1"/>
          </p:cNvPicPr>
          <p:nvPr/>
        </p:nvPicPr>
        <p:blipFill>
          <a:blip r:embed="rId8"/>
          <a:stretch>
            <a:fillRect/>
          </a:stretch>
        </p:blipFill>
        <p:spPr>
          <a:xfrm>
            <a:off x="2361565" y="4486275"/>
            <a:ext cx="1108075" cy="1139825"/>
          </a:xfrm>
          <a:prstGeom prst="rect">
            <a:avLst/>
          </a:prstGeom>
        </p:spPr>
      </p:pic>
      <p:pic>
        <p:nvPicPr>
          <p:cNvPr id="6" name="图片 5"/>
          <p:cNvPicPr>
            <a:picLocks noChangeAspect="1"/>
          </p:cNvPicPr>
          <p:nvPr/>
        </p:nvPicPr>
        <p:blipFill>
          <a:blip r:embed="rId9"/>
          <a:stretch>
            <a:fillRect/>
          </a:stretch>
        </p:blipFill>
        <p:spPr>
          <a:xfrm>
            <a:off x="1910715" y="1812925"/>
            <a:ext cx="2255520" cy="975360"/>
          </a:xfrm>
          <a:prstGeom prst="rect">
            <a:avLst/>
          </a:prstGeom>
        </p:spPr>
      </p:pic>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向量</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加工-文档切片</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889635"/>
            <a:ext cx="11370945" cy="1133475"/>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ct val="1500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文档切片是决定检索质量的核心步骤：块度过大易丢失细节，过小则破坏语义完整性</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内置五种智能分块策略</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，覆盖从通用文本到专业法规的全场景</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，并支持</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Token</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大小、重叠比例等参数的精细化调优，</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实现“粒度可控、语义无损”的切分效果。</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pic>
        <p:nvPicPr>
          <p:cNvPr id="3"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20675" y="2074545"/>
            <a:ext cx="304800" cy="304800"/>
          </a:xfrm>
          <a:prstGeom prst="rect">
            <a:avLst/>
          </a:prstGeom>
        </p:spPr>
      </p:pic>
      <p:sp>
        <p:nvSpPr>
          <p:cNvPr id="4" name="AutoShape 9"/>
          <p:cNvSpPr/>
          <p:nvPr/>
        </p:nvSpPr>
        <p:spPr>
          <a:xfrm>
            <a:off x="701675" y="2049145"/>
            <a:ext cx="4153535"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分块策略</a:t>
            </a:r>
            <a:r>
              <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与分</a:t>
            </a:r>
            <a:r>
              <a:rPr lang="zh-CN" alt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块</a:t>
            </a:r>
            <a:r>
              <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大小配置</a:t>
            </a:r>
            <a:endPar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 name="AutoShape 13"/>
          <p:cNvSpPr/>
          <p:nvPr/>
        </p:nvSpPr>
        <p:spPr>
          <a:xfrm>
            <a:off x="264795" y="2493645"/>
            <a:ext cx="6099175" cy="1043305"/>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01. 流程节点</a:t>
            </a:r>
            <a:r>
              <a:rPr lang="en-US" sz="1200" b="1" i="0" u="none" strike="noStrike">
                <a:solidFill>
                  <a:srgbClr val="0A4D4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选择分块策略 → 设置Token大小 → 配置重叠比例 → 执行切分 → 生成Chunk列表</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支持切片预览</a:t>
            </a:r>
            <a:endPar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defRPr/>
            </a:pPr>
            <a:r>
              <a:rPr lang="en-US" sz="12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信息内容：</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支持</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通用分块</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标题分块</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法规分块</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手册</a:t>
            </a:r>
            <a:r>
              <a:rPr lang="en-US" altLang="zh-CN"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问答</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等分块策略；chunk</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的</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Token数量控制；</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分块</a:t>
            </a:r>
            <a:r>
              <a:rPr lang="en-US" altLang="zh-CN"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chunk</a:t>
            </a:r>
            <a:r>
              <a:rPr lang="zh-CN" alt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分块</a:t>
            </a:r>
            <a:r>
              <a:rPr lang="en-US" sz="1200">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rPr>
              <a:t>重叠上下文增强语义连续性</a:t>
            </a:r>
            <a:endParaRPr lang="zh-CN" altLang="en-US" sz="1200" b="0" i="0" u="none" strike="noStrike">
              <a:solidFill>
                <a:srgbClr val="525252"/>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aphicFrame>
        <p:nvGraphicFramePr>
          <p:cNvPr id="28" name="Table 7"/>
          <p:cNvGraphicFramePr>
            <a:graphicFrameLocks noGrp="1"/>
          </p:cNvGraphicFramePr>
          <p:nvPr>
            <p:custDataLst>
              <p:tags r:id="rId3"/>
            </p:custDataLst>
          </p:nvPr>
        </p:nvGraphicFramePr>
        <p:xfrm>
          <a:off x="208280" y="3825875"/>
          <a:ext cx="6099175" cy="2743200"/>
        </p:xfrm>
        <a:graphic>
          <a:graphicData uri="http://schemas.openxmlformats.org/drawingml/2006/table">
            <a:tbl>
              <a:tblPr>
                <a:effectLst/>
              </a:tblPr>
              <a:tblGrid>
                <a:gridCol w="787400"/>
                <a:gridCol w="1569085"/>
                <a:gridCol w="1109345"/>
                <a:gridCol w="1247775"/>
                <a:gridCol w="1385570"/>
              </a:tblGrid>
              <a:tr h="355600">
                <a:tc>
                  <a:txBody>
                    <a:bodyPr/>
                    <a:lstStyle/>
                    <a:p>
                      <a:pPr marL="0" indent="0" algn="ctr">
                        <a:lnSpc>
                          <a:spcPct val="100000"/>
                        </a:lnSpc>
                        <a:defRPr/>
                      </a:pPr>
                      <a:r>
                        <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分块策略</a:t>
                      </a:r>
                      <a:endPar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c>
                  <a:txBody>
                    <a:bodyPr/>
                    <a:lstStyle/>
                    <a:p>
                      <a:pPr marL="0" indent="0" algn="ctr">
                        <a:lnSpc>
                          <a:spcPct val="100000"/>
                        </a:lnSpc>
                        <a:defRPr/>
                      </a:pPr>
                      <a:r>
                        <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核心切分原理</a:t>
                      </a:r>
                      <a:endPar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c>
                  <a:txBody>
                    <a:bodyPr/>
                    <a:lstStyle/>
                    <a:p>
                      <a:pPr marL="0" indent="0" algn="ctr">
                        <a:lnSpc>
                          <a:spcPct val="100000"/>
                        </a:lnSpc>
                        <a:defRPr/>
                      </a:pPr>
                      <a:r>
                        <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适配文档类型</a:t>
                      </a:r>
                      <a:endPar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c>
                  <a:txBody>
                    <a:bodyPr/>
                    <a:lstStyle/>
                    <a:p>
                      <a:pPr marL="0" indent="0" algn="ctr">
                        <a:lnSpc>
                          <a:spcPct val="100000"/>
                        </a:lnSpc>
                        <a:defRPr/>
                      </a:pPr>
                      <a:r>
                        <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算法核心优势</a:t>
                      </a:r>
                      <a:endPar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c>
                  <a:txBody>
                    <a:bodyPr/>
                    <a:lstStyle/>
                    <a:p>
                      <a:pPr marL="0" indent="0" algn="ctr">
                        <a:lnSpc>
                          <a:spcPct val="100000"/>
                        </a:lnSpc>
                        <a:defRPr/>
                      </a:pPr>
                      <a:r>
                        <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典型应用场景</a:t>
                      </a:r>
                      <a:endParaRPr lang="en-US" sz="10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solidFill>
                  </a:tcPr>
                </a:tc>
              </a:tr>
              <a:tr h="477520">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通用分块</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l">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按固定Token数均分，简单高效</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普通说明/新闻</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实现简单，性能最优</a:t>
                      </a:r>
                      <a:endPar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通用知识库/资讯</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r>
              <a:tr h="477520">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标题分块</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l">
                        <a:lnSpc>
                          <a:spcPct val="100000"/>
                        </a:lnSpc>
                        <a:defRPr/>
                      </a:pPr>
                      <a:r>
                        <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按章节层级递归切分，语义完整</a:t>
                      </a:r>
                      <a:endPar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制度/报告/书籍</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保留段落结构与逻辑</a:t>
                      </a:r>
                      <a:endPar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企业制度/政策文件</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r>
              <a:tr h="477520">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法规分块</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l">
                        <a:lnSpc>
                          <a:spcPct val="100000"/>
                        </a:lnSpc>
                        <a:defRPr/>
                      </a:pPr>
                      <a:r>
                        <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识别法条编号，精准断句</a:t>
                      </a:r>
                      <a:endPar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法律条文/管理办法</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法条粒度精准，无歧义</a:t>
                      </a:r>
                      <a:endParaRPr 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c>
                  <a:txBody>
                    <a:bodyPr/>
                    <a:lstStyle/>
                    <a:p>
                      <a:pPr marL="0" indent="0" algn="ctr">
                        <a:lnSpc>
                          <a:spcPct val="100000"/>
                        </a:lnSpc>
                        <a:defRPr/>
                      </a:pPr>
                      <a:r>
                        <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合规审查/法律检索</a:t>
                      </a:r>
                      <a:endParaRPr 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bg1">
                        <a:lumMod val="95000"/>
                      </a:schemeClr>
                    </a:solidFill>
                  </a:tcPr>
                </a:tc>
              </a:tr>
              <a:tr h="477520">
                <a:tc>
                  <a:txBody>
                    <a:bodyPr/>
                    <a:lstStyle/>
                    <a:p>
                      <a:pPr marL="0" algn="ctr">
                        <a:lnSpc>
                          <a:spcPct val="100000"/>
                        </a:lnSpc>
                        <a:buClrTx/>
                        <a:buSzTx/>
                        <a:buFontTx/>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父子分块</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rgbClr val="F2F2F2"/>
                    </a:solidFill>
                  </a:tcPr>
                </a:tc>
                <a:tc>
                  <a:txBody>
                    <a:bodyPr/>
                    <a:lstStyle/>
                    <a:p>
                      <a:pPr marL="0" algn="l">
                        <a:lnSpc>
                          <a:spcPct val="100000"/>
                        </a:lnSpc>
                        <a:buClrTx/>
                        <a:buSzTx/>
                        <a:buFontTx/>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识别标题结构</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rgbClr val="F2F2F2"/>
                    </a:solidFill>
                  </a:tcPr>
                </a:tc>
                <a:tc>
                  <a:txBody>
                    <a:bodyPr/>
                    <a:lstStyle/>
                    <a:p>
                      <a:pPr marL="0" algn="ctr">
                        <a:lnSpc>
                          <a:spcPct val="100000"/>
                        </a:lnSpc>
                        <a:buClrTx/>
                        <a:buSzTx/>
                        <a:buFontTx/>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长篇结构化手册</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rgbClr val="F2F2F2"/>
                    </a:solidFill>
                  </a:tcPr>
                </a:tc>
                <a:tc>
                  <a:txBody>
                    <a:bodyPr/>
                    <a:lstStyle/>
                    <a:p>
                      <a:pPr marL="0" algn="ctr">
                        <a:lnSpc>
                          <a:spcPct val="100000"/>
                        </a:lnSpc>
                        <a:buClrTx/>
                        <a:buSzTx/>
                        <a:buFontTx/>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回答使用完整父块，上下文充足</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rgbClr val="F2F2F2"/>
                    </a:solidFill>
                  </a:tcPr>
                </a:tc>
                <a:tc>
                  <a:txBody>
                    <a:bodyPr/>
                    <a:lstStyle/>
                    <a:p>
                      <a:pPr marL="0" algn="ctr">
                        <a:lnSpc>
                          <a:spcPct val="100000"/>
                        </a:lnSpc>
                        <a:buClrTx/>
                        <a:buSzTx/>
                        <a:buFontTx/>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金融业务制度</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rgbClr val="F2F2F2"/>
                    </a:solidFill>
                  </a:tcPr>
                </a:tc>
              </a:tr>
              <a:tr h="477520">
                <a:tc>
                  <a:txBody>
                    <a:bodyPr/>
                    <a:lstStyle/>
                    <a:p>
                      <a:pPr marL="0" indent="0" algn="ctr">
                        <a:lnSpc>
                          <a:spcPct val="100000"/>
                        </a:lnSpc>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自定义分块</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l">
                        <a:lnSpc>
                          <a:spcPct val="100000"/>
                        </a:lnSpc>
                        <a:buNone/>
                        <a:defRPr/>
                      </a:pPr>
                      <a:r>
                        <a:rPr lang="zh-CN" altLang="en-US" sz="9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自定义正则表达式作为专属分割标记</a:t>
                      </a:r>
                      <a:endParaRPr lang="en-US"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带固定编号的业务条款</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buNone/>
                        <a:defRPr/>
                      </a:pPr>
                      <a:r>
                        <a:rPr lang="zh-CN" alt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高度贴合业务文档格式</a:t>
                      </a:r>
                      <a:endParaRPr lang="zh-CN" altLang="en-US" sz="900" b="0"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c>
                  <a:txBody>
                    <a:bodyPr/>
                    <a:lstStyle/>
                    <a:p>
                      <a:pPr marL="0" indent="0" algn="ctr">
                        <a:lnSpc>
                          <a:spcPct val="100000"/>
                        </a:lnSpc>
                        <a:buNone/>
                        <a:defRPr/>
                      </a:pPr>
                      <a:r>
                        <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金融业务条款</a:t>
                      </a:r>
                      <a:endParaRPr lang="zh-CN" altLang="en-US" sz="9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txBody>
                  <a:tcPr marL="101600" marR="101600" marT="101600" marB="101600">
                    <a:lnL>
                      <a:noFill/>
                    </a:lnL>
                    <a:lnR>
                      <a:noFill/>
                    </a:lnR>
                    <a:lnT>
                      <a:noFill/>
                    </a:lnT>
                    <a:lnB>
                      <a:noFill/>
                    </a:lnB>
                    <a:solidFill>
                      <a:schemeClr val="accent1">
                        <a:lumMod val="20000"/>
                        <a:lumOff val="80000"/>
                      </a:schemeClr>
                    </a:solidFill>
                  </a:tcPr>
                </a:tc>
              </a:tr>
            </a:tbl>
          </a:graphicData>
        </a:graphic>
      </p:graphicFrame>
      <p:sp>
        <p:nvSpPr>
          <p:cNvPr id="29" name="AutoShape 22"/>
          <p:cNvSpPr/>
          <p:nvPr/>
        </p:nvSpPr>
        <p:spPr>
          <a:xfrm>
            <a:off x="264795" y="3528060"/>
            <a:ext cx="5398135"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常用内置切片策略</a:t>
            </a:r>
            <a:endParaRPr lang="zh-CN"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4" name="AutoShape 6"/>
          <p:cNvSpPr/>
          <p:nvPr>
            <p:custDataLst>
              <p:tags r:id="rId4"/>
            </p:custDataLst>
          </p:nvPr>
        </p:nvSpPr>
        <p:spPr>
          <a:xfrm>
            <a:off x="6428105" y="2259965"/>
            <a:ext cx="5452110" cy="422275"/>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nchorCtr="0"/>
          <a:lstStyle/>
          <a:p>
            <a:pPr lvl="0" algn="ctr">
              <a:buClrTx/>
              <a:buSzTx/>
              <a:buFontTx/>
              <a:defRPr/>
            </a:pPr>
            <a:r>
              <a:rPr 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文档切片功能</a:t>
            </a:r>
            <a:endPar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5" name="文本框 54"/>
          <p:cNvSpPr txBox="1"/>
          <p:nvPr/>
        </p:nvSpPr>
        <p:spPr>
          <a:xfrm>
            <a:off x="6525895" y="2726690"/>
            <a:ext cx="5255895" cy="3710940"/>
          </a:xfrm>
          <a:prstGeom prst="rect">
            <a:avLst/>
          </a:prstGeom>
          <a:noFill/>
        </p:spPr>
        <p:txBody>
          <a:bodyPr wrap="square" rtlCol="0">
            <a:noAutofit/>
          </a:bodyPr>
          <a:lstStyle/>
          <a:p>
            <a:pPr algn="l" fontAlgn="auto">
              <a:lnSpc>
                <a:spcPct val="1500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1. 切片策略</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通用 </a:t>
            </a:r>
            <a:r>
              <a:rPr lang="en-US" altLang="zh-CN" sz="1200" b="1">
                <a:latin typeface="微软雅黑" panose="020B0503020204020204" charset="-122"/>
                <a:ea typeface="微软雅黑" panose="020B0503020204020204" charset="-122"/>
                <a:cs typeface="微软雅黑" panose="020B0503020204020204" charset="-122"/>
              </a:rPr>
              <a:t>Token </a:t>
            </a:r>
            <a:r>
              <a:rPr lang="zh-CN" altLang="en-US" sz="1200" b="1">
                <a:latin typeface="微软雅黑" panose="020B0503020204020204" charset="-122"/>
                <a:ea typeface="微软雅黑" panose="020B0503020204020204" charset="-122"/>
                <a:cs typeface="微软雅黑" panose="020B0503020204020204" charset="-122"/>
              </a:rPr>
              <a:t>分块：</a:t>
            </a:r>
            <a:r>
              <a:rPr lang="zh-CN" altLang="en-US" sz="1200">
                <a:latin typeface="微软雅黑" panose="020B0503020204020204" charset="-122"/>
                <a:ea typeface="微软雅黑" panose="020B0503020204020204" charset="-122"/>
                <a:cs typeface="微软雅黑" panose="020B0503020204020204" charset="-122"/>
              </a:rPr>
              <a:t>基于 </a:t>
            </a:r>
            <a:r>
              <a:rPr lang="en-US" altLang="zh-CN" sz="1200">
                <a:latin typeface="微软雅黑" panose="020B0503020204020204" charset="-122"/>
                <a:ea typeface="微软雅黑" panose="020B0503020204020204" charset="-122"/>
                <a:cs typeface="微软雅黑" panose="020B0503020204020204" charset="-122"/>
              </a:rPr>
              <a:t>Token </a:t>
            </a:r>
            <a:r>
              <a:rPr lang="zh-CN" altLang="en-US" sz="1200">
                <a:latin typeface="微软雅黑" panose="020B0503020204020204" charset="-122"/>
                <a:ea typeface="微软雅黑" panose="020B0503020204020204" charset="-122"/>
                <a:cs typeface="微软雅黑" panose="020B0503020204020204" charset="-122"/>
              </a:rPr>
              <a:t>数量的通用分块策略，适配普通文档</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标题层级分块：</a:t>
            </a:r>
            <a:r>
              <a:rPr lang="zh-CN" altLang="en-US" sz="1200">
                <a:latin typeface="微软雅黑" panose="020B0503020204020204" charset="-122"/>
                <a:ea typeface="微软雅黑" panose="020B0503020204020204" charset="-122"/>
                <a:cs typeface="微软雅黑" panose="020B0503020204020204" charset="-122"/>
              </a:rPr>
              <a:t>按一级 / 二级标题等层级结构化切分，保留章节语义</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法规层级分块：</a:t>
            </a:r>
            <a:r>
              <a:rPr lang="zh-CN" altLang="en-US" sz="1200">
                <a:latin typeface="微软雅黑" panose="020B0503020204020204" charset="-122"/>
                <a:ea typeface="微软雅黑" panose="020B0503020204020204" charset="-122"/>
                <a:cs typeface="微软雅黑" panose="020B0503020204020204" charset="-122"/>
              </a:rPr>
              <a:t>按发条编号等层级进行分块，保留法规内容</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父子切片模式：</a:t>
            </a:r>
            <a:r>
              <a:rPr lang="zh-CN" altLang="en-US" sz="1200">
                <a:latin typeface="微软雅黑" panose="020B0503020204020204" charset="-122"/>
                <a:ea typeface="微软雅黑" panose="020B0503020204020204" charset="-122"/>
                <a:cs typeface="微软雅黑" panose="020B0503020204020204" charset="-122"/>
              </a:rPr>
              <a:t>父切片保完整上下文、子切片提命中精度，两级关联召回</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自定义分块扩展：</a:t>
            </a:r>
            <a:r>
              <a:rPr lang="zh-CN" altLang="en-US" sz="1200">
                <a:latin typeface="微软雅黑" panose="020B0503020204020204" charset="-122"/>
                <a:ea typeface="微软雅黑" panose="020B0503020204020204" charset="-122"/>
                <a:cs typeface="微软雅黑" panose="020B0503020204020204" charset="-122"/>
              </a:rPr>
              <a:t>支持自定义 </a:t>
            </a:r>
            <a:r>
              <a:rPr lang="en-US" altLang="zh-CN" sz="1200">
                <a:latin typeface="微软雅黑" panose="020B0503020204020204" charset="-122"/>
                <a:ea typeface="微软雅黑" panose="020B0503020204020204" charset="-122"/>
                <a:cs typeface="微软雅黑" panose="020B0503020204020204" charset="-122"/>
              </a:rPr>
              <a:t>Chunker </a:t>
            </a:r>
            <a:r>
              <a:rPr lang="zh-CN" altLang="en-US" sz="1200">
                <a:latin typeface="微软雅黑" panose="020B0503020204020204" charset="-122"/>
                <a:ea typeface="微软雅黑" panose="020B0503020204020204" charset="-122"/>
                <a:cs typeface="微软雅黑" panose="020B0503020204020204" charset="-122"/>
              </a:rPr>
              <a:t>与解析逻辑，适配特殊格式文档</a:t>
            </a:r>
            <a:endParaRPr lang="zh-CN" altLang="en-US" sz="1200">
              <a:latin typeface="微软雅黑" panose="020B0503020204020204" charset="-122"/>
              <a:ea typeface="微软雅黑" panose="020B0503020204020204" charset="-122"/>
              <a:cs typeface="微软雅黑" panose="020B0503020204020204" charset="-122"/>
            </a:endParaRPr>
          </a:p>
          <a:p>
            <a:pPr algn="l" fontAlgn="auto">
              <a:lnSpc>
                <a:spcPct val="1500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2. 分片大小 / 重叠</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分片大小配置：</a:t>
            </a:r>
            <a:r>
              <a:rPr lang="zh-CN" altLang="en-US" sz="1200">
                <a:latin typeface="微软雅黑" panose="020B0503020204020204" charset="-122"/>
                <a:ea typeface="微软雅黑" panose="020B0503020204020204" charset="-122"/>
                <a:cs typeface="微软雅黑" panose="020B0503020204020204" charset="-122"/>
              </a:rPr>
              <a:t>按 </a:t>
            </a:r>
            <a:r>
              <a:rPr lang="en-US" altLang="zh-CN" sz="1200">
                <a:latin typeface="微软雅黑" panose="020B0503020204020204" charset="-122"/>
                <a:ea typeface="微软雅黑" panose="020B0503020204020204" charset="-122"/>
                <a:cs typeface="微软雅黑" panose="020B0503020204020204" charset="-122"/>
              </a:rPr>
              <a:t>Token </a:t>
            </a:r>
            <a:r>
              <a:rPr lang="zh-CN" altLang="en-US" sz="1200">
                <a:latin typeface="微软雅黑" panose="020B0503020204020204" charset="-122"/>
                <a:ea typeface="微软雅黑" panose="020B0503020204020204" charset="-122"/>
                <a:cs typeface="微软雅黑" panose="020B0503020204020204" charset="-122"/>
              </a:rPr>
              <a:t>数量控制单个 </a:t>
            </a:r>
            <a:r>
              <a:rPr lang="en-US" altLang="zh-CN" sz="1200">
                <a:latin typeface="微软雅黑" panose="020B0503020204020204" charset="-122"/>
                <a:ea typeface="微软雅黑" panose="020B0503020204020204" charset="-122"/>
                <a:cs typeface="微软雅黑" panose="020B0503020204020204" charset="-122"/>
              </a:rPr>
              <a:t>Chunk </a:t>
            </a:r>
            <a:r>
              <a:rPr lang="zh-CN" altLang="en-US" sz="1200">
                <a:latin typeface="微软雅黑" panose="020B0503020204020204" charset="-122"/>
                <a:ea typeface="微软雅黑" panose="020B0503020204020204" charset="-122"/>
                <a:cs typeface="微软雅黑" panose="020B0503020204020204" charset="-122"/>
              </a:rPr>
              <a:t>大小，适配不同模型上下文窗口</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重叠比例配置：</a:t>
            </a:r>
            <a:r>
              <a:rPr lang="zh-CN" altLang="en-US" sz="1200">
                <a:latin typeface="微软雅黑" panose="020B0503020204020204" charset="-122"/>
                <a:ea typeface="微软雅黑" panose="020B0503020204020204" charset="-122"/>
                <a:cs typeface="微软雅黑" panose="020B0503020204020204" charset="-122"/>
              </a:rPr>
              <a:t>相邻 </a:t>
            </a:r>
            <a:r>
              <a:rPr lang="en-US" altLang="zh-CN" sz="1200">
                <a:latin typeface="微软雅黑" panose="020B0503020204020204" charset="-122"/>
                <a:ea typeface="微软雅黑" panose="020B0503020204020204" charset="-122"/>
                <a:cs typeface="微软雅黑" panose="020B0503020204020204" charset="-122"/>
              </a:rPr>
              <a:t>Chunk </a:t>
            </a:r>
            <a:r>
              <a:rPr lang="zh-CN" altLang="en-US" sz="1200">
                <a:latin typeface="微软雅黑" panose="020B0503020204020204" charset="-122"/>
                <a:ea typeface="微软雅黑" panose="020B0503020204020204" charset="-122"/>
                <a:cs typeface="微软雅黑" panose="020B0503020204020204" charset="-122"/>
              </a:rPr>
              <a:t>重叠长度 / 比例配置，减少切分导致的语义断裂</a:t>
            </a:r>
            <a:endParaRPr lang="zh-CN" altLang="en-US" sz="1200">
              <a:latin typeface="微软雅黑" panose="020B0503020204020204" charset="-122"/>
              <a:ea typeface="微软雅黑" panose="020B0503020204020204" charset="-122"/>
              <a:cs typeface="微软雅黑" panose="020B0503020204020204" charset="-122"/>
            </a:endParaRPr>
          </a:p>
          <a:p>
            <a:pPr algn="l" fontAlgn="auto">
              <a:lnSpc>
                <a:spcPct val="1500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3. 分片预览</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en-US" altLang="zh-CN" sz="1200" b="1">
                <a:latin typeface="微软雅黑" panose="020B0503020204020204" charset="-122"/>
                <a:ea typeface="微软雅黑" panose="020B0503020204020204" charset="-122"/>
                <a:cs typeface="微软雅黑" panose="020B0503020204020204" charset="-122"/>
              </a:rPr>
              <a:t>Chunk </a:t>
            </a:r>
            <a:r>
              <a:rPr lang="zh-CN" altLang="en-US" sz="1200" b="1">
                <a:latin typeface="微软雅黑" panose="020B0503020204020204" charset="-122"/>
                <a:ea typeface="微软雅黑" panose="020B0503020204020204" charset="-122"/>
                <a:cs typeface="微软雅黑" panose="020B0503020204020204" charset="-122"/>
              </a:rPr>
              <a:t>内容预览：</a:t>
            </a:r>
            <a:r>
              <a:rPr lang="zh-CN" altLang="en-US" sz="1200">
                <a:latin typeface="微软雅黑" panose="020B0503020204020204" charset="-122"/>
                <a:ea typeface="微软雅黑" panose="020B0503020204020204" charset="-122"/>
                <a:cs typeface="微软雅黑" panose="020B0503020204020204" charset="-122"/>
              </a:rPr>
              <a:t>解析后查看每个切片的文本内容与结构</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56" name="矩形 55"/>
          <p:cNvSpPr/>
          <p:nvPr/>
        </p:nvSpPr>
        <p:spPr>
          <a:xfrm>
            <a:off x="6427470" y="2693035"/>
            <a:ext cx="5452745" cy="396684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0" name="AutoShape 8"/>
          <p:cNvSpPr/>
          <p:nvPr/>
        </p:nvSpPr>
        <p:spPr>
          <a:xfrm>
            <a:off x="410845" y="2430145"/>
            <a:ext cx="5334000" cy="12700"/>
          </a:xfrm>
          <a:prstGeom prst="roundRect">
            <a:avLst>
              <a:gd name="adj" fmla="val 0"/>
            </a:avLst>
          </a:prstGeom>
          <a:solidFill>
            <a:srgbClr val="1A4D3E">
              <a:alpha val="2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向量</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加工-文档切片示例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30" name="组合 29"/>
          <p:cNvGrpSpPr/>
          <p:nvPr/>
        </p:nvGrpSpPr>
        <p:grpSpPr>
          <a:xfrm>
            <a:off x="459105" y="1009283"/>
            <a:ext cx="11182985" cy="5129400"/>
            <a:chOff x="834" y="3016"/>
            <a:chExt cx="17611" cy="5223"/>
          </a:xfrm>
        </p:grpSpPr>
        <p:sp>
          <p:nvSpPr>
            <p:cNvPr id="10" name="AutoShape 10"/>
            <p:cNvSpPr/>
            <p:nvPr/>
          </p:nvSpPr>
          <p:spPr>
            <a:xfrm>
              <a:off x="845" y="3016"/>
              <a:ext cx="8600" cy="38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01 切片前 · 原始非结构化文本</a:t>
              </a:r>
              <a:endParaRPr lang="en-US" sz="1800" b="1" i="0" u="none" strike="noStrike">
                <a:solidFill>
                  <a:schemeClr val="tx1">
                    <a:lumMod val="50000"/>
                    <a:lumOff val="5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1" name="AutoShape 11"/>
            <p:cNvSpPr/>
            <p:nvPr/>
          </p:nvSpPr>
          <p:spPr>
            <a:xfrm>
              <a:off x="9845" y="3017"/>
              <a:ext cx="8600" cy="386"/>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切片后 · 结构化语义Chunk结果</a:t>
              </a:r>
              <a:endParaRPr lang="en-US" sz="1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2" name="AutoShape 12"/>
            <p:cNvSpPr/>
            <p:nvPr/>
          </p:nvSpPr>
          <p:spPr>
            <a:xfrm>
              <a:off x="845" y="3618"/>
              <a:ext cx="8600" cy="1426"/>
            </a:xfrm>
            <a:prstGeom prst="roundRect">
              <a:avLst>
                <a:gd name="adj" fmla="val 0"/>
              </a:avLst>
            </a:prstGeom>
            <a:solidFill>
              <a:srgbClr val="1E40AF">
                <a:alpha val="5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3" name="AutoShape 13"/>
            <p:cNvSpPr/>
            <p:nvPr/>
          </p:nvSpPr>
          <p:spPr>
            <a:xfrm>
              <a:off x="845" y="3603"/>
              <a:ext cx="80" cy="144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4" name="AutoShape 14"/>
            <p:cNvSpPr/>
            <p:nvPr/>
          </p:nvSpPr>
          <p:spPr>
            <a:xfrm>
              <a:off x="1146" y="3742"/>
              <a:ext cx="8200" cy="1323"/>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场景01 · </a:t>
              </a:r>
              <a:r>
                <a:rPr lang="zh-CN" alt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中信银行</a:t>
              </a:r>
              <a:r>
                <a:rPr lang="en-US" altLang="zh-CN"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a:t>
              </a:r>
              <a:r>
                <a:rPr lang="zh-CN" alt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股财务报告</a:t>
              </a: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长文本（连续无结构）</a:t>
              </a:r>
              <a:endPar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0000"/>
                </a:lnSpc>
                <a:defRPr/>
              </a:pPr>
              <a:endPar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0000"/>
                </a:lnSpc>
                <a:defRPr/>
              </a:pPr>
              <a:endPar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0000"/>
                </a:lnSpc>
                <a:defRPr/>
              </a:pP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5" name="AutoShape 15"/>
            <p:cNvSpPr/>
            <p:nvPr/>
          </p:nvSpPr>
          <p:spPr>
            <a:xfrm>
              <a:off x="9845" y="3603"/>
              <a:ext cx="8600" cy="1440"/>
            </a:xfrm>
            <a:prstGeom prst="roundRect">
              <a:avLst>
                <a:gd name="adj" fmla="val 0"/>
              </a:avLst>
            </a:prstGeom>
            <a:solidFill>
              <a:srgbClr val="1E40AF">
                <a:alpha val="5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6" name="AutoShape 16"/>
            <p:cNvSpPr/>
            <p:nvPr/>
          </p:nvSpPr>
          <p:spPr>
            <a:xfrm>
              <a:off x="9845" y="3603"/>
              <a:ext cx="80" cy="1440"/>
            </a:xfrm>
            <a:prstGeom prst="roundRect">
              <a:avLst>
                <a:gd name="adj" fmla="val 0"/>
              </a:avLst>
            </a:prstGeom>
            <a:solidFill>
              <a:srgbClr val="1E40AF">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7" name="AutoShape 17"/>
            <p:cNvSpPr/>
            <p:nvPr/>
          </p:nvSpPr>
          <p:spPr>
            <a:xfrm>
              <a:off x="10145" y="3643"/>
              <a:ext cx="8200" cy="1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输出：512Token等距切分 + 20%重叠窗口</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altLang="zh-CN"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chunk</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：这些成绩单</a:t>
              </a:r>
              <a:r>
                <a:rPr lang="en-US" altLang="zh-CN"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上段内容，知道这些成绩是什么成绩；上下文增加重叠区，确保段落前后信息完整</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。重叠区确保“跨Chunk的长句语义不丢失”，适配通用问答</a:t>
              </a:r>
              <a:r>
                <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AutoShape 18"/>
            <p:cNvSpPr/>
            <p:nvPr/>
          </p:nvSpPr>
          <p:spPr>
            <a:xfrm>
              <a:off x="845" y="5143"/>
              <a:ext cx="8600" cy="1440"/>
            </a:xfrm>
            <a:prstGeom prst="roundRect">
              <a:avLst>
                <a:gd name="adj" fmla="val 0"/>
              </a:avLst>
            </a:prstGeom>
            <a:solidFill>
              <a:srgbClr val="2563EB">
                <a:alpha val="5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9" name="AutoShape 19"/>
            <p:cNvSpPr/>
            <p:nvPr/>
          </p:nvSpPr>
          <p:spPr>
            <a:xfrm>
              <a:off x="845" y="5143"/>
              <a:ext cx="80" cy="144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0" name="AutoShape 20"/>
            <p:cNvSpPr/>
            <p:nvPr/>
          </p:nvSpPr>
          <p:spPr>
            <a:xfrm>
              <a:off x="1145" y="5183"/>
              <a:ext cx="8200" cy="1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场景02 · </a:t>
              </a:r>
              <a:r>
                <a:rPr lang="zh-CN" alt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固定资产贷款管理办法</a:t>
              </a: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（强层级结构）</a:t>
              </a:r>
              <a:endPar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0000"/>
                </a:lnSpc>
                <a:defRPr/>
              </a:pPr>
              <a:endPar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0000"/>
                </a:lnSpc>
                <a:defRPr/>
              </a:pPr>
              <a:endPar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0000"/>
                </a:lnSpc>
                <a:defRPr/>
              </a:pP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1" name="AutoShape 21"/>
            <p:cNvSpPr/>
            <p:nvPr/>
          </p:nvSpPr>
          <p:spPr>
            <a:xfrm>
              <a:off x="9845" y="5143"/>
              <a:ext cx="8600" cy="1440"/>
            </a:xfrm>
            <a:prstGeom prst="roundRect">
              <a:avLst>
                <a:gd name="adj" fmla="val 0"/>
              </a:avLst>
            </a:prstGeom>
            <a:solidFill>
              <a:srgbClr val="2563EB">
                <a:alpha val="5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2" name="AutoShape 22"/>
            <p:cNvSpPr/>
            <p:nvPr/>
          </p:nvSpPr>
          <p:spPr>
            <a:xfrm>
              <a:off x="9845" y="5143"/>
              <a:ext cx="80" cy="144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3" name="AutoShape 23"/>
            <p:cNvSpPr/>
            <p:nvPr/>
          </p:nvSpPr>
          <p:spPr>
            <a:xfrm>
              <a:off x="10145" y="5183"/>
              <a:ext cx="8200" cy="14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输出：按“章-条”聚合的语义Chunk</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Chunk：[第</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六</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章/第</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三十五</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条] </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贷款人加强对借款人</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保留层级元数据，精准匹配“条款查询”。</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4" name="AutoShape 24"/>
            <p:cNvSpPr/>
            <p:nvPr/>
          </p:nvSpPr>
          <p:spPr>
            <a:xfrm>
              <a:off x="834" y="6687"/>
              <a:ext cx="8600" cy="1440"/>
            </a:xfrm>
            <a:prstGeom prst="roundRect">
              <a:avLst>
                <a:gd name="adj" fmla="val 0"/>
              </a:avLst>
            </a:prstGeom>
            <a:solidFill>
              <a:srgbClr val="60A5FA">
                <a:alpha val="5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5" name="AutoShape 25"/>
            <p:cNvSpPr/>
            <p:nvPr/>
          </p:nvSpPr>
          <p:spPr>
            <a:xfrm>
              <a:off x="834" y="6687"/>
              <a:ext cx="80" cy="1440"/>
            </a:xfrm>
            <a:prstGeom prst="roundRect">
              <a:avLst>
                <a:gd name="adj" fmla="val 0"/>
              </a:avLst>
            </a:prstGeom>
            <a:solidFill>
              <a:srgbClr val="60A5FA">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6" name="AutoShape 26"/>
            <p:cNvSpPr/>
            <p:nvPr/>
          </p:nvSpPr>
          <p:spPr>
            <a:xfrm>
              <a:off x="1134" y="6839"/>
              <a:ext cx="8200" cy="1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场景03 · </a:t>
              </a:r>
              <a:r>
                <a:rPr lang="zh-CN" alt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金融机构大额交易和可疑交易报告管理办法</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7" name="AutoShape 27"/>
            <p:cNvSpPr/>
            <p:nvPr/>
          </p:nvSpPr>
          <p:spPr>
            <a:xfrm>
              <a:off x="9834" y="6687"/>
              <a:ext cx="8600" cy="1440"/>
            </a:xfrm>
            <a:prstGeom prst="roundRect">
              <a:avLst>
                <a:gd name="adj" fmla="val 0"/>
              </a:avLst>
            </a:prstGeom>
            <a:solidFill>
              <a:srgbClr val="60A5FA">
                <a:alpha val="5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8" name="AutoShape 28"/>
            <p:cNvSpPr/>
            <p:nvPr/>
          </p:nvSpPr>
          <p:spPr>
            <a:xfrm>
              <a:off x="9834" y="6687"/>
              <a:ext cx="80" cy="1440"/>
            </a:xfrm>
            <a:prstGeom prst="roundRect">
              <a:avLst>
                <a:gd name="adj" fmla="val 0"/>
              </a:avLst>
            </a:prstGeom>
            <a:solidFill>
              <a:srgbClr val="60A5FA">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9" name="AutoShape 29"/>
            <p:cNvSpPr/>
            <p:nvPr/>
          </p:nvSpPr>
          <p:spPr>
            <a:xfrm>
              <a:off x="10134" y="6727"/>
              <a:ext cx="8200" cy="14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zh-CN" alt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a:t>
              </a:r>
              <a:r>
                <a:rPr lang="en-US" sz="14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：父子Chunk | 父片：章节概要 | 子片：流程分段</a:t>
              </a:r>
              <a:endParaRPr lang="en-US" sz="12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父Chunk：</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第十二条金融机构应当</a:t>
              </a:r>
              <a:r>
                <a:rPr lang="en-US" altLang="zh-CN"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；子Chunk1：</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（一）中国人民银行</a:t>
              </a:r>
              <a:r>
                <a:rPr lang="en-US" altLang="zh-CN"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；子Chunk2：</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（二）公安机关</a:t>
              </a:r>
              <a:r>
                <a:rPr lang="en-US" altLang="zh-CN"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司法机关</a:t>
              </a:r>
              <a:r>
                <a:rPr lang="en-US" altLang="zh-CN"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。效果：父片保全局概要 · 子片提分段召回精度。</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 name="AutoShape 6"/>
            <p:cNvSpPr/>
            <p:nvPr/>
          </p:nvSpPr>
          <p:spPr>
            <a:xfrm>
              <a:off x="6954" y="3502"/>
              <a:ext cx="2480" cy="387"/>
            </a:xfrm>
            <a:prstGeom prst="roundRect">
              <a:avLst>
                <a:gd name="adj" fmla="val 0"/>
              </a:avLst>
            </a:prstGeom>
            <a:solidFill>
              <a:schemeClr val="accent1">
                <a:lumMod val="20000"/>
                <a:lumOff val="80000"/>
              </a:schemeClr>
            </a:solidFill>
            <a:ln w="254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通用均匀分块</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1" name="AutoShape 6"/>
            <p:cNvSpPr/>
            <p:nvPr/>
          </p:nvSpPr>
          <p:spPr>
            <a:xfrm>
              <a:off x="6954" y="5195"/>
              <a:ext cx="2480" cy="387"/>
            </a:xfrm>
            <a:prstGeom prst="roundRect">
              <a:avLst>
                <a:gd name="adj" fmla="val 0"/>
              </a:avLst>
            </a:prstGeom>
            <a:solidFill>
              <a:schemeClr val="accent1">
                <a:lumMod val="20000"/>
                <a:lumOff val="80000"/>
              </a:schemeClr>
            </a:solidFill>
            <a:ln w="254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标题层级</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分块</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2" name="AutoShape 6"/>
            <p:cNvSpPr/>
            <p:nvPr/>
          </p:nvSpPr>
          <p:spPr>
            <a:xfrm>
              <a:off x="6954" y="6540"/>
              <a:ext cx="2480" cy="387"/>
            </a:xfrm>
            <a:prstGeom prst="roundRect">
              <a:avLst>
                <a:gd name="adj" fmla="val 0"/>
              </a:avLst>
            </a:prstGeom>
            <a:solidFill>
              <a:schemeClr val="accent1">
                <a:lumMod val="20000"/>
                <a:lumOff val="80000"/>
              </a:schemeClr>
            </a:solidFill>
            <a:ln w="254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父子切片</a:t>
              </a: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分块</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pic>
        <p:nvPicPr>
          <p:cNvPr id="3" name="图片 2"/>
          <p:cNvPicPr>
            <a:picLocks noChangeAspect="1"/>
          </p:cNvPicPr>
          <p:nvPr/>
        </p:nvPicPr>
        <p:blipFill>
          <a:blip r:embed="rId1"/>
          <a:stretch>
            <a:fillRect/>
          </a:stretch>
        </p:blipFill>
        <p:spPr>
          <a:xfrm>
            <a:off x="739775" y="3529330"/>
            <a:ext cx="2835910" cy="854710"/>
          </a:xfrm>
          <a:prstGeom prst="rect">
            <a:avLst/>
          </a:prstGeom>
        </p:spPr>
      </p:pic>
      <p:pic>
        <p:nvPicPr>
          <p:cNvPr id="5" name="图片 4"/>
          <p:cNvPicPr>
            <a:picLocks noChangeAspect="1"/>
          </p:cNvPicPr>
          <p:nvPr/>
        </p:nvPicPr>
        <p:blipFill>
          <a:blip r:embed="rId2"/>
          <a:srcRect b="55146"/>
          <a:stretch>
            <a:fillRect/>
          </a:stretch>
        </p:blipFill>
        <p:spPr>
          <a:xfrm>
            <a:off x="960120" y="2052955"/>
            <a:ext cx="4000500" cy="880110"/>
          </a:xfrm>
          <a:prstGeom prst="rect">
            <a:avLst/>
          </a:prstGeom>
        </p:spPr>
      </p:pic>
      <p:pic>
        <p:nvPicPr>
          <p:cNvPr id="8" name="图片 7"/>
          <p:cNvPicPr>
            <a:picLocks noChangeAspect="1"/>
          </p:cNvPicPr>
          <p:nvPr/>
        </p:nvPicPr>
        <p:blipFill>
          <a:blip r:embed="rId3"/>
          <a:stretch>
            <a:fillRect/>
          </a:stretch>
        </p:blipFill>
        <p:spPr>
          <a:xfrm>
            <a:off x="1303655" y="5196840"/>
            <a:ext cx="2101215" cy="1113155"/>
          </a:xfrm>
          <a:prstGeom prst="rect">
            <a:avLst/>
          </a:prstGeom>
        </p:spPr>
      </p:pic>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向量</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加工-向量生成</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35355"/>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ct val="1000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构建“向量索引+关键词索引”的双路召回机制</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。通过混合检索解决单一检索的局限性，再经重排模型精排，</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实现“字面匹配+语义理解”的双重保障，确保检索结果的高召回率与高准确率。</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pic>
        <p:nvPicPr>
          <p:cNvPr id="3" name="Picture 7"/>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0835" y="2223135"/>
            <a:ext cx="304800" cy="304800"/>
          </a:xfrm>
          <a:prstGeom prst="rect">
            <a:avLst/>
          </a:prstGeom>
        </p:spPr>
      </p:pic>
      <p:sp>
        <p:nvSpPr>
          <p:cNvPr id="4" name="AutoShape 8"/>
          <p:cNvSpPr/>
          <p:nvPr>
            <p:custDataLst>
              <p:tags r:id="rId4"/>
            </p:custDataLst>
          </p:nvPr>
        </p:nvSpPr>
        <p:spPr>
          <a:xfrm>
            <a:off x="737235" y="2185035"/>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关键词提取：语义特征的显性化增强</a:t>
            </a:r>
            <a:endPar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4" name="AutoShape 10"/>
          <p:cNvSpPr/>
          <p:nvPr>
            <p:custDataLst>
              <p:tags r:id="rId5"/>
            </p:custDataLst>
          </p:nvPr>
        </p:nvSpPr>
        <p:spPr>
          <a:xfrm>
            <a:off x="432435" y="2812415"/>
            <a:ext cx="5270500" cy="152908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01 </a:t>
            </a:r>
            <a:r>
              <a:rPr lang="zh-CN" alt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关键词自动抽取</a:t>
            </a: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输入标准化文本Chunk，经LLM模型智能提取初始关键词，再由业务专家审核补充，最终与原文绑定存储</a:t>
            </a:r>
            <a:r>
              <a:rPr lang="zh-CN" alt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defRPr/>
            </a:pPr>
            <a:r>
              <a:rPr lang="en-US" sz="12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多维信息萃取：</a:t>
            </a:r>
            <a:r>
              <a:rPr lang="en-US" sz="12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不仅提取核心业务术语，还能自动扩展同义词与上下位词，强化检索召回。</a:t>
            </a:r>
            <a:endParaRPr lang="en-US" sz="1200">
              <a:latin typeface="微软雅黑" panose="020B0503020204020204" charset="-122"/>
              <a:ea typeface="微软雅黑" panose="020B0503020204020204" charset="-122"/>
              <a:cs typeface="微软雅黑" panose="020B0503020204020204" charset="-122"/>
            </a:endParaRPr>
          </a:p>
        </p:txBody>
      </p:sp>
      <p:sp>
        <p:nvSpPr>
          <p:cNvPr id="39" name="AutoShape 8"/>
          <p:cNvSpPr/>
          <p:nvPr>
            <p:custDataLst>
              <p:tags r:id="rId6"/>
            </p:custDataLst>
          </p:nvPr>
        </p:nvSpPr>
        <p:spPr>
          <a:xfrm>
            <a:off x="299085" y="2651125"/>
            <a:ext cx="5334000" cy="12700"/>
          </a:xfrm>
          <a:prstGeom prst="roundRect">
            <a:avLst>
              <a:gd name="adj" fmla="val 0"/>
            </a:avLst>
          </a:prstGeom>
          <a:solidFill>
            <a:srgbClr val="1A4D3E">
              <a:alpha val="2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40" name="Picture 17"/>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5435" y="4424045"/>
            <a:ext cx="304800" cy="304800"/>
          </a:xfrm>
          <a:prstGeom prst="rect">
            <a:avLst/>
          </a:prstGeom>
        </p:spPr>
      </p:pic>
      <p:sp>
        <p:nvSpPr>
          <p:cNvPr id="41" name="AutoShape 18"/>
          <p:cNvSpPr/>
          <p:nvPr>
            <p:custDataLst>
              <p:tags r:id="rId10"/>
            </p:custDataLst>
          </p:nvPr>
        </p:nvSpPr>
        <p:spPr>
          <a:xfrm>
            <a:off x="711835" y="4371975"/>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向量生成与索引：高维语义的底层构建</a:t>
            </a:r>
            <a:endParaRPr lang="en-US" sz="18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3" name="AutoShape 20"/>
          <p:cNvSpPr/>
          <p:nvPr>
            <p:custDataLst>
              <p:tags r:id="rId11"/>
            </p:custDataLst>
          </p:nvPr>
        </p:nvSpPr>
        <p:spPr>
          <a:xfrm>
            <a:off x="432435" y="4988560"/>
            <a:ext cx="5270500" cy="112014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01 技术实现路径：</a:t>
            </a: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调用等高性能嵌入模型，将文本转化为1024维稠密向量，经量化压缩后构建高效索引并持久化。</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defRPr/>
            </a:pPr>
            <a:r>
              <a:rPr lang="en-US" sz="12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灵活的索引策略：</a:t>
            </a:r>
            <a:r>
              <a:rPr lang="en-US" sz="1200">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支持全文索引（精准匹配）、向量索引（语义相似）及混合索引模式，满足不同场景下的检索效率与召回率需求。</a:t>
            </a:r>
            <a:endParaRPr lang="en-US" sz="1200">
              <a:latin typeface="微软雅黑" panose="020B0503020204020204" charset="-122"/>
              <a:ea typeface="微软雅黑" panose="020B0503020204020204" charset="-122"/>
              <a:cs typeface="微软雅黑" panose="020B0503020204020204" charset="-122"/>
            </a:endParaRPr>
          </a:p>
        </p:txBody>
      </p:sp>
      <p:sp>
        <p:nvSpPr>
          <p:cNvPr id="54" name="AutoShape 6"/>
          <p:cNvSpPr/>
          <p:nvPr>
            <p:custDataLst>
              <p:tags r:id="rId12"/>
            </p:custDataLst>
          </p:nvPr>
        </p:nvSpPr>
        <p:spPr>
          <a:xfrm>
            <a:off x="6136005" y="2092325"/>
            <a:ext cx="5452110" cy="422275"/>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nchorCtr="0"/>
          <a:lstStyle/>
          <a:p>
            <a:pPr lvl="0" algn="ctr">
              <a:buClrTx/>
              <a:buSzTx/>
              <a:buFontTx/>
              <a:defRPr/>
            </a:pPr>
            <a:r>
              <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向量生成功能介绍</a:t>
            </a:r>
            <a:endParaRPr lang="zh-CN" altLang="en-US" sz="1400" b="1">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5" name="文本框 54"/>
          <p:cNvSpPr txBox="1"/>
          <p:nvPr/>
        </p:nvSpPr>
        <p:spPr>
          <a:xfrm>
            <a:off x="6233795" y="2559050"/>
            <a:ext cx="5255895" cy="3317875"/>
          </a:xfrm>
          <a:prstGeom prst="rect">
            <a:avLst/>
          </a:prstGeom>
          <a:noFill/>
        </p:spPr>
        <p:txBody>
          <a:bodyPr wrap="square" rtlCol="0">
            <a:noAutofit/>
          </a:bodyPr>
          <a:lstStyle/>
          <a:p>
            <a:pPr indent="0" algn="l" fontAlgn="auto">
              <a:lnSpc>
                <a:spcPct val="1500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1.</a:t>
            </a: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Chunk</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 关键词抽取</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自动关键词提取：</a:t>
            </a:r>
            <a:r>
              <a:rPr lang="en-US" altLang="zh-CN" sz="1200">
                <a:latin typeface="微软雅黑" panose="020B0503020204020204" charset="-122"/>
                <a:ea typeface="微软雅黑" panose="020B0503020204020204" charset="-122"/>
                <a:cs typeface="微软雅黑" panose="020B0503020204020204" charset="-122"/>
              </a:rPr>
              <a:t>Transformer </a:t>
            </a:r>
            <a:r>
              <a:rPr lang="zh-CN" altLang="en-US" sz="1200">
                <a:latin typeface="微软雅黑" panose="020B0503020204020204" charset="-122"/>
                <a:ea typeface="微软雅黑" panose="020B0503020204020204" charset="-122"/>
                <a:cs typeface="微软雅黑" panose="020B0503020204020204" charset="-122"/>
              </a:rPr>
              <a:t>算子自动生成 </a:t>
            </a:r>
            <a:r>
              <a:rPr lang="en-US" altLang="zh-CN" sz="1200">
                <a:latin typeface="微软雅黑" panose="020B0503020204020204" charset="-122"/>
                <a:ea typeface="微软雅黑" panose="020B0503020204020204" charset="-122"/>
                <a:cs typeface="微软雅黑" panose="020B0503020204020204" charset="-122"/>
              </a:rPr>
              <a:t>Chunk </a:t>
            </a:r>
            <a:r>
              <a:rPr lang="zh-CN" altLang="en-US" sz="1200">
                <a:latin typeface="微软雅黑" panose="020B0503020204020204" charset="-122"/>
                <a:ea typeface="微软雅黑" panose="020B0503020204020204" charset="-122"/>
                <a:cs typeface="微软雅黑" panose="020B0503020204020204" charset="-122"/>
              </a:rPr>
              <a:t>关键词，强化检索匹配标识。</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sym typeface="+mn-ea"/>
              </a:rPr>
              <a:t>关键词补充：</a:t>
            </a:r>
            <a:r>
              <a:rPr lang="zh-CN" altLang="en-US" sz="1200">
                <a:latin typeface="微软雅黑" panose="020B0503020204020204" charset="-122"/>
                <a:ea typeface="微软雅黑" panose="020B0503020204020204" charset="-122"/>
                <a:cs typeface="微软雅黑" panose="020B0503020204020204" charset="-122"/>
                <a:sym typeface="+mn-ea"/>
              </a:rPr>
              <a:t>为 </a:t>
            </a:r>
            <a:r>
              <a:rPr lang="en-US" altLang="zh-CN" sz="1200">
                <a:latin typeface="微软雅黑" panose="020B0503020204020204" charset="-122"/>
                <a:ea typeface="微软雅黑" panose="020B0503020204020204" charset="-122"/>
                <a:cs typeface="微软雅黑" panose="020B0503020204020204" charset="-122"/>
                <a:sym typeface="+mn-ea"/>
              </a:rPr>
              <a:t>Chunk </a:t>
            </a:r>
            <a:r>
              <a:rPr lang="zh-CN" altLang="en-US" sz="1200">
                <a:latin typeface="微软雅黑" panose="020B0503020204020204" charset="-122"/>
                <a:ea typeface="微软雅黑" panose="020B0503020204020204" charset="-122"/>
                <a:cs typeface="微软雅黑" panose="020B0503020204020204" charset="-122"/>
                <a:sym typeface="+mn-ea"/>
              </a:rPr>
              <a:t>手动添加行业术语、同义词等关键词，强化主题标识</a:t>
            </a:r>
            <a:endParaRPr lang="zh-CN" altLang="en-US" sz="1200">
              <a:latin typeface="微软雅黑" panose="020B0503020204020204" charset="-122"/>
              <a:ea typeface="微软雅黑" panose="020B0503020204020204" charset="-122"/>
              <a:cs typeface="微软雅黑" panose="020B0503020204020204" charset="-122"/>
            </a:endParaRPr>
          </a:p>
          <a:p>
            <a:pPr indent="0" algn="l" fontAlgn="auto">
              <a:lnSpc>
                <a:spcPct val="150000"/>
              </a:lnSpc>
              <a:buClrTx/>
              <a:buSzTx/>
              <a:buFontTx/>
            </a:pP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2. </a:t>
            </a: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Chunk</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向量生成</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语义向量化：</a:t>
            </a:r>
            <a:r>
              <a:rPr lang="zh-CN" altLang="en-US" sz="1200">
                <a:latin typeface="微软雅黑" panose="020B0503020204020204" charset="-122"/>
                <a:ea typeface="微软雅黑" panose="020B0503020204020204" charset="-122"/>
                <a:cs typeface="微软雅黑" panose="020B0503020204020204" charset="-122"/>
              </a:rPr>
              <a:t>基于绑定 </a:t>
            </a:r>
            <a:r>
              <a:rPr lang="en-US" altLang="zh-CN" sz="1200">
                <a:latin typeface="微软雅黑" panose="020B0503020204020204" charset="-122"/>
                <a:ea typeface="微软雅黑" panose="020B0503020204020204" charset="-122"/>
                <a:cs typeface="微软雅黑" panose="020B0503020204020204" charset="-122"/>
              </a:rPr>
              <a:t>Embedding </a:t>
            </a:r>
            <a:r>
              <a:rPr lang="zh-CN" altLang="en-US" sz="1200">
                <a:latin typeface="微软雅黑" panose="020B0503020204020204" charset="-122"/>
                <a:ea typeface="微软雅黑" panose="020B0503020204020204" charset="-122"/>
                <a:cs typeface="微软雅黑" panose="020B0503020204020204" charset="-122"/>
              </a:rPr>
              <a:t>模型将 </a:t>
            </a:r>
            <a:r>
              <a:rPr lang="en-US" altLang="zh-CN" sz="1200">
                <a:latin typeface="微软雅黑" panose="020B0503020204020204" charset="-122"/>
                <a:ea typeface="微软雅黑" panose="020B0503020204020204" charset="-122"/>
                <a:cs typeface="微软雅黑" panose="020B0503020204020204" charset="-122"/>
              </a:rPr>
              <a:t>Chunk </a:t>
            </a:r>
            <a:r>
              <a:rPr lang="zh-CN" altLang="en-US" sz="1200">
                <a:latin typeface="微软雅黑" panose="020B0503020204020204" charset="-122"/>
                <a:ea typeface="微软雅黑" panose="020B0503020204020204" charset="-122"/>
                <a:cs typeface="微软雅黑" panose="020B0503020204020204" charset="-122"/>
              </a:rPr>
              <a:t>文本转换为向量表示</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增量向量化：</a:t>
            </a:r>
            <a:r>
              <a:rPr lang="zh-CN" altLang="en-US" sz="1200">
                <a:latin typeface="微软雅黑" panose="020B0503020204020204" charset="-122"/>
                <a:ea typeface="微软雅黑" panose="020B0503020204020204" charset="-122"/>
                <a:cs typeface="微软雅黑" panose="020B0503020204020204" charset="-122"/>
              </a:rPr>
              <a:t>新增 / 更新文档时增量生成向量，避免全量重算</a:t>
            </a:r>
            <a:endParaRPr lang="zh-CN" altLang="en-US" sz="1200">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ClrTx/>
              <a:buSzTx/>
              <a:buFont typeface="Arial" panose="020B0604020202090204" pitchFamily="34" charset="0"/>
              <a:buChar char="•"/>
            </a:pPr>
            <a:r>
              <a:rPr lang="zh-CN" altLang="en-US" sz="1200" b="1">
                <a:latin typeface="微软雅黑" panose="020B0503020204020204" charset="-122"/>
                <a:ea typeface="微软雅黑" panose="020B0503020204020204" charset="-122"/>
                <a:cs typeface="微软雅黑" panose="020B0503020204020204" charset="-122"/>
              </a:rPr>
              <a:t>向量质量校验：</a:t>
            </a:r>
            <a:r>
              <a:rPr lang="zh-CN" altLang="en-US" sz="1200">
                <a:latin typeface="微软雅黑" panose="020B0503020204020204" charset="-122"/>
                <a:ea typeface="微软雅黑" panose="020B0503020204020204" charset="-122"/>
                <a:cs typeface="微软雅黑" panose="020B0503020204020204" charset="-122"/>
              </a:rPr>
              <a:t>向量生成异常检测（空值</a:t>
            </a:r>
            <a:r>
              <a:rPr lang="en-US" altLang="zh-CN" sz="1200">
                <a:latin typeface="微软雅黑" panose="020B0503020204020204" charset="-122"/>
                <a:ea typeface="微软雅黑" panose="020B0503020204020204" charset="-122"/>
                <a:cs typeface="微软雅黑" panose="020B0503020204020204" charset="-122"/>
              </a:rPr>
              <a:t>/</a:t>
            </a:r>
            <a:r>
              <a:rPr lang="zh-CN" altLang="en-US" sz="1200">
                <a:latin typeface="微软雅黑" panose="020B0503020204020204" charset="-122"/>
                <a:ea typeface="微软雅黑" panose="020B0503020204020204" charset="-122"/>
                <a:cs typeface="微软雅黑" panose="020B0503020204020204" charset="-122"/>
              </a:rPr>
              <a:t>零向量</a:t>
            </a:r>
            <a:r>
              <a:rPr lang="en-US" altLang="zh-CN" sz="1200">
                <a:latin typeface="微软雅黑" panose="020B0503020204020204" charset="-122"/>
                <a:ea typeface="微软雅黑" panose="020B0503020204020204" charset="-122"/>
                <a:cs typeface="微软雅黑" panose="020B0503020204020204" charset="-122"/>
              </a:rPr>
              <a:t>/</a:t>
            </a:r>
            <a:r>
              <a:rPr lang="zh-CN" altLang="en-US" sz="1200">
                <a:latin typeface="微软雅黑" panose="020B0503020204020204" charset="-122"/>
                <a:ea typeface="微软雅黑" panose="020B0503020204020204" charset="-122"/>
                <a:cs typeface="微软雅黑" panose="020B0503020204020204" charset="-122"/>
              </a:rPr>
              <a:t>重复性等）与重试机制，保障索引完整性</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56" name="矩形 55"/>
          <p:cNvSpPr/>
          <p:nvPr/>
        </p:nvSpPr>
        <p:spPr>
          <a:xfrm>
            <a:off x="6135370" y="2525395"/>
            <a:ext cx="5452745" cy="3966845"/>
          </a:xfrm>
          <a:prstGeom prst="rect">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AutoShape 8"/>
          <p:cNvSpPr/>
          <p:nvPr>
            <p:custDataLst>
              <p:tags r:id="rId13"/>
            </p:custDataLst>
          </p:nvPr>
        </p:nvSpPr>
        <p:spPr>
          <a:xfrm>
            <a:off x="299085" y="4836795"/>
            <a:ext cx="5334000" cy="12700"/>
          </a:xfrm>
          <a:prstGeom prst="roundRect">
            <a:avLst>
              <a:gd name="adj" fmla="val 0"/>
            </a:avLst>
          </a:prstGeom>
          <a:solidFill>
            <a:srgbClr val="1A4D3E">
              <a:alpha val="2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向量</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加工-向量生成应用示例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58" name="AutoShape 4"/>
          <p:cNvSpPr/>
          <p:nvPr/>
        </p:nvSpPr>
        <p:spPr>
          <a:xfrm>
            <a:off x="508000" y="1346200"/>
            <a:ext cx="3429000" cy="3810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9" name="AutoShape 5"/>
          <p:cNvSpPr/>
          <p:nvPr/>
        </p:nvSpPr>
        <p:spPr>
          <a:xfrm>
            <a:off x="508000" y="13462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 Transformer 智能关键词抽取</a:t>
            </a:r>
            <a:endParaRPr lang="en-US" sz="1300" b="0"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0" name="AutoShape 6"/>
          <p:cNvSpPr/>
          <p:nvPr/>
        </p:nvSpPr>
        <p:spPr>
          <a:xfrm>
            <a:off x="4191000" y="1346200"/>
            <a:ext cx="3429000" cy="3810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1" name="AutoShape 7"/>
          <p:cNvSpPr/>
          <p:nvPr/>
        </p:nvSpPr>
        <p:spPr>
          <a:xfrm>
            <a:off x="4191000" y="13462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 Embedding 向量化编码 (1024维)</a:t>
            </a:r>
            <a:endParaRPr lang="en-US" sz="1300" b="0"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2" name="AutoShape 8"/>
          <p:cNvSpPr/>
          <p:nvPr/>
        </p:nvSpPr>
        <p:spPr>
          <a:xfrm>
            <a:off x="7874000" y="1346200"/>
            <a:ext cx="3429000" cy="3810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3" name="AutoShape 9"/>
          <p:cNvSpPr/>
          <p:nvPr/>
        </p:nvSpPr>
        <p:spPr>
          <a:xfrm>
            <a:off x="7874000" y="13462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 混合索引架构 (倒排 + ANN)</a:t>
            </a:r>
            <a:endParaRPr lang="en-US" sz="1300" b="0"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4" name="AutoShape 10"/>
          <p:cNvSpPr/>
          <p:nvPr/>
        </p:nvSpPr>
        <p:spPr>
          <a:xfrm>
            <a:off x="508000" y="1981200"/>
            <a:ext cx="762000" cy="2095500"/>
          </a:xfrm>
          <a:prstGeom prst="roundRect">
            <a:avLst>
              <a:gd name="adj" fmla="val 0"/>
            </a:avLst>
          </a:prstGeom>
          <a:solidFill>
            <a:srgbClr val="1E40AF">
              <a:alpha val="100000"/>
            </a:srgbClr>
          </a:solidFill>
          <a:ln cap="flat" cmpd="sng">
            <a:solidFill>
              <a:srgbClr val="0B2B96">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5" name="AutoShape 11"/>
          <p:cNvSpPr/>
          <p:nvPr/>
        </p:nvSpPr>
        <p:spPr>
          <a:xfrm>
            <a:off x="508000" y="1981200"/>
            <a:ext cx="762000" cy="209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b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关键词</a:t>
            </a:r>
            <a:b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增强</a:t>
            </a:r>
            <a:endParaRPr lang="en-US" sz="1100">
              <a:latin typeface="微软雅黑" panose="020B0503020204020204" charset="-122"/>
              <a:ea typeface="微软雅黑" panose="020B0503020204020204" charset="-122"/>
              <a:cs typeface="微软雅黑" panose="020B0503020204020204" charset="-122"/>
            </a:endParaRPr>
          </a:p>
        </p:txBody>
      </p:sp>
      <p:sp>
        <p:nvSpPr>
          <p:cNvPr id="66" name="AutoShape 12"/>
          <p:cNvSpPr/>
          <p:nvPr/>
        </p:nvSpPr>
        <p:spPr>
          <a:xfrm>
            <a:off x="1524000" y="1981200"/>
            <a:ext cx="4953000" cy="2095500"/>
          </a:xfrm>
          <a:prstGeom prst="roundRect">
            <a:avLst>
              <a:gd name="adj" fmla="val 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7" name="AutoShape 13"/>
          <p:cNvSpPr/>
          <p:nvPr/>
        </p:nvSpPr>
        <p:spPr>
          <a:xfrm>
            <a:off x="1714500" y="21336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01 原始非结构化文本</a:t>
            </a:r>
            <a:endPar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8" name="AutoShape 14"/>
          <p:cNvSpPr/>
          <p:nvPr/>
        </p:nvSpPr>
        <p:spPr>
          <a:xfrm>
            <a:off x="1714500" y="25527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“根据《商业银行资本管理办法》，核心一级资本充足率≥7.5%，一级资本≥8.5%，资本充足率≥10.5%。系统重要性银行需额外满足0.25%-1.5%附加资本要求，监管指标按月监测、按季考核。</a:t>
            </a: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9" name="AutoShape 15"/>
          <p:cNvSpPr/>
          <p:nvPr/>
        </p:nvSpPr>
        <p:spPr>
          <a:xfrm>
            <a:off x="1714500" y="3657600"/>
            <a:ext cx="457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 痛点：纯文本语义隐含，字面检索易漏检，无法关联行业术语</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0" name="AutoShape 16"/>
          <p:cNvSpPr/>
          <p:nvPr/>
        </p:nvSpPr>
        <p:spPr>
          <a:xfrm>
            <a:off x="6667500" y="1981200"/>
            <a:ext cx="4953000" cy="2095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1" name="AutoShape 17"/>
          <p:cNvSpPr/>
          <p:nvPr/>
        </p:nvSpPr>
        <p:spPr>
          <a:xfrm>
            <a:off x="6858000" y="21336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02 增强知识单元</a:t>
            </a:r>
            <a:endPar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2" name="AutoShape 18"/>
          <p:cNvSpPr/>
          <p:nvPr/>
        </p:nvSpPr>
        <p:spPr>
          <a:xfrm>
            <a:off x="6858000" y="25527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保留原文核心，注入模型抽取的业务实体与专家补充的行业术语，将隐性知识显性化，形成“文本+标签”的复合型知识单元。</a:t>
            </a:r>
            <a:endParaRPr lang="en-US" sz="12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3" name="AutoShape 19"/>
          <p:cNvSpPr/>
          <p:nvPr/>
        </p:nvSpPr>
        <p:spPr>
          <a:xfrm>
            <a:off x="6858000" y="3441700"/>
            <a:ext cx="1079500" cy="2794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4" name="AutoShape 20"/>
          <p:cNvSpPr/>
          <p:nvPr/>
        </p:nvSpPr>
        <p:spPr>
          <a:xfrm>
            <a:off x="6858000" y="3441700"/>
            <a:ext cx="1079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1E40AF"/>
                </a:solidFill>
                <a:latin typeface="微软雅黑" panose="020B0503020204020204" charset="-122"/>
                <a:ea typeface="微软雅黑" panose="020B0503020204020204" charset="-122"/>
                <a:cs typeface="Noto Sans SC" panose="020B0200000000000000" charset="-122"/>
                <a:sym typeface="Noto Sans SC" panose="020B0200000000000000" charset="-122"/>
              </a:rPr>
              <a:t>资本充足率</a:t>
            </a:r>
            <a:endParaRPr lang="en-US" sz="1200" b="0" i="0" u="none" strike="noStrike">
              <a:solidFill>
                <a:srgbClr val="1E40A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5" name="AutoShape 21"/>
          <p:cNvSpPr/>
          <p:nvPr/>
        </p:nvSpPr>
        <p:spPr>
          <a:xfrm>
            <a:off x="8001000" y="3441700"/>
            <a:ext cx="1206500" cy="2794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6" name="AutoShape 22"/>
          <p:cNvSpPr/>
          <p:nvPr/>
        </p:nvSpPr>
        <p:spPr>
          <a:xfrm>
            <a:off x="8001000" y="344170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1E40AF"/>
                </a:solidFill>
                <a:latin typeface="微软雅黑" panose="020B0503020204020204" charset="-122"/>
                <a:ea typeface="微软雅黑" panose="020B0503020204020204" charset="-122"/>
                <a:cs typeface="Noto Sans SC" panose="020B0200000000000000" charset="-122"/>
                <a:sym typeface="Noto Sans SC" panose="020B0200000000000000" charset="-122"/>
              </a:rPr>
              <a:t>系统重要性银行</a:t>
            </a:r>
            <a:endParaRPr lang="en-US" sz="1200" b="0" i="0" u="none" strike="noStrike">
              <a:solidFill>
                <a:srgbClr val="1E40A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7" name="AutoShape 23"/>
          <p:cNvSpPr/>
          <p:nvPr/>
        </p:nvSpPr>
        <p:spPr>
          <a:xfrm>
            <a:off x="9271000" y="3441700"/>
            <a:ext cx="1079500" cy="279400"/>
          </a:xfrm>
          <a:prstGeom prst="roundRect">
            <a:avLst>
              <a:gd name="adj" fmla="val 0"/>
            </a:avLst>
          </a:prstGeom>
          <a:solidFill>
            <a:srgbClr val="FEF3C7">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78" name="AutoShape 24"/>
          <p:cNvSpPr/>
          <p:nvPr/>
        </p:nvSpPr>
        <p:spPr>
          <a:xfrm>
            <a:off x="9271000" y="3441700"/>
            <a:ext cx="1079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B45309"/>
                </a:solidFill>
                <a:latin typeface="微软雅黑" panose="020B0503020204020204" charset="-122"/>
                <a:ea typeface="微软雅黑" panose="020B0503020204020204" charset="-122"/>
                <a:cs typeface="微软雅黑" panose="020B0503020204020204" charset="-122"/>
                <a:sym typeface="Noto Sans SC" panose="020B0200000000000000" charset="-122"/>
              </a:rPr>
              <a:t>巴塞尔协议III</a:t>
            </a:r>
            <a:endParaRPr lang="en-US" sz="1200" b="0" i="0" u="none" strike="noStrike">
              <a:solidFill>
                <a:srgbClr val="B4530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9" name="AutoShape 25"/>
          <p:cNvSpPr/>
          <p:nvPr/>
        </p:nvSpPr>
        <p:spPr>
          <a:xfrm>
            <a:off x="10414000" y="3441700"/>
            <a:ext cx="1016000" cy="279400"/>
          </a:xfrm>
          <a:prstGeom prst="roundRect">
            <a:avLst>
              <a:gd name="adj" fmla="val 0"/>
            </a:avLst>
          </a:prstGeom>
          <a:solidFill>
            <a:srgbClr val="DBEAFE">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0" name="AutoShape 26"/>
          <p:cNvSpPr/>
          <p:nvPr/>
        </p:nvSpPr>
        <p:spPr>
          <a:xfrm>
            <a:off x="10414000" y="3441700"/>
            <a:ext cx="101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1E40AF"/>
                </a:solidFill>
                <a:latin typeface="微软雅黑" panose="020B0503020204020204" charset="-122"/>
                <a:ea typeface="微软雅黑" panose="020B0503020204020204" charset="-122"/>
                <a:cs typeface="Noto Sans SC" panose="020B0200000000000000" charset="-122"/>
                <a:sym typeface="Noto Sans SC" panose="020B0200000000000000" charset="-122"/>
              </a:rPr>
              <a:t>附加资本</a:t>
            </a:r>
            <a:endParaRPr lang="en-US" sz="1200" b="0" i="0" u="none" strike="noStrike">
              <a:solidFill>
                <a:srgbClr val="1E40A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81" name="AutoShape 27"/>
          <p:cNvSpPr/>
          <p:nvPr/>
        </p:nvSpPr>
        <p:spPr>
          <a:xfrm>
            <a:off x="508000" y="4267200"/>
            <a:ext cx="762000" cy="2032000"/>
          </a:xfrm>
          <a:prstGeom prst="roundRect">
            <a:avLst>
              <a:gd name="adj" fmla="val 0"/>
            </a:avLst>
          </a:prstGeom>
          <a:solidFill>
            <a:srgbClr val="3B82F6">
              <a:alpha val="100000"/>
            </a:srgbClr>
          </a:solidFill>
          <a:ln cap="flat" cmpd="sng">
            <a:solidFill>
              <a:srgbClr val="1F67DD">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2" name="AutoShape 28"/>
          <p:cNvSpPr/>
          <p:nvPr/>
        </p:nvSpPr>
        <p:spPr>
          <a:xfrm>
            <a:off x="508000" y="4267200"/>
            <a:ext cx="7620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向量</a:t>
            </a:r>
            <a:b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a:t>
            </a:r>
            <a:endParaRPr lang="en-US" sz="1100">
              <a:latin typeface="微软雅黑" panose="020B0503020204020204" charset="-122"/>
              <a:ea typeface="微软雅黑" panose="020B0503020204020204" charset="-122"/>
              <a:cs typeface="微软雅黑" panose="020B0503020204020204" charset="-122"/>
            </a:endParaRPr>
          </a:p>
        </p:txBody>
      </p:sp>
      <p:sp>
        <p:nvSpPr>
          <p:cNvPr id="83" name="AutoShape 29"/>
          <p:cNvSpPr/>
          <p:nvPr/>
        </p:nvSpPr>
        <p:spPr>
          <a:xfrm>
            <a:off x="1524000" y="4267200"/>
            <a:ext cx="4953000" cy="2032000"/>
          </a:xfrm>
          <a:prstGeom prst="roundRect">
            <a:avLst>
              <a:gd name="adj" fmla="val 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4" name="AutoShape 30"/>
          <p:cNvSpPr/>
          <p:nvPr/>
        </p:nvSpPr>
        <p:spPr>
          <a:xfrm>
            <a:off x="1714500" y="44196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01 输入Chunk文本</a:t>
            </a:r>
            <a:endPar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5" name="AutoShape 31"/>
          <p:cNvSpPr/>
          <p:nvPr/>
        </p:nvSpPr>
        <p:spPr>
          <a:xfrm>
            <a:off x="1714500" y="48006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根据《商业银行资本管理办法》，商业银行核心一级资本充足率不得低于7.5%，一级资本充足率不得低于8.5%，资本充足率不得低于10.5%。系统重要性银行还需满足0.25%至1.5%的附加资本要求，共分五档。资本监管指标按月监测、按季考核，未达标银行将被限制分红和业务扩张。</a:t>
            </a:r>
            <a:endParaRPr lang="en-US" sz="11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6" name="AutoShape 32"/>
          <p:cNvSpPr/>
          <p:nvPr/>
        </p:nvSpPr>
        <p:spPr>
          <a:xfrm>
            <a:off x="1714500" y="5981700"/>
            <a:ext cx="4572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单条文本Chunk · 自然语言格式</a:t>
            </a:r>
            <a:endParaRPr lang="en-US" sz="11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7" name="AutoShape 33"/>
          <p:cNvSpPr/>
          <p:nvPr/>
        </p:nvSpPr>
        <p:spPr>
          <a:xfrm>
            <a:off x="6667500" y="4267200"/>
            <a:ext cx="4953000" cy="2032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88" name="AutoShape 34"/>
          <p:cNvSpPr/>
          <p:nvPr/>
        </p:nvSpPr>
        <p:spPr>
          <a:xfrm>
            <a:off x="6858000" y="44196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02 输出向量表示 + 向量索引</a:t>
            </a:r>
            <a:endParaRPr lang="en-US" sz="15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9" name="AutoShape 35"/>
          <p:cNvSpPr/>
          <p:nvPr/>
        </p:nvSpPr>
        <p:spPr>
          <a:xfrm>
            <a:off x="6858000" y="4775200"/>
            <a:ext cx="4572000" cy="1319530"/>
          </a:xfrm>
          <a:prstGeom prst="rect">
            <a:avLst/>
          </a:prstGeom>
          <a:noFill/>
          <a:ln w="12700" cap="flat" cmpd="sng">
            <a:noFill/>
            <a:prstDash val="solid"/>
            <a:round/>
          </a:ln>
        </p:spPr>
        <p:txBody>
          <a:bodyPr vert="horz" wrap="square" lIns="0" tIns="0" rIns="0" bIns="0" rtlCol="0" anchor="ctr" anchorCtr="0"/>
          <a:lstStyle/>
          <a:p>
            <a:pPr indent="0" algn="l" fontAlgn="auto">
              <a:lnSpc>
                <a:spcPct val="150000"/>
              </a:lnSpc>
              <a:defRPr/>
            </a:pPr>
            <a:r>
              <a:rPr lang="en-US" sz="11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1. 向量化转换：</a:t>
            </a:r>
            <a:r>
              <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Chunk文本 → Embedding编码 → 稠密向量</a:t>
            </a:r>
            <a:endParaRPr lang="en-US" sz="11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11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2. 向量表示：</a:t>
            </a:r>
            <a:r>
              <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[0.0234, -0.1567, 0.0892, ..., 0.1203]</a:t>
            </a:r>
            <a:r>
              <a:rPr lang="en-US" sz="9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（1024维稠密浮点向量）</a:t>
            </a:r>
            <a:endParaRPr lang="en-US" sz="9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r>
              <a:rPr lang="en-US" sz="11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3. 索引入库：</a:t>
            </a:r>
            <a:r>
              <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写入ANN索引库，支持余弦相似度检索</a:t>
            </a:r>
            <a:endParaRPr lang="en-US" sz="10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r>
              <a:rPr lang="en-US" sz="1100" b="1" i="0" u="none" strike="noStrike">
                <a:solidFill>
                  <a:srgbClr val="1E40AF"/>
                </a:solidFill>
                <a:latin typeface="微软雅黑" panose="020B0503020204020204" charset="-122"/>
                <a:ea typeface="微软雅黑" panose="020B0503020204020204" charset="-122"/>
                <a:cs typeface="微软雅黑" panose="020B0503020204020204" charset="-122"/>
                <a:sym typeface="Noto Sans SC" panose="020B0200000000000000" charset="-122"/>
              </a:rPr>
              <a:t>4. 质量校验：</a:t>
            </a:r>
            <a:r>
              <a:rPr lang="en-US" sz="1000" b="0" i="0" u="none" strike="noStrike">
                <a:solidFill>
                  <a:srgbClr val="10B981"/>
                </a:solidFill>
                <a:latin typeface="微软雅黑" panose="020B0503020204020204" charset="-122"/>
                <a:ea typeface="微软雅黑" panose="020B0503020204020204" charset="-122"/>
                <a:cs typeface="微软雅黑" panose="020B0503020204020204" charset="-122"/>
                <a:sym typeface="Noto Sans SC" panose="020B0200000000000000" charset="-122"/>
              </a:rPr>
              <a:t>✅ 维度(1024维) ✅ 有效性(无异常) ✅ 分布(正常)</a:t>
            </a:r>
            <a:endParaRPr lang="en-US" sz="1000" b="0" i="0" u="none" strike="noStrike">
              <a:solidFill>
                <a:srgbClr val="10B98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向量知识库</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加工流程</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（类实体文档示例）</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3" name="圆角矩形 12"/>
          <p:cNvSpPr/>
          <p:nvPr/>
        </p:nvSpPr>
        <p:spPr>
          <a:xfrm>
            <a:off x="320675" y="1028700"/>
            <a:ext cx="3888740" cy="2647315"/>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rPr>
              <a:t>类实体文档</a:t>
            </a:r>
            <a:endParaRPr kumimoji="1" lang="zh-CN" altLang="en-US" sz="1600" b="1" dirty="0">
              <a:solidFill>
                <a:schemeClr val="accent1"/>
              </a:solidFill>
              <a:latin typeface="微软雅黑" panose="020B0503020204020204" charset="-122"/>
              <a:ea typeface="微软雅黑" panose="020B0503020204020204" charset="-122"/>
            </a:endParaRPr>
          </a:p>
        </p:txBody>
      </p:sp>
      <p:sp>
        <p:nvSpPr>
          <p:cNvPr id="11" name="文本框 10"/>
          <p:cNvSpPr txBox="1"/>
          <p:nvPr/>
        </p:nvSpPr>
        <p:spPr>
          <a:xfrm>
            <a:off x="320675" y="1370330"/>
            <a:ext cx="3812540" cy="645160"/>
          </a:xfrm>
          <a:prstGeom prst="rect">
            <a:avLst/>
          </a:prstGeom>
          <a:noFill/>
        </p:spPr>
        <p:txBody>
          <a:bodyPr wrap="square" rtlCol="0" anchor="t">
            <a:spAutoFit/>
          </a:bodyPr>
          <a:lstStyle/>
          <a:p>
            <a:pPr algn="l">
              <a:lnSpc>
                <a:spcPct val="150000"/>
              </a:lnSpc>
            </a:pPr>
            <a:r>
              <a:rPr lang="en-US" sz="1200" dirty="0">
                <a:solidFill>
                  <a:srgbClr val="1E293B"/>
                </a:solidFill>
                <a:latin typeface="微软雅黑" panose="020B0503020204020204" charset="-122"/>
                <a:ea typeface="微软雅黑" panose="020B0503020204020204" charset="-122"/>
                <a:cs typeface="微软雅黑" panose="020B0503020204020204" charset="-122"/>
                <a:sym typeface="+mn-ea"/>
              </a:rPr>
              <a:t> </a:t>
            </a:r>
            <a:r>
              <a:rPr lang="zh-CN" altLang="en-US" sz="1200" dirty="0">
                <a:solidFill>
                  <a:srgbClr val="1E293B"/>
                </a:solidFill>
                <a:latin typeface="微软雅黑" panose="020B0503020204020204" charset="-122"/>
                <a:ea typeface="微软雅黑" panose="020B0503020204020204" charset="-122"/>
                <a:cs typeface="微软雅黑" panose="020B0503020204020204" charset="-122"/>
                <a:sym typeface="+mn-ea"/>
              </a:rPr>
              <a:t>指承载通用规则、标准、方案、研究结论的规范性、普适性文档，是业务办理的规则依据。</a:t>
            </a:r>
            <a:endParaRPr lang="zh-CN" altLang="en-US" sz="1200" dirty="0">
              <a:solidFill>
                <a:srgbClr val="1E293B"/>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nvPicPr>
        <p:blipFill>
          <a:blip r:embed="rId1"/>
          <a:stretch>
            <a:fillRect/>
          </a:stretch>
        </p:blipFill>
        <p:spPr>
          <a:xfrm>
            <a:off x="457200" y="2030095"/>
            <a:ext cx="2155825" cy="1437005"/>
          </a:xfrm>
          <a:prstGeom prst="rect">
            <a:avLst/>
          </a:prstGeom>
          <a:effectLst>
            <a:outerShdw blurRad="50800" dist="38100" dir="2700000" algn="tl" rotWithShape="0">
              <a:prstClr val="black">
                <a:alpha val="40000"/>
              </a:prstClr>
            </a:outerShdw>
          </a:effectLst>
        </p:spPr>
      </p:pic>
      <p:sp>
        <p:nvSpPr>
          <p:cNvPr id="4" name="右箭头 3"/>
          <p:cNvSpPr/>
          <p:nvPr/>
        </p:nvSpPr>
        <p:spPr>
          <a:xfrm>
            <a:off x="4301277" y="2030347"/>
            <a:ext cx="267429" cy="35616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4745990" y="1028700"/>
            <a:ext cx="6889115" cy="2647315"/>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rPr>
              <a:t>多模态文档解析</a:t>
            </a:r>
            <a:endParaRPr kumimoji="1" lang="zh-CN" altLang="en-US" sz="1600" b="1" dirty="0">
              <a:solidFill>
                <a:schemeClr val="accent1"/>
              </a:solidFill>
              <a:latin typeface="微软雅黑" panose="020B0503020204020204" charset="-122"/>
              <a:ea typeface="微软雅黑" panose="020B0503020204020204" charset="-122"/>
            </a:endParaRPr>
          </a:p>
        </p:txBody>
      </p:sp>
      <p:pic>
        <p:nvPicPr>
          <p:cNvPr id="14" name="图片 13"/>
          <p:cNvPicPr>
            <a:picLocks noChangeAspect="1"/>
          </p:cNvPicPr>
          <p:nvPr/>
        </p:nvPicPr>
        <p:blipFill>
          <a:blip r:embed="rId2"/>
          <a:stretch>
            <a:fillRect/>
          </a:stretch>
        </p:blipFill>
        <p:spPr>
          <a:xfrm>
            <a:off x="5160010" y="1479550"/>
            <a:ext cx="1865630" cy="1918335"/>
          </a:xfrm>
          <a:prstGeom prst="rect">
            <a:avLst/>
          </a:prstGeom>
        </p:spPr>
      </p:pic>
      <p:sp>
        <p:nvSpPr>
          <p:cNvPr id="18" name="右箭头 17"/>
          <p:cNvSpPr/>
          <p:nvPr/>
        </p:nvSpPr>
        <p:spPr>
          <a:xfrm>
            <a:off x="7251065" y="2033905"/>
            <a:ext cx="593090" cy="554355"/>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1" name="文本框 20"/>
          <p:cNvSpPr txBox="1"/>
          <p:nvPr/>
        </p:nvSpPr>
        <p:spPr>
          <a:xfrm>
            <a:off x="8001635" y="1416685"/>
            <a:ext cx="3286760" cy="2306955"/>
          </a:xfrm>
          <a:prstGeom prst="rect">
            <a:avLst/>
          </a:prstGeom>
          <a:noFill/>
        </p:spPr>
        <p:txBody>
          <a:bodyPr wrap="square" rtlCol="0">
            <a:spAutoFit/>
          </a:bodyPr>
          <a:lstStyle/>
          <a:p>
            <a:r>
              <a:rPr lang="zh-CN" altLang="en-US" sz="1200">
                <a:latin typeface="微软雅黑" panose="020B0503020204020204" charset="-122"/>
                <a:ea typeface="微软雅黑" panose="020B0503020204020204" charset="-122"/>
                <a:cs typeface="微软雅黑" panose="020B0503020204020204" charset="-122"/>
              </a:rPr>
              <a:t>第三十四条  在贷款发放和支付过程中，借款人出现以下情形的，贷款人应与借款人协商补充贷款发放和支付条件，或根据合同约定变更贷款支付方式、停止或中止贷款资金的发放和支付：</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（一）信用状况下降；</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（二）经营及财务状况明显趋差；</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（三）项目进度落后于资金使用进度；</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（四）贷款资金使用出现异常或规避受托支付；</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（五）其他重大违反合同约定的行为。</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国家金融监督管理总局发布</a:t>
            </a:r>
            <a:endParaRPr lang="zh-CN" altLang="en-US" sz="1200">
              <a:latin typeface="微软雅黑" panose="020B0503020204020204" charset="-122"/>
              <a:ea typeface="微软雅黑" panose="020B0503020204020204" charset="-122"/>
              <a:cs typeface="微软雅黑" panose="020B0503020204020204" charset="-122"/>
            </a:endParaRPr>
          </a:p>
          <a:p>
            <a:r>
              <a:rPr lang="zh-CN" altLang="en-US" sz="1200">
                <a:latin typeface="微软雅黑" panose="020B0503020204020204" charset="-122"/>
                <a:ea typeface="微软雅黑" panose="020B0503020204020204" charset="-122"/>
                <a:cs typeface="微软雅黑" panose="020B0503020204020204" charset="-122"/>
              </a:rPr>
              <a:t>页码：- 9 -</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7095490" y="1693545"/>
            <a:ext cx="918845" cy="275590"/>
          </a:xfrm>
          <a:prstGeom prst="rect">
            <a:avLst/>
          </a:prstGeom>
          <a:noFill/>
        </p:spPr>
        <p:txBody>
          <a:bodyPr wrap="square" rtlCol="0">
            <a:spAutoFit/>
          </a:bodyPr>
          <a:lstStyle/>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跨页识别</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 name="右箭头 5"/>
          <p:cNvSpPr/>
          <p:nvPr/>
        </p:nvSpPr>
        <p:spPr>
          <a:xfrm rot="5400000">
            <a:off x="8014122" y="3676902"/>
            <a:ext cx="267429" cy="35616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圆角矩形 6"/>
          <p:cNvSpPr/>
          <p:nvPr/>
        </p:nvSpPr>
        <p:spPr>
          <a:xfrm>
            <a:off x="4745990" y="3996055"/>
            <a:ext cx="6889115" cy="2773680"/>
          </a:xfrm>
          <a:prstGeom prst="roundRect">
            <a:avLst>
              <a:gd name="adj" fmla="val 2507"/>
            </a:avLst>
          </a:prstGeom>
          <a:solidFill>
            <a:schemeClr val="bg1">
              <a:lumMod val="95000"/>
            </a:schemeClr>
          </a:solidFill>
          <a:ln>
            <a:no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indent="0" algn="ctr" fontAlgn="auto">
              <a:lnSpc>
                <a:spcPct val="100000"/>
              </a:lnSpc>
            </a:pPr>
            <a:r>
              <a:rPr kumimoji="1" lang="zh-CN" altLang="en-US" sz="1600" b="1" dirty="0">
                <a:solidFill>
                  <a:schemeClr val="accent1"/>
                </a:solidFill>
                <a:latin typeface="微软雅黑" panose="020B0503020204020204" charset="-122"/>
                <a:ea typeface="微软雅黑" panose="020B0503020204020204" charset="-122"/>
              </a:rPr>
              <a:t>文档分块与关键词抽取</a:t>
            </a:r>
            <a:endParaRPr kumimoji="1" lang="zh-CN" altLang="en-US" sz="1600" b="1" dirty="0">
              <a:solidFill>
                <a:schemeClr val="accent1"/>
              </a:solidFill>
              <a:latin typeface="微软雅黑" panose="020B0503020204020204" charset="-122"/>
              <a:ea typeface="微软雅黑" panose="020B0503020204020204" charset="-122"/>
            </a:endParaRPr>
          </a:p>
        </p:txBody>
      </p:sp>
      <p:sp>
        <p:nvSpPr>
          <p:cNvPr id="27" name="文本框 26"/>
          <p:cNvSpPr txBox="1"/>
          <p:nvPr/>
        </p:nvSpPr>
        <p:spPr>
          <a:xfrm>
            <a:off x="4699000" y="4397375"/>
            <a:ext cx="2038350" cy="275590"/>
          </a:xfrm>
          <a:prstGeom prst="rect">
            <a:avLst/>
          </a:prstGeom>
          <a:noFill/>
        </p:spPr>
        <p:txBody>
          <a:bodyPr wrap="square" rtlCol="0">
            <a:spAutoFit/>
          </a:bodyPr>
          <a:lstStyle/>
          <a:p>
            <a:r>
              <a:rPr lang="zh-CN" altLang="en-US" sz="1200">
                <a:latin typeface="微软雅黑" panose="020B0503020204020204" charset="-122"/>
                <a:ea typeface="微软雅黑" panose="020B0503020204020204" charset="-122"/>
                <a:cs typeface="微软雅黑" panose="020B0503020204020204" charset="-122"/>
              </a:rPr>
              <a:t>切分策略：法规分块</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4699000" y="4849495"/>
            <a:ext cx="2038350" cy="275590"/>
          </a:xfrm>
          <a:prstGeom prst="rect">
            <a:avLst/>
          </a:prstGeom>
          <a:noFill/>
        </p:spPr>
        <p:txBody>
          <a:bodyPr wrap="square" rtlCol="0">
            <a:spAutoFit/>
          </a:bodyPr>
          <a:lstStyle/>
          <a:p>
            <a:r>
              <a:rPr lang="en-US" altLang="zh-CN" sz="1200">
                <a:latin typeface="微软雅黑" panose="020B0503020204020204" charset="-122"/>
                <a:ea typeface="微软雅黑" panose="020B0503020204020204" charset="-122"/>
                <a:cs typeface="微软雅黑" panose="020B0503020204020204" charset="-122"/>
              </a:rPr>
              <a:t>chunk</a:t>
            </a:r>
            <a:r>
              <a:rPr lang="zh-CN" altLang="en-US" sz="1200">
                <a:latin typeface="微软雅黑" panose="020B0503020204020204" charset="-122"/>
                <a:ea typeface="微软雅黑" panose="020B0503020204020204" charset="-122"/>
                <a:cs typeface="微软雅黑" panose="020B0503020204020204" charset="-122"/>
              </a:rPr>
              <a:t>大小：</a:t>
            </a:r>
            <a:r>
              <a:rPr lang="en-US" altLang="zh-CN" sz="1200">
                <a:latin typeface="微软雅黑" panose="020B0503020204020204" charset="-122"/>
                <a:ea typeface="微软雅黑" panose="020B0503020204020204" charset="-122"/>
                <a:cs typeface="微软雅黑" panose="020B0503020204020204" charset="-122"/>
              </a:rPr>
              <a:t>512</a:t>
            </a:r>
            <a:r>
              <a:rPr lang="zh-CN" altLang="en-US" sz="1200">
                <a:latin typeface="微软雅黑" panose="020B0503020204020204" charset="-122"/>
                <a:ea typeface="微软雅黑" panose="020B0503020204020204" charset="-122"/>
                <a:cs typeface="微软雅黑" panose="020B0503020204020204" charset="-122"/>
              </a:rPr>
              <a:t>（</a:t>
            </a:r>
            <a:r>
              <a:rPr lang="en-US" altLang="zh-CN" sz="1200">
                <a:latin typeface="微软雅黑" panose="020B0503020204020204" charset="-122"/>
                <a:ea typeface="微软雅黑" panose="020B0503020204020204" charset="-122"/>
                <a:cs typeface="微软雅黑" panose="020B0503020204020204" charset="-122"/>
              </a:rPr>
              <a:t>token</a:t>
            </a:r>
            <a:r>
              <a:rPr lang="zh-CN" altLang="en-US" sz="1200">
                <a:latin typeface="微软雅黑" panose="020B0503020204020204" charset="-122"/>
                <a:ea typeface="微软雅黑" panose="020B0503020204020204" charset="-122"/>
                <a:cs typeface="微软雅黑" panose="020B0503020204020204" charset="-122"/>
              </a:rPr>
              <a:t>）</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6737350" y="4331970"/>
            <a:ext cx="3286760" cy="2037715"/>
          </a:xfrm>
          <a:prstGeom prst="rect">
            <a:avLst/>
          </a:prstGeom>
          <a:solidFill>
            <a:schemeClr val="accent1">
              <a:lumMod val="20000"/>
              <a:lumOff val="80000"/>
            </a:schemeClr>
          </a:solidFill>
        </p:spPr>
        <p:txBody>
          <a:bodyPr wrap="square" rtlCol="0">
            <a:noAutofit/>
          </a:bodyPr>
          <a:lstStyle/>
          <a:p>
            <a:r>
              <a:rPr lang="zh-CN" altLang="en-US" sz="1200">
                <a:latin typeface="微软雅黑" panose="020B0503020204020204" charset="-122"/>
                <a:ea typeface="微软雅黑" panose="020B0503020204020204" charset="-122"/>
                <a:cs typeface="微软雅黑" panose="020B0503020204020204" charset="-122"/>
              </a:rPr>
              <a:t>第三十四条  在贷款发放和支付过程中，借款人出现以下情形的，贷款人应与借款人协商补充贷款发放和支付条件，或根据合同约定变更贷款支付方式、停止或中止贷款资金的发放和支付：（一）信用状况下降；（二）经营及财务状况明显趋差；（三）项目进度落后于资金使用进度；（四）贷款资金使用出现异常或规避受托支付；（五）其他重大违反合同约定的行为。</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56" name="矩形 55"/>
          <p:cNvSpPr/>
          <p:nvPr/>
        </p:nvSpPr>
        <p:spPr>
          <a:xfrm>
            <a:off x="10109200" y="4191000"/>
            <a:ext cx="1424305" cy="2178050"/>
          </a:xfrm>
          <a:prstGeom prst="rect">
            <a:avLst/>
          </a:prstGeom>
          <a:noFill/>
          <a:ln>
            <a:solidFill>
              <a:schemeClr val="accent1">
                <a:lumMod val="60000"/>
                <a:lumOff val="4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8" name="圆柱形 57"/>
          <p:cNvSpPr/>
          <p:nvPr/>
        </p:nvSpPr>
        <p:spPr>
          <a:xfrm>
            <a:off x="1673225" y="4862195"/>
            <a:ext cx="2231390" cy="1046480"/>
          </a:xfrm>
          <a:prstGeom prst="can">
            <a:avLst/>
          </a:prstGeom>
        </p:spPr>
        <p:style>
          <a:lnRef idx="0">
            <a:srgbClr val="FFFFFF"/>
          </a:lnRef>
          <a:fillRef idx="2">
            <a:schemeClr val="accent1"/>
          </a:fillRef>
          <a:effectRef idx="0">
            <a:srgbClr val="FFFFFF"/>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向量知识库</a:t>
            </a:r>
            <a:endParaRPr lang="zh-CN" altLang="en-US" sz="1600">
              <a:latin typeface="微软雅黑" panose="020B0503020204020204" charset="-122"/>
              <a:ea typeface="微软雅黑" panose="020B0503020204020204" charset="-122"/>
            </a:endParaRPr>
          </a:p>
        </p:txBody>
      </p:sp>
      <p:sp>
        <p:nvSpPr>
          <p:cNvPr id="8" name="右箭头 7"/>
          <p:cNvSpPr/>
          <p:nvPr/>
        </p:nvSpPr>
        <p:spPr>
          <a:xfrm rot="10800000">
            <a:off x="4191422" y="5234557"/>
            <a:ext cx="267429" cy="356164"/>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aphicFrame>
        <p:nvGraphicFramePr>
          <p:cNvPr id="9" name="对象 8">
            <a:hlinkClick r:id="" action="ppaction://ole?verb=0"/>
          </p:cNvPr>
          <p:cNvGraphicFramePr>
            <a:graphicFrameLocks noChangeAspect="1"/>
          </p:cNvGraphicFramePr>
          <p:nvPr/>
        </p:nvGraphicFramePr>
        <p:xfrm>
          <a:off x="2991485" y="2317750"/>
          <a:ext cx="924560" cy="924560"/>
        </p:xfrm>
        <a:graphic>
          <a:graphicData uri="http://schemas.openxmlformats.org/presentationml/2006/ole">
            <mc:AlternateContent xmlns:mc="http://schemas.openxmlformats.org/markup-compatibility/2006">
              <mc:Choice xmlns:v="urn:schemas-microsoft-com:vml" Requires="v">
                <p:oleObj spid="_x0000_s1026" name="" showAsIcon="1" r:id="rId3" imgW="1524000" imgH="1524000" progId="Package">
                  <p:embed/>
                </p:oleObj>
              </mc:Choice>
              <mc:Fallback>
                <p:oleObj name="" showAsIcon="1" r:id="rId3" imgW="1524000" imgH="1524000" progId="Package">
                  <p:embed/>
                  <p:pic>
                    <p:nvPicPr>
                      <p:cNvPr id="0" name="图片 1024"/>
                      <p:cNvPicPr/>
                      <p:nvPr/>
                    </p:nvPicPr>
                    <p:blipFill>
                      <a:blip r:embed="rId4"/>
                      <a:stretch>
                        <a:fillRect/>
                      </a:stretch>
                    </p:blipFill>
                    <p:spPr>
                      <a:xfrm>
                        <a:off x="2991485" y="2317750"/>
                        <a:ext cx="924560" cy="924560"/>
                      </a:xfrm>
                      <a:prstGeom prst="rect">
                        <a:avLst/>
                      </a:prstGeom>
                    </p:spPr>
                  </p:pic>
                </p:oleObj>
              </mc:Fallback>
            </mc:AlternateContent>
          </a:graphicData>
        </a:graphic>
      </p:graphicFrame>
      <p:sp>
        <p:nvSpPr>
          <p:cNvPr id="57" name="文本框 56"/>
          <p:cNvSpPr txBox="1"/>
          <p:nvPr/>
        </p:nvSpPr>
        <p:spPr>
          <a:xfrm rot="20820000">
            <a:off x="10772775" y="6452870"/>
            <a:ext cx="1228090" cy="340360"/>
          </a:xfrm>
          <a:prstGeom prst="rect">
            <a:avLst/>
          </a:prstGeom>
          <a:noFill/>
          <a:ln>
            <a:solidFill>
              <a:schemeClr val="accent1">
                <a:lumMod val="60000"/>
                <a:lumOff val="40000"/>
              </a:schemeClr>
            </a:solidFill>
          </a:ln>
        </p:spPr>
        <p:txBody>
          <a:bodyPr wrap="square" rtlCol="0">
            <a:noAutofit/>
          </a:bodyPr>
          <a:lstStyle/>
          <a:p>
            <a:pPr algn="ct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CHUNK</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标签</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23" name="组合 22"/>
          <p:cNvGrpSpPr/>
          <p:nvPr/>
        </p:nvGrpSpPr>
        <p:grpSpPr>
          <a:xfrm>
            <a:off x="10176510" y="4340860"/>
            <a:ext cx="1256665" cy="1977967"/>
            <a:chOff x="16026" y="6836"/>
            <a:chExt cx="1979" cy="3426"/>
          </a:xfrm>
        </p:grpSpPr>
        <p:sp>
          <p:nvSpPr>
            <p:cNvPr id="25" name="文本框 24"/>
            <p:cNvSpPr txBox="1"/>
            <p:nvPr/>
          </p:nvSpPr>
          <p:spPr>
            <a:xfrm>
              <a:off x="16026" y="6836"/>
              <a:ext cx="1979" cy="477"/>
            </a:xfrm>
            <a:prstGeom prst="rect">
              <a:avLst/>
            </a:prstGeom>
            <a:solidFill>
              <a:schemeClr val="accent1">
                <a:lumMod val="20000"/>
                <a:lumOff val="80000"/>
              </a:schemeClr>
            </a:solidFill>
          </p:spPr>
          <p:txBody>
            <a:bodyPr wrap="square" rtlCol="0">
              <a:spAutoFit/>
            </a:bodyPr>
            <a:lstStyle/>
            <a:p>
              <a:r>
                <a:rPr lang="zh-CN" altLang="en-US" sz="1200">
                  <a:latin typeface="微软雅黑" panose="020B0503020204020204" charset="-122"/>
                  <a:ea typeface="微软雅黑" panose="020B0503020204020204" charset="-122"/>
                  <a:cs typeface="微软雅黑" panose="020B0503020204020204" charset="-122"/>
                </a:rPr>
                <a:t>贷中风险监控</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16026" y="7476"/>
              <a:ext cx="1979" cy="578"/>
            </a:xfrm>
            <a:prstGeom prst="rect">
              <a:avLst/>
            </a:prstGeom>
            <a:solidFill>
              <a:schemeClr val="accent1">
                <a:lumMod val="20000"/>
                <a:lumOff val="80000"/>
              </a:schemeClr>
            </a:solidFill>
          </p:spPr>
          <p:txBody>
            <a:bodyPr wrap="square" rtlCol="0" anchor="ctr" anchorCtr="0">
              <a:noAutofit/>
            </a:bodyPr>
            <a:lstStyle/>
            <a:p>
              <a:r>
                <a:rPr lang="zh-CN" altLang="en-US" sz="1200">
                  <a:latin typeface="微软雅黑" panose="020B0503020204020204" charset="-122"/>
                  <a:ea typeface="微软雅黑" panose="020B0503020204020204" charset="-122"/>
                  <a:cs typeface="微软雅黑" panose="020B0503020204020204" charset="-122"/>
                </a:rPr>
                <a:t>贷款资金管控</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16026" y="8230"/>
              <a:ext cx="1979" cy="577"/>
            </a:xfrm>
            <a:prstGeom prst="rect">
              <a:avLst/>
            </a:prstGeom>
            <a:solidFill>
              <a:schemeClr val="accent1">
                <a:lumMod val="20000"/>
                <a:lumOff val="80000"/>
              </a:schemeClr>
            </a:solidFill>
          </p:spPr>
          <p:txBody>
            <a:bodyPr wrap="square" rtlCol="0" anchor="ctr" anchorCtr="0">
              <a:noAutofit/>
            </a:bodyPr>
            <a:lstStyle/>
            <a:p>
              <a:r>
                <a:rPr lang="zh-CN" altLang="en-US" sz="1200">
                  <a:latin typeface="微软雅黑" panose="020B0503020204020204" charset="-122"/>
                  <a:ea typeface="微软雅黑" panose="020B0503020204020204" charset="-122"/>
                  <a:cs typeface="微软雅黑" panose="020B0503020204020204" charset="-122"/>
                </a:rPr>
                <a:t>借款人信用恶化</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16026" y="8931"/>
              <a:ext cx="1979" cy="578"/>
            </a:xfrm>
            <a:prstGeom prst="rect">
              <a:avLst/>
            </a:prstGeom>
            <a:solidFill>
              <a:schemeClr val="accent1">
                <a:lumMod val="20000"/>
                <a:lumOff val="80000"/>
              </a:schemeClr>
            </a:solidFill>
          </p:spPr>
          <p:txBody>
            <a:bodyPr wrap="square" rtlCol="0" anchor="ctr" anchorCtr="0">
              <a:noAutofit/>
            </a:bodyPr>
            <a:lstStyle/>
            <a:p>
              <a:r>
                <a:rPr lang="zh-CN" altLang="en-US" sz="1200">
                  <a:latin typeface="微软雅黑" panose="020B0503020204020204" charset="-122"/>
                  <a:ea typeface="微软雅黑" panose="020B0503020204020204" charset="-122"/>
                  <a:cs typeface="微软雅黑" panose="020B0503020204020204" charset="-122"/>
                </a:rPr>
                <a:t>受托支付违规</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16026" y="9685"/>
              <a:ext cx="1979" cy="577"/>
            </a:xfrm>
            <a:prstGeom prst="rect">
              <a:avLst/>
            </a:prstGeom>
            <a:solidFill>
              <a:schemeClr val="accent1">
                <a:lumMod val="20000"/>
                <a:lumOff val="80000"/>
              </a:schemeClr>
            </a:solidFill>
          </p:spPr>
          <p:txBody>
            <a:bodyPr wrap="square" rtlCol="0" anchor="ctr" anchorCtr="0">
              <a:noAutofit/>
            </a:bodyPr>
            <a:lstStyle/>
            <a:p>
              <a:r>
                <a:rPr lang="zh-CN" altLang="en-US" sz="1200">
                  <a:latin typeface="微软雅黑" panose="020B0503020204020204" charset="-122"/>
                  <a:ea typeface="微软雅黑" panose="020B0503020204020204" charset="-122"/>
                  <a:cs typeface="微软雅黑" panose="020B0503020204020204" charset="-122"/>
                </a:rPr>
                <a:t>贷款发放中止</a:t>
              </a:r>
              <a:endParaRPr lang="zh-CN" altLang="en-US" sz="1200">
                <a:latin typeface="微软雅黑" panose="020B0503020204020204" charset="-122"/>
                <a:ea typeface="微软雅黑" panose="020B0503020204020204" charset="-122"/>
                <a:cs typeface="微软雅黑" panose="020B0503020204020204" charset="-122"/>
              </a:endParaRPr>
            </a:p>
          </p:txBody>
        </p:sp>
      </p:grpSp>
      <p:sp>
        <p:nvSpPr>
          <p:cNvPr id="51" name="矩形 50"/>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52" name="矩形 51"/>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53" name="矩形 52"/>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2.3.3 </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类实体文档检索流程示例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889635"/>
            <a:ext cx="11370945" cy="671830"/>
          </a:xfrm>
          <a:prstGeom prst="rect">
            <a:avLst/>
          </a:prstGeom>
          <a:ln w="9525" cmpd="sng">
            <a:solidFill>
              <a:srgbClr val="0070C0"/>
            </a:solidFill>
            <a:prstDash val="dash"/>
          </a:ln>
        </p:spPr>
        <p:txBody>
          <a:bodyPr vert="horz" tIns="45708" rtlCol="0" anchor="ctr">
            <a:noAutofit/>
          </a:bodyPr>
          <a:lstStyle/>
          <a:p>
            <a:pPr lvl="0" indent="457200" algn="just">
              <a:lnSpc>
                <a:spcPts val="2800"/>
              </a:lnSpc>
              <a:spcBef>
                <a:spcPts val="0"/>
              </a:spcBef>
              <a:spcAft>
                <a:spcPts val="0"/>
              </a:spcAft>
              <a:buClr>
                <a:srgbClr val="FF0000"/>
              </a:buClr>
              <a:buSzTx/>
              <a:buFont typeface="Wingdings" panose="05000000000000000000" charset="0"/>
              <a:defRPr/>
              <a:extLst>
                <a:ext uri="{35155182-B16C-46BC-9424-99874614C6A1}">
                  <wpsdc:indentchars xmlns:wpsdc="http://www.wps.cn/officeDocument/2017/drawingmlCustomData" val="200" checksum="59296752"/>
                </a:ext>
              </a:extLst>
            </a:pP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语义图谱基于四要素快速筛选文档，缩小检索范围，从语义检索的文档中进行精准向量召回，提高准确性</a:t>
            </a:r>
            <a:endParaRPr lang="zh-CN" altLang="en-US"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26" name="AutoShape 26"/>
          <p:cNvSpPr/>
          <p:nvPr/>
        </p:nvSpPr>
        <p:spPr>
          <a:xfrm>
            <a:off x="410845" y="2391410"/>
            <a:ext cx="2995295" cy="611505"/>
          </a:xfrm>
          <a:prstGeom prst="roundRect">
            <a:avLst>
              <a:gd name="adj" fmla="val 16666"/>
            </a:avLst>
          </a:prstGeom>
          <a:solidFill>
            <a:srgbClr val="E8F0FE">
              <a:alpha val="100000"/>
            </a:srgbClr>
          </a:solidFill>
          <a:ln w="12700" cap="flat" cmpd="sng">
            <a:solidFill>
              <a:srgbClr val="4A90D9">
                <a:alpha val="100000"/>
              </a:srgbClr>
            </a:solidFill>
            <a:prstDash val="solid"/>
            <a:round/>
          </a:ln>
        </p:spPr>
        <p:txBody>
          <a:bodyPr vert="horz" wrap="square" lIns="127000" tIns="101600" rIns="127000" bIns="0" rtlCol="0" anchor="ctr" anchorCtr="0"/>
          <a:lstStyle/>
          <a:p>
            <a:pPr marL="0" indent="0" algn="l">
              <a:lnSpc>
                <a:spcPct val="100000"/>
              </a:lnSpc>
              <a:defRPr/>
            </a:pPr>
            <a:r>
              <a:rPr lang="en-US" sz="1100" b="1" i="0" u="none" strike="noStrike">
                <a:solidFill>
                  <a:srgbClr val="1E5AA8"/>
                </a:solidFill>
                <a:latin typeface="Noto Sans SC" panose="020B0200000000000000" charset="-122"/>
                <a:ea typeface="Noto Sans SC" panose="020B0200000000000000" charset="-122"/>
                <a:cs typeface="Noto Sans SC" panose="020B0200000000000000" charset="-122"/>
                <a:sym typeface="Noto Sans SC" panose="020B0200000000000000" charset="-122"/>
              </a:rPr>
              <a:t>🔍 用户查询：</a:t>
            </a: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办理</a:t>
            </a:r>
            <a:r>
              <a:rPr lang="zh-CN" altLang="en-US" sz="11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固定资产</a:t>
            </a:r>
            <a:r>
              <a:rPr lang="en-US" sz="1100">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项目融资授信审批时，贷款人应如何设定担保及风险缓释措施？</a:t>
            </a: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 name="椭圆 2"/>
          <p:cNvSpPr/>
          <p:nvPr/>
        </p:nvSpPr>
        <p:spPr>
          <a:xfrm>
            <a:off x="314325" y="189738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1</a:t>
            </a:r>
            <a:endParaRPr lang="en-US" altLang="zh-CN" sz="1400">
              <a:latin typeface="微软雅黑" panose="020B0503020204020204" charset="-122"/>
              <a:ea typeface="微软雅黑" panose="020B0503020204020204" charset="-122"/>
            </a:endParaRPr>
          </a:p>
        </p:txBody>
      </p:sp>
      <p:sp>
        <p:nvSpPr>
          <p:cNvPr id="4" name="文本框 3"/>
          <p:cNvSpPr txBox="1"/>
          <p:nvPr/>
        </p:nvSpPr>
        <p:spPr>
          <a:xfrm>
            <a:off x="779780" y="1896745"/>
            <a:ext cx="1449070" cy="337185"/>
          </a:xfrm>
          <a:prstGeom prst="rect">
            <a:avLst/>
          </a:prstGeom>
          <a:solidFill>
            <a:schemeClr val="accent1">
              <a:lumMod val="20000"/>
              <a:lumOff val="80000"/>
            </a:schemeClr>
          </a:solidFill>
        </p:spPr>
        <p:txBody>
          <a:bodyPr wrap="square" rtlCol="0">
            <a:spAutoFit/>
          </a:bodyPr>
          <a:lstStyle/>
          <a:p>
            <a:r>
              <a:rPr lang="zh-CN" sz="1600">
                <a:latin typeface="微软雅黑" panose="020B0503020204020204" charset="-122"/>
                <a:ea typeface="微软雅黑" panose="020B0503020204020204" charset="-122"/>
                <a:cs typeface="微软雅黑" panose="020B0503020204020204" charset="-122"/>
              </a:rPr>
              <a:t>客户提出问题</a:t>
            </a:r>
            <a:endParaRPr lang="zh-CN" sz="1600">
              <a:latin typeface="微软雅黑" panose="020B0503020204020204" charset="-122"/>
              <a:ea typeface="微软雅黑" panose="020B0503020204020204" charset="-122"/>
              <a:cs typeface="微软雅黑" panose="020B0503020204020204" charset="-122"/>
            </a:endParaRPr>
          </a:p>
        </p:txBody>
      </p:sp>
      <p:sp>
        <p:nvSpPr>
          <p:cNvPr id="29" name="椭圆 28"/>
          <p:cNvSpPr/>
          <p:nvPr/>
        </p:nvSpPr>
        <p:spPr>
          <a:xfrm>
            <a:off x="4140200" y="189738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2</a:t>
            </a:r>
            <a:endParaRPr lang="en-US" altLang="zh-CN" sz="1400">
              <a:latin typeface="微软雅黑" panose="020B0503020204020204" charset="-122"/>
              <a:ea typeface="微软雅黑" panose="020B0503020204020204" charset="-122"/>
            </a:endParaRPr>
          </a:p>
        </p:txBody>
      </p:sp>
      <p:sp>
        <p:nvSpPr>
          <p:cNvPr id="30" name="文本框 29"/>
          <p:cNvSpPr txBox="1"/>
          <p:nvPr/>
        </p:nvSpPr>
        <p:spPr>
          <a:xfrm>
            <a:off x="4618355" y="1882140"/>
            <a:ext cx="2470150" cy="337185"/>
          </a:xfrm>
          <a:prstGeom prst="rect">
            <a:avLst/>
          </a:prstGeom>
          <a:solidFill>
            <a:schemeClr val="accent1">
              <a:lumMod val="20000"/>
              <a:lumOff val="80000"/>
            </a:schemeClr>
          </a:solidFill>
        </p:spPr>
        <p:txBody>
          <a:bodyPr wrap="square" rtlCol="0">
            <a:noAutofit/>
          </a:bodyPr>
          <a:lstStyle/>
          <a:p>
            <a:r>
              <a:rPr lang="zh-CN" altLang="en-US" sz="1400">
                <a:latin typeface="微软雅黑" panose="020B0503020204020204" charset="-122"/>
                <a:ea typeface="微软雅黑" panose="020B0503020204020204" charset="-122"/>
                <a:cs typeface="微软雅黑" panose="020B0503020204020204" charset="-122"/>
              </a:rPr>
              <a:t>统一语义图谱初筛定位文档</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37" name="AutoShape 28"/>
          <p:cNvSpPr/>
          <p:nvPr/>
        </p:nvSpPr>
        <p:spPr>
          <a:xfrm>
            <a:off x="4253865" y="2284730"/>
            <a:ext cx="3696335" cy="762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固定资产</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 场景节点：</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固定资产贷款管理</a:t>
            </a:r>
            <a:endPar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92000"/>
              </a:lnSpc>
              <a:defRPr/>
            </a:pPr>
            <a:r>
              <a:rPr lang="en-US" sz="9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“固定资产” → 对象节点：固定资产贷款</a:t>
            </a:r>
            <a:endParaRPr lang="en-US" sz="900">
              <a:solidFill>
                <a:srgbClr val="555555"/>
              </a:solidFill>
              <a:latin typeface="Noto Sans SC" panose="020B0200000000000000" charset="-122"/>
              <a:ea typeface="Noto Sans SC" panose="020B0200000000000000" charset="-122"/>
              <a:cs typeface="Noto Sans SC" panose="020B0200000000000000" charset="-122"/>
            </a:endParaRPr>
          </a:p>
          <a:p>
            <a:pPr marL="0" indent="0" algn="l">
              <a:lnSpc>
                <a:spcPct val="92000"/>
              </a:lnSpc>
            </a:pP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“授信审批” → 活动节点：授信审查审批</a:t>
            </a:r>
            <a:endPar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92000"/>
              </a:lnSpc>
            </a:pPr>
            <a:r>
              <a:rPr lang="en-US" sz="900">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设定担保</a:t>
            </a:r>
            <a:r>
              <a:rPr lang="en-US" altLang="zh-CN"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风险缓释” → 术语节点：</a:t>
            </a:r>
            <a:r>
              <a:rPr lang="zh-CN" alt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设定担保</a:t>
            </a:r>
            <a:r>
              <a:rPr lang="en-US" altLang="zh-CN"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风险缓释</a:t>
            </a:r>
            <a:endParaRPr lang="en-US" sz="9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椭圆 39"/>
          <p:cNvSpPr/>
          <p:nvPr/>
        </p:nvSpPr>
        <p:spPr>
          <a:xfrm>
            <a:off x="7966075" y="189738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3</a:t>
            </a:r>
            <a:endParaRPr lang="en-US" altLang="zh-CN" sz="1400">
              <a:latin typeface="微软雅黑" panose="020B0503020204020204" charset="-122"/>
              <a:ea typeface="微软雅黑" panose="020B0503020204020204" charset="-122"/>
            </a:endParaRPr>
          </a:p>
        </p:txBody>
      </p:sp>
      <p:sp>
        <p:nvSpPr>
          <p:cNvPr id="42" name="AutoShape 19"/>
          <p:cNvSpPr txBox="1"/>
          <p:nvPr/>
        </p:nvSpPr>
        <p:spPr>
          <a:xfrm>
            <a:off x="8441055" y="1844675"/>
            <a:ext cx="3340735" cy="457200"/>
          </a:xfrm>
          <a:prstGeom prst="roundRect">
            <a:avLst>
              <a:gd name="adj" fmla="val 0"/>
            </a:avLst>
          </a:prstGeom>
          <a:solidFill>
            <a:schemeClr val="accent1">
              <a:lumMod val="20000"/>
              <a:lumOff val="80000"/>
            </a:schemeClr>
          </a:solidFill>
        </p:spPr>
        <p:txBody>
          <a:bodyPr vert="horz" wrap="square" lIns="91440" tIns="45720" rIns="91440" bIns="45720" rtlCol="0" anchor="t" anchorCtr="0">
            <a:noAutofit/>
          </a:bodyPr>
          <a:lstStyle/>
          <a:p>
            <a:pPr lvl="0" algn="l">
              <a:buClrTx/>
              <a:buSzTx/>
              <a:buFontTx/>
            </a:pP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初筛结果 → 锁定《固定资产贷款管理办法》</a:t>
            </a: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43" name="图片 42"/>
          <p:cNvPicPr>
            <a:picLocks noChangeAspect="1"/>
          </p:cNvPicPr>
          <p:nvPr/>
        </p:nvPicPr>
        <p:blipFill>
          <a:blip r:embed="rId1"/>
          <a:srcRect l="67431" b="48041"/>
          <a:stretch>
            <a:fillRect/>
          </a:stretch>
        </p:blipFill>
        <p:spPr>
          <a:xfrm>
            <a:off x="8468995" y="2301875"/>
            <a:ext cx="2203450" cy="1565275"/>
          </a:xfrm>
          <a:prstGeom prst="rect">
            <a:avLst/>
          </a:prstGeom>
        </p:spPr>
      </p:pic>
      <p:sp>
        <p:nvSpPr>
          <p:cNvPr id="44" name="椭圆 43"/>
          <p:cNvSpPr/>
          <p:nvPr/>
        </p:nvSpPr>
        <p:spPr>
          <a:xfrm>
            <a:off x="7966075" y="4810760"/>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4</a:t>
            </a:r>
            <a:endParaRPr lang="en-US" altLang="zh-CN" sz="1400">
              <a:latin typeface="微软雅黑" panose="020B0503020204020204" charset="-122"/>
              <a:ea typeface="微软雅黑" panose="020B0503020204020204" charset="-122"/>
            </a:endParaRPr>
          </a:p>
        </p:txBody>
      </p:sp>
      <p:sp>
        <p:nvSpPr>
          <p:cNvPr id="45" name="AutoShape 19"/>
          <p:cNvSpPr txBox="1"/>
          <p:nvPr/>
        </p:nvSpPr>
        <p:spPr>
          <a:xfrm>
            <a:off x="8441055" y="4796155"/>
            <a:ext cx="3340735" cy="362585"/>
          </a:xfrm>
          <a:prstGeom prst="roundRect">
            <a:avLst>
              <a:gd name="adj" fmla="val 0"/>
            </a:avLst>
          </a:prstGeom>
          <a:solidFill>
            <a:schemeClr val="accent1">
              <a:lumMod val="20000"/>
              <a:lumOff val="80000"/>
            </a:schemeClr>
          </a:solidFill>
        </p:spPr>
        <p:txBody>
          <a:bodyPr vert="horz" wrap="square" lIns="91440" tIns="45720" rIns="91440" bIns="45720" rtlCol="0" anchor="t" anchorCtr="0">
            <a:noAutofit/>
          </a:bodyPr>
          <a:lstStyle/>
          <a:p>
            <a:pPr lvl="0" algn="l">
              <a:buClrTx/>
              <a:buSzTx/>
              <a:buFontTx/>
            </a:pP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文档内向量召回 → 命中条款</a:t>
            </a: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lvl="0" algn="l">
              <a:buClrTx/>
              <a:buSzTx/>
              <a:buFontTx/>
            </a:pP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nvGrpSpPr>
          <p:cNvPr id="54" name="组合 53"/>
          <p:cNvGrpSpPr/>
          <p:nvPr/>
        </p:nvGrpSpPr>
        <p:grpSpPr>
          <a:xfrm>
            <a:off x="8330565" y="5394960"/>
            <a:ext cx="3451860" cy="639445"/>
            <a:chOff x="9265" y="9040"/>
            <a:chExt cx="7800" cy="600"/>
          </a:xfrm>
        </p:grpSpPr>
        <p:sp>
          <p:nvSpPr>
            <p:cNvPr id="49" name="AutoShape 21"/>
            <p:cNvSpPr/>
            <p:nvPr/>
          </p:nvSpPr>
          <p:spPr>
            <a:xfrm>
              <a:off x="9265" y="9040"/>
              <a:ext cx="2400" cy="600"/>
            </a:xfrm>
            <a:prstGeom prst="roundRect">
              <a:avLst>
                <a:gd name="adj" fmla="val 0"/>
              </a:avLst>
            </a:prstGeom>
            <a:solidFill>
              <a:srgbClr val="F0F7FF">
                <a:alpha val="100000"/>
              </a:srgbClr>
            </a:solidFill>
            <a:ln w="12700" cap="flat" cmpd="sng">
              <a:solidFill>
                <a:srgbClr val="4A90D9">
                  <a:alpha val="50000"/>
                </a:srgbClr>
              </a:solid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1E5AA8"/>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文档切块向量化</a:t>
              </a:r>
              <a:endParaRPr lang="en-US" sz="1100"/>
            </a:p>
          </p:txBody>
        </p:sp>
        <p:sp>
          <p:nvSpPr>
            <p:cNvPr id="50" name="AutoShape 22"/>
            <p:cNvSpPr/>
            <p:nvPr/>
          </p:nvSpPr>
          <p:spPr>
            <a:xfrm>
              <a:off x="11765" y="9180"/>
              <a:ext cx="400" cy="32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51" name="AutoShape 23"/>
            <p:cNvSpPr/>
            <p:nvPr/>
          </p:nvSpPr>
          <p:spPr>
            <a:xfrm>
              <a:off x="12265" y="9040"/>
              <a:ext cx="2400" cy="600"/>
            </a:xfrm>
            <a:prstGeom prst="roundRect">
              <a:avLst>
                <a:gd name="adj" fmla="val 0"/>
              </a:avLst>
            </a:prstGeom>
            <a:solidFill>
              <a:srgbClr val="F0F7FF">
                <a:alpha val="100000"/>
              </a:srgbClr>
            </a:solidFill>
            <a:ln w="12700" cap="flat" cmpd="sng">
              <a:solidFill>
                <a:srgbClr val="4A90D9">
                  <a:alpha val="50000"/>
                </a:srgbClr>
              </a:solid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1E5AA8"/>
                  </a:solidFill>
                  <a:latin typeface="Noto Sans SC" panose="020B0200000000000000" charset="-122"/>
                  <a:ea typeface="Noto Sans SC" panose="020B0200000000000000" charset="-122"/>
                  <a:cs typeface="Noto Sans SC" panose="020B0200000000000000" charset="-122"/>
                  <a:sym typeface="Noto Sans SC" panose="020B0200000000000000" charset="-122"/>
                </a:rPr>
                <a:t>语义相似度计算</a:t>
              </a:r>
              <a:endParaRPr lang="en-US" sz="1100"/>
            </a:p>
          </p:txBody>
        </p:sp>
        <p:sp>
          <p:nvSpPr>
            <p:cNvPr id="52" name="AutoShape 24"/>
            <p:cNvSpPr/>
            <p:nvPr/>
          </p:nvSpPr>
          <p:spPr>
            <a:xfrm>
              <a:off x="14765" y="9180"/>
              <a:ext cx="400" cy="32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69696"/>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53" name="AutoShape 25"/>
            <p:cNvSpPr/>
            <p:nvPr/>
          </p:nvSpPr>
          <p:spPr>
            <a:xfrm>
              <a:off x="15265" y="9040"/>
              <a:ext cx="1800" cy="600"/>
            </a:xfrm>
            <a:prstGeom prst="roundRect">
              <a:avLst>
                <a:gd name="adj" fmla="val 0"/>
              </a:avLst>
            </a:prstGeom>
            <a:solidFill>
              <a:srgbClr val="F0F7FF">
                <a:alpha val="100000"/>
              </a:srgbClr>
            </a:solidFill>
            <a:ln w="12700" cap="flat" cmpd="sng">
              <a:solidFill>
                <a:srgbClr val="4A90D9">
                  <a:alpha val="50000"/>
                </a:srgbClr>
              </a:solid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1E5AA8"/>
                  </a:solidFill>
                  <a:latin typeface="Noto Sans SC" panose="020B0200000000000000" charset="-122"/>
                  <a:ea typeface="Noto Sans SC" panose="020B0200000000000000" charset="-122"/>
                  <a:cs typeface="Noto Sans SC" panose="020B0200000000000000" charset="-122"/>
                  <a:sym typeface="Noto Sans SC" panose="020B0200000000000000" charset="-122"/>
                </a:rPr>
                <a:t>排序输出</a:t>
              </a:r>
              <a:endParaRPr lang="en-US" sz="1100"/>
            </a:p>
          </p:txBody>
        </p:sp>
      </p:grpSp>
      <p:grpSp>
        <p:nvGrpSpPr>
          <p:cNvPr id="63" name="组合 62"/>
          <p:cNvGrpSpPr/>
          <p:nvPr/>
        </p:nvGrpSpPr>
        <p:grpSpPr>
          <a:xfrm>
            <a:off x="3639820" y="4569460"/>
            <a:ext cx="3832225" cy="1981200"/>
            <a:chOff x="3399" y="7196"/>
            <a:chExt cx="8000" cy="3120"/>
          </a:xfrm>
        </p:grpSpPr>
        <p:sp>
          <p:nvSpPr>
            <p:cNvPr id="60" name="AutoShape 31"/>
            <p:cNvSpPr/>
            <p:nvPr/>
          </p:nvSpPr>
          <p:spPr>
            <a:xfrm>
              <a:off x="3399" y="7196"/>
              <a:ext cx="8000" cy="1300"/>
            </a:xfrm>
            <a:prstGeom prst="roundRect">
              <a:avLst>
                <a:gd name="adj" fmla="val 0"/>
              </a:avLst>
            </a:prstGeom>
            <a:solidFill>
              <a:srgbClr val="E8F0FE">
                <a:alpha val="100000"/>
              </a:srgbClr>
            </a:solidFill>
            <a:ln w="25400" cap="flat" cmpd="sng">
              <a:solidFill>
                <a:srgbClr val="1E5AA8">
                  <a:alpha val="100000"/>
                </a:srgbClr>
              </a:solidFill>
              <a:prstDash val="solid"/>
              <a:round/>
            </a:ln>
          </p:spPr>
          <p:txBody>
            <a:bodyPr vert="horz" wrap="square" lIns="101600" tIns="50800" rIns="101600" bIns="0" rtlCol="0" anchor="ctr" anchorCtr="0"/>
            <a:lstStyle/>
            <a:p>
              <a:pPr marL="0" indent="0" algn="ctr">
                <a:lnSpc>
                  <a:spcPct val="92000"/>
                </a:lnSpc>
                <a:defRPr/>
              </a:pPr>
              <a:r>
                <a:rPr lang="en-US" sz="800" b="1" i="0" u="none" strike="noStrike">
                  <a:solidFill>
                    <a:srgbClr val="1E5AA8"/>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【相似度 0.96】第四十九条：</a:t>
              </a:r>
              <a:r>
                <a:rPr lang="en-US" sz="8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贷款人原则上应当要求将符合抵质押条件的项目资产和/或项目预期收益等权利为贷款设定担保，并可以根据需要，将项目发起人持有的项目公司股权为贷款设定质押担保。贷款人可根据实际情况与借款人约定为项目投保商业保险。</a:t>
              </a:r>
              <a:endParaRPr lang="en-US" sz="1100"/>
            </a:p>
          </p:txBody>
        </p:sp>
        <p:sp>
          <p:nvSpPr>
            <p:cNvPr id="61" name="AutoShape 32"/>
            <p:cNvSpPr/>
            <p:nvPr/>
          </p:nvSpPr>
          <p:spPr>
            <a:xfrm>
              <a:off x="3399" y="8556"/>
              <a:ext cx="8000" cy="1100"/>
            </a:xfrm>
            <a:prstGeom prst="roundRect">
              <a:avLst>
                <a:gd name="adj" fmla="val 0"/>
              </a:avLst>
            </a:prstGeom>
            <a:solidFill>
              <a:srgbClr val="F8F9FA">
                <a:alpha val="100000"/>
              </a:srgbClr>
            </a:solidFill>
            <a:ln w="12700" cap="flat" cmpd="sng">
              <a:solidFill>
                <a:srgbClr val="E0E0E0">
                  <a:alpha val="100000"/>
                </a:srgbClr>
              </a:solidFill>
              <a:prstDash val="solid"/>
              <a:round/>
            </a:ln>
          </p:spPr>
          <p:txBody>
            <a:bodyPr vert="horz" wrap="square" lIns="101600" tIns="38100" rIns="101600" bIns="0" rtlCol="0" anchor="ctr" anchorCtr="0"/>
            <a:lstStyle/>
            <a:p>
              <a:pPr marL="0" indent="0" algn="ctr">
                <a:lnSpc>
                  <a:spcPct val="92000"/>
                </a:lnSpc>
                <a:defRPr/>
              </a:pPr>
              <a:r>
                <a:rPr lang="en-US" sz="800" b="1" i="0" u="none" strike="noStrike">
                  <a:solidFill>
                    <a:srgbClr val="4A90D9"/>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【相似度 0.82】第五十条：</a:t>
              </a:r>
              <a:r>
                <a:rPr lang="en-US" sz="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贷款人应当采取措施有效降低和分散融资项目在建设期和经营期的各类风险。可通过签订总承包合同、履约保函降低建设期风险；通过长期供销合同、金融衍生工具、资金缺口担保分散经营期风险。</a:t>
              </a:r>
              <a:endParaRPr lang="en-US" sz="1100"/>
            </a:p>
          </p:txBody>
        </p:sp>
        <p:sp>
          <p:nvSpPr>
            <p:cNvPr id="62" name="AutoShape 33"/>
            <p:cNvSpPr/>
            <p:nvPr/>
          </p:nvSpPr>
          <p:spPr>
            <a:xfrm>
              <a:off x="3399" y="9716"/>
              <a:ext cx="8000" cy="600"/>
            </a:xfrm>
            <a:prstGeom prst="roundRect">
              <a:avLst>
                <a:gd name="adj" fmla="val 0"/>
              </a:avLst>
            </a:prstGeom>
            <a:solidFill>
              <a:srgbClr val="F8F9FA">
                <a:alpha val="100000"/>
              </a:srgbClr>
            </a:solidFill>
            <a:ln w="12700" cap="flat" cmpd="sng">
              <a:solidFill>
                <a:srgbClr val="E0E0E0">
                  <a:alpha val="100000"/>
                </a:srgbClr>
              </a:solidFill>
              <a:prstDash val="solid"/>
              <a:round/>
            </a:ln>
          </p:spPr>
          <p:txBody>
            <a:bodyPr vert="horz" wrap="square" lIns="101600" tIns="38100" rIns="101600" bIns="0" rtlCol="0" anchor="ctr" anchorCtr="0"/>
            <a:lstStyle/>
            <a:p>
              <a:pPr marL="0" indent="0" algn="ctr">
                <a:lnSpc>
                  <a:spcPct val="92000"/>
                </a:lnSpc>
                <a:defRPr/>
              </a:pPr>
              <a:r>
                <a:rPr lang="en-US" sz="800" b="1" i="0" u="none" strike="noStrike">
                  <a:solidFill>
                    <a:srgbClr val="4A90D9"/>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【相似度 0.74】第四十七条：</a:t>
              </a:r>
              <a:r>
                <a:rPr lang="en-US" sz="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贷款人应按资本金制度规定，合理确定贷款金额。</a:t>
              </a:r>
              <a:endParaRPr lang="en-US" sz="1100"/>
            </a:p>
          </p:txBody>
        </p:sp>
      </p:grpSp>
      <p:sp>
        <p:nvSpPr>
          <p:cNvPr id="67" name="右箭头 66"/>
          <p:cNvSpPr/>
          <p:nvPr/>
        </p:nvSpPr>
        <p:spPr>
          <a:xfrm rot="10800000">
            <a:off x="3140075" y="5394960"/>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8" name="AutoShape 34"/>
          <p:cNvSpPr/>
          <p:nvPr/>
        </p:nvSpPr>
        <p:spPr>
          <a:xfrm>
            <a:off x="230505" y="4650740"/>
            <a:ext cx="2915285" cy="1824355"/>
          </a:xfrm>
          <a:prstGeom prst="roundRect">
            <a:avLst>
              <a:gd name="adj" fmla="val 12500"/>
            </a:avLst>
          </a:prstGeom>
          <a:solidFill>
            <a:srgbClr val="F0F9F0">
              <a:alpha val="100000"/>
            </a:srgbClr>
          </a:solidFill>
          <a:ln w="12700" cap="flat" cmpd="sng">
            <a:solidFill>
              <a:srgbClr val="76B876">
                <a:alpha val="100000"/>
              </a:srgbClr>
            </a:solidFill>
            <a:prstDash val="solid"/>
            <a:round/>
          </a:ln>
        </p:spPr>
        <p:txBody>
          <a:bodyPr vert="horz" wrap="square" lIns="101600" tIns="63500" rIns="101600" bIns="0" rtlCol="0" anchor="ctr" anchorCtr="0"/>
          <a:lstStyle/>
          <a:p>
            <a:pPr indent="0" algn="l" fontAlgn="auto">
              <a:lnSpc>
                <a:spcPct val="150000"/>
              </a:lnSpc>
              <a:defRPr/>
            </a:pPr>
            <a:r>
              <a:rPr lang="en-US" sz="9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【系统生成回答】</a:t>
            </a:r>
            <a:endParaRPr lang="en-US" sz="1200">
              <a:solidFill>
                <a:schemeClr val="tx1"/>
              </a:solidFill>
              <a:latin typeface="微软雅黑" panose="020B0503020204020204" charset="-122"/>
              <a:ea typeface="微软雅黑" panose="020B0503020204020204" charset="-122"/>
              <a:cs typeface="微软雅黑" panose="020B0503020204020204" charset="-122"/>
            </a:endParaRPr>
          </a:p>
          <a:p>
            <a:pPr indent="0" algn="l" fontAlgn="auto">
              <a:lnSpc>
                <a:spcPct val="150000"/>
              </a:lnSpc>
            </a:pPr>
            <a:r>
              <a:rPr lang="en-US" sz="9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一、担保设定（第四十九条）：1.项目资产/预期收益抵质押；2.可追加股权质押；3.可约定投保商业保险。</a:t>
            </a:r>
            <a:endParaRPr lang="en-US" sz="9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r>
              <a:rPr lang="en-US" sz="9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二、风险缓释（第五十条）：建设期用总承包合同/履约保函；经营期用长期供销合同等。</a:t>
            </a:r>
            <a:endParaRPr lang="en-US" sz="9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fontAlgn="auto">
              <a:lnSpc>
                <a:spcPct val="150000"/>
              </a:lnSpc>
            </a:pPr>
            <a:r>
              <a:rPr lang="en-US" sz="800" b="0" i="0" u="sng"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依据：</a:t>
            </a:r>
            <a:r>
              <a:rPr lang="zh-CN" altLang="en-US" sz="800" b="0" i="0" u="sng"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《固定资产贷款管理办法》第五章</a:t>
            </a:r>
            <a:r>
              <a:rPr lang="en-US" sz="800" b="0" i="0" u="sng"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第四十九条、第五十条</a:t>
            </a:r>
            <a:endParaRPr lang="en-US" sz="800" b="0" i="0" u="sng"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9" name="椭圆 68"/>
          <p:cNvSpPr/>
          <p:nvPr/>
        </p:nvSpPr>
        <p:spPr>
          <a:xfrm>
            <a:off x="314325" y="4150995"/>
            <a:ext cx="364490" cy="36449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latin typeface="微软雅黑" panose="020B0503020204020204" charset="-122"/>
                <a:ea typeface="微软雅黑" panose="020B0503020204020204" charset="-122"/>
              </a:rPr>
              <a:t>5</a:t>
            </a:r>
            <a:endParaRPr lang="en-US" altLang="zh-CN" sz="1400">
              <a:latin typeface="微软雅黑" panose="020B0503020204020204" charset="-122"/>
              <a:ea typeface="微软雅黑" panose="020B0503020204020204" charset="-122"/>
            </a:endParaRPr>
          </a:p>
        </p:txBody>
      </p:sp>
      <p:sp>
        <p:nvSpPr>
          <p:cNvPr id="70" name="AutoShape 19"/>
          <p:cNvSpPr txBox="1"/>
          <p:nvPr/>
        </p:nvSpPr>
        <p:spPr>
          <a:xfrm>
            <a:off x="779780" y="4152900"/>
            <a:ext cx="2254250" cy="362585"/>
          </a:xfrm>
          <a:prstGeom prst="roundRect">
            <a:avLst>
              <a:gd name="adj" fmla="val 0"/>
            </a:avLst>
          </a:prstGeom>
          <a:solidFill>
            <a:schemeClr val="accent1">
              <a:lumMod val="20000"/>
              <a:lumOff val="80000"/>
            </a:schemeClr>
          </a:solidFill>
        </p:spPr>
        <p:txBody>
          <a:bodyPr vert="horz" wrap="square" lIns="91440" tIns="45720" rIns="91440" bIns="45720" rtlCol="0" anchor="t" anchorCtr="0">
            <a:noAutofit/>
          </a:bodyPr>
          <a:lstStyle/>
          <a:p>
            <a:pPr lvl="0" algn="l">
              <a:buClrTx/>
              <a:buSzTx/>
              <a:buFontTx/>
            </a:pPr>
            <a:r>
              <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rPr>
              <a:t>生成答案</a:t>
            </a:r>
            <a:endParaRPr lang="zh-CN" altLang="en-US" sz="140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1" name="右箭头 70"/>
          <p:cNvSpPr/>
          <p:nvPr/>
        </p:nvSpPr>
        <p:spPr>
          <a:xfrm rot="16200000">
            <a:off x="1641475" y="3491865"/>
            <a:ext cx="452120" cy="516255"/>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右箭头 4"/>
          <p:cNvSpPr/>
          <p:nvPr/>
        </p:nvSpPr>
        <p:spPr>
          <a:xfrm rot="10800000">
            <a:off x="7699375" y="5394960"/>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右箭头 5"/>
          <p:cNvSpPr/>
          <p:nvPr/>
        </p:nvSpPr>
        <p:spPr>
          <a:xfrm rot="5400000">
            <a:off x="9613900" y="4149725"/>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右箭头 6"/>
          <p:cNvSpPr/>
          <p:nvPr/>
        </p:nvSpPr>
        <p:spPr>
          <a:xfrm>
            <a:off x="3410585" y="1867535"/>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右箭头 7"/>
          <p:cNvSpPr/>
          <p:nvPr/>
        </p:nvSpPr>
        <p:spPr>
          <a:xfrm>
            <a:off x="7432675" y="1892935"/>
            <a:ext cx="365125" cy="36322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3060065" y="1679575"/>
            <a:ext cx="1141730" cy="275590"/>
          </a:xfrm>
          <a:prstGeom prst="rect">
            <a:avLst/>
          </a:prstGeom>
          <a:noFill/>
        </p:spPr>
        <p:txBody>
          <a:bodyPr wrap="square" rtlCol="0">
            <a:spAutoFit/>
          </a:bodyPr>
          <a:lstStyle/>
          <a:p>
            <a:r>
              <a:rPr lang="en-US" altLang="zh-CN" sz="1200">
                <a:latin typeface="微软雅黑" panose="020B0503020204020204" charset="-122"/>
                <a:ea typeface="微软雅黑" panose="020B0503020204020204" charset="-122"/>
                <a:cs typeface="微软雅黑" panose="020B0503020204020204" charset="-122"/>
              </a:rPr>
              <a:t>skill</a:t>
            </a:r>
            <a:r>
              <a:rPr lang="zh-CN" altLang="en-US" sz="1200">
                <a:latin typeface="微软雅黑" panose="020B0503020204020204" charset="-122"/>
                <a:ea typeface="微软雅黑" panose="020B0503020204020204" charset="-122"/>
                <a:cs typeface="微软雅黑" panose="020B0503020204020204" charset="-122"/>
              </a:rPr>
              <a:t>服务调用</a:t>
            </a:r>
            <a:endParaRPr lang="zh-CN" altLang="en-US" sz="1200">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2"/>
          <a:stretch>
            <a:fillRect/>
          </a:stretch>
        </p:blipFill>
        <p:spPr>
          <a:xfrm>
            <a:off x="4347210" y="2995930"/>
            <a:ext cx="3265170" cy="1353185"/>
          </a:xfrm>
          <a:prstGeom prst="rect">
            <a:avLst/>
          </a:prstGeom>
        </p:spPr>
      </p:pic>
      <p:sp>
        <p:nvSpPr>
          <p:cNvPr id="12" name="矩形 11"/>
          <p:cNvSpPr/>
          <p:nvPr/>
        </p:nvSpPr>
        <p:spPr>
          <a:xfrm>
            <a:off x="8075295" y="21590"/>
            <a:ext cx="1451610" cy="18224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统一语义图谱</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
        <p:nvSpPr>
          <p:cNvPr id="13" name="矩形 12"/>
          <p:cNvSpPr/>
          <p:nvPr/>
        </p:nvSpPr>
        <p:spPr>
          <a:xfrm>
            <a:off x="9526905" y="21590"/>
            <a:ext cx="1217930" cy="175895"/>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专题知识图谱</a:t>
            </a:r>
            <a:r>
              <a:rPr lang="zh-CN" altLang="en-US" sz="1000">
                <a:latin typeface="微软雅黑" panose="020B0503020204020204" charset="-122"/>
                <a:ea typeface="微软雅黑" panose="020B0503020204020204" charset="-122"/>
              </a:rPr>
              <a:t>加工</a:t>
            </a:r>
            <a:endParaRPr lang="zh-CN" altLang="en-US" sz="1000">
              <a:latin typeface="微软雅黑" panose="020B0503020204020204" charset="-122"/>
              <a:ea typeface="微软雅黑" panose="020B0503020204020204" charset="-122"/>
            </a:endParaRPr>
          </a:p>
        </p:txBody>
      </p:sp>
      <p:sp>
        <p:nvSpPr>
          <p:cNvPr id="18" name="矩形 17"/>
          <p:cNvSpPr/>
          <p:nvPr/>
        </p:nvSpPr>
        <p:spPr>
          <a:xfrm>
            <a:off x="10726420" y="21590"/>
            <a:ext cx="1451610" cy="182245"/>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000">
                <a:latin typeface="微软雅黑" panose="020B0503020204020204" charset="-122"/>
                <a:ea typeface="微软雅黑" panose="020B0503020204020204" charset="-122"/>
                <a:sym typeface="+mn-ea"/>
              </a:rPr>
              <a:t>向量知识库</a:t>
            </a:r>
            <a:r>
              <a:rPr lang="zh-CN" altLang="en-US" sz="1000">
                <a:latin typeface="微软雅黑" panose="020B0503020204020204" charset="-122"/>
                <a:ea typeface="微软雅黑" panose="020B0503020204020204" charset="-122"/>
                <a:sym typeface="+mn-ea"/>
              </a:rPr>
              <a:t>加工</a:t>
            </a:r>
            <a:endParaRPr lang="zh-CN" altLang="en-US" sz="1000">
              <a:latin typeface="微软雅黑" panose="020B0503020204020204" charset="-122"/>
              <a:ea typeface="微软雅黑" panose="020B0503020204020204"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675245" y="2570480"/>
            <a:ext cx="3857625" cy="227139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normAutofit fontScale="90000"/>
          </a:bodyPr>
          <a:lstStyle/>
          <a:p>
            <a:r>
              <a:rPr>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2.3.4 知识</a:t>
            </a:r>
            <a:r>
              <a:rPr lang="zh-CN" altLang="en-US">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存储</a:t>
            </a:r>
            <a:endParaRPr lang="zh-CN" altLang="en-US"/>
          </a:p>
        </p:txBody>
      </p:sp>
      <p:sp>
        <p:nvSpPr>
          <p:cNvPr id="6" name="矩形 5"/>
          <p:cNvSpPr/>
          <p:nvPr/>
        </p:nvSpPr>
        <p:spPr>
          <a:xfrm>
            <a:off x="3996055" y="2570480"/>
            <a:ext cx="3009265" cy="227139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
          <a:stretch>
            <a:fillRect/>
          </a:stretch>
        </p:blipFill>
        <p:spPr>
          <a:xfrm>
            <a:off x="598170" y="2559050"/>
            <a:ext cx="2809240" cy="2457450"/>
          </a:xfrm>
          <a:prstGeom prst="rect">
            <a:avLst/>
          </a:prstGeom>
        </p:spPr>
      </p:pic>
      <p:sp>
        <p:nvSpPr>
          <p:cNvPr id="4" name="圆角矩形 3"/>
          <p:cNvSpPr/>
          <p:nvPr/>
        </p:nvSpPr>
        <p:spPr>
          <a:xfrm>
            <a:off x="615315" y="2169795"/>
            <a:ext cx="2849880" cy="34480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统一语义知识图谱（实例）</a:t>
            </a:r>
            <a:endParaRPr lang="zh-CN" altLang="en-US" sz="1600">
              <a:latin typeface="微软雅黑" panose="020B0503020204020204" charset="-122"/>
              <a:ea typeface="微软雅黑" panose="020B0503020204020204" charset="-122"/>
            </a:endParaRPr>
          </a:p>
        </p:txBody>
      </p:sp>
      <p:sp>
        <p:nvSpPr>
          <p:cNvPr id="5" name="圆角矩形 4"/>
          <p:cNvSpPr/>
          <p:nvPr/>
        </p:nvSpPr>
        <p:spPr>
          <a:xfrm>
            <a:off x="3996690" y="2169795"/>
            <a:ext cx="3008630" cy="35496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专题知识图谱（实例）</a:t>
            </a:r>
            <a:endParaRPr lang="zh-CN" altLang="en-US" sz="1600">
              <a:latin typeface="微软雅黑" panose="020B0503020204020204" charset="-122"/>
              <a:ea typeface="微软雅黑" panose="020B0503020204020204" charset="-122"/>
            </a:endParaRPr>
          </a:p>
        </p:txBody>
      </p:sp>
      <p:pic>
        <p:nvPicPr>
          <p:cNvPr id="53" name="图片 52" descr="2e679ce25d2d91be7745e79f3779e1c6"/>
          <p:cNvPicPr>
            <a:picLocks noChangeAspect="1"/>
          </p:cNvPicPr>
          <p:nvPr/>
        </p:nvPicPr>
        <p:blipFill>
          <a:blip r:embed="rId2"/>
          <a:stretch>
            <a:fillRect/>
          </a:stretch>
        </p:blipFill>
        <p:spPr>
          <a:xfrm>
            <a:off x="3996690" y="3084830"/>
            <a:ext cx="2885440" cy="1182370"/>
          </a:xfrm>
          <a:prstGeom prst="rect">
            <a:avLst/>
          </a:prstGeom>
        </p:spPr>
      </p:pic>
      <p:sp>
        <p:nvSpPr>
          <p:cNvPr id="37" name="下箭头 36"/>
          <p:cNvSpPr/>
          <p:nvPr/>
        </p:nvSpPr>
        <p:spPr>
          <a:xfrm>
            <a:off x="1639570" y="5055235"/>
            <a:ext cx="935355" cy="356235"/>
          </a:xfrm>
          <a:prstGeom prst="downArrow">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 name="下箭头 37"/>
          <p:cNvSpPr/>
          <p:nvPr/>
        </p:nvSpPr>
        <p:spPr>
          <a:xfrm>
            <a:off x="5113020" y="4979670"/>
            <a:ext cx="935355" cy="356235"/>
          </a:xfrm>
          <a:prstGeom prst="downArrow">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圆角矩形 38"/>
          <p:cNvSpPr/>
          <p:nvPr/>
        </p:nvSpPr>
        <p:spPr>
          <a:xfrm>
            <a:off x="732790" y="5522595"/>
            <a:ext cx="6290310" cy="1035050"/>
          </a:xfrm>
          <a:prstGeom prst="round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4" name="Shape 72"/>
          <p:cNvSpPr/>
          <p:nvPr/>
        </p:nvSpPr>
        <p:spPr>
          <a:xfrm>
            <a:off x="2720975" y="5782945"/>
            <a:ext cx="508000" cy="508000"/>
          </a:xfrm>
          <a:custGeom>
            <a:avLst/>
            <a:gdLst/>
            <a:ahLst/>
            <a:cxnLst/>
            <a:rect l="l" t="t" r="r" b="b"/>
            <a:pathLst>
              <a:path w="508000" h="508000">
                <a:moveTo>
                  <a:pt x="508000" y="204192"/>
                </a:moveTo>
                <a:cubicBezTo>
                  <a:pt x="491218" y="213916"/>
                  <a:pt x="471941" y="221754"/>
                  <a:pt x="451871" y="228005"/>
                </a:cubicBezTo>
                <a:cubicBezTo>
                  <a:pt x="398576" y="244673"/>
                  <a:pt x="328613" y="254000"/>
                  <a:pt x="254000" y="254000"/>
                </a:cubicBezTo>
                <a:cubicBezTo>
                  <a:pt x="179387" y="254000"/>
                  <a:pt x="109311" y="244574"/>
                  <a:pt x="56129" y="228005"/>
                </a:cubicBezTo>
                <a:cubicBezTo>
                  <a:pt x="36172" y="221754"/>
                  <a:pt x="16782" y="213916"/>
                  <a:pt x="0" y="204192"/>
                </a:cubicBezTo>
                <a:lnTo>
                  <a:pt x="0" y="285750"/>
                </a:lnTo>
                <a:cubicBezTo>
                  <a:pt x="0" y="329605"/>
                  <a:pt x="113733" y="365125"/>
                  <a:pt x="254000" y="365125"/>
                </a:cubicBezTo>
                <a:cubicBezTo>
                  <a:pt x="394267" y="365125"/>
                  <a:pt x="508000" y="329605"/>
                  <a:pt x="508000" y="285750"/>
                </a:cubicBezTo>
                <a:lnTo>
                  <a:pt x="508000" y="204192"/>
                </a:lnTo>
                <a:close/>
                <a:moveTo>
                  <a:pt x="508000" y="127000"/>
                </a:moveTo>
                <a:lnTo>
                  <a:pt x="508000" y="79375"/>
                </a:lnTo>
                <a:cubicBezTo>
                  <a:pt x="508000" y="35520"/>
                  <a:pt x="394267" y="0"/>
                  <a:pt x="254000" y="0"/>
                </a:cubicBezTo>
                <a:cubicBezTo>
                  <a:pt x="113733" y="0"/>
                  <a:pt x="0" y="35520"/>
                  <a:pt x="0" y="79375"/>
                </a:cubicBezTo>
                <a:lnTo>
                  <a:pt x="0" y="127000"/>
                </a:lnTo>
                <a:cubicBezTo>
                  <a:pt x="0" y="170855"/>
                  <a:pt x="113733" y="206375"/>
                  <a:pt x="254000" y="206375"/>
                </a:cubicBezTo>
                <a:cubicBezTo>
                  <a:pt x="394267" y="206375"/>
                  <a:pt x="508000" y="170855"/>
                  <a:pt x="508000" y="127000"/>
                </a:cubicBezTo>
                <a:close/>
                <a:moveTo>
                  <a:pt x="451871" y="386755"/>
                </a:moveTo>
                <a:cubicBezTo>
                  <a:pt x="398689" y="403324"/>
                  <a:pt x="328726" y="412750"/>
                  <a:pt x="254000" y="412750"/>
                </a:cubicBezTo>
                <a:cubicBezTo>
                  <a:pt x="179274" y="412750"/>
                  <a:pt x="109311" y="403324"/>
                  <a:pt x="56129" y="386755"/>
                </a:cubicBezTo>
                <a:cubicBezTo>
                  <a:pt x="36172" y="380504"/>
                  <a:pt x="16782" y="372666"/>
                  <a:pt x="0" y="362942"/>
                </a:cubicBezTo>
                <a:lnTo>
                  <a:pt x="0" y="428625"/>
                </a:lnTo>
                <a:cubicBezTo>
                  <a:pt x="0" y="472480"/>
                  <a:pt x="113733" y="508000"/>
                  <a:pt x="254000" y="508000"/>
                </a:cubicBezTo>
                <a:cubicBezTo>
                  <a:pt x="394267" y="508000"/>
                  <a:pt x="508000" y="472480"/>
                  <a:pt x="508000" y="428625"/>
                </a:cubicBezTo>
                <a:lnTo>
                  <a:pt x="508000" y="362942"/>
                </a:lnTo>
                <a:cubicBezTo>
                  <a:pt x="491218" y="372666"/>
                  <a:pt x="471941" y="380504"/>
                  <a:pt x="451871" y="386755"/>
                </a:cubicBezTo>
                <a:close/>
              </a:path>
            </a:pathLst>
          </a:custGeom>
          <a:solidFill>
            <a:schemeClr val="accent1"/>
          </a:solidFill>
          <a:ln>
            <a:noFill/>
          </a:ln>
        </p:spPr>
      </p:sp>
      <p:sp>
        <p:nvSpPr>
          <p:cNvPr id="40" name="文本框 39"/>
          <p:cNvSpPr txBox="1"/>
          <p:nvPr/>
        </p:nvSpPr>
        <p:spPr>
          <a:xfrm>
            <a:off x="3361690" y="5868670"/>
            <a:ext cx="1751965" cy="511175"/>
          </a:xfrm>
          <a:prstGeom prst="rect">
            <a:avLst/>
          </a:prstGeom>
          <a:noFill/>
          <a:ln>
            <a:noFill/>
          </a:ln>
        </p:spPr>
        <p:txBody>
          <a:bodyPr wrap="square" rtlCol="0">
            <a:noAutofit/>
          </a:bodyPr>
          <a:lstStyle/>
          <a:p>
            <a:r>
              <a:rPr lang="zh-CN" altLang="en-US">
                <a:latin typeface="微软雅黑" panose="020B0503020204020204" charset="-122"/>
                <a:ea typeface="微软雅黑" panose="020B0503020204020204" charset="-122"/>
              </a:rPr>
              <a:t>图数据库</a:t>
            </a:r>
            <a:endParaRPr lang="zh-CN" altLang="en-US">
              <a:latin typeface="微软雅黑" panose="020B0503020204020204" charset="-122"/>
              <a:ea typeface="微软雅黑" panose="020B0503020204020204" charset="-122"/>
            </a:endParaRPr>
          </a:p>
        </p:txBody>
      </p:sp>
      <p:sp>
        <p:nvSpPr>
          <p:cNvPr id="41" name="圆角矩形 40"/>
          <p:cNvSpPr/>
          <p:nvPr/>
        </p:nvSpPr>
        <p:spPr>
          <a:xfrm>
            <a:off x="7667625" y="2169795"/>
            <a:ext cx="3865245" cy="354965"/>
          </a:xfrm>
          <a:prstGeom prst="round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向量知识库</a:t>
            </a:r>
            <a:endParaRPr lang="zh-CN" altLang="en-US" sz="1600">
              <a:latin typeface="微软雅黑" panose="020B0503020204020204" charset="-122"/>
              <a:ea typeface="微软雅黑" panose="020B0503020204020204" charset="-122"/>
            </a:endParaRPr>
          </a:p>
        </p:txBody>
      </p:sp>
      <p:pic>
        <p:nvPicPr>
          <p:cNvPr id="42" name="图片 41"/>
          <p:cNvPicPr>
            <a:picLocks noChangeAspect="1"/>
          </p:cNvPicPr>
          <p:nvPr/>
        </p:nvPicPr>
        <p:blipFill>
          <a:blip r:embed="rId3"/>
          <a:stretch>
            <a:fillRect/>
          </a:stretch>
        </p:blipFill>
        <p:spPr>
          <a:xfrm>
            <a:off x="7675245" y="2846070"/>
            <a:ext cx="3790950" cy="1507490"/>
          </a:xfrm>
          <a:prstGeom prst="rect">
            <a:avLst/>
          </a:prstGeom>
        </p:spPr>
      </p:pic>
      <p:sp>
        <p:nvSpPr>
          <p:cNvPr id="43" name="圆角矩形 42"/>
          <p:cNvSpPr/>
          <p:nvPr/>
        </p:nvSpPr>
        <p:spPr>
          <a:xfrm>
            <a:off x="7666990" y="5523230"/>
            <a:ext cx="4053840" cy="1035050"/>
          </a:xfrm>
          <a:prstGeom prst="round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7" name="下箭头 46"/>
          <p:cNvSpPr/>
          <p:nvPr/>
        </p:nvSpPr>
        <p:spPr>
          <a:xfrm>
            <a:off x="9298940" y="4979670"/>
            <a:ext cx="935355" cy="356235"/>
          </a:xfrm>
          <a:prstGeom prst="downArrow">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9" name="Shape 4"/>
          <p:cNvSpPr/>
          <p:nvPr/>
        </p:nvSpPr>
        <p:spPr>
          <a:xfrm>
            <a:off x="8092440" y="5782945"/>
            <a:ext cx="508000" cy="508000"/>
          </a:xfrm>
          <a:custGeom>
            <a:avLst/>
            <a:gdLst/>
            <a:ahLst/>
            <a:cxnLst/>
            <a:rect l="l" t="t" r="r" b="b"/>
            <a:pathLst>
              <a:path w="508000" h="508000">
                <a:moveTo>
                  <a:pt x="72571" y="31750"/>
                </a:moveTo>
                <a:cubicBezTo>
                  <a:pt x="32544" y="31750"/>
                  <a:pt x="0" y="60226"/>
                  <a:pt x="0" y="95250"/>
                </a:cubicBezTo>
                <a:lnTo>
                  <a:pt x="0" y="158750"/>
                </a:lnTo>
                <a:cubicBezTo>
                  <a:pt x="0" y="193774"/>
                  <a:pt x="32544" y="222250"/>
                  <a:pt x="72571" y="222250"/>
                </a:cubicBezTo>
                <a:lnTo>
                  <a:pt x="435429" y="222250"/>
                </a:lnTo>
                <a:cubicBezTo>
                  <a:pt x="475456" y="222250"/>
                  <a:pt x="508000" y="193774"/>
                  <a:pt x="508000" y="158750"/>
                </a:cubicBezTo>
                <a:lnTo>
                  <a:pt x="508000" y="95250"/>
                </a:lnTo>
                <a:cubicBezTo>
                  <a:pt x="508000" y="60226"/>
                  <a:pt x="475456" y="31750"/>
                  <a:pt x="435429" y="31750"/>
                </a:cubicBezTo>
                <a:lnTo>
                  <a:pt x="72571" y="31750"/>
                </a:lnTo>
                <a:close/>
                <a:moveTo>
                  <a:pt x="317500" y="103188"/>
                </a:moveTo>
                <a:cubicBezTo>
                  <a:pt x="332520" y="103188"/>
                  <a:pt x="344714" y="113858"/>
                  <a:pt x="344714" y="127000"/>
                </a:cubicBezTo>
                <a:cubicBezTo>
                  <a:pt x="344714" y="140142"/>
                  <a:pt x="332520" y="150813"/>
                  <a:pt x="317500" y="150813"/>
                </a:cubicBezTo>
                <a:cubicBezTo>
                  <a:pt x="302480" y="150813"/>
                  <a:pt x="290286" y="140142"/>
                  <a:pt x="290286" y="127000"/>
                </a:cubicBezTo>
                <a:cubicBezTo>
                  <a:pt x="290286" y="113858"/>
                  <a:pt x="302480" y="103188"/>
                  <a:pt x="317500" y="103188"/>
                </a:cubicBezTo>
                <a:close/>
                <a:moveTo>
                  <a:pt x="381000" y="127000"/>
                </a:moveTo>
                <a:cubicBezTo>
                  <a:pt x="381000" y="113858"/>
                  <a:pt x="393194" y="103188"/>
                  <a:pt x="408214" y="103188"/>
                </a:cubicBezTo>
                <a:cubicBezTo>
                  <a:pt x="423234" y="103188"/>
                  <a:pt x="435429" y="113858"/>
                  <a:pt x="435429" y="127000"/>
                </a:cubicBezTo>
                <a:cubicBezTo>
                  <a:pt x="435429" y="140142"/>
                  <a:pt x="423234" y="150813"/>
                  <a:pt x="408214" y="150813"/>
                </a:cubicBezTo>
                <a:cubicBezTo>
                  <a:pt x="393194" y="150813"/>
                  <a:pt x="381000" y="140142"/>
                  <a:pt x="381000" y="127000"/>
                </a:cubicBezTo>
                <a:close/>
                <a:moveTo>
                  <a:pt x="72571" y="285750"/>
                </a:moveTo>
                <a:cubicBezTo>
                  <a:pt x="32544" y="285750"/>
                  <a:pt x="0" y="314226"/>
                  <a:pt x="0" y="349250"/>
                </a:cubicBezTo>
                <a:lnTo>
                  <a:pt x="0" y="412750"/>
                </a:lnTo>
                <a:cubicBezTo>
                  <a:pt x="0" y="447774"/>
                  <a:pt x="32544" y="476250"/>
                  <a:pt x="72571" y="476250"/>
                </a:cubicBezTo>
                <a:lnTo>
                  <a:pt x="435429" y="476250"/>
                </a:lnTo>
                <a:cubicBezTo>
                  <a:pt x="475456" y="476250"/>
                  <a:pt x="508000" y="447774"/>
                  <a:pt x="508000" y="412750"/>
                </a:cubicBezTo>
                <a:lnTo>
                  <a:pt x="508000" y="349250"/>
                </a:lnTo>
                <a:cubicBezTo>
                  <a:pt x="508000" y="314226"/>
                  <a:pt x="475456" y="285750"/>
                  <a:pt x="435429" y="285750"/>
                </a:cubicBezTo>
                <a:lnTo>
                  <a:pt x="72571" y="285750"/>
                </a:lnTo>
                <a:close/>
                <a:moveTo>
                  <a:pt x="317500" y="357188"/>
                </a:moveTo>
                <a:cubicBezTo>
                  <a:pt x="332520" y="357188"/>
                  <a:pt x="344714" y="367858"/>
                  <a:pt x="344714" y="381000"/>
                </a:cubicBezTo>
                <a:cubicBezTo>
                  <a:pt x="344714" y="394142"/>
                  <a:pt x="332520" y="404813"/>
                  <a:pt x="317500" y="404813"/>
                </a:cubicBezTo>
                <a:cubicBezTo>
                  <a:pt x="302480" y="404813"/>
                  <a:pt x="290286" y="394142"/>
                  <a:pt x="290286" y="381000"/>
                </a:cubicBezTo>
                <a:cubicBezTo>
                  <a:pt x="290286" y="367858"/>
                  <a:pt x="302480" y="357188"/>
                  <a:pt x="317500" y="357188"/>
                </a:cubicBezTo>
                <a:close/>
                <a:moveTo>
                  <a:pt x="381000" y="381000"/>
                </a:moveTo>
                <a:cubicBezTo>
                  <a:pt x="381000" y="367858"/>
                  <a:pt x="393194" y="357188"/>
                  <a:pt x="408214" y="357188"/>
                </a:cubicBezTo>
                <a:cubicBezTo>
                  <a:pt x="423234" y="357188"/>
                  <a:pt x="435429" y="367858"/>
                  <a:pt x="435429" y="381000"/>
                </a:cubicBezTo>
                <a:cubicBezTo>
                  <a:pt x="435429" y="394142"/>
                  <a:pt x="423234" y="404813"/>
                  <a:pt x="408214" y="404813"/>
                </a:cubicBezTo>
                <a:cubicBezTo>
                  <a:pt x="393194" y="404813"/>
                  <a:pt x="381000" y="394142"/>
                  <a:pt x="381000" y="381000"/>
                </a:cubicBezTo>
                <a:close/>
              </a:path>
            </a:pathLst>
          </a:custGeom>
          <a:solidFill>
            <a:schemeClr val="accent1"/>
          </a:solidFill>
          <a:ln>
            <a:noFill/>
          </a:ln>
        </p:spPr>
      </p:sp>
      <p:sp>
        <p:nvSpPr>
          <p:cNvPr id="51" name="文本框 50"/>
          <p:cNvSpPr txBox="1"/>
          <p:nvPr/>
        </p:nvSpPr>
        <p:spPr>
          <a:xfrm>
            <a:off x="8890635" y="5868670"/>
            <a:ext cx="1751965" cy="511175"/>
          </a:xfrm>
          <a:prstGeom prst="rect">
            <a:avLst/>
          </a:prstGeom>
          <a:noFill/>
          <a:ln>
            <a:noFill/>
          </a:ln>
        </p:spPr>
        <p:txBody>
          <a:bodyPr wrap="square" rtlCol="0">
            <a:noAutofit/>
          </a:bodyPr>
          <a:lstStyle/>
          <a:p>
            <a:pPr algn="ctr"/>
            <a:r>
              <a:rPr lang="zh-CN" altLang="en-US">
                <a:latin typeface="微软雅黑" panose="020B0503020204020204" charset="-122"/>
                <a:ea typeface="微软雅黑" panose="020B0503020204020204" charset="-122"/>
              </a:rPr>
              <a:t>向量数据库</a:t>
            </a:r>
            <a:endParaRPr lang="zh-CN" altLang="en-US">
              <a:latin typeface="微软雅黑" panose="020B0503020204020204" charset="-122"/>
              <a:ea typeface="微软雅黑" panose="020B0503020204020204" charset="-122"/>
            </a:endParaRPr>
          </a:p>
        </p:txBody>
      </p:sp>
      <p:sp>
        <p:nvSpPr>
          <p:cNvPr id="48" name="文本占位符 1"/>
          <p:cNvSpPr>
            <a:spLocks noGrp="1"/>
          </p:cNvSpPr>
          <p:nvPr/>
        </p:nvSpPr>
        <p:spPr>
          <a:xfrm>
            <a:off x="410845" y="935355"/>
            <a:ext cx="11370945" cy="1016000"/>
          </a:xfrm>
          <a:prstGeom prst="rect">
            <a:avLst/>
          </a:prstGeom>
          <a:ln w="9525" cmpd="sng">
            <a:solidFill>
              <a:srgbClr val="0070C0"/>
            </a:solidFill>
            <a:prstDash val="dash"/>
          </a:ln>
        </p:spPr>
        <p:txBody>
          <a:bodyPr vert="horz" tIns="45708" rtlCol="0" anchor="ctr">
            <a:noAutofit/>
          </a:bodyPr>
          <a:lstStyle/>
          <a:p>
            <a:pPr marR="0" lvl="0" indent="457200" algn="just" defTabSz="914400" rtl="0" fontAlgn="auto">
              <a:lnSpc>
                <a:spcPct val="1500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统一存储全行知识资产，统一语义知识图谱和专题知识图谱数据存储在行内图数据库</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向量知识库存储在行内的</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ES</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向量数据库</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562292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indent="0"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2.1 </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整体规划</a:t>
            </a:r>
            <a:endPar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2.2 资源层规划方案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2.3 加工层</a:t>
            </a:r>
            <a:r>
              <a:rPr lang="en-US" altLang="zh-CN"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2.4 服务层</a:t>
            </a:r>
            <a:r>
              <a:rPr lang="en-US" altLang="zh-CN" b="1"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2.5 监运层</a:t>
            </a:r>
            <a:r>
              <a:rPr lang="zh-CN" altLang="en-US"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2.6 拓展层规划方案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 L3服务层定位及整体框架</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5" name="组合 4"/>
          <p:cNvGrpSpPr/>
          <p:nvPr/>
        </p:nvGrpSpPr>
        <p:grpSpPr>
          <a:xfrm>
            <a:off x="605155" y="1994535"/>
            <a:ext cx="11186160" cy="4729480"/>
            <a:chOff x="971" y="2419"/>
            <a:chExt cx="17616" cy="8170"/>
          </a:xfrm>
        </p:grpSpPr>
        <p:sp>
          <p:nvSpPr>
            <p:cNvPr id="3" name="矩形 2"/>
            <p:cNvSpPr/>
            <p:nvPr/>
          </p:nvSpPr>
          <p:spPr>
            <a:xfrm>
              <a:off x="2220" y="7312"/>
              <a:ext cx="2953" cy="1374"/>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rPr>
                <a:t>向量库</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Light" panose="020B0502040204020203" pitchFamily="34" charset="-122"/>
              </a:endParaRPr>
            </a:p>
          </p:txBody>
        </p:sp>
        <p:sp>
          <p:nvSpPr>
            <p:cNvPr id="16" name="矩形: 圆角 40"/>
            <p:cNvSpPr/>
            <p:nvPr/>
          </p:nvSpPr>
          <p:spPr bwMode="auto">
            <a:xfrm>
              <a:off x="1978" y="9215"/>
              <a:ext cx="8216" cy="1374"/>
            </a:xfrm>
            <a:prstGeom prst="roundRect">
              <a:avLst>
                <a:gd name="adj" fmla="val 5461"/>
              </a:avLst>
            </a:prstGeom>
            <a:noFill/>
            <a:ln w="12700" cap="flat" cmpd="sng" algn="ctr">
              <a:solidFill>
                <a:srgbClr val="2A25FF"/>
              </a:solidFill>
              <a:prstDash val="dash"/>
              <a:round/>
              <a:headEnd type="none" w="med" len="med"/>
              <a:tailEnd type="none" w="med" len="med"/>
            </a:ln>
            <a:effectLst/>
          </p:spPr>
          <p:txBody>
            <a:bodyPr vert="horz" wrap="square" lIns="91440" tIns="45720" rIns="91440" bIns="45720" numCol="1" rtlCol="0" anchor="b" anchorCtr="0" compatLnSpc="1"/>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类实体文档</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矩形: 圆角 40"/>
            <p:cNvSpPr/>
            <p:nvPr/>
          </p:nvSpPr>
          <p:spPr bwMode="auto">
            <a:xfrm>
              <a:off x="10371" y="9215"/>
              <a:ext cx="8216" cy="1374"/>
            </a:xfrm>
            <a:prstGeom prst="roundRect">
              <a:avLst>
                <a:gd name="adj" fmla="val 5461"/>
              </a:avLst>
            </a:prstGeom>
            <a:noFill/>
            <a:ln w="12700" cap="flat" cmpd="sng" algn="ctr">
              <a:solidFill>
                <a:srgbClr val="2A25FF"/>
              </a:solidFill>
              <a:prstDash val="dash"/>
              <a:round/>
              <a:headEnd type="none" w="med" len="med"/>
              <a:tailEnd type="none" w="med" len="med"/>
            </a:ln>
            <a:effectLst/>
          </p:spPr>
          <p:txBody>
            <a:bodyPr vert="horz" wrap="square" lIns="91440" tIns="45720" rIns="91440" bIns="45720" numCol="1" rtlCol="0" anchor="b" anchorCtr="0" compatLnSpc="1"/>
            <a:lstStyle/>
            <a:p>
              <a:pPr marL="457200" marR="0" lvl="1" indent="0" algn="ctr" defTabSz="914400" rtl="0" eaLnBrk="0" fontAlgn="base" latinLnBrk="0" hangingPunct="0">
                <a:lnSpc>
                  <a:spcPct val="100000"/>
                </a:lnSpc>
                <a:spcBef>
                  <a:spcPct val="0"/>
                </a:spcBef>
                <a:spcAft>
                  <a:spcPct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Light" panose="020B0502040204020203" pitchFamily="34" charset="-122"/>
                </a:rPr>
                <a:t>明细实体文档</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Light" panose="020B0502040204020203" pitchFamily="34" charset="-122"/>
              </a:endParaRPr>
            </a:p>
          </p:txBody>
        </p:sp>
        <p:sp>
          <p:nvSpPr>
            <p:cNvPr id="38" name="矩形 37"/>
            <p:cNvSpPr/>
            <p:nvPr/>
          </p:nvSpPr>
          <p:spPr>
            <a:xfrm>
              <a:off x="12310" y="9416"/>
              <a:ext cx="1339"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司法</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39" name="矩形 38"/>
            <p:cNvSpPr/>
            <p:nvPr/>
          </p:nvSpPr>
          <p:spPr>
            <a:xfrm>
              <a:off x="15124" y="9416"/>
              <a:ext cx="1456"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报告</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40" name="矩形 39"/>
            <p:cNvSpPr/>
            <p:nvPr/>
          </p:nvSpPr>
          <p:spPr>
            <a:xfrm>
              <a:off x="16648" y="9416"/>
              <a:ext cx="1816"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微软雅黑" panose="020B0503020204020204" charset="-122"/>
                </a:rPr>
                <a:t>……</a:t>
              </a:r>
              <a:endParaRPr kumimoji="1" lang="zh-CN" altLang="en-US" sz="12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41" name="矩形 40"/>
            <p:cNvSpPr/>
            <p:nvPr/>
          </p:nvSpPr>
          <p:spPr>
            <a:xfrm>
              <a:off x="13717" y="9416"/>
              <a:ext cx="1339"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财报</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grpSp>
          <p:nvGrpSpPr>
            <p:cNvPr id="42" name="组合 41"/>
            <p:cNvGrpSpPr/>
            <p:nvPr/>
          </p:nvGrpSpPr>
          <p:grpSpPr>
            <a:xfrm>
              <a:off x="3178" y="5795"/>
              <a:ext cx="13095" cy="1116"/>
              <a:chOff x="1801029" y="2859777"/>
              <a:chExt cx="8315325" cy="708660"/>
            </a:xfrm>
          </p:grpSpPr>
          <p:sp>
            <p:nvSpPr>
              <p:cNvPr id="45" name="矩形 44"/>
              <p:cNvSpPr/>
              <p:nvPr/>
            </p:nvSpPr>
            <p:spPr>
              <a:xfrm>
                <a:off x="1882602" y="2945930"/>
                <a:ext cx="8125997" cy="343993"/>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基于“文档对象索引</a:t>
                </a:r>
                <a:r>
                  <a:rPr kumimoji="1" lang="en-US" altLang="zh-CN"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t>
                </a: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文档内容索引”双层索引服务</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 name="矩形: 圆角 35"/>
              <p:cNvSpPr/>
              <p:nvPr/>
            </p:nvSpPr>
            <p:spPr>
              <a:xfrm>
                <a:off x="1801029" y="2859777"/>
                <a:ext cx="8315325" cy="708660"/>
              </a:xfrm>
              <a:prstGeom prst="roundRect">
                <a:avLst>
                  <a:gd name="adj" fmla="val 9917"/>
                </a:avLst>
              </a:prstGeom>
              <a:noFill/>
              <a:ln w="19050" cap="flat" cmpd="sng" algn="ctr">
                <a:solidFill>
                  <a:srgbClr val="0052A0"/>
                </a:solidFill>
                <a:prstDash val="solid"/>
              </a:ln>
            </p:spPr>
            <p:txBody>
              <a:bodyPr wrap="square"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统一语义图谱索引</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专题知识图谱索引</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全量知识向量索引</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cxnSp>
          <p:nvCxnSpPr>
            <p:cNvPr id="55" name="直接连接符 54"/>
            <p:cNvCxnSpPr/>
            <p:nvPr/>
          </p:nvCxnSpPr>
          <p:spPr>
            <a:xfrm>
              <a:off x="971" y="3775"/>
              <a:ext cx="1639" cy="0"/>
            </a:xfrm>
            <a:prstGeom prst="line">
              <a:avLst/>
            </a:prstGeom>
            <a:ln w="12700">
              <a:solidFill>
                <a:srgbClr val="00237B"/>
              </a:solidFill>
              <a:prstDash val="lgDash"/>
            </a:ln>
          </p:spPr>
          <p:style>
            <a:lnRef idx="1">
              <a:srgbClr val="0046F6"/>
            </a:lnRef>
            <a:fillRef idx="0">
              <a:srgbClr val="0046F6"/>
            </a:fillRef>
            <a:effectRef idx="0">
              <a:srgbClr val="0046F6"/>
            </a:effectRef>
            <a:fontRef idx="minor">
              <a:srgbClr val="000000"/>
            </a:fontRef>
          </p:style>
        </p:cxnSp>
        <p:sp>
          <p:nvSpPr>
            <p:cNvPr id="56" name="文本框 55"/>
            <p:cNvSpPr txBox="1"/>
            <p:nvPr/>
          </p:nvSpPr>
          <p:spPr>
            <a:xfrm>
              <a:off x="1260" y="9280"/>
              <a:ext cx="529" cy="1114"/>
            </a:xfrm>
            <a:prstGeom prst="rect">
              <a:avLst/>
            </a:prstGeom>
            <a:noFill/>
          </p:spPr>
          <p:txBody>
            <a:bodyPr wrap="none" rtlCol="0">
              <a:noAutofit/>
            </a:bodyPr>
            <a:lstStyle/>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rPr>
                <a:t>资</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endParaRPr>
            </a:p>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rPr>
                <a:t>源</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endParaRPr>
            </a:p>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rPr>
                <a:t>层</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endParaRPr>
            </a:p>
          </p:txBody>
        </p:sp>
        <p:sp>
          <p:nvSpPr>
            <p:cNvPr id="57" name="文本框 56"/>
            <p:cNvSpPr txBox="1"/>
            <p:nvPr/>
          </p:nvSpPr>
          <p:spPr>
            <a:xfrm>
              <a:off x="1260" y="4722"/>
              <a:ext cx="529" cy="1114"/>
            </a:xfrm>
            <a:prstGeom prst="rect">
              <a:avLst/>
            </a:prstGeom>
            <a:noFill/>
          </p:spPr>
          <p:txBody>
            <a:bodyPr wrap="none" rtlCol="0">
              <a:noAutofit/>
            </a:bodyPr>
            <a:lstStyle/>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rPr>
                <a:t>服</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endParaRPr>
            </a:p>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rPr>
                <a:t>务</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endParaRPr>
            </a:p>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rPr>
                <a:t>层</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mn-ea"/>
              </a:endParaRPr>
            </a:p>
          </p:txBody>
        </p:sp>
        <p:sp>
          <p:nvSpPr>
            <p:cNvPr id="60" name="文本框 59"/>
            <p:cNvSpPr txBox="1"/>
            <p:nvPr/>
          </p:nvSpPr>
          <p:spPr>
            <a:xfrm>
              <a:off x="1257" y="7391"/>
              <a:ext cx="529" cy="1114"/>
            </a:xfrm>
            <a:prstGeom prst="rect">
              <a:avLst/>
            </a:prstGeom>
            <a:noFill/>
          </p:spPr>
          <p:txBody>
            <a:bodyPr wrap="none" rtlCol="0">
              <a:noAutofit/>
            </a:bodyPr>
            <a:lstStyle/>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微软雅黑" panose="020B0503020204020204" charset="-122"/>
                </a:rPr>
                <a:t>加</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微软雅黑" panose="020B0503020204020204" charset="-122"/>
              </a:endParaRPr>
            </a:p>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微软雅黑" panose="020B0503020204020204" charset="-122"/>
                </a:rPr>
                <a:t>工</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微软雅黑" panose="020B0503020204020204" charset="-122"/>
              </a:endParaRPr>
            </a:p>
            <a:p>
              <a:pPr lvl="0" algn="l">
                <a:spcBef>
                  <a:spcPts val="0"/>
                </a:spcBef>
                <a:spcAft>
                  <a:spcPts val="0"/>
                </a:spcAft>
                <a:buClrTx/>
                <a:buSzTx/>
                <a:buFontTx/>
                <a:defRPr/>
              </a:pPr>
              <a:r>
                <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微软雅黑" panose="020B0503020204020204" charset="-122"/>
                </a:rPr>
                <a:t>层</a:t>
              </a:r>
              <a:endParaRPr lang="zh-CN" altLang="en-US" sz="1200" b="1" noProof="0" dirty="0">
                <a:ln>
                  <a:noFill/>
                </a:ln>
                <a:solidFill>
                  <a:schemeClr val="accent1"/>
                </a:solidFill>
                <a:effectLst/>
                <a:uLnTx/>
                <a:uFillTx/>
                <a:latin typeface="微软雅黑" panose="020B0503020204020204" charset="-122"/>
                <a:ea typeface="微软雅黑" panose="020B0503020204020204" charset="-122"/>
                <a:cs typeface="+mn-ea"/>
                <a:sym typeface="微软雅黑" panose="020B0503020204020204" charset="-122"/>
              </a:endParaRPr>
            </a:p>
          </p:txBody>
        </p:sp>
        <p:sp>
          <p:nvSpPr>
            <p:cNvPr id="65" name="矩形 64"/>
            <p:cNvSpPr/>
            <p:nvPr/>
          </p:nvSpPr>
          <p:spPr>
            <a:xfrm>
              <a:off x="10502" y="9416"/>
              <a:ext cx="1739"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合同</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66" name="矩形: 圆角 40"/>
            <p:cNvSpPr/>
            <p:nvPr/>
          </p:nvSpPr>
          <p:spPr bwMode="auto">
            <a:xfrm>
              <a:off x="6306" y="7312"/>
              <a:ext cx="8012" cy="1374"/>
            </a:xfrm>
            <a:prstGeom prst="roundRect">
              <a:avLst>
                <a:gd name="adj" fmla="val 5461"/>
              </a:avLst>
            </a:prstGeom>
            <a:noFill/>
            <a:ln w="12700" cap="flat" cmpd="sng" algn="ctr">
              <a:solidFill>
                <a:srgbClr val="2A25FF"/>
              </a:solidFill>
              <a:prstDash val="dash"/>
              <a:round/>
              <a:headEnd type="none" w="med" len="med"/>
              <a:tailEnd type="none" w="med" len="med"/>
            </a:ln>
            <a:effectLst/>
          </p:spPr>
          <p:txBody>
            <a:bodyPr vert="horz" wrap="square" lIns="91440" tIns="45720" rIns="91440" bIns="45720" numCol="1" rtlCol="0" anchor="t" anchorCtr="0" compatLnSpc="1"/>
            <a:lstStyle/>
            <a:p>
              <a:pPr marL="457200" marR="0" lvl="1" indent="0" algn="ctr" defTabSz="914400" rtl="0" eaLnBrk="0" fontAlgn="base" latinLnBrk="0" hangingPunct="0">
                <a:lnSpc>
                  <a:spcPct val="100000"/>
                </a:lnSpc>
                <a:spcBef>
                  <a:spcPct val="0"/>
                </a:spcBef>
                <a:spcAft>
                  <a:spcPct val="0"/>
                </a:spcAft>
                <a:buClrTx/>
                <a:buSzTx/>
                <a:buFontTx/>
                <a:buNone/>
                <a:defRPr/>
              </a:pP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Light" panose="020B0502040204020203" pitchFamily="34" charset="-122"/>
              </a:endParaRPr>
            </a:p>
          </p:txBody>
        </p:sp>
        <p:sp>
          <p:nvSpPr>
            <p:cNvPr id="67" name="Bullet1"/>
            <p:cNvSpPr txBox="1"/>
            <p:nvPr/>
          </p:nvSpPr>
          <p:spPr>
            <a:xfrm>
              <a:off x="8756" y="7391"/>
              <a:ext cx="2916" cy="457"/>
            </a:xfrm>
            <a:prstGeom prst="rect">
              <a:avLst/>
            </a:prstGeom>
            <a:noFill/>
            <a:ln>
              <a:noFill/>
            </a:ln>
          </p:spPr>
          <p:txBody>
            <a:bodyPr wrap="square" lIns="91440" tIns="45720" rIns="91440" bIns="45720" anchor="ctr" anchorCtr="0">
              <a:normAutofit fontScale="67500" lnSpcReduction="20000"/>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rgbClr val="000000"/>
                  </a:solidFill>
                  <a:effectLst/>
                  <a:uLnTx/>
                  <a:uFillTx/>
                  <a:latin typeface="Arial" panose="020B0604020202090204" pitchFamily="34" charset="0"/>
                  <a:cs typeface="Arial" panose="020B060402020209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lnSpc>
                  <a:spcPct val="120000"/>
                </a:lnSpc>
              </a:pPr>
              <a:r>
                <a:rPr lang="zh-CN" altLang="en-US" sz="1600" dirty="0">
                  <a:latin typeface="微软雅黑" panose="020B0503020204020204" charset="-122"/>
                  <a:ea typeface="微软雅黑" panose="020B0503020204020204" charset="-122"/>
                  <a:cs typeface="微软雅黑" panose="020B0503020204020204" charset="-122"/>
                  <a:sym typeface="微软雅黑" panose="020B0503020204020204" charset="-122"/>
                </a:rPr>
                <a:t>知识</a:t>
              </a:r>
              <a:endParaRPr lang="zh-CN" altLang="en-US"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8" name="矩形 67"/>
            <p:cNvSpPr/>
            <p:nvPr/>
          </p:nvSpPr>
          <p:spPr>
            <a:xfrm>
              <a:off x="6630" y="7939"/>
              <a:ext cx="2222" cy="512"/>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rPr>
                <a:t>向量知识库</a:t>
              </a:r>
              <a:endPar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endParaRPr>
            </a:p>
          </p:txBody>
        </p:sp>
        <p:sp>
          <p:nvSpPr>
            <p:cNvPr id="69" name="矩形 68"/>
            <p:cNvSpPr/>
            <p:nvPr/>
          </p:nvSpPr>
          <p:spPr>
            <a:xfrm>
              <a:off x="8950" y="7939"/>
              <a:ext cx="2222" cy="512"/>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sym typeface="+mn-ea"/>
                </a:rPr>
                <a:t>语义知识图谱</a:t>
              </a:r>
              <a:endPar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sym typeface="+mn-ea"/>
              </a:endParaRPr>
            </a:p>
          </p:txBody>
        </p:sp>
        <p:sp>
          <p:nvSpPr>
            <p:cNvPr id="70" name="矩形 69"/>
            <p:cNvSpPr/>
            <p:nvPr/>
          </p:nvSpPr>
          <p:spPr>
            <a:xfrm>
              <a:off x="11331" y="7939"/>
              <a:ext cx="2712" cy="512"/>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rPr>
                <a:t>专题知识图谱</a:t>
              </a:r>
              <a:endPar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endParaRPr>
            </a:p>
          </p:txBody>
        </p:sp>
        <p:sp>
          <p:nvSpPr>
            <p:cNvPr id="71" name="矩形 70"/>
            <p:cNvSpPr/>
            <p:nvPr/>
          </p:nvSpPr>
          <p:spPr>
            <a:xfrm>
              <a:off x="15453" y="7312"/>
              <a:ext cx="2953" cy="1374"/>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rPr>
                <a:t>知识图谱</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Light" panose="020B0502040204020203" pitchFamily="34" charset="-122"/>
              </a:endParaRPr>
            </a:p>
          </p:txBody>
        </p:sp>
        <p:cxnSp>
          <p:nvCxnSpPr>
            <p:cNvPr id="72" name="直接箭头连接符 71"/>
            <p:cNvCxnSpPr>
              <a:stCxn id="66" idx="3"/>
              <a:endCxn id="71" idx="1"/>
            </p:cNvCxnSpPr>
            <p:nvPr/>
          </p:nvCxnSpPr>
          <p:spPr>
            <a:xfrm>
              <a:off x="14318" y="7999"/>
              <a:ext cx="1135" cy="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73" name="直接箭头连接符 72"/>
            <p:cNvCxnSpPr>
              <a:stCxn id="66" idx="1"/>
              <a:endCxn id="3" idx="3"/>
            </p:cNvCxnSpPr>
            <p:nvPr/>
          </p:nvCxnSpPr>
          <p:spPr>
            <a:xfrm flipH="1">
              <a:off x="5173" y="7999"/>
              <a:ext cx="1133" cy="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74" name="直接箭头连接符 73"/>
            <p:cNvCxnSpPr/>
            <p:nvPr/>
          </p:nvCxnSpPr>
          <p:spPr>
            <a:xfrm>
              <a:off x="7873" y="8675"/>
              <a:ext cx="0" cy="519"/>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75" name="直接箭头连接符 74"/>
            <p:cNvCxnSpPr/>
            <p:nvPr/>
          </p:nvCxnSpPr>
          <p:spPr>
            <a:xfrm>
              <a:off x="12705" y="8692"/>
              <a:ext cx="0" cy="539"/>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76" name="直接连接符 75"/>
            <p:cNvCxnSpPr/>
            <p:nvPr/>
          </p:nvCxnSpPr>
          <p:spPr>
            <a:xfrm>
              <a:off x="1045" y="8950"/>
              <a:ext cx="1639" cy="0"/>
            </a:xfrm>
            <a:prstGeom prst="line">
              <a:avLst/>
            </a:prstGeom>
            <a:ln w="12700">
              <a:solidFill>
                <a:srgbClr val="00237B"/>
              </a:solidFill>
              <a:prstDash val="lgDash"/>
            </a:ln>
          </p:spPr>
          <p:style>
            <a:lnRef idx="1">
              <a:srgbClr val="0046F6"/>
            </a:lnRef>
            <a:fillRef idx="0">
              <a:srgbClr val="0046F6"/>
            </a:fillRef>
            <a:effectRef idx="0">
              <a:srgbClr val="0046F6"/>
            </a:effectRef>
            <a:fontRef idx="minor">
              <a:srgbClr val="000000"/>
            </a:fontRef>
          </p:style>
        </p:cxnSp>
        <p:cxnSp>
          <p:nvCxnSpPr>
            <p:cNvPr id="77" name="直接连接符 76"/>
            <p:cNvCxnSpPr/>
            <p:nvPr/>
          </p:nvCxnSpPr>
          <p:spPr>
            <a:xfrm>
              <a:off x="1045" y="6930"/>
              <a:ext cx="1639" cy="0"/>
            </a:xfrm>
            <a:prstGeom prst="line">
              <a:avLst/>
            </a:prstGeom>
            <a:ln w="12700">
              <a:solidFill>
                <a:srgbClr val="00237B"/>
              </a:solidFill>
              <a:prstDash val="lgDash"/>
            </a:ln>
          </p:spPr>
          <p:style>
            <a:lnRef idx="1">
              <a:srgbClr val="0046F6"/>
            </a:lnRef>
            <a:fillRef idx="0">
              <a:srgbClr val="0046F6"/>
            </a:fillRef>
            <a:effectRef idx="0">
              <a:srgbClr val="0046F6"/>
            </a:effectRef>
            <a:fontRef idx="minor">
              <a:srgbClr val="000000"/>
            </a:fontRef>
          </p:style>
        </p:cxnSp>
        <p:sp>
          <p:nvSpPr>
            <p:cNvPr id="78" name="矩形 77"/>
            <p:cNvSpPr/>
            <p:nvPr/>
          </p:nvSpPr>
          <p:spPr>
            <a:xfrm>
              <a:off x="3136" y="4229"/>
              <a:ext cx="7649" cy="728"/>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API、MCP、Skills</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（能力逻辑</a:t>
              </a:r>
              <a:r>
                <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rPr>
                <a:t> + </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知识访问</a:t>
              </a:r>
              <a:r>
                <a:rPr kumimoji="1" lang="en-US" altLang="zh-CN" sz="1200" b="1" dirty="0">
                  <a:solidFill>
                    <a:srgbClr val="000000"/>
                  </a:solidFill>
                  <a:latin typeface="微软雅黑" panose="020B0503020204020204" charset="-122"/>
                  <a:ea typeface="微软雅黑" panose="020B0503020204020204" charset="-122"/>
                  <a:cs typeface="微软雅黑" panose="020B0503020204020204" charset="-122"/>
                </a:rPr>
                <a:t> + </a:t>
              </a:r>
              <a:r>
                <a:rPr kumimoji="1" lang="zh-CN" altLang="en-US" sz="1200" b="1" dirty="0">
                  <a:solidFill>
                    <a:srgbClr val="000000"/>
                  </a:solidFill>
                  <a:latin typeface="微软雅黑" panose="020B0503020204020204" charset="-122"/>
                  <a:ea typeface="微软雅黑" panose="020B0503020204020204" charset="-122"/>
                  <a:cs typeface="微软雅黑" panose="020B0503020204020204" charset="-122"/>
                </a:rPr>
                <a:t>知识增强）</a:t>
              </a:r>
              <a:endParaRPr kumimoji="1"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9" name="直接箭头连接符 78"/>
            <p:cNvCxnSpPr/>
            <p:nvPr/>
          </p:nvCxnSpPr>
          <p:spPr>
            <a:xfrm>
              <a:off x="7080" y="3307"/>
              <a:ext cx="0" cy="981"/>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80" name="直接箭头连接符 79"/>
            <p:cNvCxnSpPr>
              <a:stCxn id="66" idx="0"/>
            </p:cNvCxnSpPr>
            <p:nvPr/>
          </p:nvCxnSpPr>
          <p:spPr>
            <a:xfrm flipV="1">
              <a:off x="10312" y="6899"/>
              <a:ext cx="0" cy="413"/>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sp>
          <p:nvSpPr>
            <p:cNvPr id="81" name="矩形 80"/>
            <p:cNvSpPr/>
            <p:nvPr/>
          </p:nvSpPr>
          <p:spPr>
            <a:xfrm>
              <a:off x="3087" y="2641"/>
              <a:ext cx="13364" cy="728"/>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Agent</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a:t>
              </a:r>
              <a:r>
                <a:rPr kumimoji="1" lang="en-US" altLang="zh-CN" sz="1400" b="1" dirty="0">
                  <a:solidFill>
                    <a:srgbClr val="000000"/>
                  </a:solidFill>
                  <a:latin typeface="微软雅黑" panose="020B0503020204020204" charset="-122"/>
                  <a:ea typeface="微软雅黑" panose="020B0503020204020204" charset="-122"/>
                  <a:cs typeface="微软雅黑" panose="020B0503020204020204" charset="-122"/>
                </a:rPr>
                <a:t>Multi Agent Routing</a:t>
              </a:r>
              <a:r>
                <a:rPr kumimoji="1" lang="zh-CN" altLang="en-US" sz="1400" b="1" dirty="0">
                  <a:solidFill>
                    <a:srgbClr val="000000"/>
                  </a:solidFill>
                  <a:latin typeface="微软雅黑" panose="020B0503020204020204" charset="-122"/>
                  <a:ea typeface="微软雅黑" panose="020B0503020204020204" charset="-122"/>
                  <a:cs typeface="微软雅黑" panose="020B0503020204020204" charset="-122"/>
                </a:rPr>
                <a:t>）</a:t>
              </a:r>
              <a:endParaRPr kumimoji="1" lang="en-US" altLang="zh-CN"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2" name="矩形: 圆角 40"/>
            <p:cNvSpPr/>
            <p:nvPr/>
          </p:nvSpPr>
          <p:spPr bwMode="auto">
            <a:xfrm>
              <a:off x="11594" y="3889"/>
              <a:ext cx="6247" cy="1374"/>
            </a:xfrm>
            <a:prstGeom prst="roundRect">
              <a:avLst>
                <a:gd name="adj" fmla="val 5461"/>
              </a:avLst>
            </a:prstGeom>
            <a:noFill/>
            <a:ln w="12700" cap="flat" cmpd="sng" algn="ctr">
              <a:solidFill>
                <a:srgbClr val="2A25FF"/>
              </a:solidFill>
              <a:prstDash val="dash"/>
              <a:round/>
              <a:headEnd type="none" w="med" len="med"/>
              <a:tailEnd type="none" w="med" len="med"/>
            </a:ln>
            <a:effectLst/>
          </p:spPr>
          <p:txBody>
            <a:bodyPr vert="horz" wrap="square" lIns="91440" tIns="45720" rIns="91440" bIns="45720" numCol="1" rtlCol="0" anchor="t" anchorCtr="0" compatLnSpc="1"/>
            <a:lstStyle/>
            <a:p>
              <a:pPr marL="457200" marR="0" lvl="1" indent="0" algn="ctr" defTabSz="914400" rtl="0" eaLnBrk="0" fontAlgn="base" latinLnBrk="0" hangingPunct="0">
                <a:lnSpc>
                  <a:spcPct val="100000"/>
                </a:lnSpc>
                <a:spcBef>
                  <a:spcPct val="0"/>
                </a:spcBef>
                <a:spcAft>
                  <a:spcPct val="0"/>
                </a:spcAft>
                <a:buClrTx/>
                <a:buSzTx/>
                <a:buFontTx/>
                <a:buNone/>
                <a:defRPr/>
              </a:pP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Light" panose="020B0502040204020203" pitchFamily="34" charset="-122"/>
              </a:endParaRPr>
            </a:p>
          </p:txBody>
        </p:sp>
        <p:sp>
          <p:nvSpPr>
            <p:cNvPr id="83" name="Bullet1"/>
            <p:cNvSpPr txBox="1"/>
            <p:nvPr/>
          </p:nvSpPr>
          <p:spPr>
            <a:xfrm>
              <a:off x="13649" y="4001"/>
              <a:ext cx="2916" cy="457"/>
            </a:xfrm>
            <a:prstGeom prst="rect">
              <a:avLst/>
            </a:prstGeom>
            <a:noFill/>
            <a:ln>
              <a:noFill/>
            </a:ln>
          </p:spPr>
          <p:txBody>
            <a:bodyPr wrap="square" lIns="91440" tIns="45720" rIns="91440" bIns="45720" anchor="ctr" anchorCtr="0">
              <a:normAutofit fontScale="67500" lnSpcReduction="20000"/>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rgbClr val="000000"/>
                  </a:solidFill>
                  <a:effectLst/>
                  <a:uLnTx/>
                  <a:uFillTx/>
                  <a:latin typeface="Arial" panose="020B0604020202090204" pitchFamily="34" charset="0"/>
                  <a:cs typeface="Arial" panose="020B0604020202090204" pitchFamily="34" charset="0"/>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vl6pPr>
                <a:defRPr>
                  <a:solidFill>
                    <a:srgbClr val="000000"/>
                  </a:solidFill>
                </a:defRPr>
              </a:lvl6pPr>
              <a:lvl7pPr>
                <a:defRPr>
                  <a:solidFill>
                    <a:srgbClr val="000000"/>
                  </a:solidFill>
                </a:defRPr>
              </a:lvl7pPr>
              <a:lvl8pPr>
                <a:defRPr>
                  <a:solidFill>
                    <a:srgbClr val="000000"/>
                  </a:solidFill>
                </a:defRPr>
              </a:lvl8pPr>
              <a:lvl9pPr>
                <a:defRPr>
                  <a:solidFill>
                    <a:srgbClr val="000000"/>
                  </a:solidFill>
                </a:defRPr>
              </a:lvl9pPr>
            </a:lstStyle>
            <a:p>
              <a:pPr algn="ctr">
                <a:lnSpc>
                  <a:spcPct val="120000"/>
                </a:lnSpc>
              </a:pPr>
              <a:r>
                <a:rPr lang="zh-CN" altLang="de-DE" sz="1600" dirty="0">
                  <a:latin typeface="微软雅黑" panose="020B0503020204020204" charset="-122"/>
                  <a:ea typeface="微软雅黑" panose="020B0503020204020204" charset="-122"/>
                  <a:cs typeface="微软雅黑" panose="020B0503020204020204" charset="-122"/>
                  <a:sym typeface="微软雅黑" panose="020B0503020204020204" charset="-122"/>
                </a:rPr>
                <a:t>工具</a:t>
              </a:r>
              <a:endParaRPr lang="zh-CN" altLang="de-DE"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4" name="矩形 83"/>
            <p:cNvSpPr/>
            <p:nvPr/>
          </p:nvSpPr>
          <p:spPr>
            <a:xfrm>
              <a:off x="11656" y="4549"/>
              <a:ext cx="1640" cy="512"/>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dirty="0">
                  <a:solidFill>
                    <a:srgbClr val="000000"/>
                  </a:solidFill>
                  <a:latin typeface="微软雅黑" panose="020B0503020204020204" charset="-122"/>
                  <a:ea typeface="微软雅黑" panose="020B0503020204020204" charset="-122"/>
                  <a:cs typeface="微软雅黑 Light" panose="020B0502040204020203" pitchFamily="34" charset="-122"/>
                </a:rPr>
                <a:t>Bash</a:t>
              </a:r>
              <a:endParaRPr kumimoji="1" lang="en-US" altLang="zh-CN" sz="1400" b="1" dirty="0">
                <a:solidFill>
                  <a:srgbClr val="000000"/>
                </a:solidFill>
                <a:latin typeface="微软雅黑" panose="020B0503020204020204" charset="-122"/>
                <a:ea typeface="微软雅黑" panose="020B0503020204020204" charset="-122"/>
                <a:cs typeface="微软雅黑 Light" panose="020B0502040204020203" pitchFamily="34" charset="-122"/>
              </a:endParaRPr>
            </a:p>
          </p:txBody>
        </p:sp>
        <p:sp>
          <p:nvSpPr>
            <p:cNvPr id="85" name="矩形 84"/>
            <p:cNvSpPr/>
            <p:nvPr/>
          </p:nvSpPr>
          <p:spPr>
            <a:xfrm>
              <a:off x="13616" y="4549"/>
              <a:ext cx="1734" cy="512"/>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rPr>
                <a:t>沙箱环境</a:t>
              </a:r>
              <a:endParaRPr kumimoji="1" lang="zh-CN" altLang="en-US" sz="1400" b="1" dirty="0">
                <a:solidFill>
                  <a:srgbClr val="000000"/>
                </a:solidFill>
                <a:latin typeface="微软雅黑" panose="020B0503020204020204" charset="-122"/>
                <a:ea typeface="微软雅黑" panose="020B0503020204020204" charset="-122"/>
                <a:cs typeface="微软雅黑 Light" panose="020B0502040204020203" pitchFamily="34" charset="-122"/>
              </a:endParaRPr>
            </a:p>
          </p:txBody>
        </p:sp>
        <p:sp>
          <p:nvSpPr>
            <p:cNvPr id="87" name="矩形 86"/>
            <p:cNvSpPr/>
            <p:nvPr/>
          </p:nvSpPr>
          <p:spPr>
            <a:xfrm>
              <a:off x="15715" y="4549"/>
              <a:ext cx="1918" cy="512"/>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dirty="0">
                  <a:solidFill>
                    <a:srgbClr val="000000"/>
                  </a:solidFill>
                  <a:latin typeface="微软雅黑" panose="020B0503020204020204" charset="-122"/>
                  <a:ea typeface="微软雅黑" panose="020B0503020204020204" charset="-122"/>
                  <a:cs typeface="微软雅黑 Light" panose="020B0502040204020203" pitchFamily="34" charset="-122"/>
                </a:rPr>
                <a:t>...</a:t>
              </a:r>
              <a:endParaRPr kumimoji="1" lang="en-US" altLang="zh-CN" sz="1400" b="1" dirty="0">
                <a:solidFill>
                  <a:srgbClr val="000000"/>
                </a:solidFill>
                <a:latin typeface="微软雅黑" panose="020B0503020204020204" charset="-122"/>
                <a:ea typeface="微软雅黑" panose="020B0503020204020204" charset="-122"/>
                <a:cs typeface="微软雅黑 Light" panose="020B0502040204020203" pitchFamily="34" charset="-122"/>
              </a:endParaRPr>
            </a:p>
          </p:txBody>
        </p:sp>
        <p:cxnSp>
          <p:nvCxnSpPr>
            <p:cNvPr id="88" name="直接箭头连接符 87"/>
            <p:cNvCxnSpPr>
              <a:stCxn id="82" idx="1"/>
              <a:endCxn id="78" idx="3"/>
            </p:cNvCxnSpPr>
            <p:nvPr/>
          </p:nvCxnSpPr>
          <p:spPr>
            <a:xfrm flipH="1">
              <a:off x="10785" y="4576"/>
              <a:ext cx="809" cy="17"/>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sp>
          <p:nvSpPr>
            <p:cNvPr id="89" name="文本框 88"/>
            <p:cNvSpPr txBox="1"/>
            <p:nvPr/>
          </p:nvSpPr>
          <p:spPr>
            <a:xfrm>
              <a:off x="1257" y="2419"/>
              <a:ext cx="536" cy="949"/>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ea"/>
                </a:rPr>
                <a:t>应</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ea"/>
                </a:rPr>
                <a:t>用</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ea"/>
                </a:rPr>
                <a:t>层</a:t>
              </a:r>
              <a:endParaRPr kumimoji="0" lang="zh-CN" altLang="en-US" sz="12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mn-ea"/>
              </a:endParaRPr>
            </a:p>
          </p:txBody>
        </p:sp>
        <p:cxnSp>
          <p:nvCxnSpPr>
            <p:cNvPr id="90" name="直接箭头连接符 89"/>
            <p:cNvCxnSpPr>
              <a:stCxn id="78" idx="2"/>
            </p:cNvCxnSpPr>
            <p:nvPr/>
          </p:nvCxnSpPr>
          <p:spPr>
            <a:xfrm>
              <a:off x="6961" y="4957"/>
              <a:ext cx="0" cy="812"/>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grpSp>
          <p:nvGrpSpPr>
            <p:cNvPr id="92" name="组合 91"/>
            <p:cNvGrpSpPr/>
            <p:nvPr/>
          </p:nvGrpSpPr>
          <p:grpSpPr>
            <a:xfrm>
              <a:off x="2260" y="9416"/>
              <a:ext cx="7609" cy="487"/>
              <a:chOff x="2260" y="9340"/>
              <a:chExt cx="7217" cy="487"/>
            </a:xfrm>
          </p:grpSpPr>
          <p:sp>
            <p:nvSpPr>
              <p:cNvPr id="61" name="矩形 60"/>
              <p:cNvSpPr/>
              <p:nvPr/>
            </p:nvSpPr>
            <p:spPr>
              <a:xfrm>
                <a:off x="2260" y="9341"/>
                <a:ext cx="1138"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制度</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62" name="矩形 61"/>
              <p:cNvSpPr/>
              <p:nvPr/>
            </p:nvSpPr>
            <p:spPr>
              <a:xfrm>
                <a:off x="3469" y="9340"/>
                <a:ext cx="1138"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规范</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63" name="矩形 62"/>
              <p:cNvSpPr/>
              <p:nvPr/>
            </p:nvSpPr>
            <p:spPr>
              <a:xfrm>
                <a:off x="4688" y="9340"/>
                <a:ext cx="1138"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手册</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64" name="矩形 63"/>
              <p:cNvSpPr/>
              <p:nvPr/>
            </p:nvSpPr>
            <p:spPr>
              <a:xfrm>
                <a:off x="5885" y="9340"/>
                <a:ext cx="1734"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rPr>
                  <a:t>指引</a:t>
                </a:r>
                <a:endParaRPr kumimoji="1" lang="zh-CN" altLang="en-US" sz="14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ea"/>
                </a:endParaRPr>
              </a:p>
            </p:txBody>
          </p:sp>
          <p:sp>
            <p:nvSpPr>
              <p:cNvPr id="91" name="矩形 90"/>
              <p:cNvSpPr/>
              <p:nvPr/>
            </p:nvSpPr>
            <p:spPr>
              <a:xfrm>
                <a:off x="7743" y="9341"/>
                <a:ext cx="1734" cy="486"/>
              </a:xfrm>
              <a:prstGeom prst="rect">
                <a:avLst/>
              </a:prstGeom>
              <a:solidFill>
                <a:srgbClr val="1F71FF">
                  <a:lumMod val="20000"/>
                  <a:lumOff val="80000"/>
                </a:srgbClr>
              </a:solidFill>
              <a:ln>
                <a:noFill/>
              </a:ln>
            </p:spPr>
            <p:style>
              <a:lnRef idx="2">
                <a:srgbClr val="0046F6">
                  <a:shade val="15000"/>
                </a:srgbClr>
              </a:lnRef>
              <a:fillRef idx="1">
                <a:srgbClr val="0046F6"/>
              </a:fillRef>
              <a:effectRef idx="0">
                <a:srgbClr val="0046F6"/>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微软雅黑" panose="020B0503020204020204" charset="-122"/>
                  </a:rPr>
                  <a:t>……</a:t>
                </a:r>
                <a:endParaRPr kumimoji="1" lang="zh-CN" altLang="en-US" sz="14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微软雅黑" panose="020B0503020204020204" charset="-122"/>
                </a:endParaRPr>
              </a:p>
            </p:txBody>
          </p:sp>
        </p:grpSp>
      </p:grpSp>
      <p:sp>
        <p:nvSpPr>
          <p:cNvPr id="48" name="文本占位符 1"/>
          <p:cNvSpPr>
            <a:spLocks noGrp="1"/>
          </p:cNvSpPr>
          <p:nvPr/>
        </p:nvSpPr>
        <p:spPr>
          <a:xfrm>
            <a:off x="321310" y="922020"/>
            <a:ext cx="11470005" cy="1002665"/>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服务层基于加工层图向量混合索引能力，</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依托</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SKILL</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能力封装、</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MCP/API</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标准化协议等</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Agent</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原生技术，实现金融知识服务的标准化封装、自动化编排、场景化输出，打通知识底座与前端业务系统的壁垒，</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实现知识按需生成、智能供给。</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2.4.1 </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混合</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索引--文档对象索引 + 文档内容索引</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6" name="AutoShape 6"/>
          <p:cNvSpPr/>
          <p:nvPr/>
        </p:nvSpPr>
        <p:spPr>
          <a:xfrm>
            <a:off x="508000" y="2322830"/>
            <a:ext cx="5461000" cy="457200"/>
          </a:xfrm>
          <a:prstGeom prst="roundRect">
            <a:avLst>
              <a:gd name="adj" fmla="val 0"/>
            </a:avLst>
          </a:prstGeom>
          <a:solidFill>
            <a:srgbClr val="2F74B6"/>
          </a:solidFill>
          <a:ln>
            <a:noFill/>
          </a:ln>
        </p:spPr>
        <p:style>
          <a:lnRef idx="0">
            <a:srgbClr val="FFFFFF"/>
          </a:lnRef>
          <a:fillRef idx="1">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7" name="AutoShape 7"/>
          <p:cNvSpPr/>
          <p:nvPr/>
        </p:nvSpPr>
        <p:spPr>
          <a:xfrm>
            <a:off x="635000" y="2399030"/>
            <a:ext cx="520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文档对象索引 · 统一语义</a:t>
            </a:r>
            <a:r>
              <a:rPr lang="zh-CN" alt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图索引</a:t>
            </a:r>
            <a:endPar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8" name="AutoShape 8"/>
          <p:cNvSpPr/>
          <p:nvPr/>
        </p:nvSpPr>
        <p:spPr>
          <a:xfrm>
            <a:off x="508000" y="2780030"/>
            <a:ext cx="5461000" cy="298450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9" name="AutoShape 9"/>
          <p:cNvSpPr/>
          <p:nvPr/>
        </p:nvSpPr>
        <p:spPr>
          <a:xfrm>
            <a:off x="660400" y="2932430"/>
            <a:ext cx="51562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01 索引对象：全量文档资产纳管</a:t>
            </a:r>
            <a:endParaRPr lang="en-US" sz="1200">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覆盖类实体文档（制度/规范/手册/指引）与明细实体文档</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生成的知识图谱</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（合同/司法/财报/报告），实现资产全域覆盖。</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 name="AutoShape 10"/>
          <p:cNvSpPr/>
          <p:nvPr/>
        </p:nvSpPr>
        <p:spPr>
          <a:xfrm>
            <a:off x="660400" y="3783330"/>
            <a:ext cx="51562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02 索引结构：统一语义</a:t>
            </a: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图</a:t>
            </a: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谱</a:t>
            </a:r>
            <a:endParaRPr lang="en-US" sz="1200">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构建文档对象和专题内容图谱对象级索引，作为检索第一层粗召回索引，通过</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Query </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语义解析快速定位文档集合、专题知识图谱，缩小检索空间。</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1" name="AutoShape 11"/>
          <p:cNvSpPr/>
          <p:nvPr/>
        </p:nvSpPr>
        <p:spPr>
          <a:xfrm>
            <a:off x="660400" y="4481830"/>
            <a:ext cx="203200" cy="203200"/>
          </a:xfrm>
          <a:prstGeom prst="ellipse">
            <a:avLst/>
          </a:prstGeom>
          <a:solidFill>
            <a:srgbClr val="2F74B6"/>
          </a:solidFill>
          <a:ln>
            <a:noFill/>
          </a:ln>
        </p:spPr>
        <p:style>
          <a:lnRef idx="0">
            <a:srgbClr val="FFFFFF"/>
          </a:lnRef>
          <a:fillRef idx="1">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2" name="AutoShape 12"/>
          <p:cNvSpPr/>
          <p:nvPr/>
        </p:nvSpPr>
        <p:spPr>
          <a:xfrm>
            <a:off x="914400" y="4481830"/>
            <a:ext cx="762000"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文档节点</a:t>
            </a:r>
            <a:endPar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3" name="AutoShape 13"/>
          <p:cNvSpPr/>
          <p:nvPr/>
        </p:nvSpPr>
        <p:spPr>
          <a:xfrm>
            <a:off x="1778000" y="4481830"/>
            <a:ext cx="203200" cy="203200"/>
          </a:xfrm>
          <a:prstGeom prst="ellipse">
            <a:avLst/>
          </a:prstGeom>
          <a:solidFill>
            <a:srgbClr val="2F74B6"/>
          </a:solidFill>
          <a:ln>
            <a:noFill/>
          </a:ln>
        </p:spPr>
        <p:style>
          <a:lnRef idx="0">
            <a:srgbClr val="FFFFFF"/>
          </a:lnRef>
          <a:fillRef idx="1">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4" name="AutoShape 14"/>
          <p:cNvSpPr/>
          <p:nvPr/>
        </p:nvSpPr>
        <p:spPr>
          <a:xfrm>
            <a:off x="2032000" y="4481830"/>
            <a:ext cx="1377315" cy="203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专题知识图谱节点</a:t>
            </a:r>
            <a:endParaRPr lang="zh-CN" alt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7" name="AutoShape 17"/>
          <p:cNvSpPr/>
          <p:nvPr/>
        </p:nvSpPr>
        <p:spPr>
          <a:xfrm>
            <a:off x="660400" y="5116830"/>
            <a:ext cx="1206500" cy="27940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18" name="AutoShape 18"/>
          <p:cNvSpPr/>
          <p:nvPr/>
        </p:nvSpPr>
        <p:spPr>
          <a:xfrm>
            <a:off x="660400" y="511683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业务场景</a:t>
            </a:r>
            <a:endPar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9" name="AutoShape 19"/>
          <p:cNvSpPr/>
          <p:nvPr/>
        </p:nvSpPr>
        <p:spPr>
          <a:xfrm>
            <a:off x="1943100" y="5116830"/>
            <a:ext cx="1206500" cy="27940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20" name="AutoShape 20"/>
          <p:cNvSpPr/>
          <p:nvPr/>
        </p:nvSpPr>
        <p:spPr>
          <a:xfrm>
            <a:off x="1943100" y="511683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业务活动</a:t>
            </a:r>
            <a:endPar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1" name="AutoShape 21"/>
          <p:cNvSpPr/>
          <p:nvPr/>
        </p:nvSpPr>
        <p:spPr>
          <a:xfrm>
            <a:off x="3225800" y="5116830"/>
            <a:ext cx="1206500" cy="27940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22" name="AutoShape 22"/>
          <p:cNvSpPr/>
          <p:nvPr/>
        </p:nvSpPr>
        <p:spPr>
          <a:xfrm>
            <a:off x="3225800" y="511683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业务对象</a:t>
            </a:r>
            <a:endPar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3" name="AutoShape 23"/>
          <p:cNvSpPr/>
          <p:nvPr/>
        </p:nvSpPr>
        <p:spPr>
          <a:xfrm>
            <a:off x="4508500" y="5116830"/>
            <a:ext cx="1206500" cy="27940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24" name="AutoShape 24"/>
          <p:cNvSpPr/>
          <p:nvPr/>
        </p:nvSpPr>
        <p:spPr>
          <a:xfrm>
            <a:off x="4508500" y="5116830"/>
            <a:ext cx="1206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业务术语</a:t>
            </a:r>
            <a:endPar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5" name="AutoShape 25"/>
          <p:cNvSpPr/>
          <p:nvPr/>
        </p:nvSpPr>
        <p:spPr>
          <a:xfrm>
            <a:off x="508000" y="5878830"/>
            <a:ext cx="5461000" cy="698500"/>
          </a:xfrm>
          <a:prstGeom prst="roundRect">
            <a:avLst>
              <a:gd name="adj" fmla="val 0"/>
            </a:avLst>
          </a:prstGeom>
          <a:solidFill>
            <a:srgbClr val="E8F3FF"/>
          </a:solidFill>
          <a:ln w="25400" cap="flat" cmpd="sng">
            <a:noFill/>
            <a:prstDash val="solid"/>
            <a:round/>
          </a:ln>
        </p:spPr>
        <p:txBody>
          <a:bodyPr vert="horz" wrap="square" lIns="63500" tIns="63500" rIns="63500" bIns="63500" rtlCol="0" anchor="ctr">
            <a:noAutofit/>
          </a:bodyPr>
          <a:lstStyle/>
          <a:p>
            <a:pPr lvl="0" algn="ctr">
              <a:buClrTx/>
              <a:buSzTx/>
              <a:buFontTx/>
              <a:defRPr/>
            </a:pPr>
            <a:endParaRPr sz="1200">
              <a:latin typeface="微软雅黑" panose="020B0503020204020204" charset="-122"/>
              <a:ea typeface="微软雅黑" panose="020B0503020204020204" charset="-122"/>
              <a:sym typeface="+mn-ea"/>
            </a:endParaRPr>
          </a:p>
        </p:txBody>
      </p:sp>
      <p:sp>
        <p:nvSpPr>
          <p:cNvPr id="26" name="AutoShape 26"/>
          <p:cNvSpPr/>
          <p:nvPr/>
        </p:nvSpPr>
        <p:spPr>
          <a:xfrm>
            <a:off x="635000" y="5967730"/>
            <a:ext cx="5207000" cy="571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08000"/>
              </a:lnSpc>
              <a:buClrTx/>
              <a:buSzTx/>
              <a:buFontTx/>
              <a:defRPr/>
            </a:pPr>
            <a:r>
              <a:rPr lang="en-US" sz="12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核心定位：解决“文档、图谱在哪里”的问题，实现文档、图谱资产的宏观管理与语义关联，为上层应用提供可靠的资产定位基础。</a:t>
            </a:r>
            <a:endParaRPr lang="en-US" sz="12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7" name="AutoShape 27"/>
          <p:cNvSpPr/>
          <p:nvPr/>
        </p:nvSpPr>
        <p:spPr>
          <a:xfrm>
            <a:off x="6223000" y="2322830"/>
            <a:ext cx="5461000" cy="457200"/>
          </a:xfrm>
          <a:prstGeom prst="roundRect">
            <a:avLst>
              <a:gd name="adj" fmla="val 0"/>
            </a:avLst>
          </a:prstGeom>
          <a:solidFill>
            <a:srgbClr val="2F74B6"/>
          </a:solidFill>
          <a:ln>
            <a:noFill/>
          </a:ln>
        </p:spPr>
        <p:style>
          <a:lnRef idx="0">
            <a:srgbClr val="FFFFFF"/>
          </a:lnRef>
          <a:fillRef idx="1">
            <a:schemeClr val="accent1"/>
          </a:fillRef>
          <a:effectRef idx="0">
            <a:srgbClr val="FFFFFF"/>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28" name="AutoShape 28"/>
          <p:cNvSpPr/>
          <p:nvPr/>
        </p:nvSpPr>
        <p:spPr>
          <a:xfrm>
            <a:off x="6350000" y="2399030"/>
            <a:ext cx="520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文档内容索引（</a:t>
            </a:r>
            <a:r>
              <a:rPr lang="zh-CN" alt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向量 + 专题</a:t>
            </a:r>
            <a:r>
              <a:rPr lang="zh-CN" alt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内容</a:t>
            </a:r>
            <a:r>
              <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图谱）</a:t>
            </a:r>
            <a:endParaRPr lang="en-US" sz="12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9" name="AutoShape 29"/>
          <p:cNvSpPr/>
          <p:nvPr/>
        </p:nvSpPr>
        <p:spPr>
          <a:xfrm>
            <a:off x="6223000" y="2780030"/>
            <a:ext cx="5461000" cy="2984500"/>
          </a:xfrm>
          <a:prstGeom prst="roundRect">
            <a:avLst>
              <a:gd name="adj" fmla="val 0"/>
            </a:avLst>
          </a:prstGeom>
          <a:solidFill>
            <a:srgbClr val="FFFFFF">
              <a:alpha val="100000"/>
            </a:srgbClr>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30" name="AutoShape 30"/>
          <p:cNvSpPr/>
          <p:nvPr/>
        </p:nvSpPr>
        <p:spPr>
          <a:xfrm>
            <a:off x="6375400" y="2932430"/>
            <a:ext cx="5156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A. </a:t>
            </a:r>
            <a:r>
              <a:rPr lang="zh-CN" alt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向量索引：基于LLM的深度语义理解</a:t>
            </a:r>
            <a:endParaRPr lang="en-US" sz="1200">
              <a:solidFill>
                <a:schemeClr val="accent1"/>
              </a:solidFill>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利用大模型将文本转化为高维向量，捕捉语义内涵，支持跨语言、跨表述的模糊查询与相似度检索，精准匹配用户意图，</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结合关键词检索进行</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rerank</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重排</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1" name="AutoShape 31"/>
          <p:cNvSpPr/>
          <p:nvPr/>
        </p:nvSpPr>
        <p:spPr>
          <a:xfrm>
            <a:off x="6375400" y="3884930"/>
            <a:ext cx="1016000" cy="25400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32" name="AutoShape 32"/>
          <p:cNvSpPr/>
          <p:nvPr/>
        </p:nvSpPr>
        <p:spPr>
          <a:xfrm>
            <a:off x="6375400" y="3884930"/>
            <a:ext cx="101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相似度检索</a:t>
            </a:r>
            <a:endPar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3" name="AutoShape 33"/>
          <p:cNvSpPr/>
          <p:nvPr/>
        </p:nvSpPr>
        <p:spPr>
          <a:xfrm>
            <a:off x="7518400" y="3884930"/>
            <a:ext cx="1016000" cy="25400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34" name="AutoShape 34"/>
          <p:cNvSpPr/>
          <p:nvPr/>
        </p:nvSpPr>
        <p:spPr>
          <a:xfrm>
            <a:off x="7518400" y="3884930"/>
            <a:ext cx="101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关键词检索</a:t>
            </a:r>
            <a:endPar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5" name="AutoShape 35"/>
          <p:cNvSpPr/>
          <p:nvPr/>
        </p:nvSpPr>
        <p:spPr>
          <a:xfrm>
            <a:off x="8661400" y="3884930"/>
            <a:ext cx="1016000" cy="25400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36" name="AutoShape 36"/>
          <p:cNvSpPr/>
          <p:nvPr/>
        </p:nvSpPr>
        <p:spPr>
          <a:xfrm>
            <a:off x="8661400" y="3884930"/>
            <a:ext cx="10160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重排召回</a:t>
            </a:r>
            <a:endParaRPr lang="zh-CN" altLang="en-US" sz="1200" b="0"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37" name="Connector 37"/>
          <p:cNvCxnSpPr/>
          <p:nvPr/>
        </p:nvCxnSpPr>
        <p:spPr>
          <a:xfrm rot="-8467">
            <a:off x="6375408" y="4284980"/>
            <a:ext cx="5156200" cy="12700"/>
          </a:xfrm>
          <a:prstGeom prst="straightConnector1">
            <a:avLst/>
          </a:prstGeom>
          <a:solidFill>
            <a:srgbClr val="DEE0E3">
              <a:alpha val="100000"/>
            </a:srgbClr>
          </a:solidFill>
          <a:ln w="12700" cap="flat" cmpd="sng">
            <a:solidFill>
              <a:srgbClr val="E8F3FF">
                <a:alpha val="100000"/>
              </a:srgbClr>
            </a:solidFill>
            <a:prstDash val="solid"/>
            <a:round/>
            <a:headEnd type="none" w="med" len="med"/>
            <a:tailEnd type="none" w="med" len="med"/>
          </a:ln>
        </p:spPr>
      </p:cxnSp>
      <p:sp>
        <p:nvSpPr>
          <p:cNvPr id="38" name="AutoShape 38"/>
          <p:cNvSpPr/>
          <p:nvPr/>
        </p:nvSpPr>
        <p:spPr>
          <a:xfrm>
            <a:off x="6375400" y="4418330"/>
            <a:ext cx="5156200" cy="762000"/>
          </a:xfrm>
          <a:prstGeom prst="rect">
            <a:avLst/>
          </a:prstGeom>
          <a:noFill/>
          <a:ln w="12700" cap="flat" cmpd="sng">
            <a:noFill/>
            <a:prstDash val="solid"/>
            <a:round/>
          </a:ln>
        </p:spPr>
        <p:txBody>
          <a:bodyPr vert="horz" wrap="square" lIns="0" tIns="0" rIns="0" bIns="0" rtlCol="0" anchor="ctr" anchorCtr="0"/>
          <a:lstStyle/>
          <a:p>
            <a:pPr marL="0" algn="l">
              <a:lnSpc>
                <a:spcPct val="108000"/>
              </a:lnSpc>
              <a:buClrTx/>
              <a:buSzTx/>
              <a:buFontTx/>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B. 专题知识图谱：业务场景的</a:t>
            </a:r>
            <a:r>
              <a:rPr lang="zh-CN" alt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图谱内容检索</a:t>
            </a:r>
            <a:endParaRPr lang="en-US" sz="1200" b="1">
              <a:solidFill>
                <a:schemeClr val="accent1"/>
              </a:solidFill>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针对</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合同</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司法诉讼</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等</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类实体文档</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的专题知识内容</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图谱，支持多跳推理、要素定位与</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内容精准召回</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，实现深度的业务关联分析。</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9" name="AutoShape 39"/>
          <p:cNvSpPr/>
          <p:nvPr/>
        </p:nvSpPr>
        <p:spPr>
          <a:xfrm>
            <a:off x="6375400" y="5243830"/>
            <a:ext cx="1016000" cy="254000"/>
          </a:xfrm>
          <a:prstGeom prst="roundRect">
            <a:avLst>
              <a:gd name="adj" fmla="val 0"/>
            </a:avLst>
          </a:prstGeom>
          <a:solidFill>
            <a:srgbClr val="F6FFED">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40" name="AutoShape 40"/>
          <p:cNvSpPr/>
          <p:nvPr/>
        </p:nvSpPr>
        <p:spPr>
          <a:xfrm>
            <a:off x="6375400" y="5243830"/>
            <a:ext cx="1016000" cy="254000"/>
          </a:xfrm>
          <a:prstGeom prst="rect">
            <a:avLst/>
          </a:prstGeom>
          <a:solidFill>
            <a:srgbClr val="E8F3FF"/>
          </a:solidFill>
          <a:ln w="12700" cap="flat" cmpd="sng">
            <a:noFill/>
            <a:prstDash val="solid"/>
            <a:round/>
          </a:ln>
        </p:spPr>
        <p:txBody>
          <a:bodyPr vert="horz" wrap="square" lIns="0" tIns="0" rIns="0" bIns="0" rtlCol="0" anchor="ctr" anchorCtr="0">
            <a:noAutofit/>
          </a:bodyPr>
          <a:lstStyle/>
          <a:p>
            <a:pPr lvl="0" algn="ctr">
              <a:lnSpc>
                <a:spcPct val="125000"/>
              </a:lnSpc>
              <a:buClrTx/>
              <a:buSzTx/>
              <a:buFontTx/>
              <a:defRPr/>
            </a:pPr>
            <a:r>
              <a:rPr lang="zh-CN" altLang="en-US" sz="1200">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实体精准查询</a:t>
            </a:r>
            <a:endParaRPr lang="zh-CN" altLang="en-US" sz="1200">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1" name="AutoShape 41"/>
          <p:cNvSpPr/>
          <p:nvPr/>
        </p:nvSpPr>
        <p:spPr>
          <a:xfrm>
            <a:off x="7518400" y="5243830"/>
            <a:ext cx="1016000" cy="254000"/>
          </a:xfrm>
          <a:prstGeom prst="roundRect">
            <a:avLst>
              <a:gd name="adj" fmla="val 0"/>
            </a:avLst>
          </a:prstGeom>
          <a:solidFill>
            <a:srgbClr val="F6FFED">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42" name="AutoShape 42"/>
          <p:cNvSpPr/>
          <p:nvPr/>
        </p:nvSpPr>
        <p:spPr>
          <a:xfrm>
            <a:off x="7518400" y="5243830"/>
            <a:ext cx="1016000" cy="254000"/>
          </a:xfrm>
          <a:prstGeom prst="rect">
            <a:avLst/>
          </a:prstGeom>
          <a:solidFill>
            <a:srgbClr val="E8F3FF"/>
          </a:solidFill>
          <a:ln w="12700" cap="flat" cmpd="sng">
            <a:noFill/>
            <a:prstDash val="solid"/>
            <a:round/>
          </a:ln>
        </p:spPr>
        <p:txBody>
          <a:bodyPr vert="horz" wrap="square" lIns="0" tIns="0" rIns="0" bIns="0" rtlCol="0" anchor="ctr" anchorCtr="0">
            <a:noAutofit/>
          </a:bodyPr>
          <a:lstStyle/>
          <a:p>
            <a:pPr lvl="0" algn="ctr">
              <a:lnSpc>
                <a:spcPct val="125000"/>
              </a:lnSpc>
              <a:buClrTx/>
              <a:buSzTx/>
              <a:buFontTx/>
              <a:defRPr/>
            </a:pPr>
            <a:r>
              <a:rPr lang="zh-CN" altLang="en-US" sz="1200">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关联路径查询</a:t>
            </a:r>
            <a:endParaRPr lang="zh-CN" altLang="en-US" sz="1200">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3" name="AutoShape 43"/>
          <p:cNvSpPr/>
          <p:nvPr/>
        </p:nvSpPr>
        <p:spPr>
          <a:xfrm>
            <a:off x="8661400" y="5243830"/>
            <a:ext cx="1016000" cy="254000"/>
          </a:xfrm>
          <a:prstGeom prst="roundRect">
            <a:avLst>
              <a:gd name="adj" fmla="val 0"/>
            </a:avLst>
          </a:prstGeom>
          <a:solidFill>
            <a:srgbClr val="F6FFED">
              <a:alpha val="100000"/>
            </a:srgbClr>
          </a:solidFill>
          <a:ln w="25400" cap="flat" cmpd="sng">
            <a:noFill/>
            <a:prstDash val="solid"/>
            <a:round/>
          </a:ln>
        </p:spPr>
        <p:txBody>
          <a:bodyPr vert="horz" wrap="square" lIns="63500" tIns="63500" rIns="63500" bIns="63500" rtlCol="0" anchor="ctr"/>
          <a:lstStyle/>
          <a:p>
            <a:pPr algn="ctr">
              <a:defRPr/>
            </a:pPr>
            <a:endParaRPr sz="1200">
              <a:solidFill>
                <a:schemeClr val="accent1"/>
              </a:solidFill>
              <a:latin typeface="微软雅黑" panose="020B0503020204020204" charset="-122"/>
              <a:ea typeface="微软雅黑" panose="020B0503020204020204" charset="-122"/>
            </a:endParaRPr>
          </a:p>
        </p:txBody>
      </p:sp>
      <p:sp>
        <p:nvSpPr>
          <p:cNvPr id="44" name="AutoShape 44"/>
          <p:cNvSpPr/>
          <p:nvPr/>
        </p:nvSpPr>
        <p:spPr>
          <a:xfrm>
            <a:off x="8661400" y="5243830"/>
            <a:ext cx="1016000" cy="254000"/>
          </a:xfrm>
          <a:prstGeom prst="rect">
            <a:avLst/>
          </a:prstGeom>
          <a:solidFill>
            <a:srgbClr val="E8F3FF"/>
          </a:solidFill>
          <a:ln w="12700" cap="flat" cmpd="sng">
            <a:noFill/>
            <a:prstDash val="solid"/>
            <a:round/>
          </a:ln>
        </p:spPr>
        <p:txBody>
          <a:bodyPr vert="horz" wrap="square" lIns="0" tIns="0" rIns="0" bIns="0" rtlCol="0" anchor="ctr" anchorCtr="0">
            <a:noAutofit/>
          </a:bodyPr>
          <a:lstStyle/>
          <a:p>
            <a:pPr lvl="0" algn="ctr">
              <a:lnSpc>
                <a:spcPct val="125000"/>
              </a:lnSpc>
              <a:buClrTx/>
              <a:buSzTx/>
              <a:buFontTx/>
              <a:defRPr/>
            </a:pPr>
            <a:r>
              <a:rPr lang="zh-CN" altLang="en-US" sz="1200">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图谱内容召回</a:t>
            </a:r>
            <a:endParaRPr lang="zh-CN" altLang="en-US" sz="1200">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5" name="AutoShape 45"/>
          <p:cNvSpPr/>
          <p:nvPr/>
        </p:nvSpPr>
        <p:spPr>
          <a:xfrm>
            <a:off x="6223000" y="5878830"/>
            <a:ext cx="5461000" cy="698500"/>
          </a:xfrm>
          <a:prstGeom prst="roundRect">
            <a:avLst>
              <a:gd name="adj" fmla="val 0"/>
            </a:avLst>
          </a:prstGeom>
          <a:solidFill>
            <a:srgbClr val="E8F3FF"/>
          </a:solidFill>
          <a:ln w="25400" cap="flat" cmpd="sng">
            <a:noFill/>
            <a:prstDash val="solid"/>
            <a:round/>
          </a:ln>
        </p:spPr>
        <p:txBody>
          <a:bodyPr vert="horz" wrap="square" lIns="63500" tIns="63500" rIns="63500" bIns="63500" rtlCol="0" anchor="ctr"/>
          <a:lstStyle/>
          <a:p>
            <a:pPr algn="ctr">
              <a:defRPr/>
            </a:pPr>
            <a:endParaRPr sz="1200">
              <a:latin typeface="微软雅黑" panose="020B0503020204020204" charset="-122"/>
              <a:ea typeface="微软雅黑" panose="020B0503020204020204" charset="-122"/>
            </a:endParaRPr>
          </a:p>
        </p:txBody>
      </p:sp>
      <p:sp>
        <p:nvSpPr>
          <p:cNvPr id="46" name="AutoShape 46"/>
          <p:cNvSpPr/>
          <p:nvPr/>
        </p:nvSpPr>
        <p:spPr>
          <a:xfrm>
            <a:off x="6350000" y="5967730"/>
            <a:ext cx="5207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核心定位：解决“</a:t>
            </a:r>
            <a:r>
              <a:rPr lang="zh-CN" alt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精准内容检索</a:t>
            </a: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”的问题，向量提供广度的语义理解，图谱提供</a:t>
            </a:r>
            <a:r>
              <a:rPr lang="zh-CN" alt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精准的内容检索</a:t>
            </a: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，两者</a:t>
            </a:r>
            <a:r>
              <a:rPr lang="zh-CN" alt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共同</a:t>
            </a: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实现内容的精准理解与</a:t>
            </a:r>
            <a:r>
              <a:rPr lang="zh-CN" alt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检索召回</a:t>
            </a:r>
            <a:r>
              <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8" name="文本占位符 1"/>
          <p:cNvSpPr>
            <a:spLocks noGrp="1"/>
          </p:cNvSpPr>
          <p:nvPr/>
        </p:nvSpPr>
        <p:spPr>
          <a:xfrm>
            <a:off x="410845" y="935355"/>
            <a:ext cx="11370945" cy="1149985"/>
          </a:xfrm>
          <a:prstGeom prst="rect">
            <a:avLst/>
          </a:prstGeom>
          <a:ln w="9525" cmpd="sng">
            <a:solidFill>
              <a:srgbClr val="0070C0"/>
            </a:solidFill>
            <a:prstDash val="dash"/>
          </a:ln>
        </p:spPr>
        <p:txBody>
          <a:bodyPr vert="horz" tIns="45708" rtlCol="0" anchor="ctr">
            <a:noAutofit/>
          </a:bodyPr>
          <a:lstStyle/>
          <a:p>
            <a:pPr lvl="0" indent="457200" algn="just">
              <a:lnSpc>
                <a:spcPct val="150000"/>
              </a:lnSpc>
              <a:spcBef>
                <a:spcPts val="0"/>
              </a:spcBef>
              <a:spcAft>
                <a:spcPts val="0"/>
              </a:spcAft>
              <a:buClr>
                <a:srgbClr val="FF0000"/>
              </a:buClr>
              <a:buSzTx/>
              <a:buFont typeface="Wingdings" panose="05000000000000000000" charset="0"/>
              <a:defRPr/>
              <a:extLst>
                <a:ext uri="{35155182-B16C-46BC-9424-99874614C6A1}">
                  <wpsdc:indentchars xmlns:wpsdc="http://www.wps.cn/officeDocument/2017/drawingmlCustomData" val="200" checksum="59296752"/>
                </a:ext>
              </a:extLst>
            </a:pP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混合索引从</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文档对象</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与</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文档内容</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两个维度建立索引：</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文档对象索引以统一语义知识图谱实现文档级语义关联与资产定位；文档内容索引以知识向量索引（语义召回）</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 </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专题知识内容图谱索引（内容检索召回）实现内容级检索</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a:t>
            </a:r>
            <a:endPar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endParaRPr>
          </a:p>
        </p:txBody>
      </p:sp>
      <p:grpSp>
        <p:nvGrpSpPr>
          <p:cNvPr id="3" name="组合 2"/>
          <p:cNvGrpSpPr/>
          <p:nvPr/>
        </p:nvGrpSpPr>
        <p:grpSpPr>
          <a:xfrm>
            <a:off x="9675495" y="0"/>
            <a:ext cx="2459355" cy="171450"/>
            <a:chOff x="16516" y="0"/>
            <a:chExt cx="2594" cy="270"/>
          </a:xfrm>
        </p:grpSpPr>
        <p:sp>
          <p:nvSpPr>
            <p:cNvPr id="4" name="矩形 3"/>
            <p:cNvSpPr/>
            <p:nvPr/>
          </p:nvSpPr>
          <p:spPr>
            <a:xfrm>
              <a:off x="16516"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混合索引</a:t>
              </a:r>
              <a:endParaRPr lang="zh-CN" altLang="en-US" sz="1000">
                <a:latin typeface="微软雅黑" panose="020B0503020204020204" charset="-122"/>
                <a:ea typeface="微软雅黑" panose="020B0503020204020204" charset="-122"/>
              </a:endParaRPr>
            </a:p>
          </p:txBody>
        </p:sp>
        <p:sp>
          <p:nvSpPr>
            <p:cNvPr id="5" name="矩形 4"/>
            <p:cNvSpPr/>
            <p:nvPr/>
          </p:nvSpPr>
          <p:spPr>
            <a:xfrm>
              <a:off x="17788"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latin typeface="微软雅黑" panose="020B0503020204020204" charset="-122"/>
                  <a:ea typeface="微软雅黑" panose="020B0503020204020204" charset="-122"/>
                </a:rPr>
                <a:t>API/MCP/SKILL</a:t>
              </a:r>
              <a:endParaRPr lang="en-US" altLang="zh-CN" sz="1000">
                <a:latin typeface="微软雅黑" panose="020B0503020204020204" charset="-122"/>
                <a:ea typeface="微软雅黑" panose="020B0503020204020204" charset="-122"/>
              </a:endParaRP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2.4.1 索引服务--基于“文档对象索引+文档内容索引”的混合索引服务</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35355"/>
            <a:ext cx="11370945" cy="1149985"/>
          </a:xfrm>
          <a:prstGeom prst="rect">
            <a:avLst/>
          </a:prstGeom>
          <a:ln w="9525" cmpd="sng">
            <a:solidFill>
              <a:srgbClr val="0070C0"/>
            </a:solidFill>
            <a:prstDash val="dash"/>
          </a:ln>
        </p:spPr>
        <p:txBody>
          <a:bodyPr vert="horz" tIns="45708" rtlCol="0" anchor="ctr">
            <a:noAutofit/>
          </a:bodyPr>
          <a:lstStyle/>
          <a:p>
            <a:pPr lvl="0" indent="457200" algn="just">
              <a:lnSpc>
                <a:spcPct val="150000"/>
              </a:lnSpc>
              <a:spcBef>
                <a:spcPts val="0"/>
              </a:spcBef>
              <a:spcAft>
                <a:spcPts val="0"/>
              </a:spcAft>
              <a:buClr>
                <a:srgbClr val="FF0000"/>
              </a:buClr>
              <a:buSzTx/>
              <a:buFont typeface="Wingdings" panose="05000000000000000000" charset="0"/>
              <a:defRPr/>
              <a:extLst>
                <a:ext uri="{35155182-B16C-46BC-9424-99874614C6A1}">
                  <wpsdc:indentchars xmlns:wpsdc="http://www.wps.cn/officeDocument/2017/drawingmlCustomData" val="200" checksum="59296752"/>
                </a:ext>
              </a:extLst>
            </a:pP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基于</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文档对象索引</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文档内容索引</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双层索引体系，构建</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语义初召回</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 </a:t>
            </a:r>
            <a:r>
              <a:rPr lang="en-US"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 </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内容精排</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混合索引</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第一阶段基于统一语义知识图谱进行文档对象级初召回，缩小检索范围；第二阶段在召回范围内按文档类型分路径做内容精排</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类实体文档走向量检索，明细实体文档走专题知识图谱检索</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a:t>
            </a:r>
            <a:endPar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endParaRPr>
          </a:p>
        </p:txBody>
      </p:sp>
      <p:sp>
        <p:nvSpPr>
          <p:cNvPr id="4" name="圆角矩形 3"/>
          <p:cNvSpPr/>
          <p:nvPr/>
        </p:nvSpPr>
        <p:spPr>
          <a:xfrm>
            <a:off x="516890" y="2231390"/>
            <a:ext cx="11262995" cy="412750"/>
          </a:xfrm>
          <a:prstGeom prst="roundRect">
            <a:avLst/>
          </a:prstGeom>
          <a:solidFill>
            <a:srgbClr val="1F3963"/>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a:latin typeface="微软雅黑" panose="020B0503020204020204" charset="-122"/>
                <a:ea typeface="微软雅黑" panose="020B0503020204020204" charset="-122"/>
              </a:rPr>
              <a:t>上层</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文档对象检索</a:t>
            </a:r>
            <a:r>
              <a:rPr lang="en-US" altLang="zh-CN" sz="1400">
                <a:latin typeface="微软雅黑" panose="020B0503020204020204" charset="-122"/>
                <a:ea typeface="微软雅黑" panose="020B0503020204020204" charset="-122"/>
              </a:rPr>
              <a:t>  </a:t>
            </a:r>
            <a:r>
              <a:rPr lang="zh-CN" altLang="en-US" sz="1200">
                <a:solidFill>
                  <a:schemeClr val="bg1">
                    <a:lumMod val="85000"/>
                  </a:schemeClr>
                </a:solidFill>
                <a:latin typeface="微软雅黑" panose="020B0503020204020204" charset="-122"/>
                <a:ea typeface="微软雅黑" panose="020B0503020204020204" charset="-122"/>
              </a:rPr>
              <a:t>统一语义索引</a:t>
            </a:r>
            <a:r>
              <a:rPr lang="en-US" altLang="en-US" sz="1200">
                <a:solidFill>
                  <a:schemeClr val="bg1">
                    <a:lumMod val="85000"/>
                  </a:schemeClr>
                </a:solidFill>
                <a:latin typeface="微软雅黑" panose="020B0503020204020204" charset="-122"/>
                <a:ea typeface="微软雅黑" panose="020B0503020204020204" charset="-122"/>
              </a:rPr>
              <a:t>→</a:t>
            </a:r>
            <a:r>
              <a:rPr lang="zh-CN" altLang="en-US" sz="1200">
                <a:solidFill>
                  <a:schemeClr val="bg1">
                    <a:lumMod val="85000"/>
                  </a:schemeClr>
                </a:solidFill>
                <a:latin typeface="微软雅黑" panose="020B0503020204020204" charset="-122"/>
                <a:ea typeface="微软雅黑" panose="020B0503020204020204" charset="-122"/>
              </a:rPr>
              <a:t>文档召回阶段</a:t>
            </a:r>
            <a:r>
              <a:rPr lang="en-US" altLang="zh-CN" sz="1200">
                <a:solidFill>
                  <a:schemeClr val="bg1">
                    <a:lumMod val="85000"/>
                  </a:schemeClr>
                </a:solidFill>
                <a:latin typeface="微软雅黑" panose="020B0503020204020204" charset="-122"/>
                <a:ea typeface="微软雅黑" panose="020B0503020204020204" charset="-122"/>
              </a:rPr>
              <a:t>（</a:t>
            </a:r>
            <a:r>
              <a:rPr lang="zh-CN" altLang="en-US" sz="1200">
                <a:solidFill>
                  <a:schemeClr val="bg1">
                    <a:lumMod val="85000"/>
                  </a:schemeClr>
                </a:solidFill>
                <a:latin typeface="微软雅黑" panose="020B0503020204020204" charset="-122"/>
                <a:ea typeface="微软雅黑" panose="020B0503020204020204" charset="-122"/>
              </a:rPr>
              <a:t>语义初召回</a:t>
            </a:r>
            <a:r>
              <a:rPr lang="en-US" altLang="zh-CN" sz="1200">
                <a:solidFill>
                  <a:schemeClr val="bg1">
                    <a:lumMod val="85000"/>
                  </a:schemeClr>
                </a:solidFill>
                <a:latin typeface="微软雅黑" panose="020B0503020204020204" charset="-122"/>
                <a:ea typeface="微软雅黑" panose="020B0503020204020204" charset="-122"/>
              </a:rPr>
              <a:t>）</a:t>
            </a:r>
            <a:endParaRPr lang="en-US" altLang="zh-CN" sz="1200">
              <a:solidFill>
                <a:schemeClr val="bg1">
                  <a:lumMod val="85000"/>
                </a:schemeClr>
              </a:solidFill>
              <a:latin typeface="微软雅黑" panose="020B0503020204020204" charset="-122"/>
              <a:ea typeface="微软雅黑" panose="020B0503020204020204" charset="-122"/>
            </a:endParaRPr>
          </a:p>
        </p:txBody>
      </p:sp>
      <p:sp>
        <p:nvSpPr>
          <p:cNvPr id="5" name="圆角矩形 4"/>
          <p:cNvSpPr/>
          <p:nvPr/>
        </p:nvSpPr>
        <p:spPr>
          <a:xfrm>
            <a:off x="539750" y="2715895"/>
            <a:ext cx="11263630" cy="1457325"/>
          </a:xfrm>
          <a:prstGeom prst="roundRect">
            <a:avLst/>
          </a:prstGeom>
          <a:solidFill>
            <a:srgbClr val="F2F7FD"/>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704850" y="2762250"/>
            <a:ext cx="6501765" cy="245110"/>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rPr>
              <a:t>索引基础</a:t>
            </a:r>
            <a:r>
              <a:rPr lang="en-US" altLang="zh-CN" sz="1000">
                <a:latin typeface="微软雅黑" panose="020B0503020204020204" charset="-122"/>
                <a:ea typeface="微软雅黑" panose="020B0503020204020204" charset="-122"/>
              </a:rPr>
              <a:t>；</a:t>
            </a:r>
            <a:r>
              <a:rPr lang="zh-CN" altLang="en-US" sz="1000">
                <a:latin typeface="微软雅黑" panose="020B0503020204020204" charset="-122"/>
                <a:ea typeface="微软雅黑" panose="020B0503020204020204" charset="-122"/>
              </a:rPr>
              <a:t>基于统一语义知识图谱构建的对象级索引</a:t>
            </a:r>
            <a:endParaRPr lang="zh-CN" altLang="en-US" sz="1000">
              <a:latin typeface="微软雅黑" panose="020B0503020204020204" charset="-122"/>
              <a:ea typeface="微软雅黑" panose="020B0503020204020204" charset="-122"/>
            </a:endParaRPr>
          </a:p>
        </p:txBody>
      </p:sp>
      <p:grpSp>
        <p:nvGrpSpPr>
          <p:cNvPr id="7" name="组合 6"/>
          <p:cNvGrpSpPr/>
          <p:nvPr/>
        </p:nvGrpSpPr>
        <p:grpSpPr>
          <a:xfrm>
            <a:off x="689610" y="2995930"/>
            <a:ext cx="10987405" cy="711200"/>
            <a:chOff x="1047" y="4953"/>
            <a:chExt cx="17600" cy="1120"/>
          </a:xfrm>
        </p:grpSpPr>
        <p:sp>
          <p:nvSpPr>
            <p:cNvPr id="8" name="AutoShape 8"/>
            <p:cNvSpPr/>
            <p:nvPr/>
          </p:nvSpPr>
          <p:spPr>
            <a:xfrm>
              <a:off x="1047" y="4953"/>
              <a:ext cx="5400" cy="1120"/>
            </a:xfrm>
            <a:prstGeom prst="roundRect">
              <a:avLst>
                <a:gd name="adj" fmla="val 0"/>
              </a:avLst>
            </a:prstGeom>
            <a:solidFill>
              <a:srgbClr val="FFFFFF">
                <a:alpha val="100000"/>
              </a:srgbClr>
            </a:solidFill>
            <a:ln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9" name="AutoShape 9"/>
            <p:cNvSpPr/>
            <p:nvPr/>
          </p:nvSpPr>
          <p:spPr>
            <a:xfrm>
              <a:off x="1147" y="5053"/>
              <a:ext cx="5200" cy="1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① Query语义解析</a:t>
              </a:r>
              <a:endParaRPr lang="en-US" sz="1200">
                <a:latin typeface="微软雅黑" panose="020B0503020204020204" charset="-122"/>
                <a:ea typeface="微软雅黑" panose="020B0503020204020204" charset="-122"/>
                <a:cs typeface="微软雅黑" panose="020B0503020204020204" charset="-122"/>
              </a:endParaRPr>
            </a:p>
            <a:p>
              <a:pPr marL="0" indent="0" algn="ctr">
                <a:lnSpc>
                  <a:spcPct val="92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识别</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业务场景</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活动</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对象</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92000"/>
                </a:lnSpc>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（如：普惠金融·授信审批</a:t>
              </a:r>
              <a:r>
                <a:rPr lang="en-US" sz="1200">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小微企业</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547" y="5293"/>
              <a:ext cx="440" cy="440"/>
            </a:xfrm>
            <a:prstGeom prst="rect">
              <a:avLst/>
            </a:prstGeom>
          </p:spPr>
        </p:pic>
        <p:sp>
          <p:nvSpPr>
            <p:cNvPr id="11" name="AutoShape 11"/>
            <p:cNvSpPr/>
            <p:nvPr/>
          </p:nvSpPr>
          <p:spPr>
            <a:xfrm>
              <a:off x="7147" y="4953"/>
              <a:ext cx="5400" cy="1120"/>
            </a:xfrm>
            <a:prstGeom prst="roundRect">
              <a:avLst>
                <a:gd name="adj" fmla="val 0"/>
              </a:avLst>
            </a:prstGeom>
            <a:solidFill>
              <a:srgbClr val="FFFFFF">
                <a:alpha val="100000"/>
              </a:srgbClr>
            </a:solidFill>
            <a:ln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12" name="AutoShape 12"/>
            <p:cNvSpPr/>
            <p:nvPr/>
          </p:nvSpPr>
          <p:spPr>
            <a:xfrm>
              <a:off x="7247" y="5053"/>
              <a:ext cx="5200" cy="1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② 对象索引匹配</a:t>
              </a:r>
              <a:endParaRPr lang="en-US" sz="1200">
                <a:latin typeface="微软雅黑" panose="020B0503020204020204" charset="-122"/>
                <a:ea typeface="微软雅黑" panose="020B0503020204020204" charset="-122"/>
                <a:cs typeface="微软雅黑" panose="020B0503020204020204" charset="-122"/>
              </a:endParaRPr>
            </a:p>
            <a:p>
              <a:pPr marL="0" indent="0" algn="ctr">
                <a:lnSpc>
                  <a:spcPct val="92000"/>
                </a:lnSpc>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快速定位相关文档集合</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92000"/>
                </a:lnSpc>
              </a:pP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专题知识内容图谱范围</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647" y="5293"/>
              <a:ext cx="440" cy="440"/>
            </a:xfrm>
            <a:prstGeom prst="rect">
              <a:avLst/>
            </a:prstGeom>
          </p:spPr>
        </p:pic>
        <p:sp>
          <p:nvSpPr>
            <p:cNvPr id="14" name="AutoShape 14"/>
            <p:cNvSpPr/>
            <p:nvPr/>
          </p:nvSpPr>
          <p:spPr>
            <a:xfrm>
              <a:off x="13247" y="4953"/>
              <a:ext cx="5400" cy="1120"/>
            </a:xfrm>
            <a:prstGeom prst="roundRect">
              <a:avLst>
                <a:gd name="adj" fmla="val 0"/>
              </a:avLst>
            </a:prstGeom>
            <a:solidFill>
              <a:srgbClr val="FFFFFF">
                <a:alpha val="100000"/>
              </a:srgbClr>
            </a:solidFill>
            <a:ln cap="flat" cmpd="sng">
              <a:solidFill>
                <a:srgbClr val="E8F3FF">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15" name="AutoShape 15"/>
            <p:cNvSpPr/>
            <p:nvPr/>
          </p:nvSpPr>
          <p:spPr>
            <a:xfrm>
              <a:off x="13347" y="5053"/>
              <a:ext cx="5200" cy="1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③ </a:t>
              </a: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召回结构</a:t>
              </a:r>
              <a:endParaRPr lang="en-US" sz="1200">
                <a:latin typeface="微软雅黑" panose="020B0503020204020204" charset="-122"/>
                <a:ea typeface="微软雅黑" panose="020B0503020204020204" charset="-122"/>
                <a:cs typeface="微软雅黑" panose="020B0503020204020204" charset="-122"/>
              </a:endParaRPr>
            </a:p>
            <a:p>
              <a:pPr marL="0" indent="0" algn="ctr">
                <a:lnSpc>
                  <a:spcPct val="92000"/>
                </a:lnSpc>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缩小检索范围</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92000"/>
                </a:lnSpc>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过滤无关文档</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grpSp>
        <p:nvGrpSpPr>
          <p:cNvPr id="18" name="组合 17"/>
          <p:cNvGrpSpPr/>
          <p:nvPr/>
        </p:nvGrpSpPr>
        <p:grpSpPr>
          <a:xfrm>
            <a:off x="665480" y="3737623"/>
            <a:ext cx="5399405" cy="572955"/>
            <a:chOff x="947" y="5849"/>
            <a:chExt cx="17600" cy="610"/>
          </a:xfrm>
        </p:grpSpPr>
        <p:sp>
          <p:nvSpPr>
            <p:cNvPr id="16" name="AutoShape 16"/>
            <p:cNvSpPr/>
            <p:nvPr/>
          </p:nvSpPr>
          <p:spPr>
            <a:xfrm>
              <a:off x="947" y="5849"/>
              <a:ext cx="17600" cy="610"/>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7" name="AutoShape 17"/>
            <p:cNvSpPr/>
            <p:nvPr/>
          </p:nvSpPr>
          <p:spPr>
            <a:xfrm>
              <a:off x="1076" y="5926"/>
              <a:ext cx="17400" cy="4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4080FF"/>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示例：用户问“小微企业</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授信审批流程</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对象索引定位业务场景</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普惠金融</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业务活动</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授信审批</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业务对象</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小微企业</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 召回</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小微企业授信审批相关文档集合</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19" name="圆角矩形 18"/>
          <p:cNvSpPr/>
          <p:nvPr/>
        </p:nvSpPr>
        <p:spPr>
          <a:xfrm>
            <a:off x="516890" y="4436745"/>
            <a:ext cx="11262995" cy="412750"/>
          </a:xfrm>
          <a:prstGeom prst="roundRect">
            <a:avLst/>
          </a:prstGeom>
          <a:solidFill>
            <a:srgbClr val="1F3963"/>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a:latin typeface="微软雅黑" panose="020B0503020204020204" charset="-122"/>
                <a:ea typeface="微软雅黑" panose="020B0503020204020204" charset="-122"/>
              </a:rPr>
              <a:t>下层</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文档内容检索</a:t>
            </a:r>
            <a:r>
              <a:rPr lang="en-US" altLang="zh-CN" sz="1400">
                <a:latin typeface="微软雅黑" panose="020B0503020204020204" charset="-122"/>
                <a:ea typeface="微软雅黑" panose="020B0503020204020204" charset="-122"/>
              </a:rPr>
              <a:t>  </a:t>
            </a:r>
            <a:r>
              <a:rPr lang="zh-CN" altLang="en-US" sz="1200">
                <a:solidFill>
                  <a:schemeClr val="bg1">
                    <a:lumMod val="85000"/>
                  </a:schemeClr>
                </a:solidFill>
                <a:latin typeface="微软雅黑" panose="020B0503020204020204" charset="-122"/>
                <a:ea typeface="微软雅黑" panose="020B0503020204020204" charset="-122"/>
              </a:rPr>
              <a:t>精排阶段</a:t>
            </a:r>
            <a:r>
              <a:rPr lang="en-US" altLang="en-US" sz="1200">
                <a:solidFill>
                  <a:schemeClr val="bg1">
                    <a:lumMod val="85000"/>
                  </a:schemeClr>
                </a:solidFill>
                <a:latin typeface="微软雅黑" panose="020B0503020204020204" charset="-122"/>
                <a:ea typeface="微软雅黑" panose="020B0503020204020204" charset="-122"/>
              </a:rPr>
              <a:t>→</a:t>
            </a:r>
            <a:r>
              <a:rPr lang="zh-CN" altLang="en-US" sz="1200">
                <a:solidFill>
                  <a:schemeClr val="bg1">
                    <a:lumMod val="85000"/>
                  </a:schemeClr>
                </a:solidFill>
                <a:latin typeface="微软雅黑" panose="020B0503020204020204" charset="-122"/>
                <a:ea typeface="微软雅黑" panose="020B0503020204020204" charset="-122"/>
              </a:rPr>
              <a:t>在文档召回范围内进行内容召回</a:t>
            </a:r>
            <a:endParaRPr lang="zh-CN" altLang="en-US" sz="1200">
              <a:solidFill>
                <a:schemeClr val="bg1">
                  <a:lumMod val="85000"/>
                </a:schemeClr>
              </a:solidFill>
              <a:latin typeface="微软雅黑" panose="020B0503020204020204" charset="-122"/>
              <a:ea typeface="微软雅黑" panose="020B0503020204020204" charset="-122"/>
            </a:endParaRPr>
          </a:p>
        </p:txBody>
      </p:sp>
      <p:sp>
        <p:nvSpPr>
          <p:cNvPr id="24" name="arrow-down"/>
          <p:cNvSpPr/>
          <p:nvPr/>
        </p:nvSpPr>
        <p:spPr>
          <a:xfrm>
            <a:off x="3100070" y="4278630"/>
            <a:ext cx="381000" cy="190500"/>
          </a:xfrm>
          <a:prstGeom prst="downArrow">
            <a:avLst/>
          </a:prstGeom>
        </p:spPr>
        <p:style>
          <a:lnRef idx="0">
            <a:srgbClr val="FFFFFF"/>
          </a:lnRef>
          <a:fillRef idx="2">
            <a:schemeClr val="accent1"/>
          </a:fillRef>
          <a:effectRef idx="0">
            <a:srgbClr val="FFFFFF"/>
          </a:effectRef>
          <a:fontRef idx="minor">
            <a:schemeClr val="lt1"/>
          </a:fontRef>
        </p:style>
      </p:sp>
      <p:sp>
        <p:nvSpPr>
          <p:cNvPr id="20" name="圆角矩形 19"/>
          <p:cNvSpPr/>
          <p:nvPr/>
        </p:nvSpPr>
        <p:spPr>
          <a:xfrm>
            <a:off x="516255" y="4909820"/>
            <a:ext cx="5549265" cy="1586865"/>
          </a:xfrm>
          <a:prstGeom prst="roundRect">
            <a:avLst>
              <a:gd name="adj" fmla="val 9455"/>
            </a:avLst>
          </a:prstGeom>
          <a:solidFill>
            <a:srgbClr val="F2F7FD"/>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圆角矩形 20"/>
          <p:cNvSpPr/>
          <p:nvPr/>
        </p:nvSpPr>
        <p:spPr>
          <a:xfrm>
            <a:off x="6254750" y="4909820"/>
            <a:ext cx="5549265" cy="1586865"/>
          </a:xfrm>
          <a:prstGeom prst="roundRect">
            <a:avLst>
              <a:gd name="adj" fmla="val 8671"/>
            </a:avLst>
          </a:prstGeom>
          <a:solidFill>
            <a:srgbClr val="F2F7FD"/>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2" name="圆角矩形 21"/>
          <p:cNvSpPr/>
          <p:nvPr/>
        </p:nvSpPr>
        <p:spPr>
          <a:xfrm>
            <a:off x="516890" y="4883785"/>
            <a:ext cx="5548630" cy="264795"/>
          </a:xfrm>
          <a:prstGeom prst="roundRect">
            <a:avLst/>
          </a:prstGeom>
          <a:solidFill>
            <a:srgbClr val="2F74B6"/>
          </a:solidFill>
          <a:ln>
            <a:noFill/>
          </a:ln>
        </p:spPr>
        <p:style>
          <a:lnRef idx="0">
            <a:srgbClr val="FFFFFF"/>
          </a:lnRef>
          <a:fillRef idx="1">
            <a:schemeClr val="accent1"/>
          </a:fillRef>
          <a:effectRef idx="0">
            <a:srgbClr val="FFFFFF"/>
          </a:effectRef>
          <a:fontRef idx="minor">
            <a:schemeClr val="lt1"/>
          </a:fontRef>
        </p:style>
        <p:txBody>
          <a:bodyPr rtlCol="0" anchor="ctr"/>
          <a:lstStyle/>
          <a:p>
            <a:pPr algn="ctr"/>
            <a:r>
              <a:rPr lang="zh-CN" altLang="en-US" sz="1200">
                <a:latin typeface="微软雅黑" panose="020B0503020204020204" charset="-122"/>
                <a:ea typeface="微软雅黑" panose="020B0503020204020204" charset="-122"/>
                <a:cs typeface="微软雅黑" panose="020B0503020204020204" charset="-122"/>
              </a:rPr>
              <a:t>类实体文档</a:t>
            </a:r>
            <a:r>
              <a:rPr lang="en-US" altLang="en-US" sz="1200">
                <a:latin typeface="微软雅黑" panose="020B0503020204020204" charset="-122"/>
                <a:ea typeface="微软雅黑" panose="020B0503020204020204" charset="-122"/>
                <a:cs typeface="微软雅黑" panose="020B0503020204020204" charset="-122"/>
              </a:rPr>
              <a:t>→</a:t>
            </a:r>
            <a:r>
              <a:rPr lang="zh-CN" altLang="en-US" sz="1200">
                <a:latin typeface="微软雅黑" panose="020B0503020204020204" charset="-122"/>
                <a:ea typeface="微软雅黑" panose="020B0503020204020204" charset="-122"/>
                <a:cs typeface="微软雅黑" panose="020B0503020204020204" charset="-122"/>
              </a:rPr>
              <a:t>向量检索</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23" name="圆角矩形 22"/>
          <p:cNvSpPr/>
          <p:nvPr/>
        </p:nvSpPr>
        <p:spPr>
          <a:xfrm>
            <a:off x="6255385" y="4892675"/>
            <a:ext cx="5548630" cy="264795"/>
          </a:xfrm>
          <a:prstGeom prst="roundRect">
            <a:avLst/>
          </a:prstGeom>
          <a:solidFill>
            <a:srgbClr val="2F74B6"/>
          </a:solidFill>
          <a:ln>
            <a:noFill/>
          </a:ln>
        </p:spPr>
        <p:style>
          <a:lnRef idx="0">
            <a:srgbClr val="FFFFFF"/>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明细实体文档→专题知识内容图谱检索</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26" name="圆角矩形 25"/>
          <p:cNvSpPr/>
          <p:nvPr/>
        </p:nvSpPr>
        <p:spPr>
          <a:xfrm>
            <a:off x="1156970" y="5217160"/>
            <a:ext cx="3879215" cy="245110"/>
          </a:xfrm>
          <a:prstGeom prst="roundRect">
            <a:avLst/>
          </a:prstGeom>
          <a:solidFill>
            <a:srgbClr val="FFFFFF"/>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900">
                <a:solidFill>
                  <a:srgbClr val="666666"/>
                </a:solidFill>
                <a:latin typeface="微软雅黑" panose="020B0503020204020204" charset="-122"/>
                <a:ea typeface="微软雅黑" panose="020B0503020204020204" charset="-122"/>
              </a:rPr>
              <a:t>chunk</a:t>
            </a:r>
            <a:r>
              <a:rPr lang="zh-CN" altLang="en-US" sz="900">
                <a:solidFill>
                  <a:srgbClr val="666666"/>
                </a:solidFill>
                <a:latin typeface="微软雅黑" panose="020B0503020204020204" charset="-122"/>
                <a:ea typeface="微软雅黑" panose="020B0503020204020204" charset="-122"/>
              </a:rPr>
              <a:t>级向量相似度计算</a:t>
            </a:r>
            <a:endParaRPr lang="zh-CN" altLang="en-US" sz="900">
              <a:solidFill>
                <a:srgbClr val="666666"/>
              </a:solidFill>
              <a:latin typeface="微软雅黑" panose="020B0503020204020204" charset="-122"/>
              <a:ea typeface="微软雅黑" panose="020B0503020204020204" charset="-122"/>
            </a:endParaRPr>
          </a:p>
        </p:txBody>
      </p:sp>
      <p:sp>
        <p:nvSpPr>
          <p:cNvPr id="27" name="圆角矩形 26"/>
          <p:cNvSpPr/>
          <p:nvPr/>
        </p:nvSpPr>
        <p:spPr>
          <a:xfrm>
            <a:off x="1156970" y="5530850"/>
            <a:ext cx="3879215" cy="245110"/>
          </a:xfrm>
          <a:prstGeom prst="roundRect">
            <a:avLst/>
          </a:prstGeom>
          <a:solidFill>
            <a:srgbClr val="FFFFFF"/>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rgbClr val="666666"/>
                </a:solidFill>
                <a:latin typeface="微软雅黑" panose="020B0503020204020204" charset="-122"/>
                <a:ea typeface="微软雅黑" panose="020B0503020204020204" charset="-122"/>
                <a:sym typeface="+mn-ea"/>
              </a:rPr>
              <a:t>关键词索引精确匹配</a:t>
            </a:r>
            <a:endParaRPr lang="zh-CN" altLang="en-US" sz="900">
              <a:solidFill>
                <a:srgbClr val="666666"/>
              </a:solidFill>
              <a:latin typeface="微软雅黑" panose="020B0503020204020204" charset="-122"/>
              <a:ea typeface="微软雅黑" panose="020B0503020204020204" charset="-122"/>
              <a:sym typeface="+mn-ea"/>
            </a:endParaRPr>
          </a:p>
        </p:txBody>
      </p:sp>
      <p:sp>
        <p:nvSpPr>
          <p:cNvPr id="28" name="圆角矩形 27"/>
          <p:cNvSpPr/>
          <p:nvPr/>
        </p:nvSpPr>
        <p:spPr>
          <a:xfrm>
            <a:off x="1156970" y="5859145"/>
            <a:ext cx="3879215" cy="245110"/>
          </a:xfrm>
          <a:prstGeom prst="roundRect">
            <a:avLst/>
          </a:prstGeom>
          <a:solidFill>
            <a:srgbClr val="FFFFFF"/>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rgbClr val="666666"/>
                </a:solidFill>
                <a:latin typeface="微软雅黑" panose="020B0503020204020204" charset="-122"/>
                <a:ea typeface="微软雅黑" panose="020B0503020204020204" charset="-122"/>
                <a:sym typeface="+mn-ea"/>
              </a:rPr>
              <a:t>向量相似度</a:t>
            </a:r>
            <a:r>
              <a:rPr lang="en-US" altLang="zh-CN" sz="900">
                <a:solidFill>
                  <a:srgbClr val="666666"/>
                </a:solidFill>
                <a:latin typeface="微软雅黑" panose="020B0503020204020204" charset="-122"/>
                <a:ea typeface="微软雅黑" panose="020B0503020204020204" charset="-122"/>
                <a:sym typeface="+mn-ea"/>
              </a:rPr>
              <a:t>+</a:t>
            </a:r>
            <a:r>
              <a:rPr lang="zh-CN" altLang="en-US" sz="900">
                <a:solidFill>
                  <a:srgbClr val="666666"/>
                </a:solidFill>
                <a:latin typeface="微软雅黑" panose="020B0503020204020204" charset="-122"/>
                <a:ea typeface="微软雅黑" panose="020B0503020204020204" charset="-122"/>
                <a:sym typeface="+mn-ea"/>
              </a:rPr>
              <a:t>关键词匹配结果</a:t>
            </a:r>
            <a:r>
              <a:rPr lang="en-US" altLang="zh-CN" sz="900">
                <a:solidFill>
                  <a:srgbClr val="666666"/>
                </a:solidFill>
                <a:latin typeface="微软雅黑" panose="020B0503020204020204" charset="-122"/>
                <a:ea typeface="微软雅黑" panose="020B0503020204020204" charset="-122"/>
                <a:sym typeface="+mn-ea"/>
              </a:rPr>
              <a:t>rerank</a:t>
            </a:r>
            <a:r>
              <a:rPr lang="zh-CN" altLang="en-US" sz="900">
                <a:solidFill>
                  <a:srgbClr val="666666"/>
                </a:solidFill>
                <a:latin typeface="微软雅黑" panose="020B0503020204020204" charset="-122"/>
                <a:ea typeface="微软雅黑" panose="020B0503020204020204" charset="-122"/>
                <a:sym typeface="+mn-ea"/>
              </a:rPr>
              <a:t>重排</a:t>
            </a:r>
            <a:endParaRPr lang="zh-CN" altLang="en-US" sz="900">
              <a:solidFill>
                <a:srgbClr val="666666"/>
              </a:solidFill>
              <a:latin typeface="微软雅黑" panose="020B0503020204020204" charset="-122"/>
              <a:ea typeface="微软雅黑" panose="020B0503020204020204" charset="-122"/>
              <a:sym typeface="+mn-ea"/>
            </a:endParaRPr>
          </a:p>
        </p:txBody>
      </p:sp>
      <p:sp>
        <p:nvSpPr>
          <p:cNvPr id="29" name="圆角矩形 28"/>
          <p:cNvSpPr/>
          <p:nvPr/>
        </p:nvSpPr>
        <p:spPr>
          <a:xfrm>
            <a:off x="1156970" y="6169660"/>
            <a:ext cx="3879215" cy="245110"/>
          </a:xfrm>
          <a:prstGeom prst="roundRect">
            <a:avLst/>
          </a:prstGeom>
          <a:solidFill>
            <a:srgbClr val="E2EEDA"/>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rgbClr val="666666"/>
                </a:solidFill>
                <a:latin typeface="微软雅黑" panose="020B0503020204020204" charset="-122"/>
                <a:ea typeface="微软雅黑" panose="020B0503020204020204" charset="-122"/>
                <a:sym typeface="+mn-ea"/>
              </a:rPr>
              <a:t>返回相关的文档切片</a:t>
            </a:r>
            <a:r>
              <a:rPr lang="en-US" altLang="zh-CN" sz="900">
                <a:solidFill>
                  <a:srgbClr val="666666"/>
                </a:solidFill>
                <a:latin typeface="微软雅黑" panose="020B0503020204020204" charset="-122"/>
                <a:ea typeface="微软雅黑" panose="020B0503020204020204" charset="-122"/>
                <a:sym typeface="+mn-ea"/>
              </a:rPr>
              <a:t>+</a:t>
            </a:r>
            <a:r>
              <a:rPr lang="zh-CN" altLang="en-US" sz="900">
                <a:solidFill>
                  <a:srgbClr val="666666"/>
                </a:solidFill>
                <a:latin typeface="微软雅黑" panose="020B0503020204020204" charset="-122"/>
                <a:ea typeface="微软雅黑" panose="020B0503020204020204" charset="-122"/>
                <a:sym typeface="+mn-ea"/>
              </a:rPr>
              <a:t>原文定位</a:t>
            </a:r>
            <a:endParaRPr lang="zh-CN" altLang="en-US" sz="900">
              <a:solidFill>
                <a:srgbClr val="666666"/>
              </a:solidFill>
              <a:latin typeface="微软雅黑" panose="020B0503020204020204" charset="-122"/>
              <a:ea typeface="微软雅黑" panose="020B0503020204020204" charset="-122"/>
              <a:sym typeface="+mn-ea"/>
            </a:endParaRPr>
          </a:p>
        </p:txBody>
      </p:sp>
      <p:cxnSp>
        <p:nvCxnSpPr>
          <p:cNvPr id="30" name="曲线连接符 29"/>
          <p:cNvCxnSpPr>
            <a:stCxn id="21" idx="2"/>
            <a:endCxn id="20" idx="2"/>
          </p:cNvCxnSpPr>
          <p:nvPr/>
        </p:nvCxnSpPr>
        <p:spPr>
          <a:xfrm rot="5400000">
            <a:off x="6160135" y="3627120"/>
            <a:ext cx="3175" cy="5738495"/>
          </a:xfrm>
          <a:prstGeom prst="curvedConnector3">
            <a:avLst>
              <a:gd name="adj1" fmla="val 8640000"/>
            </a:avLst>
          </a:prstGeom>
          <a:ln>
            <a:tailEnd type="arrow"/>
          </a:ln>
        </p:spPr>
        <p:style>
          <a:lnRef idx="2">
            <a:schemeClr val="accent1"/>
          </a:lnRef>
          <a:fillRef idx="0">
            <a:srgbClr val="FFFFFF"/>
          </a:fillRef>
          <a:effectRef idx="0">
            <a:srgbClr val="FFFFFF"/>
          </a:effectRef>
          <a:fontRef idx="minor">
            <a:schemeClr val="tx1"/>
          </a:fontRef>
        </p:style>
      </p:cxnSp>
      <p:sp>
        <p:nvSpPr>
          <p:cNvPr id="31" name="圆角矩形 30"/>
          <p:cNvSpPr/>
          <p:nvPr/>
        </p:nvSpPr>
        <p:spPr>
          <a:xfrm>
            <a:off x="4036060" y="6593205"/>
            <a:ext cx="3879215" cy="245110"/>
          </a:xfrm>
          <a:prstGeom prst="roundRect">
            <a:avLst/>
          </a:prstGeom>
          <a:solidFill>
            <a:srgbClr val="FFF7F0"/>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rgbClr val="666666"/>
                </a:solidFill>
                <a:latin typeface="微软雅黑" panose="020B0503020204020204" charset="-122"/>
                <a:ea typeface="微软雅黑" panose="020B0503020204020204" charset="-122"/>
                <a:sym typeface="+mn-ea"/>
              </a:rPr>
              <a:t>专题知识内容图谱召回不足</a:t>
            </a:r>
            <a:r>
              <a:rPr lang="en-US" altLang="en-US" sz="900">
                <a:solidFill>
                  <a:srgbClr val="666666"/>
                </a:solidFill>
                <a:latin typeface="微软雅黑" panose="020B0503020204020204" charset="-122"/>
                <a:ea typeface="微软雅黑" panose="020B0503020204020204" charset="-122"/>
                <a:sym typeface="+mn-ea"/>
              </a:rPr>
              <a:t>→</a:t>
            </a:r>
            <a:r>
              <a:rPr lang="zh-CN" altLang="en-US" sz="900">
                <a:solidFill>
                  <a:srgbClr val="666666"/>
                </a:solidFill>
                <a:latin typeface="微软雅黑" panose="020B0503020204020204" charset="-122"/>
                <a:ea typeface="微软雅黑" panose="020B0503020204020204" charset="-122"/>
                <a:sym typeface="+mn-ea"/>
              </a:rPr>
              <a:t>关联明细实体向量库召回补充</a:t>
            </a:r>
            <a:endParaRPr lang="zh-CN" altLang="en-US" sz="900">
              <a:solidFill>
                <a:srgbClr val="666666"/>
              </a:solidFill>
              <a:latin typeface="微软雅黑" panose="020B0503020204020204" charset="-122"/>
              <a:ea typeface="微软雅黑" panose="020B0503020204020204" charset="-122"/>
              <a:sym typeface="+mn-ea"/>
            </a:endParaRPr>
          </a:p>
        </p:txBody>
      </p:sp>
      <p:sp>
        <p:nvSpPr>
          <p:cNvPr id="32" name="等腰三角形 31"/>
          <p:cNvSpPr/>
          <p:nvPr/>
        </p:nvSpPr>
        <p:spPr>
          <a:xfrm rot="10800000">
            <a:off x="2869565" y="5455920"/>
            <a:ext cx="422910" cy="82550"/>
          </a:xfrm>
          <a:prstGeom prst="triangle">
            <a:avLst/>
          </a:prstGeom>
          <a:solidFill>
            <a:schemeClr val="accent1">
              <a:lumMod val="40000"/>
              <a:lumOff val="60000"/>
            </a:schemeClr>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3" name="等腰三角形 32"/>
          <p:cNvSpPr/>
          <p:nvPr/>
        </p:nvSpPr>
        <p:spPr>
          <a:xfrm rot="10800000">
            <a:off x="2869565" y="5774690"/>
            <a:ext cx="422910" cy="82550"/>
          </a:xfrm>
          <a:prstGeom prst="triangle">
            <a:avLst/>
          </a:prstGeom>
          <a:solidFill>
            <a:schemeClr val="accent1">
              <a:lumMod val="40000"/>
              <a:lumOff val="60000"/>
            </a:schemeClr>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4" name="等腰三角形 33"/>
          <p:cNvSpPr/>
          <p:nvPr/>
        </p:nvSpPr>
        <p:spPr>
          <a:xfrm rot="10800000">
            <a:off x="2869565" y="6104255"/>
            <a:ext cx="422910" cy="82550"/>
          </a:xfrm>
          <a:prstGeom prst="triangle">
            <a:avLst/>
          </a:prstGeom>
          <a:solidFill>
            <a:schemeClr val="accent1">
              <a:lumMod val="40000"/>
              <a:lumOff val="60000"/>
            </a:schemeClr>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圆角矩形 34"/>
          <p:cNvSpPr/>
          <p:nvPr/>
        </p:nvSpPr>
        <p:spPr>
          <a:xfrm>
            <a:off x="7089775" y="5194935"/>
            <a:ext cx="3879215" cy="245110"/>
          </a:xfrm>
          <a:prstGeom prst="roundRect">
            <a:avLst/>
          </a:prstGeom>
          <a:solidFill>
            <a:srgbClr val="FFFFFF"/>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900">
                <a:solidFill>
                  <a:srgbClr val="666666"/>
                </a:solidFill>
                <a:latin typeface="微软雅黑" panose="020B0503020204020204" charset="-122"/>
                <a:ea typeface="微软雅黑" panose="020B0503020204020204" charset="-122"/>
              </a:rPr>
              <a:t>实体索引</a:t>
            </a:r>
            <a:r>
              <a:rPr lang="en-US" altLang="zh-CN" sz="900">
                <a:solidFill>
                  <a:srgbClr val="666666"/>
                </a:solidFill>
                <a:latin typeface="微软雅黑" panose="020B0503020204020204" charset="-122"/>
                <a:ea typeface="微软雅黑" panose="020B0503020204020204" charset="-122"/>
              </a:rPr>
              <a:t>：</a:t>
            </a:r>
            <a:r>
              <a:rPr lang="zh-CN" altLang="en-US" sz="900">
                <a:solidFill>
                  <a:srgbClr val="666666"/>
                </a:solidFill>
                <a:latin typeface="微软雅黑" panose="020B0503020204020204" charset="-122"/>
                <a:ea typeface="微软雅黑" panose="020B0503020204020204" charset="-122"/>
              </a:rPr>
              <a:t>实体精准匹配</a:t>
            </a:r>
            <a:endParaRPr lang="zh-CN" altLang="en-US" sz="900">
              <a:solidFill>
                <a:srgbClr val="666666"/>
              </a:solidFill>
              <a:latin typeface="微软雅黑" panose="020B0503020204020204" charset="-122"/>
              <a:ea typeface="微软雅黑" panose="020B0503020204020204" charset="-122"/>
            </a:endParaRPr>
          </a:p>
        </p:txBody>
      </p:sp>
      <p:sp>
        <p:nvSpPr>
          <p:cNvPr id="36" name="圆角矩形 35"/>
          <p:cNvSpPr/>
          <p:nvPr/>
        </p:nvSpPr>
        <p:spPr>
          <a:xfrm>
            <a:off x="7089775" y="5508625"/>
            <a:ext cx="3879215" cy="245110"/>
          </a:xfrm>
          <a:prstGeom prst="roundRect">
            <a:avLst/>
          </a:prstGeom>
          <a:solidFill>
            <a:srgbClr val="FFFFFF"/>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rgbClr val="666666"/>
                </a:solidFill>
                <a:latin typeface="微软雅黑" panose="020B0503020204020204" charset="-122"/>
                <a:ea typeface="微软雅黑" panose="020B0503020204020204" charset="-122"/>
                <a:sym typeface="+mn-ea"/>
              </a:rPr>
              <a:t>关联路径</a:t>
            </a:r>
            <a:r>
              <a:rPr lang="en-US" altLang="zh-CN" sz="900">
                <a:solidFill>
                  <a:srgbClr val="666666"/>
                </a:solidFill>
                <a:latin typeface="微软雅黑" panose="020B0503020204020204" charset="-122"/>
                <a:ea typeface="微软雅黑" panose="020B0503020204020204" charset="-122"/>
                <a:sym typeface="+mn-ea"/>
              </a:rPr>
              <a:t>：</a:t>
            </a:r>
            <a:r>
              <a:rPr lang="zh-CN" altLang="en-US" sz="900">
                <a:solidFill>
                  <a:srgbClr val="666666"/>
                </a:solidFill>
                <a:latin typeface="微软雅黑" panose="020B0503020204020204" charset="-122"/>
                <a:ea typeface="微软雅黑" panose="020B0503020204020204" charset="-122"/>
                <a:sym typeface="+mn-ea"/>
              </a:rPr>
              <a:t>实体关联路径查找</a:t>
            </a:r>
            <a:endParaRPr lang="zh-CN" altLang="en-US" sz="900">
              <a:solidFill>
                <a:srgbClr val="666666"/>
              </a:solidFill>
              <a:latin typeface="微软雅黑" panose="020B0503020204020204" charset="-122"/>
              <a:ea typeface="微软雅黑" panose="020B0503020204020204" charset="-122"/>
              <a:sym typeface="+mn-ea"/>
            </a:endParaRPr>
          </a:p>
        </p:txBody>
      </p:sp>
      <p:sp>
        <p:nvSpPr>
          <p:cNvPr id="37" name="圆角矩形 36"/>
          <p:cNvSpPr/>
          <p:nvPr/>
        </p:nvSpPr>
        <p:spPr>
          <a:xfrm>
            <a:off x="7089775" y="5836920"/>
            <a:ext cx="3879215" cy="245110"/>
          </a:xfrm>
          <a:prstGeom prst="roundRect">
            <a:avLst/>
          </a:prstGeom>
          <a:solidFill>
            <a:srgbClr val="FFFFFF"/>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rgbClr val="666666"/>
                </a:solidFill>
                <a:latin typeface="微软雅黑" panose="020B0503020204020204" charset="-122"/>
                <a:ea typeface="微软雅黑" panose="020B0503020204020204" charset="-122"/>
                <a:sym typeface="+mn-ea"/>
              </a:rPr>
              <a:t>图谱子图匹配</a:t>
            </a:r>
            <a:r>
              <a:rPr lang="en-US" altLang="zh-CN" sz="900">
                <a:solidFill>
                  <a:srgbClr val="666666"/>
                </a:solidFill>
                <a:latin typeface="微软雅黑" panose="020B0503020204020204" charset="-122"/>
                <a:ea typeface="微软雅黑" panose="020B0503020204020204" charset="-122"/>
                <a:sym typeface="+mn-ea"/>
              </a:rPr>
              <a:t>：cypher</a:t>
            </a:r>
            <a:r>
              <a:rPr lang="zh-CN" altLang="en-US" sz="900">
                <a:solidFill>
                  <a:srgbClr val="666666"/>
                </a:solidFill>
                <a:latin typeface="微软雅黑" panose="020B0503020204020204" charset="-122"/>
                <a:ea typeface="微软雅黑" panose="020B0503020204020204" charset="-122"/>
                <a:sym typeface="+mn-ea"/>
              </a:rPr>
              <a:t>查询精准定位</a:t>
            </a:r>
            <a:endParaRPr lang="zh-CN" altLang="en-US" sz="900">
              <a:solidFill>
                <a:srgbClr val="666666"/>
              </a:solidFill>
              <a:latin typeface="微软雅黑" panose="020B0503020204020204" charset="-122"/>
              <a:ea typeface="微软雅黑" panose="020B0503020204020204" charset="-122"/>
              <a:sym typeface="+mn-ea"/>
            </a:endParaRPr>
          </a:p>
        </p:txBody>
      </p:sp>
      <p:sp>
        <p:nvSpPr>
          <p:cNvPr id="38" name="圆角矩形 37"/>
          <p:cNvSpPr/>
          <p:nvPr/>
        </p:nvSpPr>
        <p:spPr>
          <a:xfrm>
            <a:off x="7089775" y="6147435"/>
            <a:ext cx="3879215" cy="245110"/>
          </a:xfrm>
          <a:prstGeom prst="roundRect">
            <a:avLst/>
          </a:prstGeom>
          <a:solidFill>
            <a:srgbClr val="E2EEDA"/>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900">
                <a:solidFill>
                  <a:srgbClr val="666666"/>
                </a:solidFill>
                <a:latin typeface="微软雅黑" panose="020B0503020204020204" charset="-122"/>
                <a:ea typeface="微软雅黑" panose="020B0503020204020204" charset="-122"/>
                <a:sym typeface="+mn-ea"/>
              </a:rPr>
              <a:t>返回要素级内容</a:t>
            </a:r>
            <a:r>
              <a:rPr lang="en-US" altLang="zh-CN" sz="900">
                <a:solidFill>
                  <a:srgbClr val="666666"/>
                </a:solidFill>
                <a:latin typeface="微软雅黑" panose="020B0503020204020204" charset="-122"/>
                <a:ea typeface="微软雅黑" panose="020B0503020204020204" charset="-122"/>
                <a:sym typeface="+mn-ea"/>
              </a:rPr>
              <a:t>+</a:t>
            </a:r>
            <a:r>
              <a:rPr lang="zh-CN" altLang="en-US" sz="900">
                <a:solidFill>
                  <a:srgbClr val="666666"/>
                </a:solidFill>
                <a:latin typeface="微软雅黑" panose="020B0503020204020204" charset="-122"/>
                <a:ea typeface="微软雅黑" panose="020B0503020204020204" charset="-122"/>
                <a:sym typeface="+mn-ea"/>
              </a:rPr>
              <a:t>关联图谱</a:t>
            </a:r>
            <a:endParaRPr lang="zh-CN" altLang="en-US" sz="900">
              <a:solidFill>
                <a:srgbClr val="666666"/>
              </a:solidFill>
              <a:latin typeface="微软雅黑" panose="020B0503020204020204" charset="-122"/>
              <a:ea typeface="微软雅黑" panose="020B0503020204020204" charset="-122"/>
              <a:sym typeface="+mn-ea"/>
            </a:endParaRPr>
          </a:p>
        </p:txBody>
      </p:sp>
      <p:sp>
        <p:nvSpPr>
          <p:cNvPr id="39" name="等腰三角形 38"/>
          <p:cNvSpPr/>
          <p:nvPr/>
        </p:nvSpPr>
        <p:spPr>
          <a:xfrm rot="10800000">
            <a:off x="8802370" y="5433695"/>
            <a:ext cx="422910" cy="82550"/>
          </a:xfrm>
          <a:prstGeom prst="triangle">
            <a:avLst/>
          </a:prstGeom>
          <a:solidFill>
            <a:schemeClr val="accent1">
              <a:lumMod val="40000"/>
              <a:lumOff val="60000"/>
            </a:schemeClr>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等腰三角形 39"/>
          <p:cNvSpPr/>
          <p:nvPr/>
        </p:nvSpPr>
        <p:spPr>
          <a:xfrm rot="10800000">
            <a:off x="8802370" y="5752465"/>
            <a:ext cx="422910" cy="82550"/>
          </a:xfrm>
          <a:prstGeom prst="triangle">
            <a:avLst/>
          </a:prstGeom>
          <a:solidFill>
            <a:schemeClr val="accent1">
              <a:lumMod val="40000"/>
              <a:lumOff val="60000"/>
            </a:schemeClr>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等腰三角形 40"/>
          <p:cNvSpPr/>
          <p:nvPr/>
        </p:nvSpPr>
        <p:spPr>
          <a:xfrm rot="10800000">
            <a:off x="8802370" y="6082030"/>
            <a:ext cx="422910" cy="82550"/>
          </a:xfrm>
          <a:prstGeom prst="triangle">
            <a:avLst/>
          </a:prstGeom>
          <a:solidFill>
            <a:schemeClr val="accent1">
              <a:lumMod val="40000"/>
              <a:lumOff val="60000"/>
            </a:schemeClr>
          </a:solidFill>
          <a:ln>
            <a:solidFill>
              <a:srgbClr val="E8F3F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5" name="组合 24"/>
          <p:cNvGrpSpPr/>
          <p:nvPr/>
        </p:nvGrpSpPr>
        <p:grpSpPr>
          <a:xfrm>
            <a:off x="6411595" y="3717647"/>
            <a:ext cx="5399405" cy="624615"/>
            <a:chOff x="947" y="5823"/>
            <a:chExt cx="17600" cy="665"/>
          </a:xfrm>
        </p:grpSpPr>
        <p:sp>
          <p:nvSpPr>
            <p:cNvPr id="42" name="AutoShape 16"/>
            <p:cNvSpPr/>
            <p:nvPr/>
          </p:nvSpPr>
          <p:spPr>
            <a:xfrm>
              <a:off x="947" y="5823"/>
              <a:ext cx="17600" cy="665"/>
            </a:xfrm>
            <a:prstGeom prst="roundRect">
              <a:avLst>
                <a:gd name="adj" fmla="val 0"/>
              </a:avLst>
            </a:prstGeom>
            <a:solidFill>
              <a:srgbClr val="FFFFFF">
                <a:alpha val="70000"/>
              </a:srgbClr>
            </a:solidFill>
            <a:ln cap="flat" cmpd="sng">
              <a:solidFill>
                <a:srgbClr val="E6CFCF">
                  <a:alpha val="7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3" name="AutoShape 17"/>
            <p:cNvSpPr/>
            <p:nvPr/>
          </p:nvSpPr>
          <p:spPr>
            <a:xfrm>
              <a:off x="1036" y="5866"/>
              <a:ext cx="17399" cy="53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4080FF"/>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示例：用户问“</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查一下 2024 年 9 月 15 日给华远地产股份有限公司放的流动资金贷款是多少？</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 </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对象索引定位业务场景</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对公信贷</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业务活动</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贷款发放</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业务对象</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大型企业</a:t>
              </a:r>
              <a:r>
                <a:rPr lang="en-US" altLang="zh-CN"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 召回</a:t>
              </a:r>
              <a:r>
                <a:rPr lang="zh-CN" alt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对公企业贷款场景知识图谱</a:t>
              </a: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sp>
        <p:nvSpPr>
          <p:cNvPr id="3" name="arrow-down"/>
          <p:cNvSpPr/>
          <p:nvPr/>
        </p:nvSpPr>
        <p:spPr>
          <a:xfrm>
            <a:off x="9030970" y="4365625"/>
            <a:ext cx="381000" cy="190500"/>
          </a:xfrm>
          <a:prstGeom prst="downArrow">
            <a:avLst/>
          </a:prstGeom>
        </p:spPr>
        <p:style>
          <a:lnRef idx="0">
            <a:srgbClr val="FFFFFF"/>
          </a:lnRef>
          <a:fillRef idx="2">
            <a:schemeClr val="accent1"/>
          </a:fillRef>
          <a:effectRef idx="0">
            <a:srgbClr val="FFFFFF"/>
          </a:effectRef>
          <a:fontRef idx="minor">
            <a:schemeClr val="lt1"/>
          </a:fontRef>
        </p:style>
      </p:sp>
      <p:grpSp>
        <p:nvGrpSpPr>
          <p:cNvPr id="44" name="组合 43"/>
          <p:cNvGrpSpPr/>
          <p:nvPr/>
        </p:nvGrpSpPr>
        <p:grpSpPr>
          <a:xfrm>
            <a:off x="9675495" y="0"/>
            <a:ext cx="2459355" cy="171450"/>
            <a:chOff x="16516" y="0"/>
            <a:chExt cx="2594" cy="270"/>
          </a:xfrm>
        </p:grpSpPr>
        <p:sp>
          <p:nvSpPr>
            <p:cNvPr id="45" name="矩形 44"/>
            <p:cNvSpPr/>
            <p:nvPr/>
          </p:nvSpPr>
          <p:spPr>
            <a:xfrm>
              <a:off x="16516"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混合索引</a:t>
              </a:r>
              <a:endParaRPr lang="zh-CN" altLang="en-US" sz="1000">
                <a:latin typeface="微软雅黑" panose="020B0503020204020204" charset="-122"/>
                <a:ea typeface="微软雅黑" panose="020B0503020204020204" charset="-122"/>
              </a:endParaRPr>
            </a:p>
          </p:txBody>
        </p:sp>
        <p:sp>
          <p:nvSpPr>
            <p:cNvPr id="46" name="矩形 45"/>
            <p:cNvSpPr/>
            <p:nvPr/>
          </p:nvSpPr>
          <p:spPr>
            <a:xfrm>
              <a:off x="17788"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latin typeface="微软雅黑" panose="020B0503020204020204" charset="-122"/>
                  <a:ea typeface="微软雅黑" panose="020B0503020204020204" charset="-122"/>
                </a:rPr>
                <a:t>API/MCP/SKILL</a:t>
              </a:r>
              <a:endParaRPr lang="en-US" altLang="zh-CN" sz="1000">
                <a:latin typeface="微软雅黑" panose="020B0503020204020204" charset="-122"/>
                <a:ea typeface="微软雅黑" panose="020B0503020204020204" charset="-122"/>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2.4.2 核心索引能力API/MCP/ Skill 化封装 </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410845" y="935355"/>
            <a:ext cx="11370945" cy="1149985"/>
          </a:xfrm>
          <a:prstGeom prst="rect">
            <a:avLst/>
          </a:prstGeom>
          <a:ln w="9525" cmpd="sng">
            <a:solidFill>
              <a:srgbClr val="0070C0"/>
            </a:solidFill>
            <a:prstDash val="dash"/>
          </a:ln>
        </p:spPr>
        <p:txBody>
          <a:bodyPr vert="horz" tIns="45708" rtlCol="0" anchor="ctr">
            <a:noAutofit/>
          </a:bodyPr>
          <a:lstStyle/>
          <a:p>
            <a:pPr lvl="0" indent="457200" algn="just">
              <a:lnSpc>
                <a:spcPct val="150000"/>
              </a:lnSpc>
              <a:spcBef>
                <a:spcPts val="0"/>
              </a:spcBef>
              <a:spcAft>
                <a:spcPts val="0"/>
              </a:spcAft>
              <a:buClr>
                <a:srgbClr val="FF0000"/>
              </a:buClr>
              <a:buSzTx/>
              <a:buFont typeface="Wingdings" panose="05000000000000000000" charset="0"/>
              <a:defRPr/>
              <a:extLst>
                <a:ext uri="{35155182-B16C-46BC-9424-99874614C6A1}">
                  <wpsdc:indentchars xmlns:wpsdc="http://www.wps.cn/officeDocument/2017/drawingmlCustomData" val="200" checksum="59296752"/>
                </a:ext>
              </a:extLst>
            </a:pP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将索引层各类知识检索能力，封装为独立、标准、可复用的原子服务</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每个服务自带“处理逻辑</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 + </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知识访问</a:t>
            </a:r>
            <a:r>
              <a:rPr lang="en-US" altLang="zh-CN"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 + </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效果增强”完整能力，</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让零散的知识能力变成</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AI</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可调用的标准化服务，支持上层智能体直接调用，避免重复建设。</a:t>
            </a:r>
            <a:endPar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endParaRPr>
          </a:p>
        </p:txBody>
      </p:sp>
      <p:sp>
        <p:nvSpPr>
          <p:cNvPr id="4" name="AutoShape 7"/>
          <p:cNvSpPr/>
          <p:nvPr/>
        </p:nvSpPr>
        <p:spPr>
          <a:xfrm>
            <a:off x="668020" y="2303780"/>
            <a:ext cx="2540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索引层能力</a:t>
            </a:r>
            <a:endParaRPr lang="en-US" sz="13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8" name="AutoShape 8"/>
          <p:cNvSpPr/>
          <p:nvPr/>
        </p:nvSpPr>
        <p:spPr>
          <a:xfrm>
            <a:off x="668020" y="2777490"/>
            <a:ext cx="2476500" cy="685800"/>
          </a:xfrm>
          <a:prstGeom prst="roundRect">
            <a:avLst>
              <a:gd name="adj" fmla="val 0"/>
            </a:avLst>
          </a:prstGeom>
          <a:solidFill>
            <a:srgbClr val="E9F2FB"/>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9" name="AutoShape 9"/>
          <p:cNvSpPr/>
          <p:nvPr/>
        </p:nvSpPr>
        <p:spPr>
          <a:xfrm>
            <a:off x="731520" y="284099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统一语义</a:t>
            </a: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图</a:t>
            </a: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索引</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25000"/>
              </a:lnSpc>
            </a:pP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文档对象索引</a:t>
            </a:r>
            <a:endPar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0" name="AutoShape 10"/>
          <p:cNvSpPr/>
          <p:nvPr/>
        </p:nvSpPr>
        <p:spPr>
          <a:xfrm>
            <a:off x="668020" y="3618230"/>
            <a:ext cx="2476500" cy="685800"/>
          </a:xfrm>
          <a:prstGeom prst="roundRect">
            <a:avLst>
              <a:gd name="adj" fmla="val 0"/>
            </a:avLst>
          </a:prstGeom>
          <a:solidFill>
            <a:srgbClr val="E9F2FB"/>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1" name="AutoShape 11"/>
          <p:cNvSpPr/>
          <p:nvPr/>
        </p:nvSpPr>
        <p:spPr>
          <a:xfrm>
            <a:off x="731520" y="368173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全量</a:t>
            </a:r>
            <a:r>
              <a:rPr lang="zh-CN" alt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知识向量索引</a:t>
            </a:r>
            <a:endParaRPr lang="zh-CN" alt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ctr">
              <a:lnSpc>
                <a:spcPct val="125000"/>
              </a:lnSpc>
              <a:defRPr/>
            </a:pPr>
            <a:r>
              <a:rPr lang="zh-CN" altLang="en-US" sz="1000" b="0" i="0" u="none" strike="noStrike">
                <a:solidFill>
                  <a:srgbClr val="888888"/>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知识向量索引</a:t>
            </a:r>
            <a:endParaRPr lang="zh-CN" altLang="en-US" sz="1000" b="0" i="0" u="none" strike="noStrike">
              <a:solidFill>
                <a:srgbClr val="888888"/>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2" name="AutoShape 12"/>
          <p:cNvSpPr/>
          <p:nvPr/>
        </p:nvSpPr>
        <p:spPr>
          <a:xfrm>
            <a:off x="668020" y="4481830"/>
            <a:ext cx="2476500" cy="685800"/>
          </a:xfrm>
          <a:prstGeom prst="roundRect">
            <a:avLst>
              <a:gd name="adj" fmla="val 0"/>
            </a:avLst>
          </a:prstGeom>
          <a:solidFill>
            <a:srgbClr val="E9F2FB"/>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3" name="AutoShape 13"/>
          <p:cNvSpPr/>
          <p:nvPr/>
        </p:nvSpPr>
        <p:spPr>
          <a:xfrm>
            <a:off x="731520" y="454533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专题知识</a:t>
            </a:r>
            <a:r>
              <a:rPr lang="zh-CN" alt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内容</a:t>
            </a:r>
            <a:r>
              <a:rPr 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图谱</a:t>
            </a:r>
            <a:r>
              <a:rPr lang="zh-CN" alt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索引</a:t>
            </a:r>
            <a:endParaRPr lang="zh-CN" alt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a:p>
            <a:pPr marL="0" indent="0" algn="ctr">
              <a:lnSpc>
                <a:spcPct val="125000"/>
              </a:lnSpc>
              <a:defRPr/>
            </a:pPr>
            <a:r>
              <a:rPr lang="zh-CN" altLang="en-US" sz="1000" b="0" i="0" u="none" strike="noStrike">
                <a:solidFill>
                  <a:srgbClr val="888888"/>
                </a:solidFill>
                <a:latin typeface="微软雅黑" panose="020B0503020204020204" charset="-122"/>
                <a:ea typeface="微软雅黑" panose="020B0503020204020204" charset="-122"/>
                <a:cs typeface="Noto Sans SC" panose="020B0200000000000000" charset="-122"/>
                <a:sym typeface="Noto Sans SC" panose="020B0200000000000000" charset="-122"/>
              </a:rPr>
              <a:t>专题知识内容图谱</a:t>
            </a:r>
            <a:endParaRPr lang="zh-CN" altLang="en-US" sz="1000" b="0" i="0" u="none" strike="noStrike">
              <a:solidFill>
                <a:srgbClr val="888888"/>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4" name="AutoShape 14"/>
          <p:cNvSpPr/>
          <p:nvPr/>
        </p:nvSpPr>
        <p:spPr>
          <a:xfrm>
            <a:off x="668020" y="5402580"/>
            <a:ext cx="2476500" cy="685800"/>
          </a:xfrm>
          <a:prstGeom prst="roundRect">
            <a:avLst>
              <a:gd name="adj" fmla="val 0"/>
            </a:avLst>
          </a:prstGeom>
          <a:solidFill>
            <a:srgbClr val="E9F2FB"/>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5" name="AutoShape 15"/>
          <p:cNvSpPr/>
          <p:nvPr/>
        </p:nvSpPr>
        <p:spPr>
          <a:xfrm>
            <a:off x="731520" y="546608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pP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混合检索逻辑</a:t>
            </a:r>
            <a:endPar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25000"/>
              </a:lnSpc>
            </a:pPr>
            <a:r>
              <a:rPr 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多路召回+</a:t>
            </a: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融合</a:t>
            </a:r>
            <a:endPar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7" name="AutoShape 17"/>
          <p:cNvSpPr/>
          <p:nvPr/>
        </p:nvSpPr>
        <p:spPr>
          <a:xfrm>
            <a:off x="3677920" y="2740025"/>
            <a:ext cx="3746500" cy="3348990"/>
          </a:xfrm>
          <a:prstGeom prst="roundRect">
            <a:avLst>
              <a:gd name="adj" fmla="val 0"/>
            </a:avLst>
          </a:prstGeom>
          <a:solidFill>
            <a:srgbClr val="E8F3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8" name="AutoShape 18"/>
          <p:cNvSpPr/>
          <p:nvPr/>
        </p:nvSpPr>
        <p:spPr>
          <a:xfrm>
            <a:off x="3868420" y="2757805"/>
            <a:ext cx="3429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 标准化封装引擎</a:t>
            </a:r>
            <a:endParaRPr lang="en-US" sz="13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9" name="AutoShape 19"/>
          <p:cNvSpPr/>
          <p:nvPr/>
        </p:nvSpPr>
        <p:spPr>
          <a:xfrm>
            <a:off x="3868420" y="3188970"/>
            <a:ext cx="3365500" cy="660400"/>
          </a:xfrm>
          <a:prstGeom prst="roundRect">
            <a:avLst>
              <a:gd name="adj" fmla="val 0"/>
            </a:avLst>
          </a:prstGeom>
          <a:solidFill>
            <a:srgbClr val="FFFFFF">
              <a:alpha val="100000"/>
            </a:srgbClr>
          </a:solidFill>
          <a:ln w="12700" cap="flat" cmpd="sng">
            <a:solidFill>
              <a:srgbClr val="B4D2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0" name="AutoShape 20"/>
          <p:cNvSpPr/>
          <p:nvPr/>
        </p:nvSpPr>
        <p:spPr>
          <a:xfrm>
            <a:off x="3931920" y="3252470"/>
            <a:ext cx="3238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能力逻辑层：</a:t>
            </a:r>
            <a:r>
              <a:rPr lang="en-US" sz="11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封装检索策略编排、相似度计算、结果重排及召回算法</a:t>
            </a:r>
            <a:endParaRPr lang="en-US" sz="1100">
              <a:latin typeface="微软雅黑" panose="020B0503020204020204" charset="-122"/>
              <a:ea typeface="微软雅黑" panose="020B0503020204020204" charset="-122"/>
            </a:endParaRPr>
          </a:p>
        </p:txBody>
      </p:sp>
      <p:sp>
        <p:nvSpPr>
          <p:cNvPr id="41" name="AutoShape 21"/>
          <p:cNvSpPr/>
          <p:nvPr/>
        </p:nvSpPr>
        <p:spPr>
          <a:xfrm>
            <a:off x="3868420" y="3938270"/>
            <a:ext cx="3365500" cy="660400"/>
          </a:xfrm>
          <a:prstGeom prst="roundRect">
            <a:avLst>
              <a:gd name="adj" fmla="val 0"/>
            </a:avLst>
          </a:prstGeom>
          <a:solidFill>
            <a:srgbClr val="FFFFFF">
              <a:alpha val="100000"/>
            </a:srgbClr>
          </a:solidFill>
          <a:ln w="12700" cap="flat" cmpd="sng">
            <a:solidFill>
              <a:srgbClr val="B4D2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2" name="AutoShape 22"/>
          <p:cNvSpPr/>
          <p:nvPr/>
        </p:nvSpPr>
        <p:spPr>
          <a:xfrm>
            <a:off x="3931920" y="4001770"/>
            <a:ext cx="3238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访问层：</a:t>
            </a:r>
            <a:r>
              <a:rPr lang="en-US" sz="1100">
                <a:solidFill>
                  <a:srgbClr val="555555"/>
                </a:solidFill>
                <a:latin typeface="微软雅黑" panose="020B0503020204020204" charset="-122"/>
                <a:ea typeface="微软雅黑" panose="020B0503020204020204" charset="-122"/>
                <a:cs typeface="Noto Sans SC" panose="020B0200000000000000" charset="-122"/>
              </a:rPr>
              <a:t>统一索引读写标准接口、连接池调度、负载均衡、故障容灾兜底</a:t>
            </a:r>
            <a:endParaRPr lang="zh-CN" altLang="en-US" sz="1100">
              <a:latin typeface="微软雅黑" panose="020B0503020204020204" charset="-122"/>
              <a:ea typeface="微软雅黑" panose="020B0503020204020204" charset="-122"/>
            </a:endParaRPr>
          </a:p>
        </p:txBody>
      </p:sp>
      <p:sp>
        <p:nvSpPr>
          <p:cNvPr id="43" name="AutoShape 23"/>
          <p:cNvSpPr/>
          <p:nvPr/>
        </p:nvSpPr>
        <p:spPr>
          <a:xfrm>
            <a:off x="3868420" y="4687570"/>
            <a:ext cx="3365500" cy="660400"/>
          </a:xfrm>
          <a:prstGeom prst="roundRect">
            <a:avLst>
              <a:gd name="adj" fmla="val 0"/>
            </a:avLst>
          </a:prstGeom>
          <a:solidFill>
            <a:srgbClr val="FFFFFF">
              <a:alpha val="100000"/>
            </a:srgbClr>
          </a:solidFill>
          <a:ln w="12700" cap="flat" cmpd="sng">
            <a:solidFill>
              <a:srgbClr val="B4D2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4" name="AutoShape 24"/>
          <p:cNvSpPr/>
          <p:nvPr/>
        </p:nvSpPr>
        <p:spPr>
          <a:xfrm>
            <a:off x="3931920" y="4751070"/>
            <a:ext cx="3238500" cy="533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知识增强层：</a:t>
            </a:r>
            <a:r>
              <a:rPr lang="en-US" sz="11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集成实体链接、意图识别与上下文感知的动态增强逻辑</a:t>
            </a:r>
            <a:endParaRPr lang="en-US" sz="1100">
              <a:latin typeface="微软雅黑" panose="020B0503020204020204" charset="-122"/>
              <a:ea typeface="微软雅黑" panose="020B0503020204020204" charset="-122"/>
            </a:endParaRPr>
          </a:p>
        </p:txBody>
      </p:sp>
      <p:sp>
        <p:nvSpPr>
          <p:cNvPr id="45" name="AutoShape 25"/>
          <p:cNvSpPr/>
          <p:nvPr/>
        </p:nvSpPr>
        <p:spPr>
          <a:xfrm>
            <a:off x="3868420" y="5538470"/>
            <a:ext cx="1625600" cy="3048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6" name="AutoShape 26"/>
          <p:cNvSpPr/>
          <p:nvPr/>
        </p:nvSpPr>
        <p:spPr>
          <a:xfrm>
            <a:off x="3868420" y="5538470"/>
            <a:ext cx="16256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标准接口</a:t>
            </a:r>
            <a:r>
              <a:rPr lang="zh-CN" altLang="en-US" sz="1100" b="0"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调用</a:t>
            </a:r>
            <a:r>
              <a:rPr lang="en-US" sz="1100" b="0"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 CLI/MCP</a:t>
            </a:r>
            <a:endParaRPr lang="en-US" sz="1100">
              <a:latin typeface="微软雅黑" panose="020B0503020204020204" charset="-122"/>
              <a:ea typeface="微软雅黑" panose="020B0503020204020204" charset="-122"/>
              <a:cs typeface="微软雅黑" panose="020B0503020204020204" charset="-122"/>
            </a:endParaRPr>
          </a:p>
        </p:txBody>
      </p:sp>
      <p:sp>
        <p:nvSpPr>
          <p:cNvPr id="47" name="AutoShape 27"/>
          <p:cNvSpPr/>
          <p:nvPr/>
        </p:nvSpPr>
        <p:spPr>
          <a:xfrm>
            <a:off x="5608320" y="5538470"/>
            <a:ext cx="1625600" cy="304800"/>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9" name="AutoShape 28"/>
          <p:cNvSpPr/>
          <p:nvPr/>
        </p:nvSpPr>
        <p:spPr>
          <a:xfrm>
            <a:off x="5608320" y="5538470"/>
            <a:ext cx="16256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独立版本迭代治理</a:t>
            </a:r>
            <a:endParaRPr lang="en-US" sz="1100" b="0"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2" name="AutoShape 31"/>
          <p:cNvSpPr/>
          <p:nvPr/>
        </p:nvSpPr>
        <p:spPr>
          <a:xfrm>
            <a:off x="7980045" y="2383790"/>
            <a:ext cx="2855595"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可复用的</a:t>
            </a:r>
            <a:r>
              <a:rPr lang="zh-CN" altLang="en-US"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服务</a:t>
            </a:r>
            <a:r>
              <a:rPr lang="en-US"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原子能力</a:t>
            </a:r>
            <a:endParaRPr lang="en-US"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9" name="AutoShape 38"/>
          <p:cNvSpPr/>
          <p:nvPr/>
        </p:nvSpPr>
        <p:spPr>
          <a:xfrm>
            <a:off x="7874000" y="5698490"/>
            <a:ext cx="361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 向上支撑 Multi-Agent Routing 按需动态调用与组合</a:t>
            </a:r>
            <a:endParaRPr lang="en-US" sz="11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2" name="AutoShape 8"/>
          <p:cNvSpPr/>
          <p:nvPr/>
        </p:nvSpPr>
        <p:spPr>
          <a:xfrm>
            <a:off x="8268335" y="2766060"/>
            <a:ext cx="2476500" cy="685800"/>
          </a:xfrm>
          <a:prstGeom prst="roundRect">
            <a:avLst>
              <a:gd name="adj" fmla="val 0"/>
            </a:avLst>
          </a:prstGeom>
          <a:solidFill>
            <a:srgbClr val="E2EEDA"/>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3" name="AutoShape 9"/>
          <p:cNvSpPr/>
          <p:nvPr/>
        </p:nvSpPr>
        <p:spPr>
          <a:xfrm>
            <a:off x="8331835" y="282956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统一语义</a:t>
            </a: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a:t>
            </a:r>
            <a:r>
              <a:rPr 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图API/MCP/Skill</a:t>
            </a:r>
            <a:endPar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25000"/>
              </a:lnSpc>
              <a:defRPr/>
            </a:pP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a:t>
            </a:r>
            <a:r>
              <a:rPr lang="en-US" altLang="zh-CN"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文档对象</a:t>
            </a:r>
            <a:r>
              <a:rPr lang="en-US" altLang="zh-CN"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关联</a:t>
            </a:r>
            <a:endPar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4" name="AutoShape 8"/>
          <p:cNvSpPr/>
          <p:nvPr/>
        </p:nvSpPr>
        <p:spPr>
          <a:xfrm>
            <a:off x="8268335" y="3624580"/>
            <a:ext cx="2476500" cy="685800"/>
          </a:xfrm>
          <a:prstGeom prst="roundRect">
            <a:avLst>
              <a:gd name="adj" fmla="val 0"/>
            </a:avLst>
          </a:prstGeom>
          <a:solidFill>
            <a:srgbClr val="E2EEDA"/>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5" name="AutoShape 9"/>
          <p:cNvSpPr/>
          <p:nvPr/>
        </p:nvSpPr>
        <p:spPr>
          <a:xfrm>
            <a:off x="8331835" y="368808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知识向量索引</a:t>
            </a:r>
            <a:r>
              <a:rPr lang="en-US" sz="12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API/MCP/Skill</a:t>
            </a:r>
            <a:endPar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25000"/>
              </a:lnSpc>
              <a:defRPr/>
            </a:pP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输出相似内容</a:t>
            </a:r>
            <a:endPar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6" name="AutoShape 8"/>
          <p:cNvSpPr/>
          <p:nvPr/>
        </p:nvSpPr>
        <p:spPr>
          <a:xfrm>
            <a:off x="8268335" y="4483100"/>
            <a:ext cx="2476500" cy="685800"/>
          </a:xfrm>
          <a:prstGeom prst="roundRect">
            <a:avLst>
              <a:gd name="adj" fmla="val 0"/>
            </a:avLst>
          </a:prstGeom>
          <a:solidFill>
            <a:srgbClr val="E2EEDA"/>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7" name="AutoShape 9"/>
          <p:cNvSpPr/>
          <p:nvPr/>
        </p:nvSpPr>
        <p:spPr>
          <a:xfrm>
            <a:off x="8331835" y="454660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专题内容图谱索引</a:t>
            </a:r>
            <a:r>
              <a:rPr lang="en-US" sz="12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API/MCP/Skill</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25000"/>
              </a:lnSpc>
            </a:pP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输出图谱结构化检索结构</a:t>
            </a:r>
            <a:endPar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8" name="AutoShape 8"/>
          <p:cNvSpPr/>
          <p:nvPr/>
        </p:nvSpPr>
        <p:spPr>
          <a:xfrm>
            <a:off x="8268335" y="5402580"/>
            <a:ext cx="2476500" cy="685800"/>
          </a:xfrm>
          <a:prstGeom prst="roundRect">
            <a:avLst>
              <a:gd name="adj" fmla="val 0"/>
            </a:avLst>
          </a:prstGeom>
          <a:solidFill>
            <a:srgbClr val="E2EEDA"/>
          </a:solidFill>
          <a:ln w="12700" cap="flat" cmpd="sng">
            <a:solidFill>
              <a:srgbClr val="E8F3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9" name="AutoShape 9"/>
          <p:cNvSpPr/>
          <p:nvPr/>
        </p:nvSpPr>
        <p:spPr>
          <a:xfrm>
            <a:off x="8331835" y="5466080"/>
            <a:ext cx="2349500" cy="558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12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混合检索</a:t>
            </a:r>
            <a:r>
              <a:rPr lang="en-US" sz="1200" b="1">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API/MCP/Skill</a:t>
            </a:r>
            <a:endParaRPr lang="en-US" sz="1100">
              <a:latin typeface="微软雅黑" panose="020B0503020204020204" charset="-122"/>
              <a:ea typeface="微软雅黑" panose="020B0503020204020204" charset="-122"/>
              <a:cs typeface="微软雅黑" panose="020B0503020204020204" charset="-122"/>
            </a:endParaRPr>
          </a:p>
          <a:p>
            <a:pPr marL="0" indent="0" algn="ctr">
              <a:lnSpc>
                <a:spcPct val="125000"/>
              </a:lnSpc>
            </a:pP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a:t>
            </a:r>
            <a:r>
              <a:rPr lang="en-US" altLang="zh-CN"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top-k</a:t>
            </a:r>
            <a:r>
              <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rPr>
              <a:t>结果</a:t>
            </a:r>
            <a:endParaRPr lang="zh-CN" altLang="en-US" sz="1000" b="0" i="0" u="none" strike="noStrike">
              <a:solidFill>
                <a:srgbClr val="888888"/>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70" name="直接箭头连接符 69"/>
          <p:cNvCxnSpPr>
            <a:stCxn id="28" idx="3"/>
          </p:cNvCxnSpPr>
          <p:nvPr/>
        </p:nvCxnSpPr>
        <p:spPr>
          <a:xfrm>
            <a:off x="3144520" y="3120390"/>
            <a:ext cx="51816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1" name="直接箭头连接符 70"/>
          <p:cNvCxnSpPr>
            <a:stCxn id="30" idx="3"/>
          </p:cNvCxnSpPr>
          <p:nvPr/>
        </p:nvCxnSpPr>
        <p:spPr>
          <a:xfrm>
            <a:off x="3144520" y="3961130"/>
            <a:ext cx="50673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2" name="直接箭头连接符 71"/>
          <p:cNvCxnSpPr>
            <a:stCxn id="32" idx="3"/>
          </p:cNvCxnSpPr>
          <p:nvPr/>
        </p:nvCxnSpPr>
        <p:spPr>
          <a:xfrm>
            <a:off x="3144520" y="4824730"/>
            <a:ext cx="49466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3" name="直接箭头连接符 72"/>
          <p:cNvCxnSpPr>
            <a:stCxn id="34" idx="3"/>
          </p:cNvCxnSpPr>
          <p:nvPr/>
        </p:nvCxnSpPr>
        <p:spPr>
          <a:xfrm>
            <a:off x="3144520" y="5745480"/>
            <a:ext cx="50673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4" name="直接箭头连接符 73"/>
          <p:cNvCxnSpPr/>
          <p:nvPr/>
        </p:nvCxnSpPr>
        <p:spPr>
          <a:xfrm>
            <a:off x="7437755" y="3110865"/>
            <a:ext cx="8007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p:nvPr/>
        </p:nvCxnSpPr>
        <p:spPr>
          <a:xfrm>
            <a:off x="7453630" y="3957955"/>
            <a:ext cx="8007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6" name="直接箭头连接符 75"/>
          <p:cNvCxnSpPr/>
          <p:nvPr/>
        </p:nvCxnSpPr>
        <p:spPr>
          <a:xfrm>
            <a:off x="7455535" y="4824730"/>
            <a:ext cx="8007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7" name="直接箭头连接符 76"/>
          <p:cNvCxnSpPr/>
          <p:nvPr/>
        </p:nvCxnSpPr>
        <p:spPr>
          <a:xfrm>
            <a:off x="7455535" y="5745480"/>
            <a:ext cx="80073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8" name="AutoShape 38"/>
          <p:cNvSpPr/>
          <p:nvPr/>
        </p:nvSpPr>
        <p:spPr>
          <a:xfrm>
            <a:off x="3511550" y="6103620"/>
            <a:ext cx="4112895"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1" i="0" u="none" strike="noStrike">
                <a:solidFill>
                  <a:schemeClr val="accent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 向上支撑 Multi-Agent Routing 按需动态调用与组合</a:t>
            </a:r>
            <a:endParaRPr lang="en-US" sz="1100" b="1" i="0" u="none" strike="noStrike">
              <a:solidFill>
                <a:schemeClr val="accent1">
                  <a:alpha val="80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grpSp>
        <p:nvGrpSpPr>
          <p:cNvPr id="3" name="组合 2"/>
          <p:cNvGrpSpPr/>
          <p:nvPr/>
        </p:nvGrpSpPr>
        <p:grpSpPr>
          <a:xfrm>
            <a:off x="9675495" y="0"/>
            <a:ext cx="2459355" cy="171450"/>
            <a:chOff x="16516" y="0"/>
            <a:chExt cx="2594" cy="270"/>
          </a:xfrm>
        </p:grpSpPr>
        <p:sp>
          <p:nvSpPr>
            <p:cNvPr id="5" name="矩形 4"/>
            <p:cNvSpPr/>
            <p:nvPr/>
          </p:nvSpPr>
          <p:spPr>
            <a:xfrm>
              <a:off x="16516"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混合索引</a:t>
              </a:r>
              <a:endParaRPr lang="zh-CN" altLang="en-US" sz="1000">
                <a:latin typeface="微软雅黑" panose="020B0503020204020204" charset="-122"/>
                <a:ea typeface="微软雅黑" panose="020B0503020204020204" charset="-122"/>
              </a:endParaRPr>
            </a:p>
          </p:txBody>
        </p:sp>
        <p:sp>
          <p:nvSpPr>
            <p:cNvPr id="6" name="矩形 5"/>
            <p:cNvSpPr/>
            <p:nvPr/>
          </p:nvSpPr>
          <p:spPr>
            <a:xfrm>
              <a:off x="17788"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latin typeface="微软雅黑" panose="020B0503020204020204" charset="-122"/>
                  <a:ea typeface="微软雅黑" panose="020B0503020204020204" charset="-122"/>
                </a:rPr>
                <a:t>API/MCP/SKILL</a:t>
              </a:r>
              <a:endParaRPr lang="en-US" altLang="zh-CN" sz="1000">
                <a:latin typeface="微软雅黑" panose="020B0503020204020204" charset="-122"/>
                <a:ea typeface="微软雅黑" panose="020B0503020204020204" charset="-122"/>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2.4.2 标准化</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基础知识服务能力建设</a:t>
            </a:r>
            <a:r>
              <a:rPr kumimoji="0"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——API/MCP</a:t>
            </a:r>
            <a:endParaRPr kumimoji="0"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AutoShape 6"/>
          <p:cNvSpPr/>
          <p:nvPr/>
        </p:nvSpPr>
        <p:spPr>
          <a:xfrm>
            <a:off x="508000" y="229997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01 MCP 标准协议（智能体原生交互）</a:t>
            </a:r>
            <a:endParaRPr lang="en-US" sz="1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 name="AutoShape 7"/>
          <p:cNvSpPr/>
          <p:nvPr/>
        </p:nvSpPr>
        <p:spPr>
          <a:xfrm>
            <a:off x="508000" y="2721610"/>
            <a:ext cx="5461000" cy="406400"/>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lstStyle/>
          <a:p>
            <a:pPr algn="ctr">
              <a:defRPr/>
            </a:pPr>
            <a:endParaRPr>
              <a:solidFill>
                <a:schemeClr val="accent1"/>
              </a:solidFill>
              <a:latin typeface="微软雅黑" panose="020B0503020204020204" charset="-122"/>
              <a:ea typeface="微软雅黑" panose="020B0503020204020204" charset="-122"/>
            </a:endParaRPr>
          </a:p>
        </p:txBody>
      </p:sp>
      <p:sp>
        <p:nvSpPr>
          <p:cNvPr id="12" name="AutoShape 8"/>
          <p:cNvSpPr/>
          <p:nvPr/>
        </p:nvSpPr>
        <p:spPr>
          <a:xfrm>
            <a:off x="571500" y="272161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MCP</a:t>
            </a:r>
            <a:r>
              <a:rPr lang="zh-CN" alt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示例</a:t>
            </a:r>
            <a:endParaRPr lang="zh-CN" alt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4" name="AutoShape 10"/>
          <p:cNvSpPr/>
          <p:nvPr/>
        </p:nvSpPr>
        <p:spPr>
          <a:xfrm>
            <a:off x="508000" y="3166110"/>
            <a:ext cx="5461000" cy="304800"/>
          </a:xfrm>
          <a:prstGeom prst="roundRect">
            <a:avLst>
              <a:gd name="adj" fmla="val 0"/>
            </a:avLst>
          </a:prstGeom>
          <a:solidFill>
            <a:srgbClr val="E6F2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5" name="AutoShape 11"/>
          <p:cNvSpPr/>
          <p:nvPr/>
        </p:nvSpPr>
        <p:spPr>
          <a:xfrm>
            <a:off x="571500" y="3166110"/>
            <a:ext cx="533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▍知识图谱基础操作：构建与查询</a:t>
            </a:r>
            <a:endPar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6" name="AutoShape 12"/>
          <p:cNvSpPr/>
          <p:nvPr/>
        </p:nvSpPr>
        <p:spPr>
          <a:xfrm>
            <a:off x="508000" y="3509010"/>
            <a:ext cx="5461000" cy="2794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7" name="AutoShape 13"/>
          <p:cNvSpPr/>
          <p:nvPr/>
        </p:nvSpPr>
        <p:spPr>
          <a:xfrm>
            <a:off x="571500" y="35090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graph_schema_get → 获取图谱完整Schema结构与元数据定义</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AutoShape 14"/>
          <p:cNvSpPr/>
          <p:nvPr/>
        </p:nvSpPr>
        <p:spPr>
          <a:xfrm>
            <a:off x="508000" y="3813810"/>
            <a:ext cx="5461000" cy="279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9" name="AutoShape 15"/>
          <p:cNvSpPr/>
          <p:nvPr/>
        </p:nvSpPr>
        <p:spPr>
          <a:xfrm>
            <a:off x="571500" y="38138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entity_get → 精准获取单个实体的全量属性与关联详情</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0" name="AutoShape 16"/>
          <p:cNvSpPr/>
          <p:nvPr/>
        </p:nvSpPr>
        <p:spPr>
          <a:xfrm>
            <a:off x="508000" y="4118610"/>
            <a:ext cx="5461000" cy="2794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1" name="AutoShape 17"/>
          <p:cNvSpPr/>
          <p:nvPr/>
        </p:nvSpPr>
        <p:spPr>
          <a:xfrm>
            <a:off x="571500" y="41186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relations_get → 批量拉取实体间关联关系与属性信息列表</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2" name="AutoShape 18"/>
          <p:cNvSpPr/>
          <p:nvPr/>
        </p:nvSpPr>
        <p:spPr>
          <a:xfrm>
            <a:off x="508000" y="4448810"/>
            <a:ext cx="5461000" cy="304800"/>
          </a:xfrm>
          <a:prstGeom prst="roundRect">
            <a:avLst>
              <a:gd name="adj" fmla="val 0"/>
            </a:avLst>
          </a:prstGeom>
          <a:solidFill>
            <a:srgbClr val="E6F2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3" name="AutoShape 19"/>
          <p:cNvSpPr/>
          <p:nvPr/>
        </p:nvSpPr>
        <p:spPr>
          <a:xfrm>
            <a:off x="571500" y="4448810"/>
            <a:ext cx="533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rPr>
              <a:t>▍智能检索与路径挖掘：</a:t>
            </a:r>
            <a:r>
              <a:rPr lang="zh-CN" alt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rPr>
              <a:t>关联</a:t>
            </a:r>
            <a:r>
              <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rPr>
              <a:t>与召回</a:t>
            </a:r>
            <a:endPar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4" name="AutoShape 20"/>
          <p:cNvSpPr/>
          <p:nvPr/>
        </p:nvSpPr>
        <p:spPr>
          <a:xfrm>
            <a:off x="508000" y="4791710"/>
            <a:ext cx="5461000" cy="279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5" name="AutoShape 21"/>
          <p:cNvSpPr/>
          <p:nvPr/>
        </p:nvSpPr>
        <p:spPr>
          <a:xfrm>
            <a:off x="571500" y="47917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vector_search → 自然语言转向量，语义召回相似知识片段</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6" name="AutoShape 22"/>
          <p:cNvSpPr/>
          <p:nvPr/>
        </p:nvSpPr>
        <p:spPr>
          <a:xfrm>
            <a:off x="508000" y="5096510"/>
            <a:ext cx="5461000" cy="2794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7" name="AutoShape 23"/>
          <p:cNvSpPr/>
          <p:nvPr/>
        </p:nvSpPr>
        <p:spPr>
          <a:xfrm>
            <a:off x="571500" y="50965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paths_find → 智能挖掘多跳关系，发现实体间隐式关联</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8" name="AutoShape 24"/>
          <p:cNvSpPr/>
          <p:nvPr/>
        </p:nvSpPr>
        <p:spPr>
          <a:xfrm>
            <a:off x="508000" y="5401310"/>
            <a:ext cx="5461000" cy="279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9" name="AutoShape 25"/>
          <p:cNvSpPr/>
          <p:nvPr/>
        </p:nvSpPr>
        <p:spPr>
          <a:xfrm>
            <a:off x="571500" y="54013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scenario_query → 按业务场景、活动等维度精准过滤图谱</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0" name="AutoShape 26"/>
          <p:cNvSpPr/>
          <p:nvPr/>
        </p:nvSpPr>
        <p:spPr>
          <a:xfrm>
            <a:off x="508000" y="5871210"/>
            <a:ext cx="5461000" cy="762000"/>
          </a:xfrm>
          <a:prstGeom prst="roundRect">
            <a:avLst>
              <a:gd name="adj" fmla="val 0"/>
            </a:avLst>
          </a:prstGeom>
          <a:solidFill>
            <a:srgbClr val="F0F5FF">
              <a:alpha val="100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1" name="AutoShape 27"/>
          <p:cNvSpPr/>
          <p:nvPr/>
        </p:nvSpPr>
        <p:spPr>
          <a:xfrm>
            <a:off x="609600" y="5960110"/>
            <a:ext cx="527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核心价值：</a:t>
            </a:r>
            <a:r>
              <a:rPr lang="en-US" sz="13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专为智能体（Agent）设计，返回结构化JSON结果，天然支持多工具链式编排与自主决策调用，是构建认知型AI应用的关键协议。</a:t>
            </a:r>
            <a:endParaRPr lang="en-US" sz="1100">
              <a:latin typeface="微软雅黑" panose="020B0503020204020204" charset="-122"/>
              <a:ea typeface="微软雅黑" panose="020B0503020204020204" charset="-122"/>
              <a:cs typeface="微软雅黑" panose="020B0503020204020204" charset="-122"/>
            </a:endParaRPr>
          </a:p>
        </p:txBody>
      </p:sp>
      <p:sp>
        <p:nvSpPr>
          <p:cNvPr id="32" name="AutoShape 28"/>
          <p:cNvSpPr/>
          <p:nvPr/>
        </p:nvSpPr>
        <p:spPr>
          <a:xfrm>
            <a:off x="6223000" y="2299970"/>
            <a:ext cx="546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02 RESTful API 接口（业务系统集成）</a:t>
            </a:r>
            <a:endParaRPr lang="en-US" sz="1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3" name="AutoShape 29"/>
          <p:cNvSpPr/>
          <p:nvPr/>
        </p:nvSpPr>
        <p:spPr>
          <a:xfrm>
            <a:off x="6223000" y="2721610"/>
            <a:ext cx="5461000" cy="406400"/>
          </a:xfrm>
          <a:prstGeom prst="roundRect">
            <a:avLst>
              <a:gd name="adj" fmla="val 0"/>
            </a:avLst>
          </a:prstGeom>
          <a:solidFill>
            <a:schemeClr val="accent1"/>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4" name="AutoShape 30"/>
          <p:cNvSpPr/>
          <p:nvPr/>
        </p:nvSpPr>
        <p:spPr>
          <a:xfrm>
            <a:off x="6286500" y="272161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API</a:t>
            </a:r>
            <a:r>
              <a:rPr lang="zh-CN" alt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示例</a:t>
            </a:r>
            <a:endParaRPr lang="zh-CN" altLang="en-US" sz="14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6" name="AutoShape 32"/>
          <p:cNvSpPr/>
          <p:nvPr/>
        </p:nvSpPr>
        <p:spPr>
          <a:xfrm>
            <a:off x="6223000" y="3166110"/>
            <a:ext cx="5461000" cy="304800"/>
          </a:xfrm>
          <a:prstGeom prst="roundRect">
            <a:avLst>
              <a:gd name="adj" fmla="val 0"/>
            </a:avLst>
          </a:prstGeom>
          <a:solidFill>
            <a:srgbClr val="E6F2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7" name="AutoShape 33"/>
          <p:cNvSpPr/>
          <p:nvPr/>
        </p:nvSpPr>
        <p:spPr>
          <a:xfrm>
            <a:off x="6286500" y="3166110"/>
            <a:ext cx="533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▍知识图谱管理：标准化接口</a:t>
            </a:r>
            <a:endPar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8" name="AutoShape 34"/>
          <p:cNvSpPr/>
          <p:nvPr/>
        </p:nvSpPr>
        <p:spPr>
          <a:xfrm>
            <a:off x="6223000" y="3509010"/>
            <a:ext cx="5461000" cy="2794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9" name="AutoShape 35"/>
          <p:cNvSpPr/>
          <p:nvPr/>
        </p:nvSpPr>
        <p:spPr>
          <a:xfrm>
            <a:off x="6286500" y="35090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GET /api/v1/schema → 获取图谱模型定义，支撑前端可视化渲染</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0" name="AutoShape 36"/>
          <p:cNvSpPr/>
          <p:nvPr/>
        </p:nvSpPr>
        <p:spPr>
          <a:xfrm>
            <a:off x="6223000" y="3813810"/>
            <a:ext cx="5461000" cy="279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1" name="AutoShape 37"/>
          <p:cNvSpPr/>
          <p:nvPr/>
        </p:nvSpPr>
        <p:spPr>
          <a:xfrm>
            <a:off x="6286500" y="38138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POST /api/v1/entity → 传入ID或条件，批量查询实体详细信息</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2" name="AutoShape 38"/>
          <p:cNvSpPr/>
          <p:nvPr/>
        </p:nvSpPr>
        <p:spPr>
          <a:xfrm>
            <a:off x="6223000" y="4118610"/>
            <a:ext cx="5461000" cy="2794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3" name="AutoShape 39"/>
          <p:cNvSpPr/>
          <p:nvPr/>
        </p:nvSpPr>
        <p:spPr>
          <a:xfrm>
            <a:off x="6286500" y="41186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GET /api/v1/paths → 输入起止实体ID，计算并返回关联路径</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4" name="AutoShape 40"/>
          <p:cNvSpPr/>
          <p:nvPr/>
        </p:nvSpPr>
        <p:spPr>
          <a:xfrm>
            <a:off x="6223000" y="4448810"/>
            <a:ext cx="5461000" cy="304800"/>
          </a:xfrm>
          <a:prstGeom prst="roundRect">
            <a:avLst>
              <a:gd name="adj" fmla="val 0"/>
            </a:avLst>
          </a:prstGeom>
          <a:solidFill>
            <a:srgbClr val="E6F2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5" name="AutoShape 41"/>
          <p:cNvSpPr/>
          <p:nvPr/>
        </p:nvSpPr>
        <p:spPr>
          <a:xfrm>
            <a:off x="6286500" y="4448810"/>
            <a:ext cx="533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rPr>
              <a:t>▍智能服务：检索与推荐接口</a:t>
            </a:r>
            <a:endParaRPr lang="en-US" sz="1300" b="1" i="0" u="none" strike="noStrike">
              <a:solidFill>
                <a:srgbClr val="0F4C8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6" name="AutoShape 42"/>
          <p:cNvSpPr/>
          <p:nvPr/>
        </p:nvSpPr>
        <p:spPr>
          <a:xfrm>
            <a:off x="6223000" y="4791710"/>
            <a:ext cx="5461000" cy="279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7" name="AutoShape 43"/>
          <p:cNvSpPr/>
          <p:nvPr/>
        </p:nvSpPr>
        <p:spPr>
          <a:xfrm>
            <a:off x="6286500" y="47917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POST /api/v1/search → 融合关键词与向量的混合检索，精准召回</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8" name="AutoShape 44"/>
          <p:cNvSpPr/>
          <p:nvPr/>
        </p:nvSpPr>
        <p:spPr>
          <a:xfrm>
            <a:off x="6223000" y="5096510"/>
            <a:ext cx="5461000" cy="279400"/>
          </a:xfrm>
          <a:prstGeom prst="roundRect">
            <a:avLst>
              <a:gd name="adj" fmla="val 0"/>
            </a:avLst>
          </a:prstGeom>
          <a:solidFill>
            <a:srgbClr val="F5F7FA">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9" name="AutoShape 45"/>
          <p:cNvSpPr/>
          <p:nvPr/>
        </p:nvSpPr>
        <p:spPr>
          <a:xfrm>
            <a:off x="6286500" y="50965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POST /api/v1/qa → 问答接口，基于图谱的精准问答与溯源</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0" name="AutoShape 46"/>
          <p:cNvSpPr/>
          <p:nvPr/>
        </p:nvSpPr>
        <p:spPr>
          <a:xfrm>
            <a:off x="6223000" y="5401310"/>
            <a:ext cx="5461000" cy="279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1" name="AutoShape 47"/>
          <p:cNvSpPr/>
          <p:nvPr/>
        </p:nvSpPr>
        <p:spPr>
          <a:xfrm>
            <a:off x="6286500" y="5401310"/>
            <a:ext cx="5334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GET /api/v1/health → 服务健康检查与监控指标上报接口</a:t>
            </a:r>
            <a:endPar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2" name="AutoShape 48"/>
          <p:cNvSpPr/>
          <p:nvPr/>
        </p:nvSpPr>
        <p:spPr>
          <a:xfrm>
            <a:off x="6223000" y="5871210"/>
            <a:ext cx="5461000" cy="762000"/>
          </a:xfrm>
          <a:prstGeom prst="roundRect">
            <a:avLst>
              <a:gd name="adj" fmla="val 0"/>
            </a:avLst>
          </a:prstGeom>
          <a:solidFill>
            <a:srgbClr val="F0F5FF">
              <a:alpha val="100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3" name="AutoShape 49"/>
          <p:cNvSpPr/>
          <p:nvPr/>
        </p:nvSpPr>
        <p:spPr>
          <a:xfrm>
            <a:off x="6324600" y="5960110"/>
            <a:ext cx="5270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核心价值：</a:t>
            </a:r>
            <a:r>
              <a:rPr lang="en-US" sz="1300" b="0" i="0" u="none" strike="noStrike">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遵循RESTful规范，适配企业级业务系统（ERP/CRM等）集成，支持JWT鉴权、限流熔断与全链路监控，保障高并发场景下的稳定性。</a:t>
            </a:r>
            <a:endParaRPr lang="en-US" sz="1100">
              <a:latin typeface="微软雅黑" panose="020B0503020204020204" charset="-122"/>
              <a:ea typeface="微软雅黑" panose="020B0503020204020204" charset="-122"/>
              <a:cs typeface="微软雅黑" panose="020B0503020204020204" charset="-122"/>
            </a:endParaRPr>
          </a:p>
        </p:txBody>
      </p:sp>
      <p:sp>
        <p:nvSpPr>
          <p:cNvPr id="54" name="文本占位符 1"/>
          <p:cNvSpPr>
            <a:spLocks noGrp="1"/>
          </p:cNvSpPr>
          <p:nvPr/>
        </p:nvSpPr>
        <p:spPr>
          <a:xfrm>
            <a:off x="410845" y="935355"/>
            <a:ext cx="11370945" cy="1149985"/>
          </a:xfrm>
          <a:prstGeom prst="rect">
            <a:avLst/>
          </a:prstGeom>
          <a:ln w="9525" cmpd="sng">
            <a:solidFill>
              <a:srgbClr val="0070C0"/>
            </a:solidFill>
            <a:prstDash val="dash"/>
          </a:ln>
        </p:spPr>
        <p:txBody>
          <a:bodyPr vert="horz" tIns="45708" rtlCol="0" anchor="ctr">
            <a:noAutofit/>
          </a:bodyPr>
          <a:lstStyle/>
          <a:p>
            <a:pPr lvl="0" indent="457200" algn="just">
              <a:lnSpc>
                <a:spcPct val="150000"/>
              </a:lnSpc>
              <a:spcBef>
                <a:spcPts val="0"/>
              </a:spcBef>
              <a:spcAft>
                <a:spcPts val="0"/>
              </a:spcAft>
              <a:buClr>
                <a:srgbClr val="FF0000"/>
              </a:buClr>
              <a:buSzTx/>
              <a:buFont typeface="Wingdings" panose="05000000000000000000" charset="0"/>
              <a:defRPr/>
              <a:extLst>
                <a:ext uri="{35155182-B16C-46BC-9424-99874614C6A1}">
                  <wpsdc:indentchars xmlns:wpsdc="http://www.wps.cn/officeDocument/2017/drawingmlCustomData" val="200" checksum="59296752"/>
                </a:ext>
              </a:extLst>
            </a:pP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搭建标准化知识服务接口体系，</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无缝对接业务系统与智能体（</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Agent）</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等多元应用场景。通过构建标准化的</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MCP</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协议与</a:t>
            </a:r>
            <a:r>
              <a:rPr lang="en-US" altLang="zh-CN"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RESTful API</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Noto Sans SC" panose="020B0200000000000000" charset="-122"/>
              </a:rPr>
              <a:t>双轨服务体系，实现知识调用的自动化编排与高效赋能</a:t>
            </a:r>
            <a:r>
              <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rPr>
              <a:t>，为上层应用提供灵活、稳定的知识底座支撑。</a:t>
            </a:r>
            <a:endParaRPr lang="zh-CN" altLang="en-US" noProof="0" dirty="0">
              <a:ln>
                <a:noFill/>
              </a:ln>
              <a:solidFill>
                <a:prstClr val="black"/>
              </a:solidFill>
              <a:effectLst/>
              <a:uLnTx/>
              <a:uFillTx/>
              <a:latin typeface="微软雅黑" panose="020B0503020204020204" charset="-122"/>
              <a:ea typeface="微软雅黑" panose="020B0503020204020204" charset="-122"/>
              <a:sym typeface="Noto Sans SC" panose="020B0200000000000000" charset="-122"/>
            </a:endParaRPr>
          </a:p>
        </p:txBody>
      </p:sp>
      <p:grpSp>
        <p:nvGrpSpPr>
          <p:cNvPr id="5" name="组合 4"/>
          <p:cNvGrpSpPr/>
          <p:nvPr/>
        </p:nvGrpSpPr>
        <p:grpSpPr>
          <a:xfrm>
            <a:off x="9675495" y="0"/>
            <a:ext cx="2459355" cy="171450"/>
            <a:chOff x="16516" y="0"/>
            <a:chExt cx="2594" cy="270"/>
          </a:xfrm>
        </p:grpSpPr>
        <p:sp>
          <p:nvSpPr>
            <p:cNvPr id="6" name="矩形 5"/>
            <p:cNvSpPr/>
            <p:nvPr/>
          </p:nvSpPr>
          <p:spPr>
            <a:xfrm>
              <a:off x="16516"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混合索引</a:t>
              </a:r>
              <a:endParaRPr lang="zh-CN" altLang="en-US" sz="1000">
                <a:latin typeface="微软雅黑" panose="020B0503020204020204" charset="-122"/>
                <a:ea typeface="微软雅黑" panose="020B0503020204020204" charset="-122"/>
              </a:endParaRPr>
            </a:p>
          </p:txBody>
        </p:sp>
        <p:sp>
          <p:nvSpPr>
            <p:cNvPr id="7" name="矩形 6"/>
            <p:cNvSpPr/>
            <p:nvPr/>
          </p:nvSpPr>
          <p:spPr>
            <a:xfrm>
              <a:off x="17788"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latin typeface="微软雅黑" panose="020B0503020204020204" charset="-122"/>
                  <a:ea typeface="微软雅黑" panose="020B0503020204020204" charset="-122"/>
                </a:rPr>
                <a:t>API/MCP/SKILL</a:t>
              </a:r>
              <a:endParaRPr lang="en-US" altLang="zh-CN" sz="1000">
                <a:latin typeface="微软雅黑" panose="020B0503020204020204" charset="-122"/>
                <a:ea typeface="微软雅黑" panose="020B0503020204020204" charset="-122"/>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2.4.2 核心索引能力 Skill 化封装--</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语义图谱+向量</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混合检索skill示例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8" name="Shape 32"/>
          <p:cNvSpPr/>
          <p:nvPr>
            <p:custDataLst>
              <p:tags r:id="rId1"/>
            </p:custDataLst>
          </p:nvPr>
        </p:nvSpPr>
        <p:spPr>
          <a:xfrm>
            <a:off x="8579535" y="968879"/>
            <a:ext cx="2529840"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txBody>
          <a:bodyPr/>
          <a:lstStyle/>
          <a:p>
            <a:pPr algn="ctr"/>
            <a:r>
              <a:rPr lang="en-US" altLang="zh-CN" b="1" dirty="0">
                <a:latin typeface="微软雅黑" panose="020B0503020204020204" charset="-122"/>
                <a:ea typeface="微软雅黑" panose="020B0503020204020204" charset="-122"/>
              </a:rPr>
              <a:t>SKILL</a:t>
            </a:r>
            <a:r>
              <a:rPr lang="zh-CN" altLang="en-US" b="1" dirty="0">
                <a:latin typeface="微软雅黑" panose="020B0503020204020204" charset="-122"/>
                <a:ea typeface="微软雅黑" panose="020B0503020204020204" charset="-122"/>
              </a:rPr>
              <a:t>查询逻辑</a:t>
            </a:r>
            <a:endParaRPr lang="zh-CN" altLang="en-US" b="1" dirty="0">
              <a:latin typeface="微软雅黑" panose="020B0503020204020204" charset="-122"/>
              <a:ea typeface="微软雅黑" panose="020B0503020204020204" charset="-122"/>
            </a:endParaRPr>
          </a:p>
        </p:txBody>
      </p:sp>
      <p:sp>
        <p:nvSpPr>
          <p:cNvPr id="22" name="文本框 21"/>
          <p:cNvSpPr txBox="1"/>
          <p:nvPr/>
        </p:nvSpPr>
        <p:spPr>
          <a:xfrm>
            <a:off x="3609190" y="3584021"/>
            <a:ext cx="927961" cy="307777"/>
          </a:xfrm>
          <a:prstGeom prst="rect">
            <a:avLst/>
          </a:prstGeom>
          <a:noFill/>
        </p:spPr>
        <p:txBody>
          <a:bodyPr wrap="square">
            <a:spAutoFit/>
          </a:bodyPr>
          <a:lstStyle/>
          <a:p>
            <a:r>
              <a:rPr lang="en-US" altLang="zh-CN" sz="1400" b="1" dirty="0">
                <a:latin typeface="微软雅黑" panose="020B0503020204020204" charset="-122"/>
                <a:ea typeface="微软雅黑" panose="020B0503020204020204" charset="-122"/>
              </a:rPr>
              <a:t>SKILL</a:t>
            </a:r>
            <a:endParaRPr lang="zh-CN" altLang="en-US" sz="1400" dirty="0"/>
          </a:p>
        </p:txBody>
      </p:sp>
      <p:sp>
        <p:nvSpPr>
          <p:cNvPr id="34" name="Shape 32"/>
          <p:cNvSpPr/>
          <p:nvPr>
            <p:custDataLst>
              <p:tags r:id="rId2"/>
            </p:custDataLst>
          </p:nvPr>
        </p:nvSpPr>
        <p:spPr>
          <a:xfrm>
            <a:off x="2947035" y="969010"/>
            <a:ext cx="3302635" cy="381000"/>
          </a:xfrm>
          <a:prstGeom prst="roundRect">
            <a:avLst>
              <a:gd name="adj" fmla="val 3000"/>
            </a:avLst>
          </a:prstGeom>
        </p:spPr>
        <p:style>
          <a:lnRef idx="0">
            <a:srgbClr val="FFFFFF"/>
          </a:lnRef>
          <a:fillRef idx="1">
            <a:schemeClr val="accent1"/>
          </a:fillRef>
          <a:effectRef idx="0">
            <a:srgbClr val="FFFFFF"/>
          </a:effectRef>
          <a:fontRef idx="minor">
            <a:schemeClr val="lt1"/>
          </a:fontRef>
        </p:style>
        <p:txBody>
          <a:bodyPr/>
          <a:lstStyle/>
          <a:p>
            <a:pPr algn="ctr"/>
            <a:r>
              <a:rPr lang="zh-CN" altLang="en-US" b="1" dirty="0">
                <a:latin typeface="微软雅黑" panose="020B0503020204020204" charset="-122"/>
                <a:ea typeface="微软雅黑" panose="020B0503020204020204" charset="-122"/>
              </a:rPr>
              <a:t>语义图谱</a:t>
            </a:r>
            <a:r>
              <a:rPr lang="en-US" altLang="zh-CN" b="1" dirty="0">
                <a:latin typeface="微软雅黑" panose="020B0503020204020204" charset="-122"/>
                <a:ea typeface="微软雅黑" panose="020B0503020204020204" charset="-122"/>
              </a:rPr>
              <a:t>+</a:t>
            </a:r>
            <a:r>
              <a:rPr lang="zh-CN" altLang="en-US" b="1" dirty="0">
                <a:latin typeface="微软雅黑" panose="020B0503020204020204" charset="-122"/>
                <a:ea typeface="微软雅黑" panose="020B0503020204020204" charset="-122"/>
              </a:rPr>
              <a:t>向量混合检索</a:t>
            </a:r>
            <a:r>
              <a:rPr lang="en-US" altLang="zh-CN" b="1" dirty="0">
                <a:latin typeface="微软雅黑" panose="020B0503020204020204" charset="-122"/>
                <a:ea typeface="微软雅黑" panose="020B0503020204020204" charset="-122"/>
              </a:rPr>
              <a:t>skill</a:t>
            </a:r>
            <a:endParaRPr lang="en-US" altLang="zh-CN" b="1" dirty="0">
              <a:latin typeface="微软雅黑" panose="020B0503020204020204" charset="-122"/>
              <a:ea typeface="微软雅黑" panose="020B0503020204020204" charset="-122"/>
            </a:endParaRPr>
          </a:p>
        </p:txBody>
      </p:sp>
      <p:cxnSp>
        <p:nvCxnSpPr>
          <p:cNvPr id="30" name="直接连接符 29"/>
          <p:cNvCxnSpPr/>
          <p:nvPr/>
        </p:nvCxnSpPr>
        <p:spPr>
          <a:xfrm>
            <a:off x="66448" y="3609979"/>
            <a:ext cx="4265698"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p:nvPr/>
        </p:nvCxnSpPr>
        <p:spPr>
          <a:xfrm flipV="1">
            <a:off x="7725905" y="818960"/>
            <a:ext cx="0" cy="5790668"/>
          </a:xfrm>
          <a:prstGeom prst="line">
            <a:avLst/>
          </a:prstGeom>
        </p:spPr>
        <p:style>
          <a:lnRef idx="1">
            <a:schemeClr val="accent5"/>
          </a:lnRef>
          <a:fillRef idx="0">
            <a:schemeClr val="accent5"/>
          </a:fillRef>
          <a:effectRef idx="0">
            <a:schemeClr val="accent5"/>
          </a:effectRef>
          <a:fontRef idx="minor">
            <a:schemeClr val="tx1"/>
          </a:fontRef>
        </p:style>
      </p:cxnSp>
      <p:sp>
        <p:nvSpPr>
          <p:cNvPr id="4" name="obj1-bg"/>
          <p:cNvSpPr/>
          <p:nvPr>
            <p:custDataLst>
              <p:tags r:id="rId3"/>
            </p:custDataLst>
          </p:nvPr>
        </p:nvSpPr>
        <p:spPr>
          <a:xfrm>
            <a:off x="8360920" y="1803618"/>
            <a:ext cx="3619500" cy="752134"/>
          </a:xfrm>
          <a:prstGeom prst="roundRect">
            <a:avLst>
              <a:gd name="adj" fmla="val 5000"/>
            </a:avLst>
          </a:prstGeom>
          <a:solidFill>
            <a:srgbClr val="FFFFFF"/>
          </a:solidFill>
          <a:ln w="25400">
            <a:solidFill>
              <a:srgbClr val="2563EB"/>
            </a:solidFill>
          </a:ln>
        </p:spPr>
        <p:txBody>
          <a:bodyPr/>
          <a:lstStyle/>
          <a:p>
            <a:r>
              <a:rPr lang="zh-CN" altLang="zh-CN" sz="1400" b="1" dirty="0">
                <a:latin typeface="微软雅黑" panose="020B0503020204020204" charset="-122"/>
                <a:ea typeface="微软雅黑" panose="020B0503020204020204" charset="-122"/>
              </a:rPr>
              <a:t>图谱本体解析</a:t>
            </a:r>
            <a:r>
              <a:rPr lang="zh-CN" altLang="zh-CN" sz="1400" dirty="0">
                <a:latin typeface="微软雅黑" panose="020B0503020204020204" charset="-122"/>
                <a:ea typeface="微软雅黑" panose="020B0503020204020204" charset="-122"/>
              </a:rPr>
              <a:t>：通过查询知识图谱本体结构，抽取问题关联的实体类型，完成底层语义结构解析。</a:t>
            </a:r>
            <a:endParaRPr lang="zh-CN" altLang="en-US" dirty="0">
              <a:latin typeface="微软雅黑" panose="020B0503020204020204" charset="-122"/>
              <a:ea typeface="微软雅黑" panose="020B0503020204020204" charset="-122"/>
            </a:endParaRPr>
          </a:p>
        </p:txBody>
      </p:sp>
      <p:sp>
        <p:nvSpPr>
          <p:cNvPr id="8" name="obj1-bg"/>
          <p:cNvSpPr/>
          <p:nvPr>
            <p:custDataLst>
              <p:tags r:id="rId4"/>
            </p:custDataLst>
          </p:nvPr>
        </p:nvSpPr>
        <p:spPr>
          <a:xfrm>
            <a:off x="8360920" y="2744171"/>
            <a:ext cx="3619500" cy="752133"/>
          </a:xfrm>
          <a:prstGeom prst="roundRect">
            <a:avLst>
              <a:gd name="adj" fmla="val 5000"/>
            </a:avLst>
          </a:prstGeom>
          <a:solidFill>
            <a:srgbClr val="FFFFFF"/>
          </a:solidFill>
          <a:ln w="25400">
            <a:solidFill>
              <a:srgbClr val="2563EB"/>
            </a:solidFill>
          </a:ln>
        </p:spPr>
        <p:txBody>
          <a:bodyPr/>
          <a:lstStyle/>
          <a:p>
            <a:r>
              <a:rPr lang="zh-CN" altLang="zh-CN" sz="1400" b="1" dirty="0">
                <a:latin typeface="微软雅黑" panose="020B0503020204020204" charset="-122"/>
                <a:ea typeface="微软雅黑" panose="020B0503020204020204" charset="-122"/>
              </a:rPr>
              <a:t>四维语义关键词抽取</a:t>
            </a:r>
            <a:r>
              <a:rPr lang="zh-CN"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意图识别，并</a:t>
            </a:r>
            <a:r>
              <a:rPr lang="zh-CN" altLang="zh-CN" sz="1400" dirty="0">
                <a:latin typeface="微软雅黑" panose="020B0503020204020204" charset="-122"/>
                <a:ea typeface="微软雅黑" panose="020B0503020204020204" charset="-122"/>
              </a:rPr>
              <a:t>基于自然语言语义理解，从用户提问中提取场景、活动、对象、术语四类维度的候选关键词</a:t>
            </a:r>
            <a:endParaRPr lang="zh-CN" altLang="en-US" sz="1400" dirty="0">
              <a:latin typeface="微软雅黑" panose="020B0503020204020204" charset="-122"/>
              <a:ea typeface="微软雅黑" panose="020B0503020204020204" charset="-122"/>
            </a:endParaRPr>
          </a:p>
        </p:txBody>
      </p:sp>
      <p:sp>
        <p:nvSpPr>
          <p:cNvPr id="10" name="obj1-bg"/>
          <p:cNvSpPr/>
          <p:nvPr>
            <p:custDataLst>
              <p:tags r:id="rId5"/>
            </p:custDataLst>
          </p:nvPr>
        </p:nvSpPr>
        <p:spPr>
          <a:xfrm>
            <a:off x="8374360" y="3684724"/>
            <a:ext cx="3619500" cy="752132"/>
          </a:xfrm>
          <a:prstGeom prst="roundRect">
            <a:avLst>
              <a:gd name="adj" fmla="val 5000"/>
            </a:avLst>
          </a:prstGeom>
          <a:solidFill>
            <a:srgbClr val="FFFFFF"/>
          </a:solidFill>
          <a:ln w="25400">
            <a:solidFill>
              <a:srgbClr val="2563EB"/>
            </a:solidFill>
          </a:ln>
        </p:spPr>
        <p:txBody>
          <a:bodyPr/>
          <a:lstStyle/>
          <a:p>
            <a:r>
              <a:rPr lang="zh-CN" altLang="zh-CN" sz="1400" b="1" dirty="0">
                <a:latin typeface="微软雅黑" panose="020B0503020204020204" charset="-122"/>
                <a:ea typeface="微软雅黑" panose="020B0503020204020204" charset="-122"/>
              </a:rPr>
              <a:t>K 跳图谱锚点检索</a:t>
            </a:r>
            <a:r>
              <a:rPr lang="zh-CN" altLang="zh-CN" sz="1400" dirty="0">
                <a:latin typeface="微软雅黑" panose="020B0503020204020204" charset="-122"/>
                <a:ea typeface="微软雅黑" panose="020B0503020204020204" charset="-122"/>
              </a:rPr>
              <a:t>：依托元数据锚定文件检索能力执行 K 跳图遍历查询，锁定提问所覆盖的全部四维语义锚点。</a:t>
            </a:r>
            <a:endParaRPr lang="zh-CN" altLang="en-US" sz="1400" dirty="0">
              <a:latin typeface="微软雅黑" panose="020B0503020204020204" charset="-122"/>
              <a:ea typeface="微软雅黑" panose="020B0503020204020204" charset="-122"/>
            </a:endParaRPr>
          </a:p>
        </p:txBody>
      </p:sp>
      <p:sp>
        <p:nvSpPr>
          <p:cNvPr id="12" name="obj1-bg"/>
          <p:cNvSpPr/>
          <p:nvPr>
            <p:custDataLst>
              <p:tags r:id="rId6"/>
            </p:custDataLst>
          </p:nvPr>
        </p:nvSpPr>
        <p:spPr>
          <a:xfrm>
            <a:off x="8374360" y="4625275"/>
            <a:ext cx="3619500" cy="752131"/>
          </a:xfrm>
          <a:prstGeom prst="roundRect">
            <a:avLst>
              <a:gd name="adj" fmla="val 5000"/>
            </a:avLst>
          </a:prstGeom>
          <a:solidFill>
            <a:srgbClr val="FFFFFF"/>
          </a:solidFill>
          <a:ln w="25400">
            <a:solidFill>
              <a:srgbClr val="2563EB"/>
            </a:solidFill>
          </a:ln>
        </p:spPr>
        <p:txBody>
          <a:bodyPr/>
          <a:lstStyle/>
          <a:p>
            <a:r>
              <a:rPr lang="zh-CN" altLang="zh-CN" sz="1400" b="1" dirty="0">
                <a:latin typeface="微软雅黑" panose="020B0503020204020204" charset="-122"/>
                <a:ea typeface="微软雅黑" panose="020B0503020204020204" charset="-122"/>
              </a:rPr>
              <a:t>多维度锚点文件交集召回</a:t>
            </a:r>
            <a:r>
              <a:rPr lang="zh-CN" altLang="zh-CN" sz="1400" dirty="0">
                <a:latin typeface="微软雅黑" panose="020B0503020204020204" charset="-122"/>
                <a:ea typeface="微软雅黑" panose="020B0503020204020204" charset="-122"/>
              </a:rPr>
              <a:t>：将四类语义锚点分别关联绑定的文件集合求取交集，筛选出高度匹配的目标文档集。</a:t>
            </a:r>
            <a:endParaRPr lang="zh-CN" altLang="en-US" sz="1400" dirty="0">
              <a:latin typeface="微软雅黑" panose="020B0503020204020204" charset="-122"/>
              <a:ea typeface="微软雅黑" panose="020B0503020204020204" charset="-122"/>
            </a:endParaRPr>
          </a:p>
        </p:txBody>
      </p:sp>
      <p:sp>
        <p:nvSpPr>
          <p:cNvPr id="15" name="obj1-bg"/>
          <p:cNvSpPr/>
          <p:nvPr>
            <p:custDataLst>
              <p:tags r:id="rId7"/>
            </p:custDataLst>
          </p:nvPr>
        </p:nvSpPr>
        <p:spPr>
          <a:xfrm>
            <a:off x="8374360" y="5565824"/>
            <a:ext cx="3619500" cy="752131"/>
          </a:xfrm>
          <a:prstGeom prst="roundRect">
            <a:avLst>
              <a:gd name="adj" fmla="val 5000"/>
            </a:avLst>
          </a:prstGeom>
          <a:solidFill>
            <a:srgbClr val="FFFFFF"/>
          </a:solidFill>
          <a:ln w="25400">
            <a:solidFill>
              <a:srgbClr val="2563EB"/>
            </a:solidFill>
          </a:ln>
        </p:spPr>
        <p:txBody>
          <a:bodyPr/>
          <a:lstStyle/>
          <a:p>
            <a:r>
              <a:rPr lang="zh-CN" altLang="zh-CN" sz="1400" b="1" dirty="0">
                <a:latin typeface="微软雅黑" panose="020B0503020204020204" charset="-122"/>
                <a:ea typeface="微软雅黑" panose="020B0503020204020204" charset="-122"/>
              </a:rPr>
              <a:t>向量检索融合生成应答</a:t>
            </a:r>
            <a:r>
              <a:rPr lang="zh-CN" altLang="zh-CN" sz="1400" dirty="0">
                <a:latin typeface="微软雅黑" panose="020B0503020204020204" charset="-122"/>
                <a:ea typeface="微软雅黑" panose="020B0503020204020204" charset="-122"/>
              </a:rPr>
              <a:t>：对筛选后的文档执行知识向量分片召回，结合原始用户问题完成大模型综合推理与最终答复输出。</a:t>
            </a:r>
            <a:endParaRPr lang="zh-CN" altLang="en-US" sz="1400" dirty="0">
              <a:latin typeface="微软雅黑" panose="020B0503020204020204" charset="-122"/>
              <a:ea typeface="微软雅黑" panose="020B0503020204020204" charset="-122"/>
            </a:endParaRPr>
          </a:p>
        </p:txBody>
      </p:sp>
      <p:sp>
        <p:nvSpPr>
          <p:cNvPr id="17" name="椭圆 16"/>
          <p:cNvSpPr/>
          <p:nvPr>
            <p:custDataLst>
              <p:tags r:id="rId8"/>
            </p:custDataLst>
          </p:nvPr>
        </p:nvSpPr>
        <p:spPr>
          <a:xfrm>
            <a:off x="7892901" y="1988718"/>
            <a:ext cx="356042" cy="4125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1</a:t>
            </a:r>
            <a:endParaRPr lang="zh-CN" altLang="en-US" b="1" dirty="0"/>
          </a:p>
        </p:txBody>
      </p:sp>
      <p:sp>
        <p:nvSpPr>
          <p:cNvPr id="21" name="椭圆 20"/>
          <p:cNvSpPr/>
          <p:nvPr>
            <p:custDataLst>
              <p:tags r:id="rId9"/>
            </p:custDataLst>
          </p:nvPr>
        </p:nvSpPr>
        <p:spPr>
          <a:xfrm>
            <a:off x="7892901" y="2886736"/>
            <a:ext cx="356042" cy="4125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2</a:t>
            </a:r>
            <a:endParaRPr lang="zh-CN" altLang="en-US" b="1" dirty="0"/>
          </a:p>
        </p:txBody>
      </p:sp>
      <p:sp>
        <p:nvSpPr>
          <p:cNvPr id="25" name="椭圆 24"/>
          <p:cNvSpPr/>
          <p:nvPr>
            <p:custDataLst>
              <p:tags r:id="rId10"/>
            </p:custDataLst>
          </p:nvPr>
        </p:nvSpPr>
        <p:spPr>
          <a:xfrm>
            <a:off x="7893303" y="3890330"/>
            <a:ext cx="356042" cy="4125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3</a:t>
            </a:r>
            <a:endParaRPr lang="zh-CN" altLang="en-US" b="1" dirty="0"/>
          </a:p>
        </p:txBody>
      </p:sp>
      <p:sp>
        <p:nvSpPr>
          <p:cNvPr id="29" name="椭圆 28"/>
          <p:cNvSpPr/>
          <p:nvPr>
            <p:custDataLst>
              <p:tags r:id="rId11"/>
            </p:custDataLst>
          </p:nvPr>
        </p:nvSpPr>
        <p:spPr>
          <a:xfrm>
            <a:off x="7892901" y="4803649"/>
            <a:ext cx="356042" cy="4125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4</a:t>
            </a:r>
            <a:endParaRPr lang="zh-CN" altLang="en-US" b="1" dirty="0"/>
          </a:p>
        </p:txBody>
      </p:sp>
      <p:sp>
        <p:nvSpPr>
          <p:cNvPr id="33" name="椭圆 32"/>
          <p:cNvSpPr/>
          <p:nvPr>
            <p:custDataLst>
              <p:tags r:id="rId12"/>
            </p:custDataLst>
          </p:nvPr>
        </p:nvSpPr>
        <p:spPr>
          <a:xfrm>
            <a:off x="7892901" y="5735621"/>
            <a:ext cx="356042" cy="41253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t>5</a:t>
            </a:r>
            <a:endParaRPr lang="zh-CN" altLang="en-US" b="1" dirty="0"/>
          </a:p>
        </p:txBody>
      </p:sp>
      <p:pic>
        <p:nvPicPr>
          <p:cNvPr id="3" name="图片 2" descr="b37ab46c6e91d1e1c6fed4c5129ac679"/>
          <p:cNvPicPr>
            <a:picLocks noChangeAspect="1"/>
          </p:cNvPicPr>
          <p:nvPr/>
        </p:nvPicPr>
        <p:blipFill>
          <a:blip r:embed="rId13"/>
          <a:stretch>
            <a:fillRect/>
          </a:stretch>
        </p:blipFill>
        <p:spPr>
          <a:xfrm>
            <a:off x="79375" y="1405255"/>
            <a:ext cx="4046855" cy="2302510"/>
          </a:xfrm>
          <a:prstGeom prst="rect">
            <a:avLst/>
          </a:prstGeom>
        </p:spPr>
      </p:pic>
      <p:pic>
        <p:nvPicPr>
          <p:cNvPr id="5" name="图片 4" descr="c3efb944841e88f305058c6eb1afb9ec"/>
          <p:cNvPicPr>
            <a:picLocks noChangeAspect="1"/>
          </p:cNvPicPr>
          <p:nvPr/>
        </p:nvPicPr>
        <p:blipFill>
          <a:blip r:embed="rId14"/>
          <a:stretch>
            <a:fillRect/>
          </a:stretch>
        </p:blipFill>
        <p:spPr>
          <a:xfrm>
            <a:off x="79375" y="2886710"/>
            <a:ext cx="4047490" cy="2299335"/>
          </a:xfrm>
          <a:prstGeom prst="rect">
            <a:avLst/>
          </a:prstGeom>
        </p:spPr>
      </p:pic>
      <p:pic>
        <p:nvPicPr>
          <p:cNvPr id="6" name="图片 5" descr="aceddd5bb69571a777f80b13ea53c37d"/>
          <p:cNvPicPr>
            <a:picLocks noChangeAspect="1"/>
          </p:cNvPicPr>
          <p:nvPr/>
        </p:nvPicPr>
        <p:blipFill>
          <a:blip r:embed="rId15"/>
          <a:stretch>
            <a:fillRect/>
          </a:stretch>
        </p:blipFill>
        <p:spPr>
          <a:xfrm>
            <a:off x="79375" y="4529455"/>
            <a:ext cx="4047490" cy="2251710"/>
          </a:xfrm>
          <a:prstGeom prst="rect">
            <a:avLst/>
          </a:prstGeom>
        </p:spPr>
      </p:pic>
      <p:pic>
        <p:nvPicPr>
          <p:cNvPr id="7" name="图片 6" descr="8d9e2f8b16eadbdbe3dfb3fcb20278fb"/>
          <p:cNvPicPr>
            <a:picLocks noChangeAspect="1"/>
          </p:cNvPicPr>
          <p:nvPr/>
        </p:nvPicPr>
        <p:blipFill>
          <a:blip r:embed="rId16"/>
          <a:stretch>
            <a:fillRect/>
          </a:stretch>
        </p:blipFill>
        <p:spPr>
          <a:xfrm>
            <a:off x="3831590" y="1543050"/>
            <a:ext cx="3803650" cy="2190115"/>
          </a:xfrm>
          <a:prstGeom prst="rect">
            <a:avLst/>
          </a:prstGeom>
        </p:spPr>
      </p:pic>
      <p:pic>
        <p:nvPicPr>
          <p:cNvPr id="9" name="图片 8" descr="c53e6dec9c1f81a0fa5991473d06413e"/>
          <p:cNvPicPr>
            <a:picLocks noChangeAspect="1"/>
          </p:cNvPicPr>
          <p:nvPr/>
        </p:nvPicPr>
        <p:blipFill>
          <a:blip r:embed="rId17"/>
          <a:stretch>
            <a:fillRect/>
          </a:stretch>
        </p:blipFill>
        <p:spPr>
          <a:xfrm>
            <a:off x="3831590" y="3362960"/>
            <a:ext cx="3803650" cy="2180590"/>
          </a:xfrm>
          <a:prstGeom prst="rect">
            <a:avLst/>
          </a:prstGeom>
        </p:spPr>
      </p:pic>
      <p:pic>
        <p:nvPicPr>
          <p:cNvPr id="11" name="图片 10" descr="561784d33b84df9d2328f519030fcef8"/>
          <p:cNvPicPr>
            <a:picLocks noChangeAspect="1"/>
          </p:cNvPicPr>
          <p:nvPr/>
        </p:nvPicPr>
        <p:blipFill>
          <a:blip r:embed="rId18"/>
          <a:stretch>
            <a:fillRect/>
          </a:stretch>
        </p:blipFill>
        <p:spPr>
          <a:xfrm>
            <a:off x="3867150" y="4586605"/>
            <a:ext cx="3865245" cy="2194560"/>
          </a:xfrm>
          <a:prstGeom prst="rect">
            <a:avLst/>
          </a:prstGeom>
        </p:spPr>
      </p:pic>
      <p:grpSp>
        <p:nvGrpSpPr>
          <p:cNvPr id="13" name="组合 12"/>
          <p:cNvGrpSpPr/>
          <p:nvPr/>
        </p:nvGrpSpPr>
        <p:grpSpPr>
          <a:xfrm>
            <a:off x="9675495" y="0"/>
            <a:ext cx="2459355" cy="171450"/>
            <a:chOff x="16516" y="0"/>
            <a:chExt cx="2594" cy="270"/>
          </a:xfrm>
        </p:grpSpPr>
        <p:sp>
          <p:nvSpPr>
            <p:cNvPr id="14" name="矩形 13"/>
            <p:cNvSpPr/>
            <p:nvPr/>
          </p:nvSpPr>
          <p:spPr>
            <a:xfrm>
              <a:off x="16516"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混合索引</a:t>
              </a:r>
              <a:endParaRPr lang="zh-CN" altLang="en-US" sz="1000">
                <a:latin typeface="微软雅黑" panose="020B0503020204020204" charset="-122"/>
                <a:ea typeface="微软雅黑" panose="020B0503020204020204" charset="-122"/>
              </a:endParaRPr>
            </a:p>
          </p:txBody>
        </p:sp>
        <p:sp>
          <p:nvSpPr>
            <p:cNvPr id="16" name="矩形 15"/>
            <p:cNvSpPr/>
            <p:nvPr/>
          </p:nvSpPr>
          <p:spPr>
            <a:xfrm>
              <a:off x="17788"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latin typeface="微软雅黑" panose="020B0503020204020204" charset="-122"/>
                  <a:ea typeface="微软雅黑" panose="020B0503020204020204" charset="-122"/>
                </a:rPr>
                <a:t>API/MCP/SKILL</a:t>
              </a:r>
              <a:endParaRPr lang="en-US" altLang="zh-CN" sz="1000">
                <a:latin typeface="微软雅黑" panose="020B0503020204020204" charset="-122"/>
                <a:ea typeface="微软雅黑" panose="020B0503020204020204" charset="-122"/>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c47ffa6aad17a95045765f507939f252"/>
          <p:cNvPicPr>
            <a:picLocks noChangeAspect="1"/>
          </p:cNvPicPr>
          <p:nvPr/>
        </p:nvPicPr>
        <p:blipFill>
          <a:blip r:embed="rId1"/>
          <a:stretch>
            <a:fillRect/>
          </a:stretch>
        </p:blipFill>
        <p:spPr>
          <a:xfrm>
            <a:off x="219075" y="1609090"/>
            <a:ext cx="4431665" cy="5041900"/>
          </a:xfrm>
          <a:prstGeom prst="rect">
            <a:avLst/>
          </a:prstGeom>
        </p:spPr>
      </p:pic>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2.4.2 核心索引能力 Skill 化封装--混合检索skill应用示例</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pic>
        <p:nvPicPr>
          <p:cNvPr id="26" name="图片 25"/>
          <p:cNvPicPr>
            <a:picLocks noChangeAspect="1"/>
          </p:cNvPicPr>
          <p:nvPr/>
        </p:nvPicPr>
        <p:blipFill>
          <a:blip r:embed="rId2"/>
          <a:stretch>
            <a:fillRect/>
          </a:stretch>
        </p:blipFill>
        <p:spPr>
          <a:xfrm>
            <a:off x="4903470" y="1644015"/>
            <a:ext cx="4131945" cy="4948555"/>
          </a:xfrm>
          <a:prstGeom prst="rect">
            <a:avLst/>
          </a:prstGeom>
        </p:spPr>
      </p:pic>
      <p:sp>
        <p:nvSpPr>
          <p:cNvPr id="3" name="文本框 2"/>
          <p:cNvSpPr txBox="1"/>
          <p:nvPr/>
        </p:nvSpPr>
        <p:spPr>
          <a:xfrm>
            <a:off x="320675" y="1016635"/>
            <a:ext cx="10515600" cy="492760"/>
          </a:xfrm>
          <a:prstGeom prst="rect">
            <a:avLst/>
          </a:prstGeom>
          <a:noFill/>
        </p:spPr>
        <p:txBody>
          <a:bodyPr wrap="square" rtlCol="0" anchor="t">
            <a:noAutofit/>
          </a:bodyPr>
          <a:lstStyle/>
          <a:p>
            <a:r>
              <a:rPr lang="zh-CN" altLang="en-US" sz="1600">
                <a:latin typeface="微软雅黑" panose="020B0503020204020204" charset="-122"/>
                <a:ea typeface="微软雅黑" panose="020B0503020204020204" charset="-122"/>
                <a:cs typeface="微软雅黑" panose="020B0503020204020204" charset="-122"/>
              </a:rPr>
              <a:t>问题</a:t>
            </a:r>
            <a:r>
              <a:rPr lang="en-US" altLang="zh-CN" sz="1600">
                <a:latin typeface="微软雅黑" panose="020B0503020204020204" charset="-122"/>
                <a:ea typeface="微软雅黑" panose="020B0503020204020204" charset="-122"/>
                <a:cs typeface="微软雅黑" panose="020B0503020204020204" charset="-122"/>
              </a:rPr>
              <a:t>1:</a:t>
            </a:r>
            <a:r>
              <a:rPr lang="zh-CN" altLang="en-US" sz="1600">
                <a:latin typeface="微软雅黑" panose="020B0503020204020204" charset="-122"/>
                <a:ea typeface="微软雅黑" panose="020B0503020204020204" charset="-122"/>
                <a:cs typeface="微软雅黑" panose="020B0503020204020204" charset="-122"/>
              </a:rPr>
              <a:t>项目融资场景下，关于贷后监控中如何做风险分类认定、涉及五级分类标准的文件有哪些</a:t>
            </a:r>
            <a:r>
              <a:rPr lang="en-US" altLang="zh-CN" sz="1600">
                <a:latin typeface="微软雅黑" panose="020B0503020204020204" charset="-122"/>
                <a:ea typeface="微软雅黑" panose="020B0503020204020204" charset="-122"/>
                <a:cs typeface="微软雅黑" panose="020B0503020204020204" charset="-122"/>
              </a:rPr>
              <a:t>？</a:t>
            </a:r>
            <a:endParaRPr lang="en-US" altLang="zh-CN" sz="1600">
              <a:latin typeface="微软雅黑" panose="020B0503020204020204" charset="-122"/>
              <a:ea typeface="微软雅黑" panose="020B0503020204020204" charset="-122"/>
              <a:cs typeface="微软雅黑" panose="020B0503020204020204" charset="-122"/>
            </a:endParaRPr>
          </a:p>
        </p:txBody>
      </p:sp>
      <p:grpSp>
        <p:nvGrpSpPr>
          <p:cNvPr id="4" name="组合 3"/>
          <p:cNvGrpSpPr/>
          <p:nvPr/>
        </p:nvGrpSpPr>
        <p:grpSpPr>
          <a:xfrm>
            <a:off x="9675495" y="0"/>
            <a:ext cx="2459355" cy="171450"/>
            <a:chOff x="16516" y="0"/>
            <a:chExt cx="2594" cy="270"/>
          </a:xfrm>
        </p:grpSpPr>
        <p:sp>
          <p:nvSpPr>
            <p:cNvPr id="10" name="矩形 9"/>
            <p:cNvSpPr/>
            <p:nvPr/>
          </p:nvSpPr>
          <p:spPr>
            <a:xfrm>
              <a:off x="16516"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混合索引</a:t>
              </a:r>
              <a:endParaRPr lang="zh-CN" altLang="en-US" sz="1000">
                <a:latin typeface="微软雅黑" panose="020B0503020204020204" charset="-122"/>
                <a:ea typeface="微软雅黑" panose="020B0503020204020204" charset="-122"/>
              </a:endParaRPr>
            </a:p>
          </p:txBody>
        </p:sp>
        <p:sp>
          <p:nvSpPr>
            <p:cNvPr id="11" name="矩形 10"/>
            <p:cNvSpPr/>
            <p:nvPr/>
          </p:nvSpPr>
          <p:spPr>
            <a:xfrm>
              <a:off x="17788"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latin typeface="微软雅黑" panose="020B0503020204020204" charset="-122"/>
                  <a:ea typeface="微软雅黑" panose="020B0503020204020204" charset="-122"/>
                </a:rPr>
                <a:t>API/MCP/SKILL</a:t>
              </a:r>
              <a:endParaRPr lang="en-US" altLang="zh-CN" sz="1000">
                <a:latin typeface="微软雅黑" panose="020B0503020204020204" charset="-122"/>
                <a:ea typeface="微软雅黑" panose="020B0503020204020204" charset="-122"/>
              </a:endParaRPr>
            </a:p>
          </p:txBody>
        </p:sp>
      </p:grpSp>
      <p:sp>
        <p:nvSpPr>
          <p:cNvPr id="12" name="线形标注 1 11"/>
          <p:cNvSpPr/>
          <p:nvPr/>
        </p:nvSpPr>
        <p:spPr>
          <a:xfrm>
            <a:off x="9556750" y="2090420"/>
            <a:ext cx="1996440" cy="704850"/>
          </a:xfrm>
          <a:prstGeom prst="borderCallout1">
            <a:avLst/>
          </a:prstGeom>
        </p:spPr>
        <p:style>
          <a:lnRef idx="3">
            <a:schemeClr val="accent1"/>
          </a:lnRef>
          <a:fillRef idx="0">
            <a:srgbClr val="FFFFFF"/>
          </a:fillRef>
          <a:effectRef idx="0">
            <a:srgbClr val="FFFFFF"/>
          </a:effectRef>
          <a:fontRef idx="minor">
            <a:schemeClr val="tx1"/>
          </a:fontRef>
        </p:style>
        <p:txBody>
          <a:bodyPr rtlCol="0" anchor="ctr"/>
          <a:p>
            <a:pPr algn="l"/>
            <a:r>
              <a:rPr lang="en-US" altLang="zh-CN" sz="1200">
                <a:latin typeface="微软雅黑" charset="0"/>
                <a:ea typeface="微软雅黑" charset="0"/>
              </a:rPr>
              <a:t>1、</a:t>
            </a:r>
            <a:r>
              <a:rPr lang="zh-CN" altLang="en-US" sz="1200">
                <a:latin typeface="微软雅黑" charset="0"/>
                <a:ea typeface="微软雅黑" charset="0"/>
              </a:rPr>
              <a:t>场景、活动、对象、术语四类维度的候选关键词提取</a:t>
            </a:r>
            <a:r>
              <a:rPr lang="en-US" altLang="zh-CN" sz="1200">
                <a:latin typeface="微软雅黑" charset="0"/>
                <a:ea typeface="微软雅黑" charset="0"/>
              </a:rPr>
              <a:t>，</a:t>
            </a:r>
            <a:r>
              <a:rPr lang="zh-CN" altLang="en-US" sz="1200">
                <a:latin typeface="微软雅黑" charset="0"/>
                <a:ea typeface="微软雅黑" charset="0"/>
              </a:rPr>
              <a:t>锁定提问所覆盖的全部四维语义锚点</a:t>
            </a:r>
            <a:endParaRPr lang="zh-CN" altLang="en-US" sz="1200">
              <a:latin typeface="微软雅黑" charset="0"/>
              <a:ea typeface="微软雅黑" charset="0"/>
            </a:endParaRPr>
          </a:p>
        </p:txBody>
      </p:sp>
      <p:sp>
        <p:nvSpPr>
          <p:cNvPr id="13" name="线形标注 1 12"/>
          <p:cNvSpPr/>
          <p:nvPr/>
        </p:nvSpPr>
        <p:spPr>
          <a:xfrm>
            <a:off x="9675495" y="4945380"/>
            <a:ext cx="1996440" cy="705485"/>
          </a:xfrm>
          <a:prstGeom prst="borderCallout1">
            <a:avLst>
              <a:gd name="adj1" fmla="val 18750"/>
              <a:gd name="adj2" fmla="val -8333"/>
              <a:gd name="adj3" fmla="val 125558"/>
              <a:gd name="adj4" fmla="val -43002"/>
            </a:avLst>
          </a:prstGeom>
        </p:spPr>
        <p:style>
          <a:lnRef idx="3">
            <a:schemeClr val="accent1"/>
          </a:lnRef>
          <a:fillRef idx="0">
            <a:srgbClr val="FFFFFF"/>
          </a:fillRef>
          <a:effectRef idx="0">
            <a:srgbClr val="FFFFFF"/>
          </a:effectRef>
          <a:fontRef idx="minor">
            <a:schemeClr val="tx1"/>
          </a:fontRef>
        </p:style>
        <p:txBody>
          <a:bodyPr rtlCol="0" anchor="ctr"/>
          <a:p>
            <a:pPr algn="l"/>
            <a:r>
              <a:rPr lang="en-US" altLang="zh-CN" sz="1200">
                <a:latin typeface="微软雅黑" charset="0"/>
                <a:ea typeface="微软雅黑" charset="0"/>
              </a:rPr>
              <a:t>2、</a:t>
            </a:r>
            <a:r>
              <a:rPr lang="zh-CN" altLang="zh-CN" sz="1200" dirty="0">
                <a:latin typeface="微软雅黑" panose="020B0503020204020204" charset="-122"/>
                <a:ea typeface="微软雅黑" panose="020B0503020204020204" charset="-122"/>
                <a:sym typeface="+mn-ea"/>
              </a:rPr>
              <a:t>将四类语义锚点分别关联绑定的文件集合求取交集，筛选出高度匹配的目标文档集</a:t>
            </a:r>
            <a:endParaRPr lang="zh-CN" altLang="en-US" sz="1200">
              <a:latin typeface="微软雅黑" charset="0"/>
              <a:ea typeface="微软雅黑" charset="0"/>
            </a:endParaRPr>
          </a:p>
        </p:txBody>
      </p:sp>
      <p:sp>
        <p:nvSpPr>
          <p:cNvPr id="14" name="线形标注 1 13"/>
          <p:cNvSpPr/>
          <p:nvPr/>
        </p:nvSpPr>
        <p:spPr>
          <a:xfrm>
            <a:off x="9904730" y="3653155"/>
            <a:ext cx="1996440" cy="704850"/>
          </a:xfrm>
          <a:prstGeom prst="borderCallout1">
            <a:avLst>
              <a:gd name="adj1" fmla="val 18750"/>
              <a:gd name="adj2" fmla="val -8333"/>
              <a:gd name="adj3" fmla="val 125558"/>
              <a:gd name="adj4" fmla="val -43002"/>
            </a:avLst>
          </a:prstGeom>
        </p:spPr>
        <p:style>
          <a:lnRef idx="3">
            <a:schemeClr val="accent1"/>
          </a:lnRef>
          <a:fillRef idx="0">
            <a:srgbClr val="FFFFFF"/>
          </a:fillRef>
          <a:effectRef idx="0">
            <a:srgbClr val="FFFFFF"/>
          </a:effectRef>
          <a:fontRef idx="minor">
            <a:schemeClr val="tx1"/>
          </a:fontRef>
        </p:style>
        <p:txBody>
          <a:bodyPr rtlCol="0" anchor="ctr"/>
          <a:p>
            <a:pPr algn="l"/>
            <a:r>
              <a:rPr lang="en-US" altLang="zh-CN" sz="1200" dirty="0">
                <a:latin typeface="微软雅黑" panose="020B0503020204020204" charset="-122"/>
                <a:ea typeface="微软雅黑" panose="020B0503020204020204" charset="-122"/>
                <a:sym typeface="+mn-ea"/>
              </a:rPr>
              <a:t>3、</a:t>
            </a:r>
            <a:r>
              <a:rPr lang="zh-CN" altLang="zh-CN" sz="1200" dirty="0">
                <a:latin typeface="微软雅黑" panose="020B0503020204020204" charset="-122"/>
                <a:ea typeface="微软雅黑" panose="020B0503020204020204" charset="-122"/>
                <a:sym typeface="+mn-ea"/>
              </a:rPr>
              <a:t>对筛选后的文档执行知识向量分片召回，结合原始用户问题完成大模型综合推理与最终答复输出</a:t>
            </a:r>
            <a:endParaRPr lang="zh-CN" altLang="en-US" sz="1200">
              <a:latin typeface="微软雅黑" charset="0"/>
              <a:ea typeface="微软雅黑"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2.4.2 核心索引能力 Skill 化封装 --Skill 管理工具</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8" name="AutoShape 8"/>
          <p:cNvSpPr/>
          <p:nvPr/>
        </p:nvSpPr>
        <p:spPr>
          <a:xfrm>
            <a:off x="381000" y="1017905"/>
            <a:ext cx="11176000" cy="1524000"/>
          </a:xfrm>
          <a:prstGeom prst="roundRect">
            <a:avLst>
              <a:gd name="adj" fmla="val 0"/>
            </a:avLst>
          </a:prstGeom>
          <a:solidFill>
            <a:srgbClr val="E8F3FF">
              <a:alpha val="100000"/>
            </a:srgbClr>
          </a:solidFill>
          <a:ln cap="flat" cmpd="sng">
            <a:solidFill>
              <a:srgbClr val="BACFE6">
                <a:alpha val="100000"/>
              </a:srgbClr>
            </a:solidFill>
            <a:prstDash val="solid"/>
            <a:round/>
          </a:ln>
        </p:spPr>
        <p:txBody>
          <a:bodyPr vert="horz" wrap="square" lIns="0" tIns="0" rIns="0" bIns="0" rtlCol="0" anchor="ctr" anchorCtr="0"/>
          <a:lstStyle/>
          <a:p>
            <a:pPr algn="ctr">
              <a:defRPr/>
            </a:pPr>
            <a:r>
              <a:rPr lang="en-US" sz="2400">
                <a:latin typeface="微软雅黑" panose="020B0503020204020204" charset="-122"/>
                <a:ea typeface="微软雅黑" panose="020B0503020204020204" charset="-122"/>
              </a:rPr>
              <a:t>ya hei</a:t>
            </a:r>
            <a:endParaRPr lang="en-US" sz="2400">
              <a:latin typeface="微软雅黑" panose="020B0503020204020204" charset="-122"/>
              <a:ea typeface="微软雅黑" panose="020B0503020204020204" charset="-122"/>
            </a:endParaRPr>
          </a:p>
        </p:txBody>
      </p:sp>
      <p:sp>
        <p:nvSpPr>
          <p:cNvPr id="9" name="AutoShape 9"/>
          <p:cNvSpPr/>
          <p:nvPr/>
        </p:nvSpPr>
        <p:spPr>
          <a:xfrm>
            <a:off x="508000" y="1106805"/>
            <a:ext cx="1092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Skill管理工具</a:t>
            </a:r>
            <a:endPar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0" name="AutoShape 10"/>
          <p:cNvSpPr/>
          <p:nvPr/>
        </p:nvSpPr>
        <p:spPr>
          <a:xfrm>
            <a:off x="571500" y="1462405"/>
            <a:ext cx="1968500" cy="762000"/>
          </a:xfrm>
          <a:prstGeom prst="roundRect">
            <a:avLst>
              <a:gd name="adj" fmla="val 0"/>
            </a:avLst>
          </a:prstGeom>
          <a:solidFill>
            <a:srgbClr val="FFFFFF">
              <a:alpha val="100000"/>
            </a:srgbClr>
          </a:solidFill>
          <a:ln w="12700" cap="flat" cmpd="sng">
            <a:solidFill>
              <a:srgbClr val="C8DCFF">
                <a:alpha val="100000"/>
              </a:srgbClr>
            </a:solidFill>
            <a:prstDash val="solid"/>
            <a:round/>
          </a:ln>
        </p:spPr>
        <p:txBody>
          <a:bodyPr vert="horz" wrap="square" lIns="0" tIns="0" rIns="0" bIns="0" rtlCol="0" anchor="ctr" anchorCtr="0"/>
          <a:lstStyle/>
          <a:p>
            <a:pPr algn="ctr">
              <a:defRPr/>
            </a:pPr>
            <a:endParaRPr sz="2400">
              <a:latin typeface="微软雅黑" panose="020B0503020204020204" charset="-122"/>
              <a:ea typeface="微软雅黑" panose="020B0503020204020204" charset="-122"/>
            </a:endParaRPr>
          </a:p>
        </p:txBody>
      </p:sp>
      <p:sp>
        <p:nvSpPr>
          <p:cNvPr id="11" name="AutoShape 11"/>
          <p:cNvSpPr/>
          <p:nvPr/>
        </p:nvSpPr>
        <p:spPr>
          <a:xfrm>
            <a:off x="635000" y="1525905"/>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全生命周期管理</a:t>
            </a:r>
            <a:endParaRPr lang="en-US" sz="1400">
              <a:latin typeface="微软雅黑" panose="020B0503020204020204" charset="-122"/>
              <a:ea typeface="微软雅黑" panose="020B0503020204020204" charset="-122"/>
              <a:cs typeface="微软雅黑" panose="020B0503020204020204" charset="-122"/>
            </a:endParaRPr>
          </a:p>
          <a:p>
            <a:pPr marL="0" indent="0" algn="l">
              <a:lnSpc>
                <a:spcPct val="92000"/>
              </a:lnSpc>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创建/编辑/更新/发布/版本</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2" name="AutoShape 12"/>
          <p:cNvSpPr/>
          <p:nvPr/>
        </p:nvSpPr>
        <p:spPr>
          <a:xfrm>
            <a:off x="2730500" y="1462405"/>
            <a:ext cx="1968500" cy="762000"/>
          </a:xfrm>
          <a:prstGeom prst="roundRect">
            <a:avLst>
              <a:gd name="adj" fmla="val 0"/>
            </a:avLst>
          </a:prstGeom>
          <a:solidFill>
            <a:srgbClr val="FFFFFF">
              <a:alpha val="100000"/>
            </a:srgbClr>
          </a:solidFill>
          <a:ln w="12700" cap="flat" cmpd="sng">
            <a:solidFill>
              <a:srgbClr val="C8DCFF">
                <a:alpha val="100000"/>
              </a:srgbClr>
            </a:solidFill>
            <a:prstDash val="solid"/>
            <a:round/>
          </a:ln>
        </p:spPr>
        <p:txBody>
          <a:bodyPr vert="horz" wrap="square" lIns="0" tIns="0" rIns="0" bIns="0" rtlCol="0" anchor="ctr" anchorCtr="0"/>
          <a:lstStyle/>
          <a:p>
            <a:pPr algn="ctr">
              <a:defRPr/>
            </a:pPr>
            <a:endParaRPr sz="2400">
              <a:latin typeface="微软雅黑" panose="020B0503020204020204" charset="-122"/>
              <a:ea typeface="微软雅黑" panose="020B0503020204020204" charset="-122"/>
            </a:endParaRPr>
          </a:p>
        </p:txBody>
      </p:sp>
      <p:sp>
        <p:nvSpPr>
          <p:cNvPr id="13" name="AutoShape 13"/>
          <p:cNvSpPr/>
          <p:nvPr/>
        </p:nvSpPr>
        <p:spPr>
          <a:xfrm>
            <a:off x="2794000" y="1525905"/>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元数据维护</a:t>
            </a:r>
            <a:endParaRPr lang="en-US" sz="1400">
              <a:latin typeface="微软雅黑" panose="020B0503020204020204" charset="-122"/>
              <a:ea typeface="微软雅黑" panose="020B0503020204020204" charset="-122"/>
              <a:cs typeface="微软雅黑" panose="020B0503020204020204" charset="-122"/>
            </a:endParaRPr>
          </a:p>
          <a:p>
            <a:pPr marL="0" indent="0" algn="l">
              <a:lnSpc>
                <a:spcPct val="92000"/>
              </a:lnSpc>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功能描述/触发条件/调用方式</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4" name="AutoShape 14"/>
          <p:cNvSpPr/>
          <p:nvPr/>
        </p:nvSpPr>
        <p:spPr>
          <a:xfrm>
            <a:off x="4889500" y="1462405"/>
            <a:ext cx="1968500" cy="762000"/>
          </a:xfrm>
          <a:prstGeom prst="roundRect">
            <a:avLst>
              <a:gd name="adj" fmla="val 0"/>
            </a:avLst>
          </a:prstGeom>
          <a:solidFill>
            <a:srgbClr val="FFFFFF">
              <a:alpha val="100000"/>
            </a:srgbClr>
          </a:solidFill>
          <a:ln w="12700" cap="flat" cmpd="sng">
            <a:solidFill>
              <a:srgbClr val="C8DCFF">
                <a:alpha val="100000"/>
              </a:srgbClr>
            </a:solidFill>
            <a:prstDash val="solid"/>
            <a:round/>
          </a:ln>
        </p:spPr>
        <p:txBody>
          <a:bodyPr vert="horz" wrap="square" lIns="0" tIns="0" rIns="0" bIns="0" rtlCol="0" anchor="ctr" anchorCtr="0"/>
          <a:lstStyle/>
          <a:p>
            <a:pPr algn="ctr">
              <a:defRPr/>
            </a:pPr>
            <a:endParaRPr sz="2400">
              <a:latin typeface="微软雅黑" panose="020B0503020204020204" charset="-122"/>
              <a:ea typeface="微软雅黑" panose="020B0503020204020204" charset="-122"/>
            </a:endParaRPr>
          </a:p>
        </p:txBody>
      </p:sp>
      <p:sp>
        <p:nvSpPr>
          <p:cNvPr id="15" name="AutoShape 15"/>
          <p:cNvSpPr/>
          <p:nvPr/>
        </p:nvSpPr>
        <p:spPr>
          <a:xfrm>
            <a:off x="4953000" y="1525905"/>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模板与二次编辑</a:t>
            </a:r>
            <a:endParaRPr lang="en-US" sz="1400">
              <a:latin typeface="微软雅黑" panose="020B0503020204020204" charset="-122"/>
              <a:ea typeface="微软雅黑" panose="020B0503020204020204" charset="-122"/>
              <a:cs typeface="微软雅黑" panose="020B0503020204020204" charset="-122"/>
            </a:endParaRPr>
          </a:p>
          <a:p>
            <a:pPr marL="0" indent="0" algn="l">
              <a:lnSpc>
                <a:spcPct val="92000"/>
              </a:lnSpc>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内置模板一键生成+自定义</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6" name="AutoShape 16"/>
          <p:cNvSpPr/>
          <p:nvPr/>
        </p:nvSpPr>
        <p:spPr>
          <a:xfrm>
            <a:off x="7048500" y="1462405"/>
            <a:ext cx="1968500" cy="762000"/>
          </a:xfrm>
          <a:prstGeom prst="roundRect">
            <a:avLst>
              <a:gd name="adj" fmla="val 0"/>
            </a:avLst>
          </a:prstGeom>
          <a:solidFill>
            <a:srgbClr val="FFFFFF">
              <a:alpha val="100000"/>
            </a:srgbClr>
          </a:solidFill>
          <a:ln w="12700" cap="flat" cmpd="sng">
            <a:solidFill>
              <a:srgbClr val="C8DCFF">
                <a:alpha val="100000"/>
              </a:srgbClr>
            </a:solidFill>
            <a:prstDash val="solid"/>
            <a:round/>
          </a:ln>
        </p:spPr>
        <p:txBody>
          <a:bodyPr vert="horz" wrap="square" lIns="0" tIns="0" rIns="0" bIns="0" rtlCol="0" anchor="ctr" anchorCtr="0"/>
          <a:lstStyle/>
          <a:p>
            <a:pPr algn="ctr">
              <a:defRPr/>
            </a:pPr>
            <a:endParaRPr sz="2400">
              <a:latin typeface="微软雅黑" panose="020B0503020204020204" charset="-122"/>
              <a:ea typeface="微软雅黑" panose="020B0503020204020204" charset="-122"/>
            </a:endParaRPr>
          </a:p>
        </p:txBody>
      </p:sp>
      <p:sp>
        <p:nvSpPr>
          <p:cNvPr id="17" name="AutoShape 17"/>
          <p:cNvSpPr/>
          <p:nvPr/>
        </p:nvSpPr>
        <p:spPr>
          <a:xfrm>
            <a:off x="7112000" y="1525905"/>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分发渠道</a:t>
            </a:r>
            <a:endParaRPr lang="en-US" sz="1400">
              <a:latin typeface="微软雅黑" panose="020B0503020204020204" charset="-122"/>
              <a:ea typeface="微软雅黑" panose="020B0503020204020204" charset="-122"/>
              <a:cs typeface="微软雅黑" panose="020B0503020204020204" charset="-122"/>
            </a:endParaRPr>
          </a:p>
          <a:p>
            <a:pPr marL="0" indent="0" algn="l">
              <a:lnSpc>
                <a:spcPct val="92000"/>
              </a:lnSpc>
            </a:pPr>
            <a:r>
              <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技能市场/文件上传/远程地址</a:t>
            </a:r>
            <a:endParaRPr lang="en-US" sz="10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AutoShape 18"/>
          <p:cNvSpPr/>
          <p:nvPr/>
        </p:nvSpPr>
        <p:spPr>
          <a:xfrm>
            <a:off x="9207500" y="1462405"/>
            <a:ext cx="1968500" cy="762000"/>
          </a:xfrm>
          <a:prstGeom prst="roundRect">
            <a:avLst>
              <a:gd name="adj" fmla="val 0"/>
            </a:avLst>
          </a:prstGeom>
          <a:solidFill>
            <a:srgbClr val="FFFFFF">
              <a:alpha val="100000"/>
            </a:srgbClr>
          </a:solidFill>
          <a:ln w="12700" cap="flat" cmpd="sng">
            <a:solidFill>
              <a:srgbClr val="C8DCFF">
                <a:alpha val="100000"/>
              </a:srgbClr>
            </a:solidFill>
            <a:prstDash val="solid"/>
            <a:round/>
          </a:ln>
        </p:spPr>
        <p:txBody>
          <a:bodyPr vert="horz" wrap="square" lIns="0" tIns="0" rIns="0" bIns="0" rtlCol="0" anchor="ctr" anchorCtr="0"/>
          <a:lstStyle/>
          <a:p>
            <a:pPr algn="ctr">
              <a:defRPr/>
            </a:pPr>
            <a:endParaRPr sz="2400">
              <a:latin typeface="微软雅黑" panose="020B0503020204020204" charset="-122"/>
              <a:ea typeface="微软雅黑" panose="020B0503020204020204" charset="-122"/>
            </a:endParaRPr>
          </a:p>
        </p:txBody>
      </p:sp>
      <p:sp>
        <p:nvSpPr>
          <p:cNvPr id="19" name="AutoShape 19"/>
          <p:cNvSpPr/>
          <p:nvPr/>
        </p:nvSpPr>
        <p:spPr>
          <a:xfrm>
            <a:off x="9271000" y="1525905"/>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统一权限管控</a:t>
            </a:r>
            <a:endParaRPr lang="en-US" sz="1400">
              <a:latin typeface="微软雅黑" panose="020B0503020204020204" charset="-122"/>
              <a:ea typeface="微软雅黑" panose="020B0503020204020204" charset="-122"/>
            </a:endParaRPr>
          </a:p>
          <a:p>
            <a:pPr marL="0" indent="0" algn="l">
              <a:lnSpc>
                <a:spcPct val="92000"/>
              </a:lnSpc>
            </a:pPr>
            <a:r>
              <a:rPr lang="en-US" sz="10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所有接入方式共用一套权限</a:t>
            </a:r>
            <a:endParaRPr lang="en-US" sz="10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 name="圆角矩形 44"/>
          <p:cNvSpPr/>
          <p:nvPr>
            <p:custDataLst>
              <p:tags r:id="rId1"/>
            </p:custDataLst>
          </p:nvPr>
        </p:nvSpPr>
        <p:spPr>
          <a:xfrm>
            <a:off x="6279515" y="2593340"/>
            <a:ext cx="4973955" cy="4120515"/>
          </a:xfrm>
          <a:prstGeom prst="roundRect">
            <a:avLst>
              <a:gd name="adj" fmla="val 4898"/>
            </a:avLst>
          </a:prstGeom>
          <a:gradFill>
            <a:gsLst>
              <a:gs pos="0">
                <a:srgbClr val="FFFFFF">
                  <a:alpha val="50000"/>
                </a:srgbClr>
              </a:gs>
              <a:gs pos="100000">
                <a:srgbClr val="FFFFFF"/>
              </a:gs>
            </a:gsLst>
            <a:lin ang="5400000" scaled="0"/>
          </a:gradFill>
          <a:ln w="12700" cap="flat">
            <a:solidFill>
              <a:srgbClr val="FFFFFF"/>
            </a:solidFill>
            <a:prstDash val="solid"/>
            <a:miter/>
          </a:ln>
          <a:effectLst>
            <a:outerShdw blurRad="571500" dist="254000" dir="5400000" algn="t" rotWithShape="0">
              <a:srgbClr val="00237B">
                <a:alpha val="10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sym typeface="MiSans" pitchFamily="34" charset="-122"/>
            </a:endParaRPr>
          </a:p>
        </p:txBody>
      </p:sp>
      <p:sp>
        <p:nvSpPr>
          <p:cNvPr id="6" name="圆角矩形 45"/>
          <p:cNvSpPr/>
          <p:nvPr>
            <p:custDataLst>
              <p:tags r:id="rId2"/>
            </p:custDataLst>
          </p:nvPr>
        </p:nvSpPr>
        <p:spPr>
          <a:xfrm>
            <a:off x="6591935" y="2742565"/>
            <a:ext cx="4348480" cy="511175"/>
          </a:xfrm>
          <a:prstGeom prst="roundRect">
            <a:avLst>
              <a:gd name="adj" fmla="val 46266"/>
            </a:avLst>
          </a:prstGeom>
          <a:gradFill>
            <a:gsLst>
              <a:gs pos="0">
                <a:srgbClr val="0046F6"/>
              </a:gs>
              <a:gs pos="100000">
                <a:srgbClr val="1F71FF"/>
              </a:gs>
            </a:gsLst>
            <a:lin ang="2700000" scaled="0"/>
          </a:gra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uLnTx/>
                <a:uFillTx/>
                <a:latin typeface="微软雅黑 Light" panose="020B0502040204020203" pitchFamily="34" charset="-122"/>
                <a:ea typeface="微软雅黑 Light" panose="020B0502040204020203" pitchFamily="34" charset="-122"/>
                <a:cs typeface="MiSans Bold" panose="00000500000000000000" charset="-122"/>
                <a:sym typeface="MiSans" pitchFamily="34" charset="-122"/>
              </a:rPr>
              <a:t>技能市场</a:t>
            </a:r>
            <a:endParaRPr kumimoji="0" lang="zh-CN" altLang="en-US" sz="1400" b="1" i="0" u="none" strike="noStrike" kern="1200" cap="none" spc="0" normalizeH="0" baseline="0" noProof="0" dirty="0">
              <a:ln>
                <a:noFill/>
              </a:ln>
              <a:solidFill>
                <a:srgbClr val="FFFFFF"/>
              </a:solidFill>
              <a:effectLst/>
              <a:uLnTx/>
              <a:uFillTx/>
              <a:latin typeface="微软雅黑 Light" panose="020B0502040204020203" pitchFamily="34" charset="-122"/>
              <a:ea typeface="微软雅黑 Light" panose="020B0502040204020203" pitchFamily="34" charset="-122"/>
              <a:cs typeface="MiSans Bold" panose="00000500000000000000" charset="-122"/>
              <a:sym typeface="MiSans" pitchFamily="34" charset="-122"/>
            </a:endParaRPr>
          </a:p>
        </p:txBody>
      </p:sp>
      <p:sp>
        <p:nvSpPr>
          <p:cNvPr id="3" name="文本框 2"/>
          <p:cNvSpPr txBox="1"/>
          <p:nvPr/>
        </p:nvSpPr>
        <p:spPr>
          <a:xfrm>
            <a:off x="6764020" y="3350895"/>
            <a:ext cx="4530725" cy="1245235"/>
          </a:xfrm>
          <a:prstGeom prst="rect">
            <a:avLst/>
          </a:prstGeom>
          <a:noFill/>
        </p:spPr>
        <p:txBody>
          <a:bodyPr wrap="square">
            <a:spAutoFit/>
          </a:bodyPr>
          <a:lstStyle/>
          <a:p>
            <a:pPr>
              <a:lnSpc>
                <a:spcPct val="150000"/>
              </a:lnSpc>
            </a:pPr>
            <a:r>
              <a:rPr lang="zh-CN" altLang="en-US" sz="1400" b="1" dirty="0">
                <a:solidFill>
                  <a:srgbClr val="1361FC"/>
                </a:solidFill>
                <a:latin typeface="微软雅黑" panose="020B0503020204020204" charset="-122"/>
                <a:ea typeface="微软雅黑" panose="020B0503020204020204" charset="-122"/>
                <a:cs typeface="微软雅黑" panose="020B0503020204020204" charset="-122"/>
              </a:rPr>
              <a:t>企业级运营管理，高质量业务</a:t>
            </a:r>
            <a:r>
              <a:rPr lang="en-US" altLang="zh-CN" sz="1400" b="1" dirty="0">
                <a:solidFill>
                  <a:srgbClr val="1361FC"/>
                </a:solidFill>
                <a:latin typeface="微软雅黑" panose="020B0503020204020204" charset="-122"/>
                <a:ea typeface="微软雅黑" panose="020B0503020204020204" charset="-122"/>
                <a:cs typeface="微软雅黑" panose="020B0503020204020204" charset="-122"/>
              </a:rPr>
              <a:t>Skill</a:t>
            </a:r>
            <a:r>
              <a:rPr lang="zh-CN" altLang="en-US" sz="1400" b="1" dirty="0">
                <a:solidFill>
                  <a:srgbClr val="1361FC"/>
                </a:solidFill>
                <a:latin typeface="微软雅黑" panose="020B0503020204020204" charset="-122"/>
                <a:ea typeface="微软雅黑" panose="020B0503020204020204" charset="-122"/>
                <a:cs typeface="微软雅黑" panose="020B0503020204020204" charset="-122"/>
              </a:rPr>
              <a:t>一站式维护管理</a:t>
            </a:r>
            <a:endParaRPr lang="en-US" altLang="zh-CN" sz="1400" b="1" dirty="0">
              <a:solidFill>
                <a:srgbClr val="1361FC"/>
              </a:solidFill>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pitchFamily="2" charset="2"/>
              <a:buChar char="p"/>
            </a:pPr>
            <a:r>
              <a:rPr lang="zh-CN" altLang="en-US" sz="1200" dirty="0">
                <a:latin typeface="微软雅黑" panose="020B0503020204020204" charset="-122"/>
                <a:ea typeface="微软雅黑" panose="020B0503020204020204" charset="-122"/>
                <a:cs typeface="微软雅黑" panose="020B0503020204020204" charset="-122"/>
              </a:rPr>
              <a:t>业务分类管理，可针对不同的业务域进行管理</a:t>
            </a:r>
            <a:endParaRPr lang="en-US" altLang="zh-CN" sz="1200" dirty="0">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pitchFamily="2" charset="2"/>
              <a:buChar char="p"/>
            </a:pPr>
            <a:r>
              <a:rPr lang="zh-CN" altLang="en-US" sz="1200" dirty="0">
                <a:latin typeface="微软雅黑" panose="020B0503020204020204" charset="-122"/>
                <a:ea typeface="微软雅黑" panose="020B0503020204020204" charset="-122"/>
                <a:cs typeface="微软雅黑" panose="020B0503020204020204" charset="-122"/>
              </a:rPr>
              <a:t>发布授权，支持按用户、角色、组织进行发布</a:t>
            </a:r>
            <a:endParaRPr lang="en-US" altLang="zh-CN" sz="1200" dirty="0">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pitchFamily="2" charset="2"/>
              <a:buChar char="p"/>
            </a:pPr>
            <a:r>
              <a:rPr lang="zh-CN" altLang="en-US" sz="1200" dirty="0">
                <a:latin typeface="微软雅黑" panose="020B0503020204020204" charset="-122"/>
                <a:ea typeface="微软雅黑" panose="020B0503020204020204" charset="-122"/>
                <a:cs typeface="微软雅黑" panose="020B0503020204020204" charset="-122"/>
              </a:rPr>
              <a:t>运营分析，支持查看技能的引用情况、调用次数</a:t>
            </a:r>
            <a:endParaRPr lang="zh-CN" altLang="en-US" sz="1200" dirty="0">
              <a:latin typeface="微软雅黑" panose="020B0503020204020204" charset="-122"/>
              <a:ea typeface="微软雅黑" panose="020B0503020204020204" charset="-122"/>
              <a:cs typeface="微软雅黑" panose="020B0503020204020204" charset="-122"/>
            </a:endParaRPr>
          </a:p>
        </p:txBody>
      </p:sp>
      <p:sp>
        <p:nvSpPr>
          <p:cNvPr id="7" name="圆角矩形 44"/>
          <p:cNvSpPr/>
          <p:nvPr>
            <p:custDataLst>
              <p:tags r:id="rId3"/>
            </p:custDataLst>
          </p:nvPr>
        </p:nvSpPr>
        <p:spPr>
          <a:xfrm>
            <a:off x="693420" y="2593340"/>
            <a:ext cx="4409440" cy="4120515"/>
          </a:xfrm>
          <a:prstGeom prst="roundRect">
            <a:avLst>
              <a:gd name="adj" fmla="val 4898"/>
            </a:avLst>
          </a:prstGeom>
          <a:gradFill>
            <a:gsLst>
              <a:gs pos="0">
                <a:srgbClr val="FFFFFF">
                  <a:alpha val="50000"/>
                </a:srgbClr>
              </a:gs>
              <a:gs pos="100000">
                <a:srgbClr val="FFFFFF"/>
              </a:gs>
            </a:gsLst>
            <a:lin ang="5400000" scaled="0"/>
          </a:gradFill>
          <a:ln w="12700" cap="flat">
            <a:solidFill>
              <a:srgbClr val="FFFFFF"/>
            </a:solidFill>
            <a:prstDash val="solid"/>
            <a:miter/>
          </a:ln>
          <a:effectLst>
            <a:outerShdw blurRad="571500" dist="254000" dir="5400000" algn="t" rotWithShape="0">
              <a:srgbClr val="00237B">
                <a:alpha val="10000"/>
              </a:srgbClr>
            </a:outerShdw>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1"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sym typeface="MiSans" pitchFamily="34" charset="-122"/>
            </a:endParaRPr>
          </a:p>
        </p:txBody>
      </p:sp>
      <p:sp>
        <p:nvSpPr>
          <p:cNvPr id="4" name="圆角矩形 45"/>
          <p:cNvSpPr/>
          <p:nvPr>
            <p:custDataLst>
              <p:tags r:id="rId4"/>
            </p:custDataLst>
          </p:nvPr>
        </p:nvSpPr>
        <p:spPr>
          <a:xfrm>
            <a:off x="1006475" y="2743835"/>
            <a:ext cx="3854450" cy="434975"/>
          </a:xfrm>
          <a:prstGeom prst="roundRect">
            <a:avLst>
              <a:gd name="adj" fmla="val 46266"/>
            </a:avLst>
          </a:prstGeom>
          <a:gradFill>
            <a:gsLst>
              <a:gs pos="0">
                <a:srgbClr val="0046F6"/>
              </a:gs>
              <a:gs pos="100000">
                <a:srgbClr val="1F71FF"/>
              </a:gs>
            </a:gsLst>
            <a:lin ang="2700000" scaled="0"/>
          </a:gra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en-US" altLang="zh-CN" sz="1400" b="1" i="0" u="none" strike="noStrike" kern="1200" cap="none" spc="0" normalizeH="0" baseline="0" noProof="0" dirty="0">
                <a:ln>
                  <a:noFill/>
                </a:ln>
                <a:solidFill>
                  <a:srgbClr val="FFFFFF"/>
                </a:solidFill>
                <a:effectLst/>
                <a:uLnTx/>
                <a:uFillTx/>
                <a:latin typeface="微软雅黑 Light" panose="020B0502040204020203" pitchFamily="34" charset="-122"/>
                <a:ea typeface="微软雅黑 Light" panose="020B0502040204020203" pitchFamily="34" charset="-122"/>
                <a:cs typeface="MiSans Bold" panose="00000500000000000000" charset="-122"/>
                <a:sym typeface="MiSans" pitchFamily="34" charset="-122"/>
              </a:rPr>
              <a:t>Skill</a:t>
            </a:r>
            <a:r>
              <a:rPr kumimoji="0" lang="zh-CN" altLang="en-US" sz="1400" b="1" i="0" u="none" strike="noStrike" kern="1200" cap="none" spc="0" normalizeH="0" baseline="0" noProof="0" dirty="0">
                <a:ln>
                  <a:noFill/>
                </a:ln>
                <a:solidFill>
                  <a:srgbClr val="FFFFFF"/>
                </a:solidFill>
                <a:effectLst/>
                <a:uLnTx/>
                <a:uFillTx/>
                <a:latin typeface="微软雅黑 Light" panose="020B0502040204020203" pitchFamily="34" charset="-122"/>
                <a:ea typeface="微软雅黑 Light" panose="020B0502040204020203" pitchFamily="34" charset="-122"/>
                <a:cs typeface="MiSans Bold" panose="00000500000000000000" charset="-122"/>
                <a:sym typeface="MiSans" pitchFamily="34" charset="-122"/>
              </a:rPr>
              <a:t>技能创建</a:t>
            </a:r>
            <a:endParaRPr kumimoji="0" lang="zh-CN" altLang="en-US" sz="1400" b="1" i="0" u="none" strike="noStrike" kern="1200" cap="none" spc="0" normalizeH="0" baseline="0" noProof="0" dirty="0">
              <a:ln>
                <a:noFill/>
              </a:ln>
              <a:solidFill>
                <a:srgbClr val="FFFFFF"/>
              </a:solidFill>
              <a:effectLst/>
              <a:uLnTx/>
              <a:uFillTx/>
              <a:latin typeface="微软雅黑 Light" panose="020B0502040204020203" pitchFamily="34" charset="-122"/>
              <a:ea typeface="微软雅黑 Light" panose="020B0502040204020203" pitchFamily="34" charset="-122"/>
              <a:cs typeface="MiSans Bold" panose="00000500000000000000" charset="-122"/>
              <a:sym typeface="MiSans" pitchFamily="34" charset="-122"/>
            </a:endParaRPr>
          </a:p>
        </p:txBody>
      </p:sp>
      <p:sp>
        <p:nvSpPr>
          <p:cNvPr id="25" name="文本框 24"/>
          <p:cNvSpPr txBox="1"/>
          <p:nvPr/>
        </p:nvSpPr>
        <p:spPr>
          <a:xfrm>
            <a:off x="855980" y="3246755"/>
            <a:ext cx="4121150" cy="1059815"/>
          </a:xfrm>
          <a:prstGeom prst="rect">
            <a:avLst/>
          </a:prstGeom>
          <a:noFill/>
        </p:spPr>
        <p:txBody>
          <a:bodyPr wrap="square">
            <a:noAutofit/>
          </a:bodyPr>
          <a:lstStyle/>
          <a:p>
            <a:pPr>
              <a:lnSpc>
                <a:spcPct val="150000"/>
              </a:lnSpc>
            </a:pPr>
            <a:r>
              <a:rPr lang="zh-CN" altLang="en-US" sz="1400" b="1" dirty="0">
                <a:solidFill>
                  <a:srgbClr val="1361FC"/>
                </a:solidFill>
                <a:latin typeface="微软雅黑" panose="020B0503020204020204" charset="-122"/>
                <a:ea typeface="微软雅黑" panose="020B0503020204020204" charset="-122"/>
                <a:cs typeface="微软雅黑" panose="020B0503020204020204" charset="-122"/>
              </a:rPr>
              <a:t>以</a:t>
            </a:r>
            <a:r>
              <a:rPr lang="en-US" altLang="zh-CN" sz="1400" b="1" dirty="0">
                <a:solidFill>
                  <a:srgbClr val="1361FC"/>
                </a:solidFill>
                <a:latin typeface="微软雅黑" panose="020B0503020204020204" charset="-122"/>
                <a:ea typeface="微软雅黑" panose="020B0503020204020204" charset="-122"/>
                <a:cs typeface="微软雅黑" panose="020B0503020204020204" charset="-122"/>
              </a:rPr>
              <a:t>Skill</a:t>
            </a:r>
            <a:r>
              <a:rPr lang="zh-CN" altLang="en-US" sz="1400" b="1" dirty="0">
                <a:solidFill>
                  <a:srgbClr val="1361FC"/>
                </a:solidFill>
                <a:latin typeface="微软雅黑" panose="020B0503020204020204" charset="-122"/>
                <a:ea typeface="微软雅黑" panose="020B0503020204020204" charset="-122"/>
                <a:cs typeface="微软雅黑" panose="020B0503020204020204" charset="-122"/>
              </a:rPr>
              <a:t>封装语义知识图谱调用，一键对接智能体</a:t>
            </a:r>
            <a:endParaRPr lang="en-US" altLang="zh-CN" sz="1400" b="1" dirty="0">
              <a:solidFill>
                <a:srgbClr val="1361FC"/>
              </a:solidFill>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pitchFamily="2" charset="2"/>
              <a:buChar char="p"/>
            </a:pPr>
            <a:r>
              <a:rPr lang="zh-CN" altLang="en-US" sz="1200" dirty="0">
                <a:latin typeface="微软雅黑" panose="020B0503020204020204" charset="-122"/>
                <a:ea typeface="微软雅黑" panose="020B0503020204020204" charset="-122"/>
                <a:cs typeface="微软雅黑" panose="020B0503020204020204" charset="-122"/>
              </a:rPr>
              <a:t>内置语义知识图谱</a:t>
            </a:r>
            <a:r>
              <a:rPr lang="en-US" altLang="zh-CN" sz="1200" dirty="0">
                <a:latin typeface="微软雅黑" panose="020B0503020204020204" charset="-122"/>
                <a:ea typeface="微软雅黑" panose="020B0503020204020204" charset="-122"/>
                <a:cs typeface="微软雅黑" panose="020B0503020204020204" charset="-122"/>
              </a:rPr>
              <a:t>Skill</a:t>
            </a:r>
            <a:r>
              <a:rPr lang="zh-CN" altLang="en-US" sz="1200" dirty="0">
                <a:latin typeface="微软雅黑" panose="020B0503020204020204" charset="-122"/>
                <a:ea typeface="微软雅黑" panose="020B0503020204020204" charset="-122"/>
                <a:cs typeface="微软雅黑" panose="020B0503020204020204" charset="-122"/>
              </a:rPr>
              <a:t>模板，降低</a:t>
            </a:r>
            <a:r>
              <a:rPr lang="en-US" altLang="zh-CN" sz="1200" dirty="0">
                <a:latin typeface="微软雅黑" panose="020B0503020204020204" charset="-122"/>
                <a:ea typeface="微软雅黑" panose="020B0503020204020204" charset="-122"/>
                <a:cs typeface="微软雅黑" panose="020B0503020204020204" charset="-122"/>
              </a:rPr>
              <a:t>Agent</a:t>
            </a:r>
            <a:r>
              <a:rPr lang="zh-CN" altLang="en-US" sz="1200" dirty="0">
                <a:latin typeface="微软雅黑" panose="020B0503020204020204" charset="-122"/>
                <a:ea typeface="微软雅黑" panose="020B0503020204020204" charset="-122"/>
                <a:cs typeface="微软雅黑" panose="020B0503020204020204" charset="-122"/>
              </a:rPr>
              <a:t>调用门槛</a:t>
            </a:r>
            <a:endParaRPr lang="en-US" altLang="zh-CN" sz="1200" dirty="0">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pitchFamily="2" charset="2"/>
              <a:buChar char="p"/>
            </a:pPr>
            <a:r>
              <a:rPr lang="zh-CN" altLang="en-US" sz="1200" dirty="0">
                <a:latin typeface="微软雅黑" panose="020B0503020204020204" charset="-122"/>
                <a:ea typeface="微软雅黑" panose="020B0503020204020204" charset="-122"/>
                <a:cs typeface="微软雅黑" panose="020B0503020204020204" charset="-122"/>
              </a:rPr>
              <a:t>基于大模型自动生成</a:t>
            </a:r>
            <a:r>
              <a:rPr lang="en-US" altLang="zh-CN" sz="1200" dirty="0">
                <a:latin typeface="微软雅黑" panose="020B0503020204020204" charset="-122"/>
                <a:ea typeface="微软雅黑" panose="020B0503020204020204" charset="-122"/>
                <a:cs typeface="微软雅黑" panose="020B0503020204020204" charset="-122"/>
              </a:rPr>
              <a:t>Skill</a:t>
            </a:r>
            <a:endParaRPr lang="en-US" altLang="zh-CN" sz="1200" dirty="0">
              <a:latin typeface="微软雅黑" panose="020B0503020204020204" charset="-122"/>
              <a:ea typeface="微软雅黑" panose="020B0503020204020204" charset="-122"/>
              <a:cs typeface="微软雅黑" panose="020B0503020204020204" charset="-122"/>
            </a:endParaRPr>
          </a:p>
          <a:p>
            <a:pPr marL="171450" indent="-171450">
              <a:lnSpc>
                <a:spcPct val="150000"/>
              </a:lnSpc>
              <a:buFont typeface="Wingdings" panose="05000000000000000000" pitchFamily="2" charset="2"/>
              <a:buChar char="p"/>
            </a:pPr>
            <a:r>
              <a:rPr lang="zh-CN" altLang="en-US" sz="1200" dirty="0">
                <a:latin typeface="微软雅黑" panose="020B0503020204020204" charset="-122"/>
                <a:ea typeface="微软雅黑" panose="020B0503020204020204" charset="-122"/>
                <a:cs typeface="微软雅黑" panose="020B0503020204020204" charset="-122"/>
              </a:rPr>
              <a:t>支持权限控制，支持在线编辑维护</a:t>
            </a:r>
            <a:r>
              <a:rPr lang="en-US" altLang="zh-CN" sz="1200" dirty="0">
                <a:latin typeface="微软雅黑" panose="020B0503020204020204" charset="-122"/>
                <a:ea typeface="微软雅黑" panose="020B0503020204020204" charset="-122"/>
                <a:cs typeface="微软雅黑" panose="020B0503020204020204" charset="-122"/>
              </a:rPr>
              <a:t>Skill</a:t>
            </a:r>
            <a:endParaRPr lang="en-US" altLang="zh-CN" sz="1200" dirty="0">
              <a:latin typeface="微软雅黑" panose="020B0503020204020204" charset="-122"/>
              <a:ea typeface="微软雅黑" panose="020B0503020204020204" charset="-122"/>
              <a:cs typeface="微软雅黑" panose="020B0503020204020204" charset="-122"/>
            </a:endParaRPr>
          </a:p>
        </p:txBody>
      </p:sp>
      <p:pic>
        <p:nvPicPr>
          <p:cNvPr id="45" name="图片 44"/>
          <p:cNvPicPr>
            <a:picLocks noChangeAspect="1"/>
          </p:cNvPicPr>
          <p:nvPr/>
        </p:nvPicPr>
        <p:blipFill>
          <a:blip r:embed="rId5"/>
          <a:srcRect t="7080"/>
          <a:stretch>
            <a:fillRect/>
          </a:stretch>
        </p:blipFill>
        <p:spPr>
          <a:xfrm>
            <a:off x="6734175" y="4652645"/>
            <a:ext cx="3575050" cy="1875155"/>
          </a:xfrm>
          <a:prstGeom prst="rect">
            <a:avLst/>
          </a:prstGeom>
        </p:spPr>
      </p:pic>
      <p:pic>
        <p:nvPicPr>
          <p:cNvPr id="20" name="图片 19"/>
          <p:cNvPicPr>
            <a:picLocks noChangeAspect="1"/>
          </p:cNvPicPr>
          <p:nvPr/>
        </p:nvPicPr>
        <p:blipFill>
          <a:blip r:embed="rId6"/>
          <a:srcRect t="6549"/>
          <a:stretch>
            <a:fillRect/>
          </a:stretch>
        </p:blipFill>
        <p:spPr>
          <a:xfrm>
            <a:off x="956945" y="4520565"/>
            <a:ext cx="3446780" cy="2011680"/>
          </a:xfrm>
          <a:prstGeom prst="rect">
            <a:avLst/>
          </a:prstGeom>
        </p:spPr>
      </p:pic>
      <p:pic>
        <p:nvPicPr>
          <p:cNvPr id="76" name="图片 75"/>
          <p:cNvPicPr>
            <a:picLocks noChangeAspect="1"/>
          </p:cNvPicPr>
          <p:nvPr/>
        </p:nvPicPr>
        <p:blipFill>
          <a:blip r:embed="rId7"/>
          <a:stretch>
            <a:fillRect/>
          </a:stretch>
        </p:blipFill>
        <p:spPr>
          <a:xfrm>
            <a:off x="2969260" y="5438140"/>
            <a:ext cx="2133600" cy="1094105"/>
          </a:xfrm>
          <a:prstGeom prst="rect">
            <a:avLst/>
          </a:prstGeom>
        </p:spPr>
      </p:pic>
      <p:grpSp>
        <p:nvGrpSpPr>
          <p:cNvPr id="21" name="组合 20"/>
          <p:cNvGrpSpPr/>
          <p:nvPr/>
        </p:nvGrpSpPr>
        <p:grpSpPr>
          <a:xfrm>
            <a:off x="9675495" y="0"/>
            <a:ext cx="2459355" cy="171450"/>
            <a:chOff x="16516" y="0"/>
            <a:chExt cx="2594" cy="270"/>
          </a:xfrm>
        </p:grpSpPr>
        <p:sp>
          <p:nvSpPr>
            <p:cNvPr id="22" name="矩形 21"/>
            <p:cNvSpPr/>
            <p:nvPr/>
          </p:nvSpPr>
          <p:spPr>
            <a:xfrm>
              <a:off x="16516"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混合索引</a:t>
              </a:r>
              <a:endParaRPr lang="zh-CN" altLang="en-US" sz="1000">
                <a:latin typeface="微软雅黑" panose="020B0503020204020204" charset="-122"/>
                <a:ea typeface="微软雅黑" panose="020B0503020204020204" charset="-122"/>
              </a:endParaRPr>
            </a:p>
          </p:txBody>
        </p:sp>
        <p:sp>
          <p:nvSpPr>
            <p:cNvPr id="23" name="矩形 22"/>
            <p:cNvSpPr/>
            <p:nvPr/>
          </p:nvSpPr>
          <p:spPr>
            <a:xfrm>
              <a:off x="17788"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000">
                  <a:latin typeface="微软雅黑" panose="020B0503020204020204" charset="-122"/>
                  <a:ea typeface="微软雅黑" panose="020B0503020204020204" charset="-122"/>
                </a:rPr>
                <a:t>API/MCP/SKILL</a:t>
              </a:r>
              <a:endParaRPr lang="en-US" altLang="zh-CN" sz="1000">
                <a:latin typeface="微软雅黑" panose="020B0503020204020204" charset="-122"/>
                <a:ea typeface="微软雅黑" panose="020B0503020204020204" charset="-122"/>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562292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indent="0"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2.1 </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整体规划</a:t>
            </a:r>
            <a:endPar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2.2 资源层规划方案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2.3 加工层</a:t>
            </a:r>
            <a:r>
              <a:rPr lang="en-US" altLang="zh-CN"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2.4 服务层</a:t>
            </a:r>
            <a:r>
              <a:rPr lang="en-US" altLang="zh-CN"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2.5 监运层</a:t>
            </a:r>
            <a:r>
              <a:rPr lang="en-US" altLang="zh-CN" b="1"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2.6 拓展层规划方案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 L4监运层建设背景及目标</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圆角矩形 9"/>
          <p:cNvSpPr/>
          <p:nvPr/>
        </p:nvSpPr>
        <p:spPr bwMode="auto">
          <a:xfrm>
            <a:off x="508635" y="894080"/>
            <a:ext cx="10921365" cy="879475"/>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dirty="0">
                <a:effectLst/>
                <a:latin typeface="微软雅黑" panose="020B0503020204020204" charset="-122"/>
                <a:ea typeface="微软雅黑" panose="020B0503020204020204" charset="-122"/>
              </a:rPr>
              <a:t>服务层解决了知识的</a:t>
            </a:r>
            <a:r>
              <a:rPr lang="en-US" altLang="zh-CN" sz="1600" dirty="0">
                <a:effectLst/>
                <a:latin typeface="微软雅黑" panose="020B0503020204020204" charset="-122"/>
                <a:ea typeface="微软雅黑" panose="020B0503020204020204" charset="-122"/>
              </a:rPr>
              <a:t>"</a:t>
            </a:r>
            <a:r>
              <a:rPr lang="zh-CN" altLang="en-US" sz="1600" dirty="0">
                <a:effectLst/>
                <a:latin typeface="微软雅黑" panose="020B0503020204020204" charset="-122"/>
                <a:ea typeface="微软雅黑" panose="020B0503020204020204" charset="-122"/>
              </a:rPr>
              <a:t>服务化交付</a:t>
            </a:r>
            <a:r>
              <a:rPr lang="en-US" altLang="zh-CN" sz="1600" dirty="0">
                <a:effectLst/>
                <a:latin typeface="微软雅黑" panose="020B0503020204020204" charset="-122"/>
                <a:ea typeface="微软雅黑" panose="020B0503020204020204" charset="-122"/>
              </a:rPr>
              <a:t>"</a:t>
            </a:r>
            <a:r>
              <a:rPr lang="zh-CN" altLang="en-US" sz="1600" dirty="0">
                <a:effectLst/>
                <a:latin typeface="微软雅黑" panose="020B0503020204020204" charset="-122"/>
                <a:ea typeface="微软雅黑" panose="020B0503020204020204" charset="-122"/>
              </a:rPr>
              <a:t>，监运层</a:t>
            </a:r>
            <a:r>
              <a:rPr lang="zh-CN" altLang="en-US" sz="1600" b="1" dirty="0">
                <a:solidFill>
                  <a:srgbClr val="C00000"/>
                </a:solidFill>
                <a:effectLst/>
                <a:latin typeface="微软雅黑" panose="020B0503020204020204" charset="-122"/>
                <a:ea typeface="微软雅黑" panose="020B0503020204020204" charset="-122"/>
              </a:rPr>
              <a:t>构建</a:t>
            </a:r>
            <a:r>
              <a:rPr lang="en-US" altLang="zh-CN" sz="1600" b="1" dirty="0">
                <a:solidFill>
                  <a:srgbClr val="C00000"/>
                </a:solidFill>
                <a:effectLst/>
                <a:latin typeface="微软雅黑" panose="020B0503020204020204" charset="-122"/>
                <a:ea typeface="微软雅黑" panose="020B0503020204020204" charset="-122"/>
              </a:rPr>
              <a:t> C.O.T.E.E.L </a:t>
            </a:r>
            <a:r>
              <a:rPr lang="zh-CN" altLang="en-US" sz="1600" b="1" dirty="0">
                <a:solidFill>
                  <a:srgbClr val="C00000"/>
                </a:solidFill>
                <a:effectLst/>
                <a:latin typeface="微软雅黑" panose="020B0503020204020204" charset="-122"/>
                <a:ea typeface="微软雅黑" panose="020B0503020204020204" charset="-122"/>
              </a:rPr>
              <a:t>六维</a:t>
            </a:r>
            <a:r>
              <a:rPr lang="en-US" altLang="zh-CN" sz="1600" b="1" dirty="0">
                <a:solidFill>
                  <a:srgbClr val="C00000"/>
                </a:solidFill>
                <a:effectLst/>
                <a:latin typeface="微软雅黑" panose="020B0503020204020204" charset="-122"/>
                <a:ea typeface="微软雅黑" panose="020B0503020204020204" charset="-122"/>
              </a:rPr>
              <a:t> AI </a:t>
            </a:r>
            <a:r>
              <a:rPr lang="zh-CN" altLang="en-US" sz="1600" b="1" dirty="0">
                <a:solidFill>
                  <a:srgbClr val="C00000"/>
                </a:solidFill>
                <a:effectLst/>
                <a:latin typeface="微软雅黑" panose="020B0503020204020204" charset="-122"/>
                <a:ea typeface="微软雅黑" panose="020B0503020204020204" charset="-122"/>
              </a:rPr>
              <a:t>自治运营体系，让已交付的知识服务可合规上线、可信援引、可自治持续地运行在生产中。</a:t>
            </a:r>
            <a:endParaRPr lang="zh-CN" altLang="en-US" sz="1600" b="1" dirty="0">
              <a:solidFill>
                <a:srgbClr val="C00000"/>
              </a:solidFill>
              <a:effectLst/>
              <a:latin typeface="微软雅黑" panose="020B0503020204020204" charset="-122"/>
              <a:ea typeface="微软雅黑" panose="020B0503020204020204" charset="-122"/>
            </a:endParaRPr>
          </a:p>
        </p:txBody>
      </p:sp>
      <p:sp>
        <p:nvSpPr>
          <p:cNvPr id="5" name="AutoShape 5"/>
          <p:cNvSpPr/>
          <p:nvPr/>
        </p:nvSpPr>
        <p:spPr>
          <a:xfrm>
            <a:off x="3810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6" name="AutoShape 6"/>
          <p:cNvSpPr/>
          <p:nvPr/>
        </p:nvSpPr>
        <p:spPr>
          <a:xfrm>
            <a:off x="5080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为什么建</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0" name="AutoShape 7"/>
          <p:cNvSpPr/>
          <p:nvPr/>
        </p:nvSpPr>
        <p:spPr>
          <a:xfrm>
            <a:off x="3810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在实现知识服务化</a:t>
            </a:r>
            <a:r>
              <a:rPr 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大模型应用还需要服务可管控，可审计</a:t>
            </a:r>
            <a:endPar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9" name="AutoShape 23"/>
          <p:cNvSpPr/>
          <p:nvPr/>
        </p:nvSpPr>
        <p:spPr>
          <a:xfrm>
            <a:off x="42672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40" name="AutoShape 24"/>
          <p:cNvSpPr/>
          <p:nvPr/>
        </p:nvSpPr>
        <p:spPr>
          <a:xfrm>
            <a:off x="43942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建设内容</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1" name="AutoShape 25"/>
          <p:cNvSpPr/>
          <p:nvPr/>
        </p:nvSpPr>
        <p:spPr>
          <a:xfrm>
            <a:off x="4267200" y="2491105"/>
            <a:ext cx="3632200" cy="254000"/>
          </a:xfrm>
          <a:prstGeom prst="rect">
            <a:avLst/>
          </a:prstGeom>
          <a:noFill/>
          <a:ln w="12700" cap="flat" cmpd="sng">
            <a:noFill/>
            <a:prstDash val="solid"/>
            <a:round/>
          </a:ln>
        </p:spPr>
        <p:txBody>
          <a:bodyPr vert="horz" wrap="square" lIns="0" tIns="0" rIns="0" bIns="0" rtlCol="0" anchor="ctr" anchorCtr="0"/>
          <a:lstStyle/>
          <a:p>
            <a:pPr marL="0" lvl="2" indent="0" algn="l" defTabSz="1097280" eaLnBrk="0" fontAlgn="base" hangingPunct="0">
              <a:lnSpc>
                <a:spcPct val="150000"/>
              </a:lnSpc>
              <a:defRPr/>
            </a:pPr>
            <a:r>
              <a:rPr lang="en-US" sz="11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a:t>
            </a:r>
            <a:r>
              <a:rPr lang="zh-CN" altLang="en-US" sz="1100" dirty="0">
                <a:effectLst/>
                <a:latin typeface="微软雅黑" panose="020B0503020204020204" charset="-122"/>
                <a:ea typeface="微软雅黑" panose="020B0503020204020204" charset="-122"/>
                <a:cs typeface="微软雅黑" panose="020B0503020204020204" charset="-122"/>
                <a:sym typeface="+mn-ea"/>
              </a:rPr>
              <a:t> </a:t>
            </a:r>
            <a:r>
              <a:rPr lang="en-US" altLang="zh-CN" sz="1100" dirty="0">
                <a:effectLst/>
                <a:latin typeface="微软雅黑" panose="020B0503020204020204" charset="-122"/>
                <a:ea typeface="微软雅黑" panose="020B0503020204020204" charset="-122"/>
                <a:cs typeface="微软雅黑" panose="020B0503020204020204" charset="-122"/>
                <a:sym typeface="+mn-ea"/>
              </a:rPr>
              <a:t>C.O.T.E.E.L </a:t>
            </a:r>
            <a:r>
              <a:rPr lang="zh-CN" altLang="en-US" sz="1100" dirty="0">
                <a:effectLst/>
                <a:latin typeface="微软雅黑" panose="020B0503020204020204" charset="-122"/>
                <a:ea typeface="微软雅黑" panose="020B0503020204020204" charset="-122"/>
                <a:cs typeface="微软雅黑" panose="020B0503020204020204" charset="-122"/>
                <a:sym typeface="+mn-ea"/>
              </a:rPr>
              <a:t>六维 </a:t>
            </a:r>
            <a:r>
              <a:rPr lang="en-US" altLang="zh-CN" sz="1100" dirty="0">
                <a:effectLst/>
                <a:latin typeface="微软雅黑" panose="020B0503020204020204" charset="-122"/>
                <a:ea typeface="微软雅黑" panose="020B0503020204020204" charset="-122"/>
                <a:cs typeface="微软雅黑" panose="020B0503020204020204" charset="-122"/>
                <a:sym typeface="+mn-ea"/>
              </a:rPr>
              <a:t>AI </a:t>
            </a:r>
            <a:r>
              <a:rPr lang="zh-CN" altLang="en-US" sz="1100" dirty="0">
                <a:effectLst/>
                <a:latin typeface="微软雅黑" panose="020B0503020204020204" charset="-122"/>
                <a:ea typeface="微软雅黑" panose="020B0503020204020204" charset="-122"/>
                <a:cs typeface="微软雅黑" panose="020B0503020204020204" charset="-122"/>
                <a:sym typeface="+mn-ea"/>
              </a:rPr>
              <a:t>自治运营体系</a:t>
            </a:r>
            <a:endParaRPr lang="en-US" sz="11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5" name="AutoShape 38"/>
          <p:cNvSpPr/>
          <p:nvPr/>
        </p:nvSpPr>
        <p:spPr>
          <a:xfrm>
            <a:off x="8153400" y="2135505"/>
            <a:ext cx="50800" cy="2540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6" name="AutoShape 39"/>
          <p:cNvSpPr/>
          <p:nvPr/>
        </p:nvSpPr>
        <p:spPr>
          <a:xfrm>
            <a:off x="8280400" y="2110105"/>
            <a:ext cx="3505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核心价值</a:t>
            </a:r>
            <a:endParaRPr lang="en-US" sz="16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7" name="AutoShape 40"/>
          <p:cNvSpPr/>
          <p:nvPr/>
        </p:nvSpPr>
        <p:spPr>
          <a:xfrm>
            <a:off x="8153400" y="2491105"/>
            <a:ext cx="36322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让知识服务变得可全域可控，持续进化，可自治运营</a:t>
            </a:r>
            <a:endParaRPr lang="zh-CN" altLang="en-US" sz="11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1" name="AutoShape 2"/>
          <p:cNvSpPr/>
          <p:nvPr/>
        </p:nvSpPr>
        <p:spPr>
          <a:xfrm>
            <a:off x="410845" y="2829560"/>
            <a:ext cx="3556000" cy="3755390"/>
          </a:xfrm>
          <a:prstGeom prst="roundRect">
            <a:avLst>
              <a:gd name="adj" fmla="val 2857"/>
            </a:avLst>
          </a:prstGeom>
          <a:solidFill>
            <a:schemeClr val="bg1"/>
          </a:solidFill>
          <a:ln cap="flat" cmpd="sng">
            <a:solidFill>
              <a:srgbClr val="C3D0E2">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3" name="AutoShape 4"/>
          <p:cNvSpPr/>
          <p:nvPr/>
        </p:nvSpPr>
        <p:spPr>
          <a:xfrm>
            <a:off x="601345" y="3144520"/>
            <a:ext cx="304800" cy="304800"/>
          </a:xfrm>
          <a:prstGeom prst="ellipse">
            <a:avLst/>
          </a:prstGeom>
          <a:solidFill>
            <a:srgbClr val="4368A1">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4" name="AutoShape 5"/>
          <p:cNvSpPr/>
          <p:nvPr/>
        </p:nvSpPr>
        <p:spPr>
          <a:xfrm>
            <a:off x="601345" y="3144520"/>
            <a:ext cx="3048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1</a:t>
            </a:r>
            <a:endPar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5" name="AutoShape 6"/>
          <p:cNvSpPr/>
          <p:nvPr/>
        </p:nvSpPr>
        <p:spPr>
          <a:xfrm>
            <a:off x="1045845" y="3058795"/>
            <a:ext cx="273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1">
                <a:latin typeface="微软雅黑" panose="020B0503020204020204" charset="-122"/>
                <a:ea typeface="微软雅黑" panose="020B0503020204020204" charset="-122"/>
                <a:cs typeface="微软雅黑" panose="020B0503020204020204" charset="-122"/>
              </a:rPr>
              <a:t>合规可控需求</a:t>
            </a:r>
            <a:endParaRPr lang="en-US" sz="1200" b="1">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zh-CN" alt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知识对外交付后，必须保障</a:t>
            </a:r>
            <a:r>
              <a:rPr lang="en-US" altLang="zh-CN"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谁能访问、访问到什么</a:t>
            </a:r>
            <a:r>
              <a:rPr lang="en-US" altLang="zh-CN"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可控、调用过程可审计，才能守住金融监管与数据安全底线</a:t>
            </a:r>
            <a:r>
              <a:rPr lang="en-US" altLang="zh-CN"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altLang="zh-CN"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6" name="AutoShape 7"/>
          <p:cNvSpPr/>
          <p:nvPr/>
        </p:nvSpPr>
        <p:spPr>
          <a:xfrm>
            <a:off x="601345" y="4384040"/>
            <a:ext cx="304800" cy="304800"/>
          </a:xfrm>
          <a:prstGeom prst="ellipse">
            <a:avLst/>
          </a:prstGeom>
          <a:solidFill>
            <a:srgbClr val="4368A1">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37" name="AutoShape 8"/>
          <p:cNvSpPr/>
          <p:nvPr/>
        </p:nvSpPr>
        <p:spPr>
          <a:xfrm>
            <a:off x="601345" y="4384040"/>
            <a:ext cx="3048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2</a:t>
            </a:r>
            <a:endPar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8" name="AutoShape 9"/>
          <p:cNvSpPr/>
          <p:nvPr/>
        </p:nvSpPr>
        <p:spPr>
          <a:xfrm>
            <a:off x="1045845" y="4274185"/>
            <a:ext cx="273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1">
                <a:latin typeface="微软雅黑" panose="020B0503020204020204" charset="-122"/>
                <a:ea typeface="微软雅黑" panose="020B0503020204020204" charset="-122"/>
                <a:cs typeface="微软雅黑" panose="020B0503020204020204" charset="-122"/>
              </a:rPr>
              <a:t>知识可信需求</a:t>
            </a:r>
            <a:endParaRPr lang="en-US" sz="1200" b="1">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altLang="zh-CN"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AI </a:t>
            </a:r>
            <a:r>
              <a:rPr lang="zh-CN" alt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输出的知识须能直接支撑业务与合规，必须做到结论有据可依、来源可查，才能让使用者采信、敢引用</a:t>
            </a:r>
            <a:r>
              <a:rPr 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2" name="AutoShape 10"/>
          <p:cNvSpPr/>
          <p:nvPr/>
        </p:nvSpPr>
        <p:spPr>
          <a:xfrm>
            <a:off x="601345" y="5520690"/>
            <a:ext cx="304800" cy="304800"/>
          </a:xfrm>
          <a:prstGeom prst="ellipse">
            <a:avLst/>
          </a:prstGeom>
          <a:solidFill>
            <a:srgbClr val="4368A1">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43" name="AutoShape 11"/>
          <p:cNvSpPr/>
          <p:nvPr/>
        </p:nvSpPr>
        <p:spPr>
          <a:xfrm>
            <a:off x="601345" y="5496560"/>
            <a:ext cx="3048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rPr>
              <a:t>3</a:t>
            </a:r>
            <a:endParaRPr lang="en-US" sz="1200" b="1" i="0" u="none" strike="noStrike">
              <a:solidFill>
                <a:srgbClr val="FFFF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4" name="AutoShape 12"/>
          <p:cNvSpPr/>
          <p:nvPr/>
        </p:nvSpPr>
        <p:spPr>
          <a:xfrm>
            <a:off x="1045845" y="5410835"/>
            <a:ext cx="2730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1">
                <a:latin typeface="微软雅黑" panose="020B0503020204020204" charset="-122"/>
                <a:ea typeface="微软雅黑" panose="020B0503020204020204" charset="-122"/>
                <a:cs typeface="微软雅黑" panose="020B0503020204020204" charset="-122"/>
              </a:rPr>
              <a:t>自治持续需求</a:t>
            </a:r>
            <a:endParaRPr lang="zh-CN" altLang="en-US" sz="1200" b="1">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zh-CN" alt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知识服务要长效可用，必须随监管与业务规则变化自主迭代、降本增效，而不能长期依赖人工逐级治理、被动整改</a:t>
            </a:r>
            <a:r>
              <a:rPr 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6" name="AutoShape 15"/>
          <p:cNvSpPr/>
          <p:nvPr/>
        </p:nvSpPr>
        <p:spPr>
          <a:xfrm>
            <a:off x="4146550" y="3086100"/>
            <a:ext cx="1206500" cy="1397000"/>
          </a:xfrm>
          <a:prstGeom prst="roundRect">
            <a:avLst>
              <a:gd name="adj" fmla="val 6315"/>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2400">
              <a:latin typeface="微软雅黑" panose="020B0503020204020204" charset="-122"/>
              <a:ea typeface="微软雅黑" panose="020B0503020204020204" charset="-122"/>
            </a:endParaRPr>
          </a:p>
        </p:txBody>
      </p:sp>
      <p:sp>
        <p:nvSpPr>
          <p:cNvPr id="47" name="AutoShape 16"/>
          <p:cNvSpPr/>
          <p:nvPr/>
        </p:nvSpPr>
        <p:spPr>
          <a:xfrm>
            <a:off x="4210050" y="3149600"/>
            <a:ext cx="10795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可控制</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 Controllable</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知识访问权限管控</a:t>
            </a:r>
            <a:endPar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8" name="AutoShape 17"/>
          <p:cNvSpPr/>
          <p:nvPr/>
        </p:nvSpPr>
        <p:spPr>
          <a:xfrm>
            <a:off x="5416550" y="3086100"/>
            <a:ext cx="1206500" cy="1397000"/>
          </a:xfrm>
          <a:prstGeom prst="roundRect">
            <a:avLst>
              <a:gd name="adj" fmla="val 6315"/>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2400">
              <a:latin typeface="微软雅黑" panose="020B0503020204020204" charset="-122"/>
              <a:ea typeface="微软雅黑" panose="020B0503020204020204" charset="-122"/>
            </a:endParaRPr>
          </a:p>
        </p:txBody>
      </p:sp>
      <p:sp>
        <p:nvSpPr>
          <p:cNvPr id="49" name="AutoShape 18"/>
          <p:cNvSpPr/>
          <p:nvPr/>
        </p:nvSpPr>
        <p:spPr>
          <a:xfrm>
            <a:off x="5480050" y="3149600"/>
            <a:ext cx="10795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可观测</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 Observable</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全链路监测</a:t>
            </a:r>
            <a:endPar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0" name="AutoShape 19"/>
          <p:cNvSpPr/>
          <p:nvPr/>
        </p:nvSpPr>
        <p:spPr>
          <a:xfrm>
            <a:off x="6686550" y="3086100"/>
            <a:ext cx="1206500" cy="1397000"/>
          </a:xfrm>
          <a:prstGeom prst="roundRect">
            <a:avLst>
              <a:gd name="adj" fmla="val 6315"/>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2400">
              <a:latin typeface="微软雅黑" panose="020B0503020204020204" charset="-122"/>
              <a:ea typeface="微软雅黑" panose="020B0503020204020204" charset="-122"/>
            </a:endParaRPr>
          </a:p>
        </p:txBody>
      </p:sp>
      <p:sp>
        <p:nvSpPr>
          <p:cNvPr id="51" name="AutoShape 20"/>
          <p:cNvSpPr/>
          <p:nvPr/>
        </p:nvSpPr>
        <p:spPr>
          <a:xfrm>
            <a:off x="6750050" y="3149600"/>
            <a:ext cx="10795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可溯源 </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Traceable</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可溯源到具体文档内容</a:t>
            </a:r>
            <a:endPar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2" name="AutoShape 21"/>
          <p:cNvSpPr/>
          <p:nvPr/>
        </p:nvSpPr>
        <p:spPr>
          <a:xfrm>
            <a:off x="4146550" y="4673600"/>
            <a:ext cx="1206500" cy="1397000"/>
          </a:xfrm>
          <a:prstGeom prst="roundRect">
            <a:avLst>
              <a:gd name="adj" fmla="val 6315"/>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2400">
              <a:latin typeface="微软雅黑" panose="020B0503020204020204" charset="-122"/>
              <a:ea typeface="微软雅黑" panose="020B0503020204020204" charset="-122"/>
            </a:endParaRPr>
          </a:p>
        </p:txBody>
      </p:sp>
      <p:sp>
        <p:nvSpPr>
          <p:cNvPr id="53" name="AutoShape 22"/>
          <p:cNvSpPr/>
          <p:nvPr/>
        </p:nvSpPr>
        <p:spPr>
          <a:xfrm>
            <a:off x="4210050" y="4737100"/>
            <a:ext cx="10795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可解释</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 Explainable</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展现语义理解与内容召回过程</a:t>
            </a:r>
            <a:endPar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4" name="AutoShape 23"/>
          <p:cNvSpPr/>
          <p:nvPr/>
        </p:nvSpPr>
        <p:spPr>
          <a:xfrm>
            <a:off x="5416550" y="4673600"/>
            <a:ext cx="1206500" cy="1397000"/>
          </a:xfrm>
          <a:prstGeom prst="roundRect">
            <a:avLst>
              <a:gd name="adj" fmla="val 6315"/>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2400">
              <a:latin typeface="微软雅黑" panose="020B0503020204020204" charset="-122"/>
              <a:ea typeface="微软雅黑" panose="020B0503020204020204" charset="-122"/>
            </a:endParaRPr>
          </a:p>
        </p:txBody>
      </p:sp>
      <p:sp>
        <p:nvSpPr>
          <p:cNvPr id="58" name="AutoShape 24"/>
          <p:cNvSpPr/>
          <p:nvPr/>
        </p:nvSpPr>
        <p:spPr>
          <a:xfrm>
            <a:off x="5480050" y="4737100"/>
            <a:ext cx="10795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可演进</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 Evolvable</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基于反馈实现知识服务演进</a:t>
            </a:r>
            <a:endPar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9" name="AutoShape 25"/>
          <p:cNvSpPr/>
          <p:nvPr/>
        </p:nvSpPr>
        <p:spPr>
          <a:xfrm>
            <a:off x="6686550" y="4673600"/>
            <a:ext cx="1206500" cy="1397000"/>
          </a:xfrm>
          <a:prstGeom prst="roundRect">
            <a:avLst>
              <a:gd name="adj" fmla="val 6315"/>
            </a:avLst>
          </a:prstGeom>
          <a:solidFill>
            <a:srgbClr val="FFFFFF">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sz="2400">
              <a:latin typeface="微软雅黑" panose="020B0503020204020204" charset="-122"/>
              <a:ea typeface="微软雅黑" panose="020B0503020204020204" charset="-122"/>
            </a:endParaRPr>
          </a:p>
        </p:txBody>
      </p:sp>
      <p:sp>
        <p:nvSpPr>
          <p:cNvPr id="60" name="AutoShape 26"/>
          <p:cNvSpPr/>
          <p:nvPr/>
        </p:nvSpPr>
        <p:spPr>
          <a:xfrm>
            <a:off x="6750050" y="4737100"/>
            <a:ext cx="10795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可闭环</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rPr>
              <a:t> Loop-closable</a:t>
            </a:r>
            <a:endPar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algn="ctr">
              <a:lnSpc>
                <a:spcPct val="100000"/>
              </a:lnSpc>
              <a:buClrTx/>
              <a:buSzTx/>
              <a:buFontTx/>
              <a:defRPr/>
            </a:pPr>
            <a:r>
              <a:rPr lang="zh-CN" altLang="en-US" sz="100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能够基于反馈对知识生成环节进行优化</a:t>
            </a:r>
            <a:endParaRPr lang="zh-CN" altLang="en-US" sz="100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ctr">
              <a:lnSpc>
                <a:spcPct val="100000"/>
              </a:lnSpc>
              <a:defRPr/>
            </a:pPr>
            <a:endParaRPr lang="zh-CN" altLang="en-US" sz="1000" b="0" i="0" u="none" strike="noStrike">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1" name="等腰三角形 60"/>
          <p:cNvSpPr/>
          <p:nvPr/>
        </p:nvSpPr>
        <p:spPr>
          <a:xfrm rot="5400000">
            <a:off x="3615055" y="4363085"/>
            <a:ext cx="879475" cy="278130"/>
          </a:xfrm>
          <a:prstGeom prst="triangle">
            <a:avLst/>
          </a:prstGeom>
          <a:solidFill>
            <a:schemeClr val="bg1">
              <a:lumMod val="95000"/>
            </a:schemeClr>
          </a:solidFill>
          <a:ln>
            <a:solidFill>
              <a:schemeClr val="accent1">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400">
              <a:latin typeface="微软雅黑" panose="020B0503020204020204" charset="-122"/>
              <a:ea typeface="微软雅黑" panose="020B0503020204020204" charset="-122"/>
            </a:endParaRPr>
          </a:p>
        </p:txBody>
      </p:sp>
      <p:sp>
        <p:nvSpPr>
          <p:cNvPr id="62" name="等腰三角形 61"/>
          <p:cNvSpPr/>
          <p:nvPr/>
        </p:nvSpPr>
        <p:spPr>
          <a:xfrm rot="5400000">
            <a:off x="7589520" y="4363085"/>
            <a:ext cx="879475" cy="278130"/>
          </a:xfrm>
          <a:prstGeom prst="triangle">
            <a:avLst/>
          </a:prstGeom>
          <a:solidFill>
            <a:schemeClr val="bg1">
              <a:lumMod val="95000"/>
            </a:schemeClr>
          </a:solidFill>
          <a:ln>
            <a:solidFill>
              <a:schemeClr val="accent1">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63" name="AutoShape 41"/>
          <p:cNvSpPr/>
          <p:nvPr/>
        </p:nvSpPr>
        <p:spPr>
          <a:xfrm>
            <a:off x="8153400" y="2923540"/>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64" name="AutoShape 42"/>
          <p:cNvSpPr/>
          <p:nvPr/>
        </p:nvSpPr>
        <p:spPr>
          <a:xfrm>
            <a:off x="8153400" y="2923540"/>
            <a:ext cx="38100" cy="1151255"/>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65" name="AutoShape 43"/>
          <p:cNvSpPr/>
          <p:nvPr/>
        </p:nvSpPr>
        <p:spPr>
          <a:xfrm>
            <a:off x="8305800" y="3018155"/>
            <a:ext cx="3378200" cy="29781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合规可控</a:t>
            </a:r>
            <a:r>
              <a:rPr lang="en-US" altLang="zh-CN"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 — </a:t>
            </a: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数据安全与可审计</a:t>
            </a:r>
            <a:endPar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66" name="AutoShape 44"/>
          <p:cNvSpPr/>
          <p:nvPr/>
        </p:nvSpPr>
        <p:spPr>
          <a:xfrm>
            <a:off x="8305800" y="3262630"/>
            <a:ext cx="3378200" cy="65024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知识访问、模型调用分级管控，杜绝越权</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，AI </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调用全链路可监控、可审计、可回溯，从输入到输出全程留痕。满足金融数据安全与监管合规要求</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67" name="AutoShape 45"/>
          <p:cNvSpPr/>
          <p:nvPr/>
        </p:nvSpPr>
        <p:spPr>
          <a:xfrm>
            <a:off x="8153400" y="5365750"/>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68" name="AutoShape 46"/>
          <p:cNvSpPr/>
          <p:nvPr/>
        </p:nvSpPr>
        <p:spPr>
          <a:xfrm>
            <a:off x="8153400" y="5365750"/>
            <a:ext cx="38100" cy="1151255"/>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69" name="AutoShape 47"/>
          <p:cNvSpPr/>
          <p:nvPr/>
        </p:nvSpPr>
        <p:spPr>
          <a:xfrm>
            <a:off x="8305800" y="5460365"/>
            <a:ext cx="3476625" cy="297815"/>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高效自治</a:t>
            </a:r>
            <a:r>
              <a:rPr lang="en-US" altLang="zh-CN"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 — </a:t>
            </a: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知识自进化、运营自闭环</a:t>
            </a:r>
            <a:endPar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0" name="AutoShape 48"/>
          <p:cNvSpPr/>
          <p:nvPr/>
        </p:nvSpPr>
        <p:spPr>
          <a:xfrm>
            <a:off x="8305800" y="5848985"/>
            <a:ext cx="3378200" cy="51689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知识随业务变化自动更新迭代，实现知识保鲜</a:t>
            </a:r>
            <a:r>
              <a:rPr lang="en-US" altLang="zh-CN" sz="1200">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闭环自治替代人工程序化治理，</a:t>
            </a:r>
            <a:r>
              <a:rPr lang="en-US" altLang="zh-CN" sz="1200">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AI </a:t>
            </a:r>
            <a:r>
              <a:rPr lang="zh-CN" altLang="en-US" sz="1200">
                <a:solidFill>
                  <a:srgbClr val="646A73"/>
                </a:solidFill>
                <a:latin typeface="微软雅黑" panose="020B0503020204020204" charset="-122"/>
                <a:ea typeface="微软雅黑" panose="020B0503020204020204" charset="-122"/>
                <a:cs typeface="微软雅黑" panose="020B0503020204020204" charset="-122"/>
                <a:sym typeface="Noto Sans SC" panose="020B0200000000000000" charset="-122"/>
              </a:rPr>
              <a:t>自动解析反馈、生成优化建议，经人工审批后自动完成迭代。</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6" name="AutoShape 45"/>
          <p:cNvSpPr/>
          <p:nvPr/>
        </p:nvSpPr>
        <p:spPr>
          <a:xfrm>
            <a:off x="8153400" y="4140200"/>
            <a:ext cx="3632200" cy="1151255"/>
          </a:xfrm>
          <a:prstGeom prst="roundRect">
            <a:avLst>
              <a:gd name="adj" fmla="val 0"/>
            </a:avLst>
          </a:prstGeom>
          <a:solidFill>
            <a:srgbClr val="FFFFFF">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77" name="AutoShape 46"/>
          <p:cNvSpPr/>
          <p:nvPr/>
        </p:nvSpPr>
        <p:spPr>
          <a:xfrm>
            <a:off x="8153400" y="4140200"/>
            <a:ext cx="38100" cy="1151255"/>
          </a:xfrm>
          <a:prstGeom prst="roundRect">
            <a:avLst>
              <a:gd name="adj" fmla="val 0"/>
            </a:avLst>
          </a:prstGeom>
          <a:solidFill>
            <a:srgbClr val="4080FF">
              <a:alpha val="100000"/>
            </a:srgbClr>
          </a:solidFill>
          <a:ln w="25400" cap="flat" cmpd="sng">
            <a:noFill/>
            <a:prstDash val="solid"/>
            <a:round/>
          </a:ln>
        </p:spPr>
        <p:txBody>
          <a:bodyPr vert="horz" wrap="square" lIns="63500" tIns="63500" rIns="63500" bIns="63500" rtlCol="0" anchor="ctr"/>
          <a:lstStyle/>
          <a:p>
            <a:pPr algn="ctr">
              <a:defRPr/>
            </a:pPr>
            <a:endParaRPr sz="2000">
              <a:latin typeface="微软雅黑" panose="020B0503020204020204" charset="-122"/>
              <a:ea typeface="微软雅黑" panose="020B0503020204020204" charset="-122"/>
            </a:endParaRPr>
          </a:p>
        </p:txBody>
      </p:sp>
      <p:sp>
        <p:nvSpPr>
          <p:cNvPr id="78" name="AutoShape 47"/>
          <p:cNvSpPr/>
          <p:nvPr/>
        </p:nvSpPr>
        <p:spPr>
          <a:xfrm>
            <a:off x="8305800" y="4234815"/>
            <a:ext cx="3476625" cy="297815"/>
          </a:xfrm>
          <a:prstGeom prst="rect">
            <a:avLst/>
          </a:prstGeom>
          <a:noFill/>
          <a:ln w="12700" cap="flat" cmpd="sng">
            <a:noFill/>
            <a:prstDash val="solid"/>
            <a:round/>
          </a:ln>
        </p:spPr>
        <p:txBody>
          <a:bodyPr vert="horz" wrap="square" lIns="0" tIns="0" rIns="0" bIns="0" rtlCol="0" anchor="ctr" anchorCtr="0"/>
          <a:lstStyle/>
          <a:p>
            <a:pPr marL="0" algn="l">
              <a:lnSpc>
                <a:spcPct val="125000"/>
              </a:lnSpc>
              <a:buClrTx/>
              <a:buSzTx/>
              <a:buFontTx/>
              <a:defRPr/>
            </a:pP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知识可信</a:t>
            </a:r>
            <a:r>
              <a:rPr lang="en-US" altLang="zh-CN"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 — </a:t>
            </a:r>
            <a:r>
              <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输出有据可依</a:t>
            </a:r>
            <a:endParaRPr lang="zh-CN" altLang="en-US" sz="14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79" name="AutoShape 48"/>
          <p:cNvSpPr/>
          <p:nvPr/>
        </p:nvSpPr>
        <p:spPr>
          <a:xfrm>
            <a:off x="8305800" y="4565650"/>
            <a:ext cx="3378200" cy="65024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每条</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AI </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结论精准回溯至原始文档，答案有据可查而非</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黑箱</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让</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 AI </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输出从</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仅供参考</a:t>
            </a:r>
            <a:r>
              <a:rPr lang="en-US" altLang="zh-CN"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升级为可信赖、可定责、可落地的业务依据。</a:t>
            </a:r>
            <a:endPar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 监运层：运营管理自治化，实现智力可进化</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AutoShape 6"/>
          <p:cNvSpPr/>
          <p:nvPr/>
        </p:nvSpPr>
        <p:spPr>
          <a:xfrm>
            <a:off x="508000" y="2287270"/>
            <a:ext cx="3556000" cy="18415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1200" y="2490470"/>
            <a:ext cx="355600" cy="355600"/>
          </a:xfrm>
          <a:prstGeom prst="rect">
            <a:avLst/>
          </a:prstGeom>
        </p:spPr>
      </p:pic>
      <p:sp>
        <p:nvSpPr>
          <p:cNvPr id="8" name="AutoShape 8"/>
          <p:cNvSpPr/>
          <p:nvPr/>
        </p:nvSpPr>
        <p:spPr>
          <a:xfrm>
            <a:off x="1143000" y="246507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可控制 Controllable</a:t>
            </a:r>
            <a:endPar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9" name="AutoShape 9"/>
          <p:cNvSpPr/>
          <p:nvPr/>
        </p:nvSpPr>
        <p:spPr>
          <a:xfrm>
            <a:off x="711200" y="298577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建立精细化授权与权限管控机制，对知识访问、模型调用实施分级管理，从源头保障数据安全与业务合规，杜绝越权风险。</a:t>
            </a:r>
            <a:endParaRPr lang="en-US" sz="1300" b="0"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0" name="AutoShape 10"/>
          <p:cNvSpPr/>
          <p:nvPr/>
        </p:nvSpPr>
        <p:spPr>
          <a:xfrm>
            <a:off x="4318000" y="2287270"/>
            <a:ext cx="3556000" cy="18415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21200" y="2490470"/>
            <a:ext cx="355600" cy="355600"/>
          </a:xfrm>
          <a:prstGeom prst="rect">
            <a:avLst/>
          </a:prstGeom>
        </p:spPr>
      </p:pic>
      <p:sp>
        <p:nvSpPr>
          <p:cNvPr id="12" name="AutoShape 12"/>
          <p:cNvSpPr/>
          <p:nvPr/>
        </p:nvSpPr>
        <p:spPr>
          <a:xfrm>
            <a:off x="4953000" y="246507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可观测 Observable</a:t>
            </a:r>
            <a:endPar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3" name="AutoShape 13"/>
          <p:cNvSpPr/>
          <p:nvPr/>
        </p:nvSpPr>
        <p:spPr>
          <a:xfrm>
            <a:off x="4521200" y="298577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实现全流程行为的实时监测与可视化审计，打破AI决策的“黑盒”壁垒，让模型运行状态、知识调用轨迹清晰可见，快速定位异常。</a:t>
            </a:r>
            <a:endPar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4" name="AutoShape 14"/>
          <p:cNvSpPr/>
          <p:nvPr/>
        </p:nvSpPr>
        <p:spPr>
          <a:xfrm>
            <a:off x="8128000" y="2287270"/>
            <a:ext cx="3556000" cy="18415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1200" y="2490470"/>
            <a:ext cx="355600" cy="355600"/>
          </a:xfrm>
          <a:prstGeom prst="rect">
            <a:avLst/>
          </a:prstGeom>
        </p:spPr>
      </p:pic>
      <p:sp>
        <p:nvSpPr>
          <p:cNvPr id="16" name="AutoShape 16"/>
          <p:cNvSpPr/>
          <p:nvPr/>
        </p:nvSpPr>
        <p:spPr>
          <a:xfrm>
            <a:off x="8763000" y="246507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可溯源 Traceable</a:t>
            </a:r>
            <a:endPar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7" name="AutoShape 17"/>
          <p:cNvSpPr/>
          <p:nvPr/>
        </p:nvSpPr>
        <p:spPr>
          <a:xfrm>
            <a:off x="8331200" y="298577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所有AI生成结果均可精准回溯至原始知识文档及责任部门，确保决策有据可依，在争议发生时可快速查证与定责。</a:t>
            </a:r>
            <a:endPar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AutoShape 18"/>
          <p:cNvSpPr/>
          <p:nvPr/>
        </p:nvSpPr>
        <p:spPr>
          <a:xfrm>
            <a:off x="508000" y="4382770"/>
            <a:ext cx="3556000" cy="18415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1200" y="4585970"/>
            <a:ext cx="355600" cy="355600"/>
          </a:xfrm>
          <a:prstGeom prst="rect">
            <a:avLst/>
          </a:prstGeom>
        </p:spPr>
      </p:pic>
      <p:sp>
        <p:nvSpPr>
          <p:cNvPr id="20" name="AutoShape 20"/>
          <p:cNvSpPr/>
          <p:nvPr/>
        </p:nvSpPr>
        <p:spPr>
          <a:xfrm>
            <a:off x="1143000" y="456057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可解释 Explainable</a:t>
            </a:r>
            <a:endPar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1" name="AutoShape 21"/>
          <p:cNvSpPr/>
          <p:nvPr/>
        </p:nvSpPr>
        <p:spPr>
          <a:xfrm>
            <a:off x="711200" y="508127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为AI输出提供清晰的制度依据、逻辑推导链条与业务语义解释，解决“只知其然不知其所以然”的问题，适配金融、政务等高严谨场景。</a:t>
            </a:r>
            <a:endPar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2" name="AutoShape 22"/>
          <p:cNvSpPr/>
          <p:nvPr/>
        </p:nvSpPr>
        <p:spPr>
          <a:xfrm>
            <a:off x="4318000" y="4382770"/>
            <a:ext cx="3556000" cy="18415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3" name="Picture 2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21200" y="4585970"/>
            <a:ext cx="355600" cy="355600"/>
          </a:xfrm>
          <a:prstGeom prst="rect">
            <a:avLst/>
          </a:prstGeom>
        </p:spPr>
      </p:pic>
      <p:sp>
        <p:nvSpPr>
          <p:cNvPr id="24" name="AutoShape 24"/>
          <p:cNvSpPr/>
          <p:nvPr/>
        </p:nvSpPr>
        <p:spPr>
          <a:xfrm>
            <a:off x="4953000" y="456057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可演进 Evolvable</a:t>
            </a:r>
            <a:endPar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5" name="AutoShape 25"/>
          <p:cNvSpPr/>
          <p:nvPr/>
        </p:nvSpPr>
        <p:spPr>
          <a:xfrm>
            <a:off x="4521200" y="508127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基于用户交互数据与业务反馈，自动触发知识更新，适配业务场景的高频迭代，让知识体系始终保持鲜活与精准。</a:t>
            </a:r>
            <a:endParaRPr lang="en-US" sz="1300" b="0"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6" name="AutoShape 26"/>
          <p:cNvSpPr/>
          <p:nvPr/>
        </p:nvSpPr>
        <p:spPr>
          <a:xfrm>
            <a:off x="8128000" y="4382770"/>
            <a:ext cx="3556000" cy="1841500"/>
          </a:xfrm>
          <a:prstGeom prst="roundRect">
            <a:avLst>
              <a:gd name="adj" fmla="val 0"/>
            </a:avLst>
          </a:prstGeom>
          <a:solidFill>
            <a:srgbClr val="EFF6FF">
              <a:alpha val="8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7"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31200" y="4585970"/>
            <a:ext cx="355600" cy="355600"/>
          </a:xfrm>
          <a:prstGeom prst="rect">
            <a:avLst/>
          </a:prstGeom>
        </p:spPr>
      </p:pic>
      <p:sp>
        <p:nvSpPr>
          <p:cNvPr id="28" name="AutoShape 28"/>
          <p:cNvSpPr/>
          <p:nvPr/>
        </p:nvSpPr>
        <p:spPr>
          <a:xfrm>
            <a:off x="8763000" y="4560570"/>
            <a:ext cx="279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可闭环 Loop-closable</a:t>
            </a:r>
            <a:endParaRPr lang="en-US" sz="16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9" name="AutoShape 29"/>
          <p:cNvSpPr/>
          <p:nvPr/>
        </p:nvSpPr>
        <p:spPr>
          <a:xfrm>
            <a:off x="8331200" y="5081270"/>
            <a:ext cx="317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构建“知识采集-加工治理-应用服务-效果反馈-迭代优化”的全闭环机制，形成自驱动的智能进化生态，大幅降低人工运维成本。</a:t>
            </a:r>
            <a:endPar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 name="圆角矩形 9"/>
          <p:cNvSpPr/>
          <p:nvPr/>
        </p:nvSpPr>
        <p:spPr bwMode="auto">
          <a:xfrm>
            <a:off x="508635" y="906145"/>
            <a:ext cx="10921365" cy="1229995"/>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dirty="0">
                <a:solidFill>
                  <a:prstClr val="black"/>
                </a:solidFill>
                <a:latin typeface="微软雅黑" panose="020B0503020204020204" charset="-122"/>
                <a:ea typeface="微软雅黑" panose="020B0503020204020204" charset="-122"/>
                <a:sym typeface="+mn-ea"/>
              </a:rPr>
              <a:t>监运层聚焦银行知识工程平台长效合规运营与</a:t>
            </a:r>
            <a:r>
              <a:rPr lang="en-US" altLang="zh-CN" sz="1600" dirty="0">
                <a:solidFill>
                  <a:prstClr val="black"/>
                </a:solidFill>
                <a:latin typeface="微软雅黑" panose="020B0503020204020204" charset="-122"/>
                <a:ea typeface="微软雅黑" panose="020B0503020204020204" charset="-122"/>
                <a:sym typeface="+mn-ea"/>
              </a:rPr>
              <a:t>AI</a:t>
            </a:r>
            <a:r>
              <a:rPr lang="zh-CN" altLang="en-US" sz="1600" dirty="0">
                <a:solidFill>
                  <a:prstClr val="black"/>
                </a:solidFill>
                <a:latin typeface="微软雅黑" panose="020B0503020204020204" charset="-122"/>
                <a:ea typeface="微软雅黑" panose="020B0503020204020204" charset="-122"/>
                <a:sym typeface="+mn-ea"/>
              </a:rPr>
              <a:t>能力持续迭代，据弃传统人工逐级治理、被动整改的管理模式，</a:t>
            </a:r>
            <a:r>
              <a:rPr lang="zh-CN" altLang="en-US" sz="1600" b="1" dirty="0">
                <a:solidFill>
                  <a:srgbClr val="C00000"/>
                </a:solidFill>
                <a:latin typeface="微软雅黑" panose="020B0503020204020204" charset="-122"/>
                <a:ea typeface="微软雅黑" panose="020B0503020204020204" charset="-122"/>
                <a:sym typeface="+mn-ea"/>
              </a:rPr>
              <a:t>搭建</a:t>
            </a:r>
            <a:r>
              <a:rPr lang="en-US" altLang="zh-CN" sz="1600" b="1" dirty="0">
                <a:solidFill>
                  <a:srgbClr val="C00000"/>
                </a:solidFill>
                <a:latin typeface="微软雅黑" panose="020B0503020204020204" charset="-122"/>
                <a:ea typeface="微软雅黑" panose="020B0503020204020204" charset="-122"/>
                <a:sym typeface="+mn-ea"/>
              </a:rPr>
              <a:t>C.0.T.E.E.L</a:t>
            </a:r>
            <a:r>
              <a:rPr lang="zh-CN" altLang="en-US" sz="1600" b="1" dirty="0">
                <a:solidFill>
                  <a:srgbClr val="C00000"/>
                </a:solidFill>
                <a:latin typeface="微软雅黑" panose="020B0503020204020204" charset="-122"/>
                <a:ea typeface="微软雅黑" panose="020B0503020204020204" charset="-122"/>
                <a:sym typeface="+mn-ea"/>
              </a:rPr>
              <a:t>六维</a:t>
            </a:r>
            <a:r>
              <a:rPr lang="en-US" altLang="zh-CN" sz="1600" b="1" dirty="0">
                <a:solidFill>
                  <a:srgbClr val="C00000"/>
                </a:solidFill>
                <a:latin typeface="微软雅黑" panose="020B0503020204020204" charset="-122"/>
                <a:ea typeface="微软雅黑" panose="020B0503020204020204" charset="-122"/>
                <a:sym typeface="+mn-ea"/>
              </a:rPr>
              <a:t>AI</a:t>
            </a:r>
            <a:r>
              <a:rPr lang="zh-CN" altLang="en-US" sz="1600" b="1" dirty="0">
                <a:solidFill>
                  <a:srgbClr val="C00000"/>
                </a:solidFill>
                <a:latin typeface="微软雅黑" panose="020B0503020204020204" charset="-122"/>
                <a:ea typeface="微软雅黑" panose="020B0503020204020204" charset="-122"/>
                <a:sym typeface="+mn-ea"/>
              </a:rPr>
              <a:t>自治运营体系</a:t>
            </a:r>
            <a:r>
              <a:rPr lang="en-US" altLang="zh-CN" sz="1600" b="1" dirty="0">
                <a:solidFill>
                  <a:srgbClr val="C00000"/>
                </a:solidFill>
                <a:latin typeface="微软雅黑" panose="020B0503020204020204" charset="-122"/>
                <a:ea typeface="微软雅黑" panose="020B0503020204020204" charset="-122"/>
                <a:sym typeface="+mn-ea"/>
              </a:rPr>
              <a:t>,</a:t>
            </a:r>
            <a:r>
              <a:rPr lang="zh-CN" altLang="en-US" sz="1600" b="1" dirty="0">
                <a:solidFill>
                  <a:srgbClr val="C00000"/>
                </a:solidFill>
                <a:latin typeface="微软雅黑" panose="020B0503020204020204" charset="-122"/>
                <a:ea typeface="微软雅黑" panose="020B0503020204020204" charset="-122"/>
                <a:sym typeface="+mn-ea"/>
              </a:rPr>
              <a:t>适配金融强合规、可审计、可追溯、高精准的运营要求，</a:t>
            </a:r>
            <a:r>
              <a:rPr lang="zh-CN" altLang="en-US" sz="1600" b="1" dirty="0">
                <a:solidFill>
                  <a:srgbClr val="C00000"/>
                </a:solidFill>
                <a:effectLst/>
                <a:latin typeface="微软雅黑" panose="020B0503020204020204" charset="-122"/>
                <a:ea typeface="微软雅黑" panose="020B0503020204020204" charset="-122"/>
                <a:sym typeface="+mn-ea"/>
              </a:rPr>
              <a:t>实现知识全生命周期的自动化监控、评估、更新和反馈。</a:t>
            </a:r>
            <a:endParaRPr lang="zh-CN" altLang="en-US" sz="1600" b="1" dirty="0">
              <a:solidFill>
                <a:srgbClr val="C00000"/>
              </a:solidFill>
              <a:effectLst/>
              <a:latin typeface="微软雅黑" panose="020B0503020204020204" charset="-122"/>
              <a:ea typeface="微软雅黑" panose="020B0503020204020204" charset="-122"/>
              <a:sym typeface="+mn-ea"/>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 L4</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监运</a:t>
            </a: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层定位及整体框架</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8" name="文本占位符 1"/>
          <p:cNvSpPr>
            <a:spLocks noGrp="1"/>
          </p:cNvSpPr>
          <p:nvPr/>
        </p:nvSpPr>
        <p:spPr>
          <a:xfrm>
            <a:off x="321310" y="922020"/>
            <a:ext cx="11470005" cy="1002665"/>
          </a:xfrm>
          <a:prstGeom prst="rect">
            <a:avLst/>
          </a:prstGeom>
          <a:ln w="9525" cmpd="sng">
            <a:solidFill>
              <a:srgbClr val="409175"/>
            </a:solidFill>
            <a:prstDash val="dash"/>
          </a:ln>
        </p:spPr>
        <p:txBody>
          <a:bodyPr vert="horz" tIns="45708" rtlCol="0" anchor="ctr">
            <a:noAutofit/>
          </a:bodyPr>
          <a:lstStyle/>
          <a:p>
            <a:pPr marR="0" lvl="0" indent="457200" algn="just" defTabSz="914400" rtl="0" fontAlgn="auto">
              <a:lnSpc>
                <a:spcPts val="2800"/>
              </a:lnSpc>
              <a:spcBef>
                <a:spcPts val="0"/>
              </a:spcBef>
              <a:spcAft>
                <a:spcPts val="0"/>
              </a:spcAft>
              <a:buClr>
                <a:srgbClr val="FF0000"/>
              </a:buClr>
              <a:buSzTx/>
              <a:buFont typeface="Wingdings" panose="05000000000000000000" charset="0"/>
              <a:buNone/>
              <a:defRPr/>
              <a:extLst>
                <a:ext uri="{35155182-B16C-46BC-9424-99874614C6A1}">
                  <wpsdc:indentchars xmlns:wpsdc="http://www.wps.cn/officeDocument/2017/drawingmlCustomData" val="200" checksum="59296752"/>
                </a:ext>
              </a:extLst>
            </a:pP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监运层</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基于服务层知识服务全链路能力，依托权限分级管控、全链路日志加工、策略中心、知识任务引擎等 </a:t>
            </a:r>
            <a:r>
              <a:rPr kumimoji="0" lang="en-US" altLang="zh-CN"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AI </a:t>
            </a:r>
            <a:r>
              <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rPr>
              <a:t>自洽化技术</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，实现金融知识运营的精细化管控、全链路观测、溯源式审计，打通知识供给与运营治理的壁垒，</a:t>
            </a: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实现知识全生命周期的自动化监控、评估、更新和反馈。</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grpSp>
        <p:nvGrpSpPr>
          <p:cNvPr id="4" name="组合 3"/>
          <p:cNvGrpSpPr/>
          <p:nvPr/>
        </p:nvGrpSpPr>
        <p:grpSpPr>
          <a:xfrm>
            <a:off x="412115" y="2101850"/>
            <a:ext cx="1983740" cy="4548505"/>
            <a:chOff x="649" y="1995"/>
            <a:chExt cx="2160" cy="8478"/>
          </a:xfrm>
        </p:grpSpPr>
        <p:sp>
          <p:nvSpPr>
            <p:cNvPr id="22" name="Rounded Rectangle 21"/>
            <p:cNvSpPr/>
            <p:nvPr/>
          </p:nvSpPr>
          <p:spPr>
            <a:xfrm>
              <a:off x="649" y="1995"/>
              <a:ext cx="2160" cy="8479"/>
            </a:xfrm>
            <a:prstGeom prst="roundRect">
              <a:avLst>
                <a:gd name="adj" fmla="val 4000"/>
              </a:avLst>
            </a:prstGeom>
            <a:solidFill>
              <a:srgbClr val="F7FAFD"/>
            </a:solidFill>
            <a:ln w="9525">
              <a:solidFill>
                <a:srgbClr val="3A6C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ounded Rectangle 22"/>
            <p:cNvSpPr/>
            <p:nvPr/>
          </p:nvSpPr>
          <p:spPr>
            <a:xfrm>
              <a:off x="750" y="2096"/>
              <a:ext cx="1958" cy="1302"/>
            </a:xfrm>
            <a:prstGeom prst="roundRect">
              <a:avLst>
                <a:gd name="adj" fmla="val 10000"/>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600" b="1">
                  <a:solidFill>
                    <a:srgbClr val="FFFFFF"/>
                  </a:solidFill>
                  <a:latin typeface="微软雅黑" panose="020B0503020204020204" charset="-122"/>
                  <a:ea typeface="微软雅黑" panose="020B0503020204020204" charset="-122"/>
                </a:rPr>
                <a:t>L4</a:t>
              </a:r>
              <a:endParaRPr sz="1600" b="1">
                <a:solidFill>
                  <a:srgbClr val="FFFFFF"/>
                </a:solidFill>
                <a:latin typeface="微软雅黑" panose="020B0503020204020204" charset="-122"/>
                <a:ea typeface="微软雅黑" panose="020B0503020204020204" charset="-122"/>
              </a:endParaRPr>
            </a:p>
            <a:p>
              <a:pPr algn="ctr"/>
              <a:r>
                <a:rPr sz="1600" b="1">
                  <a:solidFill>
                    <a:srgbClr val="FFFFFF"/>
                  </a:solidFill>
                  <a:latin typeface="微软雅黑" panose="020B0503020204020204" charset="-122"/>
                  <a:ea typeface="微软雅黑" panose="020B0503020204020204" charset="-122"/>
                </a:rPr>
                <a:t>监运层</a:t>
              </a:r>
              <a:endParaRPr sz="1600" b="1">
                <a:solidFill>
                  <a:srgbClr val="FFFFFF"/>
                </a:solidFill>
                <a:latin typeface="微软雅黑" panose="020B0503020204020204" charset="-122"/>
                <a:ea typeface="微软雅黑" panose="020B0503020204020204" charset="-122"/>
              </a:endParaRPr>
            </a:p>
            <a:p>
              <a:pPr algn="ctr"/>
              <a:r>
                <a:rPr sz="950" b="0">
                  <a:solidFill>
                    <a:srgbClr val="D8E4F5"/>
                  </a:solidFill>
                  <a:latin typeface="微软雅黑" panose="020B0503020204020204" charset="-122"/>
                  <a:ea typeface="微软雅黑" panose="020B0503020204020204" charset="-122"/>
                </a:rPr>
                <a:t>AI自治化 </a:t>
              </a:r>
              <a:endParaRPr sz="950" b="1">
                <a:solidFill>
                  <a:srgbClr val="FFFF00"/>
                </a:solidFill>
                <a:latin typeface="微软雅黑" panose="020B0503020204020204" charset="-122"/>
                <a:ea typeface="微软雅黑" panose="020B0503020204020204" charset="-122"/>
              </a:endParaRPr>
            </a:p>
          </p:txBody>
        </p:sp>
        <p:grpSp>
          <p:nvGrpSpPr>
            <p:cNvPr id="30" name="组合 29"/>
            <p:cNvGrpSpPr/>
            <p:nvPr/>
          </p:nvGrpSpPr>
          <p:grpSpPr>
            <a:xfrm>
              <a:off x="750" y="3677"/>
              <a:ext cx="1958" cy="6576"/>
              <a:chOff x="14285" y="3100"/>
              <a:chExt cx="1958" cy="6874"/>
            </a:xfrm>
          </p:grpSpPr>
          <p:sp>
            <p:nvSpPr>
              <p:cNvPr id="24" name="Rounded Rectangle 23"/>
              <p:cNvSpPr/>
              <p:nvPr/>
            </p:nvSpPr>
            <p:spPr>
              <a:xfrm>
                <a:off x="14285" y="310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可控制 C</a:t>
                </a:r>
                <a:endParaRPr sz="1200" b="1">
                  <a:solidFill>
                    <a:srgbClr val="1B3E73"/>
                  </a:solidFill>
                  <a:latin typeface="微软雅黑" panose="020B0503020204020204" charset="-122"/>
                  <a:ea typeface="微软雅黑" panose="020B0503020204020204" charset="-122"/>
                </a:endParaRPr>
              </a:p>
              <a:p>
                <a:pPr algn="ctr"/>
                <a:r>
                  <a:rPr lang="zh-CN" sz="1000" b="0">
                    <a:solidFill>
                      <a:srgbClr val="5A6B84"/>
                    </a:solidFill>
                    <a:latin typeface="微软雅黑" panose="020B0503020204020204" charset="-122"/>
                    <a:ea typeface="微软雅黑" panose="020B0503020204020204" charset="-122"/>
                  </a:rPr>
                  <a:t>知识资产</a:t>
                </a:r>
                <a:r>
                  <a:rPr sz="1000" b="0">
                    <a:solidFill>
                      <a:srgbClr val="5A6B84"/>
                    </a:solidFill>
                    <a:latin typeface="微软雅黑" panose="020B0503020204020204" charset="-122"/>
                    <a:ea typeface="微软雅黑" panose="020B0503020204020204" charset="-122"/>
                  </a:rPr>
                  <a:t>精准权限控制</a:t>
                </a:r>
                <a:endParaRPr sz="1000" b="0">
                  <a:solidFill>
                    <a:srgbClr val="5A6B84"/>
                  </a:solidFill>
                  <a:latin typeface="微软雅黑" panose="020B0503020204020204" charset="-122"/>
                  <a:ea typeface="微软雅黑" panose="020B0503020204020204" charset="-122"/>
                </a:endParaRPr>
              </a:p>
            </p:txBody>
          </p:sp>
          <p:sp>
            <p:nvSpPr>
              <p:cNvPr id="25" name="Rounded Rectangle 24"/>
              <p:cNvSpPr/>
              <p:nvPr/>
            </p:nvSpPr>
            <p:spPr>
              <a:xfrm>
                <a:off x="14285" y="426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可观测 O</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全过程观测，破解向量黑盒</a:t>
                </a:r>
                <a:endParaRPr sz="1000" b="0">
                  <a:solidFill>
                    <a:srgbClr val="5A6B84"/>
                  </a:solidFill>
                  <a:latin typeface="微软雅黑" panose="020B0503020204020204" charset="-122"/>
                  <a:ea typeface="微软雅黑" panose="020B0503020204020204" charset="-122"/>
                </a:endParaRPr>
              </a:p>
            </p:txBody>
          </p:sp>
          <p:sp>
            <p:nvSpPr>
              <p:cNvPr id="26" name="Rounded Rectangle 25"/>
              <p:cNvSpPr/>
              <p:nvPr/>
            </p:nvSpPr>
            <p:spPr>
              <a:xfrm>
                <a:off x="14285" y="542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可溯源 T</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生成内容业务援引审计</a:t>
                </a:r>
                <a:endParaRPr sz="1000" b="0">
                  <a:solidFill>
                    <a:srgbClr val="5A6B84"/>
                  </a:solidFill>
                  <a:latin typeface="微软雅黑" panose="020B0503020204020204" charset="-122"/>
                  <a:ea typeface="微软雅黑" panose="020B0503020204020204" charset="-122"/>
                </a:endParaRPr>
              </a:p>
            </p:txBody>
          </p:sp>
          <p:sp>
            <p:nvSpPr>
              <p:cNvPr id="27" name="Rounded Rectangle 26"/>
              <p:cNvSpPr/>
              <p:nvPr/>
            </p:nvSpPr>
            <p:spPr>
              <a:xfrm>
                <a:off x="14285" y="658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可解释 E</a:t>
                </a:r>
                <a:endParaRPr sz="12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冲突识别·权威源评估</a:t>
                </a:r>
                <a:endParaRPr sz="1000" b="0">
                  <a:solidFill>
                    <a:srgbClr val="5A6B84"/>
                  </a:solidFill>
                  <a:latin typeface="微软雅黑" panose="020B0503020204020204" charset="-122"/>
                  <a:ea typeface="微软雅黑" panose="020B0503020204020204" charset="-122"/>
                </a:endParaRPr>
              </a:p>
            </p:txBody>
          </p:sp>
          <p:sp>
            <p:nvSpPr>
              <p:cNvPr id="28" name="Rounded Rectangle 27"/>
              <p:cNvSpPr/>
              <p:nvPr/>
            </p:nvSpPr>
            <p:spPr>
              <a:xfrm>
                <a:off x="14285" y="774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可演进 E</a:t>
                </a:r>
                <a:endParaRPr sz="14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知识合并·版本自动迭代</a:t>
                </a:r>
                <a:endParaRPr sz="1000" b="0">
                  <a:solidFill>
                    <a:srgbClr val="5A6B84"/>
                  </a:solidFill>
                  <a:latin typeface="微软雅黑" panose="020B0503020204020204" charset="-122"/>
                  <a:ea typeface="微软雅黑" panose="020B0503020204020204" charset="-122"/>
                </a:endParaRPr>
              </a:p>
            </p:txBody>
          </p:sp>
          <p:sp>
            <p:nvSpPr>
              <p:cNvPr id="29" name="Rounded Rectangle 28"/>
              <p:cNvSpPr/>
              <p:nvPr/>
            </p:nvSpPr>
            <p:spPr>
              <a:xfrm>
                <a:off x="14285" y="8900"/>
                <a:ext cx="1958" cy="1074"/>
              </a:xfrm>
              <a:prstGeom prst="roundRect">
                <a:avLst>
                  <a:gd name="adj" fmla="val 10000"/>
                </a:avLst>
              </a:prstGeom>
              <a:solidFill>
                <a:srgbClr val="FFFFFF"/>
              </a:solidFill>
              <a:ln w="9525">
                <a:solidFill>
                  <a:srgbClr val="CFDEEF"/>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spcAft>
                    <a:spcPts val="200"/>
                  </a:spcAft>
                </a:pPr>
                <a:r>
                  <a:rPr sz="1200" b="1">
                    <a:solidFill>
                      <a:srgbClr val="1B3E73"/>
                    </a:solidFill>
                    <a:latin typeface="微软雅黑" panose="020B0503020204020204" charset="-122"/>
                    <a:ea typeface="微软雅黑" panose="020B0503020204020204" charset="-122"/>
                  </a:rPr>
                  <a:t>可闭环 L</a:t>
                </a:r>
                <a:endParaRPr sz="1400" b="1">
                  <a:solidFill>
                    <a:srgbClr val="1B3E73"/>
                  </a:solidFill>
                  <a:latin typeface="微软雅黑" panose="020B0503020204020204" charset="-122"/>
                  <a:ea typeface="微软雅黑" panose="020B0503020204020204" charset="-122"/>
                </a:endParaRPr>
              </a:p>
              <a:p>
                <a:pPr algn="ctr"/>
                <a:r>
                  <a:rPr sz="1000" b="0">
                    <a:solidFill>
                      <a:srgbClr val="5A6B84"/>
                    </a:solidFill>
                    <a:latin typeface="微软雅黑" panose="020B0503020204020204" charset="-122"/>
                    <a:ea typeface="微软雅黑" panose="020B0503020204020204" charset="-122"/>
                  </a:rPr>
                  <a:t>采集加工应用闭环学习</a:t>
                </a:r>
                <a:endParaRPr sz="1000" b="0">
                  <a:solidFill>
                    <a:srgbClr val="5A6B84"/>
                  </a:solidFill>
                  <a:latin typeface="微软雅黑" panose="020B0503020204020204" charset="-122"/>
                  <a:ea typeface="微软雅黑" panose="020B0503020204020204" charset="-122"/>
                </a:endParaRPr>
              </a:p>
            </p:txBody>
          </p:sp>
        </p:grpSp>
      </p:grpSp>
      <p:cxnSp>
        <p:nvCxnSpPr>
          <p:cNvPr id="7" name="直接箭头连接符 6"/>
          <p:cNvCxnSpPr>
            <a:stCxn id="24" idx="3"/>
            <a:endCxn id="266" idx="1"/>
          </p:cNvCxnSpPr>
          <p:nvPr/>
        </p:nvCxnSpPr>
        <p:spPr>
          <a:xfrm flipV="1">
            <a:off x="2303145" y="2449830"/>
            <a:ext cx="379095" cy="829945"/>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grpSp>
        <p:nvGrpSpPr>
          <p:cNvPr id="16" name="组合 15"/>
          <p:cNvGrpSpPr/>
          <p:nvPr/>
        </p:nvGrpSpPr>
        <p:grpSpPr>
          <a:xfrm>
            <a:off x="2682240" y="2110740"/>
            <a:ext cx="9108440" cy="677545"/>
            <a:chOff x="4224" y="3324"/>
            <a:chExt cx="14344" cy="1296"/>
          </a:xfrm>
        </p:grpSpPr>
        <p:sp>
          <p:nvSpPr>
            <p:cNvPr id="266" name="矩形 265"/>
            <p:cNvSpPr/>
            <p:nvPr/>
          </p:nvSpPr>
          <p:spPr>
            <a:xfrm>
              <a:off x="4224" y="3324"/>
              <a:ext cx="14345" cy="1297"/>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知识</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权限</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管理</a:t>
              </a:r>
              <a:endParaRPr lang="zh-CN" altLang="en-US" sz="1400" b="1" dirty="0">
                <a:solidFill>
                  <a:schemeClr val="tx2"/>
                </a:solidFill>
                <a:latin typeface="微软雅黑" panose="020B0503020204020204" charset="-122"/>
                <a:ea typeface="微软雅黑" panose="020B0503020204020204" charset="-122"/>
              </a:endParaRPr>
            </a:p>
          </p:txBody>
        </p:sp>
        <p:sp>
          <p:nvSpPr>
            <p:cNvPr id="267" name="矩形 266"/>
            <p:cNvSpPr/>
            <p:nvPr/>
          </p:nvSpPr>
          <p:spPr>
            <a:xfrm>
              <a:off x="5702" y="3513"/>
              <a:ext cx="3516"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文档权限管理</a:t>
              </a:r>
              <a:endParaRPr lang="en-US"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8" name="矩形 7"/>
            <p:cNvSpPr/>
            <p:nvPr/>
          </p:nvSpPr>
          <p:spPr>
            <a:xfrm>
              <a:off x="10225" y="3513"/>
              <a:ext cx="3516"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知识库权限管理</a:t>
              </a:r>
              <a:endParaRPr lang="en-US"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9" name="矩形 8"/>
            <p:cNvSpPr/>
            <p:nvPr/>
          </p:nvSpPr>
          <p:spPr>
            <a:xfrm>
              <a:off x="14573" y="3513"/>
              <a:ext cx="3516"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功能权限</a:t>
              </a: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管理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sp>
        <p:nvSpPr>
          <p:cNvPr id="10" name="矩形 9"/>
          <p:cNvSpPr/>
          <p:nvPr/>
        </p:nvSpPr>
        <p:spPr>
          <a:xfrm>
            <a:off x="2682240" y="2839720"/>
            <a:ext cx="9109075" cy="147764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r>
              <a:rPr lang="zh-CN" altLang="en-US" sz="1400" b="1" dirty="0">
                <a:solidFill>
                  <a:schemeClr val="tx2"/>
                </a:solidFill>
                <a:latin typeface="微软雅黑" panose="020B0503020204020204" charset="-122"/>
                <a:ea typeface="微软雅黑" panose="020B0503020204020204" charset="-122"/>
              </a:rPr>
              <a:t>全链</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路日</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志管</a:t>
            </a:r>
            <a:endParaRPr lang="zh-CN" altLang="en-US" sz="1400" b="1" dirty="0">
              <a:solidFill>
                <a:schemeClr val="tx2"/>
              </a:solidFill>
              <a:latin typeface="微软雅黑" panose="020B0503020204020204" charset="-122"/>
              <a:ea typeface="微软雅黑" panose="020B0503020204020204" charset="-122"/>
            </a:endParaRPr>
          </a:p>
          <a:p>
            <a:pPr algn="l"/>
            <a:r>
              <a:rPr lang="zh-CN" altLang="en-US" sz="1400" b="1" dirty="0">
                <a:solidFill>
                  <a:schemeClr val="tx2"/>
                </a:solidFill>
                <a:latin typeface="微软雅黑" panose="020B0503020204020204" charset="-122"/>
                <a:ea typeface="微软雅黑" panose="020B0503020204020204" charset="-122"/>
              </a:rPr>
              <a:t>理</a:t>
            </a:r>
            <a:endParaRPr lang="zh-CN" altLang="en-US" sz="1400" b="1" dirty="0">
              <a:solidFill>
                <a:schemeClr val="tx2"/>
              </a:solidFill>
              <a:latin typeface="微软雅黑" panose="020B0503020204020204" charset="-122"/>
              <a:ea typeface="微软雅黑" panose="020B0503020204020204" charset="-122"/>
            </a:endParaRPr>
          </a:p>
        </p:txBody>
      </p:sp>
      <p:sp>
        <p:nvSpPr>
          <p:cNvPr id="11" name="矩形 10"/>
          <p:cNvSpPr/>
          <p:nvPr/>
        </p:nvSpPr>
        <p:spPr>
          <a:xfrm>
            <a:off x="3620770" y="2913380"/>
            <a:ext cx="1882775" cy="4305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访问日志采集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12" name="矩形 11"/>
          <p:cNvSpPr/>
          <p:nvPr/>
        </p:nvSpPr>
        <p:spPr>
          <a:xfrm>
            <a:off x="5654675" y="2913380"/>
            <a:ext cx="1983740" cy="4305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推理过程采集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13" name="矩形 12"/>
          <p:cNvSpPr/>
          <p:nvPr/>
        </p:nvSpPr>
        <p:spPr>
          <a:xfrm>
            <a:off x="7759065" y="2899410"/>
            <a:ext cx="1797685" cy="4305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异常事件采集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14" name="矩形 13"/>
          <p:cNvSpPr/>
          <p:nvPr/>
        </p:nvSpPr>
        <p:spPr>
          <a:xfrm>
            <a:off x="3620770" y="3430905"/>
            <a:ext cx="7865745" cy="3371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服务日志规范</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15" name="矩形 14"/>
          <p:cNvSpPr/>
          <p:nvPr/>
        </p:nvSpPr>
        <p:spPr>
          <a:xfrm>
            <a:off x="3620770" y="3857625"/>
            <a:ext cx="7865745" cy="33845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整体服务流程日志可视化</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cxnSp>
        <p:nvCxnSpPr>
          <p:cNvPr id="18" name="直接箭头连接符 17"/>
          <p:cNvCxnSpPr>
            <a:stCxn id="25" idx="3"/>
          </p:cNvCxnSpPr>
          <p:nvPr/>
        </p:nvCxnSpPr>
        <p:spPr>
          <a:xfrm flipV="1">
            <a:off x="2303145" y="3618865"/>
            <a:ext cx="356235" cy="256540"/>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26" idx="3"/>
            <a:endCxn id="10" idx="1"/>
          </p:cNvCxnSpPr>
          <p:nvPr/>
        </p:nvCxnSpPr>
        <p:spPr>
          <a:xfrm flipV="1">
            <a:off x="2303145" y="3578860"/>
            <a:ext cx="379095" cy="891540"/>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sp>
        <p:nvSpPr>
          <p:cNvPr id="31" name="矩形 30"/>
          <p:cNvSpPr/>
          <p:nvPr/>
        </p:nvSpPr>
        <p:spPr>
          <a:xfrm>
            <a:off x="2682240" y="5172710"/>
            <a:ext cx="9109075" cy="70739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buClrTx/>
              <a:buSzTx/>
              <a:buNone/>
            </a:pPr>
            <a:r>
              <a:rPr lang="zh-CN" altLang="en-US" sz="1400" b="1" dirty="0">
                <a:solidFill>
                  <a:schemeClr val="tx2"/>
                </a:solidFill>
                <a:latin typeface="微软雅黑" panose="020B0503020204020204" charset="-122"/>
                <a:ea typeface="微软雅黑" panose="020B0503020204020204" charset="-122"/>
                <a:sym typeface="+mn-ea"/>
              </a:rPr>
              <a:t>策略</a:t>
            </a:r>
            <a:endParaRPr lang="zh-CN" altLang="en-US" sz="1400" b="1" dirty="0">
              <a:solidFill>
                <a:schemeClr val="tx2"/>
              </a:solidFill>
              <a:latin typeface="微软雅黑" panose="020B0503020204020204" charset="-122"/>
              <a:ea typeface="微软雅黑" panose="020B0503020204020204" charset="-122"/>
              <a:sym typeface="+mn-ea"/>
            </a:endParaRPr>
          </a:p>
          <a:p>
            <a:pPr algn="l">
              <a:buClrTx/>
              <a:buSzTx/>
              <a:buNone/>
            </a:pPr>
            <a:r>
              <a:rPr lang="zh-CN" altLang="en-US" sz="1400" b="1" dirty="0">
                <a:solidFill>
                  <a:schemeClr val="tx2"/>
                </a:solidFill>
                <a:latin typeface="微软雅黑" panose="020B0503020204020204" charset="-122"/>
                <a:ea typeface="微软雅黑" panose="020B0503020204020204" charset="-122"/>
                <a:sym typeface="+mn-ea"/>
              </a:rPr>
              <a:t>中心</a:t>
            </a:r>
            <a:endParaRPr lang="zh-CN" altLang="en-US" sz="1400" b="1" dirty="0">
              <a:solidFill>
                <a:schemeClr val="tx2"/>
              </a:solidFill>
              <a:latin typeface="微软雅黑" panose="020B0503020204020204" charset="-122"/>
              <a:ea typeface="微软雅黑" panose="020B0503020204020204" charset="-122"/>
              <a:sym typeface="+mn-ea"/>
            </a:endParaRPr>
          </a:p>
        </p:txBody>
      </p:sp>
      <p:sp>
        <p:nvSpPr>
          <p:cNvPr id="32" name="矩形 31"/>
          <p:cNvSpPr/>
          <p:nvPr/>
        </p:nvSpPr>
        <p:spPr>
          <a:xfrm>
            <a:off x="2682240" y="5953125"/>
            <a:ext cx="9109075" cy="70739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buClrTx/>
              <a:buSzTx/>
              <a:buNone/>
            </a:pPr>
            <a:r>
              <a:rPr lang="zh-CN" altLang="en-US" sz="1400" b="1" dirty="0">
                <a:solidFill>
                  <a:schemeClr val="tx2"/>
                </a:solidFill>
                <a:latin typeface="微软雅黑" panose="020B0503020204020204" charset="-122"/>
                <a:ea typeface="微软雅黑" panose="020B0503020204020204" charset="-122"/>
              </a:rPr>
              <a:t>任务</a:t>
            </a:r>
            <a:endParaRPr lang="zh-CN" altLang="en-US" sz="1400" b="1" dirty="0">
              <a:solidFill>
                <a:schemeClr val="tx2"/>
              </a:solidFill>
              <a:latin typeface="微软雅黑" panose="020B0503020204020204" charset="-122"/>
              <a:ea typeface="微软雅黑" panose="020B0503020204020204" charset="-122"/>
            </a:endParaRPr>
          </a:p>
          <a:p>
            <a:pPr algn="l">
              <a:buClrTx/>
              <a:buSzTx/>
              <a:buNone/>
            </a:pPr>
            <a:r>
              <a:rPr lang="zh-CN" altLang="en-US" sz="1400" b="1" dirty="0">
                <a:solidFill>
                  <a:schemeClr val="tx2"/>
                </a:solidFill>
                <a:latin typeface="微软雅黑" panose="020B0503020204020204" charset="-122"/>
                <a:ea typeface="微软雅黑" panose="020B0503020204020204" charset="-122"/>
              </a:rPr>
              <a:t>管理</a:t>
            </a:r>
            <a:endParaRPr lang="zh-CN" altLang="en-US" sz="1400" b="1" dirty="0">
              <a:solidFill>
                <a:schemeClr val="tx2"/>
              </a:solidFill>
              <a:latin typeface="微软雅黑" panose="020B0503020204020204" charset="-122"/>
              <a:ea typeface="微软雅黑" panose="020B0503020204020204" charset="-122"/>
            </a:endParaRPr>
          </a:p>
        </p:txBody>
      </p:sp>
      <p:sp>
        <p:nvSpPr>
          <p:cNvPr id="34" name="矩形 33"/>
          <p:cNvSpPr/>
          <p:nvPr/>
        </p:nvSpPr>
        <p:spPr>
          <a:xfrm>
            <a:off x="3620770" y="5239385"/>
            <a:ext cx="1724660" cy="58229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业务术语更新策略</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5" name="矩形 34"/>
          <p:cNvSpPr/>
          <p:nvPr/>
        </p:nvSpPr>
        <p:spPr>
          <a:xfrm>
            <a:off x="5681980" y="5240020"/>
            <a:ext cx="1710690" cy="58229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知识抬升</a:t>
            </a:r>
            <a:r>
              <a:rPr lang="en-US" altLang="zh-CN" sz="1200" b="1" dirty="0">
                <a:solidFill>
                  <a:srgbClr val="0047AB"/>
                </a:solidFill>
                <a:latin typeface="微软雅黑" panose="020B0503020204020204" charset="-122"/>
                <a:ea typeface="微软雅黑" panose="020B0503020204020204" charset="-122"/>
                <a:cs typeface="微软雅黑" panose="020B0503020204020204" charset="-122"/>
              </a:rPr>
              <a:t>/</a:t>
            </a: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沉降策略</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6" name="矩形 35"/>
          <p:cNvSpPr/>
          <p:nvPr/>
        </p:nvSpPr>
        <p:spPr>
          <a:xfrm>
            <a:off x="7729220" y="5240655"/>
            <a:ext cx="1710690" cy="58229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sz="1200" b="1" dirty="0">
                <a:solidFill>
                  <a:srgbClr val="0047AB"/>
                </a:solidFill>
                <a:latin typeface="微软雅黑" panose="020B0503020204020204" charset="-122"/>
                <a:ea typeface="微软雅黑" panose="020B0503020204020204" charset="-122"/>
                <a:cs typeface="微软雅黑" panose="020B0503020204020204" charset="-122"/>
              </a:rPr>
              <a:t>知识评估</a:t>
            </a:r>
            <a:r>
              <a:rPr lang="en-US" altLang="zh-CN" sz="1200" b="1" dirty="0">
                <a:solidFill>
                  <a:srgbClr val="0047AB"/>
                </a:solidFill>
                <a:latin typeface="微软雅黑" panose="020B0503020204020204" charset="-122"/>
                <a:ea typeface="微软雅黑" panose="020B0503020204020204" charset="-122"/>
                <a:cs typeface="微软雅黑" panose="020B0503020204020204" charset="-122"/>
              </a:rPr>
              <a:t>/</a:t>
            </a: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归因策略</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3" name="矩形 42"/>
          <p:cNvSpPr/>
          <p:nvPr/>
        </p:nvSpPr>
        <p:spPr>
          <a:xfrm>
            <a:off x="9776460" y="5241290"/>
            <a:ext cx="1710690" cy="58229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sz="1200" b="1" dirty="0">
                <a:solidFill>
                  <a:srgbClr val="0047AB"/>
                </a:solidFill>
                <a:latin typeface="微软雅黑" panose="020B0503020204020204" charset="-122"/>
                <a:ea typeface="微软雅黑" panose="020B0503020204020204" charset="-122"/>
                <a:cs typeface="微软雅黑" panose="020B0503020204020204" charset="-122"/>
              </a:rPr>
              <a:t>检索排序策略</a:t>
            </a:r>
            <a:endParaRPr lang="zh-CN" sz="1200" b="1" dirty="0">
              <a:solidFill>
                <a:srgbClr val="0047AB"/>
              </a:solidFill>
              <a:latin typeface="微软雅黑" panose="020B0503020204020204" charset="-122"/>
              <a:ea typeface="微软雅黑" panose="020B0503020204020204" charset="-122"/>
              <a:cs typeface="微软雅黑" panose="020B0503020204020204" charset="-122"/>
            </a:endParaRPr>
          </a:p>
        </p:txBody>
      </p:sp>
      <p:cxnSp>
        <p:nvCxnSpPr>
          <p:cNvPr id="49" name="直接箭头连接符 48"/>
          <p:cNvCxnSpPr>
            <a:stCxn id="28" idx="3"/>
            <a:endCxn id="31" idx="1"/>
          </p:cNvCxnSpPr>
          <p:nvPr/>
        </p:nvCxnSpPr>
        <p:spPr>
          <a:xfrm flipV="1">
            <a:off x="2303145" y="5526405"/>
            <a:ext cx="379095" cy="134620"/>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cxnSp>
        <p:nvCxnSpPr>
          <p:cNvPr id="50" name="直接箭头连接符 49"/>
          <p:cNvCxnSpPr/>
          <p:nvPr/>
        </p:nvCxnSpPr>
        <p:spPr>
          <a:xfrm>
            <a:off x="2303145" y="6256655"/>
            <a:ext cx="379095" cy="50165"/>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cxnSp>
        <p:nvCxnSpPr>
          <p:cNvPr id="5" name="直接箭头连接符 4"/>
          <p:cNvCxnSpPr>
            <a:stCxn id="27" idx="3"/>
            <a:endCxn id="31" idx="1"/>
          </p:cNvCxnSpPr>
          <p:nvPr/>
        </p:nvCxnSpPr>
        <p:spPr>
          <a:xfrm>
            <a:off x="2303145" y="5066030"/>
            <a:ext cx="379095" cy="460375"/>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sp>
        <p:nvSpPr>
          <p:cNvPr id="6" name="矩形 5"/>
          <p:cNvSpPr/>
          <p:nvPr/>
        </p:nvSpPr>
        <p:spPr>
          <a:xfrm>
            <a:off x="2682240" y="4399915"/>
            <a:ext cx="9109075" cy="707390"/>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l">
              <a:buClrTx/>
              <a:buSzTx/>
              <a:buNone/>
            </a:pPr>
            <a:r>
              <a:rPr lang="zh-CN" altLang="en-US" sz="1400" b="1" dirty="0">
                <a:solidFill>
                  <a:schemeClr val="tx2"/>
                </a:solidFill>
                <a:latin typeface="微软雅黑" panose="020B0503020204020204" charset="-122"/>
                <a:ea typeface="微软雅黑" panose="020B0503020204020204" charset="-122"/>
                <a:sym typeface="+mn-ea"/>
              </a:rPr>
              <a:t>运营</a:t>
            </a:r>
            <a:endParaRPr lang="zh-CN" altLang="en-US" sz="1400" b="1" dirty="0">
              <a:solidFill>
                <a:schemeClr val="tx2"/>
              </a:solidFill>
              <a:latin typeface="微软雅黑" panose="020B0503020204020204" charset="-122"/>
              <a:ea typeface="微软雅黑" panose="020B0503020204020204" charset="-122"/>
              <a:sym typeface="+mn-ea"/>
            </a:endParaRPr>
          </a:p>
          <a:p>
            <a:pPr algn="l">
              <a:buClrTx/>
              <a:buSzTx/>
              <a:buNone/>
            </a:pPr>
            <a:r>
              <a:rPr lang="zh-CN" altLang="en-US" sz="1400" b="1" dirty="0">
                <a:solidFill>
                  <a:schemeClr val="tx2"/>
                </a:solidFill>
                <a:latin typeface="微软雅黑" panose="020B0503020204020204" charset="-122"/>
                <a:ea typeface="微软雅黑" panose="020B0503020204020204" charset="-122"/>
                <a:sym typeface="+mn-ea"/>
              </a:rPr>
              <a:t>分析</a:t>
            </a:r>
            <a:endParaRPr lang="zh-CN" altLang="en-US" sz="1400" b="1" dirty="0">
              <a:solidFill>
                <a:schemeClr val="tx2"/>
              </a:solidFill>
              <a:latin typeface="微软雅黑" panose="020B0503020204020204" charset="-122"/>
              <a:ea typeface="微软雅黑" panose="020B0503020204020204" charset="-122"/>
              <a:sym typeface="+mn-ea"/>
            </a:endParaRPr>
          </a:p>
          <a:p>
            <a:pPr algn="l">
              <a:buClrTx/>
              <a:buSzTx/>
              <a:buNone/>
            </a:pPr>
            <a:r>
              <a:rPr lang="zh-CN" altLang="en-US" sz="1400" b="1" dirty="0">
                <a:solidFill>
                  <a:schemeClr val="tx2"/>
                </a:solidFill>
                <a:latin typeface="微软雅黑" panose="020B0503020204020204" charset="-122"/>
                <a:ea typeface="微软雅黑" panose="020B0503020204020204" charset="-122"/>
                <a:sym typeface="+mn-ea"/>
              </a:rPr>
              <a:t>报告</a:t>
            </a:r>
            <a:endParaRPr lang="zh-CN" altLang="en-US" sz="1400" b="1" dirty="0">
              <a:solidFill>
                <a:schemeClr val="tx2"/>
              </a:solidFill>
              <a:latin typeface="微软雅黑" panose="020B0503020204020204" charset="-122"/>
              <a:ea typeface="微软雅黑" panose="020B0503020204020204" charset="-122"/>
              <a:sym typeface="+mn-ea"/>
            </a:endParaRPr>
          </a:p>
        </p:txBody>
      </p:sp>
      <p:sp>
        <p:nvSpPr>
          <p:cNvPr id="33" name="矩形 32"/>
          <p:cNvSpPr/>
          <p:nvPr/>
        </p:nvSpPr>
        <p:spPr>
          <a:xfrm>
            <a:off x="9664700" y="2899410"/>
            <a:ext cx="1797685" cy="43053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rPr>
              <a:t>生成过程采集</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sym typeface="+mn-ea"/>
            </a:endParaRPr>
          </a:p>
        </p:txBody>
      </p:sp>
      <p:sp>
        <p:nvSpPr>
          <p:cNvPr id="37" name="矩形 36"/>
          <p:cNvSpPr/>
          <p:nvPr/>
        </p:nvSpPr>
        <p:spPr>
          <a:xfrm>
            <a:off x="3620770" y="4477385"/>
            <a:ext cx="1724660" cy="5518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知识健康度看板</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8" name="矩形 37"/>
          <p:cNvSpPr/>
          <p:nvPr/>
        </p:nvSpPr>
        <p:spPr>
          <a:xfrm>
            <a:off x="5681980" y="4478020"/>
            <a:ext cx="1710690" cy="5518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运营分析报告</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39" name="矩形 38"/>
          <p:cNvSpPr/>
          <p:nvPr/>
        </p:nvSpPr>
        <p:spPr>
          <a:xfrm>
            <a:off x="7729220" y="4478655"/>
            <a:ext cx="1710690" cy="5518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sz="1200" b="1" dirty="0">
                <a:solidFill>
                  <a:srgbClr val="0047AB"/>
                </a:solidFill>
                <a:latin typeface="微软雅黑" panose="020B0503020204020204" charset="-122"/>
                <a:ea typeface="微软雅黑" panose="020B0503020204020204" charset="-122"/>
                <a:cs typeface="微软雅黑" panose="020B0503020204020204" charset="-122"/>
              </a:rPr>
              <a:t>服务监控看板</a:t>
            </a:r>
            <a:endParaRPr lang="zh-CN"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0" name="矩形 39"/>
          <p:cNvSpPr/>
          <p:nvPr/>
        </p:nvSpPr>
        <p:spPr>
          <a:xfrm>
            <a:off x="9776460" y="4479290"/>
            <a:ext cx="1710690" cy="55181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sz="1200" b="1" dirty="0">
                <a:solidFill>
                  <a:srgbClr val="0047AB"/>
                </a:solidFill>
                <a:latin typeface="微软雅黑" panose="020B0503020204020204" charset="-122"/>
                <a:ea typeface="微软雅黑" panose="020B0503020204020204" charset="-122"/>
                <a:cs typeface="微软雅黑" panose="020B0503020204020204" charset="-122"/>
              </a:rPr>
              <a:t>审计日志报表</a:t>
            </a:r>
            <a:endParaRPr lang="zh-CN"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3620770" y="6031865"/>
            <a:ext cx="7867015" cy="584200"/>
            <a:chOff x="5702" y="9499"/>
            <a:chExt cx="15578" cy="920"/>
          </a:xfrm>
        </p:grpSpPr>
        <p:sp>
          <p:nvSpPr>
            <p:cNvPr id="41" name="矩形 40"/>
            <p:cNvSpPr/>
            <p:nvPr/>
          </p:nvSpPr>
          <p:spPr>
            <a:xfrm>
              <a:off x="5702" y="9499"/>
              <a:ext cx="2716"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文档接入任务</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2" name="矩形 41"/>
            <p:cNvSpPr/>
            <p:nvPr/>
          </p:nvSpPr>
          <p:spPr>
            <a:xfrm>
              <a:off x="8948" y="9500"/>
              <a:ext cx="2694"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altLang="en-US" sz="1200" b="1" dirty="0">
                  <a:solidFill>
                    <a:srgbClr val="0047AB"/>
                  </a:solidFill>
                  <a:latin typeface="微软雅黑" panose="020B0503020204020204" charset="-122"/>
                  <a:ea typeface="微软雅黑" panose="020B0503020204020204" charset="-122"/>
                  <a:cs typeface="微软雅黑" panose="020B0503020204020204" charset="-122"/>
                </a:rPr>
                <a:t>元数据采集任务</a:t>
              </a:r>
              <a:endParaRPr lang="zh-CN" altLang="en-US"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5" name="矩形 44"/>
            <p:cNvSpPr/>
            <p:nvPr/>
          </p:nvSpPr>
          <p:spPr>
            <a:xfrm>
              <a:off x="12172" y="9501"/>
              <a:ext cx="2694"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sz="1200" b="1" dirty="0">
                  <a:solidFill>
                    <a:srgbClr val="0047AB"/>
                  </a:solidFill>
                  <a:latin typeface="微软雅黑" panose="020B0503020204020204" charset="-122"/>
                  <a:ea typeface="微软雅黑" panose="020B0503020204020204" charset="-122"/>
                  <a:cs typeface="微软雅黑" panose="020B0503020204020204" charset="-122"/>
                </a:rPr>
                <a:t>知识加工任务</a:t>
              </a:r>
              <a:endParaRPr lang="zh-CN"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46" name="矩形 45"/>
            <p:cNvSpPr/>
            <p:nvPr/>
          </p:nvSpPr>
          <p:spPr>
            <a:xfrm>
              <a:off x="15396" y="9502"/>
              <a:ext cx="2694"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sz="1200" b="1" dirty="0">
                  <a:solidFill>
                    <a:srgbClr val="0047AB"/>
                  </a:solidFill>
                  <a:latin typeface="微软雅黑" panose="020B0503020204020204" charset="-122"/>
                  <a:ea typeface="微软雅黑" panose="020B0503020204020204" charset="-122"/>
                  <a:cs typeface="微软雅黑" panose="020B0503020204020204" charset="-122"/>
                </a:rPr>
                <a:t>知识评测</a:t>
              </a:r>
              <a:r>
                <a:rPr lang="zh-CN" sz="1200" b="1" dirty="0">
                  <a:solidFill>
                    <a:srgbClr val="0047AB"/>
                  </a:solidFill>
                  <a:latin typeface="微软雅黑" panose="020B0503020204020204" charset="-122"/>
                  <a:ea typeface="微软雅黑" panose="020B0503020204020204" charset="-122"/>
                  <a:cs typeface="微软雅黑" panose="020B0503020204020204" charset="-122"/>
                </a:rPr>
                <a:t>任务</a:t>
              </a:r>
              <a:endParaRPr lang="zh-CN" sz="1200" b="1" dirty="0">
                <a:solidFill>
                  <a:srgbClr val="0047AB"/>
                </a:solidFill>
                <a:latin typeface="微软雅黑" panose="020B0503020204020204" charset="-122"/>
                <a:ea typeface="微软雅黑" panose="020B0503020204020204" charset="-122"/>
                <a:cs typeface="微软雅黑" panose="020B0503020204020204" charset="-122"/>
              </a:endParaRPr>
            </a:p>
          </p:txBody>
        </p:sp>
        <p:sp>
          <p:nvSpPr>
            <p:cNvPr id="17" name="矩形 16"/>
            <p:cNvSpPr/>
            <p:nvPr/>
          </p:nvSpPr>
          <p:spPr>
            <a:xfrm>
              <a:off x="18586" y="9499"/>
              <a:ext cx="2694" cy="91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p>
              <a:pPr marL="0" algn="ctr">
                <a:lnSpc>
                  <a:spcPct val="125000"/>
                </a:lnSpc>
                <a:buClrTx/>
                <a:buSzTx/>
                <a:buFontTx/>
                <a:defRPr/>
              </a:pPr>
              <a:r>
                <a:rPr lang="zh-CN" sz="1200" b="1" dirty="0">
                  <a:solidFill>
                    <a:srgbClr val="0047AB"/>
                  </a:solidFill>
                  <a:latin typeface="微软雅黑" panose="020B0503020204020204" charset="-122"/>
                  <a:ea typeface="微软雅黑" panose="020B0503020204020204" charset="-122"/>
                  <a:cs typeface="微软雅黑" panose="020B0503020204020204" charset="-122"/>
                </a:rPr>
                <a:t>运营</a:t>
              </a:r>
              <a:r>
                <a:rPr lang="zh-CN" sz="1200" b="1" dirty="0">
                  <a:solidFill>
                    <a:srgbClr val="0047AB"/>
                  </a:solidFill>
                  <a:latin typeface="微软雅黑" panose="020B0503020204020204" charset="-122"/>
                  <a:ea typeface="微软雅黑" panose="020B0503020204020204" charset="-122"/>
                  <a:cs typeface="微软雅黑" panose="020B0503020204020204" charset="-122"/>
                </a:rPr>
                <a:t>执行任务</a:t>
              </a:r>
              <a:endParaRPr lang="zh-CN" sz="1200" b="1" dirty="0">
                <a:solidFill>
                  <a:srgbClr val="0047AB"/>
                </a:solidFill>
                <a:latin typeface="微软雅黑" panose="020B0503020204020204" charset="-122"/>
                <a:ea typeface="微软雅黑" panose="020B0503020204020204" charset="-122"/>
                <a:cs typeface="微软雅黑" panose="020B0503020204020204" charset="-122"/>
              </a:endParaRPr>
            </a:p>
          </p:txBody>
        </p:sp>
      </p:grpSp>
      <p:cxnSp>
        <p:nvCxnSpPr>
          <p:cNvPr id="21" name="直接箭头连接符 20"/>
          <p:cNvCxnSpPr/>
          <p:nvPr/>
        </p:nvCxnSpPr>
        <p:spPr>
          <a:xfrm flipV="1">
            <a:off x="2303145" y="3661410"/>
            <a:ext cx="384175" cy="1404620"/>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cxnSp>
        <p:nvCxnSpPr>
          <p:cNvPr id="47" name="直接箭头连接符 46"/>
          <p:cNvCxnSpPr>
            <a:stCxn id="29" idx="3"/>
          </p:cNvCxnSpPr>
          <p:nvPr/>
        </p:nvCxnSpPr>
        <p:spPr>
          <a:xfrm flipV="1">
            <a:off x="2303145" y="5580380"/>
            <a:ext cx="356235" cy="676275"/>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cxnSp>
        <p:nvCxnSpPr>
          <p:cNvPr id="51" name="直接箭头连接符 50"/>
          <p:cNvCxnSpPr>
            <a:stCxn id="25" idx="3"/>
          </p:cNvCxnSpPr>
          <p:nvPr/>
        </p:nvCxnSpPr>
        <p:spPr>
          <a:xfrm>
            <a:off x="2303145" y="3875405"/>
            <a:ext cx="370205" cy="915035"/>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2.5.1 可控制：</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精细化知识授权（</a:t>
            </a:r>
            <a:r>
              <a:rPr kumimoji="0"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ABAC</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t>
            </a:r>
            <a:r>
              <a:rPr kumimoji="0" lang="en-US"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角色功能（</a:t>
            </a:r>
            <a:r>
              <a:rPr kumimoji="0" lang="en-US" altLang="zh-CN"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RBAC</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）权限管控</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22" name="圆角矩形 9"/>
          <p:cNvSpPr/>
          <p:nvPr/>
        </p:nvSpPr>
        <p:spPr bwMode="auto">
          <a:xfrm>
            <a:off x="387350" y="906145"/>
            <a:ext cx="11209020" cy="96520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dirty="0">
                <a:effectLst/>
                <a:latin typeface="微软雅黑" panose="020B0503020204020204" charset="-122"/>
                <a:ea typeface="微软雅黑" panose="020B0503020204020204" charset="-122"/>
                <a:sym typeface="+mn-ea"/>
              </a:rPr>
              <a:t>构建分级、分域、可配置的知识权限体系，</a:t>
            </a:r>
            <a:r>
              <a:rPr lang="zh-CN" altLang="en-US" sz="1600" b="1" dirty="0">
                <a:solidFill>
                  <a:srgbClr val="C00000"/>
                </a:solidFill>
                <a:effectLst/>
                <a:latin typeface="微软雅黑" panose="020B0503020204020204" charset="-122"/>
                <a:ea typeface="微软雅黑" panose="020B0503020204020204" charset="-122"/>
                <a:sym typeface="+mn-ea"/>
              </a:rPr>
              <a:t>覆盖知识文档、知识库、功能等核心对象，支持按机构、用户和应用粒度进行精细化授权</a:t>
            </a:r>
            <a:r>
              <a:rPr lang="en-US" altLang="zh-CN" sz="1600" b="1" dirty="0">
                <a:solidFill>
                  <a:srgbClr val="C00000"/>
                </a:solidFill>
                <a:effectLst/>
                <a:latin typeface="微软雅黑" panose="020B0503020204020204" charset="-122"/>
                <a:ea typeface="微软雅黑" panose="020B0503020204020204" charset="-122"/>
                <a:sym typeface="+mn-ea"/>
              </a:rPr>
              <a:t>。</a:t>
            </a:r>
            <a:endParaRPr lang="en-US" altLang="zh-CN" sz="1600" b="1" dirty="0">
              <a:solidFill>
                <a:srgbClr val="C00000"/>
              </a:solidFill>
              <a:effectLst/>
              <a:latin typeface="微软雅黑" panose="020B0503020204020204" charset="-122"/>
              <a:ea typeface="微软雅黑" panose="020B0503020204020204" charset="-122"/>
              <a:sym typeface="+mn-ea"/>
            </a:endParaRPr>
          </a:p>
        </p:txBody>
      </p:sp>
      <p:grpSp>
        <p:nvGrpSpPr>
          <p:cNvPr id="31" name="组合 30"/>
          <p:cNvGrpSpPr/>
          <p:nvPr/>
        </p:nvGrpSpPr>
        <p:grpSpPr>
          <a:xfrm>
            <a:off x="833120" y="2259965"/>
            <a:ext cx="3138805" cy="3683635"/>
            <a:chOff x="987" y="3831"/>
            <a:chExt cx="4943" cy="5801"/>
          </a:xfrm>
        </p:grpSpPr>
        <p:sp>
          <p:nvSpPr>
            <p:cNvPr id="29" name="矩形 28"/>
            <p:cNvSpPr/>
            <p:nvPr/>
          </p:nvSpPr>
          <p:spPr>
            <a:xfrm>
              <a:off x="987" y="3831"/>
              <a:ext cx="4926" cy="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0" name="矩形 29"/>
            <p:cNvSpPr/>
            <p:nvPr/>
          </p:nvSpPr>
          <p:spPr>
            <a:xfrm>
              <a:off x="988" y="4050"/>
              <a:ext cx="4943" cy="5582"/>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2" name="文本框 31"/>
          <p:cNvSpPr txBox="1"/>
          <p:nvPr/>
        </p:nvSpPr>
        <p:spPr>
          <a:xfrm>
            <a:off x="1316990" y="2618740"/>
            <a:ext cx="2027555" cy="368300"/>
          </a:xfrm>
          <a:prstGeom prst="rect">
            <a:avLst/>
          </a:prstGeom>
          <a:noFill/>
        </p:spPr>
        <p:txBody>
          <a:bodyPr wrap="square" rtlCol="0">
            <a:spAutoFit/>
          </a:bodyPr>
          <a:lstStyle/>
          <a:p>
            <a:pPr algn="ctr"/>
            <a:r>
              <a:rPr lang="zh-CN" altLang="en-US" b="1">
                <a:solidFill>
                  <a:schemeClr val="accent1"/>
                </a:solidFill>
                <a:latin typeface="微软雅黑" panose="020B0503020204020204" charset="-122"/>
                <a:ea typeface="微软雅黑" panose="020B0503020204020204" charset="-122"/>
              </a:rPr>
              <a:t>文档权限</a:t>
            </a:r>
            <a:endParaRPr lang="zh-CN" altLang="en-US" b="1">
              <a:solidFill>
                <a:schemeClr val="accent1"/>
              </a:solidFill>
              <a:latin typeface="微软雅黑" panose="020B0503020204020204" charset="-122"/>
              <a:ea typeface="微软雅黑" panose="020B0503020204020204" charset="-122"/>
            </a:endParaRPr>
          </a:p>
        </p:txBody>
      </p:sp>
      <p:cxnSp>
        <p:nvCxnSpPr>
          <p:cNvPr id="33" name="直接连接符 32"/>
          <p:cNvCxnSpPr/>
          <p:nvPr/>
        </p:nvCxnSpPr>
        <p:spPr>
          <a:xfrm>
            <a:off x="1292860" y="3109595"/>
            <a:ext cx="2154555" cy="0"/>
          </a:xfrm>
          <a:prstGeom prst="line">
            <a:avLst/>
          </a:prstGeom>
        </p:spPr>
        <p:style>
          <a:lnRef idx="2">
            <a:schemeClr val="accent1"/>
          </a:lnRef>
          <a:fillRef idx="0">
            <a:srgbClr val="FFFFFF"/>
          </a:fillRef>
          <a:effectRef idx="0">
            <a:srgbClr val="FFFFFF"/>
          </a:effectRef>
          <a:fontRef idx="minor">
            <a:schemeClr val="tx1"/>
          </a:fontRef>
        </p:style>
      </p:cxnSp>
      <p:sp>
        <p:nvSpPr>
          <p:cNvPr id="34" name="文本框 33"/>
          <p:cNvSpPr txBox="1"/>
          <p:nvPr/>
        </p:nvSpPr>
        <p:spPr>
          <a:xfrm>
            <a:off x="1007745" y="3213100"/>
            <a:ext cx="2813685" cy="2676525"/>
          </a:xfrm>
          <a:prstGeom prst="rect">
            <a:avLst/>
          </a:prstGeom>
          <a:noFill/>
        </p:spPr>
        <p:txBody>
          <a:bodyPr wrap="square" rtlCol="0">
            <a:spAutoFit/>
          </a:bodyPr>
          <a:lstStyle/>
          <a:p>
            <a:pPr indent="0" fontAlgn="auto">
              <a:lnSpc>
                <a:spcPct val="150000"/>
              </a:lnSpc>
            </a:pPr>
            <a:r>
              <a:rPr lang="zh-CN" altLang="en-US" sz="1400">
                <a:latin typeface="微软雅黑" panose="020B0503020204020204" charset="-122"/>
                <a:ea typeface="微软雅黑" panose="020B0503020204020204" charset="-122"/>
              </a:rPr>
              <a:t>在资源层对文档实施精细化权限管控，文档按照文档继承源系统管理权限，按照层级</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部门、层级</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条线进行文档授权</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层级包括全行</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总行</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分行</a:t>
            </a:r>
            <a:r>
              <a:rPr lang="en-US" altLang="zh-CN" sz="1400">
                <a:latin typeface="微软雅黑" panose="020B0503020204020204" charset="-122"/>
                <a:ea typeface="微软雅黑" panose="020B0503020204020204" charset="-122"/>
              </a:rPr>
              <a:t>，</a:t>
            </a:r>
            <a:r>
              <a:rPr lang="zh-CN" altLang="en-US" sz="1400">
                <a:latin typeface="微软雅黑" panose="020B0503020204020204" charset="-122"/>
                <a:ea typeface="微软雅黑" panose="020B0503020204020204" charset="-122"/>
              </a:rPr>
              <a:t>支持文档的权限申请与授权，用户可以在统一目录下搜索文档，只有获得权限后才能进行使用。</a:t>
            </a:r>
            <a:endParaRPr lang="zh-CN" altLang="en-US" sz="1400">
              <a:latin typeface="微软雅黑" panose="020B0503020204020204" charset="-122"/>
              <a:ea typeface="微软雅黑" panose="020B0503020204020204" charset="-122"/>
            </a:endParaRPr>
          </a:p>
        </p:txBody>
      </p:sp>
      <p:grpSp>
        <p:nvGrpSpPr>
          <p:cNvPr id="35" name="组合 34"/>
          <p:cNvGrpSpPr/>
          <p:nvPr/>
        </p:nvGrpSpPr>
        <p:grpSpPr>
          <a:xfrm>
            <a:off x="4403725" y="2259965"/>
            <a:ext cx="3138805" cy="3683635"/>
            <a:chOff x="987" y="3831"/>
            <a:chExt cx="4943" cy="5801"/>
          </a:xfrm>
        </p:grpSpPr>
        <p:sp>
          <p:nvSpPr>
            <p:cNvPr id="36" name="矩形 35"/>
            <p:cNvSpPr/>
            <p:nvPr/>
          </p:nvSpPr>
          <p:spPr>
            <a:xfrm>
              <a:off x="987" y="3831"/>
              <a:ext cx="4926" cy="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7" name="矩形 36"/>
            <p:cNvSpPr/>
            <p:nvPr/>
          </p:nvSpPr>
          <p:spPr>
            <a:xfrm>
              <a:off x="988" y="4050"/>
              <a:ext cx="4943" cy="5582"/>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38" name="文本框 37"/>
          <p:cNvSpPr txBox="1"/>
          <p:nvPr/>
        </p:nvSpPr>
        <p:spPr>
          <a:xfrm>
            <a:off x="4887595" y="2653030"/>
            <a:ext cx="2027555" cy="368300"/>
          </a:xfrm>
          <a:prstGeom prst="rect">
            <a:avLst/>
          </a:prstGeom>
          <a:noFill/>
        </p:spPr>
        <p:txBody>
          <a:bodyPr wrap="square" rtlCol="0">
            <a:spAutoFit/>
          </a:bodyPr>
          <a:lstStyle/>
          <a:p>
            <a:pPr algn="ctr"/>
            <a:r>
              <a:rPr lang="zh-CN" altLang="en-US" b="1">
                <a:solidFill>
                  <a:schemeClr val="accent1"/>
                </a:solidFill>
                <a:latin typeface="微软雅黑" panose="020B0503020204020204" charset="-122"/>
                <a:ea typeface="微软雅黑" panose="020B0503020204020204" charset="-122"/>
              </a:rPr>
              <a:t>知识库服务权限</a:t>
            </a:r>
            <a:endParaRPr lang="zh-CN" altLang="en-US" b="1">
              <a:solidFill>
                <a:schemeClr val="accent1"/>
              </a:solidFill>
              <a:latin typeface="微软雅黑" panose="020B0503020204020204" charset="-122"/>
              <a:ea typeface="微软雅黑" panose="020B0503020204020204" charset="-122"/>
            </a:endParaRPr>
          </a:p>
        </p:txBody>
      </p:sp>
      <p:cxnSp>
        <p:nvCxnSpPr>
          <p:cNvPr id="39" name="直接连接符 38"/>
          <p:cNvCxnSpPr/>
          <p:nvPr/>
        </p:nvCxnSpPr>
        <p:spPr>
          <a:xfrm>
            <a:off x="4863465" y="3109595"/>
            <a:ext cx="2154555" cy="0"/>
          </a:xfrm>
          <a:prstGeom prst="line">
            <a:avLst/>
          </a:prstGeom>
        </p:spPr>
        <p:style>
          <a:lnRef idx="2">
            <a:schemeClr val="accent1"/>
          </a:lnRef>
          <a:fillRef idx="0">
            <a:srgbClr val="FFFFFF"/>
          </a:fillRef>
          <a:effectRef idx="0">
            <a:srgbClr val="FFFFFF"/>
          </a:effectRef>
          <a:fontRef idx="minor">
            <a:schemeClr val="tx1"/>
          </a:fontRef>
        </p:style>
      </p:cxnSp>
      <p:sp>
        <p:nvSpPr>
          <p:cNvPr id="40" name="文本框 39"/>
          <p:cNvSpPr txBox="1"/>
          <p:nvPr/>
        </p:nvSpPr>
        <p:spPr>
          <a:xfrm>
            <a:off x="4578350" y="3213100"/>
            <a:ext cx="2813685" cy="2353310"/>
          </a:xfrm>
          <a:prstGeom prst="rect">
            <a:avLst/>
          </a:prstGeom>
          <a:noFill/>
        </p:spPr>
        <p:txBody>
          <a:bodyPr wrap="square" rtlCol="0">
            <a:spAutoFit/>
          </a:bodyPr>
          <a:lstStyle/>
          <a:p>
            <a:pPr indent="0" fontAlgn="auto">
              <a:lnSpc>
                <a:spcPct val="150000"/>
              </a:lnSpc>
            </a:pPr>
            <a:r>
              <a:rPr lang="zh-CN" altLang="en-US" sz="1400">
                <a:latin typeface="微软雅黑" panose="020B0503020204020204" charset="-122"/>
                <a:ea typeface="微软雅黑" panose="020B0503020204020204" charset="-122"/>
              </a:rPr>
              <a:t>每个知识库有专属与共享属性，专属知识库需要配置应用</a:t>
            </a:r>
            <a:r>
              <a:rPr lang="en-US" altLang="zh-CN" sz="1400">
                <a:latin typeface="微软雅黑" panose="020B0503020204020204" charset="-122"/>
                <a:ea typeface="微软雅黑" panose="020B0503020204020204" charset="-122"/>
              </a:rPr>
              <a:t>ID</a:t>
            </a:r>
            <a:r>
              <a:rPr lang="zh-CN" altLang="en-US" sz="1400">
                <a:latin typeface="微软雅黑" panose="020B0503020204020204" charset="-122"/>
                <a:ea typeface="微软雅黑" panose="020B0503020204020204" charset="-122"/>
              </a:rPr>
              <a:t>，同时支持知识库的指定应用授权，实现知识库的灵活管控。</a:t>
            </a:r>
            <a:r>
              <a:rPr lang="zh-CN" altLang="en-US" sz="1400">
                <a:latin typeface="微软雅黑" panose="020B0503020204020204" charset="-122"/>
                <a:ea typeface="微软雅黑" panose="020B0503020204020204" charset="-122"/>
                <a:sym typeface="+mn-ea"/>
              </a:rPr>
              <a:t>支持应用在服务侧注册应用鉴权</a:t>
            </a:r>
            <a:r>
              <a:rPr lang="en-US" altLang="zh-CN" sz="1400">
                <a:latin typeface="微软雅黑" panose="020B0503020204020204" charset="-122"/>
                <a:ea typeface="微软雅黑" panose="020B0503020204020204" charset="-122"/>
                <a:sym typeface="+mn-ea"/>
              </a:rPr>
              <a:t>ID</a:t>
            </a:r>
            <a:r>
              <a:rPr lang="zh-CN" altLang="en-US" sz="1400">
                <a:latin typeface="微软雅黑" panose="020B0503020204020204" charset="-122"/>
                <a:ea typeface="微软雅黑" panose="020B0503020204020204" charset="-122"/>
                <a:sym typeface="+mn-ea"/>
              </a:rPr>
              <a:t>，注册后可以在对应的知识库进行权限配置。</a:t>
            </a:r>
            <a:endParaRPr lang="zh-CN" altLang="en-US" sz="1400">
              <a:latin typeface="微软雅黑" panose="020B0503020204020204" charset="-122"/>
              <a:ea typeface="微软雅黑" panose="020B0503020204020204" charset="-122"/>
            </a:endParaRPr>
          </a:p>
        </p:txBody>
      </p:sp>
      <p:grpSp>
        <p:nvGrpSpPr>
          <p:cNvPr id="41" name="组合 40"/>
          <p:cNvGrpSpPr/>
          <p:nvPr/>
        </p:nvGrpSpPr>
        <p:grpSpPr>
          <a:xfrm>
            <a:off x="7937500" y="2259965"/>
            <a:ext cx="3138805" cy="3683635"/>
            <a:chOff x="987" y="3831"/>
            <a:chExt cx="4943" cy="5801"/>
          </a:xfrm>
        </p:grpSpPr>
        <p:sp>
          <p:nvSpPr>
            <p:cNvPr id="42" name="矩形 41"/>
            <p:cNvSpPr/>
            <p:nvPr/>
          </p:nvSpPr>
          <p:spPr>
            <a:xfrm>
              <a:off x="987" y="3831"/>
              <a:ext cx="4926" cy="2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6" name="矩形 45"/>
            <p:cNvSpPr/>
            <p:nvPr/>
          </p:nvSpPr>
          <p:spPr>
            <a:xfrm>
              <a:off x="988" y="4050"/>
              <a:ext cx="4943" cy="5582"/>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48" name="文本框 47"/>
          <p:cNvSpPr txBox="1"/>
          <p:nvPr/>
        </p:nvSpPr>
        <p:spPr>
          <a:xfrm>
            <a:off x="8289925" y="2675890"/>
            <a:ext cx="2313305" cy="368300"/>
          </a:xfrm>
          <a:prstGeom prst="rect">
            <a:avLst/>
          </a:prstGeom>
          <a:noFill/>
        </p:spPr>
        <p:txBody>
          <a:bodyPr wrap="square" rtlCol="0">
            <a:spAutoFit/>
          </a:bodyPr>
          <a:lstStyle/>
          <a:p>
            <a:pPr algn="ctr"/>
            <a:r>
              <a:rPr lang="zh-CN" altLang="en-US" b="1">
                <a:solidFill>
                  <a:schemeClr val="accent1"/>
                </a:solidFill>
                <a:latin typeface="微软雅黑" panose="020B0503020204020204" charset="-122"/>
                <a:ea typeface="微软雅黑" panose="020B0503020204020204" charset="-122"/>
              </a:rPr>
              <a:t>功能权限</a:t>
            </a:r>
            <a:endParaRPr lang="zh-CN" altLang="en-US" b="1">
              <a:solidFill>
                <a:schemeClr val="accent1"/>
              </a:solidFill>
              <a:latin typeface="微软雅黑" panose="020B0503020204020204" charset="-122"/>
              <a:ea typeface="微软雅黑" panose="020B0503020204020204" charset="-122"/>
            </a:endParaRPr>
          </a:p>
        </p:txBody>
      </p:sp>
      <p:cxnSp>
        <p:nvCxnSpPr>
          <p:cNvPr id="49" name="直接连接符 48"/>
          <p:cNvCxnSpPr/>
          <p:nvPr/>
        </p:nvCxnSpPr>
        <p:spPr>
          <a:xfrm>
            <a:off x="8397240" y="3109595"/>
            <a:ext cx="2154555" cy="0"/>
          </a:xfrm>
          <a:prstGeom prst="line">
            <a:avLst/>
          </a:prstGeom>
        </p:spPr>
        <p:style>
          <a:lnRef idx="2">
            <a:schemeClr val="accent1"/>
          </a:lnRef>
          <a:fillRef idx="0">
            <a:srgbClr val="FFFFFF"/>
          </a:fillRef>
          <a:effectRef idx="0">
            <a:srgbClr val="FFFFFF"/>
          </a:effectRef>
          <a:fontRef idx="minor">
            <a:schemeClr val="tx1"/>
          </a:fontRef>
        </p:style>
      </p:cxnSp>
      <p:sp>
        <p:nvSpPr>
          <p:cNvPr id="50" name="文本框 49"/>
          <p:cNvSpPr txBox="1"/>
          <p:nvPr/>
        </p:nvSpPr>
        <p:spPr>
          <a:xfrm>
            <a:off x="8112125" y="3213100"/>
            <a:ext cx="2813685" cy="1706880"/>
          </a:xfrm>
          <a:prstGeom prst="rect">
            <a:avLst/>
          </a:prstGeom>
          <a:noFill/>
        </p:spPr>
        <p:txBody>
          <a:bodyPr wrap="square" rtlCol="0">
            <a:spAutoFit/>
          </a:bodyPr>
          <a:lstStyle/>
          <a:p>
            <a:pPr indent="0" fontAlgn="auto">
              <a:lnSpc>
                <a:spcPct val="150000"/>
              </a:lnSpc>
            </a:pPr>
            <a:r>
              <a:rPr lang="zh-CN" altLang="en-US" sz="1400">
                <a:latin typeface="微软雅黑" panose="020B0503020204020204" charset="-122"/>
                <a:ea typeface="微软雅黑" panose="020B0503020204020204" charset="-122"/>
                <a:sym typeface="+mn-ea"/>
              </a:rPr>
              <a:t>基于</a:t>
            </a:r>
            <a:r>
              <a:rPr lang="en-US" altLang="zh-CN" sz="1400">
                <a:latin typeface="微软雅黑" panose="020B0503020204020204" charset="-122"/>
                <a:ea typeface="微软雅黑" panose="020B0503020204020204" charset="-122"/>
                <a:sym typeface="+mn-ea"/>
              </a:rPr>
              <a:t>RBAC</a:t>
            </a:r>
            <a:r>
              <a:rPr lang="zh-CN" altLang="en-US" sz="1400">
                <a:latin typeface="微软雅黑" panose="020B0503020204020204" charset="-122"/>
                <a:ea typeface="微软雅黑" panose="020B0503020204020204" charset="-122"/>
                <a:sym typeface="+mn-ea"/>
              </a:rPr>
              <a:t>进行功能权限管控，通过对用户分配角色</a:t>
            </a:r>
            <a:r>
              <a:rPr lang="en-US" altLang="zh-CN" sz="1400">
                <a:latin typeface="微软雅黑" panose="020B0503020204020204" charset="-122"/>
                <a:ea typeface="微软雅黑" panose="020B0503020204020204" charset="-122"/>
                <a:sym typeface="+mn-ea"/>
              </a:rPr>
              <a:t>，</a:t>
            </a:r>
            <a:r>
              <a:rPr lang="zh-CN" altLang="en-US" sz="1400">
                <a:latin typeface="微软雅黑" panose="020B0503020204020204" charset="-122"/>
                <a:ea typeface="微软雅黑" panose="020B0503020204020204" charset="-122"/>
                <a:sym typeface="+mn-ea"/>
              </a:rPr>
              <a:t>角色分配功能权限，实现对平台功能权限管控，人员变动时只需调整角色分配，无需逐条修改权限。</a:t>
            </a:r>
            <a:endParaRPr lang="zh-CN" altLang="en-US" sz="1400">
              <a:latin typeface="微软雅黑" panose="020B0503020204020204" charset="-122"/>
              <a:ea typeface="微软雅黑" panose="020B0503020204020204" charset="-122"/>
              <a:sym typeface="+mn-ea"/>
            </a:endParaRPr>
          </a:p>
        </p:txBody>
      </p:sp>
      <p:sp>
        <p:nvSpPr>
          <p:cNvPr id="59" name="矩形 58"/>
          <p:cNvSpPr/>
          <p:nvPr/>
        </p:nvSpPr>
        <p:spPr>
          <a:xfrm>
            <a:off x="7126724"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6" name="矩形 5"/>
          <p:cNvSpPr/>
          <p:nvPr/>
        </p:nvSpPr>
        <p:spPr>
          <a:xfrm>
            <a:off x="796682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3" name="矩形 2"/>
          <p:cNvSpPr/>
          <p:nvPr/>
        </p:nvSpPr>
        <p:spPr>
          <a:xfrm>
            <a:off x="880693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4" name="矩形 3"/>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可解析</a:t>
            </a:r>
            <a:endParaRPr lang="zh-CN" altLang="en-US" sz="1000">
              <a:latin typeface="微软雅黑" panose="020B0503020204020204" charset="-122"/>
              <a:ea typeface="微软雅黑" panose="020B0503020204020204" charset="-122"/>
            </a:endParaRPr>
          </a:p>
        </p:txBody>
      </p:sp>
      <p:sp>
        <p:nvSpPr>
          <p:cNvPr id="5" name="矩形 4"/>
          <p:cNvSpPr/>
          <p:nvPr/>
        </p:nvSpPr>
        <p:spPr>
          <a:xfrm>
            <a:off x="1048777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7" name="矩形 6"/>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2.5.1 可观测:全链路Trace埋点 · AI推理黑盒行为可视化审计</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圆角矩形 9"/>
          <p:cNvSpPr/>
          <p:nvPr/>
        </p:nvSpPr>
        <p:spPr bwMode="auto">
          <a:xfrm>
            <a:off x="508635" y="906145"/>
            <a:ext cx="10921365" cy="91948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dirty="0">
                <a:effectLst/>
                <a:latin typeface="微软雅黑" panose="020B0503020204020204" charset="-122"/>
                <a:ea typeface="微软雅黑" panose="020B0503020204020204" charset="-122"/>
              </a:rPr>
              <a:t>对知识调用、语义推理、内容</a:t>
            </a:r>
            <a:r>
              <a:rPr lang="zh-CN" altLang="en-US" sz="1600" b="1" dirty="0">
                <a:solidFill>
                  <a:srgbClr val="C00000"/>
                </a:solidFill>
                <a:effectLst/>
                <a:latin typeface="微软雅黑" panose="020B0503020204020204" charset="-122"/>
                <a:ea typeface="微软雅黑" panose="020B0503020204020204" charset="-122"/>
              </a:rPr>
              <a:t>生成全链路埋点追踪</a:t>
            </a:r>
            <a:r>
              <a:rPr lang="zh-CN" altLang="en-US" sz="1600" dirty="0">
                <a:effectLst/>
                <a:latin typeface="微软雅黑" panose="020B0503020204020204" charset="-122"/>
                <a:ea typeface="微软雅黑" panose="020B0503020204020204" charset="-122"/>
              </a:rPr>
              <a:t>，破解</a:t>
            </a:r>
            <a:r>
              <a:rPr lang="en-US" altLang="zh-CN" sz="1600" dirty="0">
                <a:effectLst/>
                <a:latin typeface="微软雅黑" panose="020B0503020204020204" charset="-122"/>
                <a:ea typeface="微软雅黑" panose="020B0503020204020204" charset="-122"/>
              </a:rPr>
              <a:t>AI</a:t>
            </a:r>
            <a:r>
              <a:rPr lang="zh-CN" altLang="en-US" sz="1600" dirty="0">
                <a:effectLst/>
                <a:latin typeface="微软雅黑" panose="020B0503020204020204" charset="-122"/>
                <a:ea typeface="微软雅黑" panose="020B0503020204020204" charset="-122"/>
              </a:rPr>
              <a:t>黑盒，</a:t>
            </a:r>
            <a:r>
              <a:rPr lang="zh-CN" altLang="en-US" sz="1600" b="1" dirty="0">
                <a:solidFill>
                  <a:srgbClr val="C00000"/>
                </a:solidFill>
                <a:effectLst/>
                <a:latin typeface="微软雅黑" panose="020B0503020204020204" charset="-122"/>
                <a:ea typeface="微软雅黑" panose="020B0503020204020204" charset="-122"/>
              </a:rPr>
              <a:t>实现所有操作可监控、可审计、可回溯，保障系统安全合规运行</a:t>
            </a:r>
            <a:r>
              <a:rPr lang="en-US" altLang="zh-CN" sz="1600" b="1" dirty="0">
                <a:solidFill>
                  <a:srgbClr val="C00000"/>
                </a:solidFill>
                <a:effectLst/>
                <a:latin typeface="微软雅黑" panose="020B0503020204020204" charset="-122"/>
                <a:ea typeface="微软雅黑" panose="020B0503020204020204" charset="-122"/>
              </a:rPr>
              <a:t>。</a:t>
            </a:r>
            <a:endParaRPr lang="en-US" altLang="zh-CN" sz="1600" b="1" dirty="0">
              <a:solidFill>
                <a:srgbClr val="C00000"/>
              </a:solidFill>
              <a:effectLst/>
              <a:latin typeface="微软雅黑" panose="020B0503020204020204" charset="-122"/>
              <a:ea typeface="微软雅黑" panose="020B0503020204020204" charset="-122"/>
            </a:endParaRPr>
          </a:p>
        </p:txBody>
      </p:sp>
      <p:sp>
        <p:nvSpPr>
          <p:cNvPr id="8" name="AutoShape 8"/>
          <p:cNvSpPr/>
          <p:nvPr/>
        </p:nvSpPr>
        <p:spPr>
          <a:xfrm>
            <a:off x="5334000" y="2667000"/>
            <a:ext cx="1524000" cy="1524000"/>
          </a:xfrm>
          <a:prstGeom prst="ellipse">
            <a:avLst/>
          </a:prstGeom>
          <a:solidFill>
            <a:srgbClr val="165DFF">
              <a:alpha val="100000"/>
            </a:srgbClr>
          </a:solidFill>
          <a:ln cap="flat" cmpd="sng">
            <a:solidFill>
              <a:srgbClr val="0046E6">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9" name="AutoShape 9"/>
          <p:cNvSpPr/>
          <p:nvPr/>
        </p:nvSpPr>
        <p:spPr>
          <a:xfrm>
            <a:off x="5397500" y="3048000"/>
            <a:ext cx="1397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全链路</a:t>
            </a:r>
            <a:b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追踪引擎</a:t>
            </a:r>
            <a:endParaRPr lang="en-US" sz="1100">
              <a:latin typeface="微软雅黑" panose="020B0503020204020204" charset="-122"/>
              <a:ea typeface="微软雅黑" panose="020B0503020204020204" charset="-122"/>
              <a:cs typeface="微软雅黑" panose="020B0503020204020204" charset="-122"/>
            </a:endParaRPr>
          </a:p>
        </p:txBody>
      </p:sp>
      <p:sp>
        <p:nvSpPr>
          <p:cNvPr id="10" name="AutoShape 10"/>
          <p:cNvSpPr/>
          <p:nvPr/>
        </p:nvSpPr>
        <p:spPr>
          <a:xfrm>
            <a:off x="508000" y="2222500"/>
            <a:ext cx="3556000" cy="1079500"/>
          </a:xfrm>
          <a:prstGeom prst="roundRect">
            <a:avLst>
              <a:gd name="adj" fmla="val 0"/>
            </a:avLst>
          </a:prstGeom>
          <a:solidFill>
            <a:srgbClr val="F3F4F6">
              <a:alpha val="50000"/>
            </a:srgbClr>
          </a:solidFill>
          <a:ln w="12700" cap="flat" cmpd="sng">
            <a:solidFill>
              <a:srgbClr val="165DFF">
                <a:alpha val="1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2349500"/>
            <a:ext cx="304800" cy="304800"/>
          </a:xfrm>
          <a:prstGeom prst="rect">
            <a:avLst/>
          </a:prstGeom>
        </p:spPr>
      </p:pic>
      <p:sp>
        <p:nvSpPr>
          <p:cNvPr id="12" name="AutoShape 12"/>
          <p:cNvSpPr/>
          <p:nvPr/>
        </p:nvSpPr>
        <p:spPr>
          <a:xfrm>
            <a:off x="1079500" y="2349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01 访问日志采集</a:t>
            </a:r>
            <a:endPar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3" name="AutoShape 13"/>
          <p:cNvSpPr/>
          <p:nvPr/>
        </p:nvSpPr>
        <p:spPr>
          <a:xfrm>
            <a:off x="698500" y="2730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记录用户身份、访问时间、IP归属及请求指令，建立访问行为档案，作为审计溯源的基础依据。</a:t>
            </a:r>
            <a:endPar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4" name="Connector 14"/>
          <p:cNvCxnSpPr/>
          <p:nvPr/>
        </p:nvCxnSpPr>
        <p:spPr>
          <a:xfrm rot="823119">
            <a:off x="4109166" y="2895608"/>
            <a:ext cx="1179734" cy="12700"/>
          </a:xfrm>
          <a:prstGeom prst="line">
            <a:avLst/>
          </a:prstGeom>
          <a:solidFill>
            <a:srgbClr val="DEE0E3">
              <a:alpha val="100000"/>
            </a:srgbClr>
          </a:solidFill>
          <a:ln w="12700" cap="flat" cmpd="sng">
            <a:solidFill>
              <a:srgbClr val="165DFF">
                <a:alpha val="30000"/>
              </a:srgbClr>
            </a:solidFill>
            <a:prstDash val="dash"/>
            <a:round/>
            <a:headEnd type="none" w="med" len="med"/>
            <a:tailEnd type="arrow" w="sm" len="sm"/>
          </a:ln>
        </p:spPr>
      </p:cxnSp>
      <p:sp>
        <p:nvSpPr>
          <p:cNvPr id="15" name="AutoShape 15"/>
          <p:cNvSpPr/>
          <p:nvPr/>
        </p:nvSpPr>
        <p:spPr>
          <a:xfrm>
            <a:off x="8128000" y="2222500"/>
            <a:ext cx="3556000" cy="1079500"/>
          </a:xfrm>
          <a:prstGeom prst="roundRect">
            <a:avLst>
              <a:gd name="adj" fmla="val 0"/>
            </a:avLst>
          </a:prstGeom>
          <a:solidFill>
            <a:srgbClr val="F3F4F6">
              <a:alpha val="50000"/>
            </a:srgbClr>
          </a:solidFill>
          <a:ln w="12700" cap="flat" cmpd="sng">
            <a:solidFill>
              <a:srgbClr val="165DFF">
                <a:alpha val="1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18500" y="2349500"/>
            <a:ext cx="304800" cy="304800"/>
          </a:xfrm>
          <a:prstGeom prst="rect">
            <a:avLst/>
          </a:prstGeom>
        </p:spPr>
      </p:pic>
      <p:sp>
        <p:nvSpPr>
          <p:cNvPr id="17" name="AutoShape 17"/>
          <p:cNvSpPr/>
          <p:nvPr/>
        </p:nvSpPr>
        <p:spPr>
          <a:xfrm>
            <a:off x="8699500" y="2349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02 推理过程采集</a:t>
            </a:r>
            <a:endPar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AutoShape 18"/>
          <p:cNvSpPr/>
          <p:nvPr/>
        </p:nvSpPr>
        <p:spPr>
          <a:xfrm>
            <a:off x="8318500" y="2730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深度追踪知识召回路径、向量相似度得分及上下文匹配片段，还原AI决策逻辑，定位推理关键因素。</a:t>
            </a:r>
            <a:endPar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19" name="Connector 19"/>
          <p:cNvCxnSpPr/>
          <p:nvPr/>
        </p:nvCxnSpPr>
        <p:spPr>
          <a:xfrm rot="9902867">
            <a:off x="6903100" y="2895608"/>
            <a:ext cx="1179734" cy="12700"/>
          </a:xfrm>
          <a:prstGeom prst="line">
            <a:avLst/>
          </a:prstGeom>
          <a:solidFill>
            <a:srgbClr val="DEE0E3">
              <a:alpha val="100000"/>
            </a:srgbClr>
          </a:solidFill>
          <a:ln w="12700" cap="flat" cmpd="sng">
            <a:solidFill>
              <a:srgbClr val="165DFF">
                <a:alpha val="30000"/>
              </a:srgbClr>
            </a:solidFill>
            <a:prstDash val="dash"/>
            <a:round/>
            <a:headEnd type="none" w="med" len="med"/>
            <a:tailEnd type="arrow" w="sm" len="sm"/>
          </a:ln>
        </p:spPr>
      </p:cxnSp>
      <p:sp>
        <p:nvSpPr>
          <p:cNvPr id="20" name="AutoShape 20"/>
          <p:cNvSpPr/>
          <p:nvPr/>
        </p:nvSpPr>
        <p:spPr>
          <a:xfrm>
            <a:off x="508000" y="3746500"/>
            <a:ext cx="3556000" cy="1079500"/>
          </a:xfrm>
          <a:prstGeom prst="roundRect">
            <a:avLst>
              <a:gd name="adj" fmla="val 0"/>
            </a:avLst>
          </a:prstGeom>
          <a:solidFill>
            <a:srgbClr val="F3F4F6">
              <a:alpha val="50000"/>
            </a:srgbClr>
          </a:solidFill>
          <a:ln w="12700" cap="flat" cmpd="sng">
            <a:solidFill>
              <a:srgbClr val="165DFF">
                <a:alpha val="1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1" name="Picture 2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8500" y="3873500"/>
            <a:ext cx="304800" cy="304800"/>
          </a:xfrm>
          <a:prstGeom prst="rect">
            <a:avLst/>
          </a:prstGeom>
        </p:spPr>
      </p:pic>
      <p:sp>
        <p:nvSpPr>
          <p:cNvPr id="22" name="AutoShape 22"/>
          <p:cNvSpPr/>
          <p:nvPr/>
        </p:nvSpPr>
        <p:spPr>
          <a:xfrm>
            <a:off x="1079500" y="3873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03 异常事件采集</a:t>
            </a:r>
            <a:endPar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3" name="AutoShape 23"/>
          <p:cNvSpPr/>
          <p:nvPr/>
        </p:nvSpPr>
        <p:spPr>
          <a:xfrm>
            <a:off x="698500" y="4254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实时捕获系统报错、权限越权访问、低质回答及敏感信息触发，自动留存异常快照与证据链。</a:t>
            </a:r>
            <a:endParaRPr lang="en-US" sz="12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cxnSp>
        <p:nvCxnSpPr>
          <p:cNvPr id="24" name="Connector 24"/>
          <p:cNvCxnSpPr/>
          <p:nvPr/>
        </p:nvCxnSpPr>
        <p:spPr>
          <a:xfrm rot="-1038539">
            <a:off x="4102369" y="4102090"/>
            <a:ext cx="1193327" cy="12700"/>
          </a:xfrm>
          <a:prstGeom prst="line">
            <a:avLst/>
          </a:prstGeom>
          <a:solidFill>
            <a:srgbClr val="DEE0E3">
              <a:alpha val="100000"/>
            </a:srgbClr>
          </a:solidFill>
          <a:ln w="12700" cap="flat" cmpd="sng">
            <a:solidFill>
              <a:srgbClr val="165DFF">
                <a:alpha val="30000"/>
              </a:srgbClr>
            </a:solidFill>
            <a:prstDash val="dash"/>
            <a:round/>
            <a:headEnd type="none" w="med" len="med"/>
            <a:tailEnd type="arrow" w="sm" len="sm"/>
          </a:ln>
        </p:spPr>
      </p:cxnSp>
      <p:sp>
        <p:nvSpPr>
          <p:cNvPr id="25" name="AutoShape 25"/>
          <p:cNvSpPr/>
          <p:nvPr/>
        </p:nvSpPr>
        <p:spPr>
          <a:xfrm>
            <a:off x="8128000" y="3746500"/>
            <a:ext cx="3556000" cy="1079500"/>
          </a:xfrm>
          <a:prstGeom prst="roundRect">
            <a:avLst>
              <a:gd name="adj" fmla="val 0"/>
            </a:avLst>
          </a:prstGeom>
          <a:solidFill>
            <a:srgbClr val="F3F4F6">
              <a:alpha val="50000"/>
            </a:srgbClr>
          </a:solidFill>
          <a:ln w="12700" cap="flat" cmpd="sng">
            <a:solidFill>
              <a:srgbClr val="165DFF">
                <a:alpha val="1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18500" y="3873500"/>
            <a:ext cx="304800" cy="304800"/>
          </a:xfrm>
          <a:prstGeom prst="rect">
            <a:avLst/>
          </a:prstGeom>
        </p:spPr>
      </p:pic>
      <p:sp>
        <p:nvSpPr>
          <p:cNvPr id="27" name="AutoShape 27"/>
          <p:cNvSpPr/>
          <p:nvPr/>
        </p:nvSpPr>
        <p:spPr>
          <a:xfrm>
            <a:off x="8699500" y="3873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04 生成过程采集</a:t>
            </a:r>
            <a:endParaRPr lang="en-US" sz="15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8" name="AutoShape 28"/>
          <p:cNvSpPr/>
          <p:nvPr/>
        </p:nvSpPr>
        <p:spPr>
          <a:xfrm>
            <a:off x="8318500" y="4254500"/>
            <a:ext cx="317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完整留存Prompt输入、模型输出内容、Token消耗及响应耗时，量化效能并校验内容合规性。</a:t>
            </a:r>
            <a:endParaRPr lang="en-US" sz="12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cxnSp>
        <p:nvCxnSpPr>
          <p:cNvPr id="29" name="Connector 29"/>
          <p:cNvCxnSpPr/>
          <p:nvPr/>
        </p:nvCxnSpPr>
        <p:spPr>
          <a:xfrm rot="-9834630">
            <a:off x="6896304" y="4102090"/>
            <a:ext cx="1193327" cy="12700"/>
          </a:xfrm>
          <a:prstGeom prst="line">
            <a:avLst/>
          </a:prstGeom>
          <a:solidFill>
            <a:srgbClr val="DEE0E3">
              <a:alpha val="100000"/>
            </a:srgbClr>
          </a:solidFill>
          <a:ln w="12700" cap="flat" cmpd="sng">
            <a:solidFill>
              <a:srgbClr val="165DFF">
                <a:alpha val="30000"/>
              </a:srgbClr>
            </a:solidFill>
            <a:prstDash val="dash"/>
            <a:round/>
            <a:headEnd type="none" w="med" len="med"/>
            <a:tailEnd type="arrow" w="sm" len="sm"/>
          </a:ln>
        </p:spPr>
      </p:cxnSp>
      <p:sp>
        <p:nvSpPr>
          <p:cNvPr id="30" name="AutoShape 30"/>
          <p:cNvSpPr/>
          <p:nvPr/>
        </p:nvSpPr>
        <p:spPr>
          <a:xfrm>
            <a:off x="508000" y="5143500"/>
            <a:ext cx="3556000" cy="1460500"/>
          </a:xfrm>
          <a:prstGeom prst="roundRect">
            <a:avLst>
              <a:gd name="adj" fmla="val 0"/>
            </a:avLst>
          </a:prstGeom>
          <a:solidFill>
            <a:srgbClr val="165DFF">
              <a:alpha val="4000"/>
            </a:srgbClr>
          </a:solidFill>
          <a:ln w="12700" cap="flat" cmpd="sng">
            <a:solidFill>
              <a:srgbClr val="165DFF">
                <a:alpha val="15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31" name="Picture 3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500" y="5308600"/>
            <a:ext cx="279400" cy="279400"/>
          </a:xfrm>
          <a:prstGeom prst="rect">
            <a:avLst/>
          </a:prstGeom>
        </p:spPr>
      </p:pic>
      <p:sp>
        <p:nvSpPr>
          <p:cNvPr id="32" name="AutoShape 32"/>
          <p:cNvSpPr/>
          <p:nvPr/>
        </p:nvSpPr>
        <p:spPr>
          <a:xfrm>
            <a:off x="1079500" y="53086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分布式全链路追踪</a:t>
            </a:r>
            <a:endParaRPr lang="en-US" sz="15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3" name="AutoShape 33"/>
          <p:cNvSpPr/>
          <p:nvPr/>
        </p:nvSpPr>
        <p:spPr>
          <a:xfrm>
            <a:off x="698500" y="5715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通过唯一TraceID串联用户请求、模型调用及检索全环节，打破监控孤岛，实现端到端路径还原与故障秒级定位。</a:t>
            </a:r>
            <a:endPar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4" name="AutoShape 34"/>
          <p:cNvSpPr/>
          <p:nvPr/>
        </p:nvSpPr>
        <p:spPr>
          <a:xfrm>
            <a:off x="4318000" y="5143500"/>
            <a:ext cx="3556000" cy="1460500"/>
          </a:xfrm>
          <a:prstGeom prst="roundRect">
            <a:avLst>
              <a:gd name="adj" fmla="val 0"/>
            </a:avLst>
          </a:prstGeom>
          <a:solidFill>
            <a:srgbClr val="165DFF">
              <a:alpha val="4000"/>
            </a:srgbClr>
          </a:solidFill>
          <a:ln w="12700" cap="flat" cmpd="sng">
            <a:solidFill>
              <a:srgbClr val="165DFF">
                <a:alpha val="15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35" name="Picture 3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08500" y="5308600"/>
            <a:ext cx="279400" cy="279400"/>
          </a:xfrm>
          <a:prstGeom prst="rect">
            <a:avLst/>
          </a:prstGeom>
        </p:spPr>
      </p:pic>
      <p:sp>
        <p:nvSpPr>
          <p:cNvPr id="36" name="AutoShape 36"/>
          <p:cNvSpPr/>
          <p:nvPr/>
        </p:nvSpPr>
        <p:spPr>
          <a:xfrm>
            <a:off x="4889500" y="53086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服务监控看板</a:t>
            </a:r>
            <a:endParaRPr lang="zh-CN" altLang="en-US" sz="15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7" name="AutoShape 37"/>
          <p:cNvSpPr/>
          <p:nvPr/>
        </p:nvSpPr>
        <p:spPr>
          <a:xfrm>
            <a:off x="4508500" y="5715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实时监控QPS、响应耗时、命中率及错误率等核心指标，支持多维度筛选与历史趋势回溯，为容量规划提供依据。</a:t>
            </a:r>
            <a:endPar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8" name="AutoShape 38"/>
          <p:cNvSpPr/>
          <p:nvPr/>
        </p:nvSpPr>
        <p:spPr>
          <a:xfrm>
            <a:off x="8128000" y="5143500"/>
            <a:ext cx="3556000" cy="1460500"/>
          </a:xfrm>
          <a:prstGeom prst="roundRect">
            <a:avLst>
              <a:gd name="adj" fmla="val 0"/>
            </a:avLst>
          </a:prstGeom>
          <a:solidFill>
            <a:srgbClr val="165DFF">
              <a:alpha val="4000"/>
            </a:srgbClr>
          </a:solidFill>
          <a:ln w="12700" cap="flat" cmpd="sng">
            <a:solidFill>
              <a:srgbClr val="165DFF">
                <a:alpha val="15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39" name="Picture 3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18500" y="5308600"/>
            <a:ext cx="279400" cy="279400"/>
          </a:xfrm>
          <a:prstGeom prst="rect">
            <a:avLst/>
          </a:prstGeom>
        </p:spPr>
      </p:pic>
      <p:sp>
        <p:nvSpPr>
          <p:cNvPr id="40" name="AutoShape 40"/>
          <p:cNvSpPr/>
          <p:nvPr/>
        </p:nvSpPr>
        <p:spPr>
          <a:xfrm>
            <a:off x="8699500" y="53086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rPr>
              <a:t>智能告警与审计合规</a:t>
            </a:r>
            <a:endParaRPr lang="en-US" sz="1500" b="1" i="0" u="none" strike="noStrike">
              <a:solidFill>
                <a:srgbClr val="165DFF"/>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41" name="AutoShape 41"/>
          <p:cNvSpPr/>
          <p:nvPr/>
        </p:nvSpPr>
        <p:spPr>
          <a:xfrm>
            <a:off x="8318500" y="57150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基于动态阈值实现异常行为实时告警，覆盖性能与合规风险；留存全量操作日志，满足金融级监管审计要求。</a:t>
            </a:r>
            <a:endParaRPr lang="en-US" sz="1200" b="0" i="0" u="none" strike="noStrike">
              <a:solidFill>
                <a:srgbClr val="374151"/>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9" name="矩形 58"/>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6" name="矩形 5"/>
          <p:cNvSpPr/>
          <p:nvPr/>
        </p:nvSpPr>
        <p:spPr>
          <a:xfrm>
            <a:off x="7966829"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4" name="矩形 3"/>
          <p:cNvSpPr/>
          <p:nvPr/>
        </p:nvSpPr>
        <p:spPr>
          <a:xfrm>
            <a:off x="880693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5" name="矩形 4"/>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可解析</a:t>
            </a:r>
            <a:endParaRPr lang="zh-CN" altLang="en-US" sz="1000">
              <a:latin typeface="微软雅黑" panose="020B0503020204020204" charset="-122"/>
              <a:ea typeface="微软雅黑" panose="020B0503020204020204" charset="-122"/>
            </a:endParaRPr>
          </a:p>
        </p:txBody>
      </p:sp>
      <p:sp>
        <p:nvSpPr>
          <p:cNvPr id="7" name="矩形 6"/>
          <p:cNvSpPr/>
          <p:nvPr/>
        </p:nvSpPr>
        <p:spPr>
          <a:xfrm>
            <a:off x="1048777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肘形连接符 11"/>
          <p:cNvCxnSpPr>
            <a:stCxn id="97" idx="3"/>
            <a:endCxn id="87" idx="1"/>
          </p:cNvCxnSpPr>
          <p:nvPr/>
        </p:nvCxnSpPr>
        <p:spPr>
          <a:xfrm>
            <a:off x="4055110" y="2233930"/>
            <a:ext cx="666750" cy="1424940"/>
          </a:xfrm>
          <a:prstGeom prst="bentConnector3">
            <a:avLst>
              <a:gd name="adj1" fmla="val 50000"/>
            </a:avLst>
          </a:prstGeom>
          <a:ln>
            <a:solidFill>
              <a:schemeClr val="tx1">
                <a:lumMod val="65000"/>
                <a:lumOff val="35000"/>
              </a:schemeClr>
            </a:solidFill>
            <a:prstDash val="dash"/>
            <a:tailEnd type="arrow"/>
          </a:ln>
        </p:spPr>
        <p:style>
          <a:lnRef idx="2">
            <a:schemeClr val="accent1"/>
          </a:lnRef>
          <a:fillRef idx="0">
            <a:srgbClr val="FFFFFF"/>
          </a:fillRef>
          <a:effectRef idx="0">
            <a:srgbClr val="FFFFFF"/>
          </a:effectRef>
          <a:fontRef idx="minor">
            <a:schemeClr val="tx1"/>
          </a:fontRef>
        </p:style>
      </p:cxnSp>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2.5.2 可观测:全链路Trace埋点 · AI推理黑盒行为可视化审计</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5" name="Shape 13"/>
          <p:cNvSpPr/>
          <p:nvPr/>
        </p:nvSpPr>
        <p:spPr>
          <a:xfrm>
            <a:off x="130175" y="960120"/>
            <a:ext cx="11460175" cy="502920"/>
          </a:xfrm>
          <a:prstGeom prst="roundRect">
            <a:avLst>
              <a:gd name="adj" fmla="val 9091"/>
            </a:avLst>
          </a:prstGeom>
          <a:solidFill>
            <a:srgbClr val="F5F6FA"/>
          </a:solidFill>
          <a:ln w="9525">
            <a:solidFill>
              <a:srgbClr val="BFBFBF"/>
            </a:solidFill>
            <a:prstDash val="solid"/>
          </a:ln>
        </p:spPr>
      </p:sp>
      <p:sp>
        <p:nvSpPr>
          <p:cNvPr id="18" name="Text 16"/>
          <p:cNvSpPr/>
          <p:nvPr/>
        </p:nvSpPr>
        <p:spPr>
          <a:xfrm>
            <a:off x="1593215" y="987552"/>
            <a:ext cx="9997135" cy="457200"/>
          </a:xfrm>
          <a:prstGeom prst="rect">
            <a:avLst/>
          </a:prstGeom>
          <a:noFill/>
        </p:spPr>
        <p:txBody>
          <a:bodyPr wrap="square" lIns="0" tIns="0" rIns="0" bIns="0" rtlCol="0" anchor="ctr"/>
          <a:lstStyle/>
          <a:p>
            <a:pPr marL="0" indent="0" algn="l">
              <a:buNone/>
            </a:pPr>
            <a:r>
              <a:rPr lang="zh-CN" altLang="en-US" sz="1200" dirty="0">
                <a:solidFill>
                  <a:srgbClr val="1F2A44"/>
                </a:solidFill>
                <a:latin typeface="微软雅黑" panose="020B0503020204020204" charset="-122"/>
                <a:ea typeface="微软雅黑" panose="020B0503020204020204" charset="-122"/>
                <a:cs typeface="微软雅黑" panose="020B0503020204020204" charset="-122"/>
              </a:rPr>
              <a:t>解决</a:t>
            </a:r>
            <a:r>
              <a:rPr lang="en-US" altLang="zh-CN" sz="1200" dirty="0">
                <a:solidFill>
                  <a:srgbClr val="1F2A44"/>
                </a:solidFill>
                <a:latin typeface="微软雅黑" panose="020B0503020204020204" charset="-122"/>
                <a:ea typeface="微软雅黑" panose="020B0503020204020204" charset="-122"/>
                <a:cs typeface="微软雅黑" panose="020B0503020204020204" charset="-122"/>
              </a:rPr>
              <a:t> AI </a:t>
            </a:r>
            <a:r>
              <a:rPr lang="zh-CN" altLang="en-US" sz="1200" dirty="0">
                <a:solidFill>
                  <a:srgbClr val="1F2A44"/>
                </a:solidFill>
                <a:latin typeface="微软雅黑" panose="020B0503020204020204" charset="-122"/>
                <a:ea typeface="微软雅黑" panose="020B0503020204020204" charset="-122"/>
                <a:cs typeface="微软雅黑" panose="020B0503020204020204" charset="-122"/>
              </a:rPr>
              <a:t>推理全链路黑盒不透明问题，对知识调用、语义推理、内容生成全流程埋点追踪，实现所有操作可回放、可下钻、可审计，满足监管检查和内部合规要求</a:t>
            </a:r>
            <a:r>
              <a:rPr lang="en-US" sz="1200" dirty="0">
                <a:solidFill>
                  <a:srgbClr val="1F2A44"/>
                </a:solidFill>
                <a:latin typeface="微软雅黑" panose="020B0503020204020204" charset="-122"/>
                <a:ea typeface="微软雅黑" panose="020B0503020204020204" charset="-122"/>
                <a:cs typeface="微软雅黑" panose="020B0503020204020204" charset="-122"/>
              </a:rPr>
              <a:t>。</a:t>
            </a:r>
            <a:endParaRPr lang="en-US" sz="1200" dirty="0">
              <a:solidFill>
                <a:srgbClr val="1F2A44"/>
              </a:solidFill>
              <a:latin typeface="微软雅黑" panose="020B0503020204020204" charset="-122"/>
              <a:ea typeface="微软雅黑" panose="020B0503020204020204" charset="-122"/>
              <a:cs typeface="微软雅黑" panose="020B0503020204020204" charset="-122"/>
            </a:endParaRPr>
          </a:p>
        </p:txBody>
      </p:sp>
      <p:sp>
        <p:nvSpPr>
          <p:cNvPr id="64" name="Shape 62"/>
          <p:cNvSpPr/>
          <p:nvPr/>
        </p:nvSpPr>
        <p:spPr>
          <a:xfrm>
            <a:off x="130175" y="5784850"/>
            <a:ext cx="2762250" cy="968375"/>
          </a:xfrm>
          <a:prstGeom prst="roundRect">
            <a:avLst>
              <a:gd name="adj" fmla="val 6316"/>
            </a:avLst>
          </a:prstGeom>
          <a:solidFill>
            <a:srgbClr val="FFFFFF"/>
          </a:solidFill>
          <a:ln w="9525">
            <a:solidFill>
              <a:srgbClr val="BFBFBF"/>
            </a:solidFill>
            <a:prstDash val="solid"/>
          </a:ln>
          <a:effectLst>
            <a:outerShdw blurRad="50800" dist="12700" dir="5400000" algn="bl" rotWithShape="0">
              <a:srgbClr val="000000">
                <a:alpha val="10000"/>
              </a:srgbClr>
            </a:outerShdw>
          </a:effectLst>
        </p:spPr>
      </p:sp>
      <p:sp>
        <p:nvSpPr>
          <p:cNvPr id="65" name="Shape 63"/>
          <p:cNvSpPr/>
          <p:nvPr/>
        </p:nvSpPr>
        <p:spPr>
          <a:xfrm>
            <a:off x="267335" y="5986018"/>
            <a:ext cx="457200" cy="457200"/>
          </a:xfrm>
          <a:prstGeom prst="ellipse">
            <a:avLst/>
          </a:prstGeom>
          <a:solidFill>
            <a:srgbClr val="305087"/>
          </a:solidFill>
          <a:ln w="12700">
            <a:solidFill>
              <a:srgbClr val="305087"/>
            </a:solidFill>
            <a:prstDash val="solid"/>
          </a:ln>
        </p:spPr>
      </p:sp>
      <p:sp>
        <p:nvSpPr>
          <p:cNvPr id="66" name="Text 64"/>
          <p:cNvSpPr/>
          <p:nvPr/>
        </p:nvSpPr>
        <p:spPr>
          <a:xfrm>
            <a:off x="267335" y="598601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charset="-122"/>
                <a:ea typeface="微软雅黑" panose="020B0503020204020204" charset="-122"/>
                <a:cs typeface="Calibri" panose="020F0502020204030204" pitchFamily="34" charset="-120"/>
              </a:rPr>
              <a:t>①</a:t>
            </a:r>
            <a:endParaRPr lang="en-US" sz="1600" b="1" dirty="0">
              <a:solidFill>
                <a:srgbClr val="FFFFFF"/>
              </a:solidFill>
              <a:latin typeface="微软雅黑" panose="020B0503020204020204" charset="-122"/>
              <a:ea typeface="微软雅黑" panose="020B0503020204020204" charset="-122"/>
              <a:cs typeface="Calibri" panose="020F0502020204030204" pitchFamily="34" charset="-120"/>
            </a:endParaRPr>
          </a:p>
        </p:txBody>
      </p:sp>
      <p:sp>
        <p:nvSpPr>
          <p:cNvPr id="67" name="Text 65"/>
          <p:cNvSpPr/>
          <p:nvPr/>
        </p:nvSpPr>
        <p:spPr>
          <a:xfrm>
            <a:off x="815975" y="5903722"/>
            <a:ext cx="1984934" cy="274320"/>
          </a:xfrm>
          <a:prstGeom prst="rect">
            <a:avLst/>
          </a:prstGeom>
          <a:noFill/>
        </p:spPr>
        <p:txBody>
          <a:bodyPr wrap="square" lIns="0" tIns="0" rIns="0" bIns="0" rtlCol="0" anchor="ctr"/>
          <a:lstStyle/>
          <a:p>
            <a:pPr marL="0" indent="0" algn="l">
              <a:buNone/>
            </a:pPr>
            <a:r>
              <a:rPr lang="zh-CN" altLang="en-US" sz="1150" b="1" dirty="0">
                <a:solidFill>
                  <a:srgbClr val="305087"/>
                </a:solidFill>
                <a:latin typeface="微软雅黑" panose="020B0503020204020204" charset="-122"/>
                <a:ea typeface="微软雅黑" panose="020B0503020204020204" charset="-122"/>
                <a:cs typeface="微软雅黑" panose="020B0503020204020204" charset="-122"/>
              </a:rPr>
              <a:t>分布式全链路追踪</a:t>
            </a:r>
            <a:endParaRPr lang="en-US" sz="1150" b="1" dirty="0">
              <a:solidFill>
                <a:srgbClr val="305087"/>
              </a:solidFill>
              <a:latin typeface="微软雅黑" panose="020B0503020204020204" charset="-122"/>
              <a:ea typeface="微软雅黑" panose="020B0503020204020204" charset="-122"/>
              <a:cs typeface="微软雅黑" panose="020B0503020204020204" charset="-122"/>
            </a:endParaRPr>
          </a:p>
        </p:txBody>
      </p:sp>
      <p:sp>
        <p:nvSpPr>
          <p:cNvPr id="68" name="Text 66"/>
          <p:cNvSpPr/>
          <p:nvPr/>
        </p:nvSpPr>
        <p:spPr>
          <a:xfrm>
            <a:off x="826770" y="6169025"/>
            <a:ext cx="2022475" cy="457200"/>
          </a:xfrm>
          <a:prstGeom prst="rect">
            <a:avLst/>
          </a:prstGeom>
          <a:noFill/>
        </p:spPr>
        <p:txBody>
          <a:bodyPr wrap="square" lIns="0" tIns="0" rIns="0" bIns="0" rtlCol="0" anchor="t"/>
          <a:lstStyle/>
          <a:p>
            <a:pPr marL="0" indent="0" algn="l">
              <a:buNone/>
            </a:pP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覆盖</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意图识别</a:t>
            </a:r>
            <a:r>
              <a:rPr lang="en-US" altLang="en-US" sz="900" dirty="0">
                <a:solidFill>
                  <a:srgbClr val="3A3A3A"/>
                </a:solidFill>
                <a:latin typeface="微软雅黑" panose="020B0503020204020204" charset="-122"/>
                <a:ea typeface="微软雅黑" panose="020B0503020204020204" charset="-122"/>
                <a:cs typeface="微软雅黑" panose="020B0503020204020204" charset="-122"/>
              </a:rPr>
              <a:t>→</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查询语句生成</a:t>
            </a:r>
            <a:r>
              <a:rPr lang="en-US" altLang="en-US" sz="900" dirty="0">
                <a:solidFill>
                  <a:srgbClr val="3A3A3A"/>
                </a:solidFill>
                <a:latin typeface="微软雅黑" panose="020B0503020204020204" charset="-122"/>
                <a:ea typeface="微软雅黑" panose="020B0503020204020204" charset="-122"/>
                <a:cs typeface="微软雅黑" panose="020B0503020204020204" charset="-122"/>
              </a:rPr>
              <a:t>→</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图检索执行</a:t>
            </a:r>
            <a:r>
              <a:rPr lang="en-US" altLang="en-US" sz="900" dirty="0">
                <a:solidFill>
                  <a:srgbClr val="3A3A3A"/>
                </a:solidFill>
                <a:latin typeface="微软雅黑" panose="020B0503020204020204" charset="-122"/>
                <a:ea typeface="微软雅黑" panose="020B0503020204020204" charset="-122"/>
                <a:cs typeface="微软雅黑" panose="020B0503020204020204" charset="-122"/>
              </a:rPr>
              <a:t>→</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知识片段召回</a:t>
            </a:r>
            <a:r>
              <a:rPr lang="en-US" altLang="en-US" sz="900" dirty="0">
                <a:solidFill>
                  <a:srgbClr val="3A3A3A"/>
                </a:solidFill>
                <a:latin typeface="微软雅黑" panose="020B0503020204020204" charset="-122"/>
                <a:ea typeface="微软雅黑" panose="020B0503020204020204" charset="-122"/>
                <a:cs typeface="微软雅黑" panose="020B0503020204020204" charset="-122"/>
              </a:rPr>
              <a:t>→</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内容生成</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"5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个核心环节，用全局唯一追踪</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 ID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串联大模型、图数据库、检索引擎全链路</a:t>
            </a:r>
            <a:endParaRPr lang="zh-CN" altLang="en-US" sz="900" dirty="0">
              <a:solidFill>
                <a:srgbClr val="3A3A3A"/>
              </a:solidFill>
              <a:latin typeface="微软雅黑" panose="020B0503020204020204" charset="-122"/>
              <a:ea typeface="微软雅黑" panose="020B0503020204020204" charset="-122"/>
              <a:cs typeface="微软雅黑" panose="020B0503020204020204" charset="-122"/>
            </a:endParaRPr>
          </a:p>
        </p:txBody>
      </p:sp>
      <p:sp>
        <p:nvSpPr>
          <p:cNvPr id="69" name="Shape 67"/>
          <p:cNvSpPr/>
          <p:nvPr/>
        </p:nvSpPr>
        <p:spPr>
          <a:xfrm>
            <a:off x="3029585" y="5784850"/>
            <a:ext cx="2762250" cy="968375"/>
          </a:xfrm>
          <a:prstGeom prst="roundRect">
            <a:avLst>
              <a:gd name="adj" fmla="val 6316"/>
            </a:avLst>
          </a:prstGeom>
          <a:solidFill>
            <a:srgbClr val="FFFFFF"/>
          </a:solidFill>
          <a:ln w="9525">
            <a:solidFill>
              <a:srgbClr val="BFBFBF"/>
            </a:solidFill>
            <a:prstDash val="solid"/>
          </a:ln>
          <a:effectLst>
            <a:outerShdw blurRad="50800" dist="12700" dir="5400000" algn="bl" rotWithShape="0">
              <a:srgbClr val="000000">
                <a:alpha val="10000"/>
              </a:srgbClr>
            </a:outerShdw>
          </a:effectLst>
        </p:spPr>
      </p:sp>
      <p:sp>
        <p:nvSpPr>
          <p:cNvPr id="70" name="Shape 68"/>
          <p:cNvSpPr/>
          <p:nvPr/>
        </p:nvSpPr>
        <p:spPr>
          <a:xfrm>
            <a:off x="3166669" y="5986018"/>
            <a:ext cx="457200" cy="457200"/>
          </a:xfrm>
          <a:prstGeom prst="ellipse">
            <a:avLst/>
          </a:prstGeom>
          <a:solidFill>
            <a:srgbClr val="305087"/>
          </a:solidFill>
          <a:ln w="12700">
            <a:solidFill>
              <a:srgbClr val="305087"/>
            </a:solidFill>
            <a:prstDash val="solid"/>
          </a:ln>
        </p:spPr>
      </p:sp>
      <p:sp>
        <p:nvSpPr>
          <p:cNvPr id="71" name="Text 69"/>
          <p:cNvSpPr/>
          <p:nvPr/>
        </p:nvSpPr>
        <p:spPr>
          <a:xfrm>
            <a:off x="3166669" y="598601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charset="-122"/>
                <a:ea typeface="微软雅黑" panose="020B0503020204020204" charset="-122"/>
                <a:cs typeface="Calibri" panose="020F0502020204030204" pitchFamily="34" charset="-120"/>
              </a:rPr>
              <a:t>②</a:t>
            </a:r>
            <a:endParaRPr lang="en-US" sz="1600" b="1" dirty="0">
              <a:solidFill>
                <a:srgbClr val="FFFFFF"/>
              </a:solidFill>
              <a:latin typeface="微软雅黑" panose="020B0503020204020204" charset="-122"/>
              <a:ea typeface="微软雅黑" panose="020B0503020204020204" charset="-122"/>
              <a:cs typeface="Calibri" panose="020F0502020204030204" pitchFamily="34" charset="-120"/>
            </a:endParaRPr>
          </a:p>
        </p:txBody>
      </p:sp>
      <p:sp>
        <p:nvSpPr>
          <p:cNvPr id="72" name="Text 70"/>
          <p:cNvSpPr/>
          <p:nvPr/>
        </p:nvSpPr>
        <p:spPr>
          <a:xfrm>
            <a:off x="3715309" y="5903722"/>
            <a:ext cx="1984934" cy="274320"/>
          </a:xfrm>
          <a:prstGeom prst="rect">
            <a:avLst/>
          </a:prstGeom>
          <a:noFill/>
        </p:spPr>
        <p:txBody>
          <a:bodyPr wrap="square" lIns="0" tIns="0" rIns="0" bIns="0" rtlCol="0" anchor="ctr"/>
          <a:lstStyle/>
          <a:p>
            <a:pPr marL="0" indent="0" algn="l">
              <a:buNone/>
            </a:pPr>
            <a:r>
              <a:rPr lang="en-US" sz="1150" b="1" dirty="0">
                <a:solidFill>
                  <a:srgbClr val="305087"/>
                </a:solidFill>
                <a:latin typeface="微软雅黑" panose="020B0503020204020204" charset="-122"/>
                <a:ea typeface="微软雅黑" panose="020B0503020204020204" charset="-122"/>
                <a:cs typeface="Calibri" panose="020F0502020204030204" pitchFamily="34" charset="-120"/>
              </a:rPr>
              <a:t>推理路径可视化</a:t>
            </a:r>
            <a:endParaRPr lang="en-US" sz="1150" b="1" dirty="0">
              <a:solidFill>
                <a:srgbClr val="305087"/>
              </a:solidFill>
              <a:latin typeface="微软雅黑" panose="020B0503020204020204" charset="-122"/>
              <a:ea typeface="微软雅黑" panose="020B0503020204020204" charset="-122"/>
              <a:cs typeface="Calibri" panose="020F0502020204030204" pitchFamily="34" charset="-120"/>
            </a:endParaRPr>
          </a:p>
        </p:txBody>
      </p:sp>
      <p:sp>
        <p:nvSpPr>
          <p:cNvPr id="73" name="Text 71"/>
          <p:cNvSpPr/>
          <p:nvPr/>
        </p:nvSpPr>
        <p:spPr>
          <a:xfrm>
            <a:off x="3715309" y="6168898"/>
            <a:ext cx="1984934" cy="457200"/>
          </a:xfrm>
          <a:prstGeom prst="rect">
            <a:avLst/>
          </a:prstGeom>
          <a:noFill/>
        </p:spPr>
        <p:txBody>
          <a:bodyPr wrap="square" lIns="0" tIns="0" rIns="0" bIns="0" rtlCol="0" anchor="t"/>
          <a:lstStyle/>
          <a:p>
            <a:pPr marL="0" indent="0" algn="l">
              <a:buNone/>
            </a:pP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将全链路追踪数据转化为有向图，直观展示</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用户问题</a:t>
            </a:r>
            <a:r>
              <a:rPr lang="en-US" altLang="en-US" sz="900" dirty="0">
                <a:solidFill>
                  <a:srgbClr val="3A3A3A"/>
                </a:solidFill>
                <a:latin typeface="微软雅黑" panose="020B0503020204020204" charset="-122"/>
                <a:ea typeface="微软雅黑" panose="020B0503020204020204" charset="-122"/>
                <a:cs typeface="微软雅黑" panose="020B0503020204020204" charset="-122"/>
              </a:rPr>
              <a:t>→</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命中知识图谱节点</a:t>
            </a:r>
            <a:r>
              <a:rPr lang="en-US" altLang="en-US" sz="900" dirty="0">
                <a:solidFill>
                  <a:srgbClr val="3A3A3A"/>
                </a:solidFill>
                <a:latin typeface="微软雅黑" panose="020B0503020204020204" charset="-122"/>
                <a:ea typeface="微软雅黑" panose="020B0503020204020204" charset="-122"/>
                <a:cs typeface="微软雅黑" panose="020B0503020204020204" charset="-122"/>
              </a:rPr>
              <a:t>→</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召回文档片段</a:t>
            </a:r>
            <a:r>
              <a:rPr lang="en-US" altLang="en-US" sz="900" dirty="0">
                <a:solidFill>
                  <a:srgbClr val="3A3A3A"/>
                </a:solidFill>
                <a:latin typeface="微软雅黑" panose="020B0503020204020204" charset="-122"/>
                <a:ea typeface="微软雅黑" panose="020B0503020204020204" charset="-122"/>
                <a:cs typeface="微软雅黑" panose="020B0503020204020204" charset="-122"/>
              </a:rPr>
              <a:t>→</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最终回答</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的完整推理路径，破解</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 AI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黑盒</a:t>
            </a:r>
            <a:endParaRPr lang="zh-CN" altLang="en-US" sz="900" dirty="0">
              <a:solidFill>
                <a:srgbClr val="3A3A3A"/>
              </a:solidFill>
              <a:latin typeface="微软雅黑" panose="020B0503020204020204" charset="-122"/>
              <a:ea typeface="微软雅黑" panose="020B0503020204020204" charset="-122"/>
              <a:cs typeface="微软雅黑" panose="020B0503020204020204" charset="-122"/>
            </a:endParaRPr>
          </a:p>
        </p:txBody>
      </p:sp>
      <p:sp>
        <p:nvSpPr>
          <p:cNvPr id="62" name="Shape 60"/>
          <p:cNvSpPr/>
          <p:nvPr/>
        </p:nvSpPr>
        <p:spPr>
          <a:xfrm>
            <a:off x="130175" y="5471795"/>
            <a:ext cx="146050" cy="182880"/>
          </a:xfrm>
          <a:prstGeom prst="rect">
            <a:avLst/>
          </a:prstGeom>
        </p:spPr>
        <p:style>
          <a:lnRef idx="0">
            <a:srgbClr val="FFFFFF"/>
          </a:lnRef>
          <a:fillRef idx="1">
            <a:schemeClr val="accent1"/>
          </a:fillRef>
          <a:effectRef idx="0">
            <a:srgbClr val="FFFFFF"/>
          </a:effectRef>
          <a:fontRef idx="minor">
            <a:schemeClr val="lt1"/>
          </a:fontRef>
        </p:style>
      </p:sp>
      <p:sp>
        <p:nvSpPr>
          <p:cNvPr id="63" name="Text 61"/>
          <p:cNvSpPr/>
          <p:nvPr/>
        </p:nvSpPr>
        <p:spPr>
          <a:xfrm>
            <a:off x="313055" y="5443855"/>
            <a:ext cx="2743200" cy="274320"/>
          </a:xfrm>
          <a:prstGeom prst="rect">
            <a:avLst/>
          </a:prstGeom>
          <a:noFill/>
        </p:spPr>
        <p:txBody>
          <a:bodyPr wrap="square" lIns="0" tIns="0" rIns="0" bIns="0" rtlCol="0" anchor="ctr"/>
          <a:lstStyle/>
          <a:p>
            <a:pPr marL="0" indent="0" algn="l">
              <a:buNone/>
            </a:pPr>
            <a:r>
              <a:rPr lang="en-US" sz="1600" b="1" dirty="0">
                <a:solidFill>
                  <a:srgbClr val="305087"/>
                </a:solidFill>
                <a:latin typeface="微软雅黑" panose="020B0503020204020204" charset="-122"/>
                <a:ea typeface="微软雅黑" panose="020B0503020204020204" charset="-122"/>
                <a:cs typeface="Calibri" panose="020F0502020204030204" pitchFamily="34" charset="-120"/>
              </a:rPr>
              <a:t>核心技术点</a:t>
            </a:r>
            <a:endParaRPr lang="en-US" sz="1600" b="1" dirty="0">
              <a:solidFill>
                <a:srgbClr val="305087"/>
              </a:solidFill>
              <a:latin typeface="微软雅黑" panose="020B0503020204020204" charset="-122"/>
              <a:ea typeface="微软雅黑" panose="020B0503020204020204" charset="-122"/>
              <a:cs typeface="Calibri" panose="020F0502020204030204" pitchFamily="34" charset="-120"/>
            </a:endParaRPr>
          </a:p>
        </p:txBody>
      </p:sp>
      <p:sp>
        <p:nvSpPr>
          <p:cNvPr id="86" name="Text 4"/>
          <p:cNvSpPr/>
          <p:nvPr/>
        </p:nvSpPr>
        <p:spPr>
          <a:xfrm>
            <a:off x="2232025" y="1722755"/>
            <a:ext cx="1927225" cy="3072130"/>
          </a:xfrm>
          <a:prstGeom prst="roundRect">
            <a:avLst>
              <a:gd name="adj" fmla="val 3587"/>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87" name="Text 5"/>
          <p:cNvSpPr/>
          <p:nvPr/>
        </p:nvSpPr>
        <p:spPr>
          <a:xfrm>
            <a:off x="4721860" y="3092450"/>
            <a:ext cx="1927225" cy="1132840"/>
          </a:xfrm>
          <a:prstGeom prst="roundRect">
            <a:avLst>
              <a:gd name="adj" fmla="val 5195"/>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88" name="Text 6"/>
          <p:cNvSpPr/>
          <p:nvPr/>
        </p:nvSpPr>
        <p:spPr>
          <a:xfrm>
            <a:off x="7244080" y="2025650"/>
            <a:ext cx="2013585" cy="2456815"/>
          </a:xfrm>
          <a:prstGeom prst="roundRect">
            <a:avLst>
              <a:gd name="adj" fmla="val 3433"/>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89" name="Text 7"/>
          <p:cNvSpPr/>
          <p:nvPr/>
        </p:nvSpPr>
        <p:spPr>
          <a:xfrm>
            <a:off x="9664065" y="1657985"/>
            <a:ext cx="1927225" cy="2037715"/>
          </a:xfrm>
          <a:prstGeom prst="roundRect">
            <a:avLst>
              <a:gd name="adj" fmla="val 3587"/>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90" name="Text 8"/>
          <p:cNvSpPr/>
          <p:nvPr/>
        </p:nvSpPr>
        <p:spPr>
          <a:xfrm>
            <a:off x="2232025" y="1778000"/>
            <a:ext cx="1926590" cy="154940"/>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charset="-122"/>
              </a:rPr>
              <a:t>全链路埋点</a:t>
            </a:r>
            <a:endParaRPr lang="en-US" sz="930" b="1" kern="0" spc="56" dirty="0">
              <a:solidFill>
                <a:srgbClr val="666666"/>
              </a:solidFill>
              <a:latin typeface="微软雅黑" panose="020B0503020204020204" charset="-122"/>
              <a:ea typeface="微软雅黑" panose="020B0503020204020204" charset="-122"/>
              <a:cs typeface="微软雅黑" panose="020B0503020204020204" charset="-122"/>
            </a:endParaRPr>
          </a:p>
        </p:txBody>
      </p:sp>
      <p:sp>
        <p:nvSpPr>
          <p:cNvPr id="91" name="Text 9"/>
          <p:cNvSpPr/>
          <p:nvPr/>
        </p:nvSpPr>
        <p:spPr>
          <a:xfrm>
            <a:off x="4474845" y="3147695"/>
            <a:ext cx="2626995" cy="154940"/>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charset="-122"/>
              </a:rPr>
              <a:t>Trace 聚合层</a:t>
            </a:r>
            <a:endParaRPr lang="en-US" sz="930" b="1" kern="0" spc="56" dirty="0">
              <a:solidFill>
                <a:srgbClr val="666666"/>
              </a:solidFill>
              <a:latin typeface="微软雅黑" panose="020B0503020204020204" charset="-122"/>
              <a:ea typeface="微软雅黑" panose="020B0503020204020204" charset="-122"/>
              <a:cs typeface="微软雅黑" panose="020B0503020204020204" charset="-122"/>
            </a:endParaRPr>
          </a:p>
        </p:txBody>
      </p:sp>
      <p:sp>
        <p:nvSpPr>
          <p:cNvPr id="92" name="Text 10"/>
          <p:cNvSpPr/>
          <p:nvPr/>
        </p:nvSpPr>
        <p:spPr>
          <a:xfrm>
            <a:off x="6878955" y="2080895"/>
            <a:ext cx="2743835" cy="154940"/>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rPr>
              <a:t>审计存储与实时分析</a:t>
            </a:r>
            <a:endPar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sp>
        <p:nvSpPr>
          <p:cNvPr id="93" name="Text 11"/>
          <p:cNvSpPr/>
          <p:nvPr/>
        </p:nvSpPr>
        <p:spPr>
          <a:xfrm>
            <a:off x="9808210" y="1713230"/>
            <a:ext cx="1445895" cy="154940"/>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rPr>
              <a:t>可视化与告警输出</a:t>
            </a:r>
            <a:endPar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sp>
        <p:nvSpPr>
          <p:cNvPr id="95" name="Text 12"/>
          <p:cNvSpPr/>
          <p:nvPr/>
        </p:nvSpPr>
        <p:spPr>
          <a:xfrm>
            <a:off x="347980" y="2983230"/>
            <a:ext cx="1374140" cy="507365"/>
          </a:xfrm>
          <a:prstGeom prst="rect">
            <a:avLst/>
          </a:prstGeom>
          <a:solidFill>
            <a:srgbClr val="F8CECC"/>
          </a:solidFill>
          <a:ln w="7144">
            <a:solidFill>
              <a:schemeClr val="bg1">
                <a:lumMod val="65000"/>
              </a:schemeClr>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96" name="Text 13"/>
          <p:cNvSpPr/>
          <p:nvPr/>
        </p:nvSpPr>
        <p:spPr>
          <a:xfrm>
            <a:off x="425450" y="3234055"/>
            <a:ext cx="1220470" cy="144145"/>
          </a:xfrm>
          <a:prstGeom prst="rect">
            <a:avLst/>
          </a:prstGeom>
          <a:noFill/>
        </p:spPr>
        <p:txBody>
          <a:bodyPr wrap="none" lIns="0" tIns="0" rIns="0" bIns="0" rtlCol="0" anchor="t"/>
          <a:lstStyle/>
          <a:p>
            <a:pPr marL="0" indent="0" algn="ctr">
              <a:lnSpc>
                <a:spcPts val="1025"/>
              </a:lnSpc>
              <a:buNone/>
            </a:pPr>
            <a:r>
              <a:rPr lang="en-US" sz="930" b="1" kern="0" spc="17" dirty="0">
                <a:solidFill>
                  <a:srgbClr val="1A1A1A"/>
                </a:solidFill>
                <a:latin typeface="微软雅黑" panose="020B0503020204020204" charset="-122"/>
                <a:ea typeface="微软雅黑" panose="020B0503020204020204" charset="-122"/>
                <a:cs typeface="微软雅黑" panose="020B0503020204020204" charset="-122"/>
              </a:rPr>
              <a:t>用户提问 / 业务调用</a:t>
            </a:r>
            <a:endParaRPr 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97" name="Text 14"/>
          <p:cNvSpPr/>
          <p:nvPr/>
        </p:nvSpPr>
        <p:spPr>
          <a:xfrm>
            <a:off x="2335530" y="2016760"/>
            <a:ext cx="1719580" cy="433705"/>
          </a:xfrm>
          <a:prstGeom prst="roundRect">
            <a:avLst>
              <a:gd name="adj" fmla="val 18079"/>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98" name="Text 15"/>
          <p:cNvSpPr/>
          <p:nvPr/>
        </p:nvSpPr>
        <p:spPr>
          <a:xfrm>
            <a:off x="2556510" y="2158365"/>
            <a:ext cx="1277620" cy="142240"/>
          </a:xfrm>
          <a:prstGeom prst="rect">
            <a:avLst/>
          </a:prstGeom>
          <a:noFill/>
        </p:spPr>
        <p:txBody>
          <a:bodyPr wrap="none" lIns="0" tIns="0" rIns="0" bIns="0" rtlCol="0" anchor="t">
            <a:normAutofit/>
          </a:bodyPr>
          <a:lstStyle/>
          <a:p>
            <a:pPr marL="0" indent="0" algn="ctr">
              <a:lnSpc>
                <a:spcPts val="1025"/>
              </a:lnSpc>
              <a:buNone/>
            </a:pPr>
            <a:r>
              <a:rPr lang="en-US" sz="930" b="1" kern="0" spc="17" dirty="0">
                <a:solidFill>
                  <a:srgbClr val="1A1A1A"/>
                </a:solidFill>
                <a:latin typeface="微软雅黑" panose="020B0503020204020204" charset="-122"/>
                <a:ea typeface="微软雅黑" panose="020B0503020204020204" charset="-122"/>
                <a:cs typeface="微软雅黑" panose="020B0503020204020204" charset="-122"/>
              </a:rPr>
              <a:t>意图解析 / Skill 匹配</a:t>
            </a:r>
            <a:endParaRPr 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105" name="Text 22"/>
          <p:cNvSpPr/>
          <p:nvPr/>
        </p:nvSpPr>
        <p:spPr>
          <a:xfrm>
            <a:off x="2335530" y="3445510"/>
            <a:ext cx="1719580" cy="433705"/>
          </a:xfrm>
          <a:prstGeom prst="roundRect">
            <a:avLst>
              <a:gd name="adj" fmla="val 18079"/>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06" name="Text 23"/>
          <p:cNvSpPr/>
          <p:nvPr/>
        </p:nvSpPr>
        <p:spPr>
          <a:xfrm>
            <a:off x="2745740" y="3618865"/>
            <a:ext cx="899160" cy="142240"/>
          </a:xfrm>
          <a:prstGeom prst="rect">
            <a:avLst/>
          </a:prstGeom>
          <a:noFill/>
        </p:spPr>
        <p:txBody>
          <a:bodyPr wrap="none" lIns="0" tIns="0" rIns="0" bIns="0" rtlCol="0" anchor="t">
            <a:normAutofit/>
          </a:bodyPr>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专题知识图谱</a:t>
            </a:r>
            <a:r>
              <a:rPr lang="en-US" altLang="zh-CN"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a:t>
            </a: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向量知识库</a:t>
            </a:r>
            <a:r>
              <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执行</a:t>
            </a:r>
            <a:endPar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109" name="Text 26"/>
          <p:cNvSpPr/>
          <p:nvPr/>
        </p:nvSpPr>
        <p:spPr>
          <a:xfrm>
            <a:off x="2335530" y="4223385"/>
            <a:ext cx="1719580" cy="433705"/>
          </a:xfrm>
          <a:prstGeom prst="roundRect">
            <a:avLst>
              <a:gd name="adj" fmla="val 18079"/>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10" name="Text 27"/>
          <p:cNvSpPr/>
          <p:nvPr/>
        </p:nvSpPr>
        <p:spPr>
          <a:xfrm>
            <a:off x="2735580" y="4364355"/>
            <a:ext cx="919480" cy="142240"/>
          </a:xfrm>
          <a:prstGeom prst="rect">
            <a:avLst/>
          </a:prstGeom>
          <a:noFill/>
        </p:spPr>
        <p:txBody>
          <a:bodyPr wrap="none" lIns="0" tIns="0" rIns="0" bIns="0" rtlCol="0" anchor="t">
            <a:normAutofit/>
          </a:bodyPr>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具体内容召回</a:t>
            </a:r>
            <a:endPar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117" name="Text 34"/>
          <p:cNvSpPr/>
          <p:nvPr/>
        </p:nvSpPr>
        <p:spPr>
          <a:xfrm>
            <a:off x="4825365" y="3423920"/>
            <a:ext cx="1719580" cy="581025"/>
          </a:xfrm>
          <a:prstGeom prst="roundRect">
            <a:avLst>
              <a:gd name="adj" fmla="val 13502"/>
            </a:avLst>
          </a:prstGeom>
          <a:solidFill>
            <a:srgbClr val="E1D5E7"/>
          </a:solidFill>
          <a:ln w="7144">
            <a:solidFill>
              <a:srgbClr val="9673A6"/>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18" name="Text 35"/>
          <p:cNvSpPr/>
          <p:nvPr/>
        </p:nvSpPr>
        <p:spPr>
          <a:xfrm>
            <a:off x="5118735" y="3525520"/>
            <a:ext cx="1134110" cy="127635"/>
          </a:xfrm>
          <a:prstGeom prst="rect">
            <a:avLst/>
          </a:prstGeom>
          <a:noFill/>
        </p:spPr>
        <p:txBody>
          <a:bodyPr wrap="none" lIns="0" tIns="0" rIns="0" bIns="0" rtlCol="0" anchor="t"/>
          <a:lstStyle/>
          <a:p>
            <a:pPr marL="0" indent="0" algn="ctr">
              <a:lnSpc>
                <a:spcPts val="1025"/>
              </a:lnSpc>
              <a:buNone/>
            </a:pPr>
            <a:r>
              <a:rPr lang="en-US" sz="930" b="1" kern="0" spc="17" dirty="0">
                <a:solidFill>
                  <a:srgbClr val="1A1A1A"/>
                </a:solidFill>
                <a:latin typeface="微软雅黑" panose="020B0503020204020204" charset="-122"/>
                <a:ea typeface="微软雅黑" panose="020B0503020204020204" charset="-122"/>
                <a:cs typeface="微软雅黑" panose="020B0503020204020204" charset="-122"/>
              </a:rPr>
              <a:t>统一 Trace 采集器</a:t>
            </a:r>
            <a:endParaRPr 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119" name="Text 36"/>
          <p:cNvSpPr/>
          <p:nvPr/>
        </p:nvSpPr>
        <p:spPr>
          <a:xfrm>
            <a:off x="5026025" y="3696335"/>
            <a:ext cx="1301115" cy="236220"/>
          </a:xfrm>
          <a:prstGeom prst="rect">
            <a:avLst/>
          </a:prstGeom>
          <a:noFill/>
        </p:spPr>
        <p:txBody>
          <a:bodyPr wrap="square" lIns="0" tIns="0" rIns="0" bIns="0" rtlCol="0" anchor="t"/>
          <a:lstStyle/>
          <a:p>
            <a:pPr marL="0" indent="0" algn="ctr">
              <a:lnSpc>
                <a:spcPct val="100000"/>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rPr>
              <a:t>trace_id 贯穿全链路</a:t>
            </a:r>
            <a:endParaRPr 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120" name="Text 37"/>
          <p:cNvSpPr/>
          <p:nvPr/>
        </p:nvSpPr>
        <p:spPr>
          <a:xfrm>
            <a:off x="7298055" y="2357120"/>
            <a:ext cx="1806575" cy="691515"/>
          </a:xfrm>
          <a:prstGeom prst="roundRect">
            <a:avLst>
              <a:gd name="adj" fmla="val 25532"/>
            </a:avLst>
          </a:prstGeom>
          <a:solidFill>
            <a:srgbClr val="D5E8D4"/>
          </a:solidFill>
          <a:ln w="7144">
            <a:solidFill>
              <a:srgbClr val="82B366"/>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21" name="Text 38"/>
          <p:cNvSpPr/>
          <p:nvPr/>
        </p:nvSpPr>
        <p:spPr>
          <a:xfrm>
            <a:off x="7468235" y="2472055"/>
            <a:ext cx="1357630" cy="127635"/>
          </a:xfrm>
          <a:prstGeom prst="rect">
            <a:avLst/>
          </a:prstGeom>
          <a:noFill/>
        </p:spPr>
        <p:txBody>
          <a:bodyPr wrap="none" lIns="0" tIns="0" rIns="0" bIns="0" rtlCol="0" anchor="t"/>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rPr>
              <a:t>全链路日志表</a:t>
            </a:r>
            <a:endPar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122" name="Text 39"/>
          <p:cNvSpPr/>
          <p:nvPr/>
        </p:nvSpPr>
        <p:spPr>
          <a:xfrm>
            <a:off x="7513320" y="2664460"/>
            <a:ext cx="1365885" cy="250825"/>
          </a:xfrm>
          <a:prstGeom prst="rect">
            <a:avLst/>
          </a:prstGeom>
          <a:noFill/>
        </p:spPr>
        <p:txBody>
          <a:bodyPr wrap="square" lIns="0" tIns="0" rIns="0" bIns="0" rtlCol="0" anchor="t"/>
          <a:lstStyle/>
          <a:p>
            <a:pPr marL="0" indent="0" algn="ctr">
              <a:lnSpc>
                <a:spcPct val="100000"/>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rPr>
              <a:t>调用人 / 时间 / 命中节点 / 生成记录</a:t>
            </a:r>
            <a:endParaRPr 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123" name="Text 40"/>
          <p:cNvSpPr/>
          <p:nvPr/>
        </p:nvSpPr>
        <p:spPr>
          <a:xfrm>
            <a:off x="7388225" y="3669665"/>
            <a:ext cx="1662430" cy="581025"/>
          </a:xfrm>
          <a:prstGeom prst="roundRect">
            <a:avLst>
              <a:gd name="adj" fmla="val 13502"/>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24" name="Text 41"/>
          <p:cNvSpPr/>
          <p:nvPr/>
        </p:nvSpPr>
        <p:spPr>
          <a:xfrm>
            <a:off x="7829550" y="3771265"/>
            <a:ext cx="899160" cy="127635"/>
          </a:xfrm>
          <a:prstGeom prst="rect">
            <a:avLst/>
          </a:prstGeom>
          <a:noFill/>
        </p:spPr>
        <p:txBody>
          <a:bodyPr wrap="none" lIns="0" tIns="0" rIns="0" bIns="0" rtlCol="0" anchor="t"/>
          <a:lstStyle/>
          <a:p>
            <a:pPr marL="0" indent="0" algn="ctr">
              <a:lnSpc>
                <a:spcPts val="1025"/>
              </a:lnSpc>
              <a:buNone/>
            </a:pPr>
            <a:r>
              <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实时规则引擎</a:t>
            </a:r>
            <a:endPar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125" name="Text 42"/>
          <p:cNvSpPr/>
          <p:nvPr/>
        </p:nvSpPr>
        <p:spPr>
          <a:xfrm>
            <a:off x="7581265" y="3932555"/>
            <a:ext cx="1357630" cy="283210"/>
          </a:xfrm>
          <a:prstGeom prst="rect">
            <a:avLst/>
          </a:prstGeom>
          <a:noFill/>
        </p:spPr>
        <p:txBody>
          <a:bodyPr wrap="square" lIns="0" tIns="0" rIns="0" bIns="0" rtlCol="0" anchor="t"/>
          <a:lstStyle/>
          <a:p>
            <a:pPr marL="0" indent="0" algn="ctr">
              <a:lnSpc>
                <a:spcPct val="100000"/>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rPr>
              <a:t>Flink / Kafka Streams</a:t>
            </a:r>
            <a:endParaRPr lang="en-US" sz="900" dirty="0">
              <a:latin typeface="微软雅黑" panose="020B0503020204020204" charset="-122"/>
              <a:ea typeface="微软雅黑" panose="020B0503020204020204" charset="-122"/>
              <a:cs typeface="微软雅黑" panose="020B0503020204020204" charset="-122"/>
            </a:endParaRPr>
          </a:p>
          <a:p>
            <a:pPr marL="0" indent="0" algn="ctr">
              <a:lnSpc>
                <a:spcPct val="100000"/>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rPr>
              <a:t>异常模式检测</a:t>
            </a:r>
            <a:endParaRPr 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126" name="Text 43"/>
          <p:cNvSpPr/>
          <p:nvPr/>
        </p:nvSpPr>
        <p:spPr>
          <a:xfrm>
            <a:off x="9700260" y="1951990"/>
            <a:ext cx="1719580" cy="50736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27" name="Text 44"/>
          <p:cNvSpPr/>
          <p:nvPr/>
        </p:nvSpPr>
        <p:spPr>
          <a:xfrm>
            <a:off x="10110470" y="2075815"/>
            <a:ext cx="899160" cy="127635"/>
          </a:xfrm>
          <a:prstGeom prst="rect">
            <a:avLst/>
          </a:prstGeom>
          <a:noFill/>
        </p:spPr>
        <p:txBody>
          <a:bodyPr wrap="none" lIns="0" tIns="0" rIns="0" bIns="0" rtlCol="0" anchor="t"/>
          <a:lstStyle/>
          <a:p>
            <a:pPr marL="0" indent="0" algn="ctr">
              <a:lnSpc>
                <a:spcPts val="1025"/>
              </a:lnSpc>
              <a:buNone/>
            </a:pPr>
            <a:r>
              <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可视化溯源图</a:t>
            </a:r>
            <a:endPar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128" name="Text 45"/>
          <p:cNvSpPr/>
          <p:nvPr/>
        </p:nvSpPr>
        <p:spPr>
          <a:xfrm>
            <a:off x="10003155" y="2231390"/>
            <a:ext cx="1113790" cy="133350"/>
          </a:xfrm>
          <a:prstGeom prst="rect">
            <a:avLst/>
          </a:prstGeom>
          <a:noFill/>
        </p:spPr>
        <p:txBody>
          <a:bodyPr wrap="none" lIns="0" tIns="0" rIns="0" bIns="0" rtlCol="0" anchor="t"/>
          <a:lstStyle/>
          <a:p>
            <a:pPr marL="0" indent="0" algn="ctr">
              <a:lnSpc>
                <a:spcPts val="795"/>
              </a:lnSpc>
              <a:buNone/>
            </a:pPr>
            <a:r>
              <a:rPr lang="en-US" sz="900" dirty="0">
                <a:solidFill>
                  <a:srgbClr val="555555"/>
                </a:solidFill>
                <a:latin typeface="微软雅黑" panose="020B0503020204020204" charset="-122"/>
                <a:ea typeface="微软雅黑" panose="020B0503020204020204" charset="-122"/>
                <a:cs typeface="微软雅黑" panose="020B0503020204020204" pitchFamily="34" charset="-120"/>
              </a:rPr>
              <a:t>问答推理路径逐层下钻</a:t>
            </a:r>
            <a:endParaRPr lang="en-US" sz="900" dirty="0">
              <a:solidFill>
                <a:srgbClr val="555555"/>
              </a:solidFill>
              <a:latin typeface="微软雅黑" panose="020B0503020204020204" charset="-122"/>
              <a:ea typeface="微软雅黑" panose="020B0503020204020204" charset="-122"/>
              <a:cs typeface="微软雅黑" panose="020B0503020204020204" pitchFamily="34" charset="-120"/>
            </a:endParaRPr>
          </a:p>
        </p:txBody>
      </p:sp>
      <p:sp>
        <p:nvSpPr>
          <p:cNvPr id="129" name="Text 46"/>
          <p:cNvSpPr/>
          <p:nvPr/>
        </p:nvSpPr>
        <p:spPr>
          <a:xfrm>
            <a:off x="9700260" y="2687955"/>
            <a:ext cx="1719580" cy="837565"/>
          </a:xfrm>
          <a:prstGeom prst="roundRect">
            <a:avLst>
              <a:gd name="adj" fmla="val 15459"/>
            </a:avLst>
          </a:prstGeom>
          <a:solidFill>
            <a:srgbClr val="F8CECC"/>
          </a:solidFill>
          <a:ln w="7144">
            <a:solidFill>
              <a:srgbClr val="B85450"/>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30" name="Text 47"/>
          <p:cNvSpPr/>
          <p:nvPr/>
        </p:nvSpPr>
        <p:spPr>
          <a:xfrm>
            <a:off x="9881235" y="3048635"/>
            <a:ext cx="1301115" cy="144145"/>
          </a:xfrm>
          <a:prstGeom prst="rect">
            <a:avLst/>
          </a:prstGeom>
          <a:noFill/>
        </p:spPr>
        <p:txBody>
          <a:bodyPr wrap="none" lIns="0" tIns="0" rIns="0" bIns="0" rtlCol="0" anchor="t"/>
          <a:lstStyle/>
          <a:p>
            <a:pPr marL="0" indent="0" algn="ctr">
              <a:lnSpc>
                <a:spcPts val="1025"/>
              </a:lnSpc>
              <a:buNone/>
            </a:pPr>
            <a:r>
              <a:rPr lang="en-US" sz="930" b="1" kern="0" spc="17" dirty="0">
                <a:solidFill>
                  <a:srgbClr val="1A1A1A"/>
                </a:solidFill>
                <a:latin typeface="微软雅黑" panose="020B0503020204020204" charset="-122"/>
                <a:ea typeface="微软雅黑" panose="020B0503020204020204" charset="-122"/>
                <a:cs typeface="微软雅黑" panose="020B0503020204020204" charset="-122"/>
              </a:rPr>
              <a:t>实时告警 / 运营监控台</a:t>
            </a:r>
            <a:endParaRPr 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140" name="Text 67"/>
          <p:cNvSpPr/>
          <p:nvPr/>
        </p:nvSpPr>
        <p:spPr>
          <a:xfrm>
            <a:off x="1754505" y="3351530"/>
            <a:ext cx="311150" cy="150495"/>
          </a:xfrm>
          <a:prstGeom prst="rect">
            <a:avLst/>
          </a:prstGeom>
          <a:noFill/>
        </p:spPr>
        <p:txBody>
          <a:bodyPr wrap="none" lIns="0" tIns="0" rIns="0" bIns="0" rtlCol="0" anchor="ctr"/>
          <a:lstStyle/>
          <a:p>
            <a:pPr marL="0" indent="0" algn="ctr">
              <a:lnSpc>
                <a:spcPts val="930"/>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请求</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142" name="Text 69"/>
          <p:cNvSpPr/>
          <p:nvPr/>
        </p:nvSpPr>
        <p:spPr>
          <a:xfrm>
            <a:off x="4508500" y="2203450"/>
            <a:ext cx="517525" cy="150495"/>
          </a:xfrm>
          <a:prstGeom prst="rect">
            <a:avLst/>
          </a:prstGeom>
          <a:noFill/>
        </p:spPr>
        <p:txBody>
          <a:bodyPr wrap="none" lIns="0" tIns="0" rIns="0" bIns="0" rtlCol="0" anchor="ctr"/>
          <a:lstStyle/>
          <a:p>
            <a:pPr marL="0" indent="0" algn="ctr">
              <a:lnSpc>
                <a:spcPts val="930"/>
              </a:lnSpc>
              <a:buNone/>
            </a:pPr>
            <a:r>
              <a:rPr lang="zh-CN" altLang="en-US" sz="900" dirty="0">
                <a:solidFill>
                  <a:srgbClr val="4A5568"/>
                </a:solidFill>
                <a:latin typeface="微软雅黑" panose="020B0503020204020204" charset="-122"/>
                <a:ea typeface="微软雅黑" panose="020B0503020204020204" charset="-122"/>
                <a:cs typeface="微软雅黑" panose="020B0503020204020204" charset="-122"/>
              </a:rPr>
              <a:t>信息</a:t>
            </a:r>
            <a:r>
              <a:rPr lang="en-US" sz="900" dirty="0">
                <a:solidFill>
                  <a:srgbClr val="4A5568"/>
                </a:solidFill>
                <a:latin typeface="微软雅黑" panose="020B0503020204020204" charset="-122"/>
                <a:ea typeface="微软雅黑" panose="020B0503020204020204" charset="-122"/>
                <a:cs typeface="微软雅黑" panose="020B0503020204020204" charset="-122"/>
              </a:rPr>
              <a:t>上报</a:t>
            </a:r>
            <a:endParaRPr lang="en-US" sz="900" dirty="0">
              <a:solidFill>
                <a:srgbClr val="4A5568"/>
              </a:solidFill>
              <a:latin typeface="微软雅黑" panose="020B0503020204020204" charset="-122"/>
              <a:ea typeface="微软雅黑" panose="020B0503020204020204" charset="-122"/>
              <a:cs typeface="微软雅黑" panose="020B0503020204020204" charset="-122"/>
            </a:endParaRPr>
          </a:p>
        </p:txBody>
      </p:sp>
      <p:sp>
        <p:nvSpPr>
          <p:cNvPr id="144" name="Text 71"/>
          <p:cNvSpPr/>
          <p:nvPr/>
        </p:nvSpPr>
        <p:spPr>
          <a:xfrm>
            <a:off x="6589395" y="2364740"/>
            <a:ext cx="512445" cy="145415"/>
          </a:xfrm>
          <a:prstGeom prst="rect">
            <a:avLst/>
          </a:prstGeom>
          <a:noFill/>
        </p:spPr>
        <p:txBody>
          <a:bodyPr wrap="none" lIns="0" tIns="0" rIns="0" bIns="0" rtlCol="0" anchor="ctr"/>
          <a:lstStyle/>
          <a:p>
            <a:pPr marL="0" indent="0" algn="ctr">
              <a:lnSpc>
                <a:spcPts val="885"/>
              </a:lnSpc>
              <a:buNone/>
            </a:pPr>
            <a:r>
              <a:rPr lang="en-US" sz="900" dirty="0">
                <a:solidFill>
                  <a:srgbClr val="4A5568"/>
                </a:solidFill>
                <a:latin typeface="微软雅黑" panose="020B0503020204020204" charset="-122"/>
                <a:ea typeface="微软雅黑" panose="020B0503020204020204" charset="-122"/>
                <a:cs typeface="微软雅黑" panose="020B0503020204020204" charset="-122"/>
              </a:rPr>
              <a:t>trace聚合</a:t>
            </a:r>
            <a:endParaRPr lang="en-US" sz="900" dirty="0">
              <a:solidFill>
                <a:srgbClr val="4A5568"/>
              </a:solidFill>
              <a:latin typeface="微软雅黑" panose="020B0503020204020204" charset="-122"/>
              <a:ea typeface="微软雅黑" panose="020B0503020204020204" charset="-122"/>
              <a:cs typeface="微软雅黑" panose="020B0503020204020204" charset="-122"/>
            </a:endParaRPr>
          </a:p>
        </p:txBody>
      </p:sp>
      <p:sp>
        <p:nvSpPr>
          <p:cNvPr id="146" name="Text 73"/>
          <p:cNvSpPr/>
          <p:nvPr/>
        </p:nvSpPr>
        <p:spPr>
          <a:xfrm>
            <a:off x="8324850" y="3192780"/>
            <a:ext cx="501015" cy="145415"/>
          </a:xfrm>
          <a:prstGeom prst="rect">
            <a:avLst/>
          </a:prstGeom>
          <a:noFill/>
        </p:spPr>
        <p:txBody>
          <a:bodyPr wrap="none" lIns="0" tIns="0" rIns="0" bIns="0" rtlCol="0" anchor="ctr"/>
          <a:lstStyle/>
          <a:p>
            <a:pPr marL="0" indent="0" algn="ctr">
              <a:lnSpc>
                <a:spcPts val="885"/>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推送事件</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148" name="Text 75"/>
          <p:cNvSpPr/>
          <p:nvPr/>
        </p:nvSpPr>
        <p:spPr>
          <a:xfrm>
            <a:off x="9121775" y="2023745"/>
            <a:ext cx="501015" cy="145415"/>
          </a:xfrm>
          <a:prstGeom prst="rect">
            <a:avLst/>
          </a:prstGeom>
          <a:noFill/>
        </p:spPr>
        <p:txBody>
          <a:bodyPr wrap="none" lIns="0" tIns="0" rIns="0" bIns="0" rtlCol="0" anchor="ctr"/>
          <a:lstStyle/>
          <a:p>
            <a:pPr marL="0" indent="0" algn="ctr">
              <a:lnSpc>
                <a:spcPts val="885"/>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溯源视图</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152" name="Text 79"/>
          <p:cNvSpPr/>
          <p:nvPr/>
        </p:nvSpPr>
        <p:spPr>
          <a:xfrm>
            <a:off x="9163050" y="3469640"/>
            <a:ext cx="501015" cy="145415"/>
          </a:xfrm>
          <a:prstGeom prst="rect">
            <a:avLst/>
          </a:prstGeom>
          <a:noFill/>
        </p:spPr>
        <p:txBody>
          <a:bodyPr wrap="none" lIns="0" tIns="0" rIns="0" bIns="0" rtlCol="0" anchor="ctr"/>
          <a:lstStyle/>
          <a:p>
            <a:pPr marL="0" indent="0" algn="ctr">
              <a:lnSpc>
                <a:spcPts val="885"/>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告警事件</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3" name="Shape 14"/>
          <p:cNvSpPr/>
          <p:nvPr/>
        </p:nvSpPr>
        <p:spPr>
          <a:xfrm>
            <a:off x="321945" y="1036320"/>
            <a:ext cx="1188720" cy="320040"/>
          </a:xfrm>
          <a:prstGeom prst="roundRect">
            <a:avLst>
              <a:gd name="adj" fmla="val 14286"/>
            </a:avLst>
          </a:prstGeom>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600" b="1">
                <a:solidFill>
                  <a:schemeClr val="bg1"/>
                </a:solidFill>
                <a:latin typeface="微软雅黑" panose="020B0503020204020204" charset="-122"/>
                <a:ea typeface="微软雅黑" panose="020B0503020204020204" charset="-122"/>
              </a:rPr>
              <a:t>技术定位</a:t>
            </a:r>
            <a:endParaRPr lang="zh-CN" altLang="en-US" sz="1600" b="1">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6043295" y="4659630"/>
            <a:ext cx="5528310" cy="1783715"/>
          </a:xfrm>
          <a:prstGeom prst="rect">
            <a:avLst/>
          </a:prstGeom>
          <a:noFill/>
        </p:spPr>
        <p:txBody>
          <a:bodyPr wrap="square" rtlCol="0" anchor="t">
            <a:spAutoFit/>
          </a:bodyPr>
          <a:lstStyle/>
          <a:p>
            <a:r>
              <a:rPr lang="zh-CN" altLang="en-US" sz="1000">
                <a:latin typeface="微软雅黑" panose="020B0503020204020204" charset="-122"/>
                <a:ea typeface="微软雅黑" panose="020B0503020204020204" charset="-122"/>
                <a:cs typeface="微软雅黑" panose="020B0503020204020204" charset="-122"/>
              </a:rPr>
              <a:t>  - 记录请求接收、计划生成、工具调用、文件或网络操作、验证结果和最终答复等关键事件。</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记录可观察的行动与结果，记录检索思维链的结果信息。</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使用 </a:t>
            </a:r>
            <a:r>
              <a:rPr lang="en-US" altLang="zh-CN" sz="1000">
                <a:latin typeface="微软雅黑" panose="020B0503020204020204" charset="-122"/>
                <a:ea typeface="微软雅黑" panose="020B0503020204020204" charset="-122"/>
                <a:cs typeface="微软雅黑" panose="020B0503020204020204" charset="-122"/>
              </a:rPr>
              <a:t>trace_id、session_id </a:t>
            </a:r>
            <a:r>
              <a:rPr lang="zh-CN" altLang="en-US" sz="1000">
                <a:latin typeface="微软雅黑" panose="020B0503020204020204" charset="-122"/>
                <a:ea typeface="微软雅黑" panose="020B0503020204020204" charset="-122"/>
                <a:cs typeface="微软雅黑" panose="020B0503020204020204" charset="-122"/>
              </a:rPr>
              <a:t>和递增序号串联一次请求的完整执行过程。</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通过前序事件哈希形成哈希链，可检测事件被删除或重新排序。</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自动脱敏密码、</a:t>
            </a:r>
            <a:r>
              <a:rPr lang="en-US" altLang="zh-CN" sz="1000">
                <a:latin typeface="微软雅黑" panose="020B0503020204020204" charset="-122"/>
                <a:ea typeface="微软雅黑" panose="020B0503020204020204" charset="-122"/>
                <a:cs typeface="微软雅黑" panose="020B0503020204020204" charset="-122"/>
              </a:rPr>
              <a:t>Token、Cookie、</a:t>
            </a:r>
            <a:r>
              <a:rPr lang="zh-CN" altLang="en-US" sz="1000">
                <a:latin typeface="微软雅黑" panose="020B0503020204020204" charset="-122"/>
                <a:ea typeface="微软雅黑" panose="020B0503020204020204" charset="-122"/>
                <a:cs typeface="微软雅黑" panose="020B0503020204020204" charset="-122"/>
              </a:rPr>
              <a:t>身份证号、银行卡号等敏感信息。</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使用 </a:t>
            </a:r>
            <a:r>
              <a:rPr lang="en-US" altLang="zh-CN" sz="1000">
                <a:latin typeface="微软雅黑" panose="020B0503020204020204" charset="-122"/>
                <a:ea typeface="微软雅黑" panose="020B0503020204020204" charset="-122"/>
                <a:cs typeface="微软雅黑" panose="020B0503020204020204" charset="-122"/>
              </a:rPr>
              <a:t>API Key </a:t>
            </a:r>
            <a:r>
              <a:rPr lang="zh-CN" altLang="en-US" sz="1000">
                <a:latin typeface="微软雅黑" panose="020B0503020204020204" charset="-122"/>
                <a:ea typeface="微软雅黑" panose="020B0503020204020204" charset="-122"/>
                <a:cs typeface="微软雅黑" panose="020B0503020204020204" charset="-122"/>
              </a:rPr>
              <a:t>和 </a:t>
            </a:r>
            <a:r>
              <a:rPr lang="en-US" altLang="zh-CN" sz="1000">
                <a:latin typeface="微软雅黑" panose="020B0503020204020204" charset="-122"/>
                <a:ea typeface="微软雅黑" panose="020B0503020204020204" charset="-122"/>
                <a:cs typeface="微软雅黑" panose="020B0503020204020204" charset="-122"/>
              </a:rPr>
              <a:t>HMAC-SHA256 </a:t>
            </a:r>
            <a:r>
              <a:rPr lang="zh-CN" altLang="en-US" sz="1000">
                <a:latin typeface="微软雅黑" panose="020B0503020204020204" charset="-122"/>
                <a:ea typeface="微软雅黑" panose="020B0503020204020204" charset="-122"/>
                <a:cs typeface="微软雅黑" panose="020B0503020204020204" charset="-122"/>
              </a:rPr>
              <a:t>对审计请求进行鉴权和签名。</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审计事件通过 </a:t>
            </a:r>
            <a:r>
              <a:rPr lang="en-US" altLang="zh-CN" sz="1000">
                <a:latin typeface="微软雅黑" panose="020B0503020204020204" charset="-122"/>
                <a:ea typeface="微软雅黑" panose="020B0503020204020204" charset="-122"/>
                <a:cs typeface="微软雅黑" panose="020B0503020204020204" charset="-122"/>
              </a:rPr>
              <a:t>HTTP API </a:t>
            </a:r>
            <a:r>
              <a:rPr lang="zh-CN" altLang="en-US" sz="1000">
                <a:latin typeface="微软雅黑" panose="020B0503020204020204" charset="-122"/>
                <a:ea typeface="微软雅黑" panose="020B0503020204020204" charset="-122"/>
                <a:cs typeface="微软雅黑" panose="020B0503020204020204" charset="-122"/>
              </a:rPr>
              <a:t>写入仅追加的 </a:t>
            </a:r>
            <a:r>
              <a:rPr lang="en-US" altLang="zh-CN" sz="1000">
                <a:latin typeface="微软雅黑" panose="020B0503020204020204" charset="-122"/>
                <a:ea typeface="微软雅黑" panose="020B0503020204020204" charset="-122"/>
                <a:cs typeface="微软雅黑" panose="020B0503020204020204" charset="-122"/>
              </a:rPr>
              <a:t>PostgreSQL </a:t>
            </a:r>
            <a:r>
              <a:rPr lang="zh-CN" altLang="en-US" sz="1000">
                <a:latin typeface="微软雅黑" panose="020B0503020204020204" charset="-122"/>
                <a:ea typeface="微软雅黑" panose="020B0503020204020204" charset="-122"/>
                <a:cs typeface="微软雅黑" panose="020B0503020204020204" charset="-122"/>
              </a:rPr>
              <a:t>审计表。</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重复发送同一事件不会产生重复记录。</a:t>
            </a:r>
            <a:endParaRPr lang="zh-CN" altLang="en-US" sz="1000">
              <a:latin typeface="微软雅黑" panose="020B0503020204020204" charset="-122"/>
              <a:ea typeface="微软雅黑" panose="020B0503020204020204" charset="-122"/>
              <a:cs typeface="微软雅黑" panose="020B0503020204020204" charset="-122"/>
            </a:endParaRPr>
          </a:p>
          <a:p>
            <a:r>
              <a:rPr lang="en-US" altLang="zh-CN" sz="1000">
                <a:latin typeface="微软雅黑" panose="020B0503020204020204" charset="-122"/>
                <a:ea typeface="微软雅黑" panose="020B0503020204020204" charset="-122"/>
                <a:cs typeface="微软雅黑" panose="020B0503020204020204" charset="-122"/>
              </a:rPr>
              <a:t>  - API </a:t>
            </a:r>
            <a:r>
              <a:rPr lang="zh-CN" altLang="en-US" sz="1000">
                <a:latin typeface="微软雅黑" panose="020B0503020204020204" charset="-122"/>
                <a:ea typeface="微软雅黑" panose="020B0503020204020204" charset="-122"/>
                <a:cs typeface="微软雅黑" panose="020B0503020204020204" charset="-122"/>
              </a:rPr>
              <a:t>超时、断网或服务异常时继续回答用户，不阻断业务。</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发送失败的事件会进入本地队列，后续自动补发。</a:t>
            </a:r>
            <a:endParaRPr lang="zh-CN" altLang="en-US" sz="1000">
              <a:latin typeface="微软雅黑" panose="020B0503020204020204" charset="-122"/>
              <a:ea typeface="微软雅黑" panose="020B0503020204020204" charset="-122"/>
              <a:cs typeface="微软雅黑" panose="020B0503020204020204" charset="-122"/>
            </a:endParaRPr>
          </a:p>
          <a:p>
            <a:r>
              <a:rPr lang="zh-CN" altLang="en-US" sz="1000">
                <a:latin typeface="微软雅黑" panose="020B0503020204020204" charset="-122"/>
                <a:ea typeface="微软雅黑" panose="020B0503020204020204" charset="-122"/>
                <a:cs typeface="微软雅黑" panose="020B0503020204020204" charset="-122"/>
              </a:rPr>
              <a:t>  - 只允许记录真实发生的行动；未执行的操作不能伪造成功记录。</a:t>
            </a:r>
            <a:endParaRPr lang="zh-CN" altLang="en-US" sz="1000">
              <a:latin typeface="微软雅黑" panose="020B0503020204020204" charset="-122"/>
              <a:ea typeface="微软雅黑" panose="020B0503020204020204" charset="-122"/>
              <a:cs typeface="微软雅黑" panose="020B0503020204020204" charset="-122"/>
            </a:endParaRPr>
          </a:p>
        </p:txBody>
      </p:sp>
      <p:cxnSp>
        <p:nvCxnSpPr>
          <p:cNvPr id="6" name="直接箭头连接符 5"/>
          <p:cNvCxnSpPr>
            <a:stCxn id="95" idx="3"/>
            <a:endCxn id="86" idx="1"/>
          </p:cNvCxnSpPr>
          <p:nvPr/>
        </p:nvCxnSpPr>
        <p:spPr>
          <a:xfrm>
            <a:off x="1722120" y="3237230"/>
            <a:ext cx="509905" cy="21590"/>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7" name="直接箭头连接符 6"/>
          <p:cNvCxnSpPr>
            <a:stCxn id="97" idx="2"/>
            <a:endCxn id="4" idx="0"/>
          </p:cNvCxnSpPr>
          <p:nvPr/>
        </p:nvCxnSpPr>
        <p:spPr>
          <a:xfrm>
            <a:off x="3195320" y="2450465"/>
            <a:ext cx="0" cy="27876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105" idx="2"/>
            <a:endCxn id="109" idx="0"/>
          </p:cNvCxnSpPr>
          <p:nvPr/>
        </p:nvCxnSpPr>
        <p:spPr>
          <a:xfrm>
            <a:off x="3195320" y="3879215"/>
            <a:ext cx="0" cy="344170"/>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14" name="肘形连接符 13"/>
          <p:cNvCxnSpPr>
            <a:stCxn id="105" idx="3"/>
            <a:endCxn id="87" idx="1"/>
          </p:cNvCxnSpPr>
          <p:nvPr/>
        </p:nvCxnSpPr>
        <p:spPr>
          <a:xfrm flipV="1">
            <a:off x="4055110" y="3658870"/>
            <a:ext cx="666750" cy="3810"/>
          </a:xfrm>
          <a:prstGeom prst="bentConnector3">
            <a:avLst>
              <a:gd name="adj1" fmla="val 50000"/>
            </a:avLst>
          </a:prstGeom>
          <a:ln>
            <a:solidFill>
              <a:schemeClr val="tx1">
                <a:lumMod val="65000"/>
                <a:lumOff val="35000"/>
              </a:schemeClr>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16" name="肘形连接符 15"/>
          <p:cNvCxnSpPr>
            <a:stCxn id="109" idx="3"/>
            <a:endCxn id="87" idx="1"/>
          </p:cNvCxnSpPr>
          <p:nvPr/>
        </p:nvCxnSpPr>
        <p:spPr>
          <a:xfrm flipV="1">
            <a:off x="4055110" y="3658870"/>
            <a:ext cx="666750" cy="781685"/>
          </a:xfrm>
          <a:prstGeom prst="bentConnector3">
            <a:avLst>
              <a:gd name="adj1" fmla="val 50000"/>
            </a:avLst>
          </a:prstGeom>
          <a:ln>
            <a:solidFill>
              <a:schemeClr val="tx1">
                <a:lumMod val="65000"/>
                <a:lumOff val="35000"/>
              </a:schemeClr>
            </a:solidFill>
            <a:prstDash val="dash"/>
            <a:tailEnd type="arrow"/>
          </a:ln>
        </p:spPr>
        <p:style>
          <a:lnRef idx="2">
            <a:schemeClr val="accent1"/>
          </a:lnRef>
          <a:fillRef idx="0">
            <a:srgbClr val="FFFFFF"/>
          </a:fillRef>
          <a:effectRef idx="0">
            <a:srgbClr val="FFFFFF"/>
          </a:effectRef>
          <a:fontRef idx="minor">
            <a:schemeClr val="tx1"/>
          </a:fontRef>
        </p:style>
      </p:cxnSp>
      <p:cxnSp>
        <p:nvCxnSpPr>
          <p:cNvPr id="19" name="肘形连接符 18"/>
          <p:cNvCxnSpPr>
            <a:stCxn id="87" idx="3"/>
            <a:endCxn id="120" idx="1"/>
          </p:cNvCxnSpPr>
          <p:nvPr/>
        </p:nvCxnSpPr>
        <p:spPr>
          <a:xfrm flipV="1">
            <a:off x="6649085" y="2703195"/>
            <a:ext cx="648970" cy="955675"/>
          </a:xfrm>
          <a:prstGeom prst="bentConnector3">
            <a:avLst>
              <a:gd name="adj1" fmla="val 50000"/>
            </a:avLst>
          </a:prstGeom>
          <a:ln>
            <a:solidFill>
              <a:schemeClr val="tx1">
                <a:lumMod val="65000"/>
                <a:lumOff val="35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0" name="肘形连接符 19"/>
          <p:cNvCxnSpPr>
            <a:stCxn id="123" idx="3"/>
            <a:endCxn id="129" idx="1"/>
          </p:cNvCxnSpPr>
          <p:nvPr/>
        </p:nvCxnSpPr>
        <p:spPr>
          <a:xfrm flipV="1">
            <a:off x="9050655" y="3107055"/>
            <a:ext cx="649605" cy="853440"/>
          </a:xfrm>
          <a:prstGeom prst="bentConnector3">
            <a:avLst>
              <a:gd name="adj1" fmla="val 50049"/>
            </a:avLst>
          </a:prstGeom>
          <a:ln>
            <a:solidFill>
              <a:schemeClr val="tx1">
                <a:lumMod val="65000"/>
                <a:lumOff val="35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120" idx="2"/>
            <a:endCxn id="123" idx="0"/>
          </p:cNvCxnSpPr>
          <p:nvPr/>
        </p:nvCxnSpPr>
        <p:spPr>
          <a:xfrm>
            <a:off x="8201660" y="3048635"/>
            <a:ext cx="17780" cy="621030"/>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22" name="肘形连接符 21"/>
          <p:cNvCxnSpPr>
            <a:stCxn id="120" idx="3"/>
            <a:endCxn id="126" idx="1"/>
          </p:cNvCxnSpPr>
          <p:nvPr/>
        </p:nvCxnSpPr>
        <p:spPr>
          <a:xfrm flipV="1">
            <a:off x="9104630" y="2205990"/>
            <a:ext cx="595630" cy="497205"/>
          </a:xfrm>
          <a:prstGeom prst="bentConnector3">
            <a:avLst>
              <a:gd name="adj1" fmla="val 50000"/>
            </a:avLst>
          </a:prstGeom>
          <a:ln>
            <a:solidFill>
              <a:schemeClr val="tx1">
                <a:lumMod val="65000"/>
                <a:lumOff val="35000"/>
              </a:schemeClr>
            </a:solidFill>
            <a:prstDash val="solid"/>
            <a:tailEnd type="arrow"/>
          </a:ln>
        </p:spPr>
        <p:style>
          <a:lnRef idx="2">
            <a:schemeClr val="accent1"/>
          </a:lnRef>
          <a:fillRef idx="0">
            <a:srgbClr val="FFFFFF"/>
          </a:fillRef>
          <a:effectRef idx="0">
            <a:srgbClr val="FFFFFF"/>
          </a:effectRef>
          <a:fontRef idx="minor">
            <a:schemeClr val="tx1"/>
          </a:fontRef>
        </p:style>
      </p:cxnSp>
      <p:sp>
        <p:nvSpPr>
          <p:cNvPr id="4" name="Text 14"/>
          <p:cNvSpPr/>
          <p:nvPr/>
        </p:nvSpPr>
        <p:spPr>
          <a:xfrm>
            <a:off x="2335530" y="2729230"/>
            <a:ext cx="1719580" cy="433705"/>
          </a:xfrm>
          <a:prstGeom prst="roundRect">
            <a:avLst>
              <a:gd name="adj" fmla="val 18079"/>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1" name="Text 15"/>
          <p:cNvSpPr/>
          <p:nvPr/>
        </p:nvSpPr>
        <p:spPr>
          <a:xfrm>
            <a:off x="2556510" y="2870835"/>
            <a:ext cx="1277620" cy="142240"/>
          </a:xfrm>
          <a:prstGeom prst="rect">
            <a:avLst/>
          </a:prstGeom>
          <a:noFill/>
        </p:spPr>
        <p:txBody>
          <a:bodyPr wrap="none" lIns="0" tIns="0" rIns="0" bIns="0" rtlCol="0" anchor="t">
            <a:normAutofit/>
          </a:bodyPr>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rPr>
              <a:t>语义检索</a:t>
            </a:r>
            <a:endPar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cxnSp>
        <p:nvCxnSpPr>
          <p:cNvPr id="23" name="直接箭头连接符 22"/>
          <p:cNvCxnSpPr>
            <a:stCxn id="4" idx="2"/>
            <a:endCxn id="105" idx="0"/>
          </p:cNvCxnSpPr>
          <p:nvPr/>
        </p:nvCxnSpPr>
        <p:spPr>
          <a:xfrm>
            <a:off x="3195320" y="3162935"/>
            <a:ext cx="0" cy="28257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59" name="矩形 58"/>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8" name="矩形 7"/>
          <p:cNvSpPr/>
          <p:nvPr/>
        </p:nvSpPr>
        <p:spPr>
          <a:xfrm>
            <a:off x="7966829"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10" name="矩形 9"/>
          <p:cNvSpPr/>
          <p:nvPr/>
        </p:nvSpPr>
        <p:spPr>
          <a:xfrm>
            <a:off x="880693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13" name="矩形 12"/>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可解释</a:t>
            </a:r>
            <a:endParaRPr lang="zh-CN" altLang="en-US" sz="1000">
              <a:latin typeface="微软雅黑" panose="020B0503020204020204" charset="-122"/>
              <a:ea typeface="微软雅黑" panose="020B0503020204020204" charset="-122"/>
            </a:endParaRPr>
          </a:p>
        </p:txBody>
      </p:sp>
      <p:sp>
        <p:nvSpPr>
          <p:cNvPr id="17" name="矩形 16"/>
          <p:cNvSpPr/>
          <p:nvPr/>
        </p:nvSpPr>
        <p:spPr>
          <a:xfrm>
            <a:off x="1048777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2.5.3 可溯源:生成即溯源 · 证据链强绑定 </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圆角矩形 9"/>
          <p:cNvSpPr/>
          <p:nvPr/>
        </p:nvSpPr>
        <p:spPr bwMode="auto">
          <a:xfrm>
            <a:off x="508635" y="906145"/>
            <a:ext cx="10921365" cy="91948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b="1" dirty="0">
                <a:solidFill>
                  <a:srgbClr val="C00000"/>
                </a:solidFill>
                <a:effectLst/>
                <a:latin typeface="微软雅黑" panose="020B0503020204020204" charset="-122"/>
                <a:ea typeface="微软雅黑" panose="020B0503020204020204" charset="-122"/>
              </a:rPr>
              <a:t>所有</a:t>
            </a:r>
            <a:r>
              <a:rPr lang="en-US" altLang="zh-CN" sz="1600" b="1" dirty="0">
                <a:solidFill>
                  <a:srgbClr val="C00000"/>
                </a:solidFill>
                <a:effectLst/>
                <a:latin typeface="微软雅黑" panose="020B0503020204020204" charset="-122"/>
                <a:ea typeface="微软雅黑" panose="020B0503020204020204" charset="-122"/>
              </a:rPr>
              <a:t>AI</a:t>
            </a:r>
            <a:r>
              <a:rPr lang="zh-CN" altLang="en-US" sz="1600" b="1" dirty="0">
                <a:solidFill>
                  <a:srgbClr val="C00000"/>
                </a:solidFill>
                <a:effectLst/>
                <a:latin typeface="微软雅黑" panose="020B0503020204020204" charset="-122"/>
                <a:ea typeface="微软雅黑" panose="020B0503020204020204" charset="-122"/>
              </a:rPr>
              <a:t>生成内容均可精准溯源至原始文档</a:t>
            </a:r>
            <a:r>
              <a:rPr lang="zh-CN" altLang="en-US" sz="1600" dirty="0">
                <a:effectLst/>
                <a:latin typeface="微软雅黑" panose="020B0503020204020204" charset="-122"/>
                <a:ea typeface="微软雅黑" panose="020B0503020204020204" charset="-122"/>
              </a:rPr>
              <a:t>、具体条款、责任部门，</a:t>
            </a:r>
            <a:r>
              <a:rPr lang="zh-CN" altLang="en-US" sz="1600" b="1" dirty="0">
                <a:solidFill>
                  <a:srgbClr val="C00000"/>
                </a:solidFill>
                <a:effectLst/>
                <a:latin typeface="微软雅黑" panose="020B0503020204020204" charset="-122"/>
                <a:ea typeface="微软雅黑" panose="020B0503020204020204" charset="-122"/>
                <a:sym typeface="+mn-ea"/>
              </a:rPr>
              <a:t>实现内容生成有依据</a:t>
            </a:r>
            <a:r>
              <a:rPr lang="en-US" altLang="zh-CN" sz="1600" b="1" dirty="0">
                <a:solidFill>
                  <a:srgbClr val="C00000"/>
                </a:solidFill>
                <a:effectLst/>
                <a:latin typeface="微软雅黑" panose="020B0503020204020204" charset="-122"/>
                <a:ea typeface="微软雅黑" panose="020B0503020204020204" charset="-122"/>
                <a:sym typeface="+mn-ea"/>
              </a:rPr>
              <a:t>、</a:t>
            </a:r>
            <a:r>
              <a:rPr lang="zh-CN" altLang="en-US" sz="1600" b="1" dirty="0">
                <a:solidFill>
                  <a:srgbClr val="C00000"/>
                </a:solidFill>
                <a:effectLst/>
                <a:latin typeface="微软雅黑" panose="020B0503020204020204" charset="-122"/>
                <a:ea typeface="微软雅黑" panose="020B0503020204020204" charset="-122"/>
                <a:sym typeface="+mn-ea"/>
              </a:rPr>
              <a:t>文档引用可追溯</a:t>
            </a:r>
            <a:r>
              <a:rPr lang="zh-CN" altLang="en-US" sz="1600" b="1" dirty="0">
                <a:solidFill>
                  <a:srgbClr val="C00000"/>
                </a:solidFill>
                <a:effectLst/>
                <a:latin typeface="微软雅黑" panose="020B0503020204020204" charset="-122"/>
                <a:ea typeface="微软雅黑" panose="020B0503020204020204" charset="-122"/>
              </a:rPr>
              <a:t>，为金融业务的合规性与可信度提供坚实的技术保障。</a:t>
            </a:r>
            <a:endParaRPr lang="zh-CN" altLang="en-US" sz="1600" b="1" dirty="0">
              <a:solidFill>
                <a:srgbClr val="C00000"/>
              </a:solidFill>
              <a:effectLst/>
              <a:latin typeface="微软雅黑" panose="020B0503020204020204" charset="-122"/>
              <a:ea typeface="微软雅黑" panose="020B0503020204020204" charset="-122"/>
            </a:endParaRPr>
          </a:p>
        </p:txBody>
      </p:sp>
      <p:sp>
        <p:nvSpPr>
          <p:cNvPr id="8" name="AutoShape 8"/>
          <p:cNvSpPr/>
          <p:nvPr/>
        </p:nvSpPr>
        <p:spPr>
          <a:xfrm>
            <a:off x="508000" y="2155190"/>
            <a:ext cx="5588000" cy="558800"/>
          </a:xfrm>
          <a:prstGeom prst="roundRect">
            <a:avLst>
              <a:gd name="adj" fmla="val 0"/>
            </a:avLst>
          </a:prstGeom>
          <a:solidFill>
            <a:srgbClr val="165DFF">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9" name="AutoShape 9"/>
          <p:cNvSpPr/>
          <p:nvPr/>
        </p:nvSpPr>
        <p:spPr>
          <a:xfrm>
            <a:off x="635000" y="2155190"/>
            <a:ext cx="5334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01 AI生成回答</a:t>
            </a:r>
            <a:r>
              <a:rPr lang="en-US" sz="1300" b="0"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Noto Sans SC" panose="020B0200000000000000" charset="-122"/>
              </a:rPr>
              <a:t>｜ 最终输出：智能客服回复 / 研报摘要 / 合同条款建议</a:t>
            </a:r>
            <a:endParaRPr lang="en-US" sz="1100">
              <a:latin typeface="微软雅黑" panose="020B0503020204020204" charset="-122"/>
              <a:ea typeface="微软雅黑" panose="020B0503020204020204" charset="-122"/>
              <a:cs typeface="微软雅黑" panose="020B0503020204020204" charset="-122"/>
            </a:endParaRPr>
          </a:p>
        </p:txBody>
      </p:sp>
      <p:sp>
        <p:nvSpPr>
          <p:cNvPr id="10" name="AutoShape 10"/>
          <p:cNvSpPr/>
          <p:nvPr/>
        </p:nvSpPr>
        <p:spPr>
          <a:xfrm>
            <a:off x="762000" y="2853690"/>
            <a:ext cx="5080000" cy="558800"/>
          </a:xfrm>
          <a:prstGeom prst="roundRect">
            <a:avLst>
              <a:gd name="adj" fmla="val 0"/>
            </a:avLst>
          </a:prstGeom>
          <a:solidFill>
            <a:srgbClr val="165DFF">
              <a:alpha val="15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1" name="AutoShape 11"/>
          <p:cNvSpPr/>
          <p:nvPr/>
        </p:nvSpPr>
        <p:spPr>
          <a:xfrm>
            <a:off x="889000" y="2853690"/>
            <a:ext cx="482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02 引用片段/</a:t>
            </a:r>
            <a:r>
              <a:rPr lang="zh-CN" alt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实体</a:t>
            </a:r>
            <a: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定位</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 定位到：具体文档段落、政策条款原文、数据来源行</a:t>
            </a:r>
            <a:r>
              <a:rPr lang="zh-CN" alt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、图实体内容</a:t>
            </a:r>
            <a:endParaRPr lang="zh-CN" alt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2" name="AutoShape 12"/>
          <p:cNvSpPr/>
          <p:nvPr/>
        </p:nvSpPr>
        <p:spPr>
          <a:xfrm>
            <a:off x="1016000" y="3552190"/>
            <a:ext cx="4572000" cy="558800"/>
          </a:xfrm>
          <a:prstGeom prst="roundRect">
            <a:avLst>
              <a:gd name="adj" fmla="val 0"/>
            </a:avLst>
          </a:prstGeom>
          <a:solidFill>
            <a:srgbClr val="165DFF">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3" name="AutoShape 13"/>
          <p:cNvSpPr/>
          <p:nvPr/>
        </p:nvSpPr>
        <p:spPr>
          <a:xfrm>
            <a:off x="1143000" y="3552190"/>
            <a:ext cx="4318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03 原始文档定位</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 溯源至：文档名称 + 具体页码 + 版本号</a:t>
            </a:r>
            <a:r>
              <a:rPr lang="zh-CN" alt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向量</a:t>
            </a:r>
            <a:r>
              <a:rPr lang="en-US" altLang="zh-CN"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标签、图实体</a:t>
            </a:r>
            <a:r>
              <a:rPr lang="en-US" altLang="zh-CN"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13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属性</a:t>
            </a:r>
            <a:r>
              <a:rPr lang="zh-CN" alt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4" name="AutoShape 14"/>
          <p:cNvSpPr/>
          <p:nvPr/>
        </p:nvSpPr>
        <p:spPr>
          <a:xfrm>
            <a:off x="1270000" y="4250690"/>
            <a:ext cx="4064000" cy="558800"/>
          </a:xfrm>
          <a:prstGeom prst="roundRect">
            <a:avLst>
              <a:gd name="adj" fmla="val 0"/>
            </a:avLst>
          </a:prstGeom>
          <a:solidFill>
            <a:srgbClr val="165DFF">
              <a:alpha val="10000"/>
            </a:srgbClr>
          </a:solidFill>
          <a:ln w="25400" cap="flat" cmpd="sng">
            <a:noFill/>
            <a:prstDash val="solid"/>
            <a:round/>
          </a:ln>
        </p:spPr>
        <p:txBody>
          <a:bodyPr vert="horz" wrap="square" lIns="63500" tIns="63500" rIns="63500" bIns="63500" rtlCol="0" anchor="ctr">
            <a:noAutofit/>
          </a:bodyPr>
          <a:lstStyle/>
          <a:p>
            <a:pPr lvl="0" algn="ctr">
              <a:buClrTx/>
              <a:buSzTx/>
              <a:buFontTx/>
              <a:defRPr/>
            </a:pPr>
            <a:endParaRPr>
              <a:latin typeface="微软雅黑" panose="020B0503020204020204" charset="-122"/>
              <a:ea typeface="微软雅黑" panose="020B0503020204020204" charset="-122"/>
              <a:sym typeface="+mn-ea"/>
            </a:endParaRPr>
          </a:p>
        </p:txBody>
      </p:sp>
      <p:sp>
        <p:nvSpPr>
          <p:cNvPr id="15" name="AutoShape 15"/>
          <p:cNvSpPr/>
          <p:nvPr/>
        </p:nvSpPr>
        <p:spPr>
          <a:xfrm>
            <a:off x="1397000" y="4250690"/>
            <a:ext cx="3810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04 责任主体追溯</a:t>
            </a:r>
            <a:r>
              <a:rPr lang="en-US" sz="1300" b="0" i="0" u="none" strike="noStrike">
                <a:solidFill>
                  <a:schemeClr val="tx1">
                    <a:alpha val="90196"/>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 落实到：责任部门 + 审批人 + 更新时间</a:t>
            </a:r>
            <a:endParaRPr lang="en-US" sz="1300" b="0" i="0" u="none" strike="noStrike">
              <a:solidFill>
                <a:schemeClr val="tx1">
                  <a:alpha val="90196"/>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6" name="AutoShape 16"/>
          <p:cNvSpPr/>
          <p:nvPr/>
        </p:nvSpPr>
        <p:spPr>
          <a:xfrm>
            <a:off x="6314440" y="2487295"/>
            <a:ext cx="5080000" cy="2265680"/>
          </a:xfrm>
          <a:prstGeom prst="roundRect">
            <a:avLst>
              <a:gd name="adj" fmla="val 0"/>
            </a:avLst>
          </a:prstGeom>
          <a:solidFill>
            <a:srgbClr val="F3F4F6">
              <a:alpha val="100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7" name="AutoShape 17"/>
          <p:cNvSpPr/>
          <p:nvPr/>
        </p:nvSpPr>
        <p:spPr>
          <a:xfrm>
            <a:off x="6441440" y="2614295"/>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 智能引用交互效果演示</a:t>
            </a:r>
            <a:endPar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8" name="AutoShape 18"/>
          <p:cNvSpPr/>
          <p:nvPr/>
        </p:nvSpPr>
        <p:spPr>
          <a:xfrm>
            <a:off x="6441440" y="287528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Q：</a:t>
            </a:r>
            <a:r>
              <a:rPr lang="zh-CN" alt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办理固定资产项目融资授信审批时，贷款人应如何设定担保？</a:t>
            </a:r>
            <a:endParaRPr lang="zh-CN" altLang="en-US" sz="13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8000"/>
              </a:lnSpc>
            </a:pPr>
            <a:r>
              <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A：根据《</a:t>
            </a:r>
            <a:r>
              <a:rPr lang="zh-CN" altLang="en-US" sz="1300">
                <a:latin typeface="微软雅黑" panose="020B0503020204020204" charset="-122"/>
                <a:ea typeface="微软雅黑" panose="020B0503020204020204" charset="-122"/>
                <a:cs typeface="微软雅黑" panose="020B0503020204020204" charset="-122"/>
                <a:sym typeface="Noto Sans SC" panose="020B0200000000000000" charset="-122"/>
              </a:rPr>
              <a:t>固定资产贷款管理办法</a:t>
            </a:r>
            <a:r>
              <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（2024修订版）》</a:t>
            </a:r>
            <a:r>
              <a:rPr lang="zh-CN" alt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第五章第四十九条</a:t>
            </a:r>
            <a:r>
              <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规定，</a:t>
            </a:r>
            <a:r>
              <a:rPr lang="en-US" sz="1300">
                <a:latin typeface="微软雅黑" panose="020B0503020204020204" charset="-122"/>
                <a:ea typeface="微软雅黑" panose="020B0503020204020204" charset="-122"/>
                <a:cs typeface="微软雅黑" panose="020B0503020204020204" charset="-122"/>
                <a:sym typeface="Noto Sans SC" panose="020B0200000000000000" charset="-122"/>
              </a:rPr>
              <a:t>1.项目资产/预期收益抵质押；2.可追加股权质押；3.可约定投保商业保险</a:t>
            </a:r>
            <a:r>
              <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108000"/>
              </a:lnSpc>
            </a:pPr>
            <a:r>
              <a:rPr lang="en-US" sz="13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依据：</a:t>
            </a:r>
            <a:r>
              <a:rPr lang="zh-CN" altLang="en-US" sz="13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《固定资产贷款管理办法》第五章</a:t>
            </a:r>
            <a:r>
              <a:rPr lang="en-US" sz="13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第四十九条</a:t>
            </a:r>
            <a:endParaRPr lang="en-US" sz="13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9" name="AutoShape 19"/>
          <p:cNvSpPr/>
          <p:nvPr/>
        </p:nvSpPr>
        <p:spPr>
          <a:xfrm>
            <a:off x="6441440" y="4272280"/>
            <a:ext cx="4826000" cy="381000"/>
          </a:xfrm>
          <a:prstGeom prst="roundRect">
            <a:avLst>
              <a:gd name="adj" fmla="val 0"/>
            </a:avLst>
          </a:prstGeom>
          <a:solidFill>
            <a:srgbClr val="165DFF">
              <a:alpha val="8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0" name="AutoShape 20"/>
          <p:cNvSpPr/>
          <p:nvPr/>
        </p:nvSpPr>
        <p:spPr>
          <a:xfrm>
            <a:off x="6504940" y="4310380"/>
            <a:ext cx="4699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 点击蓝色</a:t>
            </a:r>
            <a:r>
              <a:rPr lang="zh-CN" altLang="en-US" sz="1200" b="0"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字体</a:t>
            </a:r>
            <a:r>
              <a:rPr lang="en-US" sz="1200" b="0"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 即可跳转至内部文档系统原文第9页</a:t>
            </a:r>
            <a:endParaRPr lang="zh-CN" altLang="en-US" sz="1200" b="0"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1" name="AutoShape 21"/>
          <p:cNvSpPr/>
          <p:nvPr/>
        </p:nvSpPr>
        <p:spPr>
          <a:xfrm>
            <a:off x="508000" y="5269230"/>
            <a:ext cx="3556000" cy="1206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 y="5421630"/>
            <a:ext cx="279400" cy="279400"/>
          </a:xfrm>
          <a:prstGeom prst="rect">
            <a:avLst/>
          </a:prstGeom>
        </p:spPr>
      </p:pic>
      <p:sp>
        <p:nvSpPr>
          <p:cNvPr id="23" name="AutoShape 23"/>
          <p:cNvSpPr/>
          <p:nvPr/>
        </p:nvSpPr>
        <p:spPr>
          <a:xfrm>
            <a:off x="1016000" y="5396230"/>
            <a:ext cx="298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自动引用标注</a:t>
            </a:r>
            <a:endParaRPr lang="en-US" sz="15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4" name="AutoShape 24"/>
          <p:cNvSpPr/>
          <p:nvPr/>
        </p:nvSpPr>
        <p:spPr>
          <a:xfrm>
            <a:off x="660400" y="577723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生成内容时自动识别并标注来源序号，确保结论、数据均有源可查，杜绝无依据生成。</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5" name="AutoShape 25"/>
          <p:cNvSpPr/>
          <p:nvPr/>
        </p:nvSpPr>
        <p:spPr>
          <a:xfrm>
            <a:off x="4318000" y="5269230"/>
            <a:ext cx="3556000" cy="1206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6" name="Picture 2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0400" y="5421630"/>
            <a:ext cx="279400" cy="279400"/>
          </a:xfrm>
          <a:prstGeom prst="rect">
            <a:avLst/>
          </a:prstGeom>
        </p:spPr>
      </p:pic>
      <p:sp>
        <p:nvSpPr>
          <p:cNvPr id="27" name="AutoShape 27"/>
          <p:cNvSpPr/>
          <p:nvPr/>
        </p:nvSpPr>
        <p:spPr>
          <a:xfrm>
            <a:off x="4826000" y="5396230"/>
            <a:ext cx="298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原文一键跳转</a:t>
            </a:r>
            <a:endParaRPr lang="en-US" sz="15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8" name="AutoShape 28"/>
          <p:cNvSpPr/>
          <p:nvPr/>
        </p:nvSpPr>
        <p:spPr>
          <a:xfrm>
            <a:off x="4470400" y="577723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点击引用号毫秒级跳转至PDF/文档系统原文位置，支持跨平台、跨格式的无缝查阅体验。</a:t>
            </a:r>
            <a:endParaRPr lang="en-US" sz="1200" b="0" i="0"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9" name="AutoShape 29"/>
          <p:cNvSpPr/>
          <p:nvPr/>
        </p:nvSpPr>
        <p:spPr>
          <a:xfrm>
            <a:off x="8128000" y="5269230"/>
            <a:ext cx="3556000" cy="1206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30" name="Picture 3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5421630"/>
            <a:ext cx="279400" cy="279400"/>
          </a:xfrm>
          <a:prstGeom prst="rect">
            <a:avLst/>
          </a:prstGeom>
        </p:spPr>
      </p:pic>
      <p:sp>
        <p:nvSpPr>
          <p:cNvPr id="31" name="AutoShape 31"/>
          <p:cNvSpPr/>
          <p:nvPr/>
        </p:nvSpPr>
        <p:spPr>
          <a:xfrm>
            <a:off x="8636000" y="5396230"/>
            <a:ext cx="2984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全链路留痕审计</a:t>
            </a:r>
            <a:endParaRPr lang="en-US" sz="15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2" name="AutoShape 32"/>
          <p:cNvSpPr/>
          <p:nvPr/>
        </p:nvSpPr>
        <p:spPr>
          <a:xfrm>
            <a:off x="8280400" y="5777230"/>
            <a:ext cx="330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rPr>
              <a:t>记录提问、推理路径、引用列表及生成结果，形成不可篡改的审计日志，满足金融监管要求。</a:t>
            </a:r>
            <a:endParaRPr lang="en-US" sz="1200" b="0" i="0" u="none" strike="noStrike">
              <a:solidFill>
                <a:srgbClr val="6B7280"/>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59" name="矩形 58"/>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6" name="矩形 5"/>
          <p:cNvSpPr/>
          <p:nvPr/>
        </p:nvSpPr>
        <p:spPr>
          <a:xfrm>
            <a:off x="796682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4" name="矩形 3"/>
          <p:cNvSpPr/>
          <p:nvPr/>
        </p:nvSpPr>
        <p:spPr>
          <a:xfrm>
            <a:off x="8806934"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5" name="矩形 4"/>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sym typeface="+mn-ea"/>
              </a:rPr>
              <a:t>可解释</a:t>
            </a:r>
            <a:endParaRPr lang="zh-CN" altLang="en-US" sz="1000">
              <a:latin typeface="微软雅黑" panose="020B0503020204020204" charset="-122"/>
              <a:ea typeface="微软雅黑" panose="020B0503020204020204" charset="-122"/>
            </a:endParaRPr>
          </a:p>
        </p:txBody>
      </p:sp>
      <p:sp>
        <p:nvSpPr>
          <p:cNvPr id="7" name="矩形 6"/>
          <p:cNvSpPr/>
          <p:nvPr/>
        </p:nvSpPr>
        <p:spPr>
          <a:xfrm>
            <a:off x="1048777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2.5.3 可溯源:生成即溯源 · 证据链强绑定</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70" name="组合 69"/>
          <p:cNvGrpSpPr/>
          <p:nvPr/>
        </p:nvGrpSpPr>
        <p:grpSpPr>
          <a:xfrm>
            <a:off x="261620" y="2407920"/>
            <a:ext cx="9060081" cy="3884295"/>
            <a:chOff x="412" y="3830"/>
            <a:chExt cx="16907" cy="6117"/>
          </a:xfrm>
        </p:grpSpPr>
        <p:sp>
          <p:nvSpPr>
            <p:cNvPr id="6" name="Text 4"/>
            <p:cNvSpPr/>
            <p:nvPr/>
          </p:nvSpPr>
          <p:spPr>
            <a:xfrm>
              <a:off x="3316" y="3830"/>
              <a:ext cx="2971" cy="5539"/>
            </a:xfrm>
            <a:prstGeom prst="roundRect">
              <a:avLst>
                <a:gd name="adj" fmla="val 3587"/>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7" name="Text 5"/>
            <p:cNvSpPr/>
            <p:nvPr/>
          </p:nvSpPr>
          <p:spPr>
            <a:xfrm>
              <a:off x="6780" y="3830"/>
              <a:ext cx="2971" cy="6117"/>
            </a:xfrm>
            <a:prstGeom prst="roundRect">
              <a:avLst>
                <a:gd name="adj" fmla="val 3587"/>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8" name="Text 6"/>
            <p:cNvSpPr/>
            <p:nvPr/>
          </p:nvSpPr>
          <p:spPr>
            <a:xfrm>
              <a:off x="10244" y="3830"/>
              <a:ext cx="2971" cy="6117"/>
            </a:xfrm>
            <a:prstGeom prst="roundRect">
              <a:avLst>
                <a:gd name="adj" fmla="val 3587"/>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9" name="Text 7"/>
            <p:cNvSpPr/>
            <p:nvPr/>
          </p:nvSpPr>
          <p:spPr>
            <a:xfrm>
              <a:off x="14082" y="3830"/>
              <a:ext cx="3237" cy="6117"/>
            </a:xfrm>
            <a:prstGeom prst="roundRect">
              <a:avLst>
                <a:gd name="adj" fmla="val 3292"/>
              </a:avLst>
            </a:prstGeom>
            <a:noFill/>
            <a:ln w="7144">
              <a:solidFill>
                <a:srgbClr val="C5CDD6"/>
              </a:solidFill>
              <a:prstDash val="dash"/>
            </a:ln>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0" name="Text 8"/>
            <p:cNvSpPr/>
            <p:nvPr/>
          </p:nvSpPr>
          <p:spPr>
            <a:xfrm>
              <a:off x="2777" y="3927"/>
              <a:ext cx="4049" cy="272"/>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rPr>
                <a:t>文档加工与版本治理</a:t>
              </a:r>
              <a:endPar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sp>
          <p:nvSpPr>
            <p:cNvPr id="11" name="Text 9"/>
            <p:cNvSpPr/>
            <p:nvPr/>
          </p:nvSpPr>
          <p:spPr>
            <a:xfrm>
              <a:off x="6402" y="3927"/>
              <a:ext cx="3727" cy="272"/>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charset="-122"/>
                </a:rPr>
                <a:t>双存储：</a:t>
              </a:r>
              <a:r>
                <a:rPr lang="zh-CN" altLang="en-US" sz="930" b="1" kern="0" spc="56" dirty="0">
                  <a:solidFill>
                    <a:srgbClr val="666666"/>
                  </a:solidFill>
                  <a:latin typeface="微软雅黑" panose="020B0503020204020204" charset="-122"/>
                  <a:ea typeface="微软雅黑" panose="020B0503020204020204" charset="-122"/>
                  <a:cs typeface="微软雅黑" panose="020B0503020204020204" charset="-122"/>
                </a:rPr>
                <a:t>向量</a:t>
              </a:r>
              <a:r>
                <a:rPr lang="en-US" sz="930" b="1" kern="0" spc="56" dirty="0">
                  <a:solidFill>
                    <a:srgbClr val="666666"/>
                  </a:solidFill>
                  <a:latin typeface="微软雅黑" panose="020B0503020204020204" charset="-122"/>
                  <a:ea typeface="微软雅黑" panose="020B0503020204020204" charset="-122"/>
                  <a:cs typeface="微软雅黑" panose="020B0503020204020204" charset="-122"/>
                </a:rPr>
                <a:t>库 + </a:t>
              </a:r>
              <a:r>
                <a:rPr lang="zh-CN" altLang="en-US" sz="930" b="1" kern="0" spc="56" dirty="0">
                  <a:solidFill>
                    <a:srgbClr val="666666"/>
                  </a:solidFill>
                  <a:latin typeface="微软雅黑" panose="020B0503020204020204" charset="-122"/>
                  <a:ea typeface="微软雅黑" panose="020B0503020204020204" charset="-122"/>
                  <a:cs typeface="微软雅黑" panose="020B0503020204020204" charset="-122"/>
                </a:rPr>
                <a:t>图谱</a:t>
              </a:r>
              <a:endParaRPr lang="zh-CN" altLang="en-US" sz="930" b="1" kern="0" spc="56" dirty="0">
                <a:solidFill>
                  <a:srgbClr val="666666"/>
                </a:solidFill>
                <a:latin typeface="微软雅黑" panose="020B0503020204020204" charset="-122"/>
                <a:ea typeface="微软雅黑" panose="020B0503020204020204" charset="-122"/>
                <a:cs typeface="微软雅黑" panose="020B0503020204020204" charset="-122"/>
              </a:endParaRPr>
            </a:p>
          </p:txBody>
        </p:sp>
        <p:sp>
          <p:nvSpPr>
            <p:cNvPr id="12" name="Text 10"/>
            <p:cNvSpPr/>
            <p:nvPr/>
          </p:nvSpPr>
          <p:spPr>
            <a:xfrm>
              <a:off x="9705" y="3927"/>
              <a:ext cx="4049" cy="272"/>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rPr>
                <a:t>检索与证据绑定生成</a:t>
              </a:r>
              <a:endPar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sp>
          <p:nvSpPr>
            <p:cNvPr id="13" name="Text 11"/>
            <p:cNvSpPr/>
            <p:nvPr/>
          </p:nvSpPr>
          <p:spPr>
            <a:xfrm>
              <a:off x="14407" y="3927"/>
              <a:ext cx="2785" cy="285"/>
            </a:xfrm>
            <a:prstGeom prst="rect">
              <a:avLst/>
            </a:prstGeom>
            <a:noFill/>
          </p:spPr>
          <p:txBody>
            <a:bodyPr wrap="none" lIns="0" tIns="0" rIns="0" bIns="0" rtlCol="0" anchor="t"/>
            <a:lstStyle/>
            <a:p>
              <a:pPr marL="0" indent="0" algn="ctr">
                <a:lnSpc>
                  <a:spcPts val="1095"/>
                </a:lnSpc>
                <a:buNone/>
              </a:pPr>
              <a:r>
                <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rPr>
                <a:t>可溯源输出</a:t>
              </a:r>
              <a:endParaRPr lang="en-US" sz="930" b="1" kern="0" spc="56"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sp>
          <p:nvSpPr>
            <p:cNvPr id="3" name="Text 12"/>
            <p:cNvSpPr/>
            <p:nvPr/>
          </p:nvSpPr>
          <p:spPr>
            <a:xfrm>
              <a:off x="412" y="6217"/>
              <a:ext cx="2251" cy="955"/>
            </a:xfrm>
            <a:prstGeom prst="rect">
              <a:avLst/>
            </a:prstGeom>
            <a:solidFill>
              <a:srgbClr val="F8CECC"/>
            </a:solidFill>
            <a:ln w="7144">
              <a:solidFill>
                <a:srgbClr val="B85450"/>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4" name="Text 13"/>
            <p:cNvSpPr/>
            <p:nvPr/>
          </p:nvSpPr>
          <p:spPr>
            <a:xfrm>
              <a:off x="597" y="6558"/>
              <a:ext cx="1881" cy="253"/>
            </a:xfrm>
            <a:prstGeom prst="rect">
              <a:avLst/>
            </a:prstGeom>
            <a:noFill/>
          </p:spPr>
          <p:txBody>
            <a:bodyPr wrap="none" lIns="0" tIns="0" rIns="0" bIns="0" rtlCol="0" anchor="t"/>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rPr>
                <a:t>非结构化</a:t>
              </a:r>
              <a:r>
                <a:rPr lang="en-US" sz="930" b="1" kern="0" spc="17" dirty="0">
                  <a:solidFill>
                    <a:srgbClr val="1A1A1A"/>
                  </a:solidFill>
                  <a:latin typeface="微软雅黑" panose="020B0503020204020204" charset="-122"/>
                  <a:ea typeface="微软雅黑" panose="020B0503020204020204" charset="-122"/>
                  <a:cs typeface="微软雅黑" panose="020B0503020204020204" charset="-122"/>
                </a:rPr>
                <a:t>文档接入</a:t>
              </a:r>
              <a:endParaRPr 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5" name="Text 14"/>
            <p:cNvSpPr/>
            <p:nvPr/>
          </p:nvSpPr>
          <p:spPr>
            <a:xfrm>
              <a:off x="3476" y="4944"/>
              <a:ext cx="2784" cy="1020"/>
            </a:xfrm>
            <a:prstGeom prst="roundRect">
              <a:avLst>
                <a:gd name="adj" fmla="val 13502"/>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9" name="Text 15"/>
            <p:cNvSpPr/>
            <p:nvPr/>
          </p:nvSpPr>
          <p:spPr>
            <a:xfrm>
              <a:off x="3687" y="5243"/>
              <a:ext cx="2364" cy="224"/>
            </a:xfrm>
            <a:prstGeom prst="rect">
              <a:avLst/>
            </a:prstGeom>
            <a:noFill/>
          </p:spPr>
          <p:txBody>
            <a:bodyPr wrap="none" lIns="0" tIns="0" rIns="0" bIns="0" rtlCol="0" anchor="t"/>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rPr>
                <a:t>文档注册</a:t>
              </a:r>
              <a:r>
                <a:rPr lang="en-US" altLang="zh-CN" sz="930" b="1" kern="0" spc="17" dirty="0">
                  <a:solidFill>
                    <a:srgbClr val="1A1A1A"/>
                  </a:solidFill>
                  <a:latin typeface="微软雅黑" panose="020B0503020204020204" charset="-122"/>
                  <a:ea typeface="微软雅黑" panose="020B0503020204020204" charset="-122"/>
                  <a:cs typeface="微软雅黑" panose="020B0503020204020204" charset="-122"/>
                </a:rPr>
                <a:t>+</a:t>
              </a: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rPr>
                <a:t>元数据</a:t>
              </a:r>
              <a:endPar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20" name="Text 16"/>
            <p:cNvSpPr/>
            <p:nvPr/>
          </p:nvSpPr>
          <p:spPr>
            <a:xfrm>
              <a:off x="4132" y="5569"/>
              <a:ext cx="1389" cy="234"/>
            </a:xfrm>
            <a:prstGeom prst="rect">
              <a:avLst/>
            </a:prstGeom>
            <a:noFill/>
          </p:spPr>
          <p:txBody>
            <a:bodyPr wrap="square" lIns="0" tIns="0" rIns="0" bIns="0" rtlCol="0" anchor="t"/>
            <a:lstStyle/>
            <a:p>
              <a:pPr marL="0" indent="0" algn="ctr">
                <a:lnSpc>
                  <a:spcPts val="795"/>
                </a:lnSpc>
                <a:buNone/>
              </a:pPr>
              <a:r>
                <a:rPr lang="zh-CN" altLang="en-US" sz="900" dirty="0">
                  <a:solidFill>
                    <a:srgbClr val="555555"/>
                  </a:solidFill>
                  <a:latin typeface="微软雅黑" panose="020B0503020204020204" charset="-122"/>
                  <a:ea typeface="微软雅黑" panose="020B0503020204020204" charset="-122"/>
                  <a:cs typeface="微软雅黑" panose="020B0503020204020204" charset="-122"/>
                </a:rPr>
                <a:t>生成唯一</a:t>
              </a:r>
              <a:r>
                <a:rPr lang="en-US" altLang="zh-CN" sz="900" dirty="0">
                  <a:solidFill>
                    <a:srgbClr val="555555"/>
                  </a:solidFill>
                  <a:latin typeface="微软雅黑" panose="020B0503020204020204" charset="-122"/>
                  <a:ea typeface="微软雅黑" panose="020B0503020204020204" charset="-122"/>
                  <a:cs typeface="微软雅黑" panose="020B0503020204020204" charset="-122"/>
                </a:rPr>
                <a:t>id</a:t>
              </a:r>
              <a:endParaRPr lang="en-US" altLang="zh-CN"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21" name="Text 17"/>
            <p:cNvSpPr/>
            <p:nvPr/>
          </p:nvSpPr>
          <p:spPr>
            <a:xfrm>
              <a:off x="3476" y="7023"/>
              <a:ext cx="2784" cy="1020"/>
            </a:xfrm>
            <a:prstGeom prst="roundRect">
              <a:avLst>
                <a:gd name="adj" fmla="val 13502"/>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2" name="Text 18"/>
            <p:cNvSpPr/>
            <p:nvPr/>
          </p:nvSpPr>
          <p:spPr>
            <a:xfrm>
              <a:off x="4160" y="7237"/>
              <a:ext cx="1418" cy="224"/>
            </a:xfrm>
            <a:prstGeom prst="rect">
              <a:avLst/>
            </a:prstGeom>
            <a:noFill/>
          </p:spPr>
          <p:txBody>
            <a:bodyPr wrap="none" lIns="0" tIns="0" rIns="0" bIns="0" rtlCol="0" anchor="t"/>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文档摘要</a:t>
              </a:r>
              <a:r>
                <a:rPr lang="en-US" altLang="zh-CN"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a:t>
              </a: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分片</a:t>
              </a:r>
              <a:endPar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23" name="Text 19"/>
            <p:cNvSpPr/>
            <p:nvPr/>
          </p:nvSpPr>
          <p:spPr>
            <a:xfrm>
              <a:off x="4042" y="7574"/>
              <a:ext cx="1853" cy="234"/>
            </a:xfrm>
            <a:prstGeom prst="rect">
              <a:avLst/>
            </a:prstGeom>
            <a:noFill/>
          </p:spPr>
          <p:txBody>
            <a:bodyPr wrap="none" lIns="0" tIns="0" rIns="0" bIns="0" rtlCol="0" anchor="t"/>
            <a:lstStyle/>
            <a:p>
              <a:pPr marL="0" indent="0" algn="ctr">
                <a:lnSpc>
                  <a:spcPts val="795"/>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sym typeface="+mn-ea"/>
                </a:rPr>
                <a:t>生成唯一 chunk_id</a:t>
              </a:r>
              <a:endParaRPr 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27" name="Text 23"/>
            <p:cNvSpPr/>
            <p:nvPr/>
          </p:nvSpPr>
          <p:spPr>
            <a:xfrm>
              <a:off x="6894" y="4927"/>
              <a:ext cx="2784" cy="1149"/>
            </a:xfrm>
            <a:prstGeom prst="roundRect">
              <a:avLst>
                <a:gd name="adj" fmla="val 26966"/>
              </a:avLst>
            </a:prstGeom>
            <a:solidFill>
              <a:srgbClr val="D5E8D4"/>
            </a:solidFill>
            <a:ln w="7144">
              <a:solidFill>
                <a:srgbClr val="82B366"/>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8" name="Text 24"/>
            <p:cNvSpPr/>
            <p:nvPr/>
          </p:nvSpPr>
          <p:spPr>
            <a:xfrm>
              <a:off x="7480" y="5234"/>
              <a:ext cx="1386" cy="224"/>
            </a:xfrm>
            <a:prstGeom prst="rect">
              <a:avLst/>
            </a:prstGeom>
            <a:noFill/>
          </p:spPr>
          <p:txBody>
            <a:bodyPr wrap="none" lIns="0" tIns="0" rIns="0" bIns="0" rtlCol="0" anchor="t"/>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向量</a:t>
              </a:r>
              <a:r>
                <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库</a:t>
              </a:r>
              <a:endPar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29" name="Text 25"/>
            <p:cNvSpPr/>
            <p:nvPr/>
          </p:nvSpPr>
          <p:spPr>
            <a:xfrm>
              <a:off x="7405" y="5509"/>
              <a:ext cx="1711" cy="348"/>
            </a:xfrm>
            <a:prstGeom prst="rect">
              <a:avLst/>
            </a:prstGeom>
            <a:noFill/>
          </p:spPr>
          <p:txBody>
            <a:bodyPr wrap="square" lIns="0" tIns="0" rIns="0" bIns="0" rtlCol="0" anchor="t"/>
            <a:lstStyle/>
            <a:p>
              <a:pPr marL="0" indent="0" algn="ctr">
                <a:lnSpc>
                  <a:spcPct val="100000"/>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rPr>
                <a:t>chunk_id / 版本 / 生效日期</a:t>
              </a:r>
              <a:endParaRPr 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30" name="Text 26"/>
            <p:cNvSpPr/>
            <p:nvPr/>
          </p:nvSpPr>
          <p:spPr>
            <a:xfrm>
              <a:off x="6875" y="7917"/>
              <a:ext cx="2784" cy="1149"/>
            </a:xfrm>
            <a:prstGeom prst="roundRect">
              <a:avLst>
                <a:gd name="adj" fmla="val 26966"/>
              </a:avLst>
            </a:prstGeom>
            <a:solidFill>
              <a:srgbClr val="D5E8D4"/>
            </a:solidFill>
            <a:ln w="7144">
              <a:solidFill>
                <a:srgbClr val="82B366"/>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31" name="Text 27"/>
            <p:cNvSpPr/>
            <p:nvPr/>
          </p:nvSpPr>
          <p:spPr>
            <a:xfrm>
              <a:off x="7480" y="8223"/>
              <a:ext cx="1386" cy="224"/>
            </a:xfrm>
            <a:prstGeom prst="rect">
              <a:avLst/>
            </a:prstGeom>
            <a:noFill/>
          </p:spPr>
          <p:txBody>
            <a:bodyPr wrap="none" lIns="0" tIns="0" rIns="0" bIns="0" rtlCol="0" anchor="t"/>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统一</a:t>
              </a:r>
              <a:r>
                <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语义图谱</a:t>
              </a:r>
              <a:endPar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a:p>
              <a:pPr marL="0" indent="0" algn="ctr">
                <a:lnSpc>
                  <a:spcPts val="1025"/>
                </a:lnSpc>
                <a:buNone/>
              </a:pPr>
              <a:endPar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32" name="Text 28"/>
            <p:cNvSpPr/>
            <p:nvPr/>
          </p:nvSpPr>
          <p:spPr>
            <a:xfrm>
              <a:off x="6893" y="8496"/>
              <a:ext cx="2558" cy="468"/>
            </a:xfrm>
            <a:prstGeom prst="rect">
              <a:avLst/>
            </a:prstGeom>
            <a:noFill/>
          </p:spPr>
          <p:txBody>
            <a:bodyPr wrap="square" lIns="0" tIns="0" rIns="0" bIns="0" rtlCol="0" anchor="t"/>
            <a:lstStyle/>
            <a:p>
              <a:pPr marL="0" indent="0" algn="ctr">
                <a:lnSpc>
                  <a:spcPct val="100000"/>
                </a:lnSpc>
                <a:buNone/>
              </a:pPr>
              <a:endParaRPr 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33" name="Text 29"/>
            <p:cNvSpPr/>
            <p:nvPr/>
          </p:nvSpPr>
          <p:spPr>
            <a:xfrm>
              <a:off x="10396" y="5003"/>
              <a:ext cx="2651" cy="1020"/>
            </a:xfrm>
            <a:prstGeom prst="roundRect">
              <a:avLst>
                <a:gd name="adj" fmla="val 13502"/>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34" name="Text 30"/>
            <p:cNvSpPr/>
            <p:nvPr/>
          </p:nvSpPr>
          <p:spPr>
            <a:xfrm>
              <a:off x="11029" y="5208"/>
              <a:ext cx="1386" cy="224"/>
            </a:xfrm>
            <a:prstGeom prst="rect">
              <a:avLst/>
            </a:prstGeom>
            <a:noFill/>
          </p:spPr>
          <p:txBody>
            <a:bodyPr wrap="none" lIns="0" tIns="0" rIns="0" bIns="0" rtlCol="0" anchor="t"/>
            <a:lstStyle/>
            <a:p>
              <a:pPr marL="0" indent="0" algn="ctr">
                <a:lnSpc>
                  <a:spcPts val="1025"/>
                </a:lnSpc>
                <a:buNone/>
              </a:pPr>
              <a:r>
                <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rPr>
                <a:t>问答检索引擎</a:t>
              </a:r>
              <a:endParaRPr lang="en-US" sz="930" b="1" kern="0" spc="17"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35" name="Text 31"/>
            <p:cNvSpPr/>
            <p:nvPr/>
          </p:nvSpPr>
          <p:spPr>
            <a:xfrm>
              <a:off x="10941" y="5497"/>
              <a:ext cx="1561" cy="234"/>
            </a:xfrm>
            <a:prstGeom prst="rect">
              <a:avLst/>
            </a:prstGeom>
            <a:noFill/>
          </p:spPr>
          <p:txBody>
            <a:bodyPr wrap="none" lIns="0" tIns="0" rIns="0" bIns="0" rtlCol="0" anchor="t"/>
            <a:lstStyle/>
            <a:p>
              <a:pPr marL="0" indent="0" algn="ctr">
                <a:lnSpc>
                  <a:spcPts val="795"/>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rPr>
                <a:t>图谱定位 + 文本召回</a:t>
              </a:r>
              <a:endParaRPr 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36" name="Text 32"/>
            <p:cNvSpPr/>
            <p:nvPr/>
          </p:nvSpPr>
          <p:spPr>
            <a:xfrm>
              <a:off x="10396" y="7702"/>
              <a:ext cx="2651" cy="1020"/>
            </a:xfrm>
            <a:prstGeom prst="roundRect">
              <a:avLst>
                <a:gd name="adj" fmla="val 13502"/>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37" name="Text 33"/>
            <p:cNvSpPr/>
            <p:nvPr/>
          </p:nvSpPr>
          <p:spPr>
            <a:xfrm>
              <a:off x="10753" y="7983"/>
              <a:ext cx="1936" cy="224"/>
            </a:xfrm>
            <a:prstGeom prst="rect">
              <a:avLst/>
            </a:prstGeom>
            <a:noFill/>
          </p:spPr>
          <p:txBody>
            <a:bodyPr wrap="none" lIns="0" tIns="0" rIns="0" bIns="0" rtlCol="0" anchor="t"/>
            <a:lstStyle/>
            <a:p>
              <a:pPr marL="0" indent="0" algn="ctr">
                <a:lnSpc>
                  <a:spcPts val="1025"/>
                </a:lnSpc>
                <a:buNone/>
              </a:pPr>
              <a:r>
                <a:rPr lang="zh-CN" altLang="en-US" sz="930" b="1" kern="0" spc="17" dirty="0">
                  <a:solidFill>
                    <a:srgbClr val="1A1A1A"/>
                  </a:solidFill>
                  <a:latin typeface="微软雅黑" panose="020B0503020204020204" charset="-122"/>
                  <a:ea typeface="微软雅黑" panose="020B0503020204020204" charset="-122"/>
                  <a:cs typeface="微软雅黑" panose="020B0503020204020204" charset="-122"/>
                </a:rPr>
                <a:t>溯源</a:t>
              </a:r>
              <a:r>
                <a:rPr lang="en-US" sz="930" b="1" kern="0" spc="17" dirty="0">
                  <a:solidFill>
                    <a:srgbClr val="1A1A1A"/>
                  </a:solidFill>
                  <a:latin typeface="微软雅黑" panose="020B0503020204020204" charset="-122"/>
                  <a:ea typeface="微软雅黑" panose="020B0503020204020204" charset="-122"/>
                  <a:cs typeface="微软雅黑" panose="020B0503020204020204" charset="-122"/>
                </a:rPr>
                <a:t>生成模块</a:t>
              </a:r>
              <a:endParaRPr lang="en-US" sz="930" b="1"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38" name="Text 34"/>
            <p:cNvSpPr/>
            <p:nvPr/>
          </p:nvSpPr>
          <p:spPr>
            <a:xfrm>
              <a:off x="10697" y="8257"/>
              <a:ext cx="2049" cy="234"/>
            </a:xfrm>
            <a:prstGeom prst="rect">
              <a:avLst/>
            </a:prstGeom>
            <a:noFill/>
          </p:spPr>
          <p:txBody>
            <a:bodyPr wrap="square" lIns="0" tIns="0" rIns="0" bIns="0" rtlCol="0" anchor="t"/>
            <a:lstStyle/>
            <a:p>
              <a:pPr marL="0" indent="0" algn="ctr">
                <a:lnSpc>
                  <a:spcPct val="100000"/>
                </a:lnSpc>
                <a:buNone/>
              </a:pPr>
              <a:r>
                <a:rPr lang="en-US" sz="900" dirty="0">
                  <a:solidFill>
                    <a:srgbClr val="555555"/>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555555"/>
                  </a:solidFill>
                  <a:latin typeface="微软雅黑" panose="020B0503020204020204" charset="-122"/>
                  <a:ea typeface="微软雅黑" panose="020B0503020204020204" charset="-122"/>
                  <a:cs typeface="微软雅黑" panose="020B0503020204020204" charset="-122"/>
                </a:rPr>
                <a:t>锚定检索到的知识库原文生成答案</a:t>
              </a:r>
              <a:endParaRPr lang="zh-CN" alt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sp>
          <p:nvSpPr>
            <p:cNvPr id="41" name="Text 37"/>
            <p:cNvSpPr/>
            <p:nvPr/>
          </p:nvSpPr>
          <p:spPr>
            <a:xfrm>
              <a:off x="14299" y="6074"/>
              <a:ext cx="2944" cy="1149"/>
            </a:xfrm>
            <a:prstGeom prst="roundRect">
              <a:avLst>
                <a:gd name="adj" fmla="val 11985"/>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buNone/>
              </a:pPr>
              <a:endParaRPr lang="en-US" sz="3200" dirty="0">
                <a:latin typeface="微软雅黑" panose="020B0503020204020204" charset="-122"/>
                <a:ea typeface="微软雅黑" panose="020B0503020204020204" charset="-122"/>
              </a:endParaRPr>
            </a:p>
          </p:txBody>
        </p:sp>
        <p:sp>
          <p:nvSpPr>
            <p:cNvPr id="42" name="Text 38"/>
            <p:cNvSpPr/>
            <p:nvPr/>
          </p:nvSpPr>
          <p:spPr>
            <a:xfrm>
              <a:off x="14542" y="6445"/>
              <a:ext cx="2462" cy="340"/>
            </a:xfrm>
            <a:prstGeom prst="rect">
              <a:avLst/>
            </a:prstGeom>
            <a:noFill/>
          </p:spPr>
          <p:txBody>
            <a:bodyPr wrap="none" lIns="0" tIns="0" rIns="0" bIns="0" rtlCol="0" anchor="t"/>
            <a:lstStyle/>
            <a:p>
              <a:pPr marL="0" indent="0" algn="ctr">
                <a:lnSpc>
                  <a:spcPts val="1025"/>
                </a:lnSpc>
                <a:buNone/>
              </a:pPr>
              <a:r>
                <a:rPr lang="en-US" sz="1000" b="1" kern="0" spc="17" dirty="0">
                  <a:solidFill>
                    <a:srgbClr val="1A1A1A"/>
                  </a:solidFill>
                  <a:latin typeface="微软雅黑" panose="020B0503020204020204" charset="-122"/>
                  <a:ea typeface="微软雅黑" panose="020B0503020204020204" charset="-122"/>
                  <a:cs typeface="微软雅黑" panose="020B0503020204020204" charset="-122"/>
                </a:rPr>
                <a:t>输出：</a:t>
              </a:r>
              <a:endParaRPr lang="en-US" sz="1000" b="1" kern="0" spc="17" dirty="0">
                <a:solidFill>
                  <a:srgbClr val="1A1A1A"/>
                </a:solidFill>
                <a:latin typeface="微软雅黑" panose="020B0503020204020204" charset="-122"/>
                <a:ea typeface="微软雅黑" panose="020B0503020204020204" charset="-122"/>
                <a:cs typeface="微软雅黑" panose="020B0503020204020204" charset="-122"/>
              </a:endParaRPr>
            </a:p>
            <a:p>
              <a:pPr marL="0" indent="0" algn="ctr">
                <a:lnSpc>
                  <a:spcPts val="1025"/>
                </a:lnSpc>
                <a:buNone/>
              </a:pPr>
              <a:r>
                <a:rPr lang="en-US" sz="1000" kern="0" spc="17" dirty="0">
                  <a:solidFill>
                    <a:srgbClr val="1A1A1A"/>
                  </a:solidFill>
                  <a:latin typeface="微软雅黑" panose="020B0503020204020204" charset="-122"/>
                  <a:ea typeface="微软雅黑" panose="020B0503020204020204" charset="-122"/>
                  <a:cs typeface="微软雅黑" panose="020B0503020204020204" charset="-122"/>
                </a:rPr>
                <a:t>结论 + </a:t>
              </a:r>
              <a:r>
                <a:rPr lang="zh-CN" altLang="en-US" sz="1000" kern="0" spc="17" dirty="0">
                  <a:solidFill>
                    <a:srgbClr val="1A1A1A"/>
                  </a:solidFill>
                  <a:latin typeface="微软雅黑" panose="020B0503020204020204" charset="-122"/>
                  <a:ea typeface="微软雅黑" panose="020B0503020204020204" charset="-122"/>
                  <a:cs typeface="微软雅黑" panose="020B0503020204020204" charset="-122"/>
                </a:rPr>
                <a:t>文档</a:t>
              </a:r>
              <a:r>
                <a:rPr lang="en-US" altLang="zh-CN" sz="1000" kern="0" spc="17" dirty="0">
                  <a:solidFill>
                    <a:srgbClr val="1A1A1A"/>
                  </a:solidFill>
                  <a:latin typeface="微软雅黑" panose="020B0503020204020204" charset="-122"/>
                  <a:ea typeface="微软雅黑" panose="020B0503020204020204" charset="-122"/>
                  <a:cs typeface="微软雅黑" panose="020B0503020204020204" charset="-122"/>
                </a:rPr>
                <a:t>+</a:t>
              </a:r>
              <a:r>
                <a:rPr lang="en-US" sz="1000" kern="0" spc="17" dirty="0">
                  <a:solidFill>
                    <a:srgbClr val="1A1A1A"/>
                  </a:solidFill>
                  <a:latin typeface="微软雅黑" panose="020B0503020204020204" charset="-122"/>
                  <a:ea typeface="微软雅黑" panose="020B0503020204020204" charset="-122"/>
                  <a:cs typeface="微软雅黑" panose="020B0503020204020204" charset="-122"/>
                </a:rPr>
                <a:t>原文条款</a:t>
              </a:r>
              <a:r>
                <a:rPr lang="zh-CN" altLang="en-US" sz="1000" kern="0" spc="17" dirty="0">
                  <a:solidFill>
                    <a:srgbClr val="1A1A1A"/>
                  </a:solidFill>
                  <a:latin typeface="微软雅黑" panose="020B0503020204020204" charset="-122"/>
                  <a:ea typeface="微软雅黑" panose="020B0503020204020204" charset="-122"/>
                  <a:cs typeface="微软雅黑" panose="020B0503020204020204" charset="-122"/>
                </a:rPr>
                <a:t>等</a:t>
              </a:r>
              <a:endParaRPr lang="zh-CN" altLang="en-US" sz="1000" kern="0" spc="17"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62" name="Text 59"/>
            <p:cNvSpPr/>
            <p:nvPr/>
          </p:nvSpPr>
          <p:spPr>
            <a:xfrm>
              <a:off x="2803" y="6074"/>
              <a:ext cx="480" cy="265"/>
            </a:xfrm>
            <a:prstGeom prst="rect">
              <a:avLst/>
            </a:prstGeom>
            <a:noFill/>
          </p:spPr>
          <p:txBody>
            <a:bodyPr wrap="none" lIns="0" tIns="0" rIns="0" bIns="0" rtlCol="0" anchor="ctr"/>
            <a:lstStyle/>
            <a:p>
              <a:pPr marL="0" indent="0" algn="ctr">
                <a:lnSpc>
                  <a:spcPts val="930"/>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接入</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64" name="Text 61"/>
            <p:cNvSpPr/>
            <p:nvPr/>
          </p:nvSpPr>
          <p:spPr>
            <a:xfrm>
              <a:off x="6374" y="5110"/>
              <a:ext cx="480" cy="265"/>
            </a:xfrm>
            <a:prstGeom prst="rect">
              <a:avLst/>
            </a:prstGeom>
            <a:noFill/>
          </p:spPr>
          <p:txBody>
            <a:bodyPr wrap="none" lIns="0" tIns="0" rIns="0" bIns="0" rtlCol="0" anchor="ctr"/>
            <a:lstStyle/>
            <a:p>
              <a:pPr marL="0" indent="0" algn="ctr">
                <a:lnSpc>
                  <a:spcPts val="930"/>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入库</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66" name="Text 63"/>
            <p:cNvSpPr/>
            <p:nvPr/>
          </p:nvSpPr>
          <p:spPr>
            <a:xfrm>
              <a:off x="5042" y="6362"/>
              <a:ext cx="480" cy="255"/>
            </a:xfrm>
            <a:prstGeom prst="rect">
              <a:avLst/>
            </a:prstGeom>
            <a:noFill/>
          </p:spPr>
          <p:txBody>
            <a:bodyPr wrap="none" lIns="0" tIns="0" rIns="0" bIns="0" rtlCol="0" anchor="ctr"/>
            <a:lstStyle/>
            <a:p>
              <a:pPr marL="0" indent="0" algn="ctr">
                <a:lnSpc>
                  <a:spcPts val="885"/>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分片</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50" name="Text 70"/>
            <p:cNvSpPr/>
            <p:nvPr/>
          </p:nvSpPr>
          <p:spPr>
            <a:xfrm>
              <a:off x="8229" y="6704"/>
              <a:ext cx="986" cy="504"/>
            </a:xfrm>
            <a:prstGeom prst="roundRect">
              <a:avLst>
                <a:gd name="adj" fmla="val 10234"/>
              </a:avLst>
            </a:prstGeom>
            <a:solidFill>
              <a:srgbClr val="FFFFFF"/>
            </a:solidFill>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51" name="Text 71"/>
            <p:cNvSpPr/>
            <p:nvPr/>
          </p:nvSpPr>
          <p:spPr>
            <a:xfrm>
              <a:off x="8266" y="6727"/>
              <a:ext cx="913" cy="458"/>
            </a:xfrm>
            <a:prstGeom prst="rect">
              <a:avLst/>
            </a:prstGeom>
            <a:noFill/>
          </p:spPr>
          <p:txBody>
            <a:bodyPr wrap="none" lIns="0" tIns="0" rIns="0" bIns="0" rtlCol="0" anchor="ctr"/>
            <a:lstStyle/>
            <a:p>
              <a:pPr marL="0" indent="0" algn="ctr">
                <a:lnSpc>
                  <a:spcPct val="100000"/>
                </a:lnSpc>
                <a:buNone/>
              </a:pPr>
              <a:r>
                <a:rPr lang="en-US" sz="900" dirty="0">
                  <a:solidFill>
                    <a:srgbClr val="4A5568"/>
                  </a:solidFill>
                  <a:latin typeface="微软雅黑" panose="020B0503020204020204" charset="-122"/>
                  <a:ea typeface="微软雅黑" panose="020B0503020204020204" charset="-122"/>
                  <a:cs typeface="微软雅黑" panose="020B0503020204020204" charset="-122"/>
                </a:rPr>
                <a:t>摘要↔图谱</a:t>
              </a:r>
              <a:endParaRPr lang="en-US" sz="900" dirty="0">
                <a:latin typeface="微软雅黑" panose="020B0503020204020204" charset="-122"/>
                <a:ea typeface="微软雅黑" panose="020B0503020204020204" charset="-122"/>
                <a:cs typeface="微软雅黑" panose="020B0503020204020204" charset="-122"/>
              </a:endParaRPr>
            </a:p>
            <a:p>
              <a:pPr marL="0" indent="0" algn="ctr">
                <a:lnSpc>
                  <a:spcPct val="100000"/>
                </a:lnSpc>
                <a:buNone/>
              </a:pPr>
              <a:r>
                <a:rPr lang="en-US" sz="900" dirty="0">
                  <a:solidFill>
                    <a:srgbClr val="4A5568"/>
                  </a:solidFill>
                  <a:latin typeface="微软雅黑" panose="020B0503020204020204" charset="-122"/>
                  <a:ea typeface="微软雅黑" panose="020B0503020204020204" charset="-122"/>
                  <a:cs typeface="微软雅黑" panose="020B0503020204020204" charset="-122"/>
                </a:rPr>
                <a:t>双向绑定</a:t>
              </a:r>
              <a:endParaRPr lang="en-US" sz="900" dirty="0">
                <a:solidFill>
                  <a:srgbClr val="4A5568"/>
                </a:solidFill>
                <a:latin typeface="微软雅黑" panose="020B0503020204020204" charset="-122"/>
                <a:ea typeface="微软雅黑" panose="020B0503020204020204" charset="-122"/>
                <a:cs typeface="微软雅黑" panose="020B0503020204020204" charset="-122"/>
              </a:endParaRPr>
            </a:p>
          </p:txBody>
        </p:sp>
        <p:sp>
          <p:nvSpPr>
            <p:cNvPr id="52" name="Text 73"/>
            <p:cNvSpPr/>
            <p:nvPr/>
          </p:nvSpPr>
          <p:spPr>
            <a:xfrm>
              <a:off x="9666" y="6953"/>
              <a:ext cx="773" cy="255"/>
            </a:xfrm>
            <a:prstGeom prst="rect">
              <a:avLst/>
            </a:prstGeom>
            <a:noFill/>
          </p:spPr>
          <p:txBody>
            <a:bodyPr wrap="none" lIns="0" tIns="0" rIns="0" bIns="0" rtlCol="0" anchor="ctr"/>
            <a:lstStyle/>
            <a:p>
              <a:pPr marL="0" indent="0" algn="ctr">
                <a:lnSpc>
                  <a:spcPts val="885"/>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图谱定位</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53" name="Text 75"/>
            <p:cNvSpPr/>
            <p:nvPr/>
          </p:nvSpPr>
          <p:spPr>
            <a:xfrm>
              <a:off x="9617" y="4917"/>
              <a:ext cx="773" cy="255"/>
            </a:xfrm>
            <a:prstGeom prst="rect">
              <a:avLst/>
            </a:prstGeom>
            <a:noFill/>
          </p:spPr>
          <p:txBody>
            <a:bodyPr wrap="none" lIns="0" tIns="0" rIns="0" bIns="0" rtlCol="0" anchor="ctr"/>
            <a:lstStyle/>
            <a:p>
              <a:pPr marL="0" indent="0" algn="ctr">
                <a:lnSpc>
                  <a:spcPts val="885"/>
                </a:lnSpc>
                <a:buNone/>
              </a:pPr>
              <a:r>
                <a:rPr lang="en-US" sz="900" dirty="0">
                  <a:solidFill>
                    <a:srgbClr val="4A5568"/>
                  </a:solidFill>
                  <a:latin typeface="微软雅黑" panose="020B0503020204020204" charset="-122"/>
                  <a:ea typeface="微软雅黑" panose="020B0503020204020204" charset="-122"/>
                  <a:cs typeface="微软雅黑" panose="020B0503020204020204" pitchFamily="34" charset="-120"/>
                </a:rPr>
                <a:t>文本召回</a:t>
              </a:r>
              <a:endParaRPr lang="en-US" sz="900" dirty="0">
                <a:solidFill>
                  <a:srgbClr val="4A5568"/>
                </a:solidFill>
                <a:latin typeface="微软雅黑" panose="020B0503020204020204" charset="-122"/>
                <a:ea typeface="微软雅黑" panose="020B0503020204020204" charset="-122"/>
                <a:cs typeface="微软雅黑" panose="020B0503020204020204" pitchFamily="34" charset="-120"/>
              </a:endParaRPr>
            </a:p>
          </p:txBody>
        </p:sp>
        <p:sp>
          <p:nvSpPr>
            <p:cNvPr id="54" name="Text 76"/>
            <p:cNvSpPr/>
            <p:nvPr/>
          </p:nvSpPr>
          <p:spPr>
            <a:xfrm>
              <a:off x="11824" y="6622"/>
              <a:ext cx="835" cy="285"/>
            </a:xfrm>
            <a:prstGeom prst="roundRect">
              <a:avLst>
                <a:gd name="adj" fmla="val 18083"/>
              </a:avLst>
            </a:prstGeom>
            <a:solidFill>
              <a:srgbClr val="FFFFFF"/>
            </a:solidFill>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16" name="Text 25"/>
            <p:cNvSpPr/>
            <p:nvPr/>
          </p:nvSpPr>
          <p:spPr>
            <a:xfrm>
              <a:off x="7329" y="8447"/>
              <a:ext cx="1881" cy="348"/>
            </a:xfrm>
            <a:prstGeom prst="rect">
              <a:avLst/>
            </a:prstGeom>
            <a:noFill/>
          </p:spPr>
          <p:txBody>
            <a:bodyPr wrap="square" lIns="0" tIns="0" rIns="0" bIns="0" rtlCol="0" anchor="t"/>
            <a:lstStyle/>
            <a:p>
              <a:pPr marL="0" indent="0" algn="ctr">
                <a:lnSpc>
                  <a:spcPct val="100000"/>
                </a:lnSpc>
                <a:buNone/>
              </a:pPr>
              <a:r>
                <a:rPr lang="zh-CN" altLang="en-US" sz="900" dirty="0">
                  <a:solidFill>
                    <a:srgbClr val="555555"/>
                  </a:solidFill>
                  <a:latin typeface="微软雅黑" panose="020B0503020204020204" charset="-122"/>
                  <a:ea typeface="微软雅黑" panose="020B0503020204020204" charset="-122"/>
                  <a:cs typeface="微软雅黑" panose="020B0503020204020204" charset="-122"/>
                </a:rPr>
                <a:t>文档</a:t>
              </a:r>
              <a:r>
                <a:rPr lang="en-US" sz="900" dirty="0">
                  <a:solidFill>
                    <a:srgbClr val="555555"/>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555555"/>
                  </a:solidFill>
                  <a:latin typeface="微软雅黑" panose="020B0503020204020204" charset="-122"/>
                  <a:ea typeface="微软雅黑" panose="020B0503020204020204" charset="-122"/>
                  <a:cs typeface="微软雅黑" panose="020B0503020204020204" charset="-122"/>
                </a:rPr>
                <a:t>子图</a:t>
              </a:r>
              <a:r>
                <a:rPr lang="en-US" sz="900" dirty="0">
                  <a:solidFill>
                    <a:srgbClr val="555555"/>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555555"/>
                  </a:solidFill>
                  <a:latin typeface="微软雅黑" panose="020B0503020204020204" charset="-122"/>
                  <a:ea typeface="微软雅黑" panose="020B0503020204020204" charset="-122"/>
                  <a:cs typeface="微软雅黑" panose="020B0503020204020204" charset="-122"/>
                </a:rPr>
                <a:t>四要素</a:t>
              </a:r>
              <a:endParaRPr lang="zh-CN" altLang="en-US" sz="900" dirty="0">
                <a:solidFill>
                  <a:srgbClr val="555555"/>
                </a:solidFill>
                <a:latin typeface="微软雅黑" panose="020B0503020204020204" charset="-122"/>
                <a:ea typeface="微软雅黑" panose="020B0503020204020204" charset="-122"/>
                <a:cs typeface="微软雅黑" panose="020B0503020204020204" charset="-122"/>
              </a:endParaRPr>
            </a:p>
          </p:txBody>
        </p:sp>
        <p:cxnSp>
          <p:nvCxnSpPr>
            <p:cNvPr id="15" name="肘形连接符 14"/>
            <p:cNvCxnSpPr>
              <a:stCxn id="3" idx="3"/>
              <a:endCxn id="5" idx="1"/>
            </p:cNvCxnSpPr>
            <p:nvPr/>
          </p:nvCxnSpPr>
          <p:spPr>
            <a:xfrm flipV="1">
              <a:off x="2663" y="5454"/>
              <a:ext cx="813" cy="1241"/>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5" idx="2"/>
              <a:endCxn id="21" idx="0"/>
            </p:cNvCxnSpPr>
            <p:nvPr/>
          </p:nvCxnSpPr>
          <p:spPr>
            <a:xfrm>
              <a:off x="4869" y="5964"/>
              <a:ext cx="0" cy="105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59" name="肘形连接符 58"/>
            <p:cNvCxnSpPr>
              <a:stCxn id="21" idx="3"/>
              <a:endCxn id="27" idx="1"/>
            </p:cNvCxnSpPr>
            <p:nvPr/>
          </p:nvCxnSpPr>
          <p:spPr>
            <a:xfrm flipV="1">
              <a:off x="6260" y="5502"/>
              <a:ext cx="634" cy="2031"/>
            </a:xfrm>
            <a:prstGeom prst="bentConnector3">
              <a:avLst>
                <a:gd name="adj1" fmla="val 50093"/>
              </a:avLst>
            </a:prstGeom>
            <a:ln>
              <a:tailEnd type="arrow"/>
            </a:ln>
          </p:spPr>
          <p:style>
            <a:lnRef idx="2">
              <a:schemeClr val="accent1"/>
            </a:lnRef>
            <a:fillRef idx="0">
              <a:srgbClr val="FFFFFF"/>
            </a:fillRef>
            <a:effectRef idx="0">
              <a:srgbClr val="FFFFFF"/>
            </a:effectRef>
            <a:fontRef idx="minor">
              <a:schemeClr val="tx1"/>
            </a:fontRef>
          </p:style>
        </p:cxnSp>
        <p:cxnSp>
          <p:nvCxnSpPr>
            <p:cNvPr id="60" name="直接箭头连接符 59"/>
            <p:cNvCxnSpPr>
              <a:stCxn id="27" idx="2"/>
              <a:endCxn id="30" idx="0"/>
            </p:cNvCxnSpPr>
            <p:nvPr/>
          </p:nvCxnSpPr>
          <p:spPr>
            <a:xfrm flipH="1">
              <a:off x="8267" y="6076"/>
              <a:ext cx="19" cy="1841"/>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61" name="直接箭头连接符 60"/>
            <p:cNvCxnSpPr>
              <a:stCxn id="27" idx="3"/>
              <a:endCxn id="33" idx="1"/>
            </p:cNvCxnSpPr>
            <p:nvPr/>
          </p:nvCxnSpPr>
          <p:spPr>
            <a:xfrm>
              <a:off x="9678" y="5502"/>
              <a:ext cx="718" cy="1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3" name="肘形连接符 62"/>
            <p:cNvCxnSpPr>
              <a:stCxn id="30" idx="3"/>
              <a:endCxn id="33" idx="1"/>
            </p:cNvCxnSpPr>
            <p:nvPr/>
          </p:nvCxnSpPr>
          <p:spPr>
            <a:xfrm flipV="1">
              <a:off x="9659" y="5513"/>
              <a:ext cx="737" cy="2979"/>
            </a:xfrm>
            <a:prstGeom prst="bentConnector3">
              <a:avLst>
                <a:gd name="adj1" fmla="val 50068"/>
              </a:avLst>
            </a:prstGeom>
            <a:ln>
              <a:tailEnd type="arrow"/>
            </a:ln>
          </p:spPr>
          <p:style>
            <a:lnRef idx="2">
              <a:schemeClr val="accent1"/>
            </a:lnRef>
            <a:fillRef idx="0">
              <a:srgbClr val="FFFFFF"/>
            </a:fillRef>
            <a:effectRef idx="0">
              <a:srgbClr val="FFFFFF"/>
            </a:effectRef>
            <a:fontRef idx="minor">
              <a:schemeClr val="tx1"/>
            </a:fontRef>
          </p:style>
        </p:cxnSp>
        <p:cxnSp>
          <p:nvCxnSpPr>
            <p:cNvPr id="67" name="直接箭头连接符 66"/>
            <p:cNvCxnSpPr>
              <a:stCxn id="33" idx="2"/>
              <a:endCxn id="36" idx="0"/>
            </p:cNvCxnSpPr>
            <p:nvPr/>
          </p:nvCxnSpPr>
          <p:spPr>
            <a:xfrm>
              <a:off x="11722" y="6023"/>
              <a:ext cx="0" cy="167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9" name="肘形连接符 68"/>
            <p:cNvCxnSpPr>
              <a:stCxn id="36" idx="3"/>
              <a:endCxn id="41" idx="1"/>
            </p:cNvCxnSpPr>
            <p:nvPr/>
          </p:nvCxnSpPr>
          <p:spPr>
            <a:xfrm flipV="1">
              <a:off x="13047" y="6649"/>
              <a:ext cx="1252" cy="1563"/>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grpSp>
      <p:sp>
        <p:nvSpPr>
          <p:cNvPr id="71" name="Shape 67"/>
          <p:cNvSpPr/>
          <p:nvPr/>
        </p:nvSpPr>
        <p:spPr>
          <a:xfrm>
            <a:off x="9395460" y="2663190"/>
            <a:ext cx="2762250" cy="1386840"/>
          </a:xfrm>
          <a:prstGeom prst="roundRect">
            <a:avLst>
              <a:gd name="adj" fmla="val 6316"/>
            </a:avLst>
          </a:prstGeom>
          <a:solidFill>
            <a:srgbClr val="FFFFFF"/>
          </a:solidFill>
          <a:ln w="9525">
            <a:solidFill>
              <a:srgbClr val="BFBFBF"/>
            </a:solidFill>
            <a:prstDash val="solid"/>
          </a:ln>
          <a:effectLst>
            <a:outerShdw blurRad="50800" dist="12700" dir="5400000" algn="bl" rotWithShape="0">
              <a:srgbClr val="000000">
                <a:alpha val="10000"/>
              </a:srgbClr>
            </a:outerShdw>
          </a:effectLst>
        </p:spPr>
      </p:sp>
      <p:sp>
        <p:nvSpPr>
          <p:cNvPr id="72" name="Shape 68"/>
          <p:cNvSpPr/>
          <p:nvPr/>
        </p:nvSpPr>
        <p:spPr>
          <a:xfrm>
            <a:off x="9532620" y="2864358"/>
            <a:ext cx="457200" cy="457200"/>
          </a:xfrm>
          <a:prstGeom prst="ellipse">
            <a:avLst/>
          </a:prstGeom>
          <a:solidFill>
            <a:srgbClr val="305087"/>
          </a:solidFill>
          <a:ln w="12700">
            <a:solidFill>
              <a:srgbClr val="305087"/>
            </a:solidFill>
            <a:prstDash val="solid"/>
          </a:ln>
        </p:spPr>
      </p:sp>
      <p:sp>
        <p:nvSpPr>
          <p:cNvPr id="73" name="Text 69"/>
          <p:cNvSpPr/>
          <p:nvPr/>
        </p:nvSpPr>
        <p:spPr>
          <a:xfrm>
            <a:off x="9532620" y="286435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charset="-122"/>
                <a:ea typeface="微软雅黑" panose="020B0503020204020204" charset="-122"/>
                <a:cs typeface="Calibri" panose="020F0502020204030204" pitchFamily="34" charset="-120"/>
              </a:rPr>
              <a:t>①</a:t>
            </a:r>
            <a:endParaRPr lang="en-US" sz="1600" b="1" dirty="0">
              <a:solidFill>
                <a:srgbClr val="FFFFFF"/>
              </a:solidFill>
              <a:latin typeface="微软雅黑" panose="020B0503020204020204" charset="-122"/>
              <a:ea typeface="微软雅黑" panose="020B0503020204020204" charset="-122"/>
              <a:cs typeface="Calibri" panose="020F0502020204030204" pitchFamily="34" charset="-120"/>
            </a:endParaRPr>
          </a:p>
        </p:txBody>
      </p:sp>
      <p:sp>
        <p:nvSpPr>
          <p:cNvPr id="74" name="Text 70"/>
          <p:cNvSpPr/>
          <p:nvPr/>
        </p:nvSpPr>
        <p:spPr>
          <a:xfrm>
            <a:off x="10081260" y="2782062"/>
            <a:ext cx="1984934" cy="274320"/>
          </a:xfrm>
          <a:prstGeom prst="rect">
            <a:avLst/>
          </a:prstGeom>
          <a:noFill/>
        </p:spPr>
        <p:txBody>
          <a:bodyPr wrap="square" lIns="0" tIns="0" rIns="0" bIns="0" rtlCol="0" anchor="ctr"/>
          <a:lstStyle/>
          <a:p>
            <a:pPr marL="0" indent="0" algn="l">
              <a:buNone/>
            </a:pPr>
            <a:r>
              <a:rPr lang="zh-CN" altLang="en-US" sz="1400" b="1" dirty="0">
                <a:solidFill>
                  <a:srgbClr val="305087"/>
                </a:solidFill>
                <a:latin typeface="微软雅黑" panose="020B0503020204020204" charset="-122"/>
                <a:ea typeface="微软雅黑" panose="020B0503020204020204" charset="-122"/>
                <a:cs typeface="微软雅黑" panose="020B0503020204020204" charset="-122"/>
              </a:rPr>
              <a:t>知识溯源链路设计</a:t>
            </a:r>
            <a:endParaRPr lang="zh-CN" altLang="en-US" sz="1400" b="1" dirty="0">
              <a:solidFill>
                <a:srgbClr val="305087"/>
              </a:solidFill>
              <a:latin typeface="微软雅黑" panose="020B0503020204020204" charset="-122"/>
              <a:ea typeface="微软雅黑" panose="020B0503020204020204" charset="-122"/>
              <a:cs typeface="微软雅黑" panose="020B0503020204020204" charset="-122"/>
            </a:endParaRPr>
          </a:p>
        </p:txBody>
      </p:sp>
      <p:sp>
        <p:nvSpPr>
          <p:cNvPr id="75" name="Text 71"/>
          <p:cNvSpPr/>
          <p:nvPr/>
        </p:nvSpPr>
        <p:spPr>
          <a:xfrm>
            <a:off x="10081260" y="3047238"/>
            <a:ext cx="1984934" cy="457200"/>
          </a:xfrm>
          <a:prstGeom prst="rect">
            <a:avLst/>
          </a:prstGeom>
          <a:noFill/>
        </p:spPr>
        <p:txBody>
          <a:bodyPr wrap="square" lIns="0" tIns="0" rIns="0" bIns="0" rtlCol="0" anchor="t"/>
          <a:lstStyle/>
          <a:p>
            <a:pPr marL="0" indent="0" algn="l">
              <a:buNone/>
            </a:pPr>
            <a:r>
              <a:rPr lang="zh-CN" altLang="en-US" sz="1200" dirty="0">
                <a:solidFill>
                  <a:srgbClr val="3A3A3A"/>
                </a:solidFill>
                <a:latin typeface="微软雅黑" panose="020B0503020204020204" charset="-122"/>
                <a:ea typeface="微软雅黑" panose="020B0503020204020204" charset="-122"/>
                <a:cs typeface="微软雅黑" panose="020B0503020204020204" charset="-122"/>
              </a:rPr>
              <a:t>每个文档片段落库时生成唯一片段</a:t>
            </a:r>
            <a:r>
              <a:rPr lang="en-US" altLang="zh-CN" sz="1200" dirty="0">
                <a:solidFill>
                  <a:srgbClr val="3A3A3A"/>
                </a:solidFill>
                <a:latin typeface="微软雅黑" panose="020B0503020204020204" charset="-122"/>
                <a:ea typeface="微软雅黑" panose="020B0503020204020204" charset="-122"/>
                <a:cs typeface="微软雅黑" panose="020B0503020204020204" charset="-122"/>
              </a:rPr>
              <a:t> ID</a:t>
            </a:r>
            <a:r>
              <a:rPr lang="zh-CN" altLang="en-US" sz="1200" dirty="0">
                <a:solidFill>
                  <a:srgbClr val="3A3A3A"/>
                </a:solidFill>
                <a:latin typeface="微软雅黑" panose="020B0503020204020204" charset="-122"/>
                <a:ea typeface="微软雅黑" panose="020B0503020204020204" charset="-122"/>
                <a:cs typeface="微软雅黑" panose="020B0503020204020204" charset="-122"/>
              </a:rPr>
              <a:t>，与对应语义图节点建立双向关联，图节点携带源文档</a:t>
            </a:r>
            <a:r>
              <a:rPr lang="en-US" altLang="zh-CN" sz="1200" dirty="0">
                <a:solidFill>
                  <a:srgbClr val="3A3A3A"/>
                </a:solidFill>
                <a:latin typeface="微软雅黑" panose="020B0503020204020204" charset="-122"/>
                <a:ea typeface="微软雅黑" panose="020B0503020204020204" charset="-122"/>
                <a:cs typeface="微软雅黑" panose="020B0503020204020204" charset="-122"/>
              </a:rPr>
              <a:t> ID</a:t>
            </a:r>
            <a:r>
              <a:rPr lang="zh-CN" altLang="en-US" sz="1200" dirty="0">
                <a:solidFill>
                  <a:srgbClr val="3A3A3A"/>
                </a:solidFill>
                <a:latin typeface="微软雅黑" panose="020B0503020204020204" charset="-122"/>
                <a:ea typeface="微软雅黑" panose="020B0503020204020204" charset="-122"/>
                <a:cs typeface="微软雅黑" panose="020B0503020204020204" charset="-122"/>
              </a:rPr>
              <a:t>、条款号、版本、生效日期、责任部门信息</a:t>
            </a:r>
            <a:endParaRPr lang="zh-CN" altLang="en-US" sz="1200" dirty="0">
              <a:solidFill>
                <a:srgbClr val="3A3A3A"/>
              </a:solidFill>
              <a:latin typeface="微软雅黑" panose="020B0503020204020204" charset="-122"/>
              <a:ea typeface="微软雅黑" panose="020B0503020204020204" charset="-122"/>
              <a:cs typeface="微软雅黑" panose="020B0503020204020204" charset="-122"/>
            </a:endParaRPr>
          </a:p>
        </p:txBody>
      </p:sp>
      <p:sp>
        <p:nvSpPr>
          <p:cNvPr id="76" name="Shape 72"/>
          <p:cNvSpPr/>
          <p:nvPr/>
        </p:nvSpPr>
        <p:spPr>
          <a:xfrm>
            <a:off x="9395460" y="4493895"/>
            <a:ext cx="2762250" cy="1336040"/>
          </a:xfrm>
          <a:prstGeom prst="roundRect">
            <a:avLst>
              <a:gd name="adj" fmla="val 6316"/>
            </a:avLst>
          </a:prstGeom>
          <a:solidFill>
            <a:srgbClr val="FFFFFF"/>
          </a:solidFill>
          <a:ln w="9525">
            <a:solidFill>
              <a:srgbClr val="BFBFBF"/>
            </a:solidFill>
            <a:prstDash val="solid"/>
          </a:ln>
          <a:effectLst>
            <a:outerShdw blurRad="50800" dist="12700" dir="5400000" algn="bl" rotWithShape="0">
              <a:srgbClr val="000000">
                <a:alpha val="10000"/>
              </a:srgbClr>
            </a:outerShdw>
          </a:effectLst>
        </p:spPr>
      </p:sp>
      <p:sp>
        <p:nvSpPr>
          <p:cNvPr id="77" name="Shape 73"/>
          <p:cNvSpPr/>
          <p:nvPr/>
        </p:nvSpPr>
        <p:spPr>
          <a:xfrm>
            <a:off x="9532544" y="4695063"/>
            <a:ext cx="457200" cy="457200"/>
          </a:xfrm>
          <a:prstGeom prst="ellipse">
            <a:avLst/>
          </a:prstGeom>
          <a:solidFill>
            <a:srgbClr val="305087"/>
          </a:solidFill>
          <a:ln w="12700">
            <a:solidFill>
              <a:srgbClr val="305087"/>
            </a:solidFill>
            <a:prstDash val="solid"/>
          </a:ln>
        </p:spPr>
      </p:sp>
      <p:sp>
        <p:nvSpPr>
          <p:cNvPr id="78" name="Text 74"/>
          <p:cNvSpPr/>
          <p:nvPr/>
        </p:nvSpPr>
        <p:spPr>
          <a:xfrm>
            <a:off x="9532544" y="4695063"/>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charset="-122"/>
                <a:ea typeface="微软雅黑" panose="020B0503020204020204" charset="-122"/>
                <a:cs typeface="Calibri" panose="020F0502020204030204" pitchFamily="34" charset="-120"/>
              </a:rPr>
              <a:t>②</a:t>
            </a:r>
            <a:endParaRPr lang="en-US" sz="1600" b="1" dirty="0">
              <a:solidFill>
                <a:srgbClr val="FFFFFF"/>
              </a:solidFill>
              <a:latin typeface="微软雅黑" panose="020B0503020204020204" charset="-122"/>
              <a:ea typeface="微软雅黑" panose="020B0503020204020204" charset="-122"/>
              <a:cs typeface="Calibri" panose="020F0502020204030204" pitchFamily="34" charset="-120"/>
            </a:endParaRPr>
          </a:p>
        </p:txBody>
      </p:sp>
      <p:sp>
        <p:nvSpPr>
          <p:cNvPr id="79" name="Text 75"/>
          <p:cNvSpPr/>
          <p:nvPr/>
        </p:nvSpPr>
        <p:spPr>
          <a:xfrm>
            <a:off x="10081184" y="4612767"/>
            <a:ext cx="1984934" cy="274320"/>
          </a:xfrm>
          <a:prstGeom prst="rect">
            <a:avLst/>
          </a:prstGeom>
          <a:noFill/>
        </p:spPr>
        <p:txBody>
          <a:bodyPr wrap="square" lIns="0" tIns="0" rIns="0" bIns="0" rtlCol="0" anchor="ctr"/>
          <a:lstStyle/>
          <a:p>
            <a:pPr marL="0" indent="0" algn="l">
              <a:buNone/>
            </a:pPr>
            <a:r>
              <a:rPr lang="zh-CN" altLang="en-US" sz="1400" b="1" dirty="0">
                <a:solidFill>
                  <a:srgbClr val="305087"/>
                </a:solidFill>
                <a:latin typeface="微软雅黑" panose="020B0503020204020204" charset="-122"/>
                <a:ea typeface="微软雅黑" panose="020B0503020204020204" charset="-122"/>
                <a:cs typeface="Calibri" panose="020F0502020204030204" pitchFamily="34" charset="-120"/>
              </a:rPr>
              <a:t>生成即溯源</a:t>
            </a:r>
            <a:endParaRPr lang="zh-CN" altLang="en-US" sz="1400" b="1" dirty="0">
              <a:solidFill>
                <a:srgbClr val="305087"/>
              </a:solidFill>
              <a:latin typeface="微软雅黑" panose="020B0503020204020204" charset="-122"/>
              <a:ea typeface="微软雅黑" panose="020B0503020204020204" charset="-122"/>
              <a:cs typeface="Calibri" panose="020F0502020204030204" pitchFamily="34" charset="-120"/>
            </a:endParaRPr>
          </a:p>
        </p:txBody>
      </p:sp>
      <p:sp>
        <p:nvSpPr>
          <p:cNvPr id="80" name="Text 76"/>
          <p:cNvSpPr/>
          <p:nvPr/>
        </p:nvSpPr>
        <p:spPr>
          <a:xfrm>
            <a:off x="10081184" y="4877943"/>
            <a:ext cx="1984934" cy="457200"/>
          </a:xfrm>
          <a:prstGeom prst="rect">
            <a:avLst/>
          </a:prstGeom>
          <a:noFill/>
        </p:spPr>
        <p:txBody>
          <a:bodyPr wrap="square" lIns="0" tIns="0" rIns="0" bIns="0" rtlCol="0" anchor="t"/>
          <a:lstStyle/>
          <a:p>
            <a:pPr marL="0" indent="0" algn="l">
              <a:buNone/>
            </a:pPr>
            <a:r>
              <a:rPr lang="zh-CN" altLang="en-US" sz="1200" dirty="0">
                <a:solidFill>
                  <a:srgbClr val="3A3A3A"/>
                </a:solidFill>
                <a:latin typeface="微软雅黑" panose="020B0503020204020204" charset="-122"/>
                <a:ea typeface="微软雅黑" panose="020B0503020204020204" charset="-122"/>
                <a:cs typeface="微软雅黑" panose="020B0503020204020204" charset="-122"/>
              </a:rPr>
              <a:t>大模型生成答案时强制要求每句结论标注对应的</a:t>
            </a:r>
            <a:r>
              <a:rPr lang="zh-CN" altLang="en-US" sz="1200" dirty="0">
                <a:solidFill>
                  <a:srgbClr val="3A3A3A"/>
                </a:solidFill>
                <a:latin typeface="微软雅黑" panose="020B0503020204020204" charset="-122"/>
                <a:ea typeface="微软雅黑" panose="020B0503020204020204" charset="-122"/>
                <a:cs typeface="微软雅黑" panose="020B0503020204020204" charset="-122"/>
                <a:sym typeface="+mn-ea"/>
              </a:rPr>
              <a:t>源文档</a:t>
            </a:r>
            <a:r>
              <a:rPr lang="en-US" altLang="zh-CN" sz="1200" dirty="0">
                <a:solidFill>
                  <a:srgbClr val="3A3A3A"/>
                </a:solidFill>
                <a:latin typeface="微软雅黑" panose="020B0503020204020204" charset="-122"/>
                <a:ea typeface="微软雅黑" panose="020B0503020204020204" charset="-122"/>
                <a:cs typeface="微软雅黑" panose="020B0503020204020204" charset="-122"/>
                <a:sym typeface="+mn-ea"/>
              </a:rPr>
              <a:t> ID</a:t>
            </a:r>
            <a:r>
              <a:rPr lang="zh-CN" altLang="en-US" sz="1200" dirty="0">
                <a:solidFill>
                  <a:srgbClr val="3A3A3A"/>
                </a:solidFill>
                <a:latin typeface="微软雅黑" panose="020B0503020204020204" charset="-122"/>
                <a:ea typeface="微软雅黑" panose="020B0503020204020204" charset="-122"/>
                <a:cs typeface="微软雅黑" panose="020B0503020204020204" charset="-122"/>
                <a:sym typeface="+mn-ea"/>
              </a:rPr>
              <a:t>、条款号、版本、生效日期、责任部门信息</a:t>
            </a:r>
            <a:endParaRPr lang="zh-CN" altLang="en-US" sz="1200" dirty="0">
              <a:solidFill>
                <a:srgbClr val="3A3A3A"/>
              </a:solidFill>
              <a:latin typeface="微软雅黑" panose="020B0503020204020204" charset="-122"/>
              <a:ea typeface="微软雅黑" panose="020B0503020204020204" charset="-122"/>
              <a:cs typeface="微软雅黑" panose="020B0503020204020204" charset="-122"/>
              <a:sym typeface="+mn-ea"/>
            </a:endParaRPr>
          </a:p>
        </p:txBody>
      </p:sp>
      <p:sp>
        <p:nvSpPr>
          <p:cNvPr id="81" name="Shape 13"/>
          <p:cNvSpPr/>
          <p:nvPr/>
        </p:nvSpPr>
        <p:spPr>
          <a:xfrm>
            <a:off x="365760" y="911860"/>
            <a:ext cx="11460175" cy="502920"/>
          </a:xfrm>
          <a:prstGeom prst="roundRect">
            <a:avLst>
              <a:gd name="adj" fmla="val 9091"/>
            </a:avLst>
          </a:prstGeom>
          <a:solidFill>
            <a:srgbClr val="F5F6FA"/>
          </a:solidFill>
          <a:ln w="9525">
            <a:solidFill>
              <a:srgbClr val="BFBFBF"/>
            </a:solidFill>
            <a:prstDash val="solid"/>
          </a:ln>
        </p:spPr>
      </p:sp>
      <p:sp>
        <p:nvSpPr>
          <p:cNvPr id="82" name="Text 16"/>
          <p:cNvSpPr/>
          <p:nvPr/>
        </p:nvSpPr>
        <p:spPr>
          <a:xfrm>
            <a:off x="1828800" y="939292"/>
            <a:ext cx="9997135" cy="457200"/>
          </a:xfrm>
          <a:prstGeom prst="rect">
            <a:avLst/>
          </a:prstGeom>
          <a:noFill/>
        </p:spPr>
        <p:txBody>
          <a:bodyPr wrap="square" lIns="0" tIns="0" rIns="0" bIns="0" rtlCol="0" anchor="ctr"/>
          <a:lstStyle/>
          <a:p>
            <a:pPr marL="0" indent="0" algn="l">
              <a:buNone/>
            </a:pPr>
            <a:r>
              <a:rPr lang="zh-CN" altLang="en-US" sz="1200" dirty="0">
                <a:solidFill>
                  <a:srgbClr val="1F2A44"/>
                </a:solidFill>
                <a:latin typeface="微软雅黑" panose="020B0503020204020204" charset="-122"/>
                <a:ea typeface="微软雅黑" panose="020B0503020204020204" charset="-122"/>
                <a:cs typeface="微软雅黑" panose="020B0503020204020204" charset="-122"/>
              </a:rPr>
              <a:t>解决金融</a:t>
            </a:r>
            <a:r>
              <a:rPr lang="en-US" altLang="zh-CN" sz="1200" dirty="0">
                <a:solidFill>
                  <a:srgbClr val="1F2A44"/>
                </a:solidFill>
                <a:latin typeface="微软雅黑" panose="020B0503020204020204" charset="-122"/>
                <a:ea typeface="微软雅黑" panose="020B0503020204020204" charset="-122"/>
                <a:cs typeface="微软雅黑" panose="020B0503020204020204" charset="-122"/>
              </a:rPr>
              <a:t> AI </a:t>
            </a:r>
            <a:r>
              <a:rPr lang="zh-CN" altLang="en-US" sz="1200" dirty="0">
                <a:solidFill>
                  <a:srgbClr val="1F2A44"/>
                </a:solidFill>
                <a:latin typeface="微软雅黑" panose="020B0503020204020204" charset="-122"/>
                <a:ea typeface="微软雅黑" panose="020B0503020204020204" charset="-122"/>
                <a:cs typeface="微软雅黑" panose="020B0503020204020204" charset="-122"/>
              </a:rPr>
              <a:t>输出无依据、无法核验的痛点，通过知识库文本与语义图节点双向强绑定，实现所有业务结论、风控判断、解答话术都能精准追溯到原始文档、具体条款、责任部门</a:t>
            </a:r>
            <a:endParaRPr lang="zh-CN" altLang="en-US" sz="1200" dirty="0">
              <a:solidFill>
                <a:srgbClr val="1F2A44"/>
              </a:solidFill>
              <a:latin typeface="微软雅黑" panose="020B0503020204020204" charset="-122"/>
              <a:ea typeface="微软雅黑" panose="020B0503020204020204" charset="-122"/>
              <a:cs typeface="微软雅黑" panose="020B0503020204020204" charset="-122"/>
            </a:endParaRPr>
          </a:p>
        </p:txBody>
      </p:sp>
      <p:sp>
        <p:nvSpPr>
          <p:cNvPr id="83" name="Shape 14"/>
          <p:cNvSpPr/>
          <p:nvPr/>
        </p:nvSpPr>
        <p:spPr>
          <a:xfrm>
            <a:off x="502920" y="1024255"/>
            <a:ext cx="1188720" cy="320040"/>
          </a:xfrm>
          <a:prstGeom prst="roundRect">
            <a:avLst>
              <a:gd name="adj" fmla="val 14286"/>
            </a:avLst>
          </a:prstGeom>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600" b="1">
                <a:solidFill>
                  <a:schemeClr val="bg1"/>
                </a:solidFill>
                <a:latin typeface="微软雅黑" panose="020B0503020204020204" charset="-122"/>
                <a:ea typeface="微软雅黑" panose="020B0503020204020204" charset="-122"/>
              </a:rPr>
              <a:t>技术定位</a:t>
            </a:r>
            <a:endParaRPr lang="zh-CN" altLang="en-US" sz="1600" b="1">
              <a:solidFill>
                <a:schemeClr val="bg1"/>
              </a:solidFill>
              <a:latin typeface="微软雅黑" panose="020B0503020204020204" charset="-122"/>
              <a:ea typeface="微软雅黑" panose="020B0503020204020204" charset="-122"/>
            </a:endParaRPr>
          </a:p>
        </p:txBody>
      </p:sp>
      <p:sp>
        <p:nvSpPr>
          <p:cNvPr id="84" name="Shape 60"/>
          <p:cNvSpPr/>
          <p:nvPr/>
        </p:nvSpPr>
        <p:spPr>
          <a:xfrm>
            <a:off x="9411970" y="2307590"/>
            <a:ext cx="146050" cy="182880"/>
          </a:xfrm>
          <a:prstGeom prst="rect">
            <a:avLst/>
          </a:prstGeom>
        </p:spPr>
        <p:style>
          <a:lnRef idx="0">
            <a:srgbClr val="FFFFFF"/>
          </a:lnRef>
          <a:fillRef idx="1">
            <a:schemeClr val="accent1"/>
          </a:fillRef>
          <a:effectRef idx="0">
            <a:srgbClr val="FFFFFF"/>
          </a:effectRef>
          <a:fontRef idx="minor">
            <a:schemeClr val="lt1"/>
          </a:fontRef>
        </p:style>
      </p:sp>
      <p:sp>
        <p:nvSpPr>
          <p:cNvPr id="85" name="Text 61"/>
          <p:cNvSpPr/>
          <p:nvPr/>
        </p:nvSpPr>
        <p:spPr>
          <a:xfrm>
            <a:off x="9594850" y="2279650"/>
            <a:ext cx="2743200" cy="274320"/>
          </a:xfrm>
          <a:prstGeom prst="rect">
            <a:avLst/>
          </a:prstGeom>
          <a:noFill/>
        </p:spPr>
        <p:txBody>
          <a:bodyPr wrap="square" lIns="0" tIns="0" rIns="0" bIns="0" rtlCol="0" anchor="ctr"/>
          <a:lstStyle/>
          <a:p>
            <a:pPr marL="0" indent="0" algn="l">
              <a:buNone/>
            </a:pPr>
            <a:r>
              <a:rPr lang="en-US" sz="1600" b="1" dirty="0">
                <a:solidFill>
                  <a:srgbClr val="305087"/>
                </a:solidFill>
                <a:latin typeface="微软雅黑" panose="020B0503020204020204" charset="-122"/>
                <a:ea typeface="微软雅黑" panose="020B0503020204020204" charset="-122"/>
                <a:cs typeface="Calibri" panose="020F0502020204030204" pitchFamily="34" charset="-120"/>
              </a:rPr>
              <a:t>核心技术点</a:t>
            </a:r>
            <a:endParaRPr lang="en-US" sz="1600" b="1" dirty="0">
              <a:solidFill>
                <a:srgbClr val="305087"/>
              </a:solidFill>
              <a:latin typeface="微软雅黑" panose="020B0503020204020204" charset="-122"/>
              <a:ea typeface="微软雅黑" panose="020B0503020204020204" charset="-122"/>
              <a:cs typeface="Calibri" panose="020F0502020204030204" pitchFamily="34" charset="-120"/>
            </a:endParaRPr>
          </a:p>
        </p:txBody>
      </p:sp>
      <p:sp>
        <p:nvSpPr>
          <p:cNvPr id="14" name="矩形 13"/>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18" name="矩形 17"/>
          <p:cNvSpPr/>
          <p:nvPr/>
        </p:nvSpPr>
        <p:spPr>
          <a:xfrm>
            <a:off x="796682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24" name="矩形 23"/>
          <p:cNvSpPr/>
          <p:nvPr/>
        </p:nvSpPr>
        <p:spPr>
          <a:xfrm>
            <a:off x="8806934"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25" name="矩形 24"/>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sym typeface="+mn-ea"/>
              </a:rPr>
              <a:t>可解释</a:t>
            </a:r>
            <a:endParaRPr lang="zh-CN" altLang="en-US" sz="1000">
              <a:latin typeface="微软雅黑" panose="020B0503020204020204" charset="-122"/>
              <a:ea typeface="微软雅黑" panose="020B0503020204020204" charset="-122"/>
            </a:endParaRPr>
          </a:p>
        </p:txBody>
      </p:sp>
      <p:sp>
        <p:nvSpPr>
          <p:cNvPr id="26" name="矩形 25"/>
          <p:cNvSpPr/>
          <p:nvPr/>
        </p:nvSpPr>
        <p:spPr>
          <a:xfrm>
            <a:off x="1048777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39" name="矩形 38"/>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2.5.4 可解释:知识冲突识别 · 权威抬升与过期沉降</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圆角矩形 9"/>
          <p:cNvSpPr/>
          <p:nvPr/>
        </p:nvSpPr>
        <p:spPr bwMode="auto">
          <a:xfrm>
            <a:off x="508635" y="906145"/>
            <a:ext cx="10921365" cy="91948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b="1" dirty="0">
                <a:solidFill>
                  <a:srgbClr val="C00000"/>
                </a:solidFill>
                <a:effectLst/>
                <a:latin typeface="微软雅黑" panose="020B0503020204020204" charset="-122"/>
                <a:ea typeface="微软雅黑" panose="020B0503020204020204" charset="-122"/>
                <a:cs typeface="微软雅黑" panose="020B0503020204020204" charset="-122"/>
              </a:rPr>
              <a:t>自动识别知识冲突，提供清晰的推理逻辑链条与制度依据</a:t>
            </a:r>
            <a:r>
              <a:rPr lang="zh-CN" altLang="en-US" sz="1600" dirty="0">
                <a:effectLst/>
                <a:latin typeface="微软雅黑" panose="020B0503020204020204" charset="-122"/>
                <a:ea typeface="微软雅黑" panose="020B0503020204020204" charset="-122"/>
                <a:cs typeface="微软雅黑" panose="020B0503020204020204" charset="-122"/>
              </a:rPr>
              <a:t>，解决</a:t>
            </a:r>
            <a:r>
              <a:rPr lang="en-US" altLang="zh-CN" sz="1600" dirty="0">
                <a:effectLst/>
                <a:latin typeface="微软雅黑" panose="020B0503020204020204" charset="-122"/>
                <a:ea typeface="微软雅黑" panose="020B0503020204020204" charset="-122"/>
                <a:cs typeface="微软雅黑" panose="020B0503020204020204" charset="-122"/>
              </a:rPr>
              <a:t>AI“</a:t>
            </a:r>
            <a:r>
              <a:rPr lang="zh-CN" altLang="en-US" sz="1600" dirty="0">
                <a:effectLst/>
                <a:latin typeface="微软雅黑" panose="020B0503020204020204" charset="-122"/>
                <a:ea typeface="微软雅黑" panose="020B0503020204020204" charset="-122"/>
                <a:cs typeface="微软雅黑" panose="020B0503020204020204" charset="-122"/>
              </a:rPr>
              <a:t>为什么这么说</a:t>
            </a:r>
            <a:r>
              <a:rPr lang="en-US" altLang="zh-CN" sz="1600" dirty="0">
                <a:effectLst/>
                <a:latin typeface="微软雅黑" panose="020B0503020204020204" charset="-122"/>
                <a:ea typeface="微软雅黑" panose="020B0503020204020204" charset="-122"/>
                <a:cs typeface="微软雅黑" panose="020B0503020204020204" charset="-122"/>
              </a:rPr>
              <a:t>”</a:t>
            </a:r>
            <a:r>
              <a:rPr lang="zh-CN" altLang="en-US" sz="1600" dirty="0">
                <a:effectLst/>
                <a:latin typeface="微软雅黑" panose="020B0503020204020204" charset="-122"/>
                <a:ea typeface="微软雅黑" panose="020B0503020204020204" charset="-122"/>
                <a:cs typeface="微软雅黑" panose="020B0503020204020204" charset="-122"/>
              </a:rPr>
              <a:t>的问题，</a:t>
            </a:r>
            <a:r>
              <a:rPr lang="zh-CN" altLang="en-US" sz="1600" b="1" dirty="0">
                <a:solidFill>
                  <a:srgbClr val="C00000"/>
                </a:solidFill>
                <a:effectLst/>
                <a:latin typeface="微软雅黑" panose="020B0503020204020204" charset="-122"/>
                <a:ea typeface="微软雅黑" panose="020B0503020204020204" charset="-122"/>
                <a:cs typeface="微软雅黑" panose="020B0503020204020204" charset="-122"/>
              </a:rPr>
              <a:t>实现从</a:t>
            </a:r>
            <a:r>
              <a:rPr lang="en-US" altLang="zh-CN" sz="1600" b="1" dirty="0">
                <a:solidFill>
                  <a:srgbClr val="C00000"/>
                </a:solidFill>
                <a:effectLst/>
                <a:latin typeface="微软雅黑" panose="020B0503020204020204" charset="-122"/>
                <a:ea typeface="微软雅黑" panose="020B0503020204020204" charset="-122"/>
                <a:cs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cs typeface="微软雅黑" panose="020B0503020204020204" charset="-122"/>
              </a:rPr>
              <a:t>结果输出</a:t>
            </a:r>
            <a:r>
              <a:rPr lang="en-US" altLang="zh-CN" sz="1600" b="1" dirty="0">
                <a:solidFill>
                  <a:srgbClr val="C00000"/>
                </a:solidFill>
                <a:effectLst/>
                <a:latin typeface="微软雅黑" panose="020B0503020204020204" charset="-122"/>
                <a:ea typeface="微软雅黑" panose="020B0503020204020204" charset="-122"/>
                <a:cs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cs typeface="微软雅黑" panose="020B0503020204020204" charset="-122"/>
              </a:rPr>
              <a:t>到</a:t>
            </a:r>
            <a:r>
              <a:rPr lang="en-US" altLang="zh-CN" sz="1600" b="1" dirty="0">
                <a:solidFill>
                  <a:srgbClr val="C00000"/>
                </a:solidFill>
                <a:effectLst/>
                <a:latin typeface="微软雅黑" panose="020B0503020204020204" charset="-122"/>
                <a:ea typeface="微软雅黑" panose="020B0503020204020204" charset="-122"/>
                <a:cs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cs typeface="微软雅黑" panose="020B0503020204020204" charset="-122"/>
              </a:rPr>
              <a:t>逻辑溯源</a:t>
            </a:r>
            <a:r>
              <a:rPr lang="en-US" altLang="zh-CN" sz="1600" b="1" dirty="0">
                <a:solidFill>
                  <a:srgbClr val="C00000"/>
                </a:solidFill>
                <a:effectLst/>
                <a:latin typeface="微软雅黑" panose="020B0503020204020204" charset="-122"/>
                <a:ea typeface="微软雅黑" panose="020B0503020204020204" charset="-122"/>
                <a:cs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cs typeface="微软雅黑" panose="020B0503020204020204" charset="-122"/>
              </a:rPr>
              <a:t>的透明化升级。</a:t>
            </a:r>
            <a:endParaRPr lang="zh-CN" altLang="en-US" sz="1600" b="1" dirty="0">
              <a:solidFill>
                <a:srgbClr val="C00000"/>
              </a:solidFill>
              <a:effectLst/>
              <a:latin typeface="微软雅黑" panose="020B0503020204020204" charset="-122"/>
              <a:ea typeface="微软雅黑" panose="020B0503020204020204" charset="-122"/>
              <a:cs typeface="微软雅黑" panose="020B0503020204020204" charset="-122"/>
            </a:endParaRPr>
          </a:p>
        </p:txBody>
      </p:sp>
      <p:sp>
        <p:nvSpPr>
          <p:cNvPr id="8" name="AutoShape 8"/>
          <p:cNvSpPr/>
          <p:nvPr/>
        </p:nvSpPr>
        <p:spPr>
          <a:xfrm>
            <a:off x="508000" y="2286000"/>
            <a:ext cx="1778000" cy="1143000"/>
          </a:xfrm>
          <a:prstGeom prst="roundRect">
            <a:avLst>
              <a:gd name="adj" fmla="val 0"/>
            </a:avLst>
          </a:prstGeom>
          <a:solidFill>
            <a:srgbClr val="165DFF">
              <a:alpha val="8000"/>
            </a:srgbClr>
          </a:solidFill>
          <a:ln w="12700" cap="flat" cmpd="sng">
            <a:solidFill>
              <a:srgbClr val="165DFF">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9" name="AutoShape 9"/>
          <p:cNvSpPr/>
          <p:nvPr/>
        </p:nvSpPr>
        <p:spPr>
          <a:xfrm>
            <a:off x="508000" y="2286000"/>
            <a:ext cx="1778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知识召回</a:t>
            </a:r>
            <a:b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5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结果集</a:t>
            </a:r>
            <a:endParaRPr lang="en-US" sz="1100">
              <a:latin typeface="微软雅黑" panose="020B0503020204020204" charset="-122"/>
              <a:ea typeface="微软雅黑" panose="020B0503020204020204" charset="-122"/>
              <a:cs typeface="微软雅黑" panose="020B0503020204020204" charset="-122"/>
            </a:endParaRPr>
          </a:p>
        </p:txBody>
      </p:sp>
      <p:sp>
        <p:nvSpPr>
          <p:cNvPr id="10" name="AutoShape 10"/>
          <p:cNvSpPr/>
          <p:nvPr/>
        </p:nvSpPr>
        <p:spPr>
          <a:xfrm>
            <a:off x="2380615" y="2730500"/>
            <a:ext cx="381000" cy="254000"/>
          </a:xfrm>
          <a:prstGeom prst="rightArrow">
            <a:avLst/>
          </a:prstGeom>
          <a:solidFill>
            <a:srgbClr val="CBD5E1">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11" name="AutoShape 11"/>
          <p:cNvSpPr/>
          <p:nvPr/>
        </p:nvSpPr>
        <p:spPr>
          <a:xfrm>
            <a:off x="2888615" y="2159000"/>
            <a:ext cx="2266315" cy="1079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15615" y="2286000"/>
            <a:ext cx="304800" cy="304800"/>
          </a:xfrm>
          <a:prstGeom prst="rect">
            <a:avLst/>
          </a:prstGeom>
        </p:spPr>
      </p:pic>
      <p:sp>
        <p:nvSpPr>
          <p:cNvPr id="13" name="AutoShape 13"/>
          <p:cNvSpPr/>
          <p:nvPr/>
        </p:nvSpPr>
        <p:spPr>
          <a:xfrm>
            <a:off x="3371215" y="2184400"/>
            <a:ext cx="171323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知识冲突检测</a:t>
            </a:r>
            <a:endParaRPr lang="en-US" sz="1100">
              <a:latin typeface="微软雅黑" panose="020B0503020204020204" charset="-122"/>
              <a:ea typeface="微软雅黑" panose="020B0503020204020204" charset="-122"/>
            </a:endParaRPr>
          </a:p>
          <a:p>
            <a:pPr marL="0" indent="0" algn="l">
              <a:lnSpc>
                <a:spcPct val="100000"/>
              </a:lnSpc>
            </a:pP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识别新旧</a:t>
            </a:r>
            <a:r>
              <a:rPr lang="zh-CN" alt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差异、</a:t>
            </a:r>
            <a:r>
              <a:rPr lang="zh-CN" alt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知识冲突校验</a:t>
            </a: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，智能拦截过期</a:t>
            </a:r>
            <a:r>
              <a:rPr lang="zh-CN" alt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或相似</a:t>
            </a: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a:t>
            </a:r>
            <a:endPar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4" name="AutoShape 14"/>
          <p:cNvSpPr/>
          <p:nvPr/>
        </p:nvSpPr>
        <p:spPr>
          <a:xfrm>
            <a:off x="5248275" y="2163445"/>
            <a:ext cx="2255520" cy="1079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75275" y="2290445"/>
            <a:ext cx="304800" cy="304800"/>
          </a:xfrm>
          <a:prstGeom prst="rect">
            <a:avLst/>
          </a:prstGeom>
        </p:spPr>
      </p:pic>
      <p:sp>
        <p:nvSpPr>
          <p:cNvPr id="16" name="AutoShape 16"/>
          <p:cNvSpPr/>
          <p:nvPr/>
        </p:nvSpPr>
        <p:spPr>
          <a:xfrm>
            <a:off x="5730875" y="2188845"/>
            <a:ext cx="177292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权威度智能排序</a:t>
            </a:r>
            <a:endParaRPr lang="en-US" sz="1100">
              <a:latin typeface="微软雅黑" panose="020B0503020204020204" charset="-122"/>
              <a:ea typeface="微软雅黑" panose="020B0503020204020204" charset="-122"/>
            </a:endParaRPr>
          </a:p>
          <a:p>
            <a:pPr marL="0" indent="0" algn="l">
              <a:lnSpc>
                <a:spcPct val="100000"/>
              </a:lnSpc>
            </a:pP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按发文层级、时间、密级加权，实现权威知识自动抬升，失效知识自动沉降。</a:t>
            </a:r>
            <a:endPar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7" name="AutoShape 17"/>
          <p:cNvSpPr/>
          <p:nvPr/>
        </p:nvSpPr>
        <p:spPr>
          <a:xfrm>
            <a:off x="2888615" y="3383280"/>
            <a:ext cx="4615180" cy="1079500"/>
          </a:xfrm>
          <a:prstGeom prst="roundRect">
            <a:avLst>
              <a:gd name="adj" fmla="val 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8" name="Picture 1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15615" y="3510280"/>
            <a:ext cx="304800" cy="304800"/>
          </a:xfrm>
          <a:prstGeom prst="rect">
            <a:avLst/>
          </a:prstGeom>
        </p:spPr>
      </p:pic>
      <p:sp>
        <p:nvSpPr>
          <p:cNvPr id="19" name="AutoShape 19"/>
          <p:cNvSpPr/>
          <p:nvPr/>
        </p:nvSpPr>
        <p:spPr>
          <a:xfrm>
            <a:off x="3371215" y="3408680"/>
            <a:ext cx="4054475"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推理逻辑链条构建</a:t>
            </a:r>
            <a:endParaRPr lang="en-US" sz="1100">
              <a:latin typeface="微软雅黑" panose="020B0503020204020204" charset="-122"/>
              <a:ea typeface="微软雅黑" panose="020B0503020204020204" charset="-122"/>
              <a:cs typeface="微软雅黑" panose="020B0503020204020204" charset="-122"/>
            </a:endParaRPr>
          </a:p>
          <a:p>
            <a:pPr marL="0" indent="0" algn="l">
              <a:lnSpc>
                <a:spcPct val="100000"/>
              </a:lnSpc>
            </a:pPr>
            <a:r>
              <a:rPr lang="en-US" sz="1200" b="0" i="0" u="none" strike="noStrike">
                <a:solidFill>
                  <a:srgbClr val="64748B"/>
                </a:solidFill>
                <a:latin typeface="微软雅黑" panose="020B0503020204020204" charset="-122"/>
                <a:ea typeface="微软雅黑" panose="020B0503020204020204" charset="-122"/>
                <a:cs typeface="微软雅黑" panose="020B0503020204020204" charset="-122"/>
                <a:sym typeface="Noto Sans SC" panose="020B0200000000000000" charset="-122"/>
              </a:rPr>
              <a:t>串联“问题检索→语义关联→决策推导”全路径，生成可视化</a:t>
            </a:r>
            <a:r>
              <a:rPr lang="zh-CN" altLang="en-US" sz="1200" b="0" i="0" u="none" strike="noStrike">
                <a:solidFill>
                  <a:srgbClr val="64748B"/>
                </a:solidFill>
                <a:latin typeface="微软雅黑" panose="020B0503020204020204" charset="-122"/>
                <a:ea typeface="微软雅黑" panose="020B0503020204020204" charset="-122"/>
                <a:cs typeface="微软雅黑" panose="020B0503020204020204" charset="-122"/>
                <a:sym typeface="Noto Sans SC" panose="020B0200000000000000" charset="-122"/>
              </a:rPr>
              <a:t>思维链</a:t>
            </a:r>
            <a:r>
              <a:rPr lang="en-US" sz="1200" b="0" i="0" u="none" strike="noStrike">
                <a:solidFill>
                  <a:srgbClr val="64748B"/>
                </a:solidFill>
                <a:latin typeface="微软雅黑" panose="020B0503020204020204" charset="-122"/>
                <a:ea typeface="微软雅黑" panose="020B0503020204020204" charset="-122"/>
                <a:cs typeface="微软雅黑" panose="020B0503020204020204" charset="-122"/>
                <a:sym typeface="Noto Sans SC" panose="020B0200000000000000" charset="-122"/>
              </a:rPr>
              <a:t>，还原AI思考过程，确保结论有理有据。</a:t>
            </a:r>
            <a:endParaRPr lang="en-US" sz="1200" b="0" i="0" u="none" strike="noStrike">
              <a:solidFill>
                <a:srgbClr val="64748B"/>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0" name="AutoShape 20"/>
          <p:cNvSpPr/>
          <p:nvPr/>
        </p:nvSpPr>
        <p:spPr>
          <a:xfrm>
            <a:off x="7597140" y="2476500"/>
            <a:ext cx="266065" cy="254000"/>
          </a:xfrm>
          <a:prstGeom prst="rightArrow">
            <a:avLst/>
          </a:prstGeom>
          <a:solidFill>
            <a:srgbClr val="CBD5E1">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1" name="AutoShape 21"/>
          <p:cNvSpPr/>
          <p:nvPr/>
        </p:nvSpPr>
        <p:spPr>
          <a:xfrm>
            <a:off x="7597140" y="3873500"/>
            <a:ext cx="266065" cy="254000"/>
          </a:xfrm>
          <a:prstGeom prst="rightArrow">
            <a:avLst/>
          </a:prstGeom>
          <a:solidFill>
            <a:srgbClr val="CBD5E1">
              <a:alpha val="10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4" name="AutoShape 24"/>
          <p:cNvSpPr/>
          <p:nvPr/>
        </p:nvSpPr>
        <p:spPr>
          <a:xfrm>
            <a:off x="320675" y="4734560"/>
            <a:ext cx="3556000" cy="1460500"/>
          </a:xfrm>
          <a:prstGeom prst="roundRect">
            <a:avLst>
              <a:gd name="adj" fmla="val 0"/>
            </a:avLst>
          </a:prstGeom>
          <a:solidFill>
            <a:srgbClr val="165DFF">
              <a:alpha val="4000"/>
            </a:srgbClr>
          </a:solidFill>
          <a:ln w="12700" cap="flat" cmpd="sng">
            <a:solidFill>
              <a:srgbClr val="165DFF">
                <a:alpha val="1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1175" y="4899660"/>
            <a:ext cx="355600" cy="355600"/>
          </a:xfrm>
          <a:prstGeom prst="rect">
            <a:avLst/>
          </a:prstGeom>
        </p:spPr>
      </p:pic>
      <p:sp>
        <p:nvSpPr>
          <p:cNvPr id="26" name="AutoShape 26"/>
          <p:cNvSpPr/>
          <p:nvPr/>
        </p:nvSpPr>
        <p:spPr>
          <a:xfrm>
            <a:off x="955675" y="4861560"/>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4155"/>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知识冲突自动拦截</a:t>
            </a:r>
            <a:endParaRPr lang="en-US" sz="1100">
              <a:latin typeface="微软雅黑" panose="020B0503020204020204" charset="-122"/>
              <a:ea typeface="微软雅黑" panose="020B0503020204020204" charset="-122"/>
            </a:endParaRPr>
          </a:p>
          <a:p>
            <a:pPr marL="0" indent="0" algn="l">
              <a:lnSpc>
                <a:spcPct val="108000"/>
              </a:lnSpc>
            </a:pP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基于规则引擎与语义比对，自动识别跨部门</a:t>
            </a:r>
            <a:r>
              <a:rPr lang="zh-CN" alt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相似知识</a:t>
            </a:r>
            <a:r>
              <a:rPr lang="en-US" altLang="zh-CN"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zh-CN" alt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基于文档名和摘要比对</a:t>
            </a:r>
            <a:r>
              <a:rPr lang="en-US" altLang="zh-CN"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与新旧</a:t>
            </a:r>
            <a:r>
              <a:rPr lang="zh-CN" alt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a:t>
            </a:r>
            <a:r>
              <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rPr>
              <a:t>冲突，从源头过滤风险信息，保障知识库的一致性与准确性。</a:t>
            </a:r>
            <a:endParaRPr lang="en-US" sz="1200" b="0" i="0" u="none" strike="noStrike">
              <a:solidFill>
                <a:srgbClr val="64748B"/>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7" name="AutoShape 27"/>
          <p:cNvSpPr/>
          <p:nvPr/>
        </p:nvSpPr>
        <p:spPr>
          <a:xfrm>
            <a:off x="4130675" y="4734560"/>
            <a:ext cx="3556000" cy="1460500"/>
          </a:xfrm>
          <a:prstGeom prst="roundRect">
            <a:avLst>
              <a:gd name="adj" fmla="val 0"/>
            </a:avLst>
          </a:prstGeom>
          <a:solidFill>
            <a:srgbClr val="165DFF">
              <a:alpha val="4000"/>
            </a:srgbClr>
          </a:solidFill>
          <a:ln w="12700" cap="flat" cmpd="sng">
            <a:solidFill>
              <a:srgbClr val="165DFF">
                <a:alpha val="1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28" name="Picture 2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321175" y="4899660"/>
            <a:ext cx="355600" cy="355600"/>
          </a:xfrm>
          <a:prstGeom prst="rect">
            <a:avLst/>
          </a:prstGeom>
        </p:spPr>
      </p:pic>
      <p:sp>
        <p:nvSpPr>
          <p:cNvPr id="29" name="AutoShape 29"/>
          <p:cNvSpPr/>
          <p:nvPr/>
        </p:nvSpPr>
        <p:spPr>
          <a:xfrm>
            <a:off x="4765675" y="4861560"/>
            <a:ext cx="2921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4155"/>
                </a:solidFill>
                <a:latin typeface="微软雅黑" panose="020B0503020204020204" charset="-122"/>
                <a:ea typeface="微软雅黑" panose="020B0503020204020204" charset="-122"/>
                <a:cs typeface="微软雅黑" panose="020B0503020204020204" charset="-122"/>
                <a:sym typeface="Noto Sans SC" panose="020B0200000000000000" charset="-122"/>
              </a:rPr>
              <a:t>决策逻辑全链路溯源</a:t>
            </a:r>
            <a:endParaRPr lang="en-US" sz="1100">
              <a:latin typeface="微软雅黑" panose="020B0503020204020204" charset="-122"/>
              <a:ea typeface="微软雅黑" panose="020B0503020204020204" charset="-122"/>
              <a:cs typeface="微软雅黑" panose="020B0503020204020204" charset="-122"/>
            </a:endParaRPr>
          </a:p>
          <a:p>
            <a:pPr marL="0" indent="0" algn="l">
              <a:lnSpc>
                <a:spcPct val="108000"/>
              </a:lnSpc>
            </a:pPr>
            <a:r>
              <a:rPr lang="en-US" sz="1200" b="0" i="0" u="none" strike="noStrike">
                <a:solidFill>
                  <a:srgbClr val="64748B"/>
                </a:solidFill>
                <a:latin typeface="微软雅黑" panose="020B0503020204020204" charset="-122"/>
                <a:ea typeface="微软雅黑" panose="020B0503020204020204" charset="-122"/>
                <a:cs typeface="微软雅黑" panose="020B0503020204020204" charset="-122"/>
                <a:sym typeface="Noto Sans SC" panose="020B0200000000000000" charset="-122"/>
              </a:rPr>
              <a:t>拒绝“黑盒”决策，完整展示从问题理解到答案生成的每一步逻辑，将AI的思考过程显性化，满足业务审查与合规审计需求。</a:t>
            </a:r>
            <a:endParaRPr lang="en-US" sz="1200" b="0" i="0" u="none" strike="noStrike">
              <a:solidFill>
                <a:srgbClr val="64748B"/>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 name="Text 14"/>
          <p:cNvSpPr/>
          <p:nvPr/>
        </p:nvSpPr>
        <p:spPr>
          <a:xfrm>
            <a:off x="8318500" y="2051050"/>
            <a:ext cx="2987675" cy="280670"/>
          </a:xfrm>
          <a:prstGeom prst="roundRect">
            <a:avLst>
              <a:gd name="adj" fmla="val 13502"/>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lgn="ctr">
              <a:buNone/>
            </a:pPr>
            <a:r>
              <a:rPr lang="zh-CN" altLang="en-US" sz="1200" dirty="0">
                <a:latin typeface="微软雅黑" panose="020B0503020204020204" charset="-122"/>
                <a:ea typeface="微软雅黑" panose="020B0503020204020204" charset="-122"/>
              </a:rPr>
              <a:t>语义检索</a:t>
            </a:r>
            <a:endParaRPr lang="zh-CN" altLang="en-US" sz="1200" dirty="0">
              <a:latin typeface="微软雅黑" panose="020B0503020204020204" charset="-122"/>
              <a:ea typeface="微软雅黑" panose="020B0503020204020204" charset="-122"/>
            </a:endParaRPr>
          </a:p>
        </p:txBody>
      </p:sp>
      <p:sp>
        <p:nvSpPr>
          <p:cNvPr id="37" name="AutoShape 28"/>
          <p:cNvSpPr/>
          <p:nvPr/>
        </p:nvSpPr>
        <p:spPr>
          <a:xfrm>
            <a:off x="8318500" y="2353945"/>
            <a:ext cx="2987040" cy="831215"/>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 “项目融资” → 场景节点：项目融资授信场景</a:t>
            </a:r>
            <a:endParaRPr lang="en-US" sz="1100">
              <a:latin typeface="微软雅黑" panose="020B0503020204020204" charset="-122"/>
              <a:ea typeface="微软雅黑" panose="020B0503020204020204" charset="-122"/>
              <a:cs typeface="微软雅黑" panose="020B0503020204020204" charset="-122"/>
            </a:endParaRPr>
          </a:p>
          <a:p>
            <a:pPr marL="0" indent="0" algn="l">
              <a:lnSpc>
                <a:spcPct val="92000"/>
              </a:lnSpc>
            </a:pPr>
            <a:r>
              <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 “授信审批” → 活动节点：授信审查审批（审批阶段）</a:t>
            </a:r>
            <a:endPar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92000"/>
              </a:lnSpc>
            </a:pPr>
            <a:r>
              <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zh-CN" alt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a:t>
            </a:r>
            <a:r>
              <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 → 对象节点：</a:t>
            </a:r>
            <a:r>
              <a:rPr lang="zh-CN" alt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a:t>
            </a:r>
            <a:endPar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92000"/>
              </a:lnSpc>
            </a:pPr>
            <a:r>
              <a:rPr lang="en-US" sz="90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 </a:t>
            </a:r>
            <a:r>
              <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“风险缓释” → 术语节点：风险缓释</a:t>
            </a:r>
            <a:endParaRPr 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marL="0" indent="0" algn="l">
              <a:lnSpc>
                <a:spcPct val="92000"/>
              </a:lnSpc>
            </a:pPr>
            <a:r>
              <a:rPr lang="zh-CN" alt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召回符合文档</a:t>
            </a:r>
            <a:r>
              <a:rPr lang="en-US" altLang="zh-CN"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ID</a:t>
            </a:r>
            <a:r>
              <a:rPr lang="zh-CN" alt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109876/</a:t>
            </a:r>
            <a:r>
              <a:rPr lang="en-US" altLang="zh-CN" sz="900">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189706/</a:t>
            </a:r>
            <a:endParaRPr lang="zh-CN" altLang="en-US" sz="9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 name="Text 26"/>
          <p:cNvSpPr/>
          <p:nvPr/>
        </p:nvSpPr>
        <p:spPr>
          <a:xfrm>
            <a:off x="8318500" y="3185160"/>
            <a:ext cx="2987040" cy="300990"/>
          </a:xfrm>
          <a:prstGeom prst="roundRect">
            <a:avLst>
              <a:gd name="adj" fmla="val 17841"/>
            </a:avLst>
          </a:prstGeom>
          <a:solidFill>
            <a:srgbClr val="D5E8D4"/>
          </a:solidFill>
          <a:ln w="7144">
            <a:solidFill>
              <a:srgbClr val="82B366"/>
            </a:solidFill>
            <a:prstDash val="solid"/>
          </a:ln>
          <a:effectLst>
            <a:outerShdw blurRad="19050" dist="9525" dir="5400000" algn="bl" rotWithShape="0">
              <a:srgbClr val="000000">
                <a:alpha val="4000"/>
              </a:srgbClr>
            </a:outerShdw>
          </a:effectLst>
        </p:spPr>
        <p:txBody>
          <a:bodyPr wrap="square" rtlCol="0" anchor="ctr"/>
          <a:lstStyle/>
          <a:p>
            <a:pPr marL="0" indent="0" algn="ctr">
              <a:buNone/>
            </a:pPr>
            <a:r>
              <a:rPr lang="zh-CN" altLang="en-US" sz="1200" dirty="0">
                <a:latin typeface="微软雅黑" panose="020B0503020204020204" charset="-122"/>
                <a:ea typeface="微软雅黑" panose="020B0503020204020204" charset="-122"/>
              </a:rPr>
              <a:t>向量召回</a:t>
            </a:r>
            <a:endParaRPr lang="zh-CN" altLang="en-US" sz="1200" dirty="0">
              <a:latin typeface="微软雅黑" panose="020B0503020204020204" charset="-122"/>
              <a:ea typeface="微软雅黑" panose="020B0503020204020204" charset="-122"/>
            </a:endParaRPr>
          </a:p>
        </p:txBody>
      </p:sp>
      <p:sp>
        <p:nvSpPr>
          <p:cNvPr id="60" name="AutoShape 31"/>
          <p:cNvSpPr/>
          <p:nvPr/>
        </p:nvSpPr>
        <p:spPr>
          <a:xfrm>
            <a:off x="8318500" y="3603625"/>
            <a:ext cx="2987675" cy="559435"/>
          </a:xfrm>
          <a:prstGeom prst="roundRect">
            <a:avLst>
              <a:gd name="adj" fmla="val 0"/>
            </a:avLst>
          </a:prstGeom>
          <a:solidFill>
            <a:schemeClr val="bg1"/>
          </a:solidFill>
          <a:ln w="25400" cap="flat" cmpd="sng">
            <a:solidFill>
              <a:srgbClr val="1E5AA8">
                <a:alpha val="100000"/>
              </a:srgbClr>
            </a:solidFill>
            <a:prstDash val="solid"/>
            <a:round/>
          </a:ln>
        </p:spPr>
        <p:txBody>
          <a:bodyPr vert="horz" wrap="square" lIns="101600" tIns="50800" rIns="101600" bIns="0" rtlCol="0" anchor="ctr" anchorCtr="0"/>
          <a:lstStyle/>
          <a:p>
            <a:pPr indent="0" algn="l" fontAlgn="auto">
              <a:lnSpc>
                <a:spcPct val="100000"/>
              </a:lnSpc>
              <a:defRPr/>
            </a:pP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【相似度 0.96】</a:t>
            </a:r>
            <a:r>
              <a:rPr lang="zh-CN" alt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第五章</a:t>
            </a: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第</a:t>
            </a:r>
            <a:r>
              <a:rPr lang="zh-CN" alt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三十</a:t>
            </a: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条：</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借款人某一交易对象单笔支付金额超过</a:t>
            </a:r>
            <a:r>
              <a:rPr lang="zh-CN" altLang="en-US" sz="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一千万</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元人民币的，应采用贷款人受托支付方式。</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版本号</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2.0]</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权威度：</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S]</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、【生效时间：</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2024</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】、【固定资产管理办法】</a:t>
            </a:r>
            <a:endPar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7" name="AutoShape 31"/>
          <p:cNvSpPr/>
          <p:nvPr/>
        </p:nvSpPr>
        <p:spPr>
          <a:xfrm>
            <a:off x="8318500" y="4258310"/>
            <a:ext cx="2987675" cy="513715"/>
          </a:xfrm>
          <a:prstGeom prst="roundRect">
            <a:avLst>
              <a:gd name="adj" fmla="val 0"/>
            </a:avLst>
          </a:prstGeom>
          <a:solidFill>
            <a:schemeClr val="bg1"/>
          </a:solidFill>
          <a:ln w="25400" cap="flat" cmpd="sng">
            <a:solidFill>
              <a:srgbClr val="1E5AA8">
                <a:alpha val="100000"/>
              </a:srgbClr>
            </a:solidFill>
            <a:prstDash val="solid"/>
            <a:round/>
          </a:ln>
        </p:spPr>
        <p:txBody>
          <a:bodyPr vert="horz" wrap="square" lIns="101600" tIns="50800" rIns="101600" bIns="0" rtlCol="0" anchor="ctr" anchorCtr="0"/>
          <a:lstStyle/>
          <a:p>
            <a:pPr indent="0" algn="l" fontAlgn="auto">
              <a:lnSpc>
                <a:spcPct val="100000"/>
              </a:lnSpc>
              <a:defRPr/>
            </a:pP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【相似度 0.96】</a:t>
            </a:r>
            <a:r>
              <a:rPr lang="zh-CN" alt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第五章</a:t>
            </a: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第</a:t>
            </a:r>
            <a:r>
              <a:rPr lang="zh-CN" alt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三十</a:t>
            </a: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条：</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借款人某一交易对象单笔支付金额超过</a:t>
            </a:r>
            <a:r>
              <a:rPr lang="zh-CN" altLang="en-US" sz="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五百万</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元人民币的，应采用贷款人受托支付方式。</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版本号</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1.0]</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权威度：</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a:t>
            </a:r>
            <a:r>
              <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rPr>
              <a:t>、【生效时间：</a:t>
            </a:r>
            <a:r>
              <a:rPr lang="en-US" altLang="zh-CN" sz="800">
                <a:latin typeface="微软雅黑" panose="020B0503020204020204" charset="-122"/>
                <a:ea typeface="微软雅黑" panose="020B0503020204020204" charset="-122"/>
                <a:cs typeface="微软雅黑" panose="020B0503020204020204" charset="-122"/>
                <a:sym typeface="Noto Sans SC" panose="020B0200000000000000" charset="-122"/>
              </a:rPr>
              <a:t>2021</a:t>
            </a:r>
            <a:r>
              <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rPr>
              <a:t>】、【固定资产管理办法】</a:t>
            </a:r>
            <a:endPar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3" name="AutoShape 28"/>
          <p:cNvSpPr/>
          <p:nvPr/>
        </p:nvSpPr>
        <p:spPr>
          <a:xfrm>
            <a:off x="8318500" y="4740275"/>
            <a:ext cx="2987040" cy="442595"/>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zh-CN" altLang="en-US" sz="900" b="1" i="0" u="none" strike="noStrike">
                <a:solidFill>
                  <a:srgbClr val="C00000"/>
                </a:solidFill>
                <a:latin typeface="微软雅黑" panose="020B0503020204020204" charset="-122"/>
                <a:ea typeface="微软雅黑" panose="020B0503020204020204" charset="-122"/>
                <a:cs typeface="Noto Sans SC" panose="020B0200000000000000" charset="-122"/>
                <a:sym typeface="Noto Sans SC" panose="020B0200000000000000" charset="-122"/>
              </a:rPr>
              <a:t>【知识冲突】</a:t>
            </a:r>
            <a:r>
              <a:rPr lang="zh-CN" altLang="en-US" sz="9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按</a:t>
            </a:r>
            <a:r>
              <a:rPr lang="zh-CN" altLang="en-US" sz="900" b="1" i="0" u="none" strike="noStrike">
                <a:solidFill>
                  <a:schemeClr val="accent1"/>
                </a:solidFill>
                <a:latin typeface="微软雅黑" panose="020B0503020204020204" charset="-122"/>
                <a:ea typeface="微软雅黑" panose="020B0503020204020204" charset="-122"/>
                <a:cs typeface="Noto Sans SC" panose="020B0200000000000000" charset="-122"/>
                <a:sym typeface="Noto Sans SC" panose="020B0200000000000000" charset="-122"/>
              </a:rPr>
              <a:t>权威度、版本、生效时间</a:t>
            </a:r>
            <a:r>
              <a:rPr lang="zh-CN" altLang="en-US" sz="9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，选择以下内容</a:t>
            </a:r>
            <a:endParaRPr lang="zh-CN" altLang="en-US" sz="9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4" name="AutoShape 31"/>
          <p:cNvSpPr/>
          <p:nvPr/>
        </p:nvSpPr>
        <p:spPr>
          <a:xfrm>
            <a:off x="8318500" y="5099685"/>
            <a:ext cx="2987675" cy="559435"/>
          </a:xfrm>
          <a:prstGeom prst="roundRect">
            <a:avLst>
              <a:gd name="adj" fmla="val 0"/>
            </a:avLst>
          </a:prstGeom>
          <a:solidFill>
            <a:schemeClr val="bg1"/>
          </a:solidFill>
          <a:ln w="25400" cap="flat" cmpd="sng">
            <a:solidFill>
              <a:srgbClr val="1E5AA8">
                <a:alpha val="100000"/>
              </a:srgbClr>
            </a:solidFill>
            <a:prstDash val="solid"/>
            <a:round/>
          </a:ln>
        </p:spPr>
        <p:txBody>
          <a:bodyPr vert="horz" wrap="square" lIns="101600" tIns="50800" rIns="101600" bIns="0" rtlCol="0" anchor="ctr" anchorCtr="0"/>
          <a:lstStyle/>
          <a:p>
            <a:pPr indent="0" algn="l" fontAlgn="auto">
              <a:lnSpc>
                <a:spcPct val="100000"/>
              </a:lnSpc>
              <a:defRPr/>
            </a:pP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【相似度 0.96】</a:t>
            </a:r>
            <a:r>
              <a:rPr lang="zh-CN" alt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第五章</a:t>
            </a: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第</a:t>
            </a:r>
            <a:r>
              <a:rPr lang="zh-CN" alt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三十</a:t>
            </a:r>
            <a:r>
              <a:rPr lang="en-US" sz="800" b="1"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条：</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借款人某一交易对象单笔支付金额超过</a:t>
            </a:r>
            <a:r>
              <a:rPr lang="zh-CN" altLang="en-US" sz="800" b="1" i="0" u="none"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一千万</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元人民币的，应采用贷款人受托支付方式。</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版本号</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2.0]</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权威度：</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S]</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、【生效时间：</a:t>
            </a:r>
            <a:r>
              <a:rPr lang="en-US" altLang="zh-CN"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2024</a:t>
            </a:r>
            <a:r>
              <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】、【固定资产管理办法】</a:t>
            </a:r>
            <a:endParaRPr lang="zh-CN" altLang="en-US" sz="800" b="0" i="0" u="none" strike="noStrike">
              <a:solidFill>
                <a:schemeClr val="tx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5" name="Text 14"/>
          <p:cNvSpPr/>
          <p:nvPr/>
        </p:nvSpPr>
        <p:spPr>
          <a:xfrm>
            <a:off x="8318500" y="5710555"/>
            <a:ext cx="2987675" cy="280670"/>
          </a:xfrm>
          <a:prstGeom prst="roundRect">
            <a:avLst>
              <a:gd name="adj" fmla="val 13502"/>
            </a:avLst>
          </a:prstGeom>
          <a:solidFill>
            <a:srgbClr val="DAE8FC"/>
          </a:solidFill>
          <a:ln w="7144">
            <a:solidFill>
              <a:srgbClr val="6C8EBF"/>
            </a:solidFill>
            <a:prstDash val="solid"/>
          </a:ln>
          <a:effectLst>
            <a:outerShdw blurRad="19050" dist="9525" dir="5400000" algn="bl" rotWithShape="0">
              <a:srgbClr val="000000">
                <a:alpha val="4000"/>
              </a:srgbClr>
            </a:outerShdw>
          </a:effectLst>
        </p:spPr>
        <p:txBody>
          <a:bodyPr wrap="square" rtlCol="0" anchor="ctr"/>
          <a:lstStyle/>
          <a:p>
            <a:pPr marL="0" indent="0" algn="ctr">
              <a:buNone/>
            </a:pPr>
            <a:r>
              <a:rPr lang="zh-CN" altLang="en-US" sz="1200" dirty="0">
                <a:latin typeface="微软雅黑" panose="020B0503020204020204" charset="-122"/>
                <a:ea typeface="微软雅黑" panose="020B0503020204020204" charset="-122"/>
              </a:rPr>
              <a:t>答案输出</a:t>
            </a:r>
            <a:endParaRPr lang="zh-CN" altLang="en-US" sz="1200" dirty="0">
              <a:latin typeface="微软雅黑" panose="020B0503020204020204" charset="-122"/>
              <a:ea typeface="微软雅黑" panose="020B0503020204020204" charset="-122"/>
            </a:endParaRPr>
          </a:p>
        </p:txBody>
      </p:sp>
      <p:sp>
        <p:nvSpPr>
          <p:cNvPr id="36" name="文本框 35"/>
          <p:cNvSpPr txBox="1"/>
          <p:nvPr/>
        </p:nvSpPr>
        <p:spPr>
          <a:xfrm>
            <a:off x="8318500" y="6064885"/>
            <a:ext cx="3111500" cy="574675"/>
          </a:xfrm>
          <a:prstGeom prst="rect">
            <a:avLst/>
          </a:prstGeom>
          <a:noFill/>
        </p:spPr>
        <p:txBody>
          <a:bodyPr wrap="square" rtlCol="0" anchor="t">
            <a:noAutofit/>
          </a:bodyPr>
          <a:lstStyle/>
          <a:p>
            <a:r>
              <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rPr>
              <a:t>借款人某一交易对象单笔支付金额超过</a:t>
            </a:r>
            <a:r>
              <a:rPr lang="zh-CN" altLang="en-US" sz="800" b="1">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一千万</a:t>
            </a:r>
            <a:r>
              <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rPr>
              <a:t>元人民币的，应采用贷款人受托支付方式。</a:t>
            </a:r>
            <a:endPar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endParaRPr>
          </a:p>
          <a:p>
            <a:r>
              <a:rPr lang="en-US" sz="8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依据：</a:t>
            </a:r>
            <a:r>
              <a:rPr lang="zh-CN" altLang="en-US" sz="8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《固定资产贷款管理办法》版本</a:t>
            </a:r>
            <a:r>
              <a:rPr lang="en-US" altLang="zh-CN" sz="8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2.0</a:t>
            </a:r>
            <a:r>
              <a:rPr lang="zh-CN" altLang="en-US" sz="8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、第五章</a:t>
            </a:r>
            <a:r>
              <a:rPr lang="en-US" sz="8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第</a:t>
            </a:r>
            <a:r>
              <a:rPr lang="zh-CN" altLang="en-US" sz="8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三十</a:t>
            </a:r>
            <a:r>
              <a:rPr lang="en-US" sz="800" u="sng">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rPr>
              <a:t>条</a:t>
            </a:r>
            <a:endParaRPr lang="en-US" sz="800" b="0" i="0" u="sng" strike="noStrike">
              <a:solidFill>
                <a:schemeClr val="accent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endPar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endParaRPr>
          </a:p>
          <a:p>
            <a:endPar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endParaRPr>
          </a:p>
          <a:p>
            <a:endParaRPr lang="zh-CN" altLang="en-US" sz="800">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8" name="圆角矩形 37"/>
          <p:cNvSpPr/>
          <p:nvPr/>
        </p:nvSpPr>
        <p:spPr>
          <a:xfrm>
            <a:off x="8099425" y="1958975"/>
            <a:ext cx="3417570" cy="4686935"/>
          </a:xfrm>
          <a:prstGeom prst="roundRect">
            <a:avLst>
              <a:gd name="adj" fmla="val 10795"/>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59" name="矩形 58"/>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6" name="矩形 5"/>
          <p:cNvSpPr/>
          <p:nvPr/>
        </p:nvSpPr>
        <p:spPr>
          <a:xfrm>
            <a:off x="796682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22" name="矩形 21"/>
          <p:cNvSpPr/>
          <p:nvPr/>
        </p:nvSpPr>
        <p:spPr>
          <a:xfrm>
            <a:off x="880693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23" name="矩形 22"/>
          <p:cNvSpPr/>
          <p:nvPr/>
        </p:nvSpPr>
        <p:spPr>
          <a:xfrm>
            <a:off x="9647039"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sym typeface="+mn-ea"/>
              </a:rPr>
              <a:t>可解释</a:t>
            </a:r>
            <a:endParaRPr lang="zh-CN" altLang="en-US" sz="1000">
              <a:latin typeface="微软雅黑" panose="020B0503020204020204" charset="-122"/>
              <a:ea typeface="微软雅黑" panose="020B0503020204020204" charset="-122"/>
            </a:endParaRPr>
          </a:p>
        </p:txBody>
      </p:sp>
      <p:sp>
        <p:nvSpPr>
          <p:cNvPr id="30" name="矩形 29"/>
          <p:cNvSpPr/>
          <p:nvPr/>
        </p:nvSpPr>
        <p:spPr>
          <a:xfrm>
            <a:off x="1048777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2.5.5 可演进:通过AI自动化任务实现知识自迭代与增量学习</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圆角矩形 9"/>
          <p:cNvSpPr/>
          <p:nvPr/>
        </p:nvSpPr>
        <p:spPr bwMode="auto">
          <a:xfrm>
            <a:off x="508635" y="906145"/>
            <a:ext cx="10921365" cy="61722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b="1" dirty="0">
                <a:solidFill>
                  <a:srgbClr val="C00000"/>
                </a:solidFill>
                <a:effectLst/>
                <a:latin typeface="微软雅黑" panose="020B0503020204020204" charset="-122"/>
                <a:ea typeface="微软雅黑" panose="020B0503020204020204" charset="-122"/>
              </a:rPr>
              <a:t>基于用户交互与反馈数据，自动迭代优化知识体系</a:t>
            </a:r>
            <a:r>
              <a:rPr lang="zh-CN" altLang="en-US" sz="1600" dirty="0">
                <a:effectLst/>
                <a:latin typeface="微软雅黑" panose="020B0503020204020204" charset="-122"/>
                <a:ea typeface="微软雅黑" panose="020B0503020204020204" charset="-122"/>
              </a:rPr>
              <a:t>，让知识越用越准、越用越新，</a:t>
            </a:r>
            <a:r>
              <a:rPr lang="zh-CN" altLang="en-US" sz="1600" b="1" dirty="0">
                <a:solidFill>
                  <a:srgbClr val="C00000"/>
                </a:solidFill>
                <a:effectLst/>
                <a:latin typeface="微软雅黑" panose="020B0503020204020204" charset="-122"/>
                <a:ea typeface="微软雅黑" panose="020B0503020204020204" charset="-122"/>
              </a:rPr>
              <a:t>构建自我进化的智能知识库</a:t>
            </a:r>
            <a:r>
              <a:rPr lang="en-US" altLang="zh-CN" sz="1600" b="1" dirty="0">
                <a:solidFill>
                  <a:srgbClr val="C00000"/>
                </a:solidFill>
                <a:effectLst/>
                <a:latin typeface="微软雅黑" panose="020B0503020204020204" charset="-122"/>
                <a:ea typeface="微软雅黑" panose="020B0503020204020204" charset="-122"/>
              </a:rPr>
              <a:t>。</a:t>
            </a:r>
            <a:endParaRPr lang="en-US" altLang="zh-CN" sz="1600" b="1" dirty="0">
              <a:solidFill>
                <a:srgbClr val="C00000"/>
              </a:solidFill>
              <a:effectLst/>
              <a:latin typeface="微软雅黑" panose="020B0503020204020204" charset="-122"/>
              <a:ea typeface="微软雅黑" panose="020B0503020204020204" charset="-122"/>
            </a:endParaRPr>
          </a:p>
        </p:txBody>
      </p:sp>
      <p:sp>
        <p:nvSpPr>
          <p:cNvPr id="6" name="AutoShape 6"/>
          <p:cNvSpPr/>
          <p:nvPr/>
        </p:nvSpPr>
        <p:spPr>
          <a:xfrm>
            <a:off x="508000" y="2081530"/>
            <a:ext cx="2667000" cy="1905000"/>
          </a:xfrm>
          <a:prstGeom prst="roundRect">
            <a:avLst>
              <a:gd name="adj" fmla="val 0"/>
            </a:avLst>
          </a:prstGeom>
          <a:solidFill>
            <a:srgbClr val="165DFF">
              <a:alpha val="6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2272030"/>
            <a:ext cx="304800" cy="304800"/>
          </a:xfrm>
          <a:prstGeom prst="rect">
            <a:avLst/>
          </a:prstGeom>
        </p:spPr>
      </p:pic>
      <p:sp>
        <p:nvSpPr>
          <p:cNvPr id="8" name="AutoShape 8"/>
          <p:cNvSpPr/>
          <p:nvPr/>
        </p:nvSpPr>
        <p:spPr>
          <a:xfrm>
            <a:off x="1079500" y="227203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01 交互数据采集</a:t>
            </a:r>
            <a:endPar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9" name="AutoShape 9"/>
          <p:cNvSpPr/>
          <p:nvPr/>
        </p:nvSpPr>
        <p:spPr>
          <a:xfrm>
            <a:off x="698500" y="271653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全量采集用户点击、点赞、点踩、人工修正及追问等交互行为数据，沉淀真实的用户意图与反馈，形成知识迭代的源头活水。</a:t>
            </a:r>
            <a:endPar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0" name="AutoShape 10"/>
          <p:cNvSpPr/>
          <p:nvPr/>
        </p:nvSpPr>
        <p:spPr>
          <a:xfrm>
            <a:off x="3365500" y="2081530"/>
            <a:ext cx="2667000" cy="1905000"/>
          </a:xfrm>
          <a:prstGeom prst="roundRect">
            <a:avLst>
              <a:gd name="adj" fmla="val 0"/>
            </a:avLst>
          </a:prstGeom>
          <a:solidFill>
            <a:srgbClr val="165DFF">
              <a:alpha val="6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56000" y="2272030"/>
            <a:ext cx="304800" cy="304800"/>
          </a:xfrm>
          <a:prstGeom prst="rect">
            <a:avLst/>
          </a:prstGeom>
        </p:spPr>
      </p:pic>
      <p:sp>
        <p:nvSpPr>
          <p:cNvPr id="12" name="AutoShape 12"/>
          <p:cNvSpPr/>
          <p:nvPr/>
        </p:nvSpPr>
        <p:spPr>
          <a:xfrm>
            <a:off x="3937000" y="227203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02 效果分析挖掘</a:t>
            </a:r>
            <a:endPar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3" name="AutoShape 13"/>
          <p:cNvSpPr/>
          <p:nvPr/>
        </p:nvSpPr>
        <p:spPr>
          <a:xfrm>
            <a:off x="3556000" y="271653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rPr>
              <a:t>智能分析Bad Case、未命中问题及高频咨询缺口，通过归因模型定位知识缺失、冲突或表达不规范的薄弱环节。</a:t>
            </a:r>
            <a:endParaRPr lang="en-US" sz="1200" b="0" i="0" u="none" strike="noStrike">
              <a:solidFill>
                <a:srgbClr val="555555"/>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4" name="AutoShape 14"/>
          <p:cNvSpPr/>
          <p:nvPr/>
        </p:nvSpPr>
        <p:spPr>
          <a:xfrm>
            <a:off x="6223000" y="2081530"/>
            <a:ext cx="2667000" cy="1905000"/>
          </a:xfrm>
          <a:prstGeom prst="roundRect">
            <a:avLst>
              <a:gd name="adj" fmla="val 0"/>
            </a:avLst>
          </a:prstGeom>
          <a:solidFill>
            <a:srgbClr val="165DFF">
              <a:alpha val="6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2272030"/>
            <a:ext cx="304800" cy="304800"/>
          </a:xfrm>
          <a:prstGeom prst="rect">
            <a:avLst/>
          </a:prstGeom>
        </p:spPr>
      </p:pic>
      <p:sp>
        <p:nvSpPr>
          <p:cNvPr id="16" name="AutoShape 16"/>
          <p:cNvSpPr/>
          <p:nvPr/>
        </p:nvSpPr>
        <p:spPr>
          <a:xfrm>
            <a:off x="6794500" y="227203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03 知识自动更新</a:t>
            </a:r>
            <a:endPar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17" name="AutoShape 17"/>
          <p:cNvSpPr/>
          <p:nvPr/>
        </p:nvSpPr>
        <p:spPr>
          <a:xfrm>
            <a:off x="6413500" y="271653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自动执行新词补充、重复条目合并、过期制度淘汰，并优化知识分块与关联逻辑，保持体系的动态完备性。</a:t>
            </a:r>
            <a:endPar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18" name="AutoShape 18"/>
          <p:cNvSpPr/>
          <p:nvPr/>
        </p:nvSpPr>
        <p:spPr>
          <a:xfrm>
            <a:off x="9080500" y="2081530"/>
            <a:ext cx="2667000" cy="1905000"/>
          </a:xfrm>
          <a:prstGeom prst="roundRect">
            <a:avLst>
              <a:gd name="adj" fmla="val 0"/>
            </a:avLst>
          </a:prstGeom>
          <a:solidFill>
            <a:srgbClr val="165DFF">
              <a:alpha val="6000"/>
            </a:srgbClr>
          </a:solidFill>
          <a:ln w="12700" cap="flat" cmpd="sng">
            <a:solidFill>
              <a:srgbClr val="165DFF">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71000" y="2272030"/>
            <a:ext cx="304800" cy="304800"/>
          </a:xfrm>
          <a:prstGeom prst="rect">
            <a:avLst/>
          </a:prstGeom>
        </p:spPr>
      </p:pic>
      <p:sp>
        <p:nvSpPr>
          <p:cNvPr id="20" name="AutoShape 20"/>
          <p:cNvSpPr/>
          <p:nvPr/>
        </p:nvSpPr>
        <p:spPr>
          <a:xfrm>
            <a:off x="9652000" y="2272030"/>
            <a:ext cx="196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04 索引增量更新</a:t>
            </a:r>
            <a:endParaRPr lang="en-US" sz="16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21" name="AutoShape 21"/>
          <p:cNvSpPr/>
          <p:nvPr/>
        </p:nvSpPr>
        <p:spPr>
          <a:xfrm>
            <a:off x="9271000" y="2716530"/>
            <a:ext cx="228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rPr>
              <a:t>触发图索引与向量索引的毫秒级增量同步，无需全量重建，在保障数据一致性的同时，实现检索能力的实时升级。</a:t>
            </a:r>
            <a:endParaRPr lang="en-US" sz="1200" b="0" i="0" u="none" strike="noStrike">
              <a:solidFill>
                <a:srgbClr val="555555"/>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2" name="AutoShape 22"/>
          <p:cNvSpPr/>
          <p:nvPr/>
        </p:nvSpPr>
        <p:spPr>
          <a:xfrm>
            <a:off x="508000" y="4177030"/>
            <a:ext cx="11239500" cy="457200"/>
          </a:xfrm>
          <a:prstGeom prst="roundRect">
            <a:avLst>
              <a:gd name="adj" fmla="val 0"/>
            </a:avLst>
          </a:prstGeom>
          <a:solidFill>
            <a:srgbClr val="165DFF">
              <a:alpha val="4000"/>
            </a:srgbClr>
          </a:solidFill>
          <a:ln w="12700" cap="flat" cmpd="sng">
            <a:solidFill>
              <a:srgbClr val="165DFF">
                <a:alpha val="1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23" name="AutoShape 23"/>
          <p:cNvSpPr/>
          <p:nvPr/>
        </p:nvSpPr>
        <p:spPr>
          <a:xfrm>
            <a:off x="635000" y="4278630"/>
            <a:ext cx="10985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65DFF"/>
                </a:solidFill>
                <a:latin typeface="微软雅黑" panose="020B0503020204020204" charset="-122"/>
                <a:ea typeface="微软雅黑" panose="020B0503020204020204" charset="-122"/>
                <a:cs typeface="微软雅黑" panose="020B0503020204020204" charset="-122"/>
                <a:sym typeface="Noto Sans SC" panose="020B0200000000000000" charset="-122"/>
              </a:rPr>
              <a:t>🔄 持续迭代闭环：</a:t>
            </a: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构建“数据采集→分析挖掘→知识更新→索引优化”的自动化飞轮，实现知识体系的自我进化，越用越智能。</a:t>
            </a:r>
            <a:endParaRPr lang="en-US" sz="1100">
              <a:latin typeface="微软雅黑" panose="020B0503020204020204" charset="-122"/>
              <a:ea typeface="微软雅黑" panose="020B0503020204020204" charset="-122"/>
              <a:cs typeface="微软雅黑" panose="020B0503020204020204" charset="-122"/>
            </a:endParaRPr>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8000" y="4954905"/>
            <a:ext cx="279400" cy="279400"/>
          </a:xfrm>
          <a:prstGeom prst="rect">
            <a:avLst/>
          </a:prstGeom>
        </p:spPr>
      </p:pic>
      <p:sp>
        <p:nvSpPr>
          <p:cNvPr id="25" name="AutoShape 25"/>
          <p:cNvSpPr/>
          <p:nvPr/>
        </p:nvSpPr>
        <p:spPr>
          <a:xfrm>
            <a:off x="889000" y="4954905"/>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业务术语自动发现</a:t>
            </a:r>
            <a:endParaRPr lang="en-US" sz="16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6" name="AutoShape 26"/>
          <p:cNvSpPr/>
          <p:nvPr/>
        </p:nvSpPr>
        <p:spPr>
          <a:xfrm>
            <a:off x="508000" y="5374005"/>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基于NLP语义挖掘技术，自动识别业务场景中的新生术语与长尾词汇，智能纳入标准词库，解决</a:t>
            </a:r>
            <a:r>
              <a:rPr lang="zh-CN" alt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a:t>
            </a: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术语覆盖盲区，降低人工维护成本。</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27" name="Picture 2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79900" y="4954905"/>
            <a:ext cx="279400" cy="279400"/>
          </a:xfrm>
          <a:prstGeom prst="rect">
            <a:avLst/>
          </a:prstGeom>
        </p:spPr>
      </p:pic>
      <p:sp>
        <p:nvSpPr>
          <p:cNvPr id="28" name="AutoShape 28"/>
          <p:cNvSpPr/>
          <p:nvPr/>
        </p:nvSpPr>
        <p:spPr>
          <a:xfrm>
            <a:off x="4660900" y="4954905"/>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过期知识自动沉降</a:t>
            </a:r>
            <a:endParaRPr lang="en-US" sz="16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29" name="AutoShape 29"/>
          <p:cNvSpPr/>
          <p:nvPr/>
        </p:nvSpPr>
        <p:spPr>
          <a:xfrm>
            <a:off x="4279900" y="5374005"/>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rPr>
              <a:t>通过规则引擎与热度模型，自动识别失效制度、废止文件及低价值内容，智能下沉至归档层，杜绝无效信息干扰，保障知识鲜活度。</a:t>
            </a:r>
            <a:endParaRPr lang="en-US" sz="1200" b="0" i="0" u="none" strike="noStrike">
              <a:solidFill>
                <a:srgbClr val="666666"/>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pic>
        <p:nvPicPr>
          <p:cNvPr id="30" name="Picture 30"/>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051800" y="4954905"/>
            <a:ext cx="279400" cy="279400"/>
          </a:xfrm>
          <a:prstGeom prst="rect">
            <a:avLst/>
          </a:prstGeom>
        </p:spPr>
      </p:pic>
      <p:sp>
        <p:nvSpPr>
          <p:cNvPr id="31" name="AutoShape 31"/>
          <p:cNvSpPr/>
          <p:nvPr/>
        </p:nvSpPr>
        <p:spPr>
          <a:xfrm>
            <a:off x="8432800" y="4954905"/>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rPr>
              <a:t>检索效果自动优化</a:t>
            </a:r>
            <a:endParaRPr lang="en-US" sz="1600" b="1" i="0" u="none" strike="noStrike">
              <a:solidFill>
                <a:srgbClr val="333333"/>
              </a:solidFill>
              <a:latin typeface="微软雅黑" panose="020B0503020204020204" charset="-122"/>
              <a:ea typeface="微软雅黑" panose="020B0503020204020204" charset="-122"/>
              <a:cs typeface="Noto Sans SC" panose="020B0200000000000000" charset="-122"/>
              <a:sym typeface="Noto Sans SC" panose="020B0200000000000000" charset="-122"/>
            </a:endParaRPr>
          </a:p>
        </p:txBody>
      </p:sp>
      <p:sp>
        <p:nvSpPr>
          <p:cNvPr id="32" name="AutoShape 32"/>
          <p:cNvSpPr/>
          <p:nvPr/>
        </p:nvSpPr>
        <p:spPr>
          <a:xfrm>
            <a:off x="8051800" y="5374005"/>
            <a:ext cx="361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基于用户点击与会话反馈，实时优化语义匹配模型与召回排序策略，动态提升“人找知识”的命中率与精准度，实现越用越准。</a:t>
            </a:r>
            <a:endParaRPr lang="en-US" sz="1200" b="0" i="0" u="none" strike="noStrike">
              <a:solidFill>
                <a:srgbClr val="666666"/>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9" name="矩形 58"/>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4" name="矩形 3"/>
          <p:cNvSpPr/>
          <p:nvPr/>
        </p:nvSpPr>
        <p:spPr>
          <a:xfrm>
            <a:off x="796682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5" name="矩形 4"/>
          <p:cNvSpPr/>
          <p:nvPr/>
        </p:nvSpPr>
        <p:spPr>
          <a:xfrm>
            <a:off x="880693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33" name="矩形 32"/>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sym typeface="+mn-ea"/>
              </a:rPr>
              <a:t>可解释</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487779"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29"/>
          <p:cNvSpPr/>
          <p:nvPr/>
        </p:nvSpPr>
        <p:spPr>
          <a:xfrm>
            <a:off x="4780280" y="4775835"/>
            <a:ext cx="1490980" cy="480060"/>
          </a:xfrm>
          <a:prstGeom prst="roundRect">
            <a:avLst>
              <a:gd name="adj" fmla="val 18079"/>
            </a:avLst>
          </a:prstGeom>
          <a:solidFill>
            <a:srgbClr val="E1D5E7"/>
          </a:solidFill>
          <a:ln w="7144">
            <a:solidFill>
              <a:srgbClr val="9673A6"/>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2.5.5 可演进: 通过AI自动化任务实现知识自迭代与增量学习</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15" name="Shape 13"/>
          <p:cNvSpPr/>
          <p:nvPr/>
        </p:nvSpPr>
        <p:spPr>
          <a:xfrm>
            <a:off x="365760" y="911860"/>
            <a:ext cx="11460175" cy="502920"/>
          </a:xfrm>
          <a:prstGeom prst="roundRect">
            <a:avLst>
              <a:gd name="adj" fmla="val 9091"/>
            </a:avLst>
          </a:prstGeom>
          <a:solidFill>
            <a:srgbClr val="F5F6FA"/>
          </a:solidFill>
          <a:ln w="9525">
            <a:solidFill>
              <a:srgbClr val="BFBFBF"/>
            </a:solidFill>
            <a:prstDash val="solid"/>
          </a:ln>
        </p:spPr>
      </p:sp>
      <p:sp>
        <p:nvSpPr>
          <p:cNvPr id="18" name="Text 16"/>
          <p:cNvSpPr/>
          <p:nvPr/>
        </p:nvSpPr>
        <p:spPr>
          <a:xfrm>
            <a:off x="1828800" y="939292"/>
            <a:ext cx="9997135" cy="457200"/>
          </a:xfrm>
          <a:prstGeom prst="rect">
            <a:avLst/>
          </a:prstGeom>
          <a:noFill/>
        </p:spPr>
        <p:txBody>
          <a:bodyPr wrap="square" lIns="0" tIns="0" rIns="0" bIns="0" rtlCol="0" anchor="ctr"/>
          <a:lstStyle/>
          <a:p>
            <a:pPr marL="0" indent="0" algn="l">
              <a:buNone/>
            </a:pPr>
            <a:r>
              <a:rPr lang="zh-CN" altLang="en-US" sz="1200" dirty="0">
                <a:solidFill>
                  <a:srgbClr val="1F2A44"/>
                </a:solidFill>
                <a:latin typeface="微软雅黑" panose="020B0503020204020204" charset="-122"/>
                <a:ea typeface="微软雅黑" panose="020B0503020204020204" charset="-122"/>
                <a:cs typeface="微软雅黑" panose="020B0503020204020204" charset="-122"/>
              </a:rPr>
              <a:t>解决银行政策、产品、监管规则高频更新下知识陈旧、术语滞后的问题，基于业务交互数据自动学习，实现业务术语自动扩充、制度知识自动更新、过期规范自动淘汰，让知识体系自主生长。</a:t>
            </a:r>
            <a:endParaRPr lang="zh-CN" altLang="en-US" sz="1200" dirty="0">
              <a:solidFill>
                <a:srgbClr val="1F2A44"/>
              </a:solidFill>
              <a:latin typeface="微软雅黑" panose="020B0503020204020204" charset="-122"/>
              <a:ea typeface="微软雅黑" panose="020B0503020204020204" charset="-122"/>
              <a:cs typeface="微软雅黑" panose="020B0503020204020204" charset="-122"/>
            </a:endParaRPr>
          </a:p>
        </p:txBody>
      </p:sp>
      <p:sp>
        <p:nvSpPr>
          <p:cNvPr id="20" name="Shape 14"/>
          <p:cNvSpPr/>
          <p:nvPr/>
        </p:nvSpPr>
        <p:spPr>
          <a:xfrm>
            <a:off x="502920" y="1024255"/>
            <a:ext cx="1188720" cy="320040"/>
          </a:xfrm>
          <a:prstGeom prst="roundRect">
            <a:avLst>
              <a:gd name="adj" fmla="val 14286"/>
            </a:avLst>
          </a:prstGeom>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600" b="1">
                <a:solidFill>
                  <a:schemeClr val="bg1"/>
                </a:solidFill>
                <a:latin typeface="微软雅黑" panose="020B0503020204020204" charset="-122"/>
                <a:ea typeface="微软雅黑" panose="020B0503020204020204" charset="-122"/>
              </a:rPr>
              <a:t>技术定位</a:t>
            </a:r>
            <a:endParaRPr lang="zh-CN" altLang="en-US" sz="1600" b="1">
              <a:solidFill>
                <a:schemeClr val="bg1"/>
              </a:solidFill>
              <a:latin typeface="微软雅黑" panose="020B0503020204020204" charset="-122"/>
              <a:ea typeface="微软雅黑" panose="020B0503020204020204" charset="-122"/>
            </a:endParaRPr>
          </a:p>
        </p:txBody>
      </p:sp>
      <p:sp>
        <p:nvSpPr>
          <p:cNvPr id="199" name="Text 17"/>
          <p:cNvSpPr/>
          <p:nvPr/>
        </p:nvSpPr>
        <p:spPr>
          <a:xfrm>
            <a:off x="674370" y="2950845"/>
            <a:ext cx="1490980" cy="575310"/>
          </a:xfrm>
          <a:prstGeom prst="roundRect">
            <a:avLst>
              <a:gd name="adj" fmla="val 6751"/>
            </a:avLst>
          </a:prstGeom>
          <a:solidFill>
            <a:srgbClr val="F8CECC"/>
          </a:solidFill>
          <a:ln w="7144">
            <a:solidFill>
              <a:srgbClr val="B85450"/>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00" name="Text 17"/>
          <p:cNvSpPr/>
          <p:nvPr/>
        </p:nvSpPr>
        <p:spPr>
          <a:xfrm>
            <a:off x="674370" y="1852295"/>
            <a:ext cx="1490980" cy="643255"/>
          </a:xfrm>
          <a:prstGeom prst="roundRect">
            <a:avLst>
              <a:gd name="adj" fmla="val 6751"/>
            </a:avLst>
          </a:prstGeom>
          <a:solidFill>
            <a:srgbClr val="F8CECC"/>
          </a:solidFill>
          <a:ln w="7144">
            <a:solidFill>
              <a:srgbClr val="B85450"/>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03" name="Shape 68"/>
          <p:cNvSpPr/>
          <p:nvPr/>
        </p:nvSpPr>
        <p:spPr>
          <a:xfrm>
            <a:off x="1890395" y="5617845"/>
            <a:ext cx="2762250" cy="1012825"/>
          </a:xfrm>
          <a:prstGeom prst="roundRect">
            <a:avLst>
              <a:gd name="adj" fmla="val 6316"/>
            </a:avLst>
          </a:prstGeom>
          <a:solidFill>
            <a:srgbClr val="FFFFFF"/>
          </a:solidFill>
          <a:ln w="9525">
            <a:solidFill>
              <a:srgbClr val="BFBFBF"/>
            </a:solidFill>
            <a:prstDash val="solid"/>
          </a:ln>
          <a:effectLst>
            <a:outerShdw blurRad="50800" dist="12700" dir="5400000" algn="bl" rotWithShape="0">
              <a:srgbClr val="000000">
                <a:alpha val="10000"/>
              </a:srgbClr>
            </a:outerShdw>
          </a:effectLst>
        </p:spPr>
      </p:sp>
      <p:sp>
        <p:nvSpPr>
          <p:cNvPr id="204" name="Shape 69"/>
          <p:cNvSpPr/>
          <p:nvPr/>
        </p:nvSpPr>
        <p:spPr>
          <a:xfrm>
            <a:off x="2027555" y="5819013"/>
            <a:ext cx="457200" cy="457200"/>
          </a:xfrm>
          <a:prstGeom prst="ellipse">
            <a:avLst/>
          </a:prstGeom>
          <a:solidFill>
            <a:srgbClr val="305087"/>
          </a:solidFill>
          <a:ln w="12700">
            <a:solidFill>
              <a:srgbClr val="305087"/>
            </a:solidFill>
            <a:prstDash val="solid"/>
          </a:ln>
        </p:spPr>
      </p:sp>
      <p:sp>
        <p:nvSpPr>
          <p:cNvPr id="205" name="Text 70"/>
          <p:cNvSpPr/>
          <p:nvPr/>
        </p:nvSpPr>
        <p:spPr>
          <a:xfrm>
            <a:off x="2027555" y="5819013"/>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charset="-122"/>
                <a:ea typeface="微软雅黑" panose="020B0503020204020204" charset="-122"/>
                <a:cs typeface="Calibri" panose="020F0502020204030204" pitchFamily="34" charset="-120"/>
              </a:rPr>
              <a:t>①</a:t>
            </a:r>
            <a:endParaRPr lang="en-US" sz="1600" b="1" dirty="0">
              <a:solidFill>
                <a:srgbClr val="FFFFFF"/>
              </a:solidFill>
              <a:latin typeface="微软雅黑" panose="020B0503020204020204" charset="-122"/>
              <a:ea typeface="微软雅黑" panose="020B0503020204020204" charset="-122"/>
              <a:cs typeface="Calibri" panose="020F0502020204030204" pitchFamily="34" charset="-120"/>
            </a:endParaRPr>
          </a:p>
        </p:txBody>
      </p:sp>
      <p:sp>
        <p:nvSpPr>
          <p:cNvPr id="206" name="Text 71"/>
          <p:cNvSpPr/>
          <p:nvPr/>
        </p:nvSpPr>
        <p:spPr>
          <a:xfrm>
            <a:off x="2576195" y="5736717"/>
            <a:ext cx="1984934" cy="274320"/>
          </a:xfrm>
          <a:prstGeom prst="rect">
            <a:avLst/>
          </a:prstGeom>
          <a:noFill/>
        </p:spPr>
        <p:txBody>
          <a:bodyPr wrap="square" lIns="0" tIns="0" rIns="0" bIns="0" rtlCol="0" anchor="ctr"/>
          <a:lstStyle/>
          <a:p>
            <a:pPr marL="0" indent="0" algn="l">
              <a:buNone/>
            </a:pPr>
            <a:r>
              <a:rPr lang="zh-CN" altLang="en-US" sz="1150" b="1" dirty="0">
                <a:solidFill>
                  <a:srgbClr val="305087"/>
                </a:solidFill>
                <a:latin typeface="微软雅黑" panose="020B0503020204020204" charset="-122"/>
                <a:ea typeface="微软雅黑" panose="020B0503020204020204" charset="-122"/>
                <a:cs typeface="Calibri" panose="020F0502020204030204" pitchFamily="34" charset="-120"/>
              </a:rPr>
              <a:t>业务</a:t>
            </a:r>
            <a:r>
              <a:rPr lang="en-US" sz="1150" b="1" dirty="0">
                <a:solidFill>
                  <a:srgbClr val="305087"/>
                </a:solidFill>
                <a:latin typeface="微软雅黑" panose="020B0503020204020204" charset="-122"/>
                <a:ea typeface="微软雅黑" panose="020B0503020204020204" charset="-122"/>
                <a:cs typeface="Calibri" panose="020F0502020204030204" pitchFamily="34" charset="-120"/>
              </a:rPr>
              <a:t>术语增量学习</a:t>
            </a:r>
            <a:endParaRPr lang="en-US" sz="1150" b="1" dirty="0">
              <a:solidFill>
                <a:srgbClr val="305087"/>
              </a:solidFill>
              <a:latin typeface="微软雅黑" panose="020B0503020204020204" charset="-122"/>
              <a:ea typeface="微软雅黑" panose="020B0503020204020204" charset="-122"/>
              <a:cs typeface="Calibri" panose="020F0502020204030204" pitchFamily="34" charset="-120"/>
            </a:endParaRPr>
          </a:p>
        </p:txBody>
      </p:sp>
      <p:sp>
        <p:nvSpPr>
          <p:cNvPr id="207" name="Text 72"/>
          <p:cNvSpPr/>
          <p:nvPr/>
        </p:nvSpPr>
        <p:spPr>
          <a:xfrm>
            <a:off x="2576195" y="6001893"/>
            <a:ext cx="1984934" cy="457200"/>
          </a:xfrm>
          <a:prstGeom prst="rect">
            <a:avLst/>
          </a:prstGeom>
          <a:noFill/>
        </p:spPr>
        <p:txBody>
          <a:bodyPr wrap="square" lIns="0" tIns="0" rIns="0" bIns="0" rtlCol="0" anchor="t"/>
          <a:lstStyle/>
          <a:p>
            <a:pPr marL="0" indent="0" algn="l">
              <a:buNone/>
            </a:pP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从历史问答日志中发现新产品、新监管术语，自动生成术语候选，经人工复核后加入业务词库</a:t>
            </a:r>
            <a:endParaRPr lang="zh-CN" altLang="en-US" sz="900" dirty="0">
              <a:solidFill>
                <a:srgbClr val="3A3A3A"/>
              </a:solidFill>
              <a:latin typeface="微软雅黑" panose="020B0503020204020204" charset="-122"/>
              <a:ea typeface="微软雅黑" panose="020B0503020204020204" charset="-122"/>
              <a:cs typeface="微软雅黑" panose="020B0503020204020204" charset="-122"/>
            </a:endParaRPr>
          </a:p>
        </p:txBody>
      </p:sp>
      <p:sp>
        <p:nvSpPr>
          <p:cNvPr id="208" name="Shape 73"/>
          <p:cNvSpPr/>
          <p:nvPr/>
        </p:nvSpPr>
        <p:spPr>
          <a:xfrm>
            <a:off x="4789805" y="5617845"/>
            <a:ext cx="2762250" cy="1012190"/>
          </a:xfrm>
          <a:prstGeom prst="roundRect">
            <a:avLst>
              <a:gd name="adj" fmla="val 6316"/>
            </a:avLst>
          </a:prstGeom>
          <a:solidFill>
            <a:srgbClr val="FFFFFF"/>
          </a:solidFill>
          <a:ln w="9525">
            <a:solidFill>
              <a:srgbClr val="BFBFBF"/>
            </a:solidFill>
            <a:prstDash val="solid"/>
          </a:ln>
          <a:effectLst>
            <a:outerShdw blurRad="50800" dist="12700" dir="5400000" algn="bl" rotWithShape="0">
              <a:srgbClr val="000000">
                <a:alpha val="10000"/>
              </a:srgbClr>
            </a:outerShdw>
          </a:effectLst>
        </p:spPr>
      </p:sp>
      <p:sp>
        <p:nvSpPr>
          <p:cNvPr id="209" name="Shape 74"/>
          <p:cNvSpPr/>
          <p:nvPr/>
        </p:nvSpPr>
        <p:spPr>
          <a:xfrm>
            <a:off x="4926889" y="5819013"/>
            <a:ext cx="457200" cy="457200"/>
          </a:xfrm>
          <a:prstGeom prst="ellipse">
            <a:avLst/>
          </a:prstGeom>
          <a:solidFill>
            <a:srgbClr val="305087"/>
          </a:solidFill>
          <a:ln w="12700">
            <a:solidFill>
              <a:srgbClr val="305087"/>
            </a:solidFill>
            <a:prstDash val="solid"/>
          </a:ln>
        </p:spPr>
      </p:sp>
      <p:sp>
        <p:nvSpPr>
          <p:cNvPr id="210" name="Text 75"/>
          <p:cNvSpPr/>
          <p:nvPr/>
        </p:nvSpPr>
        <p:spPr>
          <a:xfrm>
            <a:off x="4926889" y="5819013"/>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charset="-122"/>
                <a:ea typeface="微软雅黑" panose="020B0503020204020204" charset="-122"/>
                <a:cs typeface="Calibri" panose="020F0502020204030204" pitchFamily="34" charset="-120"/>
              </a:rPr>
              <a:t>②</a:t>
            </a:r>
            <a:endParaRPr lang="en-US" sz="1600" b="1" dirty="0">
              <a:solidFill>
                <a:srgbClr val="FFFFFF"/>
              </a:solidFill>
              <a:latin typeface="微软雅黑" panose="020B0503020204020204" charset="-122"/>
              <a:ea typeface="微软雅黑" panose="020B0503020204020204" charset="-122"/>
              <a:cs typeface="Calibri" panose="020F0502020204030204" pitchFamily="34" charset="-120"/>
            </a:endParaRPr>
          </a:p>
        </p:txBody>
      </p:sp>
      <p:sp>
        <p:nvSpPr>
          <p:cNvPr id="218" name="Shape 83"/>
          <p:cNvSpPr/>
          <p:nvPr/>
        </p:nvSpPr>
        <p:spPr>
          <a:xfrm>
            <a:off x="7650480" y="5634355"/>
            <a:ext cx="2762250" cy="1011555"/>
          </a:xfrm>
          <a:prstGeom prst="roundRect">
            <a:avLst>
              <a:gd name="adj" fmla="val 6316"/>
            </a:avLst>
          </a:prstGeom>
          <a:solidFill>
            <a:srgbClr val="FFFFFF"/>
          </a:solidFill>
          <a:ln w="9525">
            <a:solidFill>
              <a:srgbClr val="BFBFBF"/>
            </a:solidFill>
            <a:prstDash val="solid"/>
          </a:ln>
          <a:effectLst>
            <a:outerShdw blurRad="50800" dist="12700" dir="5400000" algn="bl" rotWithShape="0">
              <a:srgbClr val="000000">
                <a:alpha val="10000"/>
              </a:srgbClr>
            </a:outerShdw>
          </a:effectLst>
        </p:spPr>
      </p:sp>
      <p:sp>
        <p:nvSpPr>
          <p:cNvPr id="221" name="Text 86"/>
          <p:cNvSpPr/>
          <p:nvPr/>
        </p:nvSpPr>
        <p:spPr>
          <a:xfrm>
            <a:off x="5493791" y="5753227"/>
            <a:ext cx="1984934" cy="274320"/>
          </a:xfrm>
          <a:prstGeom prst="rect">
            <a:avLst/>
          </a:prstGeom>
          <a:noFill/>
        </p:spPr>
        <p:txBody>
          <a:bodyPr wrap="square" lIns="0" tIns="0" rIns="0" bIns="0" rtlCol="0" anchor="ctr"/>
          <a:lstStyle/>
          <a:p>
            <a:pPr marL="0" indent="0" algn="l">
              <a:buNone/>
            </a:pPr>
            <a:r>
              <a:rPr lang="zh-CN" altLang="en-US" sz="1150" b="1" dirty="0">
                <a:solidFill>
                  <a:srgbClr val="305087"/>
                </a:solidFill>
                <a:latin typeface="微软雅黑" panose="020B0503020204020204" charset="-122"/>
                <a:ea typeface="微软雅黑" panose="020B0503020204020204" charset="-122"/>
                <a:cs typeface="Calibri" panose="020F0502020204030204" pitchFamily="34" charset="-120"/>
              </a:rPr>
              <a:t>知识自动沉降</a:t>
            </a:r>
            <a:endParaRPr lang="zh-CN" altLang="en-US" sz="1150" b="1" dirty="0">
              <a:solidFill>
                <a:srgbClr val="305087"/>
              </a:solidFill>
              <a:latin typeface="微软雅黑" panose="020B0503020204020204" charset="-122"/>
              <a:ea typeface="微软雅黑" panose="020B0503020204020204" charset="-122"/>
              <a:cs typeface="Calibri" panose="020F0502020204030204" pitchFamily="34" charset="-120"/>
            </a:endParaRPr>
          </a:p>
        </p:txBody>
      </p:sp>
      <p:sp>
        <p:nvSpPr>
          <p:cNvPr id="222" name="Text 87"/>
          <p:cNvSpPr/>
          <p:nvPr/>
        </p:nvSpPr>
        <p:spPr>
          <a:xfrm>
            <a:off x="5493791" y="6018403"/>
            <a:ext cx="1984934" cy="457200"/>
          </a:xfrm>
          <a:prstGeom prst="rect">
            <a:avLst/>
          </a:prstGeom>
          <a:noFill/>
        </p:spPr>
        <p:txBody>
          <a:bodyPr wrap="square" lIns="0" tIns="0" rIns="0" bIns="0" rtlCol="0" anchor="t"/>
          <a:lstStyle/>
          <a:p>
            <a:pPr marL="0" indent="0" algn="l">
              <a:buNone/>
            </a:pP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综合</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点赞、点踩、生效日期、长期零调用、权威度低、测评结果</a:t>
            </a:r>
            <a:r>
              <a:rPr lang="en-US" altLang="zh-CN" sz="900" dirty="0">
                <a:solidFill>
                  <a:srgbClr val="3A3A3A"/>
                </a:solidFill>
                <a:latin typeface="微软雅黑" panose="020B0503020204020204" charset="-122"/>
                <a:ea typeface="微软雅黑" panose="020B0503020204020204" charset="-122"/>
                <a:cs typeface="微软雅黑" panose="020B0503020204020204" charset="-122"/>
              </a:rPr>
              <a:t>" </a:t>
            </a: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五个维度，自动降权或优先推荐，反哺知识体系优化</a:t>
            </a:r>
            <a:endParaRPr lang="zh-CN" altLang="en-US" sz="900" dirty="0">
              <a:solidFill>
                <a:srgbClr val="3A3A3A"/>
              </a:solidFill>
              <a:latin typeface="微软雅黑" panose="020B0503020204020204" charset="-122"/>
              <a:ea typeface="微软雅黑" panose="020B0503020204020204" charset="-122"/>
              <a:cs typeface="微软雅黑" panose="020B0503020204020204" charset="-122"/>
            </a:endParaRPr>
          </a:p>
        </p:txBody>
      </p:sp>
      <p:sp>
        <p:nvSpPr>
          <p:cNvPr id="223" name="Text 2"/>
          <p:cNvSpPr/>
          <p:nvPr/>
        </p:nvSpPr>
        <p:spPr>
          <a:xfrm>
            <a:off x="198120" y="1663065"/>
            <a:ext cx="2400935" cy="171450"/>
          </a:xfrm>
          <a:prstGeom prst="rect">
            <a:avLst/>
          </a:prstGeom>
          <a:noFill/>
        </p:spPr>
        <p:txBody>
          <a:bodyPr wrap="none" lIns="0" tIns="0" rIns="0" bIns="0" rtlCol="0" anchor="t"/>
          <a:lstStyle/>
          <a:p>
            <a:pPr marL="0" indent="0" algn="ctr">
              <a:lnSpc>
                <a:spcPts val="1095"/>
              </a:lnSpc>
              <a:buNone/>
            </a:pPr>
            <a:r>
              <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rPr>
              <a:t>信号发现层</a:t>
            </a:r>
            <a:endPar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endParaRPr>
          </a:p>
        </p:txBody>
      </p:sp>
      <p:sp>
        <p:nvSpPr>
          <p:cNvPr id="224" name="Text 3"/>
          <p:cNvSpPr/>
          <p:nvPr/>
        </p:nvSpPr>
        <p:spPr>
          <a:xfrm>
            <a:off x="2018030" y="1663065"/>
            <a:ext cx="2701290" cy="171450"/>
          </a:xfrm>
          <a:prstGeom prst="rect">
            <a:avLst/>
          </a:prstGeom>
          <a:noFill/>
        </p:spPr>
        <p:txBody>
          <a:bodyPr wrap="none" lIns="0" tIns="0" rIns="0" bIns="0" rtlCol="0" anchor="t"/>
          <a:lstStyle/>
          <a:p>
            <a:pPr marL="0" indent="0" algn="ctr">
              <a:lnSpc>
                <a:spcPts val="1095"/>
              </a:lnSpc>
              <a:buNone/>
            </a:pPr>
            <a:r>
              <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rPr>
              <a:t>候选生成层</a:t>
            </a:r>
            <a:endPar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endParaRPr>
          </a:p>
        </p:txBody>
      </p:sp>
      <p:sp>
        <p:nvSpPr>
          <p:cNvPr id="225" name="Text 4"/>
          <p:cNvSpPr/>
          <p:nvPr/>
        </p:nvSpPr>
        <p:spPr>
          <a:xfrm>
            <a:off x="4324985" y="1663065"/>
            <a:ext cx="2400935" cy="171450"/>
          </a:xfrm>
          <a:prstGeom prst="rect">
            <a:avLst/>
          </a:prstGeom>
          <a:noFill/>
        </p:spPr>
        <p:txBody>
          <a:bodyPr wrap="none" lIns="0" tIns="0" rIns="0" bIns="0" rtlCol="0" anchor="t"/>
          <a:lstStyle/>
          <a:p>
            <a:pPr marL="0" indent="0" algn="ctr">
              <a:lnSpc>
                <a:spcPts val="1095"/>
              </a:lnSpc>
              <a:buNone/>
            </a:pPr>
            <a:r>
              <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rPr>
              <a:t>候选池</a:t>
            </a:r>
            <a:endPar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endParaRPr>
          </a:p>
        </p:txBody>
      </p:sp>
      <p:sp>
        <p:nvSpPr>
          <p:cNvPr id="226" name="Text 5"/>
          <p:cNvSpPr/>
          <p:nvPr/>
        </p:nvSpPr>
        <p:spPr>
          <a:xfrm>
            <a:off x="6537325" y="1663065"/>
            <a:ext cx="2291080" cy="171450"/>
          </a:xfrm>
          <a:prstGeom prst="rect">
            <a:avLst/>
          </a:prstGeom>
          <a:noFill/>
        </p:spPr>
        <p:txBody>
          <a:bodyPr wrap="none" lIns="0" tIns="0" rIns="0" bIns="0" rtlCol="0" anchor="t"/>
          <a:lstStyle/>
          <a:p>
            <a:pPr marL="0" indent="0" algn="ctr">
              <a:lnSpc>
                <a:spcPts val="1095"/>
              </a:lnSpc>
              <a:buNone/>
            </a:pPr>
            <a:r>
              <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rPr>
              <a:t>人机协同确认</a:t>
            </a:r>
            <a:endParaRPr lang="en-US" sz="1000" b="1" kern="0" spc="56" dirty="0">
              <a:solidFill>
                <a:srgbClr val="888888"/>
              </a:solidFill>
              <a:latin typeface="微软雅黑" panose="020B0503020204020204" charset="-122"/>
              <a:ea typeface="微软雅黑" panose="020B0503020204020204" charset="-122"/>
              <a:cs typeface="微软雅黑" panose="020B0503020204020204" pitchFamily="34" charset="-120"/>
            </a:endParaRPr>
          </a:p>
        </p:txBody>
      </p:sp>
      <p:sp>
        <p:nvSpPr>
          <p:cNvPr id="227" name="Text 6"/>
          <p:cNvSpPr/>
          <p:nvPr/>
        </p:nvSpPr>
        <p:spPr>
          <a:xfrm>
            <a:off x="8832850" y="1663065"/>
            <a:ext cx="2576830" cy="171450"/>
          </a:xfrm>
          <a:prstGeom prst="rect">
            <a:avLst/>
          </a:prstGeom>
          <a:noFill/>
        </p:spPr>
        <p:txBody>
          <a:bodyPr wrap="none" lIns="0" tIns="0" rIns="0" bIns="0" rtlCol="0" anchor="t"/>
          <a:lstStyle/>
          <a:p>
            <a:pPr marL="0" indent="0" algn="ctr">
              <a:lnSpc>
                <a:spcPts val="1095"/>
              </a:lnSpc>
              <a:buNone/>
            </a:pPr>
            <a:r>
              <a:rPr lang="en-US" sz="1000" b="1" kern="0" spc="56" dirty="0">
                <a:solidFill>
                  <a:srgbClr val="888888"/>
                </a:solidFill>
                <a:latin typeface="微软雅黑" panose="020B0503020204020204" charset="-122"/>
                <a:ea typeface="微软雅黑" panose="020B0503020204020204" charset="-122"/>
                <a:cs typeface="微软雅黑" panose="020B0503020204020204" charset="-122"/>
              </a:rPr>
              <a:t>知识库 / 图谱更新</a:t>
            </a:r>
            <a:endParaRPr lang="en-US" sz="1000" b="1" kern="0" spc="56" dirty="0">
              <a:solidFill>
                <a:srgbClr val="888888"/>
              </a:solidFill>
              <a:latin typeface="微软雅黑" panose="020B0503020204020204" charset="-122"/>
              <a:ea typeface="微软雅黑" panose="020B0503020204020204" charset="-122"/>
              <a:cs typeface="微软雅黑" panose="020B0503020204020204" charset="-122"/>
            </a:endParaRPr>
          </a:p>
        </p:txBody>
      </p:sp>
      <p:sp>
        <p:nvSpPr>
          <p:cNvPr id="230" name="Text 19"/>
          <p:cNvSpPr/>
          <p:nvPr/>
        </p:nvSpPr>
        <p:spPr>
          <a:xfrm>
            <a:off x="2529205" y="1892935"/>
            <a:ext cx="1678940" cy="56197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31" name="Text 20"/>
          <p:cNvSpPr/>
          <p:nvPr/>
        </p:nvSpPr>
        <p:spPr>
          <a:xfrm>
            <a:off x="2814320" y="2018665"/>
            <a:ext cx="1157605" cy="307975"/>
          </a:xfrm>
          <a:prstGeom prst="rect">
            <a:avLst/>
          </a:prstGeom>
          <a:noFill/>
        </p:spPr>
        <p:txBody>
          <a:bodyPr wrap="square" lIns="0" tIns="0" rIns="0" bIns="0" rtlCol="0" anchor="t"/>
          <a:lstStyle/>
          <a:p>
            <a:pPr marL="0" indent="0" algn="ctr">
              <a:lnSpc>
                <a:spcPct val="100000"/>
              </a:lnSpc>
              <a:buNone/>
            </a:pPr>
            <a:r>
              <a:rPr lang="zh-CN" altLang="en-US" sz="1000" dirty="0">
                <a:latin typeface="微软雅黑" panose="020B0503020204020204" charset="-122"/>
                <a:ea typeface="微软雅黑" panose="020B0503020204020204" charset="-122"/>
              </a:rPr>
              <a:t>大模型分析问答内容</a:t>
            </a:r>
            <a:r>
              <a:rPr lang="en-US" sz="1000" dirty="0">
                <a:solidFill>
                  <a:srgbClr val="1A1A1A"/>
                </a:solidFill>
                <a:latin typeface="微软雅黑" panose="020B0503020204020204" charset="-122"/>
                <a:ea typeface="微软雅黑" panose="020B0503020204020204" charset="-122"/>
                <a:cs typeface="微软雅黑" panose="020B0503020204020204" pitchFamily="34" charset="-120"/>
              </a:rPr>
              <a:t>发现新业务术语</a:t>
            </a:r>
            <a:endParaRPr lang="en-US"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236" name="Text 25"/>
          <p:cNvSpPr/>
          <p:nvPr/>
        </p:nvSpPr>
        <p:spPr>
          <a:xfrm>
            <a:off x="4780280" y="1936115"/>
            <a:ext cx="1490980" cy="480060"/>
          </a:xfrm>
          <a:prstGeom prst="roundRect">
            <a:avLst>
              <a:gd name="adj" fmla="val 18079"/>
            </a:avLst>
          </a:prstGeom>
          <a:solidFill>
            <a:srgbClr val="E1D5E7"/>
          </a:solidFill>
          <a:ln w="7144">
            <a:solidFill>
              <a:srgbClr val="9673A6"/>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37" name="Text 26"/>
          <p:cNvSpPr/>
          <p:nvPr/>
        </p:nvSpPr>
        <p:spPr>
          <a:xfrm>
            <a:off x="5062220" y="2105025"/>
            <a:ext cx="926465" cy="153670"/>
          </a:xfrm>
          <a:prstGeom prst="rect">
            <a:avLst/>
          </a:prstGeom>
          <a:noFill/>
        </p:spPr>
        <p:txBody>
          <a:bodyPr wrap="none" lIns="0" tIns="0" rIns="0" bIns="0" rtlCol="0" anchor="t"/>
          <a:lstStyle/>
          <a:p>
            <a:pPr marL="0" indent="0" algn="ctr">
              <a:lnSpc>
                <a:spcPts val="985"/>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业务</a:t>
            </a:r>
            <a:r>
              <a:rPr lang="en-US" sz="1000" dirty="0">
                <a:solidFill>
                  <a:srgbClr val="1A1A1A"/>
                </a:solidFill>
                <a:latin typeface="微软雅黑" panose="020B0503020204020204" charset="-122"/>
                <a:ea typeface="微软雅黑" panose="020B0503020204020204" charset="-122"/>
                <a:cs typeface="微软雅黑" panose="020B0503020204020204" pitchFamily="34" charset="-120"/>
              </a:rPr>
              <a:t>术语</a:t>
            </a: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映射表</a:t>
            </a:r>
            <a:endPar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242" name="Text 31"/>
          <p:cNvSpPr/>
          <p:nvPr/>
        </p:nvSpPr>
        <p:spPr>
          <a:xfrm>
            <a:off x="6843395" y="2850515"/>
            <a:ext cx="1678940" cy="887095"/>
          </a:xfrm>
          <a:prstGeom prst="roundRect">
            <a:avLst>
              <a:gd name="adj" fmla="val 4893"/>
            </a:avLst>
          </a:prstGeom>
          <a:solidFill>
            <a:srgbClr val="F8CECC"/>
          </a:solidFill>
          <a:ln w="7144">
            <a:solidFill>
              <a:srgbClr val="B85450"/>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43" name="Text 32"/>
          <p:cNvSpPr/>
          <p:nvPr/>
        </p:nvSpPr>
        <p:spPr>
          <a:xfrm>
            <a:off x="7136130" y="3134995"/>
            <a:ext cx="1094105" cy="160655"/>
          </a:xfrm>
          <a:prstGeom prst="rect">
            <a:avLst/>
          </a:prstGeom>
          <a:noFill/>
        </p:spPr>
        <p:txBody>
          <a:bodyPr wrap="none" lIns="0" tIns="0" rIns="0" bIns="0" rtlCol="0" anchor="t">
            <a:noAutofit/>
          </a:bodyPr>
          <a:lstStyle/>
          <a:p>
            <a:pPr marL="0" indent="0" algn="ctr">
              <a:lnSpc>
                <a:spcPts val="1105"/>
              </a:lnSpc>
              <a:buNone/>
            </a:pPr>
            <a:r>
              <a:rPr lang="en-US" sz="1000" dirty="0">
                <a:solidFill>
                  <a:srgbClr val="1A1A1A"/>
                </a:solidFill>
                <a:latin typeface="微软雅黑" panose="020B0503020204020204" charset="-122"/>
                <a:ea typeface="微软雅黑" panose="020B0503020204020204" charset="-122"/>
                <a:cs typeface="微软雅黑" panose="020B0503020204020204" pitchFamily="34" charset="-120"/>
              </a:rPr>
              <a:t>人工复核确认</a:t>
            </a:r>
            <a:endParaRPr lang="en-US"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244" name="Text 33"/>
          <p:cNvSpPr/>
          <p:nvPr/>
        </p:nvSpPr>
        <p:spPr>
          <a:xfrm>
            <a:off x="7136130" y="3327400"/>
            <a:ext cx="1200150" cy="175260"/>
          </a:xfrm>
          <a:prstGeom prst="rect">
            <a:avLst/>
          </a:prstGeom>
          <a:noFill/>
        </p:spPr>
        <p:txBody>
          <a:bodyPr wrap="square" lIns="0" tIns="0" rIns="0" bIns="0" rtlCol="0" anchor="t"/>
          <a:lstStyle/>
          <a:p>
            <a:pPr marL="0" indent="0" algn="ctr">
              <a:lnSpc>
                <a:spcPts val="865"/>
              </a:lnSpc>
              <a:buNone/>
            </a:pPr>
            <a:r>
              <a:rPr lang="en-US" sz="1000" dirty="0">
                <a:solidFill>
                  <a:srgbClr val="444444"/>
                </a:solidFill>
                <a:latin typeface="微软雅黑" panose="020B0503020204020204" charset="-122"/>
                <a:ea typeface="微软雅黑" panose="020B0503020204020204" charset="-122"/>
                <a:cs typeface="Carlito" pitchFamily="34" charset="-120"/>
              </a:rPr>
              <a:t>Humangate</a:t>
            </a:r>
            <a:endParaRPr lang="en-US" sz="1000" dirty="0">
              <a:solidFill>
                <a:srgbClr val="444444"/>
              </a:solidFill>
              <a:latin typeface="微软雅黑" panose="020B0503020204020204" charset="-122"/>
              <a:ea typeface="微软雅黑" panose="020B0503020204020204" charset="-122"/>
              <a:cs typeface="Carlito" pitchFamily="34" charset="-120"/>
            </a:endParaRPr>
          </a:p>
        </p:txBody>
      </p:sp>
      <p:sp>
        <p:nvSpPr>
          <p:cNvPr id="245" name="Text 34"/>
          <p:cNvSpPr/>
          <p:nvPr/>
        </p:nvSpPr>
        <p:spPr>
          <a:xfrm>
            <a:off x="9094470" y="1977390"/>
            <a:ext cx="2054225" cy="480060"/>
          </a:xfrm>
          <a:prstGeom prst="roundRect">
            <a:avLst>
              <a:gd name="adj" fmla="val 1807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46" name="Text 35"/>
          <p:cNvSpPr/>
          <p:nvPr/>
        </p:nvSpPr>
        <p:spPr>
          <a:xfrm>
            <a:off x="9671050" y="2146300"/>
            <a:ext cx="900430" cy="153670"/>
          </a:xfrm>
          <a:prstGeom prst="rect">
            <a:avLst/>
          </a:prstGeom>
          <a:noFill/>
        </p:spPr>
        <p:txBody>
          <a:bodyPr wrap="none" lIns="0" tIns="0" rIns="0" bIns="0" rtlCol="0" anchor="t"/>
          <a:lstStyle/>
          <a:p>
            <a:pPr marL="0" indent="0" algn="ctr">
              <a:lnSpc>
                <a:spcPts val="985"/>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业务术语</a:t>
            </a:r>
            <a:r>
              <a:rPr lang="en-US" sz="1000" dirty="0">
                <a:solidFill>
                  <a:srgbClr val="1A1A1A"/>
                </a:solidFill>
                <a:latin typeface="微软雅黑" panose="020B0503020204020204" charset="-122"/>
                <a:ea typeface="微软雅黑" panose="020B0503020204020204" charset="-122"/>
                <a:cs typeface="微软雅黑" panose="020B0503020204020204" pitchFamily="34" charset="-120"/>
              </a:rPr>
              <a:t>更新</a:t>
            </a:r>
            <a:endParaRPr lang="en-US"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sp>
        <p:nvSpPr>
          <p:cNvPr id="249" name="Text 38"/>
          <p:cNvSpPr/>
          <p:nvPr/>
        </p:nvSpPr>
        <p:spPr>
          <a:xfrm>
            <a:off x="9094470" y="3002280"/>
            <a:ext cx="2054225" cy="56197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50" name="Text 39"/>
          <p:cNvSpPr/>
          <p:nvPr/>
        </p:nvSpPr>
        <p:spPr>
          <a:xfrm>
            <a:off x="9509125" y="3162300"/>
            <a:ext cx="1203325" cy="307975"/>
          </a:xfrm>
          <a:prstGeom prst="rect">
            <a:avLst/>
          </a:prstGeom>
          <a:noFill/>
        </p:spPr>
        <p:txBody>
          <a:bodyPr wrap="square" lIns="0" tIns="0" rIns="0" bIns="0" rtlCol="0" anchor="t"/>
          <a:lstStyle/>
          <a:p>
            <a:pPr marL="0" indent="0" algn="ctr">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知识沉降</a:t>
            </a:r>
            <a:r>
              <a:rPr lang="en-US" altLang="zh-CN" sz="1000" dirty="0">
                <a:solidFill>
                  <a:srgbClr val="1A1A1A"/>
                </a:solidFill>
                <a:latin typeface="微软雅黑" panose="020B0503020204020204" charset="-122"/>
                <a:ea typeface="微软雅黑" panose="020B0503020204020204" charset="-122"/>
                <a:cs typeface="微软雅黑" panose="020B0503020204020204" charset="-122"/>
              </a:rPr>
              <a:t>/</a:t>
            </a: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抬升</a:t>
            </a:r>
            <a:endParaRPr lang="zh-CN" altLang="en-US" sz="10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251" name="Text 42"/>
          <p:cNvSpPr/>
          <p:nvPr/>
        </p:nvSpPr>
        <p:spPr>
          <a:xfrm>
            <a:off x="843280" y="2014855"/>
            <a:ext cx="1153795" cy="400685"/>
          </a:xfrm>
          <a:prstGeom prst="rect">
            <a:avLst/>
          </a:prstGeom>
          <a:noFill/>
        </p:spPr>
        <p:txBody>
          <a:bodyPr wrap="square" lIns="0" tIns="0" rIns="0" bIns="0" rtlCol="0" anchor="t"/>
          <a:lstStyle/>
          <a:p>
            <a:pPr indent="0" algn="ctr" fontAlgn="auto">
              <a:lnSpc>
                <a:spcPct val="100000"/>
              </a:lnSpc>
              <a:buNone/>
            </a:pPr>
            <a:r>
              <a:rPr lang="en-US" sz="1000" dirty="0">
                <a:solidFill>
                  <a:srgbClr val="1A1A1A"/>
                </a:solidFill>
                <a:latin typeface="微软雅黑" panose="020B0503020204020204" charset="-122"/>
                <a:ea typeface="微软雅黑" panose="020B0503020204020204" charset="-122"/>
                <a:cs typeface="微软雅黑" panose="020B0503020204020204" charset="-122"/>
              </a:rPr>
              <a:t>历史问答日志 /</a:t>
            </a:r>
            <a:endParaRPr lang="en-US" sz="1000" dirty="0">
              <a:latin typeface="微软雅黑" panose="020B0503020204020204" charset="-122"/>
              <a:ea typeface="微软雅黑" panose="020B0503020204020204" charset="-122"/>
              <a:cs typeface="微软雅黑" panose="020B0503020204020204" charset="-122"/>
            </a:endParaRPr>
          </a:p>
          <a:p>
            <a:pPr indent="0" algn="ctr" fontAlgn="auto">
              <a:lnSpc>
                <a:spcPct val="100000"/>
              </a:lnSpc>
              <a:buNone/>
            </a:pPr>
            <a:r>
              <a:rPr lang="en-US" sz="1000" dirty="0">
                <a:solidFill>
                  <a:srgbClr val="1A1A1A"/>
                </a:solidFill>
                <a:latin typeface="微软雅黑" panose="020B0503020204020204" charset="-122"/>
                <a:ea typeface="微软雅黑" panose="020B0503020204020204" charset="-122"/>
                <a:cs typeface="微软雅黑" panose="020B0503020204020204" charset="-122"/>
              </a:rPr>
              <a:t>多轮交互数据/</a:t>
            </a:r>
            <a:endParaRPr lang="zh-CN" altLang="en-US" sz="1000" dirty="0">
              <a:solidFill>
                <a:srgbClr val="1A1A1A"/>
              </a:solidFill>
              <a:latin typeface="微软雅黑" panose="020B0503020204020204" charset="-122"/>
              <a:ea typeface="微软雅黑" panose="020B0503020204020204" charset="-122"/>
              <a:cs typeface="微软雅黑" panose="020B0503020204020204" charset="-122"/>
            </a:endParaRPr>
          </a:p>
        </p:txBody>
      </p:sp>
      <p:cxnSp>
        <p:nvCxnSpPr>
          <p:cNvPr id="252" name="直接箭头连接符 251"/>
          <p:cNvCxnSpPr>
            <a:stCxn id="200" idx="3"/>
            <a:endCxn id="230" idx="1"/>
          </p:cNvCxnSpPr>
          <p:nvPr/>
        </p:nvCxnSpPr>
        <p:spPr>
          <a:xfrm>
            <a:off x="2165350" y="2174240"/>
            <a:ext cx="363855" cy="0"/>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257" name="Text 42"/>
          <p:cNvSpPr/>
          <p:nvPr/>
        </p:nvSpPr>
        <p:spPr>
          <a:xfrm>
            <a:off x="767715" y="3115310"/>
            <a:ext cx="1355090" cy="279400"/>
          </a:xfrm>
          <a:prstGeom prst="rect">
            <a:avLst/>
          </a:prstGeom>
          <a:noFill/>
        </p:spPr>
        <p:txBody>
          <a:bodyPr wrap="square" lIns="0" tIns="0" rIns="0" bIns="0" rtlCol="0" anchor="t"/>
          <a:lstStyle/>
          <a:p>
            <a:pPr indent="0" algn="ctr" fontAlgn="auto">
              <a:lnSpc>
                <a:spcPct val="100000"/>
              </a:lnSpc>
              <a:buNone/>
            </a:pPr>
            <a:r>
              <a:rPr lang="zh-CN" altLang="en-US" sz="1000" dirty="0">
                <a:solidFill>
                  <a:srgbClr val="3A3A3A"/>
                </a:solidFill>
                <a:latin typeface="微软雅黑" panose="020B0503020204020204" charset="-122"/>
                <a:ea typeface="微软雅黑" panose="020B0503020204020204" charset="-122"/>
                <a:cs typeface="微软雅黑" panose="020B0503020204020204" charset="-122"/>
                <a:sym typeface="+mn-ea"/>
              </a:rPr>
              <a:t>点赞、点踩、生效日期、长期零调用、权威度低</a:t>
            </a:r>
            <a:endParaRPr lang="zh-CN" altLang="en-US" sz="10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258" name="Text 23"/>
          <p:cNvSpPr/>
          <p:nvPr/>
        </p:nvSpPr>
        <p:spPr>
          <a:xfrm>
            <a:off x="2529205" y="2956560"/>
            <a:ext cx="1678940" cy="56197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59" name="Text 24"/>
          <p:cNvSpPr/>
          <p:nvPr/>
        </p:nvSpPr>
        <p:spPr>
          <a:xfrm>
            <a:off x="2748915" y="3019425"/>
            <a:ext cx="1201420" cy="307975"/>
          </a:xfrm>
          <a:prstGeom prst="rect">
            <a:avLst/>
          </a:prstGeom>
          <a:noFill/>
        </p:spPr>
        <p:txBody>
          <a:bodyPr wrap="square" lIns="0" tIns="0" rIns="0" bIns="0" rtlCol="0" anchor="t"/>
          <a:lstStyle/>
          <a:p>
            <a:pPr marL="0" indent="0" algn="ctr">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点赞：优先推荐规则</a:t>
            </a:r>
            <a:endParaRPr lang="zh-CN" altLang="en-US" sz="1000" dirty="0">
              <a:solidFill>
                <a:srgbClr val="1A1A1A"/>
              </a:solidFill>
              <a:latin typeface="微软雅黑" panose="020B0503020204020204" charset="-122"/>
              <a:ea typeface="微软雅黑" panose="020B0503020204020204" charset="-122"/>
              <a:cs typeface="微软雅黑" panose="020B0503020204020204" charset="-122"/>
            </a:endParaRPr>
          </a:p>
          <a:p>
            <a:pPr marL="0" indent="0" algn="ctr">
              <a:lnSpc>
                <a:spcPct val="100000"/>
              </a:lnSpc>
              <a:buNone/>
            </a:pPr>
            <a:r>
              <a:rPr lang="zh-CN" altLang="en-US" sz="1000" dirty="0">
                <a:solidFill>
                  <a:srgbClr val="444444"/>
                </a:solidFill>
                <a:latin typeface="微软雅黑" panose="020B0503020204020204" charset="-122"/>
                <a:ea typeface="微软雅黑" panose="020B0503020204020204" charset="-122"/>
                <a:cs typeface="微软雅黑" panose="020B0503020204020204" charset="-122"/>
              </a:rPr>
              <a:t>点踩、长期无调用：延后推荐规则</a:t>
            </a:r>
            <a:endParaRPr lang="zh-CN" altLang="en-US" sz="1000" dirty="0">
              <a:solidFill>
                <a:srgbClr val="444444"/>
              </a:solidFill>
              <a:latin typeface="微软雅黑" panose="020B0503020204020204" charset="-122"/>
              <a:ea typeface="微软雅黑" panose="020B0503020204020204" charset="-122"/>
              <a:cs typeface="微软雅黑" panose="020B0503020204020204" charset="-122"/>
            </a:endParaRPr>
          </a:p>
        </p:txBody>
      </p:sp>
      <p:sp>
        <p:nvSpPr>
          <p:cNvPr id="260" name="Text 29"/>
          <p:cNvSpPr/>
          <p:nvPr/>
        </p:nvSpPr>
        <p:spPr>
          <a:xfrm>
            <a:off x="4780280" y="3001010"/>
            <a:ext cx="1490980" cy="480060"/>
          </a:xfrm>
          <a:prstGeom prst="roundRect">
            <a:avLst>
              <a:gd name="adj" fmla="val 18079"/>
            </a:avLst>
          </a:prstGeom>
          <a:solidFill>
            <a:srgbClr val="E1D5E7"/>
          </a:solidFill>
          <a:ln w="7144">
            <a:solidFill>
              <a:srgbClr val="9673A6"/>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61" name="Text 30"/>
          <p:cNvSpPr/>
          <p:nvPr/>
        </p:nvSpPr>
        <p:spPr>
          <a:xfrm>
            <a:off x="4925060" y="3154045"/>
            <a:ext cx="1200785" cy="153670"/>
          </a:xfrm>
          <a:prstGeom prst="rect">
            <a:avLst/>
          </a:prstGeom>
          <a:noFill/>
        </p:spPr>
        <p:txBody>
          <a:bodyPr wrap="none" lIns="0" tIns="0" rIns="0" bIns="0" rtlCol="0" anchor="t"/>
          <a:lstStyle/>
          <a:p>
            <a:pPr marL="0" indent="0" algn="ctr">
              <a:lnSpc>
                <a:spcPts val="985"/>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知识沉降</a:t>
            </a:r>
            <a:r>
              <a:rPr lang="en-US" altLang="zh-CN" sz="1000" dirty="0">
                <a:solidFill>
                  <a:srgbClr val="1A1A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抬升建议</a:t>
            </a:r>
            <a:endPar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cxnSp>
        <p:nvCxnSpPr>
          <p:cNvPr id="262" name="直接箭头连接符 261"/>
          <p:cNvCxnSpPr>
            <a:stCxn id="199" idx="3"/>
            <a:endCxn id="258" idx="1"/>
          </p:cNvCxnSpPr>
          <p:nvPr/>
        </p:nvCxnSpPr>
        <p:spPr>
          <a:xfrm flipV="1">
            <a:off x="2165350" y="3237865"/>
            <a:ext cx="363855" cy="635"/>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cxnSp>
        <p:nvCxnSpPr>
          <p:cNvPr id="263" name="直接箭头连接符 262"/>
          <p:cNvCxnSpPr>
            <a:stCxn id="230" idx="3"/>
            <a:endCxn id="236" idx="1"/>
          </p:cNvCxnSpPr>
          <p:nvPr/>
        </p:nvCxnSpPr>
        <p:spPr>
          <a:xfrm>
            <a:off x="4208145" y="2174240"/>
            <a:ext cx="572135" cy="190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268" name="直接箭头连接符 267"/>
          <p:cNvCxnSpPr/>
          <p:nvPr/>
        </p:nvCxnSpPr>
        <p:spPr>
          <a:xfrm>
            <a:off x="4208145" y="3237865"/>
            <a:ext cx="572135" cy="317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269" name="直接箭头连接符 268"/>
          <p:cNvCxnSpPr>
            <a:stCxn id="236" idx="3"/>
            <a:endCxn id="242" idx="1"/>
          </p:cNvCxnSpPr>
          <p:nvPr/>
        </p:nvCxnSpPr>
        <p:spPr>
          <a:xfrm>
            <a:off x="6271260" y="2176145"/>
            <a:ext cx="572135" cy="111823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272" name="直接箭头连接符 271"/>
          <p:cNvCxnSpPr>
            <a:stCxn id="260" idx="3"/>
            <a:endCxn id="242" idx="1"/>
          </p:cNvCxnSpPr>
          <p:nvPr/>
        </p:nvCxnSpPr>
        <p:spPr>
          <a:xfrm>
            <a:off x="6271260" y="3241040"/>
            <a:ext cx="572135" cy="53340"/>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273" name="直接箭头连接符 272"/>
          <p:cNvCxnSpPr>
            <a:stCxn id="242" idx="3"/>
            <a:endCxn id="245" idx="1"/>
          </p:cNvCxnSpPr>
          <p:nvPr/>
        </p:nvCxnSpPr>
        <p:spPr>
          <a:xfrm flipV="1">
            <a:off x="8522335" y="2217420"/>
            <a:ext cx="572135" cy="1076960"/>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276" name="直接箭头连接符 275"/>
          <p:cNvCxnSpPr>
            <a:stCxn id="242" idx="3"/>
            <a:endCxn id="249" idx="1"/>
          </p:cNvCxnSpPr>
          <p:nvPr/>
        </p:nvCxnSpPr>
        <p:spPr>
          <a:xfrm flipV="1">
            <a:off x="8522335" y="3283585"/>
            <a:ext cx="572135" cy="1079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77" name="Text 17"/>
          <p:cNvSpPr/>
          <p:nvPr/>
        </p:nvSpPr>
        <p:spPr>
          <a:xfrm>
            <a:off x="674370" y="3959860"/>
            <a:ext cx="1490980" cy="575310"/>
          </a:xfrm>
          <a:prstGeom prst="roundRect">
            <a:avLst>
              <a:gd name="adj" fmla="val 6751"/>
            </a:avLst>
          </a:prstGeom>
          <a:solidFill>
            <a:srgbClr val="F8CECC"/>
          </a:solidFill>
          <a:ln w="7144">
            <a:solidFill>
              <a:srgbClr val="B85450"/>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zh-CN" altLang="en-US" sz="2400" dirty="0">
              <a:latin typeface="微软雅黑" panose="020B0503020204020204" charset="-122"/>
              <a:ea typeface="微软雅黑" panose="020B0503020204020204" charset="-122"/>
            </a:endParaRPr>
          </a:p>
        </p:txBody>
      </p:sp>
      <p:sp>
        <p:nvSpPr>
          <p:cNvPr id="278" name="Text 42"/>
          <p:cNvSpPr/>
          <p:nvPr/>
        </p:nvSpPr>
        <p:spPr>
          <a:xfrm>
            <a:off x="767715" y="4140200"/>
            <a:ext cx="1355090" cy="279400"/>
          </a:xfrm>
          <a:prstGeom prst="rect">
            <a:avLst/>
          </a:prstGeom>
          <a:noFill/>
        </p:spPr>
        <p:txBody>
          <a:bodyPr wrap="square" lIns="0" tIns="0" rIns="0" bIns="0" rtlCol="0" anchor="t"/>
          <a:lstStyle/>
          <a:p>
            <a:pPr indent="0" algn="ctr" fontAlgn="auto">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自动知识测评</a:t>
            </a:r>
            <a:endParaRPr lang="zh-CN" altLang="en-US" sz="10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279" name="Text 23"/>
          <p:cNvSpPr/>
          <p:nvPr/>
        </p:nvSpPr>
        <p:spPr>
          <a:xfrm>
            <a:off x="2529205" y="3959225"/>
            <a:ext cx="1678940" cy="56197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cxnSp>
        <p:nvCxnSpPr>
          <p:cNvPr id="280" name="直接箭头连接符 279"/>
          <p:cNvCxnSpPr>
            <a:stCxn id="277" idx="3"/>
            <a:endCxn id="279" idx="1"/>
          </p:cNvCxnSpPr>
          <p:nvPr/>
        </p:nvCxnSpPr>
        <p:spPr>
          <a:xfrm flipV="1">
            <a:off x="2165350" y="4240530"/>
            <a:ext cx="363855" cy="6985"/>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281" name="Text 20"/>
          <p:cNvSpPr/>
          <p:nvPr/>
        </p:nvSpPr>
        <p:spPr>
          <a:xfrm>
            <a:off x="2748280" y="4144010"/>
            <a:ext cx="1266190" cy="236855"/>
          </a:xfrm>
          <a:prstGeom prst="rect">
            <a:avLst/>
          </a:prstGeom>
          <a:noFill/>
        </p:spPr>
        <p:txBody>
          <a:bodyPr wrap="square" lIns="0" tIns="0" rIns="0" bIns="0" rtlCol="0" anchor="t"/>
          <a:lstStyle/>
          <a:p>
            <a:pPr marL="0" indent="0" algn="ctr">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测评结果</a:t>
            </a:r>
            <a:endParaRPr lang="en-US" altLang="zh-CN"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cxnSp>
        <p:nvCxnSpPr>
          <p:cNvPr id="282" name="直接箭头连接符 281"/>
          <p:cNvCxnSpPr>
            <a:stCxn id="279" idx="3"/>
            <a:endCxn id="283" idx="1"/>
          </p:cNvCxnSpPr>
          <p:nvPr/>
        </p:nvCxnSpPr>
        <p:spPr>
          <a:xfrm>
            <a:off x="4208145" y="4240530"/>
            <a:ext cx="572135" cy="2540"/>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83" name="Text 29"/>
          <p:cNvSpPr/>
          <p:nvPr/>
        </p:nvSpPr>
        <p:spPr>
          <a:xfrm>
            <a:off x="4780280" y="4003040"/>
            <a:ext cx="1490980" cy="480060"/>
          </a:xfrm>
          <a:prstGeom prst="roundRect">
            <a:avLst>
              <a:gd name="adj" fmla="val 18079"/>
            </a:avLst>
          </a:prstGeom>
          <a:solidFill>
            <a:srgbClr val="E1D5E7"/>
          </a:solidFill>
          <a:ln w="7144">
            <a:solidFill>
              <a:srgbClr val="9673A6"/>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284" name="Text 30"/>
          <p:cNvSpPr/>
          <p:nvPr/>
        </p:nvSpPr>
        <p:spPr>
          <a:xfrm>
            <a:off x="4925060" y="4161790"/>
            <a:ext cx="1200785" cy="153670"/>
          </a:xfrm>
          <a:prstGeom prst="rect">
            <a:avLst/>
          </a:prstGeom>
          <a:noFill/>
        </p:spPr>
        <p:txBody>
          <a:bodyPr wrap="none" lIns="0" tIns="0" rIns="0" bIns="0" rtlCol="0" anchor="t"/>
          <a:lstStyle/>
          <a:p>
            <a:pPr marL="0" indent="0" algn="ctr">
              <a:lnSpc>
                <a:spcPts val="985"/>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知识沉降</a:t>
            </a:r>
            <a:r>
              <a:rPr lang="en-US" altLang="zh-CN" sz="1000" dirty="0">
                <a:solidFill>
                  <a:srgbClr val="1A1A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抬升建议</a:t>
            </a:r>
            <a:endPar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cxnSp>
        <p:nvCxnSpPr>
          <p:cNvPr id="285" name="直接箭头连接符 284"/>
          <p:cNvCxnSpPr>
            <a:stCxn id="283" idx="3"/>
            <a:endCxn id="242" idx="1"/>
          </p:cNvCxnSpPr>
          <p:nvPr/>
        </p:nvCxnSpPr>
        <p:spPr>
          <a:xfrm flipV="1">
            <a:off x="6271260" y="3294380"/>
            <a:ext cx="572135" cy="948690"/>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86" name="Text 38"/>
          <p:cNvSpPr/>
          <p:nvPr/>
        </p:nvSpPr>
        <p:spPr>
          <a:xfrm>
            <a:off x="9094470" y="3948430"/>
            <a:ext cx="2054225" cy="56197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cxnSp>
        <p:nvCxnSpPr>
          <p:cNvPr id="287" name="直接箭头连接符 286"/>
          <p:cNvCxnSpPr>
            <a:stCxn id="242" idx="3"/>
            <a:endCxn id="286" idx="1"/>
          </p:cNvCxnSpPr>
          <p:nvPr/>
        </p:nvCxnSpPr>
        <p:spPr>
          <a:xfrm>
            <a:off x="8522335" y="3294380"/>
            <a:ext cx="572135" cy="93535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288" name="Text 39"/>
          <p:cNvSpPr/>
          <p:nvPr/>
        </p:nvSpPr>
        <p:spPr>
          <a:xfrm>
            <a:off x="9509125" y="4064635"/>
            <a:ext cx="1203325" cy="307975"/>
          </a:xfrm>
          <a:prstGeom prst="rect">
            <a:avLst/>
          </a:prstGeom>
          <a:noFill/>
        </p:spPr>
        <p:txBody>
          <a:bodyPr wrap="square" lIns="0" tIns="0" rIns="0" bIns="0" rtlCol="0" anchor="ctr" anchorCtr="0"/>
          <a:lstStyle/>
          <a:p>
            <a:pPr marL="0" indent="0" algn="ctr">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知识沉降</a:t>
            </a:r>
            <a:r>
              <a:rPr lang="en-US" altLang="zh-CN" sz="1000" dirty="0">
                <a:solidFill>
                  <a:srgbClr val="1A1A1A"/>
                </a:solidFill>
                <a:latin typeface="微软雅黑" panose="020B0503020204020204" charset="-122"/>
                <a:ea typeface="微软雅黑" panose="020B0503020204020204" charset="-122"/>
                <a:cs typeface="微软雅黑" panose="020B0503020204020204" charset="-122"/>
              </a:rPr>
              <a:t>/</a:t>
            </a: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抬升</a:t>
            </a:r>
            <a:endParaRPr lang="zh-CN" altLang="en-US" sz="10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289" name="文本框 288"/>
          <p:cNvSpPr txBox="1"/>
          <p:nvPr/>
        </p:nvSpPr>
        <p:spPr>
          <a:xfrm rot="1560000">
            <a:off x="1712595" y="1856105"/>
            <a:ext cx="788035" cy="209550"/>
          </a:xfrm>
          <a:prstGeom prst="rect">
            <a:avLst/>
          </a:prstGeom>
          <a:noFill/>
          <a:ln>
            <a:solidFill>
              <a:schemeClr val="tx1">
                <a:lumMod val="50000"/>
                <a:lumOff val="50000"/>
              </a:schemeClr>
            </a:solidFill>
          </a:ln>
        </p:spPr>
        <p:txBody>
          <a:bodyPr wrap="square" rtlCol="0">
            <a:noAutofit/>
          </a:bodyPr>
          <a:lstStyle/>
          <a:p>
            <a:pPr algn="ctr"/>
            <a:r>
              <a:rPr lang="zh-CN" altLang="en-US" sz="1000">
                <a:solidFill>
                  <a:schemeClr val="tx1">
                    <a:lumMod val="65000"/>
                    <a:lumOff val="35000"/>
                  </a:schemeClr>
                </a:solidFill>
                <a:latin typeface="微软雅黑" panose="020B0503020204020204" charset="-122"/>
                <a:ea typeface="微软雅黑" panose="020B0503020204020204" charset="-122"/>
              </a:rPr>
              <a:t>定期执行</a:t>
            </a:r>
            <a:endParaRPr lang="zh-CN" altLang="en-US" sz="1000">
              <a:solidFill>
                <a:schemeClr val="tx1">
                  <a:lumMod val="65000"/>
                  <a:lumOff val="35000"/>
                </a:schemeClr>
              </a:solidFill>
              <a:latin typeface="微软雅黑" panose="020B0503020204020204" charset="-122"/>
              <a:ea typeface="微软雅黑" panose="020B0503020204020204" charset="-122"/>
            </a:endParaRPr>
          </a:p>
        </p:txBody>
      </p:sp>
      <p:sp>
        <p:nvSpPr>
          <p:cNvPr id="292" name="文本框 291"/>
          <p:cNvSpPr txBox="1"/>
          <p:nvPr/>
        </p:nvSpPr>
        <p:spPr>
          <a:xfrm rot="1560000">
            <a:off x="1712595" y="2861310"/>
            <a:ext cx="788035" cy="209550"/>
          </a:xfrm>
          <a:prstGeom prst="rect">
            <a:avLst/>
          </a:prstGeom>
          <a:noFill/>
          <a:ln>
            <a:solidFill>
              <a:schemeClr val="tx1">
                <a:lumMod val="50000"/>
                <a:lumOff val="50000"/>
              </a:schemeClr>
            </a:solidFill>
          </a:ln>
        </p:spPr>
        <p:txBody>
          <a:bodyPr wrap="square" rtlCol="0">
            <a:noAutofit/>
          </a:bodyPr>
          <a:lstStyle/>
          <a:p>
            <a:pPr algn="ctr"/>
            <a:r>
              <a:rPr lang="zh-CN" altLang="en-US" sz="1000">
                <a:solidFill>
                  <a:schemeClr val="tx1">
                    <a:lumMod val="65000"/>
                    <a:lumOff val="35000"/>
                  </a:schemeClr>
                </a:solidFill>
                <a:latin typeface="微软雅黑" panose="020B0503020204020204" charset="-122"/>
                <a:ea typeface="微软雅黑" panose="020B0503020204020204" charset="-122"/>
              </a:rPr>
              <a:t>定期执行</a:t>
            </a:r>
            <a:endParaRPr lang="zh-CN" altLang="en-US" sz="1000">
              <a:solidFill>
                <a:schemeClr val="tx1">
                  <a:lumMod val="65000"/>
                  <a:lumOff val="35000"/>
                </a:schemeClr>
              </a:solidFill>
              <a:latin typeface="微软雅黑" panose="020B0503020204020204" charset="-122"/>
              <a:ea typeface="微软雅黑" panose="020B0503020204020204" charset="-122"/>
            </a:endParaRPr>
          </a:p>
        </p:txBody>
      </p:sp>
      <p:sp>
        <p:nvSpPr>
          <p:cNvPr id="293" name="文本框 292"/>
          <p:cNvSpPr txBox="1"/>
          <p:nvPr/>
        </p:nvSpPr>
        <p:spPr>
          <a:xfrm rot="1560000">
            <a:off x="1526540" y="3789680"/>
            <a:ext cx="788035" cy="209550"/>
          </a:xfrm>
          <a:prstGeom prst="rect">
            <a:avLst/>
          </a:prstGeom>
          <a:noFill/>
          <a:ln>
            <a:solidFill>
              <a:schemeClr val="tx1">
                <a:lumMod val="50000"/>
                <a:lumOff val="50000"/>
              </a:schemeClr>
            </a:solidFill>
          </a:ln>
        </p:spPr>
        <p:txBody>
          <a:bodyPr wrap="square" rtlCol="0">
            <a:noAutofit/>
          </a:bodyPr>
          <a:lstStyle/>
          <a:p>
            <a:pPr algn="ctr"/>
            <a:r>
              <a:rPr lang="zh-CN" altLang="en-US" sz="1000">
                <a:solidFill>
                  <a:schemeClr val="tx1">
                    <a:lumMod val="65000"/>
                    <a:lumOff val="35000"/>
                  </a:schemeClr>
                </a:solidFill>
                <a:latin typeface="微软雅黑" panose="020B0503020204020204" charset="-122"/>
                <a:ea typeface="微软雅黑" panose="020B0503020204020204" charset="-122"/>
              </a:rPr>
              <a:t>定期执行</a:t>
            </a:r>
            <a:endParaRPr lang="zh-CN" altLang="en-US" sz="1000">
              <a:solidFill>
                <a:schemeClr val="tx1">
                  <a:lumMod val="65000"/>
                  <a:lumOff val="35000"/>
                </a:schemeClr>
              </a:solidFill>
              <a:latin typeface="微软雅黑" panose="020B0503020204020204" charset="-122"/>
              <a:ea typeface="微软雅黑" panose="020B0503020204020204" charset="-122"/>
            </a:endParaRPr>
          </a:p>
        </p:txBody>
      </p:sp>
      <p:sp>
        <p:nvSpPr>
          <p:cNvPr id="3" name="Text 17"/>
          <p:cNvSpPr/>
          <p:nvPr/>
        </p:nvSpPr>
        <p:spPr>
          <a:xfrm>
            <a:off x="674370" y="4728210"/>
            <a:ext cx="1490980" cy="575310"/>
          </a:xfrm>
          <a:prstGeom prst="roundRect">
            <a:avLst>
              <a:gd name="adj" fmla="val 6751"/>
            </a:avLst>
          </a:prstGeom>
          <a:solidFill>
            <a:srgbClr val="F8CECC"/>
          </a:solidFill>
          <a:ln w="7144">
            <a:solidFill>
              <a:srgbClr val="B85450"/>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zh-CN" altLang="en-US" sz="2400" dirty="0">
              <a:latin typeface="微软雅黑" panose="020B0503020204020204" charset="-122"/>
              <a:ea typeface="微软雅黑" panose="020B0503020204020204" charset="-122"/>
            </a:endParaRPr>
          </a:p>
        </p:txBody>
      </p:sp>
      <p:sp>
        <p:nvSpPr>
          <p:cNvPr id="4" name="Text 42"/>
          <p:cNvSpPr/>
          <p:nvPr/>
        </p:nvSpPr>
        <p:spPr>
          <a:xfrm>
            <a:off x="843280" y="4908550"/>
            <a:ext cx="1153795" cy="279400"/>
          </a:xfrm>
          <a:prstGeom prst="rect">
            <a:avLst/>
          </a:prstGeom>
          <a:noFill/>
        </p:spPr>
        <p:txBody>
          <a:bodyPr wrap="square" lIns="0" tIns="0" rIns="0" bIns="0" rtlCol="0" anchor="t"/>
          <a:lstStyle/>
          <a:p>
            <a:pPr indent="0" algn="ctr" fontAlgn="auto">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元数据扫描</a:t>
            </a:r>
            <a:endParaRPr lang="zh-CN" altLang="en-US" sz="10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rot="1560000">
            <a:off x="1713230" y="4683125"/>
            <a:ext cx="788035" cy="209550"/>
          </a:xfrm>
          <a:prstGeom prst="rect">
            <a:avLst/>
          </a:prstGeom>
          <a:noFill/>
          <a:ln>
            <a:solidFill>
              <a:schemeClr val="tx1">
                <a:lumMod val="50000"/>
                <a:lumOff val="50000"/>
              </a:schemeClr>
            </a:solidFill>
          </a:ln>
        </p:spPr>
        <p:txBody>
          <a:bodyPr wrap="square" rtlCol="0">
            <a:noAutofit/>
          </a:bodyPr>
          <a:lstStyle/>
          <a:p>
            <a:pPr algn="ctr"/>
            <a:r>
              <a:rPr lang="zh-CN" altLang="en-US" sz="1000">
                <a:solidFill>
                  <a:schemeClr val="tx1">
                    <a:lumMod val="65000"/>
                    <a:lumOff val="35000"/>
                  </a:schemeClr>
                </a:solidFill>
                <a:latin typeface="微软雅黑" panose="020B0503020204020204" charset="-122"/>
                <a:ea typeface="微软雅黑" panose="020B0503020204020204" charset="-122"/>
              </a:rPr>
              <a:t>定期执行</a:t>
            </a:r>
            <a:endParaRPr lang="zh-CN" altLang="en-US" sz="1000">
              <a:solidFill>
                <a:schemeClr val="tx1">
                  <a:lumMod val="65000"/>
                  <a:lumOff val="35000"/>
                </a:schemeClr>
              </a:solidFill>
              <a:latin typeface="微软雅黑" panose="020B0503020204020204" charset="-122"/>
              <a:ea typeface="微软雅黑" panose="020B0503020204020204" charset="-122"/>
            </a:endParaRPr>
          </a:p>
        </p:txBody>
      </p:sp>
      <p:sp>
        <p:nvSpPr>
          <p:cNvPr id="6" name="Text 23"/>
          <p:cNvSpPr/>
          <p:nvPr/>
        </p:nvSpPr>
        <p:spPr>
          <a:xfrm>
            <a:off x="2529205" y="4760595"/>
            <a:ext cx="1678940" cy="56197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en-US" sz="2400" dirty="0">
              <a:latin typeface="微软雅黑" panose="020B0503020204020204" charset="-122"/>
              <a:ea typeface="微软雅黑" panose="020B0503020204020204" charset="-122"/>
            </a:endParaRPr>
          </a:p>
        </p:txBody>
      </p:sp>
      <p:sp>
        <p:nvSpPr>
          <p:cNvPr id="7" name="Text 20"/>
          <p:cNvSpPr/>
          <p:nvPr/>
        </p:nvSpPr>
        <p:spPr>
          <a:xfrm>
            <a:off x="2748280" y="4912995"/>
            <a:ext cx="1266190" cy="236855"/>
          </a:xfrm>
          <a:prstGeom prst="rect">
            <a:avLst/>
          </a:prstGeom>
          <a:noFill/>
        </p:spPr>
        <p:txBody>
          <a:bodyPr wrap="square" lIns="0" tIns="0" rIns="0" bIns="0" rtlCol="0" anchor="t"/>
          <a:lstStyle/>
          <a:p>
            <a:pPr marL="0" indent="0" algn="ctr">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扫描结果</a:t>
            </a:r>
            <a:endParaRPr lang="en-US" altLang="zh-CN"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cxnSp>
        <p:nvCxnSpPr>
          <p:cNvPr id="8" name="直接箭头连接符 7"/>
          <p:cNvCxnSpPr>
            <a:stCxn id="3" idx="3"/>
            <a:endCxn id="6" idx="1"/>
          </p:cNvCxnSpPr>
          <p:nvPr/>
        </p:nvCxnSpPr>
        <p:spPr>
          <a:xfrm>
            <a:off x="2165350" y="5015865"/>
            <a:ext cx="363855" cy="26035"/>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10" name="Text 20"/>
          <p:cNvSpPr/>
          <p:nvPr/>
        </p:nvSpPr>
        <p:spPr>
          <a:xfrm>
            <a:off x="4938395" y="4912995"/>
            <a:ext cx="1266190" cy="236855"/>
          </a:xfrm>
          <a:prstGeom prst="rect">
            <a:avLst/>
          </a:prstGeom>
          <a:noFill/>
        </p:spPr>
        <p:txBody>
          <a:bodyPr wrap="square" lIns="0" tIns="0" rIns="0" bIns="0" rtlCol="0" anchor="t"/>
          <a:lstStyle/>
          <a:p>
            <a:pPr marL="0" indent="0" algn="ctr">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pitchFamily="34" charset="-120"/>
              </a:rPr>
              <a:t>知识更新表</a:t>
            </a:r>
            <a:endParaRPr lang="en-US" altLang="zh-CN" sz="1000" dirty="0">
              <a:solidFill>
                <a:srgbClr val="1A1A1A"/>
              </a:solidFill>
              <a:latin typeface="微软雅黑" panose="020B0503020204020204" charset="-122"/>
              <a:ea typeface="微软雅黑" panose="020B0503020204020204" charset="-122"/>
              <a:cs typeface="微软雅黑" panose="020B0503020204020204" pitchFamily="34" charset="-120"/>
            </a:endParaRPr>
          </a:p>
        </p:txBody>
      </p:sp>
      <p:cxnSp>
        <p:nvCxnSpPr>
          <p:cNvPr id="11" name="直接箭头连接符 10"/>
          <p:cNvCxnSpPr>
            <a:stCxn id="6" idx="3"/>
            <a:endCxn id="17" idx="1"/>
          </p:cNvCxnSpPr>
          <p:nvPr/>
        </p:nvCxnSpPr>
        <p:spPr>
          <a:xfrm flipV="1">
            <a:off x="4208145" y="5015865"/>
            <a:ext cx="572135" cy="2603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17" idx="3"/>
            <a:endCxn id="242" idx="1"/>
          </p:cNvCxnSpPr>
          <p:nvPr/>
        </p:nvCxnSpPr>
        <p:spPr>
          <a:xfrm flipV="1">
            <a:off x="6271260" y="3294380"/>
            <a:ext cx="572135" cy="172148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13" name="Text 38"/>
          <p:cNvSpPr/>
          <p:nvPr/>
        </p:nvSpPr>
        <p:spPr>
          <a:xfrm>
            <a:off x="9094470" y="4728210"/>
            <a:ext cx="2054225" cy="561975"/>
          </a:xfrm>
          <a:prstGeom prst="roundRect">
            <a:avLst>
              <a:gd name="adj" fmla="val 15459"/>
            </a:avLst>
          </a:prstGeom>
          <a:solidFill>
            <a:srgbClr val="DAE8FC"/>
          </a:solidFill>
          <a:ln w="7144">
            <a:solidFill>
              <a:srgbClr val="6C8EBF"/>
            </a:solidFill>
            <a:prstDash val="solid"/>
          </a:ln>
          <a:effectLst>
            <a:outerShdw blurRad="19050" dist="9525" dir="5400000" algn="bl" rotWithShape="0">
              <a:srgbClr val="000000">
                <a:alpha val="5000"/>
              </a:srgbClr>
            </a:outerShdw>
          </a:effectLst>
        </p:spPr>
        <p:txBody>
          <a:bodyPr wrap="square" rtlCol="0" anchor="ctr"/>
          <a:lstStyle/>
          <a:p>
            <a:pPr marL="0" indent="0">
              <a:buNone/>
            </a:pPr>
            <a:endParaRPr lang="zh-CN" altLang="en-US" sz="2400" dirty="0">
              <a:latin typeface="微软雅黑" panose="020B0503020204020204" charset="-122"/>
              <a:ea typeface="微软雅黑" panose="020B0503020204020204" charset="-122"/>
            </a:endParaRPr>
          </a:p>
        </p:txBody>
      </p:sp>
      <p:cxnSp>
        <p:nvCxnSpPr>
          <p:cNvPr id="14" name="直接箭头连接符 13"/>
          <p:cNvCxnSpPr>
            <a:stCxn id="242" idx="3"/>
            <a:endCxn id="13" idx="1"/>
          </p:cNvCxnSpPr>
          <p:nvPr/>
        </p:nvCxnSpPr>
        <p:spPr>
          <a:xfrm>
            <a:off x="8522335" y="3294380"/>
            <a:ext cx="572135" cy="1715135"/>
          </a:xfrm>
          <a:prstGeom prst="straightConnector1">
            <a:avLst/>
          </a:prstGeom>
          <a:ln>
            <a:solidFill>
              <a:schemeClr val="tx1">
                <a:lumMod val="65000"/>
                <a:lumOff val="35000"/>
              </a:schemeClr>
            </a:solidFill>
            <a:tailEnd type="arrow"/>
          </a:ln>
        </p:spPr>
        <p:style>
          <a:lnRef idx="2">
            <a:schemeClr val="accent1"/>
          </a:lnRef>
          <a:fillRef idx="0">
            <a:srgbClr val="FFFFFF"/>
          </a:fillRef>
          <a:effectRef idx="0">
            <a:srgbClr val="FFFFFF"/>
          </a:effectRef>
          <a:fontRef idx="minor">
            <a:schemeClr val="tx1"/>
          </a:fontRef>
        </p:style>
      </p:cxnSp>
      <p:sp>
        <p:nvSpPr>
          <p:cNvPr id="16" name="Text 39"/>
          <p:cNvSpPr/>
          <p:nvPr/>
        </p:nvSpPr>
        <p:spPr>
          <a:xfrm>
            <a:off x="9509125" y="4841875"/>
            <a:ext cx="1203325" cy="307975"/>
          </a:xfrm>
          <a:prstGeom prst="rect">
            <a:avLst/>
          </a:prstGeom>
          <a:noFill/>
        </p:spPr>
        <p:txBody>
          <a:bodyPr wrap="square" lIns="0" tIns="0" rIns="0" bIns="0" rtlCol="0" anchor="ctr" anchorCtr="0"/>
          <a:lstStyle/>
          <a:p>
            <a:pPr marL="0" indent="0" algn="ctr">
              <a:lnSpc>
                <a:spcPct val="100000"/>
              </a:lnSpc>
              <a:buNone/>
            </a:pPr>
            <a:r>
              <a:rPr lang="zh-CN" altLang="en-US" sz="1000" dirty="0">
                <a:solidFill>
                  <a:srgbClr val="1A1A1A"/>
                </a:solidFill>
                <a:latin typeface="微软雅黑" panose="020B0503020204020204" charset="-122"/>
                <a:ea typeface="微软雅黑" panose="020B0503020204020204" charset="-122"/>
                <a:cs typeface="微软雅黑" panose="020B0503020204020204" charset="-122"/>
              </a:rPr>
              <a:t>知识</a:t>
            </a:r>
            <a:r>
              <a:rPr lang="zh-CN" sz="1000" dirty="0">
                <a:solidFill>
                  <a:srgbClr val="1A1A1A"/>
                </a:solidFill>
                <a:latin typeface="微软雅黑" panose="020B0503020204020204" charset="-122"/>
                <a:ea typeface="微软雅黑" panose="020B0503020204020204" charset="-122"/>
                <a:cs typeface="微软雅黑" panose="020B0503020204020204" charset="-122"/>
              </a:rPr>
              <a:t>属性更新</a:t>
            </a:r>
            <a:endParaRPr lang="zh-CN" sz="1000" dirty="0">
              <a:solidFill>
                <a:srgbClr val="1A1A1A"/>
              </a:solidFill>
              <a:latin typeface="微软雅黑" panose="020B0503020204020204" charset="-122"/>
              <a:ea typeface="微软雅黑" panose="020B0503020204020204" charset="-122"/>
              <a:cs typeface="微软雅黑" panose="020B0503020204020204" charset="-122"/>
            </a:endParaRPr>
          </a:p>
        </p:txBody>
      </p:sp>
      <p:sp>
        <p:nvSpPr>
          <p:cNvPr id="59" name="矩形 58"/>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9" name="矩形 8"/>
          <p:cNvSpPr/>
          <p:nvPr/>
        </p:nvSpPr>
        <p:spPr>
          <a:xfrm>
            <a:off x="796682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19" name="矩形 18"/>
          <p:cNvSpPr/>
          <p:nvPr/>
        </p:nvSpPr>
        <p:spPr>
          <a:xfrm>
            <a:off x="880693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33" name="矩形 32"/>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sym typeface="+mn-ea"/>
              </a:rPr>
              <a:t>可解释</a:t>
            </a:r>
            <a:endParaRPr lang="zh-CN" altLang="en-US" sz="1000">
              <a:latin typeface="微软雅黑" panose="020B0503020204020204" charset="-122"/>
              <a:ea typeface="微软雅黑" panose="020B0503020204020204" charset="-122"/>
            </a:endParaRPr>
          </a:p>
        </p:txBody>
      </p:sp>
      <p:sp>
        <p:nvSpPr>
          <p:cNvPr id="34" name="矩形 33"/>
          <p:cNvSpPr/>
          <p:nvPr/>
        </p:nvSpPr>
        <p:spPr>
          <a:xfrm>
            <a:off x="10487779"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129549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
        <p:nvSpPr>
          <p:cNvPr id="68" name="Shape 66"/>
          <p:cNvSpPr/>
          <p:nvPr/>
        </p:nvSpPr>
        <p:spPr>
          <a:xfrm>
            <a:off x="7772883" y="5819013"/>
            <a:ext cx="457200" cy="457200"/>
          </a:xfrm>
          <a:prstGeom prst="ellipse">
            <a:avLst/>
          </a:prstGeom>
          <a:solidFill>
            <a:srgbClr val="305087"/>
          </a:solidFill>
          <a:ln w="12700">
            <a:solidFill>
              <a:srgbClr val="305087"/>
            </a:solidFill>
            <a:prstDash val="solid"/>
          </a:ln>
        </p:spPr>
      </p:sp>
      <p:sp>
        <p:nvSpPr>
          <p:cNvPr id="69" name="Text 67"/>
          <p:cNvSpPr/>
          <p:nvPr/>
        </p:nvSpPr>
        <p:spPr>
          <a:xfrm>
            <a:off x="7772883" y="5819013"/>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微软雅黑" panose="020B0503020204020204" charset="-122"/>
                <a:ea typeface="微软雅黑" panose="020B0503020204020204" charset="-122"/>
                <a:cs typeface="Calibri" panose="020F0502020204030204" pitchFamily="34" charset="-120"/>
              </a:rPr>
              <a:t>③</a:t>
            </a:r>
            <a:endParaRPr lang="en-US" sz="1600" b="1" dirty="0">
              <a:solidFill>
                <a:srgbClr val="FFFFFF"/>
              </a:solidFill>
              <a:latin typeface="微软雅黑" panose="020B0503020204020204" charset="-122"/>
              <a:ea typeface="微软雅黑" panose="020B0503020204020204" charset="-122"/>
              <a:cs typeface="Calibri" panose="020F0502020204030204" pitchFamily="34" charset="-120"/>
            </a:endParaRPr>
          </a:p>
        </p:txBody>
      </p:sp>
      <p:sp>
        <p:nvSpPr>
          <p:cNvPr id="211" name="Text 76"/>
          <p:cNvSpPr/>
          <p:nvPr/>
        </p:nvSpPr>
        <p:spPr>
          <a:xfrm>
            <a:off x="8336204" y="5753227"/>
            <a:ext cx="1984934" cy="274320"/>
          </a:xfrm>
          <a:prstGeom prst="rect">
            <a:avLst/>
          </a:prstGeom>
          <a:noFill/>
        </p:spPr>
        <p:txBody>
          <a:bodyPr wrap="square" lIns="0" tIns="0" rIns="0" bIns="0" rtlCol="0" anchor="ctr"/>
          <a:lstStyle/>
          <a:p>
            <a:pPr marL="0" indent="0" algn="l">
              <a:buNone/>
            </a:pPr>
            <a:r>
              <a:rPr lang="zh-CN" sz="1150" b="1" dirty="0">
                <a:solidFill>
                  <a:srgbClr val="305087"/>
                </a:solidFill>
                <a:latin typeface="微软雅黑" panose="020B0503020204020204" charset="-122"/>
                <a:ea typeface="微软雅黑" panose="020B0503020204020204" charset="-122"/>
                <a:cs typeface="Calibri" panose="020F0502020204030204" pitchFamily="34" charset="-120"/>
              </a:rPr>
              <a:t>知识更新</a:t>
            </a:r>
            <a:endParaRPr lang="zh-CN" sz="1150" b="1" dirty="0">
              <a:solidFill>
                <a:srgbClr val="305087"/>
              </a:solidFill>
              <a:latin typeface="微软雅黑" panose="020B0503020204020204" charset="-122"/>
              <a:ea typeface="微软雅黑" panose="020B0503020204020204" charset="-122"/>
              <a:cs typeface="Calibri" panose="020F0502020204030204" pitchFamily="34" charset="-120"/>
            </a:endParaRPr>
          </a:p>
        </p:txBody>
      </p:sp>
      <p:sp>
        <p:nvSpPr>
          <p:cNvPr id="212" name="Text 77"/>
          <p:cNvSpPr/>
          <p:nvPr/>
        </p:nvSpPr>
        <p:spPr>
          <a:xfrm>
            <a:off x="8336280" y="6005830"/>
            <a:ext cx="2077085" cy="677545"/>
          </a:xfrm>
          <a:prstGeom prst="rect">
            <a:avLst/>
          </a:prstGeom>
          <a:noFill/>
        </p:spPr>
        <p:txBody>
          <a:bodyPr wrap="square" lIns="0" tIns="0" rIns="0" bIns="0" rtlCol="0" anchor="t"/>
          <a:lstStyle/>
          <a:p>
            <a:pPr marL="0" indent="0" algn="l">
              <a:buNone/>
            </a:pPr>
            <a:r>
              <a:rPr lang="zh-CN" altLang="en-US" sz="900" dirty="0">
                <a:solidFill>
                  <a:srgbClr val="3A3A3A"/>
                </a:solidFill>
                <a:latin typeface="微软雅黑" panose="020B0503020204020204" charset="-122"/>
                <a:ea typeface="微软雅黑" panose="020B0503020204020204" charset="-122"/>
                <a:cs typeface="微软雅黑" panose="020B0503020204020204" charset="-122"/>
              </a:rPr>
              <a:t>检测文档元数据信息，自动识别文档是否过期（含父文档过期），或有新的版本，进行元数据信息的更新，过期文档将不作为知识内容输出，优先输出高版本内容。</a:t>
            </a:r>
            <a:endParaRPr lang="zh-CN" altLang="en-US" sz="900" dirty="0">
              <a:solidFill>
                <a:srgbClr val="3A3A3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094605" y="1908810"/>
            <a:ext cx="6917690" cy="4284980"/>
          </a:xfrm>
          <a:prstGeom prst="rect">
            <a:avLst/>
          </a:prstGeom>
          <a:noFill/>
          <a:ln w="1905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2.5.6 可闭环:感知-决策-执行-反馈全生命周期自治运营</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圆角矩形 9"/>
          <p:cNvSpPr/>
          <p:nvPr/>
        </p:nvSpPr>
        <p:spPr bwMode="auto">
          <a:xfrm>
            <a:off x="508635" y="906145"/>
            <a:ext cx="10921365" cy="91948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b="1" dirty="0">
                <a:solidFill>
                  <a:srgbClr val="C00000"/>
                </a:solidFill>
                <a:effectLst/>
                <a:latin typeface="微软雅黑" panose="020B0503020204020204" charset="-122"/>
                <a:ea typeface="微软雅黑" panose="020B0503020204020204" charset="-122"/>
              </a:rPr>
              <a:t>构建</a:t>
            </a:r>
            <a:r>
              <a:rPr lang="en-US" altLang="zh-CN" sz="1600" b="1" dirty="0">
                <a:solidFill>
                  <a:srgbClr val="C00000"/>
                </a:solidFill>
                <a:effectLst/>
                <a:latin typeface="微软雅黑" panose="020B0503020204020204" charset="-122"/>
                <a:ea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rPr>
              <a:t>采集</a:t>
            </a:r>
            <a:r>
              <a:rPr lang="en-US" altLang="zh-CN" sz="1600" b="1" dirty="0">
                <a:solidFill>
                  <a:srgbClr val="C00000"/>
                </a:solidFill>
                <a:effectLst/>
                <a:latin typeface="微软雅黑" panose="020B0503020204020204" charset="-122"/>
                <a:ea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rPr>
              <a:t>加工</a:t>
            </a:r>
            <a:r>
              <a:rPr lang="en-US" altLang="zh-CN" sz="1600" b="1" dirty="0">
                <a:solidFill>
                  <a:srgbClr val="C00000"/>
                </a:solidFill>
                <a:effectLst/>
                <a:latin typeface="微软雅黑" panose="020B0503020204020204" charset="-122"/>
                <a:ea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rPr>
              <a:t>应用</a:t>
            </a:r>
            <a:r>
              <a:rPr lang="en-US" altLang="zh-CN" sz="1600" b="1" dirty="0">
                <a:solidFill>
                  <a:srgbClr val="C00000"/>
                </a:solidFill>
                <a:effectLst/>
                <a:latin typeface="微软雅黑" panose="020B0503020204020204" charset="-122"/>
                <a:ea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rPr>
              <a:t>反馈</a:t>
            </a:r>
            <a:r>
              <a:rPr lang="en-US" altLang="zh-CN" sz="1600" b="1" dirty="0">
                <a:solidFill>
                  <a:srgbClr val="C00000"/>
                </a:solidFill>
                <a:effectLst/>
                <a:latin typeface="微软雅黑" panose="020B0503020204020204" charset="-122"/>
                <a:ea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rPr>
              <a:t>迭代</a:t>
            </a:r>
            <a:r>
              <a:rPr lang="en-US" altLang="zh-CN" sz="1600" b="1" dirty="0">
                <a:solidFill>
                  <a:srgbClr val="C00000"/>
                </a:solidFill>
                <a:effectLst/>
                <a:latin typeface="微软雅黑" panose="020B0503020204020204" charset="-122"/>
                <a:ea typeface="微软雅黑" panose="020B0503020204020204" charset="-122"/>
              </a:rPr>
              <a:t>”</a:t>
            </a:r>
            <a:r>
              <a:rPr lang="zh-CN" altLang="en-US" sz="1600" b="1" dirty="0">
                <a:solidFill>
                  <a:srgbClr val="C00000"/>
                </a:solidFill>
                <a:effectLst/>
                <a:latin typeface="微软雅黑" panose="020B0503020204020204" charset="-122"/>
                <a:ea typeface="微软雅黑" panose="020B0503020204020204" charset="-122"/>
              </a:rPr>
              <a:t>全闭环自学习机制</a:t>
            </a:r>
            <a:r>
              <a:rPr lang="zh-CN" altLang="en-US" sz="1600" dirty="0">
                <a:effectLst/>
                <a:latin typeface="微软雅黑" panose="020B0503020204020204" charset="-122"/>
                <a:ea typeface="微软雅黑" panose="020B0503020204020204" charset="-122"/>
              </a:rPr>
              <a:t>，打破传统人工运维的效率瓶颈，</a:t>
            </a:r>
            <a:r>
              <a:rPr lang="zh-CN" altLang="en-US" sz="1600" b="1" dirty="0">
                <a:solidFill>
                  <a:srgbClr val="C00000"/>
                </a:solidFill>
                <a:effectLst/>
                <a:latin typeface="微软雅黑" panose="020B0503020204020204" charset="-122"/>
                <a:ea typeface="微软雅黑" panose="020B0503020204020204" charset="-122"/>
              </a:rPr>
              <a:t>实现</a:t>
            </a:r>
            <a:r>
              <a:rPr lang="en-US" altLang="zh-CN" sz="1600" b="1" dirty="0">
                <a:solidFill>
                  <a:srgbClr val="C00000"/>
                </a:solidFill>
                <a:effectLst/>
                <a:latin typeface="微软雅黑" panose="020B0503020204020204" charset="-122"/>
                <a:ea typeface="微软雅黑" panose="020B0503020204020204" charset="-122"/>
              </a:rPr>
              <a:t>AI</a:t>
            </a:r>
            <a:r>
              <a:rPr lang="zh-CN" altLang="en-US" sz="1600" b="1" dirty="0">
                <a:solidFill>
                  <a:srgbClr val="C00000"/>
                </a:solidFill>
                <a:effectLst/>
                <a:latin typeface="微软雅黑" panose="020B0503020204020204" charset="-122"/>
                <a:ea typeface="微软雅黑" panose="020B0503020204020204" charset="-122"/>
              </a:rPr>
              <a:t>为主、人工为辅的智能化自治运营体系，确保金融服务的连续性与合规性。</a:t>
            </a:r>
            <a:endParaRPr lang="zh-CN" altLang="en-US" sz="1600" b="1" dirty="0">
              <a:solidFill>
                <a:srgbClr val="C00000"/>
              </a:solidFill>
              <a:effectLst/>
              <a:latin typeface="微软雅黑" panose="020B0503020204020204" charset="-122"/>
              <a:ea typeface="微软雅黑" panose="020B0503020204020204" charset="-122"/>
            </a:endParaRPr>
          </a:p>
        </p:txBody>
      </p:sp>
      <p:sp>
        <p:nvSpPr>
          <p:cNvPr id="59" name="矩形 58"/>
          <p:cNvSpPr/>
          <p:nvPr/>
        </p:nvSpPr>
        <p:spPr>
          <a:xfrm>
            <a:off x="712672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可控制</a:t>
            </a:r>
            <a:endParaRPr lang="zh-CN" altLang="en-US" sz="1000">
              <a:latin typeface="微软雅黑" panose="020B0503020204020204" charset="-122"/>
              <a:ea typeface="微软雅黑" panose="020B0503020204020204" charset="-122"/>
            </a:endParaRPr>
          </a:p>
        </p:txBody>
      </p:sp>
      <p:sp>
        <p:nvSpPr>
          <p:cNvPr id="4" name="矩形 3"/>
          <p:cNvSpPr/>
          <p:nvPr/>
        </p:nvSpPr>
        <p:spPr>
          <a:xfrm>
            <a:off x="796682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可观测</a:t>
            </a:r>
            <a:endParaRPr lang="zh-CN" altLang="en-US" sz="1000">
              <a:latin typeface="微软雅黑" panose="020B0503020204020204" charset="-122"/>
              <a:ea typeface="微软雅黑" panose="020B0503020204020204" charset="-122"/>
            </a:endParaRPr>
          </a:p>
        </p:txBody>
      </p:sp>
      <p:sp>
        <p:nvSpPr>
          <p:cNvPr id="6" name="矩形 5"/>
          <p:cNvSpPr/>
          <p:nvPr/>
        </p:nvSpPr>
        <p:spPr>
          <a:xfrm>
            <a:off x="8806934"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可溯源</a:t>
            </a:r>
            <a:endParaRPr lang="zh-CN" altLang="en-US" sz="1000">
              <a:latin typeface="微软雅黑" panose="020B0503020204020204" charset="-122"/>
              <a:ea typeface="微软雅黑" panose="020B0503020204020204" charset="-122"/>
            </a:endParaRPr>
          </a:p>
        </p:txBody>
      </p:sp>
      <p:sp>
        <p:nvSpPr>
          <p:cNvPr id="7" name="矩形 6"/>
          <p:cNvSpPr/>
          <p:nvPr/>
        </p:nvSpPr>
        <p:spPr>
          <a:xfrm>
            <a:off x="964703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sym typeface="+mn-ea"/>
              </a:rPr>
              <a:t>可解释</a:t>
            </a:r>
            <a:endParaRPr lang="zh-CN" altLang="en-US" sz="1000">
              <a:latin typeface="微软雅黑" panose="020B0503020204020204" charset="-122"/>
              <a:ea typeface="微软雅黑" panose="020B0503020204020204" charset="-122"/>
            </a:endParaRPr>
          </a:p>
        </p:txBody>
      </p:sp>
      <p:sp>
        <p:nvSpPr>
          <p:cNvPr id="8" name="矩形 7"/>
          <p:cNvSpPr/>
          <p:nvPr/>
        </p:nvSpPr>
        <p:spPr>
          <a:xfrm>
            <a:off x="10487779" y="0"/>
            <a:ext cx="839418" cy="17145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可演进</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1295499" y="0"/>
            <a:ext cx="839418" cy="17145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可闭环</a:t>
            </a:r>
            <a:endParaRPr lang="zh-CN" altLang="en-US" sz="1000">
              <a:latin typeface="微软雅黑" panose="020B0503020204020204" charset="-122"/>
              <a:ea typeface="微软雅黑" panose="020B0503020204020204" charset="-122"/>
            </a:endParaRPr>
          </a:p>
        </p:txBody>
      </p:sp>
      <p:sp>
        <p:nvSpPr>
          <p:cNvPr id="43" name="椭圆 42"/>
          <p:cNvSpPr/>
          <p:nvPr/>
        </p:nvSpPr>
        <p:spPr>
          <a:xfrm>
            <a:off x="666115" y="1988185"/>
            <a:ext cx="284480" cy="22733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latin typeface="微软雅黑" panose="020B0503020204020204" charset="-122"/>
                <a:ea typeface="微软雅黑" panose="020B0503020204020204" charset="-122"/>
              </a:rPr>
              <a:t>1</a:t>
            </a:r>
            <a:endParaRPr lang="en-US" altLang="zh-CN" sz="1600">
              <a:latin typeface="微软雅黑" panose="020B0503020204020204" charset="-122"/>
              <a:ea typeface="微软雅黑" panose="020B0503020204020204" charset="-122"/>
            </a:endParaRPr>
          </a:p>
        </p:txBody>
      </p:sp>
      <p:sp>
        <p:nvSpPr>
          <p:cNvPr id="44" name="文本框 43"/>
          <p:cNvSpPr txBox="1"/>
          <p:nvPr/>
        </p:nvSpPr>
        <p:spPr>
          <a:xfrm>
            <a:off x="1093470" y="1988185"/>
            <a:ext cx="1002030" cy="227965"/>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知识供给</a:t>
            </a:r>
            <a:endParaRPr lang="zh-CN" altLang="en-US" sz="1200" b="1">
              <a:solidFill>
                <a:schemeClr val="accent1"/>
              </a:solidFill>
              <a:latin typeface="微软雅黑" panose="020B0503020204020204" charset="-122"/>
              <a:ea typeface="微软雅黑" panose="020B0503020204020204" charset="-122"/>
            </a:endParaRPr>
          </a:p>
        </p:txBody>
      </p:sp>
      <p:sp>
        <p:nvSpPr>
          <p:cNvPr id="45" name="文本框 44"/>
          <p:cNvSpPr txBox="1"/>
          <p:nvPr/>
        </p:nvSpPr>
        <p:spPr>
          <a:xfrm>
            <a:off x="571500" y="2266315"/>
            <a:ext cx="1594485" cy="260350"/>
          </a:xfrm>
          <a:prstGeom prst="rect">
            <a:avLst/>
          </a:prstGeom>
          <a:noFill/>
        </p:spPr>
        <p:txBody>
          <a:bodyPr wrap="square" rtlCol="0">
            <a:noAutofit/>
          </a:bodyPr>
          <a:lstStyle/>
          <a:p>
            <a:r>
              <a:rPr lang="zh-CN" altLang="en-US" sz="1000" b="1">
                <a:solidFill>
                  <a:schemeClr val="tx1"/>
                </a:solidFill>
                <a:latin typeface="微软雅黑" panose="020B0503020204020204" charset="-122"/>
                <a:ea typeface="微软雅黑" panose="020B0503020204020204" charset="-122"/>
              </a:rPr>
              <a:t>知识接入与知识处理</a:t>
            </a:r>
            <a:endParaRPr lang="zh-CN" altLang="en-US" sz="1000" b="1">
              <a:solidFill>
                <a:schemeClr val="tx1"/>
              </a:solidFill>
              <a:latin typeface="微软雅黑" panose="020B0503020204020204" charset="-122"/>
              <a:ea typeface="微软雅黑" panose="020B0503020204020204" charset="-122"/>
            </a:endParaRPr>
          </a:p>
        </p:txBody>
      </p:sp>
      <p:sp>
        <p:nvSpPr>
          <p:cNvPr id="46" name="右箭头 45"/>
          <p:cNvSpPr/>
          <p:nvPr/>
        </p:nvSpPr>
        <p:spPr>
          <a:xfrm>
            <a:off x="2458720" y="2093595"/>
            <a:ext cx="374015" cy="25908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47" name="椭圆 46"/>
          <p:cNvSpPr/>
          <p:nvPr/>
        </p:nvSpPr>
        <p:spPr>
          <a:xfrm>
            <a:off x="3125470" y="1988185"/>
            <a:ext cx="284480" cy="22733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latin typeface="微软雅黑" panose="020B0503020204020204" charset="-122"/>
                <a:ea typeface="微软雅黑" panose="020B0503020204020204" charset="-122"/>
              </a:rPr>
              <a:t>2</a:t>
            </a:r>
            <a:endParaRPr lang="en-US" altLang="zh-CN" sz="1600">
              <a:latin typeface="微软雅黑" panose="020B0503020204020204" charset="-122"/>
              <a:ea typeface="微软雅黑" panose="020B0503020204020204" charset="-122"/>
            </a:endParaRPr>
          </a:p>
        </p:txBody>
      </p:sp>
      <p:sp>
        <p:nvSpPr>
          <p:cNvPr id="48" name="文本框 47"/>
          <p:cNvSpPr txBox="1"/>
          <p:nvPr/>
        </p:nvSpPr>
        <p:spPr>
          <a:xfrm>
            <a:off x="3552825" y="1988185"/>
            <a:ext cx="1002030" cy="227965"/>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知识消费</a:t>
            </a:r>
            <a:endParaRPr lang="zh-CN" altLang="en-US" sz="1200" b="1">
              <a:solidFill>
                <a:schemeClr val="accent1"/>
              </a:solidFill>
              <a:latin typeface="微软雅黑" panose="020B0503020204020204" charset="-122"/>
              <a:ea typeface="微软雅黑" panose="020B0503020204020204" charset="-122"/>
            </a:endParaRPr>
          </a:p>
        </p:txBody>
      </p:sp>
      <p:sp>
        <p:nvSpPr>
          <p:cNvPr id="49" name="文本框 48"/>
          <p:cNvSpPr txBox="1"/>
          <p:nvPr/>
        </p:nvSpPr>
        <p:spPr>
          <a:xfrm>
            <a:off x="3125470" y="2266315"/>
            <a:ext cx="1499870" cy="260350"/>
          </a:xfrm>
          <a:prstGeom prst="rect">
            <a:avLst/>
          </a:prstGeom>
          <a:noFill/>
        </p:spPr>
        <p:txBody>
          <a:bodyPr wrap="square" rtlCol="0">
            <a:noAutofit/>
          </a:bodyPr>
          <a:lstStyle/>
          <a:p>
            <a:pPr algn="ctr"/>
            <a:r>
              <a:rPr lang="zh-CN" altLang="en-US" sz="1000" b="1">
                <a:solidFill>
                  <a:schemeClr val="tx1"/>
                </a:solidFill>
                <a:latin typeface="微软雅黑" panose="020B0503020204020204" charset="-122"/>
                <a:ea typeface="微软雅黑" panose="020B0503020204020204" charset="-122"/>
              </a:rPr>
              <a:t>检索与使用</a:t>
            </a:r>
            <a:endParaRPr lang="zh-CN" altLang="en-US" sz="1000" b="1">
              <a:solidFill>
                <a:schemeClr val="tx1"/>
              </a:solidFill>
              <a:latin typeface="微软雅黑" panose="020B0503020204020204" charset="-122"/>
              <a:ea typeface="微软雅黑" panose="020B0503020204020204" charset="-122"/>
            </a:endParaRPr>
          </a:p>
        </p:txBody>
      </p:sp>
      <p:sp>
        <p:nvSpPr>
          <p:cNvPr id="54" name="椭圆 53"/>
          <p:cNvSpPr/>
          <p:nvPr/>
        </p:nvSpPr>
        <p:spPr>
          <a:xfrm>
            <a:off x="5402580" y="1988185"/>
            <a:ext cx="284480" cy="22733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latin typeface="微软雅黑" panose="020B0503020204020204" charset="-122"/>
                <a:ea typeface="微软雅黑" panose="020B0503020204020204" charset="-122"/>
              </a:rPr>
              <a:t>3</a:t>
            </a:r>
            <a:endParaRPr lang="en-US" altLang="zh-CN" sz="1600">
              <a:latin typeface="微软雅黑" panose="020B0503020204020204" charset="-122"/>
              <a:ea typeface="微软雅黑" panose="020B0503020204020204" charset="-122"/>
            </a:endParaRPr>
          </a:p>
        </p:txBody>
      </p:sp>
      <p:sp>
        <p:nvSpPr>
          <p:cNvPr id="77" name="文本框 76"/>
          <p:cNvSpPr txBox="1"/>
          <p:nvPr/>
        </p:nvSpPr>
        <p:spPr>
          <a:xfrm>
            <a:off x="5829935" y="1988185"/>
            <a:ext cx="1002030" cy="227965"/>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效果评估</a:t>
            </a:r>
            <a:endParaRPr lang="zh-CN" altLang="en-US" sz="1200" b="1">
              <a:solidFill>
                <a:schemeClr val="accent1"/>
              </a:solidFill>
              <a:latin typeface="微软雅黑" panose="020B0503020204020204" charset="-122"/>
              <a:ea typeface="微软雅黑" panose="020B0503020204020204" charset="-122"/>
            </a:endParaRPr>
          </a:p>
        </p:txBody>
      </p:sp>
      <p:sp>
        <p:nvSpPr>
          <p:cNvPr id="78" name="文本框 77"/>
          <p:cNvSpPr txBox="1"/>
          <p:nvPr/>
        </p:nvSpPr>
        <p:spPr>
          <a:xfrm>
            <a:off x="5402580" y="2266315"/>
            <a:ext cx="1499870" cy="260350"/>
          </a:xfrm>
          <a:prstGeom prst="rect">
            <a:avLst/>
          </a:prstGeom>
          <a:noFill/>
        </p:spPr>
        <p:txBody>
          <a:bodyPr wrap="square" rtlCol="0">
            <a:noAutofit/>
          </a:bodyPr>
          <a:lstStyle/>
          <a:p>
            <a:pPr algn="ctr"/>
            <a:r>
              <a:rPr lang="zh-CN" altLang="en-US" sz="1000" b="1">
                <a:solidFill>
                  <a:schemeClr val="tx1"/>
                </a:solidFill>
                <a:latin typeface="微软雅黑" panose="020B0503020204020204" charset="-122"/>
                <a:ea typeface="微软雅黑" panose="020B0503020204020204" charset="-122"/>
              </a:rPr>
              <a:t>观察与归因</a:t>
            </a:r>
            <a:endParaRPr lang="zh-CN" altLang="en-US" sz="1000" b="1">
              <a:solidFill>
                <a:schemeClr val="tx1"/>
              </a:solidFill>
              <a:latin typeface="微软雅黑" panose="020B0503020204020204" charset="-122"/>
              <a:ea typeface="微软雅黑" panose="020B0503020204020204" charset="-122"/>
            </a:endParaRPr>
          </a:p>
        </p:txBody>
      </p:sp>
      <p:sp>
        <p:nvSpPr>
          <p:cNvPr id="80" name="椭圆 79"/>
          <p:cNvSpPr/>
          <p:nvPr/>
        </p:nvSpPr>
        <p:spPr>
          <a:xfrm>
            <a:off x="7679690" y="1988185"/>
            <a:ext cx="284480" cy="22733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latin typeface="微软雅黑" panose="020B0503020204020204" charset="-122"/>
                <a:ea typeface="微软雅黑" panose="020B0503020204020204" charset="-122"/>
              </a:rPr>
              <a:t>4</a:t>
            </a:r>
            <a:endParaRPr lang="en-US" altLang="zh-CN" sz="1600">
              <a:latin typeface="微软雅黑" panose="020B0503020204020204" charset="-122"/>
              <a:ea typeface="微软雅黑" panose="020B0503020204020204" charset="-122"/>
            </a:endParaRPr>
          </a:p>
        </p:txBody>
      </p:sp>
      <p:sp>
        <p:nvSpPr>
          <p:cNvPr id="81" name="文本框 80"/>
          <p:cNvSpPr txBox="1"/>
          <p:nvPr/>
        </p:nvSpPr>
        <p:spPr>
          <a:xfrm>
            <a:off x="8107045" y="1988185"/>
            <a:ext cx="1002030" cy="227965"/>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知识演进</a:t>
            </a:r>
            <a:endParaRPr lang="zh-CN" altLang="en-US" sz="1200" b="1">
              <a:solidFill>
                <a:schemeClr val="accent1"/>
              </a:solidFill>
              <a:latin typeface="微软雅黑" panose="020B0503020204020204" charset="-122"/>
              <a:ea typeface="微软雅黑" panose="020B0503020204020204" charset="-122"/>
            </a:endParaRPr>
          </a:p>
        </p:txBody>
      </p:sp>
      <p:sp>
        <p:nvSpPr>
          <p:cNvPr id="82" name="文本框 81"/>
          <p:cNvSpPr txBox="1"/>
          <p:nvPr/>
        </p:nvSpPr>
        <p:spPr>
          <a:xfrm>
            <a:off x="7679690" y="2266315"/>
            <a:ext cx="1499870" cy="260350"/>
          </a:xfrm>
          <a:prstGeom prst="rect">
            <a:avLst/>
          </a:prstGeom>
          <a:noFill/>
        </p:spPr>
        <p:txBody>
          <a:bodyPr wrap="square" rtlCol="0">
            <a:noAutofit/>
          </a:bodyPr>
          <a:lstStyle/>
          <a:p>
            <a:pPr algn="ct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抬升</a:t>
            </a:r>
            <a:r>
              <a:rPr lang="en-US" altLang="zh-CN" sz="10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沉降</a:t>
            </a:r>
            <a:r>
              <a:rPr lang="en-US" altLang="zh-CN" sz="10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优化</a:t>
            </a:r>
            <a:endParaRPr lang="zh-CN" altLang="en-US" sz="1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4" name="椭圆 83"/>
          <p:cNvSpPr/>
          <p:nvPr/>
        </p:nvSpPr>
        <p:spPr>
          <a:xfrm>
            <a:off x="10026650" y="1988185"/>
            <a:ext cx="284480" cy="22733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latin typeface="微软雅黑" panose="020B0503020204020204" charset="-122"/>
                <a:ea typeface="微软雅黑" panose="020B0503020204020204" charset="-122"/>
              </a:rPr>
              <a:t>5</a:t>
            </a:r>
            <a:endParaRPr lang="en-US" altLang="zh-CN" sz="1600">
              <a:latin typeface="微软雅黑" panose="020B0503020204020204" charset="-122"/>
              <a:ea typeface="微软雅黑" panose="020B0503020204020204" charset="-122"/>
            </a:endParaRPr>
          </a:p>
        </p:txBody>
      </p:sp>
      <p:sp>
        <p:nvSpPr>
          <p:cNvPr id="85" name="文本框 84"/>
          <p:cNvSpPr txBox="1"/>
          <p:nvPr/>
        </p:nvSpPr>
        <p:spPr>
          <a:xfrm>
            <a:off x="10454005" y="1988185"/>
            <a:ext cx="1193800" cy="227965"/>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策略与治理</a:t>
            </a:r>
            <a:endParaRPr lang="zh-CN" altLang="en-US" sz="1200" b="1">
              <a:solidFill>
                <a:schemeClr val="accent1"/>
              </a:solidFill>
              <a:latin typeface="微软雅黑" panose="020B0503020204020204" charset="-122"/>
              <a:ea typeface="微软雅黑" panose="020B0503020204020204" charset="-122"/>
            </a:endParaRPr>
          </a:p>
        </p:txBody>
      </p:sp>
      <p:sp>
        <p:nvSpPr>
          <p:cNvPr id="86" name="文本框 85"/>
          <p:cNvSpPr txBox="1"/>
          <p:nvPr/>
        </p:nvSpPr>
        <p:spPr>
          <a:xfrm>
            <a:off x="10026650" y="2266315"/>
            <a:ext cx="1499870" cy="260350"/>
          </a:xfrm>
          <a:prstGeom prst="rect">
            <a:avLst/>
          </a:prstGeom>
          <a:noFill/>
        </p:spPr>
        <p:txBody>
          <a:bodyPr wrap="square" rtlCol="0">
            <a:noAutofit/>
          </a:bodyPr>
          <a:lstStyle/>
          <a:p>
            <a:pPr algn="ct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规则</a:t>
            </a:r>
            <a:r>
              <a:rPr lang="en-US" altLang="zh-CN" sz="10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监控</a:t>
            </a:r>
            <a:r>
              <a:rPr lang="en-US" altLang="zh-CN" sz="10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安全</a:t>
            </a:r>
            <a:endParaRPr lang="zh-CN" altLang="en-US" sz="10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95" name="右箭头 94"/>
          <p:cNvSpPr/>
          <p:nvPr/>
        </p:nvSpPr>
        <p:spPr>
          <a:xfrm>
            <a:off x="4697730" y="2093595"/>
            <a:ext cx="374015" cy="25908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96" name="右箭头 95"/>
          <p:cNvSpPr/>
          <p:nvPr/>
        </p:nvSpPr>
        <p:spPr>
          <a:xfrm>
            <a:off x="6936740" y="2093595"/>
            <a:ext cx="374015" cy="25908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97" name="右箭头 96"/>
          <p:cNvSpPr/>
          <p:nvPr/>
        </p:nvSpPr>
        <p:spPr>
          <a:xfrm>
            <a:off x="9333865" y="2093595"/>
            <a:ext cx="374015" cy="25908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grpSp>
        <p:nvGrpSpPr>
          <p:cNvPr id="60" name="组合 59"/>
          <p:cNvGrpSpPr/>
          <p:nvPr/>
        </p:nvGrpSpPr>
        <p:grpSpPr>
          <a:xfrm>
            <a:off x="2936240" y="2621280"/>
            <a:ext cx="1689100" cy="3334385"/>
            <a:chOff x="4624" y="4128"/>
            <a:chExt cx="2660" cy="5164"/>
          </a:xfrm>
        </p:grpSpPr>
        <p:grpSp>
          <p:nvGrpSpPr>
            <p:cNvPr id="107" name="组合 106"/>
            <p:cNvGrpSpPr/>
            <p:nvPr/>
          </p:nvGrpSpPr>
          <p:grpSpPr>
            <a:xfrm>
              <a:off x="4624" y="4128"/>
              <a:ext cx="2660" cy="1264"/>
              <a:chOff x="4624" y="2739"/>
              <a:chExt cx="2660" cy="2332"/>
            </a:xfrm>
          </p:grpSpPr>
          <p:sp>
            <p:nvSpPr>
              <p:cNvPr id="100" name="圆角矩形 99"/>
              <p:cNvSpPr/>
              <p:nvPr/>
            </p:nvSpPr>
            <p:spPr>
              <a:xfrm>
                <a:off x="4624" y="2739"/>
                <a:ext cx="2660" cy="2333"/>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01" name="文本框 100"/>
              <p:cNvSpPr txBox="1"/>
              <p:nvPr/>
            </p:nvSpPr>
            <p:spPr>
              <a:xfrm>
                <a:off x="5225" y="2814"/>
                <a:ext cx="1578" cy="449"/>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语义理解</a:t>
                </a:r>
                <a:endParaRPr lang="zh-CN" altLang="en-US" sz="1200" b="1">
                  <a:solidFill>
                    <a:schemeClr val="accent1"/>
                  </a:solidFill>
                  <a:latin typeface="微软雅黑" panose="020B0503020204020204" charset="-122"/>
                  <a:ea typeface="微软雅黑" panose="020B0503020204020204" charset="-122"/>
                </a:endParaRPr>
              </a:p>
            </p:txBody>
          </p:sp>
          <p:sp>
            <p:nvSpPr>
              <p:cNvPr id="102" name="文本框 101"/>
              <p:cNvSpPr txBox="1"/>
              <p:nvPr/>
            </p:nvSpPr>
            <p:spPr>
              <a:xfrm>
                <a:off x="4789" y="3412"/>
                <a:ext cx="2362" cy="513"/>
              </a:xfrm>
              <a:prstGeom prst="rect">
                <a:avLst/>
              </a:prstGeom>
              <a:noFill/>
            </p:spPr>
            <p:txBody>
              <a:bodyPr wrap="square" rtlCol="0">
                <a:noAutofit/>
              </a:bodyPr>
              <a:lstStyle/>
              <a:p>
                <a:pPr algn="ctr"/>
                <a:r>
                  <a:rPr lang="en-US" altLang="zh-CN" sz="900" b="1">
                    <a:solidFill>
                      <a:schemeClr val="tx1"/>
                    </a:solidFill>
                    <a:latin typeface="微软雅黑" panose="020B0503020204020204" charset="-122"/>
                    <a:ea typeface="微软雅黑" panose="020B0503020204020204" charset="-122"/>
                    <a:cs typeface="微软雅黑" panose="020B0503020204020204" charset="-122"/>
                  </a:rPr>
                  <a:t>query</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理解</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a:off x="4789" y="3954"/>
                <a:ext cx="2362" cy="513"/>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cs typeface="微软雅黑" panose="020B0503020204020204" charset="-122"/>
                  </a:rPr>
                  <a:t>用户</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context</a:t>
                </a:r>
                <a:endParaRPr lang="en-US" altLang="zh-CN"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4" name="文本框 103"/>
              <p:cNvSpPr txBox="1"/>
              <p:nvPr/>
            </p:nvSpPr>
            <p:spPr>
              <a:xfrm>
                <a:off x="4789" y="4467"/>
                <a:ext cx="2362" cy="513"/>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意图理解</a:t>
                </a:r>
                <a:endParaRPr lang="zh-CN" altLang="en-US" sz="900" b="1">
                  <a:solidFill>
                    <a:schemeClr val="tx1"/>
                  </a:solidFill>
                  <a:latin typeface="微软雅黑" panose="020B0503020204020204" charset="-122"/>
                  <a:ea typeface="微软雅黑" panose="020B0503020204020204" charset="-122"/>
                </a:endParaRPr>
              </a:p>
            </p:txBody>
          </p:sp>
        </p:grpSp>
        <p:grpSp>
          <p:nvGrpSpPr>
            <p:cNvPr id="108" name="组合 107"/>
            <p:cNvGrpSpPr/>
            <p:nvPr/>
          </p:nvGrpSpPr>
          <p:grpSpPr>
            <a:xfrm>
              <a:off x="4624" y="5522"/>
              <a:ext cx="2660" cy="1265"/>
              <a:chOff x="4624" y="2739"/>
              <a:chExt cx="2660" cy="2333"/>
            </a:xfrm>
          </p:grpSpPr>
          <p:sp>
            <p:nvSpPr>
              <p:cNvPr id="109" name="圆角矩形 108"/>
              <p:cNvSpPr/>
              <p:nvPr/>
            </p:nvSpPr>
            <p:spPr>
              <a:xfrm>
                <a:off x="4624" y="2739"/>
                <a:ext cx="2660" cy="2333"/>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10" name="文本框 109"/>
              <p:cNvSpPr txBox="1"/>
              <p:nvPr/>
            </p:nvSpPr>
            <p:spPr>
              <a:xfrm>
                <a:off x="5225" y="2814"/>
                <a:ext cx="1578" cy="449"/>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知识检索</a:t>
                </a:r>
                <a:endParaRPr lang="zh-CN" altLang="en-US" sz="1200" b="1">
                  <a:solidFill>
                    <a:schemeClr val="accent1"/>
                  </a:solidFill>
                  <a:latin typeface="微软雅黑" panose="020B0503020204020204" charset="-122"/>
                  <a:ea typeface="微软雅黑" panose="020B0503020204020204" charset="-122"/>
                </a:endParaRPr>
              </a:p>
            </p:txBody>
          </p:sp>
          <p:sp>
            <p:nvSpPr>
              <p:cNvPr id="111" name="文本框 110"/>
              <p:cNvSpPr txBox="1"/>
              <p:nvPr/>
            </p:nvSpPr>
            <p:spPr>
              <a:xfrm>
                <a:off x="4789" y="3412"/>
                <a:ext cx="2362" cy="513"/>
              </a:xfrm>
              <a:prstGeom prst="rect">
                <a:avLst/>
              </a:prstGeom>
              <a:noFill/>
            </p:spPr>
            <p:txBody>
              <a:bodyPr wrap="square" rtlCol="0">
                <a:noAutofit/>
              </a:bodyPr>
              <a:lstStyle/>
              <a:p>
                <a:pPr algn="ctr"/>
                <a:r>
                  <a:rPr lang="zh-CN" sz="800" b="1">
                    <a:solidFill>
                      <a:schemeClr val="tx1"/>
                    </a:solidFill>
                    <a:latin typeface="微软雅黑" panose="020B0503020204020204" charset="-122"/>
                    <a:ea typeface="微软雅黑" panose="020B0503020204020204" charset="-122"/>
                    <a:cs typeface="微软雅黑" panose="020B0503020204020204" charset="-122"/>
                  </a:rPr>
                  <a:t>多路召回（语义</a:t>
                </a:r>
                <a:r>
                  <a:rPr lang="en-US" altLang="zh-CN" sz="8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800" b="1">
                    <a:solidFill>
                      <a:schemeClr val="tx1"/>
                    </a:solidFill>
                    <a:latin typeface="微软雅黑" panose="020B0503020204020204" charset="-122"/>
                    <a:ea typeface="微软雅黑" panose="020B0503020204020204" charset="-122"/>
                    <a:cs typeface="微软雅黑" panose="020B0503020204020204" charset="-122"/>
                  </a:rPr>
                  <a:t>向量</a:t>
                </a:r>
                <a:r>
                  <a:rPr lang="zh-CN" sz="800" b="1">
                    <a:solidFill>
                      <a:schemeClr val="tx1"/>
                    </a:solidFill>
                    <a:latin typeface="微软雅黑" panose="020B0503020204020204" charset="-122"/>
                    <a:ea typeface="微软雅黑" panose="020B0503020204020204" charset="-122"/>
                    <a:cs typeface="微软雅黑" panose="020B0503020204020204" charset="-122"/>
                  </a:rPr>
                  <a:t>）</a:t>
                </a:r>
                <a:endParaRPr lang="zh-CN" sz="8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a:off x="4789" y="3891"/>
                <a:ext cx="2362" cy="513"/>
              </a:xfrm>
              <a:prstGeom prst="rect">
                <a:avLst/>
              </a:prstGeom>
              <a:noFill/>
            </p:spPr>
            <p:txBody>
              <a:bodyPr wrap="square" rtlCol="0">
                <a:noAutofit/>
              </a:bodyPr>
              <a:lstStyle/>
              <a:p>
                <a:pPr algn="ctr"/>
                <a:r>
                  <a:rPr lang="zh-CN" sz="900" b="1">
                    <a:solidFill>
                      <a:schemeClr val="tx1"/>
                    </a:solidFill>
                    <a:latin typeface="微软雅黑" panose="020B0503020204020204" charset="-122"/>
                    <a:ea typeface="微软雅黑" panose="020B0503020204020204" charset="-122"/>
                  </a:rPr>
                  <a:t>内容排序与过滤</a:t>
                </a:r>
                <a:endParaRPr lang="zh-CN" sz="900" b="1">
                  <a:solidFill>
                    <a:schemeClr val="tx1"/>
                  </a:solidFill>
                  <a:latin typeface="微软雅黑" panose="020B0503020204020204" charset="-122"/>
                  <a:ea typeface="微软雅黑" panose="020B0503020204020204" charset="-122"/>
                </a:endParaRPr>
              </a:p>
            </p:txBody>
          </p:sp>
          <p:sp>
            <p:nvSpPr>
              <p:cNvPr id="113" name="文本框 112"/>
              <p:cNvSpPr txBox="1"/>
              <p:nvPr/>
            </p:nvSpPr>
            <p:spPr>
              <a:xfrm>
                <a:off x="4789" y="4467"/>
                <a:ext cx="2362" cy="513"/>
              </a:xfrm>
              <a:prstGeom prst="rect">
                <a:avLst/>
              </a:prstGeom>
              <a:noFill/>
            </p:spPr>
            <p:txBody>
              <a:bodyPr wrap="square" rtlCol="0">
                <a:noAutofit/>
              </a:bodyPr>
              <a:lstStyle/>
              <a:p>
                <a:pPr algn="ctr"/>
                <a:r>
                  <a:rPr lang="zh-CN" altLang="en-US" sz="800" b="1">
                    <a:solidFill>
                      <a:schemeClr val="tx1"/>
                    </a:solidFill>
                    <a:latin typeface="微软雅黑" panose="020B0503020204020204" charset="-122"/>
                    <a:ea typeface="微软雅黑" panose="020B0503020204020204" charset="-122"/>
                  </a:rPr>
                  <a:t>知识状态感知（可用）</a:t>
                </a:r>
                <a:endParaRPr lang="zh-CN" altLang="en-US" sz="800" b="1">
                  <a:solidFill>
                    <a:schemeClr val="tx1"/>
                  </a:solidFill>
                  <a:latin typeface="微软雅黑" panose="020B0503020204020204" charset="-122"/>
                  <a:ea typeface="微软雅黑" panose="020B0503020204020204" charset="-122"/>
                </a:endParaRPr>
              </a:p>
            </p:txBody>
          </p:sp>
        </p:grpSp>
        <p:grpSp>
          <p:nvGrpSpPr>
            <p:cNvPr id="114" name="组合 113"/>
            <p:cNvGrpSpPr/>
            <p:nvPr/>
          </p:nvGrpSpPr>
          <p:grpSpPr>
            <a:xfrm>
              <a:off x="4624" y="6891"/>
              <a:ext cx="2660" cy="1265"/>
              <a:chOff x="4624" y="2739"/>
              <a:chExt cx="2660" cy="2333"/>
            </a:xfrm>
          </p:grpSpPr>
          <p:sp>
            <p:nvSpPr>
              <p:cNvPr id="115" name="圆角矩形 114"/>
              <p:cNvSpPr/>
              <p:nvPr/>
            </p:nvSpPr>
            <p:spPr>
              <a:xfrm>
                <a:off x="4624" y="2739"/>
                <a:ext cx="2660" cy="2333"/>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16" name="文本框 115"/>
              <p:cNvSpPr txBox="1"/>
              <p:nvPr/>
            </p:nvSpPr>
            <p:spPr>
              <a:xfrm>
                <a:off x="4967" y="2856"/>
                <a:ext cx="1881" cy="384"/>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上下文组装</a:t>
                </a:r>
                <a:endParaRPr lang="zh-CN" altLang="en-US" sz="1200" b="1">
                  <a:solidFill>
                    <a:schemeClr val="accent1"/>
                  </a:solidFill>
                  <a:latin typeface="微软雅黑" panose="020B0503020204020204" charset="-122"/>
                  <a:ea typeface="微软雅黑" panose="020B0503020204020204" charset="-122"/>
                </a:endParaRPr>
              </a:p>
            </p:txBody>
          </p:sp>
          <p:sp>
            <p:nvSpPr>
              <p:cNvPr id="117" name="文本框 116"/>
              <p:cNvSpPr txBox="1"/>
              <p:nvPr/>
            </p:nvSpPr>
            <p:spPr>
              <a:xfrm>
                <a:off x="4789" y="3412"/>
                <a:ext cx="2362" cy="513"/>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相关性排序</a:t>
                </a:r>
                <a:endParaRPr lang="zh-CN" altLang="en-US" sz="900" b="1">
                  <a:solidFill>
                    <a:schemeClr val="tx1"/>
                  </a:solidFill>
                  <a:latin typeface="微软雅黑" panose="020B0503020204020204" charset="-122"/>
                  <a:ea typeface="微软雅黑" panose="020B0503020204020204" charset="-122"/>
                </a:endParaRPr>
              </a:p>
            </p:txBody>
          </p:sp>
          <p:sp>
            <p:nvSpPr>
              <p:cNvPr id="118" name="文本框 117"/>
              <p:cNvSpPr txBox="1"/>
              <p:nvPr/>
            </p:nvSpPr>
            <p:spPr>
              <a:xfrm>
                <a:off x="4789" y="3954"/>
                <a:ext cx="2362" cy="513"/>
              </a:xfrm>
              <a:prstGeom prst="rect">
                <a:avLst/>
              </a:prstGeom>
              <a:noFill/>
            </p:spPr>
            <p:txBody>
              <a:bodyPr wrap="square" rtlCol="0">
                <a:noAutofit/>
              </a:bodyPr>
              <a:lstStyle/>
              <a:p>
                <a:pPr algn="ctr"/>
                <a:r>
                  <a:rPr lang="zh-CN" sz="900" b="1">
                    <a:solidFill>
                      <a:schemeClr val="tx1"/>
                    </a:solidFill>
                    <a:latin typeface="微软雅黑" panose="020B0503020204020204" charset="-122"/>
                    <a:ea typeface="微软雅黑" panose="020B0503020204020204" charset="-122"/>
                    <a:cs typeface="微软雅黑" panose="020B0503020204020204" charset="-122"/>
                  </a:rPr>
                  <a:t>去重</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冲突处理</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19" name="文本框 118"/>
              <p:cNvSpPr txBox="1"/>
              <p:nvPr/>
            </p:nvSpPr>
            <p:spPr>
              <a:xfrm>
                <a:off x="4789" y="4467"/>
                <a:ext cx="2362" cy="513"/>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上下文压缩</a:t>
                </a:r>
                <a:endParaRPr lang="zh-CN" altLang="en-US" sz="900" b="1">
                  <a:solidFill>
                    <a:schemeClr val="tx1"/>
                  </a:solidFill>
                  <a:latin typeface="微软雅黑" panose="020B0503020204020204" charset="-122"/>
                  <a:ea typeface="微软雅黑" panose="020B0503020204020204" charset="-122"/>
                </a:endParaRPr>
              </a:p>
            </p:txBody>
          </p:sp>
        </p:grpSp>
        <p:grpSp>
          <p:nvGrpSpPr>
            <p:cNvPr id="120" name="组合 119"/>
            <p:cNvGrpSpPr/>
            <p:nvPr/>
          </p:nvGrpSpPr>
          <p:grpSpPr>
            <a:xfrm>
              <a:off x="4624" y="8250"/>
              <a:ext cx="2660" cy="1042"/>
              <a:chOff x="4624" y="2739"/>
              <a:chExt cx="2660" cy="1922"/>
            </a:xfrm>
          </p:grpSpPr>
          <p:sp>
            <p:nvSpPr>
              <p:cNvPr id="121" name="圆角矩形 120"/>
              <p:cNvSpPr/>
              <p:nvPr/>
            </p:nvSpPr>
            <p:spPr>
              <a:xfrm>
                <a:off x="4624" y="2739"/>
                <a:ext cx="2660" cy="1922"/>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22" name="文本框 121"/>
              <p:cNvSpPr txBox="1"/>
              <p:nvPr/>
            </p:nvSpPr>
            <p:spPr>
              <a:xfrm>
                <a:off x="4967" y="2814"/>
                <a:ext cx="1881" cy="428"/>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生成与应用</a:t>
                </a:r>
                <a:endParaRPr lang="zh-CN" altLang="en-US" sz="1200" b="1">
                  <a:solidFill>
                    <a:schemeClr val="accent1"/>
                  </a:solidFill>
                  <a:latin typeface="微软雅黑" panose="020B0503020204020204" charset="-122"/>
                  <a:ea typeface="微软雅黑" panose="020B0503020204020204" charset="-122"/>
                </a:endParaRPr>
              </a:p>
            </p:txBody>
          </p:sp>
          <p:sp>
            <p:nvSpPr>
              <p:cNvPr id="123" name="文本框 122"/>
              <p:cNvSpPr txBox="1"/>
              <p:nvPr/>
            </p:nvSpPr>
            <p:spPr>
              <a:xfrm>
                <a:off x="4789" y="3412"/>
                <a:ext cx="2362" cy="513"/>
              </a:xfrm>
              <a:prstGeom prst="rect">
                <a:avLst/>
              </a:prstGeom>
              <a:noFill/>
            </p:spPr>
            <p:txBody>
              <a:bodyPr wrap="square" rtlCol="0">
                <a:noAutofit/>
              </a:bodyPr>
              <a:lstStyle/>
              <a:p>
                <a:pPr algn="ctr"/>
                <a:r>
                  <a:rPr lang="zh-CN" sz="900" b="1">
                    <a:solidFill>
                      <a:schemeClr val="tx1"/>
                    </a:solidFill>
                    <a:latin typeface="微软雅黑" panose="020B0503020204020204" charset="-122"/>
                    <a:ea typeface="微软雅黑" panose="020B0503020204020204" charset="-122"/>
                    <a:cs typeface="微软雅黑" panose="020B0503020204020204" charset="-122"/>
                  </a:rPr>
                  <a:t>内容问答</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对话</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4789" y="3954"/>
                <a:ext cx="2362" cy="513"/>
              </a:xfrm>
              <a:prstGeom prst="rect">
                <a:avLst/>
              </a:prstGeom>
              <a:noFill/>
            </p:spPr>
            <p:txBody>
              <a:bodyPr wrap="square" rtlCol="0">
                <a:noAutofit/>
              </a:bodyPr>
              <a:lstStyle/>
              <a:p>
                <a:pPr algn="ctr"/>
                <a:r>
                  <a:rPr lang="zh-CN" sz="900" b="1">
                    <a:solidFill>
                      <a:schemeClr val="tx1"/>
                    </a:solidFill>
                    <a:latin typeface="微软雅黑" panose="020B0503020204020204" charset="-122"/>
                    <a:ea typeface="微软雅黑" panose="020B0503020204020204" charset="-122"/>
                    <a:cs typeface="微软雅黑" panose="020B0503020204020204" charset="-122"/>
                  </a:rPr>
                  <a:t>智能体执行</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工作流</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grpSp>
      </p:grpSp>
      <p:sp>
        <p:nvSpPr>
          <p:cNvPr id="126" name="右箭头 125"/>
          <p:cNvSpPr/>
          <p:nvPr/>
        </p:nvSpPr>
        <p:spPr>
          <a:xfrm>
            <a:off x="2327275" y="3266440"/>
            <a:ext cx="374015" cy="24003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27" name="右箭头 126"/>
          <p:cNvSpPr/>
          <p:nvPr/>
        </p:nvSpPr>
        <p:spPr>
          <a:xfrm>
            <a:off x="4765040" y="3266440"/>
            <a:ext cx="374015" cy="240030"/>
          </a:xfrm>
          <a:prstGeom prst="rightArrow">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28" name="圆角矩形 127"/>
          <p:cNvSpPr/>
          <p:nvPr/>
        </p:nvSpPr>
        <p:spPr>
          <a:xfrm>
            <a:off x="2832735" y="2565400"/>
            <a:ext cx="1864995" cy="3512185"/>
          </a:xfrm>
          <a:prstGeom prst="roundRect">
            <a:avLst>
              <a:gd name="adj" fmla="val 6466"/>
            </a:avLst>
          </a:prstGeom>
          <a:noFill/>
          <a:ln>
            <a:solidFill>
              <a:schemeClr val="accent1">
                <a:lumMod val="60000"/>
                <a:lumOff val="4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29" name="圆角矩形 128"/>
          <p:cNvSpPr/>
          <p:nvPr/>
        </p:nvSpPr>
        <p:spPr>
          <a:xfrm>
            <a:off x="387985" y="2565400"/>
            <a:ext cx="1864995" cy="3512185"/>
          </a:xfrm>
          <a:prstGeom prst="roundRect">
            <a:avLst>
              <a:gd name="adj" fmla="val 6466"/>
            </a:avLst>
          </a:prstGeom>
          <a:noFill/>
          <a:ln>
            <a:solidFill>
              <a:schemeClr val="accent1">
                <a:lumMod val="60000"/>
                <a:lumOff val="4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31" name="圆角矩形 130"/>
          <p:cNvSpPr/>
          <p:nvPr/>
        </p:nvSpPr>
        <p:spPr>
          <a:xfrm>
            <a:off x="5288280" y="2621280"/>
            <a:ext cx="1689100" cy="803275"/>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32" name="文本框 131"/>
          <p:cNvSpPr txBox="1"/>
          <p:nvPr/>
        </p:nvSpPr>
        <p:spPr>
          <a:xfrm>
            <a:off x="5610860" y="2670810"/>
            <a:ext cx="1002030" cy="154305"/>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行为观测</a:t>
            </a:r>
            <a:endParaRPr lang="zh-CN" altLang="en-US" sz="1200" b="1">
              <a:solidFill>
                <a:schemeClr val="accent1"/>
              </a:solidFill>
              <a:latin typeface="微软雅黑" panose="020B0503020204020204" charset="-122"/>
              <a:ea typeface="微软雅黑" panose="020B0503020204020204" charset="-122"/>
            </a:endParaRPr>
          </a:p>
        </p:txBody>
      </p:sp>
      <p:cxnSp>
        <p:nvCxnSpPr>
          <p:cNvPr id="134" name="直接连接符 133"/>
          <p:cNvCxnSpPr/>
          <p:nvPr/>
        </p:nvCxnSpPr>
        <p:spPr>
          <a:xfrm>
            <a:off x="5572760" y="2959100"/>
            <a:ext cx="1122045" cy="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sp>
        <p:nvSpPr>
          <p:cNvPr id="135" name="文本框 134"/>
          <p:cNvSpPr txBox="1"/>
          <p:nvPr/>
        </p:nvSpPr>
        <p:spPr>
          <a:xfrm>
            <a:off x="5384165" y="3039745"/>
            <a:ext cx="1499870" cy="17653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cs typeface="微软雅黑" panose="020B0503020204020204" charset="-122"/>
              </a:rPr>
              <a:t>检索</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引用</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使用</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改写</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追问</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36" name="圆角矩形 135"/>
          <p:cNvSpPr/>
          <p:nvPr/>
        </p:nvSpPr>
        <p:spPr>
          <a:xfrm>
            <a:off x="5288280" y="3506470"/>
            <a:ext cx="1689100" cy="803275"/>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37" name="文本框 136"/>
          <p:cNvSpPr txBox="1"/>
          <p:nvPr/>
        </p:nvSpPr>
        <p:spPr>
          <a:xfrm>
            <a:off x="5610860" y="3555365"/>
            <a:ext cx="1002030" cy="154305"/>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结果评估</a:t>
            </a:r>
            <a:endParaRPr lang="zh-CN" altLang="en-US" sz="1200" b="1">
              <a:solidFill>
                <a:schemeClr val="accent1"/>
              </a:solidFill>
              <a:latin typeface="微软雅黑" panose="020B0503020204020204" charset="-122"/>
              <a:ea typeface="微软雅黑" panose="020B0503020204020204" charset="-122"/>
            </a:endParaRPr>
          </a:p>
        </p:txBody>
      </p:sp>
      <p:cxnSp>
        <p:nvCxnSpPr>
          <p:cNvPr id="138" name="直接连接符 137"/>
          <p:cNvCxnSpPr/>
          <p:nvPr/>
        </p:nvCxnSpPr>
        <p:spPr>
          <a:xfrm>
            <a:off x="5572760" y="3844290"/>
            <a:ext cx="1122045" cy="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sp>
        <p:nvSpPr>
          <p:cNvPr id="139" name="文本框 138"/>
          <p:cNvSpPr txBox="1"/>
          <p:nvPr/>
        </p:nvSpPr>
        <p:spPr>
          <a:xfrm>
            <a:off x="5384165" y="3924300"/>
            <a:ext cx="1499870" cy="17653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引用支持度</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任务成功率</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用户反馈</a:t>
            </a:r>
            <a:endParaRPr lang="en-US" altLang="zh-CN"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40" name="圆角矩形 139"/>
          <p:cNvSpPr/>
          <p:nvPr/>
        </p:nvSpPr>
        <p:spPr>
          <a:xfrm>
            <a:off x="5288280" y="4375785"/>
            <a:ext cx="1689100" cy="803275"/>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41" name="文本框 140"/>
          <p:cNvSpPr txBox="1"/>
          <p:nvPr/>
        </p:nvSpPr>
        <p:spPr>
          <a:xfrm>
            <a:off x="5489575" y="4425315"/>
            <a:ext cx="1299210" cy="182880"/>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知识贡献归因</a:t>
            </a:r>
            <a:endParaRPr lang="zh-CN" altLang="en-US" sz="1200" b="1">
              <a:solidFill>
                <a:schemeClr val="accent1"/>
              </a:solidFill>
              <a:latin typeface="微软雅黑" panose="020B0503020204020204" charset="-122"/>
              <a:ea typeface="微软雅黑" panose="020B0503020204020204" charset="-122"/>
            </a:endParaRPr>
          </a:p>
        </p:txBody>
      </p:sp>
      <p:cxnSp>
        <p:nvCxnSpPr>
          <p:cNvPr id="142" name="直接连接符 141"/>
          <p:cNvCxnSpPr/>
          <p:nvPr/>
        </p:nvCxnSpPr>
        <p:spPr>
          <a:xfrm>
            <a:off x="5572760" y="4713605"/>
            <a:ext cx="1122045" cy="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sp>
        <p:nvSpPr>
          <p:cNvPr id="143" name="文本框 142"/>
          <p:cNvSpPr txBox="1"/>
          <p:nvPr/>
        </p:nvSpPr>
        <p:spPr>
          <a:xfrm>
            <a:off x="5384165" y="4794250"/>
            <a:ext cx="1499870" cy="176530"/>
          </a:xfrm>
          <a:prstGeom prst="rect">
            <a:avLst/>
          </a:prstGeom>
          <a:noFill/>
        </p:spPr>
        <p:txBody>
          <a:bodyPr wrap="square" rtlCol="0">
            <a:noAutofit/>
          </a:bodyPr>
          <a:lstStyle/>
          <a:p>
            <a:pPr algn="ctr"/>
            <a:r>
              <a:rPr lang="zh-CN" sz="900" b="1">
                <a:solidFill>
                  <a:schemeClr val="tx1"/>
                </a:solidFill>
                <a:latin typeface="微软雅黑" panose="020B0503020204020204" charset="-122"/>
                <a:ea typeface="微软雅黑" panose="020B0503020204020204" charset="-122"/>
                <a:cs typeface="微软雅黑" panose="020B0503020204020204" charset="-122"/>
              </a:rPr>
              <a:t>必要性分析</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sz="900" b="1">
                <a:solidFill>
                  <a:schemeClr val="tx1"/>
                </a:solidFill>
                <a:latin typeface="微软雅黑" panose="020B0503020204020204" charset="-122"/>
                <a:ea typeface="微软雅黑" panose="020B0503020204020204" charset="-122"/>
                <a:cs typeface="微软雅黑" panose="020B0503020204020204" charset="-122"/>
              </a:rPr>
              <a:t>支持度评价</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冲突检测</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48" name="圆角矩形 147"/>
          <p:cNvSpPr/>
          <p:nvPr/>
        </p:nvSpPr>
        <p:spPr>
          <a:xfrm>
            <a:off x="5288280" y="5238750"/>
            <a:ext cx="1689100" cy="803275"/>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49" name="文本框 148"/>
          <p:cNvSpPr txBox="1"/>
          <p:nvPr/>
        </p:nvSpPr>
        <p:spPr>
          <a:xfrm>
            <a:off x="5489575" y="5288280"/>
            <a:ext cx="1299210" cy="182880"/>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数据沉淀</a:t>
            </a:r>
            <a:endParaRPr lang="zh-CN" altLang="en-US" sz="1200" b="1">
              <a:solidFill>
                <a:schemeClr val="accent1"/>
              </a:solidFill>
              <a:latin typeface="微软雅黑" panose="020B0503020204020204" charset="-122"/>
              <a:ea typeface="微软雅黑" panose="020B0503020204020204" charset="-122"/>
            </a:endParaRPr>
          </a:p>
        </p:txBody>
      </p:sp>
      <p:cxnSp>
        <p:nvCxnSpPr>
          <p:cNvPr id="150" name="直接连接符 149"/>
          <p:cNvCxnSpPr/>
          <p:nvPr/>
        </p:nvCxnSpPr>
        <p:spPr>
          <a:xfrm>
            <a:off x="5572760" y="5576570"/>
            <a:ext cx="1122045" cy="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sp>
        <p:nvSpPr>
          <p:cNvPr id="151" name="文本框 150"/>
          <p:cNvSpPr txBox="1"/>
          <p:nvPr/>
        </p:nvSpPr>
        <p:spPr>
          <a:xfrm>
            <a:off x="5384165" y="5657215"/>
            <a:ext cx="1499870" cy="17653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cs typeface="微软雅黑" panose="020B0503020204020204" charset="-122"/>
              </a:rPr>
              <a:t>使用日志</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评估数据</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用户反馈</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业务结果</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52" name="圆角矩形 151"/>
          <p:cNvSpPr/>
          <p:nvPr/>
        </p:nvSpPr>
        <p:spPr>
          <a:xfrm>
            <a:off x="7310755" y="2565400"/>
            <a:ext cx="2715895" cy="3538855"/>
          </a:xfrm>
          <a:prstGeom prst="roundRect">
            <a:avLst>
              <a:gd name="adj" fmla="val 6466"/>
            </a:avLst>
          </a:prstGeom>
          <a:noFill/>
          <a:ln>
            <a:solidFill>
              <a:schemeClr val="accent1">
                <a:lumMod val="60000"/>
                <a:lumOff val="4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latin typeface="微软雅黑" panose="020B0503020204020204" charset="-122"/>
                <a:ea typeface="微软雅黑" panose="020B0503020204020204" charset="-122"/>
              </a:rPr>
              <a:t>z</a:t>
            </a:r>
            <a:endParaRPr lang="en-US" altLang="zh-CN" sz="1600">
              <a:latin typeface="微软雅黑" panose="020B0503020204020204" charset="-122"/>
              <a:ea typeface="微软雅黑" panose="020B0503020204020204" charset="-122"/>
            </a:endParaRPr>
          </a:p>
        </p:txBody>
      </p:sp>
      <p:sp>
        <p:nvSpPr>
          <p:cNvPr id="153" name="圆角矩形 152"/>
          <p:cNvSpPr/>
          <p:nvPr/>
        </p:nvSpPr>
        <p:spPr>
          <a:xfrm>
            <a:off x="5242560" y="2565400"/>
            <a:ext cx="1803400" cy="3538855"/>
          </a:xfrm>
          <a:prstGeom prst="roundRect">
            <a:avLst>
              <a:gd name="adj" fmla="val 6466"/>
            </a:avLst>
          </a:prstGeom>
          <a:noFill/>
          <a:ln>
            <a:solidFill>
              <a:schemeClr val="accent1">
                <a:lumMod val="60000"/>
                <a:lumOff val="4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600">
                <a:latin typeface="微软雅黑" panose="020B0503020204020204" charset="-122"/>
                <a:ea typeface="微软雅黑" panose="020B0503020204020204" charset="-122"/>
              </a:rPr>
              <a:t>z</a:t>
            </a:r>
            <a:endParaRPr lang="en-US" altLang="zh-CN" sz="1600">
              <a:latin typeface="微软雅黑" panose="020B0503020204020204" charset="-122"/>
              <a:ea typeface="微软雅黑" panose="020B0503020204020204" charset="-122"/>
            </a:endParaRPr>
          </a:p>
        </p:txBody>
      </p:sp>
      <p:grpSp>
        <p:nvGrpSpPr>
          <p:cNvPr id="57" name="组合 56"/>
          <p:cNvGrpSpPr/>
          <p:nvPr/>
        </p:nvGrpSpPr>
        <p:grpSpPr>
          <a:xfrm>
            <a:off x="7467600" y="2987040"/>
            <a:ext cx="2376201" cy="3048381"/>
            <a:chOff x="11871" y="4422"/>
            <a:chExt cx="3566" cy="5035"/>
          </a:xfrm>
        </p:grpSpPr>
        <p:grpSp>
          <p:nvGrpSpPr>
            <p:cNvPr id="160" name="组合 159"/>
            <p:cNvGrpSpPr/>
            <p:nvPr/>
          </p:nvGrpSpPr>
          <p:grpSpPr>
            <a:xfrm>
              <a:off x="12591" y="4422"/>
              <a:ext cx="1980" cy="1264"/>
              <a:chOff x="12052" y="2912"/>
              <a:chExt cx="1980" cy="1706"/>
            </a:xfrm>
          </p:grpSpPr>
          <p:sp>
            <p:nvSpPr>
              <p:cNvPr id="155" name="圆角矩形 154"/>
              <p:cNvSpPr/>
              <p:nvPr/>
            </p:nvSpPr>
            <p:spPr>
              <a:xfrm>
                <a:off x="12094" y="2912"/>
                <a:ext cx="1937" cy="1707"/>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56" name="文本框 155"/>
              <p:cNvSpPr txBox="1"/>
              <p:nvPr/>
            </p:nvSpPr>
            <p:spPr>
              <a:xfrm>
                <a:off x="12327" y="3044"/>
                <a:ext cx="1578" cy="328"/>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价值判断</a:t>
                </a:r>
                <a:endParaRPr lang="zh-CN" altLang="en-US" sz="1200" b="1">
                  <a:solidFill>
                    <a:schemeClr val="accent1"/>
                  </a:solidFill>
                  <a:latin typeface="微软雅黑" panose="020B0503020204020204" charset="-122"/>
                  <a:ea typeface="微软雅黑" panose="020B0503020204020204" charset="-122"/>
                </a:endParaRPr>
              </a:p>
            </p:txBody>
          </p:sp>
          <p:sp>
            <p:nvSpPr>
              <p:cNvPr id="157" name="文本框 156"/>
              <p:cNvSpPr txBox="1"/>
              <p:nvPr/>
            </p:nvSpPr>
            <p:spPr>
              <a:xfrm>
                <a:off x="12052" y="3550"/>
                <a:ext cx="1853" cy="418"/>
              </a:xfrm>
              <a:prstGeom prst="rect">
                <a:avLst/>
              </a:prstGeom>
              <a:noFill/>
            </p:spPr>
            <p:txBody>
              <a:bodyPr wrap="square" rtlCol="0">
                <a:noAutofit/>
              </a:bodyPr>
              <a:lstStyle/>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cs typeface="微软雅黑" panose="020B0503020204020204" charset="-122"/>
                  </a:rPr>
                  <a:t>高价值</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低价值</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59" name="文本框 158"/>
              <p:cNvSpPr txBox="1"/>
              <p:nvPr/>
            </p:nvSpPr>
            <p:spPr>
              <a:xfrm>
                <a:off x="12052" y="4003"/>
                <a:ext cx="1980" cy="375"/>
              </a:xfrm>
              <a:prstGeom prst="rect">
                <a:avLst/>
              </a:prstGeom>
              <a:noFill/>
            </p:spPr>
            <p:txBody>
              <a:bodyPr wrap="square" rtlCol="0">
                <a:noAutofit/>
              </a:bodyPr>
              <a:lstStyle/>
              <a:p>
                <a:pPr marL="171450" indent="-171450" algn="l">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cs typeface="微软雅黑" panose="020B0503020204020204" charset="-122"/>
                  </a:rPr>
                  <a:t>过期</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冲突</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缺失</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p:txBody>
          </p:sp>
        </p:grpSp>
        <p:grpSp>
          <p:nvGrpSpPr>
            <p:cNvPr id="162" name="组合 161"/>
            <p:cNvGrpSpPr/>
            <p:nvPr/>
          </p:nvGrpSpPr>
          <p:grpSpPr>
            <a:xfrm>
              <a:off x="13766" y="5978"/>
              <a:ext cx="1671" cy="1916"/>
              <a:chOff x="12052" y="2912"/>
              <a:chExt cx="1979" cy="2585"/>
            </a:xfrm>
          </p:grpSpPr>
          <p:sp>
            <p:nvSpPr>
              <p:cNvPr id="163" name="圆角矩形 162"/>
              <p:cNvSpPr/>
              <p:nvPr/>
            </p:nvSpPr>
            <p:spPr>
              <a:xfrm>
                <a:off x="12094" y="2912"/>
                <a:ext cx="1937" cy="2584"/>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64" name="文本框 163"/>
              <p:cNvSpPr txBox="1"/>
              <p:nvPr/>
            </p:nvSpPr>
            <p:spPr>
              <a:xfrm>
                <a:off x="12092" y="3044"/>
                <a:ext cx="1812" cy="328"/>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演进决策</a:t>
                </a:r>
                <a:endParaRPr lang="zh-CN" altLang="en-US" sz="1200" b="1">
                  <a:solidFill>
                    <a:schemeClr val="accent1"/>
                  </a:solidFill>
                  <a:latin typeface="微软雅黑" panose="020B0503020204020204" charset="-122"/>
                  <a:ea typeface="微软雅黑" panose="020B0503020204020204" charset="-122"/>
                </a:endParaRPr>
              </a:p>
            </p:txBody>
          </p:sp>
          <p:sp>
            <p:nvSpPr>
              <p:cNvPr id="165" name="文本框 164"/>
              <p:cNvSpPr txBox="1"/>
              <p:nvPr/>
            </p:nvSpPr>
            <p:spPr>
              <a:xfrm>
                <a:off x="12052" y="3550"/>
                <a:ext cx="1853" cy="1947"/>
              </a:xfrm>
              <a:prstGeom prst="rect">
                <a:avLst/>
              </a:prstGeom>
              <a:noFill/>
            </p:spPr>
            <p:txBody>
              <a:bodyPr wrap="square" rtlCol="0">
                <a:noAutofit/>
              </a:bodyPr>
              <a:lstStyle/>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术语新增</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知识抬升</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知识沉降</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rPr>
                  <a:t>元数据更新</a:t>
                </a:r>
                <a:endParaRPr lang="zh-CN" altLang="en-US"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rPr>
                  <a:t>……</a:t>
                </a:r>
                <a:endParaRPr lang="zh-CN" altLang="en-US" sz="900" b="1">
                  <a:solidFill>
                    <a:schemeClr val="tx1"/>
                  </a:solidFill>
                  <a:latin typeface="微软雅黑" panose="020B0503020204020204" charset="-122"/>
                  <a:ea typeface="微软雅黑" panose="020B0503020204020204" charset="-122"/>
                </a:endParaRPr>
              </a:p>
            </p:txBody>
          </p:sp>
        </p:grpSp>
        <p:grpSp>
          <p:nvGrpSpPr>
            <p:cNvPr id="167" name="组合 166"/>
            <p:cNvGrpSpPr/>
            <p:nvPr/>
          </p:nvGrpSpPr>
          <p:grpSpPr>
            <a:xfrm>
              <a:off x="12606" y="8192"/>
              <a:ext cx="1979" cy="1265"/>
              <a:chOff x="12052" y="2912"/>
              <a:chExt cx="1979" cy="1706"/>
            </a:xfrm>
          </p:grpSpPr>
          <p:sp>
            <p:nvSpPr>
              <p:cNvPr id="168" name="圆角矩形 167"/>
              <p:cNvSpPr/>
              <p:nvPr/>
            </p:nvSpPr>
            <p:spPr>
              <a:xfrm>
                <a:off x="12094" y="2912"/>
                <a:ext cx="1937" cy="1706"/>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69" name="文本框 168"/>
              <p:cNvSpPr txBox="1"/>
              <p:nvPr/>
            </p:nvSpPr>
            <p:spPr>
              <a:xfrm>
                <a:off x="12285" y="2951"/>
                <a:ext cx="1578" cy="328"/>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执行更新</a:t>
                </a:r>
                <a:endParaRPr lang="zh-CN" altLang="en-US" sz="1200" b="1">
                  <a:solidFill>
                    <a:schemeClr val="accent1"/>
                  </a:solidFill>
                  <a:latin typeface="微软雅黑" panose="020B0503020204020204" charset="-122"/>
                  <a:ea typeface="微软雅黑" panose="020B0503020204020204" charset="-122"/>
                </a:endParaRPr>
              </a:p>
            </p:txBody>
          </p:sp>
          <p:sp>
            <p:nvSpPr>
              <p:cNvPr id="170" name="文本框 169"/>
              <p:cNvSpPr txBox="1"/>
              <p:nvPr/>
            </p:nvSpPr>
            <p:spPr>
              <a:xfrm>
                <a:off x="12052" y="3426"/>
                <a:ext cx="1853" cy="418"/>
              </a:xfrm>
              <a:prstGeom prst="rect">
                <a:avLst/>
              </a:prstGeom>
              <a:noFill/>
            </p:spPr>
            <p:txBody>
              <a:bodyPr wrap="square" rtlCol="0">
                <a:noAutofit/>
              </a:bodyPr>
              <a:lstStyle/>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更新知识状态</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调整权重</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触发验证</a:t>
                </a:r>
                <a:endParaRPr lang="zh-CN" sz="900" b="1">
                  <a:solidFill>
                    <a:schemeClr val="tx1"/>
                  </a:solidFill>
                  <a:latin typeface="微软雅黑" panose="020B0503020204020204" charset="-122"/>
                  <a:ea typeface="微软雅黑" panose="020B0503020204020204" charset="-122"/>
                </a:endParaRPr>
              </a:p>
            </p:txBody>
          </p:sp>
        </p:grpSp>
        <p:grpSp>
          <p:nvGrpSpPr>
            <p:cNvPr id="173" name="组合 172"/>
            <p:cNvGrpSpPr/>
            <p:nvPr/>
          </p:nvGrpSpPr>
          <p:grpSpPr>
            <a:xfrm>
              <a:off x="11871" y="5978"/>
              <a:ext cx="1671" cy="1915"/>
              <a:chOff x="12052" y="2912"/>
              <a:chExt cx="1979" cy="2584"/>
            </a:xfrm>
          </p:grpSpPr>
          <p:sp>
            <p:nvSpPr>
              <p:cNvPr id="174" name="圆角矩形 173"/>
              <p:cNvSpPr/>
              <p:nvPr/>
            </p:nvSpPr>
            <p:spPr>
              <a:xfrm>
                <a:off x="12094" y="2912"/>
                <a:ext cx="1937" cy="2584"/>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75" name="文本框 174"/>
              <p:cNvSpPr txBox="1"/>
              <p:nvPr/>
            </p:nvSpPr>
            <p:spPr>
              <a:xfrm>
                <a:off x="12092" y="3044"/>
                <a:ext cx="1812" cy="328"/>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效果反馈</a:t>
                </a:r>
                <a:endParaRPr lang="zh-CN" altLang="en-US" sz="1200" b="1">
                  <a:solidFill>
                    <a:schemeClr val="accent1"/>
                  </a:solidFill>
                  <a:latin typeface="微软雅黑" panose="020B0503020204020204" charset="-122"/>
                  <a:ea typeface="微软雅黑" panose="020B0503020204020204" charset="-122"/>
                </a:endParaRPr>
              </a:p>
            </p:txBody>
          </p:sp>
          <p:sp>
            <p:nvSpPr>
              <p:cNvPr id="176" name="文本框 175"/>
              <p:cNvSpPr txBox="1"/>
              <p:nvPr/>
            </p:nvSpPr>
            <p:spPr>
              <a:xfrm>
                <a:off x="12052" y="3550"/>
                <a:ext cx="1853" cy="1571"/>
              </a:xfrm>
              <a:prstGeom prst="rect">
                <a:avLst/>
              </a:prstGeom>
              <a:noFill/>
            </p:spPr>
            <p:txBody>
              <a:bodyPr wrap="square" rtlCol="0">
                <a:noAutofit/>
              </a:bodyPr>
              <a:lstStyle/>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权重变化</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状态变化</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新版本发布</a:t>
                </a:r>
                <a:endParaRPr lang="zh-CN" sz="900" b="1">
                  <a:solidFill>
                    <a:schemeClr val="tx1"/>
                  </a:solidFill>
                  <a:latin typeface="微软雅黑" panose="020B0503020204020204" charset="-122"/>
                  <a:ea typeface="微软雅黑" panose="020B0503020204020204" charset="-122"/>
                </a:endParaRPr>
              </a:p>
              <a:p>
                <a:pPr marL="171450" indent="-171450" algn="l">
                  <a:buFont typeface="Arial" panose="020B0604020202090204" pitchFamily="34" charset="0"/>
                  <a:buChar char="•"/>
                </a:pPr>
                <a:r>
                  <a:rPr lang="zh-CN" sz="900" b="1">
                    <a:solidFill>
                      <a:schemeClr val="tx1"/>
                    </a:solidFill>
                    <a:latin typeface="微软雅黑" panose="020B0503020204020204" charset="-122"/>
                    <a:ea typeface="微软雅黑" panose="020B0503020204020204" charset="-122"/>
                  </a:rPr>
                  <a:t>策略生效</a:t>
                </a:r>
                <a:endParaRPr lang="zh-CN" sz="900" b="1">
                  <a:solidFill>
                    <a:schemeClr val="tx1"/>
                  </a:solidFill>
                  <a:latin typeface="微软雅黑" panose="020B0503020204020204" charset="-122"/>
                  <a:ea typeface="微软雅黑" panose="020B0503020204020204" charset="-122"/>
                </a:endParaRPr>
              </a:p>
              <a:p>
                <a:pPr indent="0" algn="l">
                  <a:buFont typeface="Arial" panose="020B0604020202090204" pitchFamily="34" charset="0"/>
                  <a:buNone/>
                </a:pPr>
                <a:endParaRPr lang="zh-CN" altLang="en-US" sz="900" b="1">
                  <a:solidFill>
                    <a:schemeClr val="tx1"/>
                  </a:solidFill>
                  <a:latin typeface="微软雅黑" panose="020B0503020204020204" charset="-122"/>
                  <a:ea typeface="微软雅黑" panose="020B0503020204020204" charset="-122"/>
                </a:endParaRPr>
              </a:p>
            </p:txBody>
          </p:sp>
        </p:grpSp>
        <p:cxnSp>
          <p:nvCxnSpPr>
            <p:cNvPr id="177" name="肘形连接符 176"/>
            <p:cNvCxnSpPr/>
            <p:nvPr/>
          </p:nvCxnSpPr>
          <p:spPr>
            <a:xfrm>
              <a:off x="14570" y="5054"/>
              <a:ext cx="405" cy="904"/>
            </a:xfrm>
            <a:prstGeom prst="bentConnector2">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78" name="肘形连接符 177"/>
            <p:cNvCxnSpPr/>
            <p:nvPr/>
          </p:nvCxnSpPr>
          <p:spPr>
            <a:xfrm rot="5400000">
              <a:off x="14185" y="8319"/>
              <a:ext cx="1221" cy="420"/>
            </a:xfrm>
            <a:prstGeom prst="bentConnector2">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79" name="肘形连接符 178"/>
            <p:cNvCxnSpPr/>
            <p:nvPr/>
          </p:nvCxnSpPr>
          <p:spPr>
            <a:xfrm rot="10800000">
              <a:off x="12282" y="7942"/>
              <a:ext cx="324" cy="878"/>
            </a:xfrm>
            <a:prstGeom prst="bentConnector2">
              <a:avLst/>
            </a:prstGeom>
            <a:ln>
              <a:solidFill>
                <a:srgbClr val="C00000"/>
              </a:solidFill>
              <a:tailEnd type="arrow"/>
            </a:ln>
          </p:spPr>
          <p:style>
            <a:lnRef idx="2">
              <a:schemeClr val="accent1"/>
            </a:lnRef>
            <a:fillRef idx="0">
              <a:srgbClr val="FFFFFF"/>
            </a:fillRef>
            <a:effectRef idx="0">
              <a:srgbClr val="FFFFFF"/>
            </a:effectRef>
            <a:fontRef idx="minor">
              <a:schemeClr val="tx1"/>
            </a:fontRef>
          </p:style>
        </p:cxnSp>
        <p:cxnSp>
          <p:nvCxnSpPr>
            <p:cNvPr id="180" name="肘形连接符 179"/>
            <p:cNvCxnSpPr/>
            <p:nvPr/>
          </p:nvCxnSpPr>
          <p:spPr>
            <a:xfrm rot="16200000">
              <a:off x="11917" y="5319"/>
              <a:ext cx="944" cy="404"/>
            </a:xfrm>
            <a:prstGeom prst="bentConnector2">
              <a:avLst/>
            </a:prstGeom>
            <a:ln w="12700" cap="flat" cmpd="sng">
              <a:solidFill>
                <a:srgbClr val="C00000"/>
              </a:solidFill>
              <a:prstDash val="solid"/>
              <a:miter lim="800000"/>
              <a:headEnd type="none"/>
              <a:tailEnd type="arrow" w="med" len="med"/>
            </a:ln>
          </p:spPr>
          <p:style>
            <a:lnRef idx="2">
              <a:schemeClr val="accent1"/>
            </a:lnRef>
            <a:fillRef idx="0">
              <a:srgbClr val="FFFFFF"/>
            </a:fillRef>
            <a:effectRef idx="0">
              <a:srgbClr val="FFFFFF"/>
            </a:effectRef>
            <a:fontRef idx="minor">
              <a:schemeClr val="tx1"/>
            </a:fontRef>
          </p:style>
        </p:cxnSp>
      </p:grpSp>
      <p:sp>
        <p:nvSpPr>
          <p:cNvPr id="183" name="圆角矩形 182"/>
          <p:cNvSpPr/>
          <p:nvPr/>
        </p:nvSpPr>
        <p:spPr>
          <a:xfrm>
            <a:off x="10444480" y="2685415"/>
            <a:ext cx="1382395" cy="1633220"/>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85" name="文本框 184"/>
          <p:cNvSpPr txBox="1"/>
          <p:nvPr/>
        </p:nvSpPr>
        <p:spPr>
          <a:xfrm>
            <a:off x="10638790" y="2706370"/>
            <a:ext cx="1002030" cy="154305"/>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策略中心</a:t>
            </a:r>
            <a:endParaRPr lang="zh-CN" altLang="en-US" sz="1200" b="1">
              <a:solidFill>
                <a:schemeClr val="accent1"/>
              </a:solidFill>
              <a:latin typeface="微软雅黑" panose="020B0503020204020204" charset="-122"/>
              <a:ea typeface="微软雅黑" panose="020B0503020204020204" charset="-122"/>
            </a:endParaRPr>
          </a:p>
        </p:txBody>
      </p:sp>
      <p:cxnSp>
        <p:nvCxnSpPr>
          <p:cNvPr id="186" name="直接连接符 185"/>
          <p:cNvCxnSpPr/>
          <p:nvPr/>
        </p:nvCxnSpPr>
        <p:spPr>
          <a:xfrm>
            <a:off x="10585450" y="2973070"/>
            <a:ext cx="1122045" cy="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sp>
        <p:nvSpPr>
          <p:cNvPr id="188" name="文本框 187"/>
          <p:cNvSpPr txBox="1"/>
          <p:nvPr/>
        </p:nvSpPr>
        <p:spPr>
          <a:xfrm>
            <a:off x="10528300" y="3046095"/>
            <a:ext cx="1308100" cy="975995"/>
          </a:xfrm>
          <a:prstGeom prst="rect">
            <a:avLst/>
          </a:prstGeom>
          <a:noFill/>
        </p:spPr>
        <p:txBody>
          <a:bodyPr wrap="square" rtlCol="0">
            <a:noAutofit/>
          </a:bodyPr>
          <a:lstStyle/>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cs typeface="微软雅黑" panose="020B0503020204020204" charset="-122"/>
              </a:rPr>
              <a:t>抬升</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沉降策略</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cs typeface="微软雅黑" panose="020B0503020204020204" charset="-122"/>
              </a:rPr>
              <a:t>检索排序</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策略</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cs typeface="微软雅黑" panose="020B0503020204020204" charset="-122"/>
              </a:rPr>
              <a:t>评估</a:t>
            </a: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归因</a:t>
            </a:r>
            <a:r>
              <a:rPr lang="zh-CN" altLang="en-US" sz="900" b="1">
                <a:solidFill>
                  <a:schemeClr val="tx1"/>
                </a:solidFill>
                <a:latin typeface="微软雅黑" panose="020B0503020204020204" charset="-122"/>
                <a:ea typeface="微软雅黑" panose="020B0503020204020204" charset="-122"/>
                <a:cs typeface="微软雅黑" panose="020B0503020204020204" charset="-122"/>
              </a:rPr>
              <a:t>策略</a:t>
            </a:r>
            <a:endParaRPr lang="zh-CN" altLang="en-US" sz="900" b="1">
              <a:solidFill>
                <a:schemeClr val="tx1"/>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50000"/>
              </a:lnSpc>
              <a:buFont typeface="Arial" panose="020B0604020202090204" pitchFamily="34" charset="0"/>
              <a:buChar char="•"/>
            </a:pPr>
            <a:r>
              <a:rPr lang="zh-CN" altLang="en-US" sz="900" b="1">
                <a:latin typeface="微软雅黑" panose="020B0503020204020204" charset="-122"/>
                <a:ea typeface="微软雅黑" panose="020B0503020204020204" charset="-122"/>
                <a:cs typeface="微软雅黑" panose="020B0503020204020204" charset="-122"/>
                <a:sym typeface="+mn-ea"/>
              </a:rPr>
              <a:t>术语</a:t>
            </a:r>
            <a:r>
              <a:rPr lang="zh-CN" altLang="en-US" sz="900" b="1">
                <a:latin typeface="微软雅黑" panose="020B0503020204020204" charset="-122"/>
                <a:ea typeface="微软雅黑" panose="020B0503020204020204" charset="-122"/>
                <a:cs typeface="微软雅黑" panose="020B0503020204020204" charset="-122"/>
                <a:sym typeface="+mn-ea"/>
              </a:rPr>
              <a:t>新增策略</a:t>
            </a:r>
            <a:endParaRPr lang="zh-CN" altLang="en-US" sz="900" b="1">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ct val="150000"/>
              </a:lnSpc>
              <a:buFont typeface="Arial" panose="020B0604020202090204" pitchFamily="34" charset="0"/>
              <a:buChar char="•"/>
            </a:pPr>
            <a:r>
              <a:rPr lang="en-US" altLang="zh-CN" sz="900" b="1">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9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89" name="圆角矩形 188"/>
          <p:cNvSpPr/>
          <p:nvPr/>
        </p:nvSpPr>
        <p:spPr>
          <a:xfrm>
            <a:off x="10444480" y="4462780"/>
            <a:ext cx="1382395" cy="1583690"/>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190" name="文本框 189"/>
          <p:cNvSpPr txBox="1"/>
          <p:nvPr/>
        </p:nvSpPr>
        <p:spPr>
          <a:xfrm>
            <a:off x="10575925" y="4483735"/>
            <a:ext cx="1112520" cy="165100"/>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治理与监控</a:t>
            </a:r>
            <a:endParaRPr lang="zh-CN" altLang="en-US" sz="1200" b="1">
              <a:solidFill>
                <a:schemeClr val="accent1"/>
              </a:solidFill>
              <a:latin typeface="微软雅黑" panose="020B0503020204020204" charset="-122"/>
              <a:ea typeface="微软雅黑" panose="020B0503020204020204" charset="-122"/>
            </a:endParaRPr>
          </a:p>
        </p:txBody>
      </p:sp>
      <p:cxnSp>
        <p:nvCxnSpPr>
          <p:cNvPr id="191" name="直接连接符 190"/>
          <p:cNvCxnSpPr/>
          <p:nvPr/>
        </p:nvCxnSpPr>
        <p:spPr>
          <a:xfrm>
            <a:off x="10585450" y="4750435"/>
            <a:ext cx="1122045" cy="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sp>
        <p:nvSpPr>
          <p:cNvPr id="192" name="文本框 191"/>
          <p:cNvSpPr txBox="1"/>
          <p:nvPr/>
        </p:nvSpPr>
        <p:spPr>
          <a:xfrm>
            <a:off x="10528300" y="4824095"/>
            <a:ext cx="1308100" cy="975995"/>
          </a:xfrm>
          <a:prstGeom prst="rect">
            <a:avLst/>
          </a:prstGeom>
          <a:noFill/>
        </p:spPr>
        <p:txBody>
          <a:bodyPr wrap="square" rtlCol="0">
            <a:noAutofit/>
          </a:bodyPr>
          <a:lstStyle/>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rPr>
              <a:t>知识健康度看板</a:t>
            </a:r>
            <a:endParaRPr lang="zh-CN" altLang="en-US" sz="900" b="1">
              <a:solidFill>
                <a:schemeClr val="tx1"/>
              </a:solidFill>
              <a:latin typeface="微软雅黑" panose="020B0503020204020204" charset="-122"/>
              <a:ea typeface="微软雅黑" panose="020B0503020204020204" charset="-122"/>
            </a:endParaRPr>
          </a:p>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rPr>
              <a:t>指标监控与告警</a:t>
            </a:r>
            <a:endParaRPr lang="zh-CN" altLang="en-US" sz="900" b="1">
              <a:solidFill>
                <a:schemeClr val="tx1"/>
              </a:solidFill>
              <a:latin typeface="微软雅黑" panose="020B0503020204020204" charset="-122"/>
              <a:ea typeface="微软雅黑" panose="020B0503020204020204" charset="-122"/>
            </a:endParaRPr>
          </a:p>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rPr>
              <a:t>任务与工作流</a:t>
            </a:r>
            <a:endParaRPr lang="zh-CN" altLang="en-US" sz="900" b="1">
              <a:solidFill>
                <a:schemeClr val="tx1"/>
              </a:solidFill>
              <a:latin typeface="微软雅黑" panose="020B0503020204020204" charset="-122"/>
              <a:ea typeface="微软雅黑" panose="020B0503020204020204" charset="-122"/>
            </a:endParaRPr>
          </a:p>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rPr>
              <a:t>权限与安全控制</a:t>
            </a:r>
            <a:endParaRPr lang="zh-CN" altLang="en-US" sz="900" b="1">
              <a:solidFill>
                <a:schemeClr val="tx1"/>
              </a:solidFill>
              <a:latin typeface="微软雅黑" panose="020B0503020204020204" charset="-122"/>
              <a:ea typeface="微软雅黑" panose="020B0503020204020204" charset="-122"/>
            </a:endParaRPr>
          </a:p>
          <a:p>
            <a:pPr marL="171450" indent="-171450" algn="l" fontAlgn="auto">
              <a:lnSpc>
                <a:spcPct val="150000"/>
              </a:lnSpc>
              <a:buFont typeface="Arial" panose="020B0604020202090204" pitchFamily="34" charset="0"/>
              <a:buChar char="•"/>
            </a:pPr>
            <a:r>
              <a:rPr lang="zh-CN" altLang="en-US" sz="900" b="1">
                <a:solidFill>
                  <a:schemeClr val="tx1"/>
                </a:solidFill>
                <a:latin typeface="微软雅黑" panose="020B0503020204020204" charset="-122"/>
                <a:ea typeface="微软雅黑" panose="020B0503020204020204" charset="-122"/>
              </a:rPr>
              <a:t>审计日志管理</a:t>
            </a:r>
            <a:endParaRPr lang="zh-CN" altLang="en-US" sz="900" b="1">
              <a:solidFill>
                <a:schemeClr val="tx1"/>
              </a:solidFill>
              <a:latin typeface="微软雅黑" panose="020B0503020204020204" charset="-122"/>
              <a:ea typeface="微软雅黑" panose="020B0503020204020204" charset="-122"/>
            </a:endParaRPr>
          </a:p>
        </p:txBody>
      </p:sp>
      <p:sp>
        <p:nvSpPr>
          <p:cNvPr id="193" name="圆角矩形 192"/>
          <p:cNvSpPr/>
          <p:nvPr/>
        </p:nvSpPr>
        <p:spPr>
          <a:xfrm>
            <a:off x="10311130" y="2565400"/>
            <a:ext cx="1619250" cy="3538855"/>
          </a:xfrm>
          <a:prstGeom prst="roundRect">
            <a:avLst>
              <a:gd name="adj" fmla="val 6466"/>
            </a:avLst>
          </a:prstGeom>
          <a:noFill/>
          <a:ln>
            <a:solidFill>
              <a:schemeClr val="accent1">
                <a:lumMod val="60000"/>
                <a:lumOff val="40000"/>
              </a:schemeClr>
            </a:solidFill>
            <a:prstDash val="dash"/>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600">
                <a:latin typeface="微软雅黑" panose="020B0503020204020204" charset="-122"/>
                <a:ea typeface="微软雅黑" panose="020B0503020204020204" charset="-122"/>
              </a:rPr>
              <a:t>与</a:t>
            </a:r>
            <a:endParaRPr lang="zh-CN" altLang="en-US" sz="1600">
              <a:latin typeface="微软雅黑" panose="020B0503020204020204" charset="-122"/>
              <a:ea typeface="微软雅黑" panose="020B0503020204020204" charset="-122"/>
            </a:endParaRPr>
          </a:p>
        </p:txBody>
      </p:sp>
      <p:cxnSp>
        <p:nvCxnSpPr>
          <p:cNvPr id="194" name="肘形连接符 193"/>
          <p:cNvCxnSpPr>
            <a:stCxn id="193" idx="2"/>
            <a:endCxn id="129" idx="2"/>
          </p:cNvCxnSpPr>
          <p:nvPr/>
        </p:nvCxnSpPr>
        <p:spPr>
          <a:xfrm rot="5400000" flipH="1">
            <a:off x="6207443" y="1190943"/>
            <a:ext cx="26670" cy="9799955"/>
          </a:xfrm>
          <a:prstGeom prst="bentConnector3">
            <a:avLst>
              <a:gd name="adj1" fmla="val -891667"/>
            </a:avLst>
          </a:prstGeom>
          <a:ln>
            <a:prstDash val="dash"/>
            <a:tailEnd type="arrow"/>
          </a:ln>
        </p:spPr>
        <p:style>
          <a:lnRef idx="2">
            <a:schemeClr val="accent1"/>
          </a:lnRef>
          <a:fillRef idx="0">
            <a:srgbClr val="FFFFFF"/>
          </a:fillRef>
          <a:effectRef idx="0">
            <a:srgbClr val="FFFFFF"/>
          </a:effectRef>
          <a:fontRef idx="minor">
            <a:schemeClr val="tx1"/>
          </a:fontRef>
        </p:style>
      </p:cxnSp>
      <p:cxnSp>
        <p:nvCxnSpPr>
          <p:cNvPr id="195" name="肘形连接符 194"/>
          <p:cNvCxnSpPr>
            <a:stCxn id="152" idx="2"/>
            <a:endCxn id="128" idx="2"/>
          </p:cNvCxnSpPr>
          <p:nvPr/>
        </p:nvCxnSpPr>
        <p:spPr>
          <a:xfrm rot="5400000" flipH="1">
            <a:off x="6203950" y="3639185"/>
            <a:ext cx="26670" cy="4903470"/>
          </a:xfrm>
          <a:prstGeom prst="bentConnector3">
            <a:avLst>
              <a:gd name="adj1" fmla="val -892857"/>
            </a:avLst>
          </a:prstGeom>
          <a:ln>
            <a:prstDash val="dash"/>
            <a:tailEnd type="arrow"/>
          </a:ln>
        </p:spPr>
        <p:style>
          <a:lnRef idx="2">
            <a:schemeClr val="accent1"/>
          </a:lnRef>
          <a:fillRef idx="0">
            <a:srgbClr val="FFFFFF"/>
          </a:fillRef>
          <a:effectRef idx="0">
            <a:srgbClr val="FFFFFF"/>
          </a:effectRef>
          <a:fontRef idx="minor">
            <a:schemeClr val="tx1"/>
          </a:fontRef>
        </p:style>
      </p:cxnSp>
      <p:sp>
        <p:nvSpPr>
          <p:cNvPr id="196" name="文本框 195"/>
          <p:cNvSpPr txBox="1"/>
          <p:nvPr/>
        </p:nvSpPr>
        <p:spPr>
          <a:xfrm>
            <a:off x="4803140" y="6076950"/>
            <a:ext cx="2419985" cy="233680"/>
          </a:xfrm>
          <a:prstGeom prst="rect">
            <a:avLst/>
          </a:prstGeom>
          <a:noFill/>
        </p:spPr>
        <p:txBody>
          <a:bodyPr wrap="square" rtlCol="0" anchor="t">
            <a:noAutofit/>
          </a:bodyPr>
          <a:lstStyle/>
          <a:p>
            <a:r>
              <a:rPr lang="zh-CN" altLang="en-US" sz="1000">
                <a:latin typeface="微软雅黑" panose="020B0503020204020204" charset="-122"/>
                <a:ea typeface="微软雅黑" panose="020B0503020204020204" charset="-122"/>
                <a:cs typeface="微软雅黑" panose="020B0503020204020204" charset="-122"/>
              </a:rPr>
              <a:t>数据与策略反馈(驱动下一轮循环)</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99" name="圆角矩形 198"/>
          <p:cNvSpPr/>
          <p:nvPr/>
        </p:nvSpPr>
        <p:spPr>
          <a:xfrm>
            <a:off x="320675" y="6398895"/>
            <a:ext cx="11609070" cy="387350"/>
          </a:xfrm>
          <a:prstGeom prst="roundRect">
            <a:avLst>
              <a:gd name="adj" fmla="val 0"/>
            </a:avLst>
          </a:prstGeom>
          <a:solidFill>
            <a:schemeClr val="accent1">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201" name="文本框 200"/>
          <p:cNvSpPr txBox="1"/>
          <p:nvPr/>
        </p:nvSpPr>
        <p:spPr>
          <a:xfrm>
            <a:off x="466090" y="6481445"/>
            <a:ext cx="1383665" cy="209550"/>
          </a:xfrm>
          <a:prstGeom prst="rect">
            <a:avLst/>
          </a:prstGeom>
          <a:noFill/>
        </p:spPr>
        <p:txBody>
          <a:bodyPr wrap="square" rtlCol="0">
            <a:noAutofit/>
          </a:bodyPr>
          <a:lstStyle/>
          <a:p>
            <a:r>
              <a:rPr lang="zh-CN" altLang="en-US" sz="1200" b="1">
                <a:solidFill>
                  <a:schemeClr val="accent1"/>
                </a:solidFill>
                <a:latin typeface="微软雅黑" panose="020B0503020204020204" charset="-122"/>
                <a:ea typeface="微软雅黑" panose="020B0503020204020204" charset="-122"/>
              </a:rPr>
              <a:t>平台基础能力</a:t>
            </a:r>
            <a:endParaRPr lang="zh-CN" altLang="en-US" sz="1200" b="1">
              <a:solidFill>
                <a:schemeClr val="accent1"/>
              </a:solidFill>
              <a:latin typeface="微软雅黑" panose="020B0503020204020204" charset="-122"/>
              <a:ea typeface="微软雅黑" panose="020B0503020204020204" charset="-122"/>
            </a:endParaRPr>
          </a:p>
        </p:txBody>
      </p:sp>
      <p:grpSp>
        <p:nvGrpSpPr>
          <p:cNvPr id="212" name="组合 211"/>
          <p:cNvGrpSpPr/>
          <p:nvPr/>
        </p:nvGrpSpPr>
        <p:grpSpPr>
          <a:xfrm>
            <a:off x="1832610" y="6495415"/>
            <a:ext cx="9680575" cy="229870"/>
            <a:chOff x="3192" y="9845"/>
            <a:chExt cx="18917" cy="119"/>
          </a:xfrm>
        </p:grpSpPr>
        <p:sp>
          <p:nvSpPr>
            <p:cNvPr id="203" name="文本框 202"/>
            <p:cNvSpPr txBox="1"/>
            <p:nvPr/>
          </p:nvSpPr>
          <p:spPr>
            <a:xfrm>
              <a:off x="3192" y="9845"/>
              <a:ext cx="2025" cy="119"/>
            </a:xfrm>
            <a:prstGeom prst="rect">
              <a:avLst/>
            </a:prstGeom>
            <a:solidFill>
              <a:schemeClr val="bg1"/>
            </a:solidFill>
          </p:spPr>
          <p:txBody>
            <a:bodyPr wrap="square" rtlCol="0">
              <a:spAutoFit/>
            </a:bodyPr>
            <a:lstStyle/>
            <a:p>
              <a:pPr algn="ctr"/>
              <a:r>
                <a:rPr lang="zh-CN" altLang="en-US" sz="900">
                  <a:latin typeface="微软雅黑" panose="020B0503020204020204" charset="-122"/>
                  <a:ea typeface="微软雅黑" panose="020B0503020204020204" charset="-122"/>
                </a:rPr>
                <a:t>文件存储</a:t>
              </a:r>
              <a:endParaRPr lang="zh-CN" altLang="en-US" sz="900">
                <a:latin typeface="微软雅黑" panose="020B0503020204020204" charset="-122"/>
                <a:ea typeface="微软雅黑" panose="020B0503020204020204" charset="-122"/>
              </a:endParaRPr>
            </a:p>
          </p:txBody>
        </p:sp>
        <p:sp>
          <p:nvSpPr>
            <p:cNvPr id="204" name="文本框 203"/>
            <p:cNvSpPr txBox="1"/>
            <p:nvPr/>
          </p:nvSpPr>
          <p:spPr>
            <a:xfrm>
              <a:off x="5289" y="9845"/>
              <a:ext cx="2025" cy="119"/>
            </a:xfrm>
            <a:prstGeom prst="rect">
              <a:avLst/>
            </a:prstGeom>
            <a:solidFill>
              <a:schemeClr val="bg1"/>
            </a:solidFill>
          </p:spPr>
          <p:txBody>
            <a:bodyPr wrap="square" rtlCol="0">
              <a:spAutoFit/>
            </a:bodyPr>
            <a:lstStyle/>
            <a:p>
              <a:pPr algn="ctr"/>
              <a:r>
                <a:rPr lang="zh-CN" altLang="en-US" sz="900">
                  <a:latin typeface="微软雅黑" panose="020B0503020204020204" charset="-122"/>
                  <a:ea typeface="微软雅黑" panose="020B0503020204020204" charset="-122"/>
                </a:rPr>
                <a:t>向量加工引擎</a:t>
              </a:r>
              <a:endParaRPr lang="zh-CN" altLang="en-US" sz="900">
                <a:latin typeface="微软雅黑" panose="020B0503020204020204" charset="-122"/>
                <a:ea typeface="微软雅黑" panose="020B0503020204020204" charset="-122"/>
              </a:endParaRPr>
            </a:p>
          </p:txBody>
        </p:sp>
        <p:sp>
          <p:nvSpPr>
            <p:cNvPr id="205" name="文本框 204"/>
            <p:cNvSpPr txBox="1"/>
            <p:nvPr/>
          </p:nvSpPr>
          <p:spPr>
            <a:xfrm>
              <a:off x="7411" y="9845"/>
              <a:ext cx="2025" cy="119"/>
            </a:xfrm>
            <a:prstGeom prst="rect">
              <a:avLst/>
            </a:prstGeom>
            <a:solidFill>
              <a:schemeClr val="bg1"/>
            </a:solidFill>
          </p:spPr>
          <p:txBody>
            <a:bodyPr wrap="square" rtlCol="0">
              <a:spAutoFit/>
            </a:bodyPr>
            <a:lstStyle/>
            <a:p>
              <a:pPr algn="ctr"/>
              <a:r>
                <a:rPr lang="zh-CN" altLang="en-US" sz="900">
                  <a:latin typeface="微软雅黑" panose="020B0503020204020204" charset="-122"/>
                  <a:ea typeface="微软雅黑" panose="020B0503020204020204" charset="-122"/>
                </a:rPr>
                <a:t>图谱加工引擎</a:t>
              </a:r>
              <a:endParaRPr lang="zh-CN" altLang="en-US" sz="900">
                <a:latin typeface="微软雅黑" panose="020B0503020204020204" charset="-122"/>
                <a:ea typeface="微软雅黑" panose="020B0503020204020204" charset="-122"/>
              </a:endParaRPr>
            </a:p>
          </p:txBody>
        </p:sp>
        <p:sp>
          <p:nvSpPr>
            <p:cNvPr id="206" name="文本框 205"/>
            <p:cNvSpPr txBox="1"/>
            <p:nvPr/>
          </p:nvSpPr>
          <p:spPr>
            <a:xfrm>
              <a:off x="9532" y="9845"/>
              <a:ext cx="2025" cy="119"/>
            </a:xfrm>
            <a:prstGeom prst="rect">
              <a:avLst/>
            </a:prstGeom>
            <a:solidFill>
              <a:schemeClr val="bg1"/>
            </a:solidFill>
          </p:spPr>
          <p:txBody>
            <a:bodyPr wrap="square" rtlCol="0">
              <a:spAutoFit/>
            </a:bodyPr>
            <a:lstStyle/>
            <a:p>
              <a:pPr algn="ctr"/>
              <a:r>
                <a:rPr lang="en-US" altLang="zh-CN" sz="900">
                  <a:latin typeface="微软雅黑" panose="020B0503020204020204" charset="-122"/>
                  <a:ea typeface="微软雅黑" panose="020B0503020204020204" charset="-122"/>
                  <a:cs typeface="微软雅黑" panose="020B0503020204020204" charset="-122"/>
                </a:rPr>
                <a:t>LLM</a:t>
              </a:r>
              <a:r>
                <a:rPr lang="zh-CN" altLang="en-US" sz="900">
                  <a:latin typeface="微软雅黑" panose="020B0503020204020204" charset="-122"/>
                  <a:ea typeface="微软雅黑" panose="020B0503020204020204" charset="-122"/>
                  <a:cs typeface="微软雅黑" panose="020B0503020204020204" charset="-122"/>
                </a:rPr>
                <a:t>服务</a:t>
              </a:r>
              <a:endParaRPr lang="zh-CN" altLang="en-US" sz="900">
                <a:latin typeface="微软雅黑" panose="020B0503020204020204" charset="-122"/>
                <a:ea typeface="微软雅黑" panose="020B0503020204020204" charset="-122"/>
                <a:cs typeface="微软雅黑" panose="020B0503020204020204" charset="-122"/>
              </a:endParaRPr>
            </a:p>
          </p:txBody>
        </p:sp>
        <p:sp>
          <p:nvSpPr>
            <p:cNvPr id="207" name="文本框 206"/>
            <p:cNvSpPr txBox="1"/>
            <p:nvPr/>
          </p:nvSpPr>
          <p:spPr>
            <a:xfrm>
              <a:off x="11652" y="9845"/>
              <a:ext cx="2025" cy="119"/>
            </a:xfrm>
            <a:prstGeom prst="rect">
              <a:avLst/>
            </a:prstGeom>
            <a:solidFill>
              <a:schemeClr val="bg1"/>
            </a:solidFill>
          </p:spPr>
          <p:txBody>
            <a:bodyPr wrap="square" rtlCol="0">
              <a:spAutoFit/>
            </a:bodyPr>
            <a:lstStyle/>
            <a:p>
              <a:pPr algn="ctr"/>
              <a:r>
                <a:rPr lang="zh-CN" altLang="en-US" sz="900">
                  <a:latin typeface="微软雅黑" panose="020B0503020204020204" charset="-122"/>
                  <a:ea typeface="微软雅黑" panose="020B0503020204020204" charset="-122"/>
                </a:rPr>
                <a:t>知识检索服务</a:t>
              </a:r>
              <a:endParaRPr lang="zh-CN" altLang="en-US" sz="900">
                <a:latin typeface="微软雅黑" panose="020B0503020204020204" charset="-122"/>
                <a:ea typeface="微软雅黑" panose="020B0503020204020204" charset="-122"/>
              </a:endParaRPr>
            </a:p>
          </p:txBody>
        </p:sp>
        <p:sp>
          <p:nvSpPr>
            <p:cNvPr id="208" name="文本框 207"/>
            <p:cNvSpPr txBox="1"/>
            <p:nvPr/>
          </p:nvSpPr>
          <p:spPr>
            <a:xfrm>
              <a:off x="13766" y="9845"/>
              <a:ext cx="2025" cy="119"/>
            </a:xfrm>
            <a:prstGeom prst="rect">
              <a:avLst/>
            </a:prstGeom>
            <a:solidFill>
              <a:schemeClr val="bg1"/>
            </a:solidFill>
          </p:spPr>
          <p:txBody>
            <a:bodyPr wrap="square" rtlCol="0">
              <a:spAutoFit/>
            </a:bodyPr>
            <a:lstStyle/>
            <a:p>
              <a:pPr algn="ctr"/>
              <a:r>
                <a:rPr lang="zh-CN" altLang="en-US" sz="900">
                  <a:latin typeface="微软雅黑" panose="020B0503020204020204" charset="-122"/>
                  <a:ea typeface="微软雅黑" panose="020B0503020204020204" charset="-122"/>
                </a:rPr>
                <a:t>权限与安全</a:t>
              </a:r>
              <a:endParaRPr lang="zh-CN" altLang="en-US" sz="900">
                <a:latin typeface="微软雅黑" panose="020B0503020204020204" charset="-122"/>
                <a:ea typeface="微软雅黑" panose="020B0503020204020204" charset="-122"/>
              </a:endParaRPr>
            </a:p>
          </p:txBody>
        </p:sp>
        <p:sp>
          <p:nvSpPr>
            <p:cNvPr id="209" name="文本框 208"/>
            <p:cNvSpPr txBox="1"/>
            <p:nvPr/>
          </p:nvSpPr>
          <p:spPr>
            <a:xfrm>
              <a:off x="15868" y="9845"/>
              <a:ext cx="2025" cy="119"/>
            </a:xfrm>
            <a:prstGeom prst="rect">
              <a:avLst/>
            </a:prstGeom>
            <a:solidFill>
              <a:schemeClr val="bg1"/>
            </a:solidFill>
          </p:spPr>
          <p:txBody>
            <a:bodyPr wrap="square" rtlCol="0">
              <a:spAutoFit/>
            </a:bodyPr>
            <a:lstStyle/>
            <a:p>
              <a:pPr algn="ctr"/>
              <a:r>
                <a:rPr lang="zh-CN" altLang="en-US" sz="900">
                  <a:latin typeface="微软雅黑" panose="020B0503020204020204" charset="-122"/>
                  <a:ea typeface="微软雅黑" panose="020B0503020204020204" charset="-122"/>
                </a:rPr>
                <a:t>任务调度</a:t>
              </a:r>
              <a:endParaRPr lang="zh-CN" altLang="en-US" sz="900">
                <a:latin typeface="微软雅黑" panose="020B0503020204020204" charset="-122"/>
                <a:ea typeface="微软雅黑" panose="020B0503020204020204" charset="-122"/>
              </a:endParaRPr>
            </a:p>
          </p:txBody>
        </p:sp>
        <p:sp>
          <p:nvSpPr>
            <p:cNvPr id="210" name="文本框 209"/>
            <p:cNvSpPr txBox="1"/>
            <p:nvPr/>
          </p:nvSpPr>
          <p:spPr>
            <a:xfrm>
              <a:off x="17984" y="9845"/>
              <a:ext cx="2025" cy="119"/>
            </a:xfrm>
            <a:prstGeom prst="rect">
              <a:avLst/>
            </a:prstGeom>
            <a:solidFill>
              <a:schemeClr val="bg1"/>
            </a:solidFill>
          </p:spPr>
          <p:txBody>
            <a:bodyPr wrap="square" rtlCol="0">
              <a:spAutoFit/>
            </a:bodyPr>
            <a:lstStyle/>
            <a:p>
              <a:pPr algn="ctr"/>
              <a:r>
                <a:rPr lang="zh-CN" altLang="en-US" sz="900">
                  <a:latin typeface="微软雅黑" panose="020B0503020204020204" charset="-122"/>
                  <a:ea typeface="微软雅黑" panose="020B0503020204020204" charset="-122"/>
                  <a:cs typeface="微软雅黑" panose="020B0503020204020204" charset="-122"/>
                </a:rPr>
                <a:t>消息</a:t>
              </a:r>
              <a:r>
                <a:rPr lang="en-US" altLang="zh-CN" sz="900">
                  <a:latin typeface="微软雅黑" panose="020B0503020204020204" charset="-122"/>
                  <a:ea typeface="微软雅黑" panose="020B0503020204020204" charset="-122"/>
                  <a:cs typeface="微软雅黑" panose="020B0503020204020204" charset="-122"/>
                </a:rPr>
                <a:t>/</a:t>
              </a:r>
              <a:r>
                <a:rPr lang="zh-CN" altLang="en-US" sz="900">
                  <a:latin typeface="微软雅黑" panose="020B0503020204020204" charset="-122"/>
                  <a:ea typeface="微软雅黑" panose="020B0503020204020204" charset="-122"/>
                  <a:cs typeface="微软雅黑" panose="020B0503020204020204" charset="-122"/>
                </a:rPr>
                <a:t>通知</a:t>
              </a:r>
              <a:endParaRPr lang="zh-CN" altLang="en-US" sz="900">
                <a:latin typeface="微软雅黑" panose="020B0503020204020204" charset="-122"/>
                <a:ea typeface="微软雅黑" panose="020B0503020204020204" charset="-122"/>
                <a:cs typeface="微软雅黑" panose="020B0503020204020204" charset="-122"/>
              </a:endParaRPr>
            </a:p>
          </p:txBody>
        </p:sp>
        <p:sp>
          <p:nvSpPr>
            <p:cNvPr id="211" name="文本框 210"/>
            <p:cNvSpPr txBox="1"/>
            <p:nvPr/>
          </p:nvSpPr>
          <p:spPr>
            <a:xfrm>
              <a:off x="20084" y="9845"/>
              <a:ext cx="2025" cy="119"/>
            </a:xfrm>
            <a:prstGeom prst="rect">
              <a:avLst/>
            </a:prstGeom>
            <a:solidFill>
              <a:schemeClr val="bg1"/>
            </a:solidFill>
          </p:spPr>
          <p:txBody>
            <a:bodyPr wrap="square" rtlCol="0">
              <a:spAutoFit/>
            </a:bodyPr>
            <a:lstStyle/>
            <a:p>
              <a:pPr algn="ctr"/>
              <a:r>
                <a:rPr lang="zh-CN" sz="900">
                  <a:latin typeface="微软雅黑" panose="020B0503020204020204" charset="-122"/>
                  <a:ea typeface="微软雅黑" panose="020B0503020204020204" charset="-122"/>
                  <a:cs typeface="微软雅黑" panose="020B0503020204020204" charset="-122"/>
                </a:rPr>
                <a:t>开放</a:t>
              </a:r>
              <a:r>
                <a:rPr lang="en-US" altLang="zh-CN" sz="900">
                  <a:latin typeface="微软雅黑" panose="020B0503020204020204" charset="-122"/>
                  <a:ea typeface="微软雅黑" panose="020B0503020204020204" charset="-122"/>
                  <a:cs typeface="微软雅黑" panose="020B0503020204020204" charset="-122"/>
                </a:rPr>
                <a:t>API</a:t>
              </a:r>
              <a:endParaRPr lang="en-US" altLang="zh-CN" sz="900">
                <a:latin typeface="微软雅黑" panose="020B0503020204020204" charset="-122"/>
                <a:ea typeface="微软雅黑" panose="020B0503020204020204" charset="-122"/>
                <a:cs typeface="微软雅黑" panose="020B0503020204020204" charset="-122"/>
              </a:endParaRPr>
            </a:p>
          </p:txBody>
        </p:sp>
      </p:grpSp>
      <p:grpSp>
        <p:nvGrpSpPr>
          <p:cNvPr id="61" name="组合 60"/>
          <p:cNvGrpSpPr/>
          <p:nvPr/>
        </p:nvGrpSpPr>
        <p:grpSpPr>
          <a:xfrm>
            <a:off x="466090" y="2621280"/>
            <a:ext cx="1689100" cy="3156138"/>
            <a:chOff x="734" y="4128"/>
            <a:chExt cx="2660" cy="4887"/>
          </a:xfrm>
        </p:grpSpPr>
        <p:sp>
          <p:nvSpPr>
            <p:cNvPr id="88" name="圆角矩形 87"/>
            <p:cNvSpPr/>
            <p:nvPr/>
          </p:nvSpPr>
          <p:spPr>
            <a:xfrm>
              <a:off x="734" y="4128"/>
              <a:ext cx="2660" cy="2207"/>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89" name="文本框 88"/>
            <p:cNvSpPr txBox="1"/>
            <p:nvPr/>
          </p:nvSpPr>
          <p:spPr>
            <a:xfrm>
              <a:off x="1335" y="4184"/>
              <a:ext cx="1578" cy="333"/>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知识接入</a:t>
              </a:r>
              <a:endParaRPr lang="zh-CN" altLang="en-US" sz="1200" b="1">
                <a:solidFill>
                  <a:schemeClr val="accent1"/>
                </a:solidFill>
                <a:latin typeface="微软雅黑" panose="020B0503020204020204" charset="-122"/>
                <a:ea typeface="微软雅黑" panose="020B0503020204020204" charset="-122"/>
              </a:endParaRPr>
            </a:p>
          </p:txBody>
        </p:sp>
        <p:sp>
          <p:nvSpPr>
            <p:cNvPr id="90" name="文本框 89"/>
            <p:cNvSpPr txBox="1"/>
            <p:nvPr/>
          </p:nvSpPr>
          <p:spPr>
            <a:xfrm>
              <a:off x="899" y="4660"/>
              <a:ext cx="2362" cy="38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文档接入</a:t>
              </a:r>
              <a:endParaRPr lang="zh-CN" altLang="en-US" sz="900" b="1">
                <a:solidFill>
                  <a:schemeClr val="tx1"/>
                </a:solidFill>
                <a:latin typeface="微软雅黑" panose="020B0503020204020204" charset="-122"/>
                <a:ea typeface="微软雅黑" panose="020B0503020204020204" charset="-122"/>
              </a:endParaRPr>
            </a:p>
          </p:txBody>
        </p:sp>
        <p:sp>
          <p:nvSpPr>
            <p:cNvPr id="91" name="文本框 90"/>
            <p:cNvSpPr txBox="1"/>
            <p:nvPr/>
          </p:nvSpPr>
          <p:spPr>
            <a:xfrm>
              <a:off x="899" y="5062"/>
              <a:ext cx="2362" cy="38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元数据自动采集</a:t>
              </a:r>
              <a:endParaRPr lang="zh-CN" altLang="en-US" sz="900" b="1">
                <a:solidFill>
                  <a:schemeClr val="tx1"/>
                </a:solidFill>
                <a:latin typeface="微软雅黑" panose="020B0503020204020204" charset="-122"/>
                <a:ea typeface="微软雅黑" panose="020B0503020204020204" charset="-122"/>
              </a:endParaRPr>
            </a:p>
          </p:txBody>
        </p:sp>
        <p:sp>
          <p:nvSpPr>
            <p:cNvPr id="92" name="文本框 91"/>
            <p:cNvSpPr txBox="1"/>
            <p:nvPr/>
          </p:nvSpPr>
          <p:spPr>
            <a:xfrm>
              <a:off x="899" y="5442"/>
              <a:ext cx="2362" cy="380"/>
            </a:xfrm>
            <a:prstGeom prst="rect">
              <a:avLst/>
            </a:prstGeom>
            <a:noFill/>
          </p:spPr>
          <p:txBody>
            <a:bodyPr wrap="square" rtlCol="0">
              <a:noAutofit/>
            </a:bodyPr>
            <a:lstStyle/>
            <a:p>
              <a:pPr lvl="0" algn="ctr">
                <a:buClrTx/>
                <a:buSzTx/>
                <a:buFontTx/>
              </a:pPr>
              <a:r>
                <a:rPr lang="zh-CN" altLang="en-US" sz="900" b="1">
                  <a:latin typeface="微软雅黑" panose="020B0503020204020204" charset="-122"/>
                  <a:ea typeface="微软雅黑" panose="020B0503020204020204" charset="-122"/>
                  <a:sym typeface="+mn-ea"/>
                </a:rPr>
                <a:t>文档目录构建</a:t>
              </a:r>
              <a:endParaRPr lang="zh-CN" altLang="en-US" sz="900" b="1">
                <a:latin typeface="微软雅黑" panose="020B0503020204020204" charset="-122"/>
                <a:ea typeface="微软雅黑" panose="020B0503020204020204" charset="-122"/>
                <a:sym typeface="+mn-ea"/>
              </a:endParaRPr>
            </a:p>
          </p:txBody>
        </p:sp>
        <p:sp>
          <p:nvSpPr>
            <p:cNvPr id="93" name="文本框 92"/>
            <p:cNvSpPr txBox="1"/>
            <p:nvPr/>
          </p:nvSpPr>
          <p:spPr>
            <a:xfrm>
              <a:off x="899" y="5822"/>
              <a:ext cx="2362" cy="38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文档分类存储</a:t>
              </a:r>
              <a:endParaRPr lang="zh-CN" altLang="en-US" sz="900" b="1">
                <a:solidFill>
                  <a:schemeClr val="tx1"/>
                </a:solidFill>
                <a:latin typeface="微软雅黑" panose="020B0503020204020204" charset="-122"/>
                <a:ea typeface="微软雅黑" panose="020B0503020204020204" charset="-122"/>
              </a:endParaRPr>
            </a:p>
          </p:txBody>
        </p:sp>
        <p:sp>
          <p:nvSpPr>
            <p:cNvPr id="50" name="圆角矩形 49"/>
            <p:cNvSpPr/>
            <p:nvPr/>
          </p:nvSpPr>
          <p:spPr>
            <a:xfrm>
              <a:off x="734" y="6563"/>
              <a:ext cx="2660" cy="2452"/>
            </a:xfrm>
            <a:prstGeom prst="roundRect">
              <a:avLst>
                <a:gd name="adj" fmla="val 6466"/>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600">
                <a:latin typeface="微软雅黑" panose="020B0503020204020204" charset="-122"/>
                <a:ea typeface="微软雅黑" panose="020B0503020204020204" charset="-122"/>
              </a:endParaRPr>
            </a:p>
          </p:txBody>
        </p:sp>
        <p:sp>
          <p:nvSpPr>
            <p:cNvPr id="51" name="文本框 50"/>
            <p:cNvSpPr txBox="1"/>
            <p:nvPr/>
          </p:nvSpPr>
          <p:spPr>
            <a:xfrm>
              <a:off x="1335" y="6802"/>
              <a:ext cx="1578" cy="333"/>
            </a:xfrm>
            <a:prstGeom prst="rect">
              <a:avLst/>
            </a:prstGeom>
            <a:noFill/>
          </p:spPr>
          <p:txBody>
            <a:bodyPr wrap="square" rtlCol="0">
              <a:noAutofit/>
            </a:bodyPr>
            <a:lstStyle/>
            <a:p>
              <a:pPr algn="ctr"/>
              <a:r>
                <a:rPr lang="zh-CN" altLang="en-US" sz="1200" b="1">
                  <a:solidFill>
                    <a:schemeClr val="accent1"/>
                  </a:solidFill>
                  <a:latin typeface="微软雅黑" panose="020B0503020204020204" charset="-122"/>
                  <a:ea typeface="微软雅黑" panose="020B0503020204020204" charset="-122"/>
                </a:rPr>
                <a:t>知识处理</a:t>
              </a:r>
              <a:endParaRPr lang="zh-CN" altLang="en-US" sz="1200" b="1">
                <a:solidFill>
                  <a:schemeClr val="accent1"/>
                </a:solidFill>
                <a:latin typeface="微软雅黑" panose="020B0503020204020204" charset="-122"/>
                <a:ea typeface="微软雅黑" panose="020B0503020204020204" charset="-122"/>
              </a:endParaRPr>
            </a:p>
          </p:txBody>
        </p:sp>
        <p:sp>
          <p:nvSpPr>
            <p:cNvPr id="52" name="文本框 51"/>
            <p:cNvSpPr txBox="1"/>
            <p:nvPr/>
          </p:nvSpPr>
          <p:spPr>
            <a:xfrm>
              <a:off x="938" y="7674"/>
              <a:ext cx="2362" cy="38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统一语义图谱加工</a:t>
              </a:r>
              <a:endParaRPr lang="zh-CN" altLang="en-US" sz="900" b="1">
                <a:solidFill>
                  <a:schemeClr val="tx1"/>
                </a:solidFill>
                <a:latin typeface="微软雅黑" panose="020B0503020204020204" charset="-122"/>
                <a:ea typeface="微软雅黑" panose="020B0503020204020204" charset="-122"/>
              </a:endParaRPr>
            </a:p>
          </p:txBody>
        </p:sp>
        <p:sp>
          <p:nvSpPr>
            <p:cNvPr id="53" name="文本框 52"/>
            <p:cNvSpPr txBox="1"/>
            <p:nvPr/>
          </p:nvSpPr>
          <p:spPr>
            <a:xfrm>
              <a:off x="938" y="8124"/>
              <a:ext cx="2362" cy="38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知识向量加工</a:t>
              </a:r>
              <a:endParaRPr lang="zh-CN" altLang="en-US" sz="900" b="1">
                <a:solidFill>
                  <a:schemeClr val="tx1"/>
                </a:solidFill>
                <a:latin typeface="微软雅黑" panose="020B0503020204020204" charset="-122"/>
                <a:ea typeface="微软雅黑" panose="020B0503020204020204" charset="-122"/>
              </a:endParaRPr>
            </a:p>
          </p:txBody>
        </p:sp>
        <p:sp>
          <p:nvSpPr>
            <p:cNvPr id="55" name="文本框 54"/>
            <p:cNvSpPr txBox="1"/>
            <p:nvPr/>
          </p:nvSpPr>
          <p:spPr>
            <a:xfrm>
              <a:off x="938" y="8525"/>
              <a:ext cx="2362" cy="38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专题知识图谱加工</a:t>
              </a:r>
              <a:endParaRPr lang="zh-CN" altLang="en-US" sz="900" b="1">
                <a:solidFill>
                  <a:schemeClr val="tx1"/>
                </a:solidFill>
                <a:latin typeface="微软雅黑" panose="020B0503020204020204" charset="-122"/>
                <a:ea typeface="微软雅黑" panose="020B0503020204020204" charset="-122"/>
              </a:endParaRPr>
            </a:p>
          </p:txBody>
        </p:sp>
        <p:sp>
          <p:nvSpPr>
            <p:cNvPr id="62" name="文本框 61"/>
            <p:cNvSpPr txBox="1"/>
            <p:nvPr/>
          </p:nvSpPr>
          <p:spPr>
            <a:xfrm>
              <a:off x="938" y="7257"/>
              <a:ext cx="2362" cy="380"/>
            </a:xfrm>
            <a:prstGeom prst="rect">
              <a:avLst/>
            </a:prstGeom>
            <a:noFill/>
          </p:spPr>
          <p:txBody>
            <a:bodyPr wrap="square" rtlCol="0">
              <a:noAutofit/>
            </a:bodyPr>
            <a:lstStyle/>
            <a:p>
              <a:pPr algn="ctr"/>
              <a:r>
                <a:rPr lang="zh-CN" altLang="en-US" sz="900" b="1">
                  <a:solidFill>
                    <a:schemeClr val="tx1"/>
                  </a:solidFill>
                  <a:latin typeface="微软雅黑" panose="020B0503020204020204" charset="-122"/>
                  <a:ea typeface="微软雅黑" panose="020B0503020204020204" charset="-122"/>
                </a:rPr>
                <a:t>内容解析与抽取</a:t>
              </a:r>
              <a:endParaRPr lang="zh-CN" altLang="en-US" sz="900" b="1">
                <a:solidFill>
                  <a:schemeClr val="tx1"/>
                </a:solidFill>
                <a:latin typeface="微软雅黑" panose="020B0503020204020204" charset="-122"/>
                <a:ea typeface="微软雅黑" panose="020B0503020204020204" charset="-122"/>
              </a:endParaRPr>
            </a:p>
          </p:txBody>
        </p:sp>
      </p:grpSp>
      <p:sp>
        <p:nvSpPr>
          <p:cNvPr id="58" name="文本框 57"/>
          <p:cNvSpPr txBox="1"/>
          <p:nvPr/>
        </p:nvSpPr>
        <p:spPr>
          <a:xfrm>
            <a:off x="7635240" y="2661285"/>
            <a:ext cx="1864995" cy="240665"/>
          </a:xfrm>
          <a:prstGeom prst="rect">
            <a:avLst/>
          </a:prstGeom>
          <a:noFill/>
        </p:spPr>
        <p:txBody>
          <a:bodyPr wrap="square" rtlCol="0">
            <a:noAutofit/>
          </a:bodyPr>
          <a:lstStyle/>
          <a:p>
            <a:pPr algn="ctr"/>
            <a:r>
              <a:rPr lang="en-US" altLang="zh-CN" sz="1000" b="1">
                <a:solidFill>
                  <a:schemeClr val="tx1"/>
                </a:solidFill>
                <a:latin typeface="微软雅黑" panose="020B0503020204020204" charset="-122"/>
                <a:ea typeface="微软雅黑" panose="020B0503020204020204" charset="-122"/>
                <a:cs typeface="微软雅黑" panose="020B0503020204020204" charset="-122"/>
              </a:rPr>
              <a:t>Loop Engineering </a:t>
            </a: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闭环驱动</a:t>
            </a:r>
            <a:endParaRPr lang="zh-CN" altLang="en-US" sz="1000" b="1">
              <a:solidFill>
                <a:schemeClr val="tx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562292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indent="0"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2.1 </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a:t>
            </a:r>
            <a:r>
              <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整体规划</a:t>
            </a:r>
            <a:endParaRPr kumimoji="0" lang="zh-CN" altLang="en-US"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2.2 资源层规划方案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2.3 加工层</a:t>
            </a:r>
            <a:r>
              <a:rPr lang="en-US" altLang="zh-CN"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2.4 服务层</a:t>
            </a:r>
            <a:r>
              <a:rPr lang="en-US" altLang="zh-CN"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2.5 监运层</a:t>
            </a:r>
            <a:r>
              <a:rPr lang="en-US" altLang="zh-CN" b="1"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规划</a:t>
            </a:r>
            <a:r>
              <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rPr>
              <a:t>方案</a:t>
            </a:r>
            <a:endParaRPr kumimoji="0" lang="en-US" altLang="zh-CN" b="1" i="0" u="none" strike="noStrike" kern="1200" cap="none" spc="0" normalizeH="0" baseline="0" noProof="0" dirty="0">
              <a:ln>
                <a:noFill/>
              </a:ln>
              <a:solidFill>
                <a:schemeClr val="tx1">
                  <a:alpha val="100000"/>
                </a:scheme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668655" marR="0" lvl="1" algn="l" defTabSz="914400" rtl="0" eaLnBrk="1" fontAlgn="auto" latinLnBrk="0" hangingPunct="1">
              <a:lnSpc>
                <a:spcPct val="165000"/>
              </a:lnSpc>
              <a:spcBef>
                <a:spcPts val="0"/>
              </a:spcBef>
              <a:spcAft>
                <a:spcPts val="0"/>
              </a:spcAft>
              <a:buClrTx/>
              <a:buSzTx/>
              <a:buFont typeface="+mj-ea"/>
              <a:buNone/>
              <a:defRPr/>
            </a:pPr>
            <a:r>
              <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2.6 拓展层规划方案</a:t>
            </a:r>
            <a:endParaRPr kumimoji="0" lang="en-US" altLang="zh-CN"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9"/>
          <p:cNvSpPr/>
          <p:nvPr/>
        </p:nvSpPr>
        <p:spPr bwMode="auto">
          <a:xfrm>
            <a:off x="508635" y="906145"/>
            <a:ext cx="10921365" cy="91948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dirty="0">
                <a:effectLst/>
                <a:latin typeface="微软雅黑" panose="020B0503020204020204" charset="-122"/>
                <a:ea typeface="微软雅黑" panose="020B0503020204020204" charset="-122"/>
                <a:sym typeface="+mn-ea"/>
              </a:rPr>
              <a:t>拓展层进一步把非结构化知识与结构化数据、业务规则、系统操作打通，支撑对公、零售、金市、风险和科技金融等深度智能化决策、推理、自动化等业务场景，并支持未来向场景专家模型和</a:t>
            </a:r>
            <a:r>
              <a:rPr lang="en-US" altLang="zh-CN" sz="1600" dirty="0">
                <a:effectLst/>
                <a:latin typeface="微软雅黑" panose="020B0503020204020204" charset="-122"/>
                <a:ea typeface="微软雅黑" panose="020B0503020204020204" charset="-122"/>
                <a:sym typeface="+mn-ea"/>
              </a:rPr>
              <a:t>MOE</a:t>
            </a:r>
            <a:r>
              <a:rPr lang="zh-CN" altLang="en-US" sz="1600" dirty="0">
                <a:effectLst/>
                <a:latin typeface="微软雅黑" panose="020B0503020204020204" charset="-122"/>
                <a:ea typeface="微软雅黑" panose="020B0503020204020204" charset="-122"/>
                <a:sym typeface="+mn-ea"/>
              </a:rPr>
              <a:t>架构演进。</a:t>
            </a:r>
            <a:endParaRPr lang="zh-CN" altLang="en-US" sz="1600" b="1" dirty="0">
              <a:solidFill>
                <a:srgbClr val="C00000"/>
              </a:solidFill>
              <a:effectLst/>
              <a:latin typeface="微软雅黑" panose="020B0503020204020204" charset="-122"/>
              <a:ea typeface="微软雅黑" panose="020B0503020204020204" charset="-122"/>
            </a:endParaRPr>
          </a:p>
        </p:txBody>
      </p:sp>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2.6 L5拓展层：业务衔接延展化，实现支撑可拓展</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 name="AutoShape 7"/>
          <p:cNvSpPr/>
          <p:nvPr/>
        </p:nvSpPr>
        <p:spPr>
          <a:xfrm>
            <a:off x="508000" y="2172335"/>
            <a:ext cx="5397500" cy="2921000"/>
          </a:xfrm>
          <a:prstGeom prst="roundRect">
            <a:avLst>
              <a:gd name="adj" fmla="val 0"/>
            </a:avLst>
          </a:prstGeom>
          <a:solidFill>
            <a:srgbClr val="FFFFFF">
              <a:alpha val="8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5" name="AutoShape 8"/>
          <p:cNvSpPr/>
          <p:nvPr/>
        </p:nvSpPr>
        <p:spPr>
          <a:xfrm>
            <a:off x="508000" y="2172335"/>
            <a:ext cx="5397500" cy="571500"/>
          </a:xfrm>
          <a:prstGeom prst="roundRect">
            <a:avLst>
              <a:gd name="adj" fmla="val 0"/>
            </a:avLst>
          </a:prstGeom>
          <a:solidFill>
            <a:srgbClr val="2563EB">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30"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8500" y="2299335"/>
            <a:ext cx="304800" cy="304800"/>
          </a:xfrm>
          <a:prstGeom prst="rect">
            <a:avLst/>
          </a:prstGeom>
        </p:spPr>
      </p:pic>
      <p:sp>
        <p:nvSpPr>
          <p:cNvPr id="31" name="AutoShape 10"/>
          <p:cNvSpPr/>
          <p:nvPr/>
        </p:nvSpPr>
        <p:spPr>
          <a:xfrm>
            <a:off x="1143000" y="2273935"/>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向数字化全域场景延伸 · 打通业务壁垒</a:t>
            </a:r>
            <a:endParaRPr lang="en-US" sz="18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2" name="AutoShape 11"/>
          <p:cNvSpPr/>
          <p:nvPr/>
        </p:nvSpPr>
        <p:spPr>
          <a:xfrm>
            <a:off x="698500" y="2907030"/>
            <a:ext cx="5016500" cy="2032000"/>
          </a:xfrm>
          <a:prstGeom prst="rect">
            <a:avLst/>
          </a:prstGeom>
          <a:noFill/>
          <a:ln w="12700" cap="flat" cmpd="sng">
            <a:noFill/>
            <a:prstDash val="solid"/>
            <a:round/>
          </a:ln>
        </p:spPr>
        <p:txBody>
          <a:bodyPr vert="horz" wrap="square" lIns="0" tIns="0" rIns="0" bIns="0" rtlCol="0" anchor="ctr" anchorCtr="0"/>
          <a:lstStyle/>
          <a:p>
            <a:pPr indent="0" algn="l" fontAlgn="auto">
              <a:lnSpc>
                <a:spcPts val="2500"/>
              </a:lnSpc>
              <a:defRPr/>
            </a:pPr>
            <a:r>
              <a:rPr lang="en-US" sz="1400" b="1" i="0" u="none" strike="noStrike">
                <a:solidFill>
                  <a:srgbClr val="1D4ED8"/>
                </a:solidFill>
                <a:latin typeface="微软雅黑" panose="020B0503020204020204" charset="-122"/>
                <a:ea typeface="微软雅黑" panose="020B0503020204020204" charset="-122"/>
                <a:cs typeface="微软雅黑" panose="020B0503020204020204" charset="-122"/>
                <a:sym typeface="Noto Sans SC" panose="020B0200000000000000" charset="-122"/>
              </a:rPr>
              <a:t>技术底座：</a:t>
            </a:r>
            <a:r>
              <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深度融合</a:t>
            </a:r>
            <a:r>
              <a:rPr lang="en-US" sz="14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结构化</a:t>
            </a:r>
            <a:r>
              <a:rPr lang="zh-CN" altLang="en-US" sz="14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数据</a:t>
            </a:r>
            <a:r>
              <a:rPr lang="en-US" sz="140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与非结构化数据</a:t>
            </a:r>
            <a:r>
              <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，构建全域数据感知网络；打通</a:t>
            </a:r>
            <a:r>
              <a:rPr lang="en-US" sz="1400" b="1" i="0" u="none" strike="noStrike">
                <a:solidFill>
                  <a:srgbClr val="C00000"/>
                </a:solidFill>
                <a:latin typeface="微软雅黑" panose="020B0503020204020204" charset="-122"/>
                <a:ea typeface="微软雅黑" panose="020B0503020204020204" charset="-122"/>
                <a:cs typeface="微软雅黑" panose="020B0503020204020204" charset="-122"/>
                <a:sym typeface="Noto Sans SC" panose="020B0200000000000000" charset="-122"/>
              </a:rPr>
              <a:t>业务系统API</a:t>
            </a:r>
            <a:r>
              <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，实现AI能力与业务流程无缝嵌入。</a:t>
            </a:r>
            <a:endParaRPr lang="en-US" sz="1100">
              <a:latin typeface="微软雅黑" panose="020B0503020204020204" charset="-122"/>
              <a:ea typeface="微软雅黑" panose="020B0503020204020204" charset="-122"/>
              <a:cs typeface="微软雅黑" panose="020B0503020204020204" charset="-122"/>
            </a:endParaRPr>
          </a:p>
          <a:p>
            <a:pPr indent="0" algn="l" fontAlgn="auto">
              <a:lnSpc>
                <a:spcPts val="2500"/>
              </a:lnSpc>
            </a:pPr>
            <a:r>
              <a:rPr lang="en-US" sz="1400" b="1" i="0" u="none" strike="noStrike">
                <a:solidFill>
                  <a:srgbClr val="1D4ED8"/>
                </a:solidFill>
                <a:latin typeface="微软雅黑" panose="020B0503020204020204" charset="-122"/>
                <a:ea typeface="微软雅黑" panose="020B0503020204020204" charset="-122"/>
                <a:cs typeface="微软雅黑" panose="020B0503020204020204" charset="-122"/>
                <a:sym typeface="Noto Sans SC" panose="020B0200000000000000" charset="-122"/>
              </a:rPr>
              <a:t>演进价值：</a:t>
            </a:r>
            <a:r>
              <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从“知识问答”向零售精准营销、对公智能风控、信贷自动审批等自动化场景延伸，实现从“知识赋能”到“智能操作”的跨越，让AI真正落地业务生产。</a:t>
            </a:r>
            <a:endPar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3" name="AutoShape 12"/>
          <p:cNvSpPr/>
          <p:nvPr/>
        </p:nvSpPr>
        <p:spPr>
          <a:xfrm>
            <a:off x="6286500" y="2172335"/>
            <a:ext cx="5397500" cy="2921000"/>
          </a:xfrm>
          <a:prstGeom prst="roundRect">
            <a:avLst>
              <a:gd name="adj" fmla="val 0"/>
            </a:avLst>
          </a:prstGeom>
          <a:solidFill>
            <a:srgbClr val="FFFFFF">
              <a:alpha val="8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sp>
        <p:nvSpPr>
          <p:cNvPr id="34" name="AutoShape 13"/>
          <p:cNvSpPr/>
          <p:nvPr/>
        </p:nvSpPr>
        <p:spPr>
          <a:xfrm>
            <a:off x="6286500" y="2172335"/>
            <a:ext cx="5397500" cy="571500"/>
          </a:xfrm>
          <a:prstGeom prst="roundRect">
            <a:avLst>
              <a:gd name="adj" fmla="val 0"/>
            </a:avLst>
          </a:prstGeom>
          <a:solidFill>
            <a:srgbClr val="2563EB">
              <a:alpha val="10000"/>
            </a:srgbClr>
          </a:solidFill>
          <a:ln w="25400" cap="flat" cmpd="sng">
            <a:noFill/>
            <a:prstDash val="solid"/>
            <a:round/>
          </a:ln>
        </p:spPr>
        <p:txBody>
          <a:bodyPr vert="horz" wrap="square" lIns="63500" tIns="63500" rIns="63500" bIns="63500" rtlCol="0" anchor="ctr"/>
          <a:lstStyle/>
          <a:p>
            <a:pPr algn="ctr">
              <a:defRPr/>
            </a:pPr>
            <a:endParaRPr>
              <a:latin typeface="微软雅黑" panose="020B0503020204020204" charset="-122"/>
              <a:ea typeface="微软雅黑" panose="020B0503020204020204" charset="-122"/>
            </a:endParaRPr>
          </a:p>
        </p:txBody>
      </p:sp>
      <p:pic>
        <p:nvPicPr>
          <p:cNvPr id="35"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299335"/>
            <a:ext cx="304800" cy="304800"/>
          </a:xfrm>
          <a:prstGeom prst="rect">
            <a:avLst/>
          </a:prstGeom>
        </p:spPr>
      </p:pic>
      <p:sp>
        <p:nvSpPr>
          <p:cNvPr id="36" name="AutoShape 15"/>
          <p:cNvSpPr/>
          <p:nvPr/>
        </p:nvSpPr>
        <p:spPr>
          <a:xfrm>
            <a:off x="6921500" y="2273935"/>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向模型内化重构升级 · 打造专属大模型</a:t>
            </a:r>
            <a:endParaRPr lang="en-US" sz="1800" b="1" i="0" u="none" strike="noStrike">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7" name="AutoShape 16"/>
          <p:cNvSpPr/>
          <p:nvPr/>
        </p:nvSpPr>
        <p:spPr>
          <a:xfrm>
            <a:off x="6477000" y="2870835"/>
            <a:ext cx="5016500" cy="2032000"/>
          </a:xfrm>
          <a:prstGeom prst="rect">
            <a:avLst/>
          </a:prstGeom>
          <a:noFill/>
          <a:ln w="12700" cap="flat" cmpd="sng">
            <a:noFill/>
            <a:prstDash val="solid"/>
            <a:round/>
          </a:ln>
        </p:spPr>
        <p:txBody>
          <a:bodyPr vert="horz" wrap="square" lIns="0" tIns="0" rIns="0" bIns="0" rtlCol="0" anchor="ctr" anchorCtr="0"/>
          <a:lstStyle/>
          <a:p>
            <a:pPr indent="0" algn="l" fontAlgn="auto">
              <a:lnSpc>
                <a:spcPts val="2500"/>
              </a:lnSpc>
              <a:defRPr/>
            </a:pPr>
            <a:r>
              <a:rPr lang="en-US" sz="1400" b="1" i="0" u="none" strike="noStrike">
                <a:solidFill>
                  <a:srgbClr val="1D4ED8"/>
                </a:solidFill>
                <a:latin typeface="微软雅黑" panose="020B0503020204020204" charset="-122"/>
                <a:ea typeface="微软雅黑" panose="020B0503020204020204" charset="-122"/>
                <a:cs typeface="微软雅黑" panose="020B0503020204020204" charset="-122"/>
                <a:sym typeface="Noto Sans SC" panose="020B0200000000000000" charset="-122"/>
              </a:rPr>
              <a:t>技术架构：</a:t>
            </a:r>
            <a:r>
              <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突破通用大模型外挂RAG局限，基于银行专属知识库，采用MOE稀疏专家模型架构，训练轻量化场景专家模型，构建“检索+模型+调度”混合体系。</a:t>
            </a:r>
            <a:endParaRPr lang="en-US" sz="1100">
              <a:latin typeface="微软雅黑" panose="020B0503020204020204" charset="-122"/>
              <a:ea typeface="微软雅黑" panose="020B0503020204020204" charset="-122"/>
              <a:cs typeface="微软雅黑" panose="020B0503020204020204" charset="-122"/>
            </a:endParaRPr>
          </a:p>
          <a:p>
            <a:pPr indent="0" algn="l" fontAlgn="auto">
              <a:lnSpc>
                <a:spcPts val="2500"/>
              </a:lnSpc>
            </a:pPr>
            <a:r>
              <a:rPr lang="en-US" sz="1400" b="1" i="0" u="none" strike="noStrike">
                <a:solidFill>
                  <a:srgbClr val="1D4ED8"/>
                </a:solidFill>
                <a:latin typeface="微软雅黑" panose="020B0503020204020204" charset="-122"/>
                <a:ea typeface="微软雅黑" panose="020B0503020204020204" charset="-122"/>
                <a:cs typeface="微软雅黑" panose="020B0503020204020204" charset="-122"/>
                <a:sym typeface="Noto Sans SC" panose="020B0200000000000000" charset="-122"/>
              </a:rPr>
              <a:t>演进价值：</a:t>
            </a:r>
            <a:r>
              <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实现从“模型调用”到“模型内化”的质变，打造懂业务、懂合规的行业大模型，具备精准的业务理解与决策能力，构筑长期的智能化竞争壁垒。</a:t>
            </a:r>
            <a:endParaRPr lang="en-US" sz="14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38" name="AutoShape 17"/>
          <p:cNvSpPr/>
          <p:nvPr/>
        </p:nvSpPr>
        <p:spPr>
          <a:xfrm>
            <a:off x="508000" y="5283835"/>
            <a:ext cx="11176000" cy="635000"/>
          </a:xfrm>
          <a:prstGeom prst="roundRect">
            <a:avLst>
              <a:gd name="adj" fmla="val 0"/>
            </a:avLst>
          </a:prstGeom>
          <a:solidFill>
            <a:srgbClr val="1E3A8A">
              <a:alpha val="5000"/>
            </a:srgbClr>
          </a:solidFill>
          <a:ln cap="flat" cmpd="sng">
            <a:solidFill>
              <a:srgbClr val="0D2771">
                <a:alpha val="5000"/>
              </a:srgbClr>
            </a:solidFill>
            <a:prstDash val="solid"/>
            <a:round/>
          </a:ln>
        </p:spPr>
        <p:txBody>
          <a:bodyPr vert="horz" wrap="square" lIns="63500" tIns="63500" rIns="63500" bIns="63500" rtlCol="0" anchor="ctr"/>
          <a:lstStyle/>
          <a:p>
            <a:pPr algn="ctr">
              <a:defRPr/>
            </a:pPr>
            <a:r>
              <a:rPr lang="en-US" sz="1400" b="1">
                <a:solidFill>
                  <a:srgbClr val="1E3A8A"/>
                </a:solidFill>
                <a:latin typeface="微软雅黑" panose="020B0503020204020204" charset="-122"/>
                <a:ea typeface="微软雅黑" panose="020B0503020204020204" charset="-122"/>
                <a:cs typeface="微软雅黑" panose="020B0503020204020204" charset="-122"/>
                <a:sym typeface="Noto Sans SC" panose="020B0200000000000000" charset="-122"/>
              </a:rPr>
              <a:t>战略目标：</a:t>
            </a:r>
            <a:r>
              <a:rPr lang="en-US" sz="1400">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以拓展层为AI能力的“延伸引擎”，持续拓宽技术边界与应用场景，支撑银行业务从数字化向智能化、自动化、自主化演进。</a:t>
            </a:r>
            <a:endParaRPr lang="en-US" sz="1400">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2.6.1 业务语义向数字化全域场景延伸</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6" name="组合 5"/>
          <p:cNvGrpSpPr/>
          <p:nvPr/>
        </p:nvGrpSpPr>
        <p:grpSpPr>
          <a:xfrm>
            <a:off x="102563" y="1696510"/>
            <a:ext cx="5857370" cy="5161077"/>
            <a:chOff x="6269598" y="1956890"/>
            <a:chExt cx="5857370" cy="5161077"/>
          </a:xfrm>
        </p:grpSpPr>
        <p:graphicFrame>
          <p:nvGraphicFramePr>
            <p:cNvPr id="15" name="图示 14"/>
            <p:cNvGraphicFramePr/>
            <p:nvPr/>
          </p:nvGraphicFramePr>
          <p:xfrm>
            <a:off x="6333086" y="1956890"/>
            <a:ext cx="2684435" cy="516107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6" name="图示 15"/>
            <p:cNvGraphicFramePr/>
            <p:nvPr/>
          </p:nvGraphicFramePr>
          <p:xfrm>
            <a:off x="9442533" y="1956890"/>
            <a:ext cx="2684435" cy="516107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7" name="文本框 16"/>
            <p:cNvSpPr txBox="1"/>
            <p:nvPr/>
          </p:nvSpPr>
          <p:spPr>
            <a:xfrm>
              <a:off x="6916450" y="6189553"/>
              <a:ext cx="1958016" cy="306705"/>
            </a:xfrm>
            <a:prstGeom prst="rect">
              <a:avLst/>
            </a:prstGeom>
            <a:noFill/>
          </p:spPr>
          <p:txBody>
            <a:bodyPr wrap="square" rtlCol="0">
              <a:spAutoFit/>
            </a:bodyPr>
            <a:lstStyle/>
            <a:p>
              <a:pPr algn="ctr"/>
              <a:r>
                <a:rPr lang="zh-CN" altLang="en-US"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企业数字化</a:t>
              </a:r>
              <a:endParaRPr lang="zh-CN" altLang="en-US"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9" name="文本框 18"/>
            <p:cNvSpPr txBox="1"/>
            <p:nvPr/>
          </p:nvSpPr>
          <p:spPr>
            <a:xfrm>
              <a:off x="9805742" y="6186662"/>
              <a:ext cx="1958016" cy="307777"/>
            </a:xfrm>
            <a:prstGeom prst="rect">
              <a:avLst/>
            </a:prstGeom>
            <a:noFill/>
          </p:spPr>
          <p:txBody>
            <a:bodyPr wrap="square" rtlCol="0">
              <a:spAutoFit/>
            </a:bodyPr>
            <a:lstStyle/>
            <a:p>
              <a:pPr algn="ctr"/>
              <a:r>
                <a:rPr lang="zh-CN" altLang="en-US"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企业智能化</a:t>
              </a:r>
              <a:endParaRPr lang="zh-CN" altLang="en-US"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0" name="十字形 19"/>
            <p:cNvSpPr/>
            <p:nvPr/>
          </p:nvSpPr>
          <p:spPr>
            <a:xfrm>
              <a:off x="9196670" y="6255142"/>
              <a:ext cx="184060" cy="170815"/>
            </a:xfrm>
            <a:prstGeom prst="plus">
              <a:avLst>
                <a:gd name="adj" fmla="val 37489"/>
              </a:avLst>
            </a:prstGeom>
            <a:solidFill>
              <a:srgbClr val="000000">
                <a:lumMod val="75000"/>
                <a:lumOff val="25000"/>
              </a:srgbClr>
            </a:solidFill>
            <a:ln>
              <a:noFill/>
            </a:ln>
            <a:effectLst>
              <a:outerShdw blurRad="50800" dist="38100" dir="2700000" algn="tl" rotWithShape="0">
                <a:prstClr val="black">
                  <a:alpha val="40000"/>
                </a:prstClr>
              </a:outerShdw>
            </a:effectLst>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1" name="箭头: 左右 10"/>
            <p:cNvSpPr/>
            <p:nvPr/>
          </p:nvSpPr>
          <p:spPr>
            <a:xfrm>
              <a:off x="8777316" y="3464008"/>
              <a:ext cx="1330431" cy="468034"/>
            </a:xfrm>
            <a:prstGeom prst="leftRightArrow">
              <a:avLst/>
            </a:prstGeom>
            <a:solidFill>
              <a:srgbClr val="000000">
                <a:lumMod val="75000"/>
                <a:lumOff val="25000"/>
              </a:srgbClr>
            </a:solidFill>
          </p:spPr>
          <p:style>
            <a:lnRef idx="0">
              <a:srgbClr val="00BBC2"/>
            </a:lnRef>
            <a:fillRef idx="3">
              <a:srgbClr val="00BBC2"/>
            </a:fillRef>
            <a:effectRef idx="3">
              <a:srgbClr val="00BBC2"/>
            </a:effectRef>
            <a:fontRef idx="minor">
              <a:srgbClr val="FFFFFF"/>
            </a:fontRef>
          </p:style>
          <p:txBody>
            <a:bodyPr rtlCol="0" anchor="ctr"/>
            <a:lstStyle/>
            <a:p>
              <a:pPr algn="ctr"/>
              <a:r>
                <a:rPr lang="zh-CN" altLang="en-US" sz="1200" dirty="0">
                  <a:solidFill>
                    <a:srgbClr val="FFFFFF"/>
                  </a:solidFill>
                  <a:latin typeface="微软雅黑" panose="020B0503020204020204" charset="-122"/>
                  <a:ea typeface="微软雅黑" panose="020B0503020204020204" charset="-122"/>
                </a:rPr>
                <a:t>有什么数据</a:t>
              </a:r>
              <a:endParaRPr lang="zh-CN" altLang="en-US" sz="1200" dirty="0">
                <a:solidFill>
                  <a:srgbClr val="FFFFFF"/>
                </a:solidFill>
                <a:latin typeface="微软雅黑" panose="020B0503020204020204" charset="-122"/>
                <a:ea typeface="微软雅黑" panose="020B0503020204020204" charset="-122"/>
              </a:endParaRPr>
            </a:p>
          </p:txBody>
        </p:sp>
        <p:sp>
          <p:nvSpPr>
            <p:cNvPr id="22" name="箭头: 左右 12"/>
            <p:cNvSpPr/>
            <p:nvPr/>
          </p:nvSpPr>
          <p:spPr>
            <a:xfrm>
              <a:off x="8352305" y="4304291"/>
              <a:ext cx="1330431" cy="468034"/>
            </a:xfrm>
            <a:prstGeom prst="leftRightArrow">
              <a:avLst/>
            </a:prstGeom>
            <a:solidFill>
              <a:srgbClr val="000000">
                <a:lumMod val="75000"/>
                <a:lumOff val="25000"/>
              </a:srgbClr>
            </a:solidFill>
          </p:spPr>
          <p:style>
            <a:lnRef idx="0">
              <a:srgbClr val="00BBC2"/>
            </a:lnRef>
            <a:fillRef idx="3">
              <a:srgbClr val="00BBC2"/>
            </a:fillRef>
            <a:effectRef idx="3">
              <a:srgbClr val="00BBC2"/>
            </a:effectRef>
            <a:fontRef idx="minor">
              <a:srgbClr val="FFFFFF"/>
            </a:fontRef>
          </p:style>
          <p:txBody>
            <a:bodyPr rtlCol="0" anchor="ctr"/>
            <a:lstStyle/>
            <a:p>
              <a:pPr algn="ctr"/>
              <a:r>
                <a:rPr lang="zh-CN" altLang="en-US" sz="1200" dirty="0">
                  <a:solidFill>
                    <a:srgbClr val="FFFFFF"/>
                  </a:solidFill>
                  <a:latin typeface="微软雅黑" panose="020B0503020204020204" charset="-122"/>
                  <a:ea typeface="微软雅黑" panose="020B0503020204020204" charset="-122"/>
                </a:rPr>
                <a:t>做什么计算</a:t>
              </a:r>
              <a:endParaRPr lang="zh-CN" altLang="en-US" sz="1200" dirty="0">
                <a:solidFill>
                  <a:srgbClr val="FFFFFF"/>
                </a:solidFill>
                <a:latin typeface="微软雅黑" panose="020B0503020204020204" charset="-122"/>
                <a:ea typeface="微软雅黑" panose="020B0503020204020204" charset="-122"/>
              </a:endParaRPr>
            </a:p>
          </p:txBody>
        </p:sp>
        <p:sp>
          <p:nvSpPr>
            <p:cNvPr id="23" name="箭头: 左右 13"/>
            <p:cNvSpPr/>
            <p:nvPr/>
          </p:nvSpPr>
          <p:spPr>
            <a:xfrm>
              <a:off x="8777317" y="5246922"/>
              <a:ext cx="1330431" cy="468034"/>
            </a:xfrm>
            <a:prstGeom prst="leftRightArrow">
              <a:avLst/>
            </a:prstGeom>
            <a:solidFill>
              <a:srgbClr val="000000">
                <a:lumMod val="75000"/>
                <a:lumOff val="25000"/>
              </a:srgbClr>
            </a:solidFill>
          </p:spPr>
          <p:style>
            <a:lnRef idx="0">
              <a:srgbClr val="00BBC2"/>
            </a:lnRef>
            <a:fillRef idx="3">
              <a:srgbClr val="00BBC2"/>
            </a:fillRef>
            <a:effectRef idx="3">
              <a:srgbClr val="00BBC2"/>
            </a:effectRef>
            <a:fontRef idx="minor">
              <a:srgbClr val="FFFFFF"/>
            </a:fontRef>
          </p:style>
          <p:txBody>
            <a:bodyPr rtlCol="0" anchor="ctr"/>
            <a:lstStyle/>
            <a:p>
              <a:pPr algn="ctr"/>
              <a:r>
                <a:rPr lang="zh-CN" altLang="en-US" sz="1100" dirty="0">
                  <a:solidFill>
                    <a:srgbClr val="FFFFFF"/>
                  </a:solidFill>
                  <a:latin typeface="微软雅黑" panose="020B0503020204020204" charset="-122"/>
                  <a:ea typeface="微软雅黑" panose="020B0503020204020204" charset="-122"/>
                </a:rPr>
                <a:t>推什么操作</a:t>
              </a:r>
              <a:endParaRPr lang="zh-CN" altLang="en-US" sz="1100" dirty="0">
                <a:solidFill>
                  <a:srgbClr val="FFFFFF"/>
                </a:solidFill>
                <a:latin typeface="微软雅黑" panose="020B0503020204020204" charset="-122"/>
                <a:ea typeface="微软雅黑" panose="020B0503020204020204" charset="-122"/>
              </a:endParaRPr>
            </a:p>
          </p:txBody>
        </p:sp>
        <p:sp>
          <p:nvSpPr>
            <p:cNvPr id="24" name="文本框 23"/>
            <p:cNvSpPr txBox="1"/>
            <p:nvPr/>
          </p:nvSpPr>
          <p:spPr>
            <a:xfrm>
              <a:off x="7335762" y="2422304"/>
              <a:ext cx="4213538" cy="646331"/>
            </a:xfrm>
            <a:prstGeom prst="rect">
              <a:avLst/>
            </a:prstGeom>
            <a:noFill/>
          </p:spPr>
          <p:txBody>
            <a:bodyPr wrap="square" rtlCol="0">
              <a:spAutoFit/>
            </a:bodyPr>
            <a:lstStyle/>
            <a:p>
              <a:pPr algn="ctr"/>
              <a:r>
                <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业务数据知识与业务文本知识的对齐</a:t>
              </a:r>
              <a:endParaRPr lang="en-US" altLang="zh-CN"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ctr"/>
              <a:r>
                <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rPr>
                <a:t>（统一语义构建）</a:t>
              </a:r>
              <a:endPar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25" name="箭头: 上下 33"/>
            <p:cNvSpPr/>
            <p:nvPr/>
          </p:nvSpPr>
          <p:spPr>
            <a:xfrm>
              <a:off x="6269598" y="3284994"/>
              <a:ext cx="547083" cy="2863660"/>
            </a:xfrm>
            <a:prstGeom prst="upDownArrow">
              <a:avLst>
                <a:gd name="adj1" fmla="val 61335"/>
                <a:gd name="adj2" fmla="val 38277"/>
              </a:avLst>
            </a:prstGeom>
            <a:solidFill>
              <a:srgbClr val="0046F6">
                <a:lumMod val="40000"/>
                <a:lumOff val="60000"/>
              </a:srgbClr>
            </a:solidFill>
            <a:ln>
              <a:solidFill>
                <a:srgbClr val="0046F6">
                  <a:lumMod val="40000"/>
                  <a:lumOff val="60000"/>
                </a:srgbClr>
              </a:solidFill>
            </a:ln>
          </p:spPr>
          <p:style>
            <a:lnRef idx="2">
              <a:srgbClr val="0046F6">
                <a:shade val="15000"/>
              </a:srgbClr>
            </a:lnRef>
            <a:fillRef idx="1">
              <a:srgbClr val="0046F6"/>
            </a:fillRef>
            <a:effectRef idx="0">
              <a:srgbClr val="0046F6"/>
            </a:effectRef>
            <a:fontRef idx="minor">
              <a:srgbClr val="FFFFFF"/>
            </a:fontRef>
          </p:style>
          <p:txBody>
            <a:bodyPr vert="eaVert" rtlCol="0" anchor="ctr"/>
            <a:lstStyle/>
            <a:p>
              <a:pPr algn="ctr"/>
              <a:r>
                <a:rPr lang="en-US" altLang="zh-CN" dirty="0">
                  <a:solidFill>
                    <a:srgbClr val="FFFFFF"/>
                  </a:solidFill>
                  <a:latin typeface="微软雅黑" panose="020B0503020204020204" charset="-122"/>
                  <a:ea typeface="微软雅黑" panose="020B0503020204020204" charset="-122"/>
                </a:rPr>
                <a:t>Harness Building</a:t>
              </a:r>
              <a:endParaRPr lang="en-US" altLang="zh-CN" dirty="0">
                <a:solidFill>
                  <a:srgbClr val="FFFFFF"/>
                </a:solidFill>
                <a:latin typeface="微软雅黑" panose="020B0503020204020204" charset="-122"/>
                <a:ea typeface="微软雅黑" panose="020B0503020204020204" charset="-122"/>
              </a:endParaRPr>
            </a:p>
          </p:txBody>
        </p:sp>
      </p:grpSp>
      <p:grpSp>
        <p:nvGrpSpPr>
          <p:cNvPr id="26" name="组合 25"/>
          <p:cNvGrpSpPr/>
          <p:nvPr/>
        </p:nvGrpSpPr>
        <p:grpSpPr>
          <a:xfrm>
            <a:off x="5890673" y="2390503"/>
            <a:ext cx="6622500" cy="3570077"/>
            <a:chOff x="5905913" y="2654663"/>
            <a:chExt cx="6622500" cy="3570077"/>
          </a:xfrm>
        </p:grpSpPr>
        <p:grpSp>
          <p:nvGrpSpPr>
            <p:cNvPr id="27" name="组合 26"/>
            <p:cNvGrpSpPr/>
            <p:nvPr/>
          </p:nvGrpSpPr>
          <p:grpSpPr>
            <a:xfrm>
              <a:off x="7215135" y="2654663"/>
              <a:ext cx="5313278" cy="3135049"/>
              <a:chOff x="833254" y="2575259"/>
              <a:chExt cx="5313278" cy="3135049"/>
            </a:xfrm>
          </p:grpSpPr>
          <p:sp>
            <p:nvSpPr>
              <p:cNvPr id="28" name="文本框 27"/>
              <p:cNvSpPr txBox="1"/>
              <p:nvPr/>
            </p:nvSpPr>
            <p:spPr>
              <a:xfrm>
                <a:off x="833254" y="3609691"/>
                <a:ext cx="5313278" cy="400110"/>
              </a:xfrm>
              <a:prstGeom prst="rect">
                <a:avLst/>
              </a:prstGeom>
              <a:noFill/>
            </p:spPr>
            <p:txBody>
              <a:bodyPr wrap="square" rtlCol="0">
                <a:spAutoFit/>
              </a:bodyPr>
              <a:lstStyle/>
              <a:p>
                <a:r>
                  <a:rPr lang="en-US" altLang="zh-CN" sz="20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Data Knowledge       </a:t>
                </a:r>
                <a:r>
                  <a:rPr lang="en-US" altLang="zh-CN"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a:t>
                </a:r>
                <a:r>
                  <a:rPr lang="zh-CN" altLang="en-US"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数据、文件、图像</a:t>
                </a:r>
                <a:r>
                  <a:rPr lang="en-US" altLang="zh-CN"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a:t>
                </a:r>
                <a:endParaRPr lang="zh-CN" altLang="en-US" sz="2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833254" y="4461805"/>
                <a:ext cx="5313278" cy="398780"/>
              </a:xfrm>
              <a:prstGeom prst="rect">
                <a:avLst/>
              </a:prstGeom>
              <a:noFill/>
            </p:spPr>
            <p:txBody>
              <a:bodyPr wrap="square" rtlCol="0">
                <a:spAutoFit/>
              </a:bodyPr>
              <a:lstStyle/>
              <a:p>
                <a:r>
                  <a:rPr lang="en-US" altLang="zh-CN" sz="20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Logic Knowledge      </a:t>
                </a:r>
                <a:r>
                  <a:rPr lang="en-US" altLang="zh-CN"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a:t>
                </a:r>
                <a:r>
                  <a:rPr lang="zh-CN" altLang="en-US"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指标、算法、规则</a:t>
                </a:r>
                <a:r>
                  <a:rPr lang="en-US" altLang="zh-CN"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a:t>
                </a:r>
                <a:endParaRPr lang="zh-CN" altLang="en-US" sz="2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833254" y="5311528"/>
                <a:ext cx="5313278" cy="398780"/>
              </a:xfrm>
              <a:prstGeom prst="rect">
                <a:avLst/>
              </a:prstGeom>
              <a:noFill/>
            </p:spPr>
            <p:txBody>
              <a:bodyPr wrap="square" rtlCol="0">
                <a:spAutoFit/>
              </a:bodyPr>
              <a:lstStyle/>
              <a:p>
                <a:r>
                  <a:rPr lang="en-US" altLang="zh-CN" sz="20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Action Knowledge     </a:t>
                </a:r>
                <a:r>
                  <a:rPr lang="en-US" altLang="zh-CN"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a:t>
                </a:r>
                <a:r>
                  <a:rPr lang="zh-CN" altLang="en-US"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流程、事件、接口</a:t>
                </a:r>
                <a:r>
                  <a:rPr lang="en-US" altLang="zh-CN" sz="16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a:t>
                </a:r>
                <a:endParaRPr lang="zh-CN" altLang="en-US" sz="2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1075700" y="2575259"/>
                <a:ext cx="4213538" cy="369332"/>
              </a:xfrm>
              <a:prstGeom prst="rect">
                <a:avLst/>
              </a:prstGeom>
              <a:noFill/>
            </p:spPr>
            <p:txBody>
              <a:bodyPr wrap="square" rtlCol="0">
                <a:spAutoFit/>
              </a:bodyPr>
              <a:lstStyle/>
              <a:p>
                <a:pPr algn="ctr"/>
                <a:r>
                  <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rPr>
                  <a:t>企业数字化运行知识结构的表达范式</a:t>
                </a:r>
                <a:endParaRPr lang="zh-CN" altLang="en-US" b="1" dirty="0">
                  <a:solidFill>
                    <a:schemeClr val="accent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sp>
          <p:nvSpPr>
            <p:cNvPr id="39" name="箭头: 右 31"/>
            <p:cNvSpPr/>
            <p:nvPr/>
          </p:nvSpPr>
          <p:spPr>
            <a:xfrm>
              <a:off x="5905913" y="4138842"/>
              <a:ext cx="391768" cy="1111860"/>
            </a:xfrm>
            <a:prstGeom prst="rightArrow">
              <a:avLst>
                <a:gd name="adj1" fmla="val 72653"/>
                <a:gd name="adj2" fmla="val 50000"/>
              </a:avLst>
            </a:prstGeom>
            <a:solidFill>
              <a:srgbClr val="0046F6">
                <a:lumMod val="40000"/>
                <a:lumOff val="60000"/>
              </a:srgbClr>
            </a:solidFill>
            <a:ln>
              <a:solidFill>
                <a:srgbClr val="0046F6">
                  <a:lumMod val="40000"/>
                  <a:lumOff val="60000"/>
                </a:srgbClr>
              </a:solidFill>
            </a:ln>
          </p:spPr>
          <p:style>
            <a:lnRef idx="2">
              <a:srgbClr val="0046F6">
                <a:shade val="15000"/>
              </a:srgbClr>
            </a:lnRef>
            <a:fillRef idx="1">
              <a:srgbClr val="0046F6"/>
            </a:fillRef>
            <a:effectRef idx="0">
              <a:srgbClr val="0046F6"/>
            </a:effectRef>
            <a:fontRef idx="minor">
              <a:srgbClr val="FFFFFF"/>
            </a:fontRef>
          </p:style>
          <p:txBody>
            <a:bodyPr rot="0" spcFirstLastPara="0" vertOverflow="overflow" horzOverflow="overflow" vert="eaVert" wrap="square" lIns="91440" tIns="45720" rIns="91440" bIns="45720" numCol="1" spcCol="0" rtlCol="0" fromWordArt="0" anchor="ctr" anchorCtr="0" forceAA="0" compatLnSpc="1">
              <a:noAutofit/>
            </a:bodyPr>
            <a:lstStyle/>
            <a:p>
              <a:pPr algn="ctr"/>
              <a:endParaRPr lang="zh-CN" altLang="en-US">
                <a:solidFill>
                  <a:srgbClr val="FFFFFF"/>
                </a:solidFill>
                <a:latin typeface="微软雅黑" panose="020B0503020204020204" charset="-122"/>
                <a:ea typeface="微软雅黑" panose="020B0503020204020204" charset="-122"/>
              </a:endParaRPr>
            </a:p>
          </p:txBody>
        </p:sp>
        <p:sp>
          <p:nvSpPr>
            <p:cNvPr id="40" name="箭头: 上下 36"/>
            <p:cNvSpPr/>
            <p:nvPr/>
          </p:nvSpPr>
          <p:spPr>
            <a:xfrm>
              <a:off x="6555777" y="3361080"/>
              <a:ext cx="547083" cy="2863660"/>
            </a:xfrm>
            <a:prstGeom prst="upDownArrow">
              <a:avLst>
                <a:gd name="adj1" fmla="val 61335"/>
                <a:gd name="adj2" fmla="val 38277"/>
              </a:avLst>
            </a:prstGeom>
            <a:solidFill>
              <a:srgbClr val="0046F6">
                <a:lumMod val="40000"/>
                <a:lumOff val="60000"/>
              </a:srgbClr>
            </a:solidFill>
            <a:ln>
              <a:solidFill>
                <a:srgbClr val="0046F6">
                  <a:lumMod val="40000"/>
                  <a:lumOff val="60000"/>
                </a:srgbClr>
              </a:solidFill>
            </a:ln>
          </p:spPr>
          <p:style>
            <a:lnRef idx="2">
              <a:srgbClr val="0046F6">
                <a:shade val="15000"/>
              </a:srgbClr>
            </a:lnRef>
            <a:fillRef idx="1">
              <a:srgbClr val="0046F6"/>
            </a:fillRef>
            <a:effectRef idx="0">
              <a:srgbClr val="0046F6"/>
            </a:effectRef>
            <a:fontRef idx="minor">
              <a:srgbClr val="FFFFFF"/>
            </a:fontRef>
          </p:style>
          <p:txBody>
            <a:bodyPr vert="eaVert" rtlCol="0" anchor="ctr"/>
            <a:lstStyle/>
            <a:p>
              <a:pPr algn="ctr"/>
              <a:r>
                <a:rPr lang="en-US" altLang="zh-CN" dirty="0">
                  <a:solidFill>
                    <a:srgbClr val="FFFFFF"/>
                  </a:solidFill>
                  <a:latin typeface="微软雅黑" panose="020B0503020204020204" charset="-122"/>
                  <a:ea typeface="微软雅黑" panose="020B0503020204020204" charset="-122"/>
                </a:rPr>
                <a:t>Ontology  Building</a:t>
              </a:r>
              <a:endParaRPr lang="en-US" altLang="zh-CN" dirty="0">
                <a:solidFill>
                  <a:srgbClr val="FFFFFF"/>
                </a:solidFill>
                <a:latin typeface="微软雅黑" panose="020B0503020204020204" charset="-122"/>
                <a:ea typeface="微软雅黑" panose="020B0503020204020204" charset="-122"/>
              </a:endParaRPr>
            </a:p>
          </p:txBody>
        </p:sp>
      </p:grpSp>
      <p:sp>
        <p:nvSpPr>
          <p:cNvPr id="41" name="圆角矩形 9"/>
          <p:cNvSpPr/>
          <p:nvPr/>
        </p:nvSpPr>
        <p:spPr bwMode="auto">
          <a:xfrm>
            <a:off x="508635" y="906145"/>
            <a:ext cx="10921365" cy="1176655"/>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dirty="0">
                <a:effectLst/>
                <a:latin typeface="微软雅黑" panose="020B0503020204020204" charset="-122"/>
                <a:ea typeface="微软雅黑" panose="020B0503020204020204" charset="-122"/>
              </a:rPr>
              <a:t>企业级</a:t>
            </a:r>
            <a:r>
              <a:rPr lang="en-US" altLang="zh-CN" sz="1600" dirty="0">
                <a:effectLst/>
                <a:latin typeface="微软雅黑" panose="020B0503020204020204" charset="-122"/>
                <a:ea typeface="微软雅黑" panose="020B0503020204020204" charset="-122"/>
              </a:rPr>
              <a:t> Harness </a:t>
            </a:r>
            <a:r>
              <a:rPr lang="zh-CN" altLang="en-US" sz="1600" dirty="0">
                <a:effectLst/>
                <a:latin typeface="微软雅黑" panose="020B0503020204020204" charset="-122"/>
                <a:ea typeface="微软雅黑" panose="020B0503020204020204" charset="-122"/>
              </a:rPr>
              <a:t>将突破非结构化业务语义壁垒，对接数字化生产环境：</a:t>
            </a:r>
            <a:r>
              <a:rPr lang="zh-CN" altLang="en-US" sz="1600" b="1" dirty="0">
                <a:solidFill>
                  <a:srgbClr val="C00000"/>
                </a:solidFill>
                <a:effectLst/>
                <a:latin typeface="微软雅黑" panose="020B0503020204020204" charset="-122"/>
                <a:ea typeface="微软雅黑" panose="020B0503020204020204" charset="-122"/>
              </a:rPr>
              <a:t>通过统一语义实体体系，补充完善结构化计算体系的</a:t>
            </a:r>
            <a:r>
              <a:rPr lang="en-US" altLang="zh-CN" sz="1600" b="1" dirty="0">
                <a:solidFill>
                  <a:srgbClr val="C00000"/>
                </a:solidFill>
                <a:effectLst/>
                <a:latin typeface="微软雅黑" panose="020B0503020204020204" charset="-122"/>
                <a:ea typeface="微软雅黑" panose="020B0503020204020204" charset="-122"/>
              </a:rPr>
              <a:t> Data</a:t>
            </a:r>
            <a:r>
              <a:rPr lang="zh-CN" altLang="en-US" sz="1600" b="1" dirty="0">
                <a:solidFill>
                  <a:srgbClr val="C00000"/>
                </a:solidFill>
                <a:effectLst/>
                <a:latin typeface="微软雅黑" panose="020B0503020204020204" charset="-122"/>
                <a:ea typeface="微软雅黑" panose="020B0503020204020204" charset="-122"/>
              </a:rPr>
              <a:t>、</a:t>
            </a:r>
            <a:r>
              <a:rPr lang="en-US" altLang="zh-CN" sz="1600" b="1" dirty="0">
                <a:solidFill>
                  <a:srgbClr val="C00000"/>
                </a:solidFill>
                <a:effectLst/>
                <a:latin typeface="微软雅黑" panose="020B0503020204020204" charset="-122"/>
                <a:ea typeface="微软雅黑" panose="020B0503020204020204" charset="-122"/>
              </a:rPr>
              <a:t>Logic</a:t>
            </a:r>
            <a:r>
              <a:rPr lang="zh-CN" altLang="en-US" sz="1600" b="1" dirty="0">
                <a:solidFill>
                  <a:srgbClr val="C00000"/>
                </a:solidFill>
                <a:effectLst/>
                <a:latin typeface="微软雅黑" panose="020B0503020204020204" charset="-122"/>
                <a:ea typeface="微软雅黑" panose="020B0503020204020204" charset="-122"/>
              </a:rPr>
              <a:t>、</a:t>
            </a:r>
            <a:r>
              <a:rPr lang="en-US" altLang="zh-CN" sz="1600" b="1" dirty="0">
                <a:solidFill>
                  <a:srgbClr val="C00000"/>
                </a:solidFill>
                <a:effectLst/>
                <a:latin typeface="微软雅黑" panose="020B0503020204020204" charset="-122"/>
                <a:ea typeface="微软雅黑" panose="020B0503020204020204" charset="-122"/>
              </a:rPr>
              <a:t>Action </a:t>
            </a:r>
            <a:r>
              <a:rPr lang="zh-CN" altLang="en-US" sz="1600" b="1" dirty="0">
                <a:solidFill>
                  <a:srgbClr val="C00000"/>
                </a:solidFill>
                <a:effectLst/>
                <a:latin typeface="微软雅黑" panose="020B0503020204020204" charset="-122"/>
                <a:ea typeface="微软雅黑" panose="020B0503020204020204" charset="-122"/>
              </a:rPr>
              <a:t>知识，实现业务语义与生产环境的数据、规则、活动对齐，为后续</a:t>
            </a:r>
            <a:r>
              <a:rPr lang="en-US" altLang="zh-CN" sz="1600" b="1" dirty="0">
                <a:solidFill>
                  <a:srgbClr val="C00000"/>
                </a:solidFill>
                <a:effectLst/>
                <a:latin typeface="微软雅黑" panose="020B0503020204020204" charset="-122"/>
                <a:ea typeface="微软雅黑" panose="020B0503020204020204" charset="-122"/>
              </a:rPr>
              <a:t> AI </a:t>
            </a:r>
            <a:r>
              <a:rPr lang="zh-CN" altLang="en-US" sz="1600" b="1" dirty="0">
                <a:solidFill>
                  <a:srgbClr val="C00000"/>
                </a:solidFill>
                <a:effectLst/>
                <a:latin typeface="微软雅黑" panose="020B0503020204020204" charset="-122"/>
                <a:ea typeface="微软雅黑" panose="020B0503020204020204" charset="-122"/>
              </a:rPr>
              <a:t>驱动的数字化环境自动化操作预留接口、奠定基础。</a:t>
            </a:r>
            <a:endParaRPr lang="zh-CN" altLang="en-US" sz="1600" b="1" dirty="0">
              <a:solidFill>
                <a:srgbClr val="C00000"/>
              </a:solidFill>
              <a:effectLst/>
              <a:latin typeface="微软雅黑" panose="020B0503020204020204" charset="-122"/>
              <a:ea typeface="微软雅黑" panose="020B0503020204020204" charset="-122"/>
            </a:endParaRPr>
          </a:p>
        </p:txBody>
      </p:sp>
      <p:grpSp>
        <p:nvGrpSpPr>
          <p:cNvPr id="7" name="组合 6"/>
          <p:cNvGrpSpPr/>
          <p:nvPr/>
        </p:nvGrpSpPr>
        <p:grpSpPr>
          <a:xfrm>
            <a:off x="9675495" y="0"/>
            <a:ext cx="2459355" cy="171450"/>
            <a:chOff x="16516" y="0"/>
            <a:chExt cx="2594" cy="270"/>
          </a:xfrm>
        </p:grpSpPr>
        <p:sp>
          <p:nvSpPr>
            <p:cNvPr id="10" name="矩形 9"/>
            <p:cNvSpPr/>
            <p:nvPr/>
          </p:nvSpPr>
          <p:spPr>
            <a:xfrm>
              <a:off x="16516"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数字化全域延伸</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7788"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模型内化重构升级</a:t>
              </a:r>
              <a:endParaRPr lang="zh-CN" altLang="en-US" sz="1000">
                <a:latin typeface="微软雅黑" panose="020B0503020204020204" charset="-122"/>
                <a:ea typeface="微软雅黑" panose="020B0503020204020204" charset="-122"/>
              </a:endParaRPr>
            </a:p>
          </p:txBody>
        </p:sp>
      </p:gr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2.6.1 业务语义向数字化全域场景延伸</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209" name="Shape5"/>
          <p:cNvSpPr/>
          <p:nvPr>
            <p:custDataLst>
              <p:tags r:id="rId1"/>
            </p:custDataLst>
          </p:nvPr>
        </p:nvSpPr>
        <p:spPr>
          <a:xfrm>
            <a:off x="8907145" y="853440"/>
            <a:ext cx="2893060" cy="1064260"/>
          </a:xfrm>
          <a:custGeom>
            <a:avLst/>
            <a:gdLst>
              <a:gd name="connsiteX0" fmla="*/ 1622841 w 2127894"/>
              <a:gd name="connsiteY0" fmla="*/ 0 h 1080000"/>
              <a:gd name="connsiteX1" fmla="*/ 2127894 w 2127894"/>
              <a:gd name="connsiteY1" fmla="*/ 540000 h 1080000"/>
              <a:gd name="connsiteX2" fmla="*/ 1622841 w 2127894"/>
              <a:gd name="connsiteY2" fmla="*/ 1080000 h 1080000"/>
              <a:gd name="connsiteX3" fmla="*/ 1622841 w 2127894"/>
              <a:gd name="connsiteY3" fmla="*/ 932974 h 1080000"/>
              <a:gd name="connsiteX4" fmla="*/ 0 w 2127894"/>
              <a:gd name="connsiteY4" fmla="*/ 932974 h 1080000"/>
              <a:gd name="connsiteX5" fmla="*/ 367542 w 2127894"/>
              <a:gd name="connsiteY5" fmla="*/ 540000 h 1080000"/>
              <a:gd name="connsiteX6" fmla="*/ 5781 w 2127894"/>
              <a:gd name="connsiteY6" fmla="*/ 153207 h 1080000"/>
              <a:gd name="connsiteX7" fmla="*/ 1622841 w 2127894"/>
              <a:gd name="connsiteY7" fmla="*/ 153207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7894" h="1080000">
                <a:moveTo>
                  <a:pt x="1622841" y="0"/>
                </a:moveTo>
                <a:lnTo>
                  <a:pt x="2127894" y="540000"/>
                </a:lnTo>
                <a:lnTo>
                  <a:pt x="1622841" y="1080000"/>
                </a:lnTo>
                <a:lnTo>
                  <a:pt x="1622841" y="932974"/>
                </a:lnTo>
                <a:lnTo>
                  <a:pt x="0" y="932974"/>
                </a:lnTo>
                <a:lnTo>
                  <a:pt x="367542" y="540000"/>
                </a:lnTo>
                <a:lnTo>
                  <a:pt x="5781" y="153207"/>
                </a:lnTo>
                <a:lnTo>
                  <a:pt x="1622841" y="153207"/>
                </a:lnTo>
                <a:close/>
              </a:path>
            </a:pathLst>
          </a:custGeom>
          <a:solidFill>
            <a:srgbClr val="00BBC2"/>
          </a:solidFill>
          <a:ln w="38100" cap="flat">
            <a:noFill/>
            <a:prstDash val="solid"/>
            <a:miter/>
          </a:ln>
          <a:effectLst/>
        </p:spPr>
        <p:txBody>
          <a:bodyPr wrap="square" rtlCol="0" anchor="ctr">
            <a:noAutofit/>
          </a:bodyPr>
          <a:lstStyle/>
          <a:p>
            <a:pPr algn="ctr"/>
            <a:r>
              <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[5] </a:t>
            </a:r>
            <a:r>
              <a:rPr lang="zh-CN" altLang="en-US"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操作知识</a:t>
            </a:r>
            <a:endPar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a:p>
            <a:pPr algn="ctr"/>
            <a:r>
              <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                      ——</a:t>
            </a:r>
            <a:r>
              <a:rPr lang="zh-CN" altLang="en-US"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业务流程知识</a:t>
            </a:r>
            <a:endPar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p:txBody>
      </p:sp>
      <p:sp>
        <p:nvSpPr>
          <p:cNvPr id="210" name="Shape4"/>
          <p:cNvSpPr/>
          <p:nvPr>
            <p:custDataLst>
              <p:tags r:id="rId2"/>
            </p:custDataLst>
          </p:nvPr>
        </p:nvSpPr>
        <p:spPr>
          <a:xfrm>
            <a:off x="6827520" y="853440"/>
            <a:ext cx="2892425" cy="1064260"/>
          </a:xfrm>
          <a:custGeom>
            <a:avLst/>
            <a:gdLst>
              <a:gd name="connsiteX0" fmla="*/ 1622117 w 2127170"/>
              <a:gd name="connsiteY0" fmla="*/ 0 h 1080000"/>
              <a:gd name="connsiteX1" fmla="*/ 2127170 w 2127170"/>
              <a:gd name="connsiteY1" fmla="*/ 540000 h 1080000"/>
              <a:gd name="connsiteX2" fmla="*/ 1622117 w 2127170"/>
              <a:gd name="connsiteY2" fmla="*/ 1080000 h 1080000"/>
              <a:gd name="connsiteX3" fmla="*/ 1622117 w 2127170"/>
              <a:gd name="connsiteY3" fmla="*/ 932201 h 1080000"/>
              <a:gd name="connsiteX4" fmla="*/ 0 w 2127170"/>
              <a:gd name="connsiteY4" fmla="*/ 932201 h 1080000"/>
              <a:gd name="connsiteX5" fmla="*/ 366819 w 2127170"/>
              <a:gd name="connsiteY5" fmla="*/ 540000 h 1080000"/>
              <a:gd name="connsiteX6" fmla="*/ 4336 w 2127170"/>
              <a:gd name="connsiteY6" fmla="*/ 152435 h 1080000"/>
              <a:gd name="connsiteX7" fmla="*/ 1622117 w 2127170"/>
              <a:gd name="connsiteY7" fmla="*/ 152435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7170" h="1080000">
                <a:moveTo>
                  <a:pt x="1622117" y="0"/>
                </a:moveTo>
                <a:lnTo>
                  <a:pt x="2127170" y="540000"/>
                </a:lnTo>
                <a:lnTo>
                  <a:pt x="1622117" y="1080000"/>
                </a:lnTo>
                <a:lnTo>
                  <a:pt x="1622117" y="932201"/>
                </a:lnTo>
                <a:lnTo>
                  <a:pt x="0" y="932201"/>
                </a:lnTo>
                <a:lnTo>
                  <a:pt x="366819" y="540000"/>
                </a:lnTo>
                <a:lnTo>
                  <a:pt x="4336" y="152435"/>
                </a:lnTo>
                <a:lnTo>
                  <a:pt x="1622117" y="152435"/>
                </a:lnTo>
                <a:close/>
              </a:path>
            </a:pathLst>
          </a:custGeom>
          <a:solidFill>
            <a:srgbClr val="00237B"/>
          </a:solidFill>
          <a:ln w="38100" cap="flat">
            <a:noFill/>
            <a:prstDash val="solid"/>
            <a:miter/>
          </a:ln>
          <a:effectLst/>
        </p:spPr>
        <p:txBody>
          <a:bodyPr wrap="square" rtlCol="0" anchor="ctr">
            <a:noAutofit/>
          </a:bodyPr>
          <a:lstStyle/>
          <a:p>
            <a:pPr algn="ctr"/>
            <a:r>
              <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[4] </a:t>
            </a:r>
            <a:r>
              <a:rPr lang="zh-CN" altLang="en-US"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推理知识</a:t>
            </a:r>
            <a:endPar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a:p>
            <a:pPr algn="ctr"/>
            <a:r>
              <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                      ——</a:t>
            </a:r>
            <a:r>
              <a:rPr lang="zh-CN" altLang="en-US"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业务决策知识</a:t>
            </a:r>
            <a:endPar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p:txBody>
      </p:sp>
      <p:sp>
        <p:nvSpPr>
          <p:cNvPr id="211" name="Shape3"/>
          <p:cNvSpPr/>
          <p:nvPr>
            <p:custDataLst>
              <p:tags r:id="rId3"/>
            </p:custDataLst>
          </p:nvPr>
        </p:nvSpPr>
        <p:spPr>
          <a:xfrm>
            <a:off x="4584700" y="853440"/>
            <a:ext cx="2893060" cy="1064260"/>
          </a:xfrm>
          <a:custGeom>
            <a:avLst/>
            <a:gdLst>
              <a:gd name="connsiteX0" fmla="*/ 1622839 w 2127892"/>
              <a:gd name="connsiteY0" fmla="*/ 0 h 1080000"/>
              <a:gd name="connsiteX1" fmla="*/ 2127892 w 2127892"/>
              <a:gd name="connsiteY1" fmla="*/ 540000 h 1080000"/>
              <a:gd name="connsiteX2" fmla="*/ 1622839 w 2127892"/>
              <a:gd name="connsiteY2" fmla="*/ 1080000 h 1080000"/>
              <a:gd name="connsiteX3" fmla="*/ 1622839 w 2127892"/>
              <a:gd name="connsiteY3" fmla="*/ 932974 h 1080000"/>
              <a:gd name="connsiteX4" fmla="*/ 0 w 2127892"/>
              <a:gd name="connsiteY4" fmla="*/ 932974 h 1080000"/>
              <a:gd name="connsiteX5" fmla="*/ 367542 w 2127892"/>
              <a:gd name="connsiteY5" fmla="*/ 540000 h 1080000"/>
              <a:gd name="connsiteX6" fmla="*/ 5781 w 2127892"/>
              <a:gd name="connsiteY6" fmla="*/ 153207 h 1080000"/>
              <a:gd name="connsiteX7" fmla="*/ 1622839 w 2127892"/>
              <a:gd name="connsiteY7" fmla="*/ 153207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7892" h="1080000">
                <a:moveTo>
                  <a:pt x="1622839" y="0"/>
                </a:moveTo>
                <a:lnTo>
                  <a:pt x="2127892" y="540000"/>
                </a:lnTo>
                <a:lnTo>
                  <a:pt x="1622839" y="1080000"/>
                </a:lnTo>
                <a:lnTo>
                  <a:pt x="1622839" y="932974"/>
                </a:lnTo>
                <a:lnTo>
                  <a:pt x="0" y="932974"/>
                </a:lnTo>
                <a:lnTo>
                  <a:pt x="367542" y="540000"/>
                </a:lnTo>
                <a:lnTo>
                  <a:pt x="5781" y="153207"/>
                </a:lnTo>
                <a:lnTo>
                  <a:pt x="1622839" y="153207"/>
                </a:lnTo>
                <a:close/>
              </a:path>
            </a:pathLst>
          </a:custGeom>
          <a:solidFill>
            <a:srgbClr val="2A25FF"/>
          </a:solidFill>
          <a:ln w="38100" cap="flat">
            <a:noFill/>
            <a:prstDash val="solid"/>
            <a:miter/>
          </a:ln>
          <a:effectLst/>
        </p:spPr>
        <p:txBody>
          <a:bodyPr wrap="square" rtlCol="0" anchor="ctr">
            <a:noAutofit/>
          </a:bodyPr>
          <a:lstStyle/>
          <a:p>
            <a:pPr algn="ctr"/>
            <a:r>
              <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   [3]  </a:t>
            </a:r>
            <a:r>
              <a:rPr lang="zh-CN" altLang="en-US"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结构化数据</a:t>
            </a:r>
            <a:endPar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a:p>
            <a:pPr algn="ctr">
              <a:buClrTx/>
              <a:buSzTx/>
              <a:buFontTx/>
            </a:pPr>
            <a:r>
              <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              ——数据内容知识</a:t>
            </a:r>
            <a:endPar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p:txBody>
      </p:sp>
      <p:sp>
        <p:nvSpPr>
          <p:cNvPr id="212" name="Shape2"/>
          <p:cNvSpPr/>
          <p:nvPr>
            <p:custDataLst>
              <p:tags r:id="rId4"/>
            </p:custDataLst>
          </p:nvPr>
        </p:nvSpPr>
        <p:spPr>
          <a:xfrm>
            <a:off x="2505075" y="853440"/>
            <a:ext cx="2892425" cy="1064260"/>
          </a:xfrm>
          <a:custGeom>
            <a:avLst/>
            <a:gdLst>
              <a:gd name="connsiteX0" fmla="*/ 1622118 w 2127171"/>
              <a:gd name="connsiteY0" fmla="*/ 0 h 1080000"/>
              <a:gd name="connsiteX1" fmla="*/ 2127171 w 2127171"/>
              <a:gd name="connsiteY1" fmla="*/ 540000 h 1080000"/>
              <a:gd name="connsiteX2" fmla="*/ 1622118 w 2127171"/>
              <a:gd name="connsiteY2" fmla="*/ 1080000 h 1080000"/>
              <a:gd name="connsiteX3" fmla="*/ 1622118 w 2127171"/>
              <a:gd name="connsiteY3" fmla="*/ 932202 h 1080000"/>
              <a:gd name="connsiteX4" fmla="*/ 0 w 2127171"/>
              <a:gd name="connsiteY4" fmla="*/ 932202 h 1080000"/>
              <a:gd name="connsiteX5" fmla="*/ 366820 w 2127171"/>
              <a:gd name="connsiteY5" fmla="*/ 540000 h 1080000"/>
              <a:gd name="connsiteX6" fmla="*/ 4336 w 2127171"/>
              <a:gd name="connsiteY6" fmla="*/ 152435 h 1080000"/>
              <a:gd name="connsiteX7" fmla="*/ 1622118 w 2127171"/>
              <a:gd name="connsiteY7" fmla="*/ 152435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7171" h="1080000">
                <a:moveTo>
                  <a:pt x="1622118" y="0"/>
                </a:moveTo>
                <a:lnTo>
                  <a:pt x="2127171" y="540000"/>
                </a:lnTo>
                <a:lnTo>
                  <a:pt x="1622118" y="1080000"/>
                </a:lnTo>
                <a:lnTo>
                  <a:pt x="1622118" y="932202"/>
                </a:lnTo>
                <a:lnTo>
                  <a:pt x="0" y="932202"/>
                </a:lnTo>
                <a:lnTo>
                  <a:pt x="366820" y="540000"/>
                </a:lnTo>
                <a:lnTo>
                  <a:pt x="4336" y="152435"/>
                </a:lnTo>
                <a:lnTo>
                  <a:pt x="1622118" y="152435"/>
                </a:lnTo>
                <a:close/>
              </a:path>
            </a:pathLst>
          </a:custGeom>
          <a:solidFill>
            <a:srgbClr val="1F71FF"/>
          </a:solidFill>
          <a:ln w="38100" cap="flat">
            <a:noFill/>
            <a:prstDash val="solid"/>
            <a:miter/>
          </a:ln>
          <a:effectLst/>
        </p:spPr>
        <p:txBody>
          <a:bodyPr wrap="square" rtlCol="0" anchor="ctr">
            <a:noAutofit/>
          </a:bodyPr>
          <a:lstStyle/>
          <a:p>
            <a:pPr algn="ctr"/>
            <a:r>
              <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[2]  </a:t>
            </a:r>
            <a:r>
              <a:rPr lang="zh-CN" altLang="en-US"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结构化元数据</a:t>
            </a:r>
            <a:endPar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a:p>
            <a:pPr algn="ctr">
              <a:buClrTx/>
              <a:buSzTx/>
              <a:buFontTx/>
            </a:pPr>
            <a:r>
              <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                 </a:t>
            </a:r>
            <a:r>
              <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——数据资产知识</a:t>
            </a:r>
            <a:endPar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p:txBody>
      </p:sp>
      <p:cxnSp>
        <p:nvCxnSpPr>
          <p:cNvPr id="213" name="直接连接符 212"/>
          <p:cNvCxnSpPr/>
          <p:nvPr/>
        </p:nvCxnSpPr>
        <p:spPr>
          <a:xfrm>
            <a:off x="398145" y="1788160"/>
            <a:ext cx="30480" cy="4628515"/>
          </a:xfrm>
          <a:prstGeom prst="line">
            <a:avLst/>
          </a:prstGeom>
          <a:ln w="19050">
            <a:solidFill>
              <a:srgbClr val="E1E7F3">
                <a:lumMod val="90000"/>
              </a:srgbClr>
            </a:solidFill>
            <a:prstDash val="sysDot"/>
          </a:ln>
        </p:spPr>
        <p:style>
          <a:lnRef idx="1">
            <a:srgbClr val="0046F6"/>
          </a:lnRef>
          <a:fillRef idx="0">
            <a:srgbClr val="0046F6"/>
          </a:fillRef>
          <a:effectRef idx="0">
            <a:srgbClr val="0046F6"/>
          </a:effectRef>
          <a:fontRef idx="minor">
            <a:srgbClr val="000000"/>
          </a:fontRef>
        </p:style>
      </p:cxnSp>
      <p:cxnSp>
        <p:nvCxnSpPr>
          <p:cNvPr id="214" name="直接连接符 213"/>
          <p:cNvCxnSpPr/>
          <p:nvPr/>
        </p:nvCxnSpPr>
        <p:spPr>
          <a:xfrm>
            <a:off x="2642235" y="1788160"/>
            <a:ext cx="30480" cy="4628515"/>
          </a:xfrm>
          <a:prstGeom prst="line">
            <a:avLst/>
          </a:prstGeom>
          <a:ln w="19050">
            <a:solidFill>
              <a:srgbClr val="E1E7F3">
                <a:lumMod val="90000"/>
              </a:srgbClr>
            </a:solidFill>
            <a:prstDash val="sysDot"/>
          </a:ln>
        </p:spPr>
        <p:style>
          <a:lnRef idx="1">
            <a:srgbClr val="0046F6"/>
          </a:lnRef>
          <a:fillRef idx="0">
            <a:srgbClr val="0046F6"/>
          </a:fillRef>
          <a:effectRef idx="0">
            <a:srgbClr val="0046F6"/>
          </a:effectRef>
          <a:fontRef idx="minor">
            <a:srgbClr val="000000"/>
          </a:fontRef>
        </p:style>
      </p:cxnSp>
      <p:sp>
        <p:nvSpPr>
          <p:cNvPr id="215" name="文本框 214"/>
          <p:cNvSpPr txBox="1"/>
          <p:nvPr/>
        </p:nvSpPr>
        <p:spPr>
          <a:xfrm>
            <a:off x="407035" y="1917700"/>
            <a:ext cx="2244090" cy="860425"/>
          </a:xfrm>
          <a:prstGeom prst="rect">
            <a:avLst/>
          </a:prstGeom>
          <a:noFill/>
        </p:spPr>
        <p:txBody>
          <a:bodyPr wrap="square">
            <a:spAutoFit/>
          </a:bodyPr>
          <a:lstStyle/>
          <a:p>
            <a:r>
              <a:rPr lang="zh-CN" altLang="en-US" sz="1000" dirty="0">
                <a:latin typeface="微软雅黑 Light" panose="020B0502040204020203" pitchFamily="34" charset="-122"/>
                <a:ea typeface="微软雅黑 Light" panose="020B0502040204020203" pitchFamily="34" charset="-122"/>
                <a:sym typeface="微软雅黑 Light" panose="020B0502040204020203" pitchFamily="34" charset="-122"/>
              </a:rPr>
              <a:t>基于全量结构化数据资产知识，围绕业务场景、业务活动、业务对象三个层次，运用</a:t>
            </a:r>
            <a:r>
              <a:rPr lang="en-US" altLang="zh-CN" sz="1000" dirty="0">
                <a:latin typeface="微软雅黑 Light" panose="020B0502040204020203" pitchFamily="34" charset="-122"/>
                <a:ea typeface="微软雅黑 Light" panose="020B0502040204020203" pitchFamily="34" charset="-122"/>
                <a:sym typeface="微软雅黑 Light" panose="020B0502040204020203" pitchFamily="34" charset="-122"/>
              </a:rPr>
              <a:t>FEA</a:t>
            </a:r>
            <a:r>
              <a:rPr lang="zh-CN" altLang="en-US" sz="1000" dirty="0">
                <a:latin typeface="微软雅黑 Light" panose="020B0502040204020203" pitchFamily="34" charset="-122"/>
                <a:ea typeface="微软雅黑 Light" panose="020B0502040204020203" pitchFamily="34" charset="-122"/>
                <a:sym typeface="微软雅黑 Light" panose="020B0502040204020203" pitchFamily="34" charset="-122"/>
              </a:rPr>
              <a:t>本体限定生成技术，实现</a:t>
            </a:r>
            <a:r>
              <a:rPr lang="zh-CN" altLang="en-US"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结构化、非结构化的统一语义层索引构建</a:t>
            </a:r>
            <a:endParaRPr lang="zh-CN" altLang="zh-CN"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216" name="矩形: 圆角 6"/>
          <p:cNvSpPr/>
          <p:nvPr>
            <p:custDataLst>
              <p:tags r:id="rId5"/>
            </p:custDataLst>
          </p:nvPr>
        </p:nvSpPr>
        <p:spPr>
          <a:xfrm>
            <a:off x="1139190" y="3302635"/>
            <a:ext cx="791845" cy="44259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类实体抽取</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17" name="矩形: 圆角 6"/>
          <p:cNvSpPr/>
          <p:nvPr>
            <p:custDataLst>
              <p:tags r:id="rId6"/>
            </p:custDataLst>
          </p:nvPr>
        </p:nvSpPr>
        <p:spPr>
          <a:xfrm>
            <a:off x="527050" y="3302635"/>
            <a:ext cx="431800" cy="150177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统一数据资产知识本体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18" name="矩形: 圆角 6"/>
          <p:cNvSpPr/>
          <p:nvPr>
            <p:custDataLst>
              <p:tags r:id="rId7"/>
            </p:custDataLst>
          </p:nvPr>
        </p:nvSpPr>
        <p:spPr>
          <a:xfrm>
            <a:off x="536575" y="2767330"/>
            <a:ext cx="904875"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类实体文档</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19" name="矩形: 圆角 6"/>
          <p:cNvSpPr/>
          <p:nvPr>
            <p:custDataLst>
              <p:tags r:id="rId8"/>
            </p:custDataLst>
          </p:nvPr>
        </p:nvSpPr>
        <p:spPr>
          <a:xfrm>
            <a:off x="1638300" y="2767330"/>
            <a:ext cx="904875"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明细实体文档</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20" name="矩形: 圆角 6"/>
          <p:cNvSpPr/>
          <p:nvPr>
            <p:custDataLst>
              <p:tags r:id="rId9"/>
            </p:custDataLst>
          </p:nvPr>
        </p:nvSpPr>
        <p:spPr>
          <a:xfrm>
            <a:off x="1139190" y="3881120"/>
            <a:ext cx="791845" cy="44259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明细三元组抽取</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21" name="矩形: 圆角 6"/>
          <p:cNvSpPr/>
          <p:nvPr>
            <p:custDataLst>
              <p:tags r:id="rId10"/>
            </p:custDataLst>
          </p:nvPr>
        </p:nvSpPr>
        <p:spPr>
          <a:xfrm>
            <a:off x="2112010" y="3302635"/>
            <a:ext cx="431800" cy="102044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非限定三元组</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22" name="矩形: 圆角 6"/>
          <p:cNvSpPr/>
          <p:nvPr>
            <p:custDataLst>
              <p:tags r:id="rId11"/>
            </p:custDataLst>
          </p:nvPr>
        </p:nvSpPr>
        <p:spPr>
          <a:xfrm>
            <a:off x="1139190" y="4454525"/>
            <a:ext cx="140462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非结构化语义本体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23" name="矩形: 圆角 6"/>
          <p:cNvSpPr/>
          <p:nvPr>
            <p:custDataLst>
              <p:tags r:id="rId12"/>
            </p:custDataLst>
          </p:nvPr>
        </p:nvSpPr>
        <p:spPr>
          <a:xfrm>
            <a:off x="539750" y="4972050"/>
            <a:ext cx="2007235"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结构化与非结构化统一语义本体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24" name="文本框 223"/>
          <p:cNvSpPr txBox="1"/>
          <p:nvPr/>
        </p:nvSpPr>
        <p:spPr>
          <a:xfrm>
            <a:off x="938530" y="3653155"/>
            <a:ext cx="190500" cy="398780"/>
          </a:xfrm>
          <a:prstGeom prst="rect">
            <a:avLst/>
          </a:prstGeom>
          <a:noFill/>
        </p:spPr>
        <p:txBody>
          <a:bodyPr wrap="square" rtlCol="0">
            <a:spAutoFit/>
          </a:bodyPr>
          <a:lstStyle/>
          <a:p>
            <a:pPr algn="ctr"/>
            <a:r>
              <a:rPr lang="zh-CN" altLang="en-US" sz="500" dirty="0">
                <a:latin typeface="微软雅黑 Light" panose="020B0502040204020203" pitchFamily="34" charset="-122"/>
                <a:ea typeface="微软雅黑 Light" panose="020B0502040204020203" pitchFamily="34" charset="-122"/>
              </a:rPr>
              <a:t>本体限定</a:t>
            </a:r>
            <a:endParaRPr lang="zh-CN" altLang="en-US" sz="500" dirty="0">
              <a:latin typeface="微软雅黑 Light" panose="020B0502040204020203" pitchFamily="34" charset="-122"/>
              <a:ea typeface="微软雅黑 Light" panose="020B0502040204020203" pitchFamily="34" charset="-122"/>
            </a:endParaRPr>
          </a:p>
        </p:txBody>
      </p:sp>
      <p:cxnSp>
        <p:nvCxnSpPr>
          <p:cNvPr id="225" name="直接箭头连接符 224"/>
          <p:cNvCxnSpPr>
            <a:endCxn id="216" idx="1"/>
          </p:cNvCxnSpPr>
          <p:nvPr/>
        </p:nvCxnSpPr>
        <p:spPr>
          <a:xfrm>
            <a:off x="958850" y="3521710"/>
            <a:ext cx="180340" cy="254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26" name="直接箭头连接符 225"/>
          <p:cNvCxnSpPr/>
          <p:nvPr/>
        </p:nvCxnSpPr>
        <p:spPr>
          <a:xfrm>
            <a:off x="958850" y="4121785"/>
            <a:ext cx="180340" cy="254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27" name="连接符: 肘形 93"/>
          <p:cNvCxnSpPr>
            <a:stCxn id="218" idx="2"/>
            <a:endCxn id="216" idx="0"/>
          </p:cNvCxnSpPr>
          <p:nvPr/>
        </p:nvCxnSpPr>
        <p:spPr>
          <a:xfrm rot="16200000" flipH="1">
            <a:off x="1167130" y="2934335"/>
            <a:ext cx="190500" cy="546100"/>
          </a:xfrm>
          <a:prstGeom prst="bentConnector3">
            <a:avLst/>
          </a:prstGeom>
          <a:ln>
            <a:tailEnd type="triangle"/>
          </a:ln>
        </p:spPr>
        <p:style>
          <a:lnRef idx="1">
            <a:srgbClr val="0046F6"/>
          </a:lnRef>
          <a:fillRef idx="0">
            <a:srgbClr val="0046F6"/>
          </a:fillRef>
          <a:effectRef idx="0">
            <a:srgbClr val="0046F6"/>
          </a:effectRef>
          <a:fontRef idx="minor">
            <a:srgbClr val="000000"/>
          </a:fontRef>
        </p:style>
      </p:cxnSp>
      <p:cxnSp>
        <p:nvCxnSpPr>
          <p:cNvPr id="228" name="连接符: 肘形 94"/>
          <p:cNvCxnSpPr>
            <a:stCxn id="219" idx="2"/>
            <a:endCxn id="220" idx="3"/>
          </p:cNvCxnSpPr>
          <p:nvPr/>
        </p:nvCxnSpPr>
        <p:spPr>
          <a:xfrm rot="5400000">
            <a:off x="1516380" y="3526790"/>
            <a:ext cx="989965" cy="160020"/>
          </a:xfrm>
          <a:prstGeom prst="bentConnector2">
            <a:avLst/>
          </a:prstGeom>
          <a:ln>
            <a:tailEnd type="triangle"/>
          </a:ln>
        </p:spPr>
        <p:style>
          <a:lnRef idx="1">
            <a:srgbClr val="0046F6"/>
          </a:lnRef>
          <a:fillRef idx="0">
            <a:srgbClr val="0046F6"/>
          </a:fillRef>
          <a:effectRef idx="0">
            <a:srgbClr val="0046F6"/>
          </a:effectRef>
          <a:fontRef idx="minor">
            <a:srgbClr val="000000"/>
          </a:fontRef>
        </p:style>
      </p:cxnSp>
      <p:cxnSp>
        <p:nvCxnSpPr>
          <p:cNvPr id="229" name="连接符: 肘形 98"/>
          <p:cNvCxnSpPr>
            <a:stCxn id="218" idx="2"/>
            <a:endCxn id="221" idx="0"/>
          </p:cNvCxnSpPr>
          <p:nvPr/>
        </p:nvCxnSpPr>
        <p:spPr>
          <a:xfrm rot="16200000" flipH="1">
            <a:off x="1563370" y="2538730"/>
            <a:ext cx="190500" cy="1338580"/>
          </a:xfrm>
          <a:prstGeom prst="bentConnector3">
            <a:avLst>
              <a:gd name="adj1" fmla="val 50000"/>
            </a:avLst>
          </a:prstGeom>
          <a:ln>
            <a:tailEnd type="triangle"/>
          </a:ln>
        </p:spPr>
        <p:style>
          <a:lnRef idx="1">
            <a:srgbClr val="0046F6"/>
          </a:lnRef>
          <a:fillRef idx="0">
            <a:srgbClr val="0046F6"/>
          </a:fillRef>
          <a:effectRef idx="0">
            <a:srgbClr val="0046F6"/>
          </a:effectRef>
          <a:fontRef idx="minor">
            <a:srgbClr val="000000"/>
          </a:fontRef>
        </p:style>
      </p:cxnSp>
      <p:cxnSp>
        <p:nvCxnSpPr>
          <p:cNvPr id="230" name="连接符: 肘形 102"/>
          <p:cNvCxnSpPr>
            <a:stCxn id="219" idx="2"/>
            <a:endCxn id="221" idx="0"/>
          </p:cNvCxnSpPr>
          <p:nvPr/>
        </p:nvCxnSpPr>
        <p:spPr>
          <a:xfrm rot="16200000" flipH="1">
            <a:off x="2113915" y="3089275"/>
            <a:ext cx="190500" cy="236855"/>
          </a:xfrm>
          <a:prstGeom prst="bentConnector3">
            <a:avLst>
              <a:gd name="adj1" fmla="val 50000"/>
            </a:avLst>
          </a:prstGeom>
          <a:ln>
            <a:tailEnd type="triangle"/>
          </a:ln>
        </p:spPr>
        <p:style>
          <a:lnRef idx="1">
            <a:srgbClr val="0046F6"/>
          </a:lnRef>
          <a:fillRef idx="0">
            <a:srgbClr val="0046F6"/>
          </a:fillRef>
          <a:effectRef idx="0">
            <a:srgbClr val="0046F6"/>
          </a:effectRef>
          <a:fontRef idx="minor">
            <a:srgbClr val="000000"/>
          </a:fontRef>
        </p:style>
      </p:cxnSp>
      <p:cxnSp>
        <p:nvCxnSpPr>
          <p:cNvPr id="231" name="连接符: 肘形 105"/>
          <p:cNvCxnSpPr>
            <a:stCxn id="216" idx="3"/>
            <a:endCxn id="222" idx="0"/>
          </p:cNvCxnSpPr>
          <p:nvPr/>
        </p:nvCxnSpPr>
        <p:spPr>
          <a:xfrm flipH="1">
            <a:off x="1841500" y="3523615"/>
            <a:ext cx="89535" cy="930910"/>
          </a:xfrm>
          <a:prstGeom prst="bentConnector4">
            <a:avLst>
              <a:gd name="adj1" fmla="val -152777"/>
              <a:gd name="adj2" fmla="val 87236"/>
            </a:avLst>
          </a:prstGeom>
          <a:ln>
            <a:tailEnd type="triangle"/>
          </a:ln>
        </p:spPr>
        <p:style>
          <a:lnRef idx="1">
            <a:srgbClr val="0046F6"/>
          </a:lnRef>
          <a:fillRef idx="0">
            <a:srgbClr val="0046F6"/>
          </a:fillRef>
          <a:effectRef idx="0">
            <a:srgbClr val="0046F6"/>
          </a:effectRef>
          <a:fontRef idx="minor">
            <a:srgbClr val="000000"/>
          </a:fontRef>
        </p:style>
      </p:cxnSp>
      <p:cxnSp>
        <p:nvCxnSpPr>
          <p:cNvPr id="232" name="直接箭头连接符 231"/>
          <p:cNvCxnSpPr>
            <a:stCxn id="220" idx="2"/>
          </p:cNvCxnSpPr>
          <p:nvPr/>
        </p:nvCxnSpPr>
        <p:spPr>
          <a:xfrm flipH="1">
            <a:off x="1535430" y="4323080"/>
            <a:ext cx="0" cy="13081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33" name="直接箭头连接符 232"/>
          <p:cNvCxnSpPr/>
          <p:nvPr/>
        </p:nvCxnSpPr>
        <p:spPr>
          <a:xfrm flipH="1">
            <a:off x="2327275" y="4323080"/>
            <a:ext cx="0" cy="13081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34" name="直接箭头连接符 233"/>
          <p:cNvCxnSpPr>
            <a:stCxn id="217" idx="2"/>
          </p:cNvCxnSpPr>
          <p:nvPr/>
        </p:nvCxnSpPr>
        <p:spPr>
          <a:xfrm flipH="1">
            <a:off x="742950" y="4805045"/>
            <a:ext cx="0" cy="167005"/>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35" name="直接箭头连接符 234"/>
          <p:cNvCxnSpPr/>
          <p:nvPr/>
        </p:nvCxnSpPr>
        <p:spPr>
          <a:xfrm flipH="1">
            <a:off x="1837690" y="4805045"/>
            <a:ext cx="0" cy="167005"/>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pic>
        <p:nvPicPr>
          <p:cNvPr id="236" name="图片 235"/>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36575" y="5402580"/>
            <a:ext cx="2007235" cy="1089025"/>
          </a:xfrm>
          <a:prstGeom prst="rect">
            <a:avLst/>
          </a:prstGeom>
        </p:spPr>
      </p:pic>
      <p:sp>
        <p:nvSpPr>
          <p:cNvPr id="237" name="Shape1"/>
          <p:cNvSpPr/>
          <p:nvPr>
            <p:custDataLst>
              <p:tags r:id="rId14"/>
            </p:custDataLst>
          </p:nvPr>
        </p:nvSpPr>
        <p:spPr>
          <a:xfrm>
            <a:off x="419100" y="853440"/>
            <a:ext cx="2900680" cy="1064260"/>
          </a:xfrm>
          <a:custGeom>
            <a:avLst/>
            <a:gdLst>
              <a:gd name="connsiteX0" fmla="*/ 1857262 w 2433669"/>
              <a:gd name="connsiteY0" fmla="*/ 0 h 2218897"/>
              <a:gd name="connsiteX1" fmla="*/ 2433669 w 2433669"/>
              <a:gd name="connsiteY1" fmla="*/ 1109449 h 2218897"/>
              <a:gd name="connsiteX2" fmla="*/ 1857262 w 2433669"/>
              <a:gd name="connsiteY2" fmla="*/ 2218897 h 2218897"/>
              <a:gd name="connsiteX3" fmla="*/ 1857262 w 2433669"/>
              <a:gd name="connsiteY3" fmla="*/ 1915239 h 2218897"/>
              <a:gd name="connsiteX4" fmla="*/ 0 w 2433669"/>
              <a:gd name="connsiteY4" fmla="*/ 1915239 h 2218897"/>
              <a:gd name="connsiteX5" fmla="*/ 0 w 2433669"/>
              <a:gd name="connsiteY5" fmla="*/ 313182 h 2218897"/>
              <a:gd name="connsiteX6" fmla="*/ 1857262 w 2433669"/>
              <a:gd name="connsiteY6" fmla="*/ 313182 h 2218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3669" h="2218897">
                <a:moveTo>
                  <a:pt x="1857262" y="0"/>
                </a:moveTo>
                <a:lnTo>
                  <a:pt x="2433669" y="1109449"/>
                </a:lnTo>
                <a:lnTo>
                  <a:pt x="1857262" y="2218897"/>
                </a:lnTo>
                <a:lnTo>
                  <a:pt x="1857262" y="1915239"/>
                </a:lnTo>
                <a:lnTo>
                  <a:pt x="0" y="1915239"/>
                </a:lnTo>
                <a:lnTo>
                  <a:pt x="0" y="313182"/>
                </a:lnTo>
                <a:lnTo>
                  <a:pt x="1857262" y="313182"/>
                </a:lnTo>
                <a:close/>
              </a:path>
            </a:pathLst>
          </a:custGeom>
          <a:solidFill>
            <a:srgbClr val="0046F6"/>
          </a:solidFill>
          <a:ln w="38100" cap="flat">
            <a:noFill/>
            <a:prstDash val="solid"/>
            <a:miter/>
          </a:ln>
          <a:effectLst/>
        </p:spPr>
        <p:txBody>
          <a:bodyPr rtlCol="0" anchor="ctr"/>
          <a:lstStyle/>
          <a:p>
            <a:pPr algn="ctr"/>
            <a:r>
              <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   [1] </a:t>
            </a:r>
            <a:r>
              <a:rPr lang="zh-CN" altLang="en-US"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非结构化数据</a:t>
            </a:r>
            <a:endParaRPr lang="en-US" altLang="zh-CN" sz="14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a:p>
            <a:pPr algn="ctr">
              <a:buClrTx/>
              <a:buSzTx/>
              <a:buFontTx/>
            </a:pPr>
            <a:r>
              <a:rPr lang="en-US" altLang="zh-CN" sz="12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                    </a:t>
            </a:r>
            <a:r>
              <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rPr>
              <a:t>——业务语义知识</a:t>
            </a:r>
            <a:endParaRPr lang="en-US" altLang="zh-CN" sz="1100" b="1" dirty="0">
              <a:solidFill>
                <a:srgbClr val="FFFFFF"/>
              </a:solidFill>
              <a:latin typeface="微软雅黑 Light" panose="020B0502040204020203" pitchFamily="34" charset="-122"/>
              <a:ea typeface="微软雅黑 Light" panose="020B0502040204020203" pitchFamily="34" charset="-122"/>
              <a:cs typeface="微软雅黑" panose="020B0503020204020204" charset="-122"/>
              <a:sym typeface="微软雅黑" panose="020B0503020204020204" charset="-122"/>
            </a:endParaRPr>
          </a:p>
        </p:txBody>
      </p:sp>
      <p:grpSp>
        <p:nvGrpSpPr>
          <p:cNvPr id="238" name="组合 237"/>
          <p:cNvGrpSpPr/>
          <p:nvPr/>
        </p:nvGrpSpPr>
        <p:grpSpPr>
          <a:xfrm>
            <a:off x="2745740" y="1788160"/>
            <a:ext cx="2274570" cy="4629150"/>
            <a:chOff x="660" y="2862"/>
            <a:chExt cx="3582" cy="7290"/>
          </a:xfrm>
        </p:grpSpPr>
        <p:cxnSp>
          <p:nvCxnSpPr>
            <p:cNvPr id="239" name="直接连接符 238"/>
            <p:cNvCxnSpPr/>
            <p:nvPr/>
          </p:nvCxnSpPr>
          <p:spPr>
            <a:xfrm>
              <a:off x="4194" y="2862"/>
              <a:ext cx="48" cy="7289"/>
            </a:xfrm>
            <a:prstGeom prst="line">
              <a:avLst/>
            </a:prstGeom>
            <a:ln w="19050">
              <a:solidFill>
                <a:srgbClr val="E1E7F3">
                  <a:lumMod val="90000"/>
                </a:srgbClr>
              </a:solidFill>
              <a:prstDash val="sysDot"/>
            </a:ln>
          </p:spPr>
          <p:style>
            <a:lnRef idx="1">
              <a:srgbClr val="0046F6"/>
            </a:lnRef>
            <a:fillRef idx="0">
              <a:srgbClr val="0046F6"/>
            </a:fillRef>
            <a:effectRef idx="0">
              <a:srgbClr val="0046F6"/>
            </a:effectRef>
            <a:fontRef idx="minor">
              <a:srgbClr val="000000"/>
            </a:fontRef>
          </p:style>
        </p:cxnSp>
        <p:sp>
          <p:nvSpPr>
            <p:cNvPr id="240" name="文本框 239"/>
            <p:cNvSpPr txBox="1"/>
            <p:nvPr/>
          </p:nvSpPr>
          <p:spPr>
            <a:xfrm>
              <a:off x="660" y="3066"/>
              <a:ext cx="3534" cy="628"/>
            </a:xfrm>
            <a:prstGeom prst="rect">
              <a:avLst/>
            </a:prstGeom>
            <a:noFill/>
          </p:spPr>
          <p:txBody>
            <a:bodyPr wrap="square">
              <a:spAutoFit/>
            </a:bodyPr>
            <a:lstStyle/>
            <a:p>
              <a:r>
                <a:rPr lang="zh-CN" altLang="en-US" sz="1000" dirty="0">
                  <a:latin typeface="微软雅黑 Light" panose="020B0502040204020203" pitchFamily="34" charset="-122"/>
                  <a:ea typeface="微软雅黑 Light" panose="020B0502040204020203" pitchFamily="34" charset="-122"/>
                  <a:sym typeface="微软雅黑 Light" panose="020B0502040204020203" pitchFamily="34" charset="-122"/>
                </a:rPr>
                <a:t>接入全量数据资产元信息，搭建</a:t>
              </a:r>
              <a:r>
                <a:rPr lang="zh-CN" altLang="en-US"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数据资产</a:t>
              </a:r>
              <a:r>
                <a:rPr lang="en-US" altLang="zh-CN"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Ontology</a:t>
              </a:r>
              <a:r>
                <a:rPr lang="zh-CN" altLang="en-US"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知识体系</a:t>
              </a:r>
              <a:endParaRPr lang="zh-CN" altLang="zh-CN"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241" name="矩形: 圆角 6"/>
            <p:cNvSpPr/>
            <p:nvPr>
              <p:custDataLst>
                <p:tags r:id="rId15"/>
              </p:custDataLst>
            </p:nvPr>
          </p:nvSpPr>
          <p:spPr>
            <a:xfrm>
              <a:off x="837" y="4404"/>
              <a:ext cx="1425"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元数据管理</a:t>
              </a:r>
              <a:endParaRPr lang="en-US" altLang="zh-CN"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平台</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2" name="矩形: 圆角 6"/>
            <p:cNvSpPr/>
            <p:nvPr>
              <p:custDataLst>
                <p:tags r:id="rId16"/>
              </p:custDataLst>
            </p:nvPr>
          </p:nvSpPr>
          <p:spPr>
            <a:xfrm>
              <a:off x="2572" y="4404"/>
              <a:ext cx="1425"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表结构及脚本</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3" name="矩形: 圆角 6"/>
            <p:cNvSpPr/>
            <p:nvPr>
              <p:custDataLst>
                <p:tags r:id="rId17"/>
              </p:custDataLst>
            </p:nvPr>
          </p:nvSpPr>
          <p:spPr>
            <a:xfrm>
              <a:off x="837" y="5455"/>
              <a:ext cx="31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元数据本体分类映射</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4" name="矩形: 圆角 6"/>
            <p:cNvSpPr/>
            <p:nvPr>
              <p:custDataLst>
                <p:tags r:id="rId18"/>
              </p:custDataLst>
            </p:nvPr>
          </p:nvSpPr>
          <p:spPr>
            <a:xfrm>
              <a:off x="837" y="6082"/>
              <a:ext cx="6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数据表</a:t>
              </a:r>
              <a:endPar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5" name="矩形: 圆角 6"/>
            <p:cNvSpPr/>
            <p:nvPr>
              <p:custDataLst>
                <p:tags r:id="rId19"/>
              </p:custDataLst>
            </p:nvPr>
          </p:nvSpPr>
          <p:spPr>
            <a:xfrm>
              <a:off x="1557" y="6082"/>
              <a:ext cx="6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指标</a:t>
              </a:r>
              <a:endPar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6" name="矩形: 圆角 6"/>
            <p:cNvSpPr/>
            <p:nvPr>
              <p:custDataLst>
                <p:tags r:id="rId20"/>
              </p:custDataLst>
            </p:nvPr>
          </p:nvSpPr>
          <p:spPr>
            <a:xfrm>
              <a:off x="2277" y="6082"/>
              <a:ext cx="6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标签</a:t>
              </a:r>
              <a:endPar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7" name="矩形: 圆角 6"/>
            <p:cNvSpPr/>
            <p:nvPr>
              <p:custDataLst>
                <p:tags r:id="rId21"/>
              </p:custDataLst>
            </p:nvPr>
          </p:nvSpPr>
          <p:spPr>
            <a:xfrm>
              <a:off x="2998" y="6082"/>
              <a:ext cx="6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血缘</a:t>
              </a:r>
              <a:endPar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8" name="矩形: 圆角 6"/>
            <p:cNvSpPr/>
            <p:nvPr>
              <p:custDataLst>
                <p:tags r:id="rId22"/>
              </p:custDataLst>
            </p:nvPr>
          </p:nvSpPr>
          <p:spPr>
            <a:xfrm>
              <a:off x="3718" y="6082"/>
              <a:ext cx="286"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en-US" altLang="zh-CN"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a:t>
              </a:r>
              <a:endParaRPr lang="zh-CN" altLang="en-US" sz="5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49" name="箭头: 下 39"/>
            <p:cNvSpPr/>
            <p:nvPr/>
          </p:nvSpPr>
          <p:spPr>
            <a:xfrm>
              <a:off x="1421" y="5031"/>
              <a:ext cx="273" cy="359"/>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50" name="箭头: 下 40"/>
            <p:cNvSpPr/>
            <p:nvPr/>
          </p:nvSpPr>
          <p:spPr>
            <a:xfrm>
              <a:off x="3148" y="5031"/>
              <a:ext cx="273" cy="359"/>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51" name="文本框 250"/>
            <p:cNvSpPr txBox="1"/>
            <p:nvPr/>
          </p:nvSpPr>
          <p:spPr>
            <a:xfrm>
              <a:off x="1622" y="5070"/>
              <a:ext cx="796" cy="265"/>
            </a:xfrm>
            <a:prstGeom prst="rect">
              <a:avLst/>
            </a:prstGeom>
            <a:noFill/>
          </p:spPr>
          <p:txBody>
            <a:bodyPr wrap="square" rtlCol="0">
              <a:spAutoFit/>
            </a:bodyPr>
            <a:lstStyle/>
            <a:p>
              <a:r>
                <a:rPr lang="zh-CN" altLang="en-US" sz="500" dirty="0">
                  <a:latin typeface="微软雅黑 Light" panose="020B0502040204020203" pitchFamily="34" charset="-122"/>
                  <a:ea typeface="微软雅黑 Light" panose="020B0502040204020203" pitchFamily="34" charset="-122"/>
                </a:rPr>
                <a:t>元数据采集</a:t>
              </a:r>
              <a:endParaRPr lang="zh-CN" altLang="en-US" sz="500" dirty="0">
                <a:latin typeface="微软雅黑 Light" panose="020B0502040204020203" pitchFamily="34" charset="-122"/>
                <a:ea typeface="微软雅黑 Light" panose="020B0502040204020203" pitchFamily="34" charset="-122"/>
              </a:endParaRPr>
            </a:p>
          </p:txBody>
        </p:sp>
        <p:sp>
          <p:nvSpPr>
            <p:cNvPr id="252" name="文本框 251"/>
            <p:cNvSpPr txBox="1"/>
            <p:nvPr/>
          </p:nvSpPr>
          <p:spPr>
            <a:xfrm>
              <a:off x="3347" y="5070"/>
              <a:ext cx="796" cy="265"/>
            </a:xfrm>
            <a:prstGeom prst="rect">
              <a:avLst/>
            </a:prstGeom>
            <a:noFill/>
          </p:spPr>
          <p:txBody>
            <a:bodyPr wrap="square" rtlCol="0">
              <a:spAutoFit/>
            </a:bodyPr>
            <a:lstStyle/>
            <a:p>
              <a:r>
                <a:rPr lang="zh-CN" altLang="en-US" sz="500" dirty="0">
                  <a:latin typeface="微软雅黑 Light" panose="020B0502040204020203" pitchFamily="34" charset="-122"/>
                  <a:ea typeface="微软雅黑 Light" panose="020B0502040204020203" pitchFamily="34" charset="-122"/>
                </a:rPr>
                <a:t>元数据解析</a:t>
              </a:r>
              <a:endParaRPr lang="zh-CN" altLang="en-US" sz="500" dirty="0">
                <a:latin typeface="微软雅黑 Light" panose="020B0502040204020203" pitchFamily="34" charset="-122"/>
                <a:ea typeface="微软雅黑 Light" panose="020B0502040204020203" pitchFamily="34" charset="-122"/>
              </a:endParaRPr>
            </a:p>
          </p:txBody>
        </p:sp>
        <p:sp>
          <p:nvSpPr>
            <p:cNvPr id="253" name="箭头: 下 44"/>
            <p:cNvSpPr/>
            <p:nvPr/>
          </p:nvSpPr>
          <p:spPr>
            <a:xfrm>
              <a:off x="1029" y="6689"/>
              <a:ext cx="273" cy="359"/>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pic>
          <p:nvPicPr>
            <p:cNvPr id="254" name="图片 253"/>
            <p:cNvPicPr>
              <a:picLocks noChangeAspect="1"/>
            </p:cNvPicPr>
            <p:nvPr/>
          </p:nvPicPr>
          <p:blipFill>
            <a:blip r:embed="rId23"/>
            <a:stretch>
              <a:fillRect/>
            </a:stretch>
          </p:blipFill>
          <p:spPr>
            <a:xfrm>
              <a:off x="768" y="8154"/>
              <a:ext cx="3328" cy="1998"/>
            </a:xfrm>
            <a:prstGeom prst="rect">
              <a:avLst/>
            </a:prstGeom>
          </p:spPr>
        </p:pic>
        <p:sp>
          <p:nvSpPr>
            <p:cNvPr id="255" name="矩形: 圆角 6"/>
            <p:cNvSpPr/>
            <p:nvPr>
              <p:custDataLst>
                <p:tags r:id="rId24"/>
              </p:custDataLst>
            </p:nvPr>
          </p:nvSpPr>
          <p:spPr>
            <a:xfrm>
              <a:off x="837" y="7123"/>
              <a:ext cx="31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统一数据资产知识本体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56" name="箭头: 下 48"/>
            <p:cNvSpPr/>
            <p:nvPr/>
          </p:nvSpPr>
          <p:spPr>
            <a:xfrm>
              <a:off x="1758" y="6701"/>
              <a:ext cx="273" cy="359"/>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57" name="箭头: 下 50"/>
            <p:cNvSpPr/>
            <p:nvPr/>
          </p:nvSpPr>
          <p:spPr>
            <a:xfrm>
              <a:off x="2471" y="6694"/>
              <a:ext cx="273" cy="359"/>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58" name="箭头: 下 51"/>
            <p:cNvSpPr/>
            <p:nvPr/>
          </p:nvSpPr>
          <p:spPr>
            <a:xfrm>
              <a:off x="3192" y="6694"/>
              <a:ext cx="273" cy="359"/>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59" name="箭头: 下 52"/>
            <p:cNvSpPr/>
            <p:nvPr/>
          </p:nvSpPr>
          <p:spPr>
            <a:xfrm>
              <a:off x="3726" y="6694"/>
              <a:ext cx="273" cy="359"/>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grpSp>
      <p:grpSp>
        <p:nvGrpSpPr>
          <p:cNvPr id="260" name="组合 259"/>
          <p:cNvGrpSpPr/>
          <p:nvPr/>
        </p:nvGrpSpPr>
        <p:grpSpPr>
          <a:xfrm>
            <a:off x="5081270" y="1788160"/>
            <a:ext cx="2260600" cy="4628515"/>
            <a:chOff x="4215" y="2862"/>
            <a:chExt cx="3560" cy="7289"/>
          </a:xfrm>
        </p:grpSpPr>
        <p:cxnSp>
          <p:nvCxnSpPr>
            <p:cNvPr id="261" name="直接连接符 260"/>
            <p:cNvCxnSpPr/>
            <p:nvPr/>
          </p:nvCxnSpPr>
          <p:spPr>
            <a:xfrm>
              <a:off x="7727" y="2862"/>
              <a:ext cx="48" cy="7289"/>
            </a:xfrm>
            <a:prstGeom prst="line">
              <a:avLst/>
            </a:prstGeom>
            <a:ln w="19050">
              <a:solidFill>
                <a:srgbClr val="E1E7F3">
                  <a:lumMod val="90000"/>
                </a:srgbClr>
              </a:solidFill>
              <a:prstDash val="sysDot"/>
            </a:ln>
          </p:spPr>
          <p:style>
            <a:lnRef idx="1">
              <a:srgbClr val="0046F6"/>
            </a:lnRef>
            <a:fillRef idx="0">
              <a:srgbClr val="0046F6"/>
            </a:fillRef>
            <a:effectRef idx="0">
              <a:srgbClr val="0046F6"/>
            </a:effectRef>
            <a:fontRef idx="minor">
              <a:srgbClr val="000000"/>
            </a:fontRef>
          </p:style>
        </p:cxnSp>
        <p:sp>
          <p:nvSpPr>
            <p:cNvPr id="262" name="文本框 261"/>
            <p:cNvSpPr txBox="1"/>
            <p:nvPr/>
          </p:nvSpPr>
          <p:spPr>
            <a:xfrm>
              <a:off x="4215" y="3066"/>
              <a:ext cx="3534" cy="871"/>
            </a:xfrm>
            <a:prstGeom prst="rect">
              <a:avLst/>
            </a:prstGeom>
            <a:noFill/>
          </p:spPr>
          <p:txBody>
            <a:bodyPr wrap="square">
              <a:spAutoFit/>
            </a:bodyPr>
            <a:lstStyle/>
            <a:p>
              <a:r>
                <a:rPr lang="zh-CN" altLang="en-US" sz="1000" dirty="0">
                  <a:latin typeface="微软雅黑 Light" panose="020B0502040204020203" pitchFamily="34" charset="-122"/>
                  <a:ea typeface="微软雅黑 Light" panose="020B0502040204020203" pitchFamily="34" charset="-122"/>
                  <a:sym typeface="微软雅黑 Light" panose="020B0502040204020203" pitchFamily="34" charset="-122"/>
                </a:rPr>
                <a:t>建立全量元数据本体与业务数据索引，按需构建专题知识图谱，搭建</a:t>
              </a:r>
              <a:r>
                <a:rPr lang="zh-CN" altLang="en-US"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多模融合数据内容</a:t>
              </a:r>
              <a:r>
                <a:rPr lang="en-US" altLang="zh-CN"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Ontology</a:t>
              </a:r>
              <a:r>
                <a:rPr lang="zh-CN" altLang="en-US"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体系</a:t>
              </a:r>
              <a:endParaRPr lang="zh-CN" altLang="zh-CN"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263" name="矩形: 圆角 6"/>
            <p:cNvSpPr/>
            <p:nvPr>
              <p:custDataLst>
                <p:tags r:id="rId25"/>
              </p:custDataLst>
            </p:nvPr>
          </p:nvSpPr>
          <p:spPr>
            <a:xfrm>
              <a:off x="4404" y="4404"/>
              <a:ext cx="31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统一数据资产知识本体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64" name="矩形: 圆角 6"/>
            <p:cNvSpPr/>
            <p:nvPr>
              <p:custDataLst>
                <p:tags r:id="rId26"/>
              </p:custDataLst>
            </p:nvPr>
          </p:nvSpPr>
          <p:spPr>
            <a:xfrm>
              <a:off x="4424" y="5332"/>
              <a:ext cx="1425" cy="1428"/>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业务数据表</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65" name="矩形: 圆角 6"/>
            <p:cNvSpPr/>
            <p:nvPr>
              <p:custDataLst>
                <p:tags r:id="rId27"/>
              </p:custDataLst>
            </p:nvPr>
          </p:nvSpPr>
          <p:spPr>
            <a:xfrm>
              <a:off x="6147" y="5310"/>
              <a:ext cx="1425"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业务数据本体定义</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66" name="矩形: 圆角 6"/>
            <p:cNvSpPr/>
            <p:nvPr>
              <p:custDataLst>
                <p:tags r:id="rId28"/>
              </p:custDataLst>
            </p:nvPr>
          </p:nvSpPr>
          <p:spPr>
            <a:xfrm>
              <a:off x="6147" y="6217"/>
              <a:ext cx="1425"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业务数据本体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67" name="矩形: 圆角 6"/>
            <p:cNvSpPr/>
            <p:nvPr>
              <p:custDataLst>
                <p:tags r:id="rId29"/>
              </p:custDataLst>
            </p:nvPr>
          </p:nvSpPr>
          <p:spPr>
            <a:xfrm>
              <a:off x="4412" y="7123"/>
              <a:ext cx="3161" cy="543"/>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多模融合专题知识图谱本体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68" name="箭头: 下 59"/>
            <p:cNvSpPr/>
            <p:nvPr/>
          </p:nvSpPr>
          <p:spPr>
            <a:xfrm>
              <a:off x="4966" y="5031"/>
              <a:ext cx="260" cy="27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69" name="箭头: 下 60"/>
            <p:cNvSpPr/>
            <p:nvPr/>
          </p:nvSpPr>
          <p:spPr>
            <a:xfrm>
              <a:off x="6717" y="5031"/>
              <a:ext cx="260" cy="27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70" name="箭头: 下 61"/>
            <p:cNvSpPr/>
            <p:nvPr/>
          </p:nvSpPr>
          <p:spPr>
            <a:xfrm>
              <a:off x="6717" y="5901"/>
              <a:ext cx="260" cy="27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71" name="箭头: 下 62"/>
            <p:cNvSpPr/>
            <p:nvPr/>
          </p:nvSpPr>
          <p:spPr>
            <a:xfrm>
              <a:off x="6717" y="6823"/>
              <a:ext cx="260" cy="27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72" name="箭头: 下 63"/>
            <p:cNvSpPr/>
            <p:nvPr/>
          </p:nvSpPr>
          <p:spPr>
            <a:xfrm>
              <a:off x="4960" y="6823"/>
              <a:ext cx="260" cy="27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73" name="文本框 272"/>
            <p:cNvSpPr txBox="1"/>
            <p:nvPr/>
          </p:nvSpPr>
          <p:spPr>
            <a:xfrm>
              <a:off x="5141" y="5023"/>
              <a:ext cx="695" cy="265"/>
            </a:xfrm>
            <a:prstGeom prst="rect">
              <a:avLst/>
            </a:prstGeom>
            <a:noFill/>
          </p:spPr>
          <p:txBody>
            <a:bodyPr wrap="square" rtlCol="0">
              <a:spAutoFit/>
            </a:bodyPr>
            <a:lstStyle/>
            <a:p>
              <a:r>
                <a:rPr lang="zh-CN" altLang="en-US" sz="500" dirty="0">
                  <a:latin typeface="微软雅黑 Light" panose="020B0502040204020203" pitchFamily="34" charset="-122"/>
                  <a:ea typeface="微软雅黑 Light" panose="020B0502040204020203" pitchFamily="34" charset="-122"/>
                </a:rPr>
                <a:t>知识索引</a:t>
              </a:r>
              <a:endParaRPr lang="zh-CN" altLang="en-US" sz="500" dirty="0">
                <a:latin typeface="微软雅黑 Light" panose="020B0502040204020203" pitchFamily="34" charset="-122"/>
                <a:ea typeface="微软雅黑 Light" panose="020B0502040204020203" pitchFamily="34" charset="-122"/>
              </a:endParaRPr>
            </a:p>
          </p:txBody>
        </p:sp>
        <p:sp>
          <p:nvSpPr>
            <p:cNvPr id="274" name="文本框 273"/>
            <p:cNvSpPr txBox="1"/>
            <p:nvPr/>
          </p:nvSpPr>
          <p:spPr>
            <a:xfrm>
              <a:off x="6860" y="5023"/>
              <a:ext cx="796" cy="265"/>
            </a:xfrm>
            <a:prstGeom prst="rect">
              <a:avLst/>
            </a:prstGeom>
            <a:noFill/>
          </p:spPr>
          <p:txBody>
            <a:bodyPr wrap="square" rtlCol="0">
              <a:spAutoFit/>
            </a:bodyPr>
            <a:lstStyle/>
            <a:p>
              <a:r>
                <a:rPr lang="zh-CN" altLang="en-US" sz="500" dirty="0">
                  <a:latin typeface="微软雅黑 Light" panose="020B0502040204020203" pitchFamily="34" charset="-122"/>
                  <a:ea typeface="微软雅黑 Light" panose="020B0502040204020203" pitchFamily="34" charset="-122"/>
                </a:rPr>
                <a:t>引用与衍生</a:t>
              </a:r>
              <a:endParaRPr lang="zh-CN" altLang="en-US" sz="500" dirty="0">
                <a:latin typeface="微软雅黑 Light" panose="020B0502040204020203" pitchFamily="34" charset="-122"/>
                <a:ea typeface="微软雅黑 Light" panose="020B0502040204020203" pitchFamily="34" charset="-122"/>
              </a:endParaRPr>
            </a:p>
          </p:txBody>
        </p:sp>
        <p:sp>
          <p:nvSpPr>
            <p:cNvPr id="275" name="文本框 274"/>
            <p:cNvSpPr txBox="1"/>
            <p:nvPr/>
          </p:nvSpPr>
          <p:spPr>
            <a:xfrm>
              <a:off x="6860" y="5918"/>
              <a:ext cx="594" cy="265"/>
            </a:xfrm>
            <a:prstGeom prst="rect">
              <a:avLst/>
            </a:prstGeom>
            <a:noFill/>
          </p:spPr>
          <p:txBody>
            <a:bodyPr wrap="square" rtlCol="0">
              <a:spAutoFit/>
            </a:bodyPr>
            <a:lstStyle/>
            <a:p>
              <a:r>
                <a:rPr lang="zh-CN" altLang="en-US" sz="500" dirty="0">
                  <a:latin typeface="微软雅黑 Light" panose="020B0502040204020203" pitchFamily="34" charset="-122"/>
                  <a:ea typeface="微软雅黑 Light" panose="020B0502040204020203" pitchFamily="34" charset="-122"/>
                </a:rPr>
                <a:t>图转换</a:t>
              </a:r>
              <a:endParaRPr lang="zh-CN" altLang="en-US" sz="500" dirty="0">
                <a:latin typeface="微软雅黑 Light" panose="020B0502040204020203" pitchFamily="34" charset="-122"/>
                <a:ea typeface="微软雅黑 Light" panose="020B0502040204020203" pitchFamily="34" charset="-122"/>
              </a:endParaRPr>
            </a:p>
          </p:txBody>
        </p:sp>
        <p:pic>
          <p:nvPicPr>
            <p:cNvPr id="276" name="图片 275"/>
            <p:cNvPicPr>
              <a:picLocks noChangeAspect="1"/>
            </p:cNvPicPr>
            <p:nvPr/>
          </p:nvPicPr>
          <p:blipFill>
            <a:blip r:embed="rId30"/>
            <a:stretch>
              <a:fillRect/>
            </a:stretch>
          </p:blipFill>
          <p:spPr>
            <a:xfrm>
              <a:off x="4396" y="8147"/>
              <a:ext cx="3227" cy="2004"/>
            </a:xfrm>
            <a:prstGeom prst="rect">
              <a:avLst/>
            </a:prstGeom>
          </p:spPr>
        </p:pic>
      </p:grpSp>
      <p:cxnSp>
        <p:nvCxnSpPr>
          <p:cNvPr id="277" name="直接连接符 276"/>
          <p:cNvCxnSpPr/>
          <p:nvPr/>
        </p:nvCxnSpPr>
        <p:spPr>
          <a:xfrm>
            <a:off x="7312660" y="1817370"/>
            <a:ext cx="30480" cy="4628515"/>
          </a:xfrm>
          <a:prstGeom prst="line">
            <a:avLst/>
          </a:prstGeom>
          <a:ln w="19050">
            <a:solidFill>
              <a:srgbClr val="E1E7F3">
                <a:lumMod val="90000"/>
              </a:srgbClr>
            </a:solidFill>
            <a:prstDash val="sysDot"/>
          </a:ln>
        </p:spPr>
        <p:style>
          <a:lnRef idx="1">
            <a:srgbClr val="0046F6"/>
          </a:lnRef>
          <a:fillRef idx="0">
            <a:srgbClr val="0046F6"/>
          </a:fillRef>
          <a:effectRef idx="0">
            <a:srgbClr val="0046F6"/>
          </a:effectRef>
          <a:fontRef idx="minor">
            <a:srgbClr val="000000"/>
          </a:fontRef>
        </p:style>
      </p:cxnSp>
      <p:cxnSp>
        <p:nvCxnSpPr>
          <p:cNvPr id="278" name="直接连接符 277"/>
          <p:cNvCxnSpPr/>
          <p:nvPr/>
        </p:nvCxnSpPr>
        <p:spPr>
          <a:xfrm>
            <a:off x="9556115" y="1817370"/>
            <a:ext cx="30480" cy="4628515"/>
          </a:xfrm>
          <a:prstGeom prst="line">
            <a:avLst/>
          </a:prstGeom>
          <a:ln w="19050">
            <a:solidFill>
              <a:srgbClr val="E1E7F3">
                <a:lumMod val="90000"/>
              </a:srgbClr>
            </a:solidFill>
            <a:prstDash val="sysDot"/>
          </a:ln>
        </p:spPr>
        <p:style>
          <a:lnRef idx="1">
            <a:srgbClr val="0046F6"/>
          </a:lnRef>
          <a:fillRef idx="0">
            <a:srgbClr val="0046F6"/>
          </a:fillRef>
          <a:effectRef idx="0">
            <a:srgbClr val="0046F6"/>
          </a:effectRef>
          <a:fontRef idx="minor">
            <a:srgbClr val="000000"/>
          </a:fontRef>
        </p:style>
      </p:cxnSp>
      <p:sp>
        <p:nvSpPr>
          <p:cNvPr id="279" name="文本框 278"/>
          <p:cNvSpPr txBox="1"/>
          <p:nvPr/>
        </p:nvSpPr>
        <p:spPr>
          <a:xfrm>
            <a:off x="7305675" y="1946910"/>
            <a:ext cx="2244090" cy="553085"/>
          </a:xfrm>
          <a:prstGeom prst="rect">
            <a:avLst/>
          </a:prstGeom>
          <a:noFill/>
        </p:spPr>
        <p:txBody>
          <a:bodyPr wrap="square">
            <a:spAutoFit/>
          </a:bodyPr>
          <a:lstStyle/>
          <a:p>
            <a:r>
              <a:rPr lang="zh-CN" altLang="en-US" sz="1000" dirty="0">
                <a:latin typeface="微软雅黑 Light" panose="020B0502040204020203" pitchFamily="34" charset="-122"/>
                <a:ea typeface="微软雅黑 Light" panose="020B0502040204020203" pitchFamily="34" charset="-122"/>
                <a:sym typeface="微软雅黑 Light" panose="020B0502040204020203" pitchFamily="34" charset="-122"/>
              </a:rPr>
              <a:t>通过血缘解析、知识抽取、专家注入等方式，补充业务规则与逻辑，构建</a:t>
            </a:r>
            <a:r>
              <a:rPr lang="zh-CN" altLang="en-US"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面向场景化的事理知识本体</a:t>
            </a:r>
            <a:endParaRPr lang="zh-CN" altLang="zh-CN"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280" name="矩形: 圆角 6"/>
          <p:cNvSpPr/>
          <p:nvPr>
            <p:custDataLst>
              <p:tags r:id="rId31"/>
            </p:custDataLst>
          </p:nvPr>
        </p:nvSpPr>
        <p:spPr>
          <a:xfrm>
            <a:off x="8824595" y="2796540"/>
            <a:ext cx="68453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数据血缘</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81" name="矩形: 圆角 6"/>
          <p:cNvSpPr/>
          <p:nvPr>
            <p:custDataLst>
              <p:tags r:id="rId32"/>
            </p:custDataLst>
          </p:nvPr>
        </p:nvSpPr>
        <p:spPr>
          <a:xfrm>
            <a:off x="8821420" y="3385820"/>
            <a:ext cx="68580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数据库设计文档</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82" name="矩形: 圆角 6"/>
          <p:cNvSpPr/>
          <p:nvPr>
            <p:custDataLst>
              <p:tags r:id="rId33"/>
            </p:custDataLst>
          </p:nvPr>
        </p:nvSpPr>
        <p:spPr>
          <a:xfrm>
            <a:off x="7392670" y="2796540"/>
            <a:ext cx="373380" cy="150177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统一数据资产知识本体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83" name="矩形: 圆角 6"/>
          <p:cNvSpPr/>
          <p:nvPr>
            <p:custDataLst>
              <p:tags r:id="rId34"/>
            </p:custDataLst>
          </p:nvPr>
        </p:nvSpPr>
        <p:spPr>
          <a:xfrm>
            <a:off x="7920355" y="2796540"/>
            <a:ext cx="75057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数据血缘计算逻辑</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84" name="矩形: 圆角 6"/>
          <p:cNvSpPr/>
          <p:nvPr>
            <p:custDataLst>
              <p:tags r:id="rId35"/>
            </p:custDataLst>
          </p:nvPr>
        </p:nvSpPr>
        <p:spPr>
          <a:xfrm>
            <a:off x="7918450" y="3388995"/>
            <a:ext cx="75057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源端系统业务逻辑</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85" name="矩形: 圆角 6"/>
          <p:cNvSpPr/>
          <p:nvPr>
            <p:custDataLst>
              <p:tags r:id="rId36"/>
            </p:custDataLst>
          </p:nvPr>
        </p:nvSpPr>
        <p:spPr>
          <a:xfrm>
            <a:off x="7918450" y="3957955"/>
            <a:ext cx="75057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业务场景分析逻辑</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86" name="矩形: 圆角 6"/>
          <p:cNvSpPr/>
          <p:nvPr>
            <p:custDataLst>
              <p:tags r:id="rId37"/>
            </p:custDataLst>
          </p:nvPr>
        </p:nvSpPr>
        <p:spPr>
          <a:xfrm>
            <a:off x="7388225" y="4483735"/>
            <a:ext cx="2118995"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面向场景决策的事理知识本体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87" name="矩形: 圆角 6"/>
          <p:cNvSpPr/>
          <p:nvPr>
            <p:custDataLst>
              <p:tags r:id="rId38"/>
            </p:custDataLst>
          </p:nvPr>
        </p:nvSpPr>
        <p:spPr>
          <a:xfrm>
            <a:off x="8821420" y="3957955"/>
            <a:ext cx="68580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专家配置</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cxnSp>
        <p:nvCxnSpPr>
          <p:cNvPr id="288" name="直接箭头连接符 287"/>
          <p:cNvCxnSpPr>
            <a:stCxn id="280" idx="1"/>
            <a:endCxn id="283" idx="3"/>
          </p:cNvCxnSpPr>
          <p:nvPr/>
        </p:nvCxnSpPr>
        <p:spPr>
          <a:xfrm flipH="1">
            <a:off x="8670925" y="2968625"/>
            <a:ext cx="154305" cy="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89" name="直接箭头连接符 288"/>
          <p:cNvCxnSpPr>
            <a:stCxn id="281" idx="1"/>
            <a:endCxn id="284" idx="3"/>
          </p:cNvCxnSpPr>
          <p:nvPr/>
        </p:nvCxnSpPr>
        <p:spPr>
          <a:xfrm flipH="1">
            <a:off x="8669020" y="3558540"/>
            <a:ext cx="152400" cy="3175"/>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90" name="直接箭头连接符 289"/>
          <p:cNvCxnSpPr>
            <a:stCxn id="287" idx="1"/>
            <a:endCxn id="285" idx="3"/>
          </p:cNvCxnSpPr>
          <p:nvPr/>
        </p:nvCxnSpPr>
        <p:spPr>
          <a:xfrm flipH="1">
            <a:off x="8669020" y="4129405"/>
            <a:ext cx="152400" cy="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291" name="直接箭头连接符 290"/>
          <p:cNvCxnSpPr>
            <a:endCxn id="283" idx="1"/>
          </p:cNvCxnSpPr>
          <p:nvPr/>
        </p:nvCxnSpPr>
        <p:spPr>
          <a:xfrm>
            <a:off x="7752080" y="2968625"/>
            <a:ext cx="168275" cy="0"/>
          </a:xfrm>
          <a:prstGeom prst="straightConnector1">
            <a:avLst/>
          </a:prstGeom>
          <a:ln>
            <a:headEnd type="triangle"/>
            <a:tailEnd type="triangle"/>
          </a:ln>
        </p:spPr>
        <p:style>
          <a:lnRef idx="1">
            <a:srgbClr val="0046F6"/>
          </a:lnRef>
          <a:fillRef idx="0">
            <a:srgbClr val="0046F6"/>
          </a:fillRef>
          <a:effectRef idx="0">
            <a:srgbClr val="0046F6"/>
          </a:effectRef>
          <a:fontRef idx="minor">
            <a:srgbClr val="000000"/>
          </a:fontRef>
        </p:style>
      </p:cxnSp>
      <p:cxnSp>
        <p:nvCxnSpPr>
          <p:cNvPr id="292" name="直接箭头连接符 291"/>
          <p:cNvCxnSpPr/>
          <p:nvPr/>
        </p:nvCxnSpPr>
        <p:spPr>
          <a:xfrm>
            <a:off x="7752080" y="3568065"/>
            <a:ext cx="168275" cy="0"/>
          </a:xfrm>
          <a:prstGeom prst="straightConnector1">
            <a:avLst/>
          </a:prstGeom>
          <a:ln>
            <a:headEnd type="triangle"/>
            <a:tailEnd type="triangle"/>
          </a:ln>
        </p:spPr>
        <p:style>
          <a:lnRef idx="1">
            <a:srgbClr val="0046F6"/>
          </a:lnRef>
          <a:fillRef idx="0">
            <a:srgbClr val="0046F6"/>
          </a:fillRef>
          <a:effectRef idx="0">
            <a:srgbClr val="0046F6"/>
          </a:effectRef>
          <a:fontRef idx="minor">
            <a:srgbClr val="000000"/>
          </a:fontRef>
        </p:style>
      </p:cxnSp>
      <p:cxnSp>
        <p:nvCxnSpPr>
          <p:cNvPr id="293" name="直接箭头连接符 292"/>
          <p:cNvCxnSpPr/>
          <p:nvPr/>
        </p:nvCxnSpPr>
        <p:spPr>
          <a:xfrm>
            <a:off x="7752080" y="4147185"/>
            <a:ext cx="168275" cy="0"/>
          </a:xfrm>
          <a:prstGeom prst="straightConnector1">
            <a:avLst/>
          </a:prstGeom>
          <a:ln>
            <a:headEnd type="triangle"/>
            <a:tailEnd type="triangle"/>
          </a:ln>
        </p:spPr>
        <p:style>
          <a:lnRef idx="1">
            <a:srgbClr val="0046F6"/>
          </a:lnRef>
          <a:fillRef idx="0">
            <a:srgbClr val="0046F6"/>
          </a:fillRef>
          <a:effectRef idx="0">
            <a:srgbClr val="0046F6"/>
          </a:effectRef>
          <a:fontRef idx="minor">
            <a:srgbClr val="000000"/>
          </a:fontRef>
        </p:style>
      </p:cxnSp>
      <p:sp>
        <p:nvSpPr>
          <p:cNvPr id="294" name="箭头: 下 167"/>
          <p:cNvSpPr/>
          <p:nvPr/>
        </p:nvSpPr>
        <p:spPr>
          <a:xfrm>
            <a:off x="7489825" y="4332605"/>
            <a:ext cx="165100" cy="17145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95" name="箭头: 下 168"/>
          <p:cNvSpPr/>
          <p:nvPr/>
        </p:nvSpPr>
        <p:spPr>
          <a:xfrm>
            <a:off x="8211185" y="4332605"/>
            <a:ext cx="165100" cy="17145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pic>
        <p:nvPicPr>
          <p:cNvPr id="296" name="图片 295"/>
          <p:cNvPicPr>
            <a:picLocks noChangeAspect="1"/>
          </p:cNvPicPr>
          <p:nvPr/>
        </p:nvPicPr>
        <p:blipFill>
          <a:blip r:embed="rId39"/>
          <a:stretch>
            <a:fillRect/>
          </a:stretch>
        </p:blipFill>
        <p:spPr>
          <a:xfrm>
            <a:off x="7456805" y="4904105"/>
            <a:ext cx="4101465" cy="1604010"/>
          </a:xfrm>
          <a:prstGeom prst="rect">
            <a:avLst/>
          </a:prstGeom>
        </p:spPr>
      </p:pic>
      <p:sp>
        <p:nvSpPr>
          <p:cNvPr id="297" name="文本框 296"/>
          <p:cNvSpPr txBox="1"/>
          <p:nvPr/>
        </p:nvSpPr>
        <p:spPr>
          <a:xfrm>
            <a:off x="9556115" y="1946910"/>
            <a:ext cx="2289175" cy="860425"/>
          </a:xfrm>
          <a:prstGeom prst="rect">
            <a:avLst/>
          </a:prstGeom>
          <a:noFill/>
        </p:spPr>
        <p:txBody>
          <a:bodyPr wrap="square">
            <a:spAutoFit/>
          </a:bodyPr>
          <a:lstStyle/>
          <a:p>
            <a:r>
              <a:rPr lang="zh-CN" altLang="en-US" sz="1000" dirty="0">
                <a:latin typeface="微软雅黑 Light" panose="020B0502040204020203" pitchFamily="34" charset="-122"/>
                <a:ea typeface="微软雅黑 Light" panose="020B0502040204020203" pitchFamily="34" charset="-122"/>
                <a:sym typeface="微软雅黑 Light" panose="020B0502040204020203" pitchFamily="34" charset="-122"/>
              </a:rPr>
              <a:t>基于源端业务系统技术文档开展本体自动化抽取构建，以功能粒度刻画系统内操作流程，以接口粒度刻画跨系统交互流程</a:t>
            </a:r>
            <a:r>
              <a:rPr lang="en-US" altLang="zh-CN" sz="1000" dirty="0">
                <a:latin typeface="微软雅黑 Light" panose="020B0502040204020203" pitchFamily="34" charset="-122"/>
                <a:ea typeface="微软雅黑 Light" panose="020B0502040204020203" pitchFamily="34" charset="-122"/>
                <a:sym typeface="微软雅黑 Light" panose="020B0502040204020203" pitchFamily="34" charset="-122"/>
              </a:rPr>
              <a:t>+</a:t>
            </a:r>
            <a:r>
              <a:rPr lang="zh-CN" altLang="en-US" sz="1000" dirty="0">
                <a:latin typeface="微软雅黑 Light" panose="020B0502040204020203" pitchFamily="34" charset="-122"/>
                <a:ea typeface="微软雅黑 Light" panose="020B0502040204020203" pitchFamily="34" charset="-122"/>
                <a:sym typeface="微软雅黑 Light" panose="020B0502040204020203" pitchFamily="34" charset="-122"/>
              </a:rPr>
              <a:t>接口，形成面</a:t>
            </a:r>
            <a:r>
              <a:rPr lang="zh-CN" altLang="en-US"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rPr>
              <a:t>向业务自主执行的业务流程知识本体</a:t>
            </a:r>
            <a:endParaRPr lang="zh-CN" altLang="zh-CN" sz="1000" b="1" dirty="0">
              <a:solidFill>
                <a:srgbClr val="FF0000"/>
              </a:solidFill>
              <a:latin typeface="微软雅黑 Light" panose="020B0502040204020203" pitchFamily="34" charset="-122"/>
              <a:ea typeface="微软雅黑 Light" panose="020B0502040204020203" pitchFamily="34" charset="-122"/>
              <a:sym typeface="微软雅黑 Light" panose="020B0502040204020203" pitchFamily="34" charset="-122"/>
            </a:endParaRPr>
          </a:p>
        </p:txBody>
      </p:sp>
      <p:sp>
        <p:nvSpPr>
          <p:cNvPr id="298" name="矩形: 圆角 6"/>
          <p:cNvSpPr/>
          <p:nvPr>
            <p:custDataLst>
              <p:tags r:id="rId40"/>
            </p:custDataLst>
          </p:nvPr>
        </p:nvSpPr>
        <p:spPr>
          <a:xfrm>
            <a:off x="11069955" y="2796540"/>
            <a:ext cx="684530" cy="93408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系统功能开发文档</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299" name="矩形: 圆角 6"/>
          <p:cNvSpPr/>
          <p:nvPr>
            <p:custDataLst>
              <p:tags r:id="rId41"/>
            </p:custDataLst>
          </p:nvPr>
        </p:nvSpPr>
        <p:spPr>
          <a:xfrm>
            <a:off x="9637395" y="2796540"/>
            <a:ext cx="373380" cy="150177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统一数据资产知识本体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300" name="矩形: 圆角 6"/>
          <p:cNvSpPr/>
          <p:nvPr>
            <p:custDataLst>
              <p:tags r:id="rId42"/>
            </p:custDataLst>
          </p:nvPr>
        </p:nvSpPr>
        <p:spPr>
          <a:xfrm>
            <a:off x="10165080" y="2796540"/>
            <a:ext cx="75057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功能</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301" name="矩形: 圆角 6"/>
          <p:cNvSpPr/>
          <p:nvPr>
            <p:custDataLst>
              <p:tags r:id="rId43"/>
            </p:custDataLst>
          </p:nvPr>
        </p:nvSpPr>
        <p:spPr>
          <a:xfrm>
            <a:off x="10163175" y="3388995"/>
            <a:ext cx="75057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en-US" altLang="zh-CN"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API</a:t>
            </a: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接口</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302" name="矩形: 圆角 6"/>
          <p:cNvSpPr/>
          <p:nvPr>
            <p:custDataLst>
              <p:tags r:id="rId44"/>
            </p:custDataLst>
          </p:nvPr>
        </p:nvSpPr>
        <p:spPr>
          <a:xfrm>
            <a:off x="10163175" y="3957955"/>
            <a:ext cx="75057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业务流程</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303" name="矩形: 圆角 6"/>
          <p:cNvSpPr/>
          <p:nvPr>
            <p:custDataLst>
              <p:tags r:id="rId45"/>
            </p:custDataLst>
          </p:nvPr>
        </p:nvSpPr>
        <p:spPr>
          <a:xfrm>
            <a:off x="9632950" y="4483735"/>
            <a:ext cx="2118995"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面向自主执行的业务流程知识本体</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sp>
        <p:nvSpPr>
          <p:cNvPr id="304" name="矩形: 圆角 6"/>
          <p:cNvSpPr/>
          <p:nvPr>
            <p:custDataLst>
              <p:tags r:id="rId46"/>
            </p:custDataLst>
          </p:nvPr>
        </p:nvSpPr>
        <p:spPr>
          <a:xfrm>
            <a:off x="11066145" y="3957955"/>
            <a:ext cx="685800" cy="344805"/>
          </a:xfrm>
          <a:prstGeom prst="roundRect">
            <a:avLst/>
          </a:prstGeom>
          <a:solidFill>
            <a:srgbClr val="0046F6">
              <a:lumMod val="20000"/>
              <a:lumOff val="80000"/>
            </a:srgbClr>
          </a:solidFill>
          <a:ln w="12700">
            <a:gradFill>
              <a:gsLst>
                <a:gs pos="0">
                  <a:srgbClr val="FFFFFF"/>
                </a:gs>
                <a:gs pos="100000">
                  <a:srgbClr val="FFFFFF">
                    <a:alpha val="0"/>
                  </a:srgbClr>
                </a:gs>
              </a:gsLst>
              <a:lin ang="2700000" scaled="0"/>
            </a:gradFill>
          </a:ln>
          <a:effectLst>
            <a:outerShdw blurRad="317500" dist="152400" dir="5400000" sx="90000" sy="90000" algn="ctr" rotWithShape="0">
              <a:srgbClr val="1F71FF">
                <a:alpha val="30000"/>
              </a:srgbClr>
            </a:outerShdw>
          </a:effectLst>
        </p:spPr>
        <p:style>
          <a:lnRef idx="2">
            <a:srgbClr val="0046F6">
              <a:shade val="50000"/>
            </a:srgbClr>
          </a:lnRef>
          <a:fillRef idx="1">
            <a:srgbClr val="0046F6"/>
          </a:fillRef>
          <a:effectRef idx="0">
            <a:srgbClr val="0046F6"/>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1pPr>
            <a:lvl2pPr marL="457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2pPr>
            <a:lvl3pPr marL="914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3pPr>
            <a:lvl4pPr marL="1371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4pPr>
            <a:lvl5pPr marL="18288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5pPr>
            <a:lvl6pPr marL="22860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6pPr>
            <a:lvl7pPr marL="27432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7pPr>
            <a:lvl8pPr marL="32004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8pPr>
            <a:lvl9pPr marL="3657600" algn="l" defTabSz="914400" rtl="0" eaLnBrk="1" latinLnBrk="0" hangingPunct="1">
              <a:defRPr sz="1800" kern="1200">
                <a:solidFill>
                  <a:srgbClr val="FFFFFF"/>
                </a:solidFill>
                <a:latin typeface="微软雅黑" panose="020B0503020204020204" charset="-122"/>
                <a:ea typeface="微软雅黑" panose="020B0503020204020204" charset="-122"/>
                <a:cs typeface="+mn-ea"/>
              </a:defRPr>
            </a:lvl9pPr>
          </a:lstStyle>
          <a:p>
            <a:pPr algn="ctr"/>
            <a:r>
              <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rPr>
              <a:t>专家配置</a:t>
            </a:r>
            <a:endParaRPr lang="zh-CN" altLang="en-US" sz="900" dirty="0">
              <a:solidFill>
                <a:srgbClr val="000000"/>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endParaRPr>
          </a:p>
        </p:txBody>
      </p:sp>
      <p:cxnSp>
        <p:nvCxnSpPr>
          <p:cNvPr id="305" name="直接箭头连接符 304"/>
          <p:cNvCxnSpPr>
            <a:endCxn id="301" idx="3"/>
          </p:cNvCxnSpPr>
          <p:nvPr/>
        </p:nvCxnSpPr>
        <p:spPr>
          <a:xfrm flipH="1">
            <a:off x="10913745" y="3558540"/>
            <a:ext cx="152400" cy="3175"/>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306" name="直接箭头连接符 305"/>
          <p:cNvCxnSpPr>
            <a:stCxn id="304" idx="1"/>
            <a:endCxn id="302" idx="3"/>
          </p:cNvCxnSpPr>
          <p:nvPr/>
        </p:nvCxnSpPr>
        <p:spPr>
          <a:xfrm flipH="1">
            <a:off x="10913745" y="4129405"/>
            <a:ext cx="152400" cy="0"/>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cxnSp>
        <p:nvCxnSpPr>
          <p:cNvPr id="307" name="直接箭头连接符 306"/>
          <p:cNvCxnSpPr>
            <a:endCxn id="300" idx="1"/>
          </p:cNvCxnSpPr>
          <p:nvPr/>
        </p:nvCxnSpPr>
        <p:spPr>
          <a:xfrm>
            <a:off x="9996805" y="2968625"/>
            <a:ext cx="168275" cy="0"/>
          </a:xfrm>
          <a:prstGeom prst="straightConnector1">
            <a:avLst/>
          </a:prstGeom>
          <a:ln>
            <a:headEnd type="triangle"/>
            <a:tailEnd type="triangle"/>
          </a:ln>
        </p:spPr>
        <p:style>
          <a:lnRef idx="1">
            <a:srgbClr val="0046F6"/>
          </a:lnRef>
          <a:fillRef idx="0">
            <a:srgbClr val="0046F6"/>
          </a:fillRef>
          <a:effectRef idx="0">
            <a:srgbClr val="0046F6"/>
          </a:effectRef>
          <a:fontRef idx="minor">
            <a:srgbClr val="000000"/>
          </a:fontRef>
        </p:style>
      </p:cxnSp>
      <p:cxnSp>
        <p:nvCxnSpPr>
          <p:cNvPr id="308" name="直接箭头连接符 307"/>
          <p:cNvCxnSpPr/>
          <p:nvPr/>
        </p:nvCxnSpPr>
        <p:spPr>
          <a:xfrm>
            <a:off x="9996805" y="3568065"/>
            <a:ext cx="168275" cy="0"/>
          </a:xfrm>
          <a:prstGeom prst="straightConnector1">
            <a:avLst/>
          </a:prstGeom>
          <a:ln>
            <a:headEnd type="triangle"/>
            <a:tailEnd type="triangle"/>
          </a:ln>
        </p:spPr>
        <p:style>
          <a:lnRef idx="1">
            <a:srgbClr val="0046F6"/>
          </a:lnRef>
          <a:fillRef idx="0">
            <a:srgbClr val="0046F6"/>
          </a:fillRef>
          <a:effectRef idx="0">
            <a:srgbClr val="0046F6"/>
          </a:effectRef>
          <a:fontRef idx="minor">
            <a:srgbClr val="000000"/>
          </a:fontRef>
        </p:style>
      </p:cxnSp>
      <p:cxnSp>
        <p:nvCxnSpPr>
          <p:cNvPr id="309" name="直接箭头连接符 308"/>
          <p:cNvCxnSpPr/>
          <p:nvPr/>
        </p:nvCxnSpPr>
        <p:spPr>
          <a:xfrm>
            <a:off x="9996805" y="4147185"/>
            <a:ext cx="168275" cy="0"/>
          </a:xfrm>
          <a:prstGeom prst="straightConnector1">
            <a:avLst/>
          </a:prstGeom>
          <a:ln>
            <a:headEnd type="triangle"/>
            <a:tailEnd type="triangle"/>
          </a:ln>
        </p:spPr>
        <p:style>
          <a:lnRef idx="1">
            <a:srgbClr val="0046F6"/>
          </a:lnRef>
          <a:fillRef idx="0">
            <a:srgbClr val="0046F6"/>
          </a:fillRef>
          <a:effectRef idx="0">
            <a:srgbClr val="0046F6"/>
          </a:effectRef>
          <a:fontRef idx="minor">
            <a:srgbClr val="000000"/>
          </a:fontRef>
        </p:style>
      </p:cxnSp>
      <p:sp>
        <p:nvSpPr>
          <p:cNvPr id="310" name="箭头: 下 185"/>
          <p:cNvSpPr/>
          <p:nvPr/>
        </p:nvSpPr>
        <p:spPr>
          <a:xfrm>
            <a:off x="9734550" y="4332605"/>
            <a:ext cx="165100" cy="17145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311" name="箭头: 下 186"/>
          <p:cNvSpPr/>
          <p:nvPr/>
        </p:nvSpPr>
        <p:spPr>
          <a:xfrm>
            <a:off x="10455910" y="4332605"/>
            <a:ext cx="165100" cy="171450"/>
          </a:xfrm>
          <a:prstGeom prst="downArrow">
            <a:avLst/>
          </a:prstGeom>
          <a:solidFill>
            <a:srgbClr val="FFFFFF">
              <a:lumMod val="95000"/>
            </a:srgbClr>
          </a:solidFill>
          <a:ln>
            <a:solidFill>
              <a:srgbClr val="CAD9FF"/>
            </a:solidFill>
          </a:ln>
        </p:spPr>
        <p:style>
          <a:lnRef idx="2">
            <a:srgbClr val="0046F6">
              <a:shade val="15000"/>
            </a:srgbClr>
          </a:lnRef>
          <a:fillRef idx="1">
            <a:srgbClr val="0046F6"/>
          </a:fillRef>
          <a:effectRef idx="0">
            <a:srgbClr val="0046F6"/>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cxnSp>
        <p:nvCxnSpPr>
          <p:cNvPr id="312" name="直接箭头连接符 311"/>
          <p:cNvCxnSpPr/>
          <p:nvPr/>
        </p:nvCxnSpPr>
        <p:spPr>
          <a:xfrm flipH="1">
            <a:off x="10913745" y="2968625"/>
            <a:ext cx="152400" cy="3175"/>
          </a:xfrm>
          <a:prstGeom prst="straightConnector1">
            <a:avLst/>
          </a:prstGeom>
          <a:ln>
            <a:tailEnd type="triangle"/>
          </a:ln>
        </p:spPr>
        <p:style>
          <a:lnRef idx="1">
            <a:srgbClr val="0046F6"/>
          </a:lnRef>
          <a:fillRef idx="0">
            <a:srgbClr val="0046F6"/>
          </a:fillRef>
          <a:effectRef idx="0">
            <a:srgbClr val="0046F6"/>
          </a:effectRef>
          <a:fontRef idx="minor">
            <a:srgbClr val="000000"/>
          </a:fontRef>
        </p:style>
      </p:cxnSp>
      <p:grpSp>
        <p:nvGrpSpPr>
          <p:cNvPr id="7" name="组合 6"/>
          <p:cNvGrpSpPr/>
          <p:nvPr/>
        </p:nvGrpSpPr>
        <p:grpSpPr>
          <a:xfrm>
            <a:off x="9675495" y="0"/>
            <a:ext cx="2459355" cy="171450"/>
            <a:chOff x="16516" y="0"/>
            <a:chExt cx="2594" cy="270"/>
          </a:xfrm>
        </p:grpSpPr>
        <p:sp>
          <p:nvSpPr>
            <p:cNvPr id="10" name="矩形 9"/>
            <p:cNvSpPr/>
            <p:nvPr/>
          </p:nvSpPr>
          <p:spPr>
            <a:xfrm>
              <a:off x="16516"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数字化全域延伸</a:t>
              </a:r>
              <a:endParaRPr lang="zh-CN" altLang="en-US" sz="1000">
                <a:latin typeface="微软雅黑" panose="020B0503020204020204" charset="-122"/>
                <a:ea typeface="微软雅黑" panose="020B0503020204020204" charset="-122"/>
              </a:endParaRPr>
            </a:p>
          </p:txBody>
        </p:sp>
        <p:sp>
          <p:nvSpPr>
            <p:cNvPr id="42" name="矩形 41"/>
            <p:cNvSpPr/>
            <p:nvPr/>
          </p:nvSpPr>
          <p:spPr>
            <a:xfrm>
              <a:off x="17788"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模型内化重构升级</a:t>
              </a:r>
              <a:endParaRPr lang="zh-CN" altLang="en-US" sz="1000">
                <a:latin typeface="微软雅黑" panose="020B0503020204020204" charset="-122"/>
                <a:ea typeface="微软雅黑" panose="020B0503020204020204" charset="-122"/>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2.6.1 基于语义本体的自主分析决策--</a:t>
            </a:r>
            <a:r>
              <a:rPr lang="zh-CN">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信贷</a:t>
            </a:r>
            <a:r>
              <a:rPr lang="zh-CN">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领域本体示例</a:t>
            </a:r>
            <a:endParaRPr lang="zh-CN">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46" name="矩形 45"/>
          <p:cNvSpPr/>
          <p:nvPr/>
        </p:nvSpPr>
        <p:spPr>
          <a:xfrm>
            <a:off x="4581525" y="1681480"/>
            <a:ext cx="3559175" cy="5088255"/>
          </a:xfrm>
          <a:prstGeom prst="rect">
            <a:avLst/>
          </a:prstGeom>
          <a:solidFill>
            <a:srgbClr val="FFFFFF">
              <a:lumMod val="95000"/>
            </a:srgbClr>
          </a:solidFill>
          <a:ln w="6350" cap="flat" cmpd="sng" algn="ctr">
            <a:solidFill>
              <a:srgbClr val="0046F6"/>
            </a:solidFill>
            <a:prstDash val="dash"/>
            <a:miter lim="800000"/>
          </a:ln>
        </p:spPr>
        <p:style>
          <a:lnRef idx="0">
            <a:srgbClr val="0046F6"/>
          </a:lnRef>
          <a:fillRef idx="0">
            <a:srgbClr val="FFFFFF"/>
          </a:fillRef>
          <a:effectRef idx="0">
            <a:srgbClr val="FFFFFF"/>
          </a:effectRef>
          <a:fontRef idx="minor">
            <a:srgbClr val="000000"/>
          </a:fontRef>
        </p:style>
        <p:txBody>
          <a:bodyPr rtlCol="0" anchor="t" anchorCtr="0"/>
          <a:lstStyle/>
          <a:p>
            <a:pPr algn="ctr"/>
            <a:r>
              <a:rPr lang="zh-CN" altLang="en-US">
                <a:solidFill>
                  <a:srgbClr val="000000"/>
                </a:solidFill>
                <a:latin typeface="微软雅黑" panose="020B0503020204020204" charset="-122"/>
                <a:ea typeface="微软雅黑" panose="020B0503020204020204" charset="-122"/>
              </a:rPr>
              <a:t>本体语义层</a:t>
            </a:r>
            <a:endParaRPr lang="zh-CN" altLang="en-US">
              <a:solidFill>
                <a:srgbClr val="000000"/>
              </a:solidFill>
              <a:latin typeface="微软雅黑" panose="020B0503020204020204" charset="-122"/>
              <a:ea typeface="微软雅黑" panose="020B0503020204020204" charset="-122"/>
            </a:endParaRPr>
          </a:p>
        </p:txBody>
      </p:sp>
      <p:sp>
        <p:nvSpPr>
          <p:cNvPr id="30" name="圆角矩形 29"/>
          <p:cNvSpPr/>
          <p:nvPr/>
        </p:nvSpPr>
        <p:spPr>
          <a:xfrm>
            <a:off x="227330" y="3606800"/>
            <a:ext cx="4155440" cy="1261745"/>
          </a:xfrm>
          <a:prstGeom prst="roundRect">
            <a:avLst/>
          </a:prstGeom>
        </p:spPr>
        <p:style>
          <a:lnRef idx="0">
            <a:srgbClr val="FFFFFF"/>
          </a:lnRef>
          <a:fillRef idx="2">
            <a:srgbClr val="0046F6"/>
          </a:fillRef>
          <a:effectRef idx="0">
            <a:srgbClr val="FFFFFF"/>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31" name="圆角矩形 30"/>
          <p:cNvSpPr/>
          <p:nvPr/>
        </p:nvSpPr>
        <p:spPr>
          <a:xfrm>
            <a:off x="231140" y="5005070"/>
            <a:ext cx="4155440" cy="1261745"/>
          </a:xfrm>
          <a:prstGeom prst="roundRect">
            <a:avLst/>
          </a:prstGeom>
        </p:spPr>
        <p:style>
          <a:lnRef idx="0">
            <a:srgbClr val="FFFFFF"/>
          </a:lnRef>
          <a:fillRef idx="2">
            <a:srgbClr val="0046F6"/>
          </a:fillRef>
          <a:effectRef idx="0">
            <a:srgbClr val="FFFFFF"/>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29" name="圆角矩形 28"/>
          <p:cNvSpPr/>
          <p:nvPr/>
        </p:nvSpPr>
        <p:spPr>
          <a:xfrm>
            <a:off x="231140" y="2192655"/>
            <a:ext cx="4155440" cy="1261745"/>
          </a:xfrm>
          <a:prstGeom prst="roundRect">
            <a:avLst/>
          </a:prstGeom>
        </p:spPr>
        <p:style>
          <a:lnRef idx="0">
            <a:srgbClr val="FFFFFF"/>
          </a:lnRef>
          <a:fillRef idx="2">
            <a:srgbClr val="0046F6"/>
          </a:fillRef>
          <a:effectRef idx="0">
            <a:srgbClr val="FFFFFF"/>
          </a:effectRef>
          <a:fontRef idx="minor">
            <a:srgbClr val="FFFFFF"/>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endParaRPr>
          </a:p>
        </p:txBody>
      </p:sp>
      <p:sp>
        <p:nvSpPr>
          <p:cNvPr id="3" name="文本框 2"/>
          <p:cNvSpPr txBox="1"/>
          <p:nvPr/>
        </p:nvSpPr>
        <p:spPr>
          <a:xfrm>
            <a:off x="386715" y="840105"/>
            <a:ext cx="11805285" cy="829945"/>
          </a:xfrm>
          <a:prstGeom prst="rect">
            <a:avLst/>
          </a:prstGeom>
        </p:spPr>
        <p:txBody>
          <a:bodyPr wrap="square">
            <a:spAutoFit/>
          </a:bodyPr>
          <a:lstStyle/>
          <a:p>
            <a:pPr marL="0" indent="0" algn="l"/>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信贷领域本体的核心价值</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a:t>
            </a:r>
            <a:endParaRPr lang="zh-CN" altLang="en-US" sz="1200" b="0" i="0">
              <a:solidFill>
                <a:srgbClr val="4B5563"/>
              </a:solidFill>
              <a:latin typeface="微软雅黑" panose="020B0503020204020204" charset="-122"/>
              <a:ea typeface="微软雅黑" panose="020B0503020204020204" charset="-122"/>
              <a:cs typeface="微软雅黑" panose="020B0503020204020204" charset="-122"/>
            </a:endParaRPr>
          </a:p>
          <a:p>
            <a:pPr marL="0" indent="0" algn="l"/>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通过本体建模，将信贷业务将实现从</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数据孤岛</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到</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知识联邦</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的飞跃。底层的各种信贷</a:t>
            </a:r>
            <a:r>
              <a:rPr lang="zh-CN" altLang="en-US" sz="1200" b="0" i="0">
                <a:solidFill>
                  <a:srgbClr val="FF0000"/>
                </a:solidFill>
                <a:latin typeface="微软雅黑" panose="020B0503020204020204" charset="-122"/>
                <a:ea typeface="微软雅黑" panose="020B0503020204020204" charset="-122"/>
                <a:cs typeface="微软雅黑" panose="020B0503020204020204" charset="-122"/>
              </a:rPr>
              <a:t>数据</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、复杂的风控</a:t>
            </a:r>
            <a:r>
              <a:rPr lang="zh-CN" altLang="en-US" sz="1200" b="0" i="0">
                <a:solidFill>
                  <a:srgbClr val="FF0000"/>
                </a:solidFill>
                <a:latin typeface="微软雅黑" panose="020B0503020204020204" charset="-122"/>
                <a:ea typeface="微软雅黑" panose="020B0503020204020204" charset="-122"/>
                <a:cs typeface="微软雅黑" panose="020B0503020204020204" charset="-122"/>
              </a:rPr>
              <a:t>逻辑</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和业务</a:t>
            </a:r>
            <a:r>
              <a:rPr lang="zh-CN" altLang="en-US" sz="1200" b="0" i="0">
                <a:solidFill>
                  <a:srgbClr val="FF0000"/>
                </a:solidFill>
                <a:latin typeface="微软雅黑" panose="020B0503020204020204" charset="-122"/>
                <a:ea typeface="微软雅黑" panose="020B0503020204020204" charset="-122"/>
                <a:cs typeface="微软雅黑" panose="020B0503020204020204" charset="-122"/>
              </a:rPr>
              <a:t>操作</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，被语义化地链接到统一的信贷业务本体中。</a:t>
            </a:r>
            <a:endParaRPr lang="zh-CN" altLang="en-US" sz="1200" b="0" i="0">
              <a:solidFill>
                <a:srgbClr val="4B5563"/>
              </a:solidFill>
              <a:latin typeface="微软雅黑" panose="020B0503020204020204" charset="-122"/>
              <a:ea typeface="微软雅黑" panose="020B0503020204020204" charset="-122"/>
              <a:cs typeface="微软雅黑" panose="020B0503020204020204" charset="-122"/>
            </a:endParaRPr>
          </a:p>
          <a:p>
            <a:pPr marL="0" indent="0" algn="l"/>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将原来碎片化的业务能力，封装成</a:t>
            </a:r>
            <a:r>
              <a:rPr lang="zh-CN" altLang="en-US" sz="1200" b="0" i="0">
                <a:solidFill>
                  <a:srgbClr val="FF0000"/>
                </a:solidFill>
                <a:latin typeface="微软雅黑" panose="020B0503020204020204" charset="-122"/>
                <a:ea typeface="微软雅黑" panose="020B0503020204020204" charset="-122"/>
                <a:cs typeface="微软雅黑" panose="020B0503020204020204" charset="-122"/>
              </a:rPr>
              <a:t>可发现、可复用、可组合</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的标准化</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“Skill</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卡片</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、MCP、Prompt”</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。无论是前端的客户经理</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APP</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，中台的风控系统，还是后端的自动化机器人，都可以通过调用这些</a:t>
            </a:r>
            <a:r>
              <a:rPr lang="en-US" altLang="zh-CN" sz="1200" b="0" i="0">
                <a:solidFill>
                  <a:srgbClr val="4B5563"/>
                </a:solidFill>
                <a:latin typeface="微软雅黑" panose="020B0503020204020204" charset="-122"/>
                <a:ea typeface="微软雅黑" panose="020B0503020204020204" charset="-122"/>
                <a:cs typeface="微软雅黑" panose="020B0503020204020204" charset="-122"/>
              </a:rPr>
              <a:t>Skill</a:t>
            </a:r>
            <a:r>
              <a:rPr lang="zh-CN" altLang="en-US" sz="1200" b="0" i="0">
                <a:solidFill>
                  <a:srgbClr val="4B5563"/>
                </a:solidFill>
                <a:latin typeface="微软雅黑" panose="020B0503020204020204" charset="-122"/>
                <a:ea typeface="微软雅黑" panose="020B0503020204020204" charset="-122"/>
                <a:cs typeface="微软雅黑" panose="020B0503020204020204" charset="-122"/>
              </a:rPr>
              <a:t>，像搭积木一样快速构建或优化业务流程，大大提升流贷审批的效率、准确性与可解释性。</a:t>
            </a:r>
            <a:endParaRPr lang="zh-CN" altLang="en-US" sz="1200" b="0" i="0">
              <a:solidFill>
                <a:srgbClr val="4B5563"/>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227330" y="5060315"/>
            <a:ext cx="4199890" cy="1219835"/>
          </a:xfrm>
          <a:prstGeom prst="rect">
            <a:avLst/>
          </a:prstGeom>
        </p:spPr>
        <p:txBody>
          <a:bodyPr wrap="square">
            <a:spAutoFit/>
          </a:bodyPr>
          <a:lstStyle/>
          <a:p>
            <a:pPr marL="0" indent="0"/>
            <a:r>
              <a:rPr lang="zh-CN" altLang="en-US" sz="1200" i="0">
                <a:solidFill>
                  <a:srgbClr val="1D4ED8"/>
                </a:solidFill>
                <a:latin typeface="微软雅黑" panose="020B0503020204020204" charset="-122"/>
                <a:ea typeface="微软雅黑" panose="020B0503020204020204" charset="-122"/>
                <a:cs typeface="微软雅黑" panose="020B0503020204020204" charset="-122"/>
              </a:rPr>
              <a:t>数据层 </a:t>
            </a:r>
            <a:r>
              <a:rPr lang="en-US" altLang="zh-CN" sz="1200" i="0">
                <a:solidFill>
                  <a:srgbClr val="1D4ED8"/>
                </a:solidFill>
                <a:latin typeface="微软雅黑" panose="020B0503020204020204" charset="-122"/>
                <a:ea typeface="微软雅黑" panose="020B0503020204020204" charset="-122"/>
                <a:cs typeface="微软雅黑" panose="020B0503020204020204" charset="-122"/>
              </a:rPr>
              <a:t>(Data Foundation)--</a:t>
            </a:r>
            <a:r>
              <a:rPr lang="zh-CN" altLang="en-US" sz="1200" i="0">
                <a:solidFill>
                  <a:srgbClr val="1D4ED8"/>
                </a:solidFill>
                <a:latin typeface="微软雅黑" panose="020B0503020204020204" charset="-122"/>
                <a:ea typeface="微软雅黑" panose="020B0503020204020204" charset="-122"/>
                <a:cs typeface="微软雅黑" panose="020B0503020204020204" charset="-122"/>
              </a:rPr>
              <a:t>结构化</a:t>
            </a:r>
            <a:r>
              <a:rPr lang="en-US" altLang="zh-CN" sz="1200" i="0">
                <a:solidFill>
                  <a:srgbClr val="1D4ED8"/>
                </a:solidFill>
                <a:latin typeface="微软雅黑" panose="020B0503020204020204" charset="-122"/>
                <a:ea typeface="微软雅黑" panose="020B0503020204020204" charset="-122"/>
                <a:cs typeface="微软雅黑" panose="020B0503020204020204" charset="-122"/>
              </a:rPr>
              <a:t>、</a:t>
            </a:r>
            <a:r>
              <a:rPr lang="zh-CN" altLang="en-US" sz="1200" i="0">
                <a:solidFill>
                  <a:srgbClr val="1D4ED8"/>
                </a:solidFill>
                <a:latin typeface="微软雅黑" panose="020B0503020204020204" charset="-122"/>
                <a:ea typeface="微软雅黑" panose="020B0503020204020204" charset="-122"/>
                <a:cs typeface="微软雅黑" panose="020B0503020204020204" charset="-122"/>
              </a:rPr>
              <a:t>非结构化</a:t>
            </a:r>
            <a:endParaRPr lang="en-US" altLang="zh-CN" sz="1200" i="0">
              <a:solidFill>
                <a:srgbClr val="1D4ED8"/>
              </a:solidFill>
              <a:latin typeface="微软雅黑" panose="020B0503020204020204" charset="-122"/>
              <a:ea typeface="微软雅黑" panose="020B0503020204020204" charset="-122"/>
              <a:cs typeface="微软雅黑" panose="020B0503020204020204" charset="-122"/>
            </a:endParaRPr>
          </a:p>
          <a:p>
            <a:pPr marL="0" algn="l">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结构化数据：核心账务、客户信息、信贷合同、征信报告</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algn="l">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非结构化数据：身份证明文件扫描件/照片、收入证明文件</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algn="l">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实时流数据：交易流水、设备行为轨迹 </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algn="l">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外部数据：工商司法、社保/公积金数据</a:t>
            </a:r>
            <a:r>
              <a:rPr lang="en-US" altLang="zh-CN" sz="1200" b="0" i="0">
                <a:solidFill>
                  <a:srgbClr val="374151"/>
                </a:solidFill>
                <a:latin typeface="微软雅黑" panose="020B0503020204020204" charset="-122"/>
                <a:ea typeface="微软雅黑" panose="020B0503020204020204" charset="-122"/>
                <a:cs typeface="微软雅黑" panose="020B0503020204020204" charset="-122"/>
              </a:rPr>
              <a:t>、</a:t>
            </a: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公安网</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248920" y="3683000"/>
            <a:ext cx="4041140" cy="1219835"/>
          </a:xfrm>
          <a:prstGeom prst="rect">
            <a:avLst/>
          </a:prstGeom>
        </p:spPr>
        <p:txBody>
          <a:bodyPr wrap="square">
            <a:spAutoFit/>
          </a:bodyPr>
          <a:lstStyle/>
          <a:p>
            <a:pPr marL="0" indent="0">
              <a:lnSpc>
                <a:spcPct val="100000"/>
              </a:lnSpc>
            </a:pPr>
            <a:r>
              <a:rPr lang="zh-CN" altLang="en-US" sz="1200" i="0">
                <a:solidFill>
                  <a:srgbClr val="15803D"/>
                </a:solidFill>
                <a:latin typeface="微软雅黑" panose="020B0503020204020204" charset="-122"/>
                <a:ea typeface="微软雅黑" panose="020B0503020204020204" charset="-122"/>
                <a:cs typeface="微软雅黑" panose="020B0503020204020204" charset="-122"/>
              </a:rPr>
              <a:t>逻辑计算层 </a:t>
            </a:r>
            <a:r>
              <a:rPr lang="en-US" altLang="zh-CN" sz="1200" i="0">
                <a:solidFill>
                  <a:srgbClr val="15803D"/>
                </a:solidFill>
                <a:latin typeface="微软雅黑" panose="020B0503020204020204" charset="-122"/>
                <a:ea typeface="微软雅黑" panose="020B0503020204020204" charset="-122"/>
                <a:cs typeface="微软雅黑" panose="020B0503020204020204" charset="-122"/>
              </a:rPr>
              <a:t>(Logic &amp; Computation)--</a:t>
            </a:r>
            <a:r>
              <a:rPr lang="zh-CN" altLang="en-US" sz="1200" i="0">
                <a:solidFill>
                  <a:srgbClr val="15803D"/>
                </a:solidFill>
                <a:latin typeface="微软雅黑" panose="020B0503020204020204" charset="-122"/>
                <a:ea typeface="微软雅黑" panose="020B0503020204020204" charset="-122"/>
                <a:cs typeface="微软雅黑" panose="020B0503020204020204" charset="-122"/>
              </a:rPr>
              <a:t>流程</a:t>
            </a:r>
            <a:r>
              <a:rPr lang="en-US" altLang="zh-CN" sz="1200" i="0">
                <a:solidFill>
                  <a:srgbClr val="15803D"/>
                </a:solidFill>
                <a:latin typeface="微软雅黑" panose="020B0503020204020204" charset="-122"/>
                <a:ea typeface="微软雅黑" panose="020B0503020204020204" charset="-122"/>
                <a:cs typeface="微软雅黑" panose="020B0503020204020204" charset="-122"/>
              </a:rPr>
              <a:t>、</a:t>
            </a:r>
            <a:r>
              <a:rPr lang="zh-CN" altLang="en-US" sz="1200" i="0">
                <a:solidFill>
                  <a:srgbClr val="15803D"/>
                </a:solidFill>
                <a:latin typeface="微软雅黑" panose="020B0503020204020204" charset="-122"/>
                <a:ea typeface="微软雅黑" panose="020B0503020204020204" charset="-122"/>
                <a:cs typeface="微软雅黑" panose="020B0503020204020204" charset="-122"/>
              </a:rPr>
              <a:t>策略</a:t>
            </a:r>
            <a:endParaRPr lang="en-US" altLang="zh-CN" sz="1200" i="0">
              <a:solidFill>
                <a:srgbClr val="15803D"/>
              </a:solidFill>
              <a:latin typeface="微软雅黑" panose="020B0503020204020204" charset="-122"/>
              <a:ea typeface="微软雅黑" panose="020B0503020204020204" charset="-122"/>
              <a:cs typeface="微软雅黑" panose="020B0503020204020204" charset="-122"/>
            </a:endParaRPr>
          </a:p>
          <a:p>
            <a:pPr marL="0" algn="l">
              <a:lnSpc>
                <a:spcPct val="100000"/>
              </a:lnSpc>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个人偿付能力算法：收入负债比</a:t>
            </a:r>
            <a:r>
              <a:rPr lang="en-US" altLang="zh-CN" sz="1200" b="0" i="0">
                <a:solidFill>
                  <a:srgbClr val="374151"/>
                </a:solidFill>
                <a:latin typeface="微软雅黑" panose="020B0503020204020204" charset="-122"/>
                <a:ea typeface="微软雅黑" panose="020B0503020204020204" charset="-122"/>
                <a:cs typeface="微软雅黑" panose="020B0503020204020204" charset="-122"/>
              </a:rPr>
              <a:t>DTI、</a:t>
            </a: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资产负债状况</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algn="l">
              <a:lnSpc>
                <a:spcPct val="100000"/>
              </a:lnSpc>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风控模型：欺诈识别模型、多头借贷模型、行为异常</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algn="l">
              <a:lnSpc>
                <a:spcPct val="100000"/>
              </a:lnSpc>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业务规则引擎：审批政策、额度计算、利率定价</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algn="l">
              <a:lnSpc>
                <a:spcPct val="100000"/>
              </a:lnSpc>
              <a:spcBef>
                <a:spcPts val="400"/>
              </a:spcBef>
              <a:buClrTx/>
              <a:buSzTx/>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知识推理引擎：关联关系推理（欺诈团伙或关联风险）</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322580" y="2247265"/>
            <a:ext cx="4041140" cy="1168400"/>
          </a:xfrm>
          <a:prstGeom prst="rect">
            <a:avLst/>
          </a:prstGeom>
        </p:spPr>
        <p:txBody>
          <a:bodyPr wrap="square">
            <a:spAutoFit/>
          </a:bodyPr>
          <a:lstStyle/>
          <a:p>
            <a:pPr marL="0" indent="0"/>
            <a:r>
              <a:rPr lang="zh-CN" altLang="en-US" sz="1200" i="0">
                <a:solidFill>
                  <a:srgbClr val="C2410C"/>
                </a:solidFill>
                <a:latin typeface="微软雅黑" panose="020B0503020204020204" charset="-122"/>
                <a:ea typeface="微软雅黑" panose="020B0503020204020204" charset="-122"/>
                <a:cs typeface="微软雅黑" panose="020B0503020204020204" charset="-122"/>
              </a:rPr>
              <a:t>操作执行层 </a:t>
            </a:r>
            <a:r>
              <a:rPr lang="en-US" altLang="zh-CN" sz="1200" i="0">
                <a:solidFill>
                  <a:srgbClr val="C2410C"/>
                </a:solidFill>
                <a:latin typeface="微软雅黑" panose="020B0503020204020204" charset="-122"/>
                <a:ea typeface="微软雅黑" panose="020B0503020204020204" charset="-122"/>
                <a:cs typeface="微软雅黑" panose="020B0503020204020204" charset="-122"/>
              </a:rPr>
              <a:t>(Action &amp; Automation)--</a:t>
            </a:r>
            <a:r>
              <a:rPr lang="zh-CN" altLang="en-US" sz="1200" i="0">
                <a:solidFill>
                  <a:srgbClr val="C2410C"/>
                </a:solidFill>
                <a:latin typeface="微软雅黑" panose="020B0503020204020204" charset="-122"/>
                <a:ea typeface="微软雅黑" panose="020B0503020204020204" charset="-122"/>
                <a:cs typeface="微软雅黑" panose="020B0503020204020204" charset="-122"/>
              </a:rPr>
              <a:t>操作</a:t>
            </a:r>
            <a:r>
              <a:rPr lang="en-US" altLang="zh-CN" sz="1200" i="0">
                <a:solidFill>
                  <a:srgbClr val="C2410C"/>
                </a:solidFill>
                <a:latin typeface="微软雅黑" panose="020B0503020204020204" charset="-122"/>
                <a:ea typeface="微软雅黑" panose="020B0503020204020204" charset="-122"/>
                <a:cs typeface="微软雅黑" panose="020B0503020204020204" charset="-122"/>
              </a:rPr>
              <a:t>、</a:t>
            </a:r>
            <a:r>
              <a:rPr lang="zh-CN" altLang="en-US" sz="1200" i="0">
                <a:solidFill>
                  <a:srgbClr val="C2410C"/>
                </a:solidFill>
                <a:latin typeface="微软雅黑" panose="020B0503020204020204" charset="-122"/>
                <a:ea typeface="微软雅黑" panose="020B0503020204020204" charset="-122"/>
                <a:cs typeface="微软雅黑" panose="020B0503020204020204" charset="-122"/>
              </a:rPr>
              <a:t>交互</a:t>
            </a:r>
            <a:endParaRPr lang="en-US" altLang="zh-CN" sz="1200" i="0">
              <a:solidFill>
                <a:srgbClr val="C2410C"/>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buFont typeface="Arial" panose="020B0604020202090204"/>
              <a:buChar char="•"/>
            </a:pPr>
            <a:r>
              <a:rPr lang="en-US" altLang="zh-CN" sz="1200" b="0" i="0">
                <a:solidFill>
                  <a:srgbClr val="374151"/>
                </a:solidFill>
                <a:latin typeface="微软雅黑" panose="020B0503020204020204" charset="-122"/>
                <a:ea typeface="微软雅黑" panose="020B0503020204020204" charset="-122"/>
                <a:cs typeface="微软雅黑" panose="020B0503020204020204" charset="-122"/>
              </a:rPr>
              <a:t>RPA</a:t>
            </a: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机器人：自动录入、资料上传、身份核验</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indent="0">
              <a:spcBef>
                <a:spcPts val="400"/>
              </a:spcBef>
              <a:spcAft>
                <a:spcPct val="0"/>
              </a:spcAft>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工作流引擎：审批流转、任务指派、补齐资料通知</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indent="0">
              <a:spcBef>
                <a:spcPts val="400"/>
              </a:spcBef>
              <a:spcAft>
                <a:spcPct val="0"/>
              </a:spcAft>
              <a:buFont typeface="Arial" panose="020B0604020202090204"/>
              <a:buChar char="•"/>
            </a:pPr>
            <a:r>
              <a:rPr lang="en-US" altLang="zh-CN" sz="1200" b="0" i="0">
                <a:solidFill>
                  <a:srgbClr val="374151"/>
                </a:solidFill>
                <a:latin typeface="微软雅黑" panose="020B0503020204020204" charset="-122"/>
                <a:ea typeface="微软雅黑" panose="020B0503020204020204" charset="-122"/>
                <a:cs typeface="微软雅黑" panose="020B0503020204020204" charset="-122"/>
              </a:rPr>
              <a:t>API</a:t>
            </a: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服务接口：外部系统调用、消息通知、合同签署</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a:p>
            <a:pPr marL="0" indent="0">
              <a:spcBef>
                <a:spcPts val="400"/>
              </a:spcBef>
              <a:spcAft>
                <a:spcPct val="0"/>
              </a:spcAft>
              <a:buFont typeface="Arial" panose="020B0604020202090204"/>
              <a:buChar char="•"/>
            </a:pP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多渠道触达：短信、</a:t>
            </a:r>
            <a:r>
              <a:rPr lang="en-US" altLang="zh-CN" sz="1200" b="0" i="0">
                <a:solidFill>
                  <a:srgbClr val="374151"/>
                </a:solidFill>
                <a:latin typeface="微软雅黑" panose="020B0503020204020204" charset="-122"/>
                <a:ea typeface="微软雅黑" panose="020B0503020204020204" charset="-122"/>
                <a:cs typeface="微软雅黑" panose="020B0503020204020204" charset="-122"/>
              </a:rPr>
              <a:t>App</a:t>
            </a: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推送、语音机器人</a:t>
            </a:r>
            <a:r>
              <a:rPr lang="en-US" altLang="zh-CN" sz="1200" b="0" i="0">
                <a:solidFill>
                  <a:srgbClr val="374151"/>
                </a:solidFill>
                <a:latin typeface="微软雅黑" panose="020B0503020204020204" charset="-122"/>
                <a:ea typeface="微软雅黑" panose="020B0503020204020204" charset="-122"/>
                <a:cs typeface="微软雅黑" panose="020B0503020204020204" charset="-122"/>
              </a:rPr>
              <a:t>、OA</a:t>
            </a:r>
            <a:r>
              <a:rPr lang="zh-CN" altLang="en-US" sz="1200" b="0" i="0">
                <a:solidFill>
                  <a:srgbClr val="374151"/>
                </a:solidFill>
                <a:latin typeface="微软雅黑" panose="020B0503020204020204" charset="-122"/>
                <a:ea typeface="微软雅黑" panose="020B0503020204020204" charset="-122"/>
                <a:cs typeface="微软雅黑" panose="020B0503020204020204" charset="-122"/>
              </a:rPr>
              <a:t>系统</a:t>
            </a:r>
            <a:endParaRPr lang="zh-CN" altLang="en-US" sz="1200" b="0" i="0">
              <a:solidFill>
                <a:srgbClr val="374151"/>
              </a:solidFill>
              <a:latin typeface="微软雅黑" panose="020B0503020204020204" charset="-122"/>
              <a:ea typeface="微软雅黑" panose="020B0503020204020204" charset="-122"/>
              <a:cs typeface="微软雅黑" panose="020B0503020204020204" charset="-122"/>
            </a:endParaRPr>
          </a:p>
        </p:txBody>
      </p:sp>
      <p:sp>
        <p:nvSpPr>
          <p:cNvPr id="45" name="矩形 44"/>
          <p:cNvSpPr/>
          <p:nvPr/>
        </p:nvSpPr>
        <p:spPr>
          <a:xfrm>
            <a:off x="137160" y="1673225"/>
            <a:ext cx="4289425" cy="5088255"/>
          </a:xfrm>
          <a:prstGeom prst="rect">
            <a:avLst/>
          </a:prstGeom>
          <a:ln w="6350" cap="flat" cmpd="sng" algn="ctr">
            <a:solidFill>
              <a:srgbClr val="0046F6"/>
            </a:solidFill>
            <a:prstDash val="dash"/>
            <a:miter lim="800000"/>
          </a:ln>
        </p:spPr>
        <p:style>
          <a:lnRef idx="0">
            <a:srgbClr val="0046F6"/>
          </a:lnRef>
          <a:fillRef idx="0">
            <a:srgbClr val="FFFFFF"/>
          </a:fillRef>
          <a:effectRef idx="0">
            <a:srgbClr val="FFFFFF"/>
          </a:effectRef>
          <a:fontRef idx="minor">
            <a:srgbClr val="000000"/>
          </a:fontRef>
        </p:style>
        <p:txBody>
          <a:bodyPr rtlCol="0" anchor="t" anchorCtr="0"/>
          <a:lstStyle/>
          <a:p>
            <a:pPr algn="ctr"/>
            <a:r>
              <a:rPr lang="zh-CN" altLang="en-US">
                <a:solidFill>
                  <a:srgbClr val="000000"/>
                </a:solidFill>
                <a:latin typeface="微软雅黑" panose="020B0503020204020204" charset="-122"/>
                <a:ea typeface="微软雅黑" panose="020B0503020204020204" charset="-122"/>
              </a:rPr>
              <a:t>物理世界层</a:t>
            </a:r>
            <a:endParaRPr lang="zh-CN" altLang="en-US">
              <a:solidFill>
                <a:srgbClr val="000000"/>
              </a:solidFill>
              <a:latin typeface="微软雅黑" panose="020B0503020204020204" charset="-122"/>
              <a:ea typeface="微软雅黑" panose="020B0503020204020204" charset="-122"/>
            </a:endParaRPr>
          </a:p>
        </p:txBody>
      </p:sp>
      <p:sp>
        <p:nvSpPr>
          <p:cNvPr id="47" name="矩形 46"/>
          <p:cNvSpPr/>
          <p:nvPr/>
        </p:nvSpPr>
        <p:spPr>
          <a:xfrm>
            <a:off x="8239760" y="1673225"/>
            <a:ext cx="3866515" cy="5088255"/>
          </a:xfrm>
          <a:prstGeom prst="rect">
            <a:avLst/>
          </a:prstGeom>
          <a:ln w="6350" cap="flat" cmpd="sng" algn="ctr">
            <a:solidFill>
              <a:srgbClr val="0046F6"/>
            </a:solidFill>
            <a:prstDash val="dash"/>
            <a:miter lim="800000"/>
          </a:ln>
        </p:spPr>
        <p:style>
          <a:lnRef idx="0">
            <a:srgbClr val="0046F6"/>
          </a:lnRef>
          <a:fillRef idx="0">
            <a:srgbClr val="FFFFFF"/>
          </a:fillRef>
          <a:effectRef idx="0">
            <a:srgbClr val="FFFFFF"/>
          </a:effectRef>
          <a:fontRef idx="minor">
            <a:srgbClr val="000000"/>
          </a:fontRef>
        </p:style>
        <p:txBody>
          <a:bodyPr rtlCol="0" anchor="t" anchorCtr="0"/>
          <a:lstStyle/>
          <a:p>
            <a:pPr algn="ctr"/>
            <a:r>
              <a:rPr lang="zh-CN" altLang="en-US">
                <a:solidFill>
                  <a:srgbClr val="000000"/>
                </a:solidFill>
                <a:latin typeface="微软雅黑" panose="020B0503020204020204" charset="-122"/>
                <a:ea typeface="微软雅黑" panose="020B0503020204020204" charset="-122"/>
                <a:cs typeface="微软雅黑" panose="020B0503020204020204" charset="-122"/>
              </a:rPr>
              <a:t>嵌入</a:t>
            </a:r>
            <a:r>
              <a:rPr lang="en-US" altLang="zh-CN">
                <a:solidFill>
                  <a:srgbClr val="000000"/>
                </a:solidFill>
                <a:latin typeface="微软雅黑" panose="020B0503020204020204" charset="-122"/>
                <a:ea typeface="微软雅黑" panose="020B0503020204020204" charset="-122"/>
                <a:cs typeface="微软雅黑" panose="020B0503020204020204" charset="-122"/>
              </a:rPr>
              <a:t>AI</a:t>
            </a:r>
            <a:r>
              <a:rPr lang="zh-CN" altLang="en-US">
                <a:solidFill>
                  <a:srgbClr val="000000"/>
                </a:solidFill>
                <a:latin typeface="微软雅黑" panose="020B0503020204020204" charset="-122"/>
                <a:ea typeface="微软雅黑" panose="020B0503020204020204" charset="-122"/>
                <a:cs typeface="微软雅黑" panose="020B0503020204020204" charset="-122"/>
              </a:rPr>
              <a:t>形式</a:t>
            </a:r>
            <a:endParaRPr lang="zh-CN" altLang="en-US">
              <a:solidFill>
                <a:srgbClr val="000000"/>
              </a:solidFill>
              <a:latin typeface="微软雅黑" panose="020B0503020204020204" charset="-122"/>
              <a:ea typeface="微软雅黑" panose="020B0503020204020204" charset="-122"/>
              <a:cs typeface="微软雅黑" panose="020B0503020204020204" charset="-122"/>
            </a:endParaRPr>
          </a:p>
        </p:txBody>
      </p:sp>
      <p:grpSp>
        <p:nvGrpSpPr>
          <p:cNvPr id="4" name="组合 3"/>
          <p:cNvGrpSpPr/>
          <p:nvPr/>
        </p:nvGrpSpPr>
        <p:grpSpPr>
          <a:xfrm>
            <a:off x="8303260" y="2108200"/>
            <a:ext cx="3786505" cy="4455338"/>
            <a:chOff x="13076" y="4799"/>
            <a:chExt cx="5963" cy="5581"/>
          </a:xfrm>
        </p:grpSpPr>
        <p:sp>
          <p:nvSpPr>
            <p:cNvPr id="12" name="圆角矩形 11"/>
            <p:cNvSpPr/>
            <p:nvPr/>
          </p:nvSpPr>
          <p:spPr>
            <a:xfrm>
              <a:off x="13076" y="8852"/>
              <a:ext cx="5822" cy="1528"/>
            </a:xfrm>
            <a:prstGeom prst="roundRect">
              <a:avLst/>
            </a:prstGeom>
            <a:solidFill>
              <a:srgbClr val="1F71FF">
                <a:lumMod val="20000"/>
                <a:lumOff val="80000"/>
              </a:srgbClr>
            </a:solidFill>
          </p:spPr>
          <p:style>
            <a:lnRef idx="0">
              <a:srgbClr val="FFFFFF"/>
            </a:lnRef>
            <a:fillRef idx="2">
              <a:srgbClr val="0046F6"/>
            </a:fillRef>
            <a:effectRef idx="0">
              <a:srgbClr val="FFFFFF"/>
            </a:effectRef>
            <a:fontRef idx="minor">
              <a:srgbClr val="FFFFFF"/>
            </a:fontRef>
          </p:style>
          <p:txBody>
            <a:bodyPr rtlCol="0" anchor="ctr"/>
            <a:lstStyle/>
            <a:p>
              <a:pPr algn="ctr"/>
              <a:endParaRPr lang="zh-CN" altLang="en-US">
                <a:solidFill>
                  <a:srgbClr val="0046F6">
                    <a:lumMod val="20000"/>
                    <a:lumOff val="80000"/>
                  </a:srgbClr>
                </a:solidFill>
                <a:latin typeface="微软雅黑" panose="020B0503020204020204" charset="-122"/>
                <a:ea typeface="微软雅黑" panose="020B0503020204020204" charset="-122"/>
              </a:endParaRPr>
            </a:p>
          </p:txBody>
        </p:sp>
        <p:sp>
          <p:nvSpPr>
            <p:cNvPr id="14" name="圆角矩形 13"/>
            <p:cNvSpPr/>
            <p:nvPr/>
          </p:nvSpPr>
          <p:spPr>
            <a:xfrm>
              <a:off x="13091" y="6235"/>
              <a:ext cx="5822" cy="1281"/>
            </a:xfrm>
            <a:prstGeom prst="roundRect">
              <a:avLst/>
            </a:prstGeom>
            <a:solidFill>
              <a:srgbClr val="1F71FF">
                <a:lumMod val="20000"/>
                <a:lumOff val="80000"/>
              </a:srgbClr>
            </a:solidFill>
          </p:spPr>
          <p:style>
            <a:lnRef idx="0">
              <a:srgbClr val="FFFFFF"/>
            </a:lnRef>
            <a:fillRef idx="2">
              <a:srgbClr val="0046F6"/>
            </a:fillRef>
            <a:effectRef idx="0">
              <a:srgbClr val="FFFFFF"/>
            </a:effectRef>
            <a:fontRef idx="minor">
              <a:srgbClr val="FFFFFF"/>
            </a:fontRef>
          </p:style>
          <p:txBody>
            <a:bodyPr rtlCol="0" anchor="ctr"/>
            <a:lstStyle/>
            <a:p>
              <a:pPr algn="ctr"/>
              <a:endParaRPr lang="zh-CN" altLang="en-US">
                <a:solidFill>
                  <a:srgbClr val="0046F6">
                    <a:lumMod val="20000"/>
                    <a:lumOff val="80000"/>
                  </a:srgbClr>
                </a:solidFill>
                <a:latin typeface="微软雅黑" panose="020B0503020204020204" charset="-122"/>
                <a:ea typeface="微软雅黑" panose="020B0503020204020204" charset="-122"/>
              </a:endParaRPr>
            </a:p>
          </p:txBody>
        </p:sp>
        <p:sp>
          <p:nvSpPr>
            <p:cNvPr id="15" name="圆角矩形 14"/>
            <p:cNvSpPr/>
            <p:nvPr/>
          </p:nvSpPr>
          <p:spPr>
            <a:xfrm>
              <a:off x="13091" y="7626"/>
              <a:ext cx="5822" cy="1143"/>
            </a:xfrm>
            <a:prstGeom prst="roundRect">
              <a:avLst/>
            </a:prstGeom>
            <a:solidFill>
              <a:srgbClr val="1F71FF">
                <a:lumMod val="20000"/>
                <a:lumOff val="80000"/>
              </a:srgbClr>
            </a:solidFill>
          </p:spPr>
          <p:style>
            <a:lnRef idx="0">
              <a:srgbClr val="FFFFFF"/>
            </a:lnRef>
            <a:fillRef idx="2">
              <a:srgbClr val="0046F6"/>
            </a:fillRef>
            <a:effectRef idx="0">
              <a:srgbClr val="FFFFFF"/>
            </a:effectRef>
            <a:fontRef idx="minor">
              <a:srgbClr val="FFFFFF"/>
            </a:fontRef>
          </p:style>
          <p:txBody>
            <a:bodyPr rtlCol="0" anchor="ctr"/>
            <a:lstStyle/>
            <a:p>
              <a:pPr algn="ctr"/>
              <a:endParaRPr lang="zh-CN" altLang="en-US">
                <a:solidFill>
                  <a:srgbClr val="0046F6">
                    <a:lumMod val="20000"/>
                    <a:lumOff val="80000"/>
                  </a:srgbClr>
                </a:solidFill>
                <a:latin typeface="微软雅黑" panose="020B0503020204020204" charset="-122"/>
                <a:ea typeface="微软雅黑" panose="020B0503020204020204" charset="-122"/>
              </a:endParaRPr>
            </a:p>
          </p:txBody>
        </p:sp>
        <p:sp>
          <p:nvSpPr>
            <p:cNvPr id="16" name="文本框 15"/>
            <p:cNvSpPr txBox="1"/>
            <p:nvPr/>
          </p:nvSpPr>
          <p:spPr>
            <a:xfrm>
              <a:off x="13143" y="8852"/>
              <a:ext cx="5748" cy="1459"/>
            </a:xfrm>
            <a:prstGeom prst="rect">
              <a:avLst/>
            </a:prstGeom>
          </p:spPr>
          <p:txBody>
            <a:bodyPr wrap="square">
              <a:noAutofit/>
            </a:bodyPr>
            <a:lstStyle/>
            <a:p>
              <a:pPr marL="0" indent="0"/>
              <a:r>
                <a:rPr lang="zh-CN" altLang="en-US" i="0">
                  <a:solidFill>
                    <a:srgbClr val="2563EB"/>
                  </a:solidFill>
                  <a:latin typeface="微软雅黑" panose="020B0503020204020204" charset="-122"/>
                  <a:ea typeface="微软雅黑" panose="020B0503020204020204" charset="-122"/>
                  <a:cs typeface="微软雅黑" panose="020B0503020204020204" charset="-122"/>
                </a:rPr>
                <a:t>数据</a:t>
              </a:r>
              <a:r>
                <a:rPr lang="en-US" altLang="zh-CN" i="0">
                  <a:solidFill>
                    <a:srgbClr val="2563EB"/>
                  </a:solidFill>
                  <a:latin typeface="微软雅黑" panose="020B0503020204020204" charset="-122"/>
                  <a:ea typeface="微软雅黑" panose="020B0503020204020204" charset="-122"/>
                  <a:cs typeface="微软雅黑" panose="020B0503020204020204" charset="-122"/>
                </a:rPr>
                <a:t>MCP</a:t>
              </a:r>
              <a:r>
                <a:rPr lang="zh-CN" altLang="en-US" i="0">
                  <a:solidFill>
                    <a:srgbClr val="2563EB"/>
                  </a:solidFill>
                  <a:latin typeface="微软雅黑" panose="020B0503020204020204" charset="-122"/>
                  <a:ea typeface="微软雅黑" panose="020B0503020204020204" charset="-122"/>
                  <a:cs typeface="微软雅黑" panose="020B0503020204020204" charset="-122"/>
                </a:rPr>
                <a:t>：个人全景画像</a:t>
              </a:r>
              <a:endParaRPr lang="zh-CN" altLang="en-US" i="0">
                <a:solidFill>
                  <a:srgbClr val="2563EB"/>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en-US" altLang="zh-CN" sz="1000" b="0" i="0">
                  <a:solidFill>
                    <a:srgbClr val="6B7280"/>
                  </a:solidFill>
                  <a:latin typeface="微软雅黑" panose="020B0503020204020204" charset="-122"/>
                  <a:ea typeface="微软雅黑" panose="020B0503020204020204" charset="-122"/>
                  <a:cs typeface="微软雅黑" panose="020B0503020204020204" charset="-122"/>
                </a:rPr>
                <a:t>MCP ID: Retail_Customer_Portrait_360</a:t>
              </a:r>
              <a:endParaRPr lang="en-US" altLang="zh-CN" sz="1000" b="0" i="0">
                <a:solidFill>
                  <a:srgbClr val="6B7280"/>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zh-CN" altLang="en-US" sz="1000" b="1" i="0">
                  <a:solidFill>
                    <a:srgbClr val="6B7280"/>
                  </a:solidFill>
                  <a:latin typeface="微软雅黑" panose="020B0503020204020204" charset="-122"/>
                  <a:ea typeface="微软雅黑" panose="020B0503020204020204" charset="-122"/>
                  <a:cs typeface="微软雅黑" panose="020B0503020204020204" charset="-122"/>
                </a:rPr>
                <a:t>功能</a:t>
              </a:r>
              <a:r>
                <a:rPr lang="en-US" altLang="zh-CN" sz="1000" b="0" i="0">
                  <a:solidFill>
                    <a:srgbClr val="6B7280"/>
                  </a:solidFill>
                  <a:latin typeface="微软雅黑" panose="020B0503020204020204" charset="-122"/>
                  <a:ea typeface="微软雅黑" panose="020B0503020204020204" charset="-122"/>
                  <a:cs typeface="微软雅黑" panose="020B0503020204020204" charset="-122"/>
                </a:rPr>
                <a:t>: </a:t>
              </a:r>
              <a:r>
                <a:rPr lang="zh-CN" altLang="en-US" sz="1000" b="0" i="0">
                  <a:solidFill>
                    <a:srgbClr val="6B7280"/>
                  </a:solidFill>
                  <a:latin typeface="微软雅黑" panose="020B0503020204020204" charset="-122"/>
                  <a:ea typeface="微软雅黑" panose="020B0503020204020204" charset="-122"/>
                  <a:cs typeface="微软雅黑" panose="020B0503020204020204" charset="-122"/>
                </a:rPr>
                <a:t>提供申请人的全景数据视图，涵盖个人身份真实性、历史信贷行为、消费能力评估、社交</a:t>
              </a:r>
              <a:r>
                <a:rPr lang="en-US" altLang="zh-CN" sz="1000" b="0" i="0">
                  <a:solidFill>
                    <a:srgbClr val="6B7280"/>
                  </a:solidFill>
                  <a:latin typeface="微软雅黑" panose="020B0503020204020204" charset="-122"/>
                  <a:ea typeface="微软雅黑" panose="020B0503020204020204" charset="-122"/>
                  <a:cs typeface="微软雅黑" panose="020B0503020204020204" charset="-122"/>
                </a:rPr>
                <a:t>/</a:t>
              </a:r>
              <a:r>
                <a:rPr lang="zh-CN" altLang="en-US" sz="1000" b="0" i="0">
                  <a:solidFill>
                    <a:srgbClr val="6B7280"/>
                  </a:solidFill>
                  <a:latin typeface="微软雅黑" panose="020B0503020204020204" charset="-122"/>
                  <a:ea typeface="微软雅黑" panose="020B0503020204020204" charset="-122"/>
                  <a:cs typeface="微软雅黑" panose="020B0503020204020204" charset="-122"/>
                </a:rPr>
                <a:t>设备风险。</a:t>
              </a:r>
              <a:endParaRPr lang="zh-CN" altLang="en-US" sz="1000" b="0" i="0">
                <a:solidFill>
                  <a:srgbClr val="6B7280"/>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zh-CN" altLang="en-US" sz="1000" b="1" i="0">
                  <a:solidFill>
                    <a:srgbClr val="6B7280"/>
                  </a:solidFill>
                  <a:latin typeface="微软雅黑" panose="020B0503020204020204" charset="-122"/>
                  <a:ea typeface="微软雅黑" panose="020B0503020204020204" charset="-122"/>
                  <a:cs typeface="微软雅黑" panose="020B0503020204020204" charset="-122"/>
                </a:rPr>
                <a:t>关联本体</a:t>
              </a:r>
              <a:r>
                <a:rPr lang="en-US" altLang="zh-CN" sz="1000" b="0" i="0">
                  <a:solidFill>
                    <a:srgbClr val="6B7280"/>
                  </a:solidFill>
                  <a:latin typeface="微软雅黑" panose="020B0503020204020204" charset="-122"/>
                  <a:ea typeface="微软雅黑" panose="020B0503020204020204" charset="-122"/>
                  <a:cs typeface="微软雅黑" panose="020B0503020204020204" charset="-122"/>
                </a:rPr>
                <a:t>: </a:t>
              </a:r>
              <a:r>
                <a:rPr lang="zh-CN" altLang="en-US" sz="1000" b="0" i="0">
                  <a:solidFill>
                    <a:srgbClr val="6B7280"/>
                  </a:solidFill>
                  <a:latin typeface="微软雅黑" panose="020B0503020204020204" charset="-122"/>
                  <a:ea typeface="微软雅黑" panose="020B0503020204020204" charset="-122"/>
                  <a:cs typeface="微软雅黑" panose="020B0503020204020204" charset="-122"/>
                </a:rPr>
                <a:t>个人自然人、设备指纹、征信报告</a:t>
              </a:r>
              <a:endParaRPr lang="zh-CN" altLang="en-US" sz="1000" b="0" i="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13091" y="6267"/>
              <a:ext cx="5447" cy="1040"/>
            </a:xfrm>
            <a:prstGeom prst="rect">
              <a:avLst/>
            </a:prstGeom>
          </p:spPr>
          <p:txBody>
            <a:bodyPr wrap="square">
              <a:spAutoFit/>
            </a:bodyPr>
            <a:lstStyle/>
            <a:p>
              <a:pPr marL="0" indent="0"/>
              <a:r>
                <a:rPr lang="zh-CN" altLang="en-US" i="0">
                  <a:solidFill>
                    <a:srgbClr val="C2410C"/>
                  </a:solidFill>
                  <a:latin typeface="微软雅黑" panose="020B0503020204020204" charset="-122"/>
                  <a:ea typeface="微软雅黑" panose="020B0503020204020204" charset="-122"/>
                  <a:cs typeface="微软雅黑" panose="020B0503020204020204" charset="-122"/>
                </a:rPr>
                <a:t>操作</a:t>
              </a:r>
              <a:r>
                <a:rPr lang="en-US" altLang="zh-CN" i="0">
                  <a:solidFill>
                    <a:srgbClr val="C2410C"/>
                  </a:solidFill>
                  <a:latin typeface="微软雅黑" panose="020B0503020204020204" charset="-122"/>
                  <a:ea typeface="微软雅黑" panose="020B0503020204020204" charset="-122"/>
                  <a:cs typeface="微软雅黑" panose="020B0503020204020204" charset="-122"/>
                </a:rPr>
                <a:t>Skill</a:t>
              </a:r>
              <a:r>
                <a:rPr lang="zh-CN" altLang="en-US" i="0">
                  <a:solidFill>
                    <a:srgbClr val="C2410C"/>
                  </a:solidFill>
                  <a:latin typeface="微软雅黑" panose="020B0503020204020204" charset="-122"/>
                  <a:ea typeface="微软雅黑" panose="020B0503020204020204" charset="-122"/>
                  <a:cs typeface="微软雅黑" panose="020B0503020204020204" charset="-122"/>
                </a:rPr>
                <a:t>：异常通知</a:t>
              </a:r>
              <a:endParaRPr lang="zh-CN" altLang="en-US" i="0">
                <a:solidFill>
                  <a:srgbClr val="C2410C"/>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en-US" altLang="zh-CN" sz="1000" b="0" i="0">
                  <a:solidFill>
                    <a:srgbClr val="1F2937"/>
                  </a:solidFill>
                  <a:latin typeface="微软雅黑" panose="020B0503020204020204" charset="-122"/>
                  <a:ea typeface="微软雅黑" panose="020B0503020204020204" charset="-122"/>
                  <a:cs typeface="微软雅黑" panose="020B0503020204020204" charset="-122"/>
                </a:rPr>
                <a:t>Skill ID: `Credit_PostLoan_Notification`</a:t>
              </a:r>
              <a:endParaRPr lang="en-US" altLang="zh-CN" sz="1000" b="0" i="0">
                <a:solidFill>
                  <a:srgbClr val="1F2937"/>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zh-CN" altLang="en-US" sz="1000" b="0" i="0">
                  <a:solidFill>
                    <a:srgbClr val="1F2937"/>
                  </a:solidFill>
                  <a:latin typeface="微软雅黑" panose="020B0503020204020204" charset="-122"/>
                  <a:ea typeface="微软雅黑" panose="020B0503020204020204" charset="-122"/>
                  <a:cs typeface="微软雅黑" panose="020B0503020204020204" charset="-122"/>
                </a:rPr>
                <a:t>功能：向相关客户经理</a:t>
              </a:r>
              <a:r>
                <a:rPr lang="en-US" altLang="zh-CN" sz="1000" b="0" i="0">
                  <a:solidFill>
                    <a:srgbClr val="1F2937"/>
                  </a:solidFill>
                  <a:latin typeface="微软雅黑" panose="020B0503020204020204" charset="-122"/>
                  <a:ea typeface="微软雅黑" panose="020B0503020204020204" charset="-122"/>
                  <a:cs typeface="微软雅黑" panose="020B0503020204020204" charset="-122"/>
                </a:rPr>
                <a:t>/</a:t>
              </a:r>
              <a:r>
                <a:rPr lang="zh-CN" altLang="en-US" sz="1000" b="0" i="0">
                  <a:solidFill>
                    <a:srgbClr val="1F2937"/>
                  </a:solidFill>
                  <a:latin typeface="微软雅黑" panose="020B0503020204020204" charset="-122"/>
                  <a:ea typeface="微软雅黑" panose="020B0503020204020204" charset="-122"/>
                  <a:cs typeface="微软雅黑" panose="020B0503020204020204" charset="-122"/>
                </a:rPr>
                <a:t>风控人员发送风险通知。</a:t>
              </a:r>
              <a:endParaRPr lang="zh-CN" altLang="en-US" sz="1000" b="0" i="0">
                <a:solidFill>
                  <a:srgbClr val="1F2937"/>
                </a:solidFill>
                <a:latin typeface="微软雅黑" panose="020B0503020204020204" charset="-122"/>
                <a:ea typeface="微软雅黑" panose="020B0503020204020204" charset="-122"/>
                <a:cs typeface="微软雅黑" panose="020B0503020204020204" charset="-122"/>
              </a:endParaRPr>
            </a:p>
            <a:p>
              <a:pPr marL="0" indent="0"/>
              <a:r>
                <a:rPr lang="zh-CN" altLang="en-US" sz="1000" b="0" i="0">
                  <a:solidFill>
                    <a:srgbClr val="6B7280"/>
                  </a:solidFill>
                  <a:latin typeface="微软雅黑" panose="020B0503020204020204" charset="-122"/>
                  <a:ea typeface="微软雅黑" panose="020B0503020204020204" charset="-122"/>
                  <a:cs typeface="微软雅黑" panose="020B0503020204020204" charset="-122"/>
                </a:rPr>
                <a:t>关联本体：客户、员工、预警事件</a:t>
              </a:r>
              <a:endParaRPr lang="zh-CN" altLang="en-US" sz="1000" b="0" i="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13107" y="7627"/>
              <a:ext cx="5382" cy="943"/>
            </a:xfrm>
            <a:prstGeom prst="rect">
              <a:avLst/>
            </a:prstGeom>
          </p:spPr>
          <p:txBody>
            <a:bodyPr wrap="square">
              <a:spAutoFit/>
            </a:bodyPr>
            <a:lstStyle/>
            <a:p>
              <a:pPr marL="0" indent="0"/>
              <a:r>
                <a:rPr lang="zh-CN" altLang="en-US" sz="1600" i="0">
                  <a:solidFill>
                    <a:srgbClr val="15803D"/>
                  </a:solidFill>
                  <a:latin typeface="微软雅黑" panose="020B0503020204020204" charset="-122"/>
                  <a:ea typeface="微软雅黑" panose="020B0503020204020204" charset="-122"/>
                  <a:cs typeface="微软雅黑" panose="020B0503020204020204" charset="-122"/>
                </a:rPr>
                <a:t>计算</a:t>
              </a:r>
              <a:r>
                <a:rPr lang="en-US" altLang="zh-CN" sz="1600" i="0">
                  <a:solidFill>
                    <a:srgbClr val="15803D"/>
                  </a:solidFill>
                  <a:latin typeface="微软雅黑" panose="020B0503020204020204" charset="-122"/>
                  <a:ea typeface="微软雅黑" panose="020B0503020204020204" charset="-122"/>
                  <a:cs typeface="微软雅黑" panose="020B0503020204020204" charset="-122"/>
                </a:rPr>
                <a:t>Skill</a:t>
              </a:r>
              <a:r>
                <a:rPr lang="zh-CN" altLang="en-US" sz="1600" i="0">
                  <a:solidFill>
                    <a:srgbClr val="15803D"/>
                  </a:solidFill>
                  <a:latin typeface="微软雅黑" panose="020B0503020204020204" charset="-122"/>
                  <a:ea typeface="微软雅黑" panose="020B0503020204020204" charset="-122"/>
                  <a:cs typeface="微软雅黑" panose="020B0503020204020204" charset="-122"/>
                </a:rPr>
                <a:t>：风险预警</a:t>
              </a:r>
              <a:endParaRPr lang="zh-CN" altLang="en-US" sz="1600" i="0">
                <a:solidFill>
                  <a:srgbClr val="15803D"/>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en-US" altLang="zh-CN" sz="900" b="0" i="0">
                  <a:solidFill>
                    <a:srgbClr val="1F2937"/>
                  </a:solidFill>
                  <a:latin typeface="微软雅黑" panose="020B0503020204020204" charset="-122"/>
                  <a:ea typeface="微软雅黑" panose="020B0503020204020204" charset="-122"/>
                  <a:cs typeface="微软雅黑" panose="020B0503020204020204" charset="-122"/>
                </a:rPr>
                <a:t>Skill ID: `Credit_PostLoan_EarlyWarning`</a:t>
              </a:r>
              <a:endParaRPr lang="en-US" altLang="zh-CN" sz="900" b="0" i="0">
                <a:solidFill>
                  <a:srgbClr val="1F2937"/>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zh-CN" altLang="en-US" sz="900" b="0" i="0">
                  <a:solidFill>
                    <a:srgbClr val="1F2937"/>
                  </a:solidFill>
                  <a:latin typeface="微软雅黑" panose="020B0503020204020204" charset="-122"/>
                  <a:ea typeface="微软雅黑" panose="020B0503020204020204" charset="-122"/>
                  <a:cs typeface="微软雅黑" panose="020B0503020204020204" charset="-122"/>
                </a:rPr>
                <a:t>功能：结合交易流水、舆情、关联方变动，预测违约风险。</a:t>
              </a:r>
              <a:endParaRPr lang="zh-CN" altLang="en-US" sz="900" b="0" i="0">
                <a:solidFill>
                  <a:srgbClr val="1F2937"/>
                </a:solidFill>
                <a:latin typeface="微软雅黑" panose="020B0503020204020204" charset="-122"/>
                <a:ea typeface="微软雅黑" panose="020B0503020204020204" charset="-122"/>
                <a:cs typeface="微软雅黑" panose="020B0503020204020204" charset="-122"/>
              </a:endParaRPr>
            </a:p>
            <a:p>
              <a:pPr marL="0" indent="0"/>
              <a:r>
                <a:rPr lang="zh-CN" altLang="en-US" sz="900" b="0" i="0">
                  <a:solidFill>
                    <a:srgbClr val="6B7280"/>
                  </a:solidFill>
                  <a:latin typeface="微软雅黑" panose="020B0503020204020204" charset="-122"/>
                  <a:ea typeface="微软雅黑" panose="020B0503020204020204" charset="-122"/>
                  <a:cs typeface="微软雅黑" panose="020B0503020204020204" charset="-122"/>
                </a:rPr>
                <a:t>关联本体：客户、账户、关联客户、舆情、合同</a:t>
              </a:r>
              <a:endParaRPr lang="zh-CN" altLang="en-US" sz="900" b="0" i="0">
                <a:solidFill>
                  <a:srgbClr val="6B7280"/>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p:nvPr/>
          </p:nvSpPr>
          <p:spPr>
            <a:xfrm>
              <a:off x="13091" y="4799"/>
              <a:ext cx="5822" cy="1358"/>
            </a:xfrm>
            <a:prstGeom prst="roundRect">
              <a:avLst/>
            </a:prstGeom>
            <a:solidFill>
              <a:srgbClr val="1F71FF">
                <a:lumMod val="20000"/>
                <a:lumOff val="80000"/>
              </a:srgbClr>
            </a:solidFill>
          </p:spPr>
          <p:style>
            <a:lnRef idx="0">
              <a:srgbClr val="FFFFFF"/>
            </a:lnRef>
            <a:fillRef idx="2">
              <a:srgbClr val="0046F6"/>
            </a:fillRef>
            <a:effectRef idx="0">
              <a:srgbClr val="FFFFFF"/>
            </a:effectRef>
            <a:fontRef idx="minor">
              <a:srgbClr val="FFFFFF"/>
            </a:fontRef>
          </p:style>
          <p:txBody>
            <a:bodyPr rtlCol="0" anchor="ctr"/>
            <a:lstStyle/>
            <a:p>
              <a:pPr algn="ctr"/>
              <a:endParaRPr lang="zh-CN" altLang="en-US">
                <a:solidFill>
                  <a:srgbClr val="0046F6">
                    <a:lumMod val="20000"/>
                    <a:lumOff val="80000"/>
                  </a:srgbClr>
                </a:solidFill>
                <a:latin typeface="微软雅黑" panose="020B0503020204020204" charset="-122"/>
                <a:ea typeface="微软雅黑" panose="020B0503020204020204" charset="-122"/>
              </a:endParaRPr>
            </a:p>
          </p:txBody>
        </p:sp>
        <p:sp>
          <p:nvSpPr>
            <p:cNvPr id="23" name="文本框 22"/>
            <p:cNvSpPr txBox="1"/>
            <p:nvPr/>
          </p:nvSpPr>
          <p:spPr>
            <a:xfrm>
              <a:off x="13091" y="4853"/>
              <a:ext cx="5948" cy="1040"/>
            </a:xfrm>
            <a:prstGeom prst="rect">
              <a:avLst/>
            </a:prstGeom>
          </p:spPr>
          <p:txBody>
            <a:bodyPr wrap="square">
              <a:spAutoFit/>
            </a:bodyPr>
            <a:lstStyle/>
            <a:p>
              <a:pPr marL="0" indent="0"/>
              <a:r>
                <a:rPr lang="zh-CN" altLang="en-US" i="0">
                  <a:solidFill>
                    <a:srgbClr val="C2410C"/>
                  </a:solidFill>
                  <a:latin typeface="微软雅黑" panose="020B0503020204020204" charset="-122"/>
                  <a:ea typeface="微软雅黑" panose="020B0503020204020204" charset="-122"/>
                  <a:cs typeface="微软雅黑" panose="020B0503020204020204" charset="-122"/>
                </a:rPr>
                <a:t>操作</a:t>
              </a:r>
              <a:r>
                <a:rPr lang="en-US" altLang="zh-CN" i="0">
                  <a:solidFill>
                    <a:srgbClr val="C2410C"/>
                  </a:solidFill>
                  <a:latin typeface="微软雅黑" panose="020B0503020204020204" charset="-122"/>
                  <a:ea typeface="微软雅黑" panose="020B0503020204020204" charset="-122"/>
                  <a:cs typeface="微软雅黑" panose="020B0503020204020204" charset="-122"/>
                </a:rPr>
                <a:t>Skill</a:t>
              </a:r>
              <a:r>
                <a:rPr lang="zh-CN" altLang="en-US" i="0">
                  <a:solidFill>
                    <a:srgbClr val="C2410C"/>
                  </a:solidFill>
                  <a:latin typeface="微软雅黑" panose="020B0503020204020204" charset="-122"/>
                  <a:ea typeface="微软雅黑" panose="020B0503020204020204" charset="-122"/>
                  <a:cs typeface="微软雅黑" panose="020B0503020204020204" charset="-122"/>
                </a:rPr>
                <a:t>：智能审批流转</a:t>
              </a:r>
              <a:endParaRPr lang="zh-CN" altLang="en-US" i="0">
                <a:solidFill>
                  <a:srgbClr val="C2410C"/>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en-US" altLang="zh-CN" sz="1000" b="0" i="0">
                  <a:solidFill>
                    <a:srgbClr val="1F2937"/>
                  </a:solidFill>
                  <a:latin typeface="微软雅黑" panose="020B0503020204020204" charset="-122"/>
                  <a:ea typeface="微软雅黑" panose="020B0503020204020204" charset="-122"/>
                  <a:cs typeface="微软雅黑" panose="020B0503020204020204" charset="-122"/>
                </a:rPr>
                <a:t>Skill ID: `Credit_Auto_Approval_Route`</a:t>
              </a:r>
              <a:endParaRPr lang="en-US" altLang="zh-CN" sz="1000" b="0" i="0">
                <a:solidFill>
                  <a:srgbClr val="1F2937"/>
                </a:solidFill>
                <a:latin typeface="微软雅黑" panose="020B0503020204020204" charset="-122"/>
                <a:ea typeface="微软雅黑" panose="020B0503020204020204" charset="-122"/>
                <a:cs typeface="微软雅黑" panose="020B0503020204020204" charset="-122"/>
              </a:endParaRPr>
            </a:p>
            <a:p>
              <a:pPr marL="0" indent="0">
                <a:spcBef>
                  <a:spcPct val="0"/>
                </a:spcBef>
                <a:spcAft>
                  <a:spcPct val="0"/>
                </a:spcAft>
              </a:pPr>
              <a:r>
                <a:rPr lang="zh-CN" altLang="en-US" sz="1000" b="0" i="0">
                  <a:solidFill>
                    <a:srgbClr val="1F2937"/>
                  </a:solidFill>
                  <a:latin typeface="微软雅黑" panose="020B0503020204020204" charset="-122"/>
                  <a:ea typeface="微软雅黑" panose="020B0503020204020204" charset="-122"/>
                  <a:cs typeface="微软雅黑" panose="020B0503020204020204" charset="-122"/>
                </a:rPr>
                <a:t>功能：根据风险等级、额度、合规性，自动推荐审批路径或拒绝。</a:t>
              </a:r>
              <a:endParaRPr lang="zh-CN" altLang="en-US" sz="1000" b="0" i="0">
                <a:solidFill>
                  <a:srgbClr val="1F2937"/>
                </a:solidFill>
                <a:latin typeface="微软雅黑" panose="020B0503020204020204" charset="-122"/>
                <a:ea typeface="微软雅黑" panose="020B0503020204020204" charset="-122"/>
                <a:cs typeface="微软雅黑" panose="020B0503020204020204" charset="-122"/>
              </a:endParaRPr>
            </a:p>
            <a:p>
              <a:pPr marL="0" indent="0"/>
              <a:r>
                <a:rPr lang="zh-CN" altLang="en-US" sz="1000" b="0" i="0">
                  <a:solidFill>
                    <a:srgbClr val="6B7280"/>
                  </a:solidFill>
                  <a:latin typeface="微软雅黑" panose="020B0503020204020204" charset="-122"/>
                  <a:ea typeface="微软雅黑" panose="020B0503020204020204" charset="-122"/>
                  <a:cs typeface="微软雅黑" panose="020B0503020204020204" charset="-122"/>
                </a:rPr>
                <a:t>关联本体：信贷合同、客户、审批规则、员工</a:t>
              </a:r>
              <a:endParaRPr lang="zh-CN" altLang="en-US" sz="1000" b="0" i="0">
                <a:solidFill>
                  <a:srgbClr val="6B7280"/>
                </a:solidFill>
                <a:latin typeface="微软雅黑" panose="020B0503020204020204" charset="-122"/>
                <a:ea typeface="微软雅黑" panose="020B0503020204020204" charset="-122"/>
                <a:cs typeface="微软雅黑" panose="020B0503020204020204" charset="-122"/>
              </a:endParaRPr>
            </a:p>
          </p:txBody>
        </p:sp>
      </p:grpSp>
      <p:pic>
        <p:nvPicPr>
          <p:cNvPr id="24" name="图片 23"/>
          <p:cNvPicPr/>
          <p:nvPr/>
        </p:nvPicPr>
        <p:blipFill>
          <a:blip r:embed="rId1"/>
          <a:stretch>
            <a:fillRect/>
          </a:stretch>
        </p:blipFill>
        <p:spPr>
          <a:xfrm>
            <a:off x="4646930" y="2027555"/>
            <a:ext cx="3459480" cy="4590415"/>
          </a:xfrm>
          <a:prstGeom prst="rect">
            <a:avLst/>
          </a:prstGeom>
        </p:spPr>
      </p:pic>
      <p:sp>
        <p:nvSpPr>
          <p:cNvPr id="8" name="文本框 7"/>
          <p:cNvSpPr txBox="1"/>
          <p:nvPr>
            <p:custDataLst>
              <p:tags r:id="rId2"/>
            </p:custDataLst>
          </p:nvPr>
        </p:nvSpPr>
        <p:spPr>
          <a:xfrm>
            <a:off x="6557010" y="3147695"/>
            <a:ext cx="1344295" cy="267970"/>
          </a:xfrm>
          <a:prstGeom prst="rect">
            <a:avLst/>
          </a:prstGeom>
          <a:noFill/>
        </p:spPr>
        <p:txBody>
          <a:bodyPr wrap="square" rtlCol="0" anchor="t">
            <a:noAutofit/>
          </a:bodyPr>
          <a:p>
            <a:r>
              <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Logic Knowledge</a:t>
            </a:r>
            <a:endPar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custDataLst>
              <p:tags r:id="rId3"/>
            </p:custDataLst>
          </p:nvPr>
        </p:nvSpPr>
        <p:spPr>
          <a:xfrm>
            <a:off x="6556375" y="5118735"/>
            <a:ext cx="1584325" cy="229870"/>
          </a:xfrm>
          <a:prstGeom prst="rect">
            <a:avLst/>
          </a:prstGeom>
          <a:noFill/>
        </p:spPr>
        <p:txBody>
          <a:bodyPr wrap="square" rtlCol="0" anchor="t">
            <a:spAutoFit/>
          </a:bodyPr>
          <a:p>
            <a:r>
              <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 </a:t>
            </a:r>
            <a:r>
              <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Data </a:t>
            </a:r>
            <a:r>
              <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Knowledge</a:t>
            </a:r>
            <a:endPar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custDataLst>
              <p:tags r:id="rId4"/>
            </p:custDataLst>
          </p:nvPr>
        </p:nvSpPr>
        <p:spPr>
          <a:xfrm>
            <a:off x="6556375" y="2108200"/>
            <a:ext cx="1419225" cy="229870"/>
          </a:xfrm>
          <a:prstGeom prst="rect">
            <a:avLst/>
          </a:prstGeom>
          <a:noFill/>
        </p:spPr>
        <p:txBody>
          <a:bodyPr wrap="square" rtlCol="0" anchor="t">
            <a:spAutoFit/>
          </a:bodyPr>
          <a:p>
            <a:pPr algn="l"/>
            <a:r>
              <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Action Knowledge</a:t>
            </a:r>
            <a:endParaRPr lang="en-US" altLang="zh-CN" sz="9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fontScale="90000"/>
          </a:bodyPr>
          <a:lstStyle/>
          <a:p>
            <a:pPr lvl="0" algn="l">
              <a:buClrTx/>
              <a:buSzTx/>
              <a:buFontTx/>
            </a:pPr>
            <a:r>
              <a:rPr>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2.6.1 基于语义本体的自主分析决策--</a:t>
            </a:r>
            <a:r>
              <a:rPr lang="zh-CN">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信贷</a:t>
            </a:r>
            <a:r>
              <a:rPr>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本体结构示例</a:t>
            </a:r>
            <a:endParaRPr>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aphicFrame>
        <p:nvGraphicFramePr>
          <p:cNvPr id="3" name="表格 2"/>
          <p:cNvGraphicFramePr/>
          <p:nvPr>
            <p:custDataLst>
              <p:tags r:id="rId1"/>
            </p:custDataLst>
          </p:nvPr>
        </p:nvGraphicFramePr>
        <p:xfrm>
          <a:off x="457835" y="1413510"/>
          <a:ext cx="11113770" cy="5266055"/>
        </p:xfrm>
        <a:graphic>
          <a:graphicData uri="http://schemas.openxmlformats.org/drawingml/2006/table">
            <a:tbl>
              <a:tblPr/>
              <a:tblGrid>
                <a:gridCol w="924560"/>
                <a:gridCol w="995680"/>
                <a:gridCol w="1015365"/>
                <a:gridCol w="1125220"/>
                <a:gridCol w="2312670"/>
                <a:gridCol w="765175"/>
                <a:gridCol w="473710"/>
                <a:gridCol w="568960"/>
                <a:gridCol w="963295"/>
                <a:gridCol w="1094740"/>
                <a:gridCol w="874395"/>
              </a:tblGrid>
              <a:tr h="378460">
                <a:tc>
                  <a:txBody>
                    <a:bodyPr/>
                    <a:lstStyle/>
                    <a:p>
                      <a:pPr algn="ctr" fontAlgn="ctr"/>
                      <a:r>
                        <a:rPr lang="zh-CN" altLang="en-US" sz="900" b="1" i="0">
                          <a:solidFill>
                            <a:srgbClr val="0F1115"/>
                          </a:solidFill>
                          <a:latin typeface="微软雅黑" charset="0"/>
                          <a:ea typeface="微软雅黑" charset="0"/>
                        </a:rPr>
                        <a:t>风险场景</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C7E9AE"/>
                    </a:solidFill>
                  </a:tcPr>
                </a:tc>
                <a:tc>
                  <a:txBody>
                    <a:bodyPr/>
                    <a:lstStyle/>
                    <a:p>
                      <a:pPr algn="ctr" fontAlgn="ctr"/>
                      <a:r>
                        <a:rPr lang="zh-CN" altLang="en-US" sz="900" b="1" i="0">
                          <a:solidFill>
                            <a:srgbClr val="0F1115"/>
                          </a:solidFill>
                          <a:latin typeface="微软雅黑" charset="0"/>
                          <a:ea typeface="微软雅黑" charset="0"/>
                        </a:rPr>
                        <a:t>风险重点</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C7E9AE"/>
                    </a:solidFill>
                  </a:tcPr>
                </a:tc>
                <a:tc>
                  <a:txBody>
                    <a:bodyPr/>
                    <a:lstStyle/>
                    <a:p>
                      <a:pPr algn="ctr" fontAlgn="ctr"/>
                      <a:r>
                        <a:rPr lang="zh-CN" altLang="en-US" sz="900" b="1" i="0">
                          <a:solidFill>
                            <a:srgbClr val="0F1115"/>
                          </a:solidFill>
                          <a:latin typeface="微软雅黑" charset="0"/>
                          <a:ea typeface="微软雅黑" charset="0"/>
                        </a:rPr>
                        <a:t>风险要点</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C7E9AE"/>
                    </a:solidFill>
                  </a:tcPr>
                </a:tc>
                <a:tc>
                  <a:txBody>
                    <a:bodyPr/>
                    <a:lstStyle/>
                    <a:p>
                      <a:pPr algn="ctr" fontAlgn="ctr"/>
                      <a:r>
                        <a:rPr lang="zh-CN" altLang="en-US" sz="900" b="1" i="0">
                          <a:solidFill>
                            <a:srgbClr val="0F1115"/>
                          </a:solidFill>
                          <a:latin typeface="微软雅黑" charset="0"/>
                          <a:ea typeface="微软雅黑" charset="0"/>
                        </a:rPr>
                        <a:t>风险指标</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C7E9AE"/>
                    </a:solidFill>
                  </a:tcPr>
                </a:tc>
                <a:tc>
                  <a:txBody>
                    <a:bodyPr/>
                    <a:p>
                      <a:pPr algn="ctr" fontAlgn="ctr"/>
                      <a:r>
                        <a:rPr lang="zh-CN" altLang="en-US" sz="900" b="1" i="0">
                          <a:solidFill>
                            <a:srgbClr val="0F1115"/>
                          </a:solidFill>
                          <a:latin typeface="微软雅黑" charset="0"/>
                          <a:ea typeface="微软雅黑" charset="0"/>
                        </a:rPr>
                        <a:t>业务规则</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C7E9AE"/>
                    </a:solidFill>
                  </a:tcPr>
                </a:tc>
                <a:tc>
                  <a:txBody>
                    <a:bodyPr/>
                    <a:lstStyle/>
                    <a:p>
                      <a:pPr algn="ctr" fontAlgn="ctr"/>
                      <a:r>
                        <a:rPr lang="zh-CN" altLang="en-US" sz="900" b="1" i="0">
                          <a:solidFill>
                            <a:srgbClr val="0F1115"/>
                          </a:solidFill>
                          <a:latin typeface="微软雅黑" charset="0"/>
                          <a:ea typeface="微软雅黑" charset="0"/>
                        </a:rPr>
                        <a:t>数据源表</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1D9FF"/>
                    </a:solidFill>
                  </a:tcPr>
                </a:tc>
                <a:tc>
                  <a:txBody>
                    <a:bodyPr/>
                    <a:lstStyle/>
                    <a:p>
                      <a:pPr algn="ctr" fontAlgn="ctr"/>
                      <a:r>
                        <a:rPr lang="en-US" altLang="zh-CN" sz="900" b="1" i="0">
                          <a:solidFill>
                            <a:srgbClr val="0F1115"/>
                          </a:solidFill>
                          <a:latin typeface="微软雅黑" charset="0"/>
                          <a:ea typeface="微软雅黑" charset="0"/>
                        </a:rPr>
                        <a:t>databaseName</a:t>
                      </a:r>
                      <a:endParaRPr lang="en-US" altLang="zh-CN"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1D9FF"/>
                    </a:solidFill>
                  </a:tcPr>
                </a:tc>
                <a:tc>
                  <a:txBody>
                    <a:bodyPr/>
                    <a:lstStyle/>
                    <a:p>
                      <a:pPr algn="ctr" fontAlgn="ctr"/>
                      <a:r>
                        <a:rPr lang="en-US" altLang="zh-CN" sz="900" b="1" i="0">
                          <a:solidFill>
                            <a:srgbClr val="0F1115"/>
                          </a:solidFill>
                          <a:latin typeface="微软雅黑" charset="0"/>
                          <a:ea typeface="微软雅黑" charset="0"/>
                        </a:rPr>
                        <a:t>tableName</a:t>
                      </a:r>
                      <a:endParaRPr lang="en-US" altLang="zh-CN"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1D9FF"/>
                    </a:solidFill>
                  </a:tcPr>
                </a:tc>
                <a:tc>
                  <a:txBody>
                    <a:bodyPr/>
                    <a:lstStyle/>
                    <a:p>
                      <a:pPr algn="ctr" fontAlgn="ctr"/>
                      <a:r>
                        <a:rPr lang="zh-CN" altLang="en-US" sz="900" b="1" i="0">
                          <a:solidFill>
                            <a:srgbClr val="0F1115"/>
                          </a:solidFill>
                          <a:latin typeface="微软雅黑" charset="0"/>
                          <a:ea typeface="微软雅黑" charset="0"/>
                        </a:rPr>
                        <a:t>相关字段</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1D9FF"/>
                    </a:solidFill>
                  </a:tcPr>
                </a:tc>
                <a:tc>
                  <a:txBody>
                    <a:bodyPr/>
                    <a:lstStyle/>
                    <a:p>
                      <a:pPr algn="ctr" fontAlgn="ctr"/>
                      <a:r>
                        <a:rPr lang="en-US" altLang="zh-CN" sz="900" b="1" i="0">
                          <a:solidFill>
                            <a:srgbClr val="0F1115"/>
                          </a:solidFill>
                          <a:latin typeface="微软雅黑" charset="0"/>
                          <a:ea typeface="微软雅黑" charset="0"/>
                        </a:rPr>
                        <a:t>fieldName</a:t>
                      </a:r>
                      <a:endParaRPr lang="en-US" altLang="zh-CN"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A1D9FF"/>
                    </a:solidFill>
                  </a:tcPr>
                </a:tc>
                <a:tc>
                  <a:txBody>
                    <a:bodyPr/>
                    <a:lstStyle/>
                    <a:p>
                      <a:pPr algn="ctr" fontAlgn="ctr"/>
                      <a:r>
                        <a:rPr lang="zh-CN" altLang="en-US" sz="900" b="1" i="0">
                          <a:solidFill>
                            <a:srgbClr val="0F1115"/>
                          </a:solidFill>
                          <a:latin typeface="微软雅黑" charset="0"/>
                          <a:ea typeface="微软雅黑" charset="0"/>
                        </a:rPr>
                        <a:t>动作</a:t>
                      </a:r>
                      <a:endParaRPr lang="zh-CN" altLang="en-US" sz="900" b="1"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DA7AA"/>
                    </a:solidFill>
                  </a:tcPr>
                </a:tc>
              </a:tr>
              <a:tr h="500380">
                <a:tc>
                  <a:txBody>
                    <a:bodyPr/>
                    <a:lstStyle/>
                    <a:p>
                      <a:pPr algn="ctr" fontAlgn="ctr"/>
                      <a:r>
                        <a:rPr lang="zh-CN" altLang="en-US" sz="800" b="0" i="0">
                          <a:solidFill>
                            <a:srgbClr val="0F1115"/>
                          </a:solidFill>
                          <a:latin typeface="微软雅黑" charset="0"/>
                          <a:ea typeface="微软雅黑" charset="0"/>
                        </a:rPr>
                        <a:t>客户初筛</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借款人资质审核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借款人主体为黑名单客户</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借款人主体被列入黑灰名单</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判断：若借款人主体</a:t>
                      </a:r>
                      <a:r>
                        <a:rPr lang="en-US" altLang="zh-CN" sz="800" b="0" i="0">
                          <a:solidFill>
                            <a:srgbClr val="0F1115"/>
                          </a:solidFill>
                          <a:latin typeface="微软雅黑" charset="0"/>
                          <a:ea typeface="微软雅黑" charset="0"/>
                          <a:cs typeface="微软雅黑" charset="0"/>
                        </a:rPr>
                        <a:t>(cust_name)</a:t>
                      </a:r>
                      <a:r>
                        <a:rPr lang="zh-CN" altLang="en-US" sz="800" b="0" i="0">
                          <a:solidFill>
                            <a:srgbClr val="0F1115"/>
                          </a:solidFill>
                          <a:latin typeface="微软雅黑" charset="0"/>
                          <a:ea typeface="微软雅黑" charset="0"/>
                          <a:cs typeface="微软雅黑" charset="0"/>
                        </a:rPr>
                        <a:t>是否存在黑灰名单</a:t>
                      </a:r>
                      <a:r>
                        <a:rPr lang="en-US" altLang="zh-CN" sz="800" b="0" i="0">
                          <a:solidFill>
                            <a:srgbClr val="0F1115"/>
                          </a:solidFill>
                          <a:latin typeface="微软雅黑" charset="0"/>
                          <a:ea typeface="微软雅黑" charset="0"/>
                          <a:cs typeface="微软雅黑" charset="0"/>
                        </a:rPr>
                        <a:t>(black_flag=1)</a:t>
                      </a:r>
                      <a:r>
                        <a:rPr lang="zh-CN" altLang="en-US" sz="800" b="0" i="0">
                          <a:solidFill>
                            <a:srgbClr val="0F1115"/>
                          </a:solidFill>
                          <a:latin typeface="微软雅黑" charset="0"/>
                          <a:ea typeface="微软雅黑" charset="0"/>
                          <a:cs typeface="微软雅黑" charset="0"/>
                        </a:rPr>
                        <a:t>，则提示不满足基础准入条件，不予准入</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行内名单表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credit_db</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blacklist_info</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黑灰名单标识</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black_flag</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拒绝</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500380">
                <a:tc>
                  <a:txBody>
                    <a:bodyPr/>
                    <a:lstStyle/>
                    <a:p>
                      <a:pPr algn="ctr" fontAlgn="ctr"/>
                      <a:r>
                        <a:rPr lang="zh-CN" altLang="en-US" sz="800" b="0" i="0">
                          <a:solidFill>
                            <a:srgbClr val="0F1115"/>
                          </a:solidFill>
                          <a:latin typeface="微软雅黑" charset="0"/>
                          <a:ea typeface="微软雅黑" charset="0"/>
                        </a:rPr>
                        <a:t>客户初筛</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借款人资质审核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借款人主体为黑名单客户</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借款人主体未被列入黑灰名单</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判断：若借款人主体</a:t>
                      </a:r>
                      <a:r>
                        <a:rPr lang="en-US" altLang="zh-CN" sz="800" b="0" i="0">
                          <a:solidFill>
                            <a:srgbClr val="0F1115"/>
                          </a:solidFill>
                          <a:latin typeface="微软雅黑" charset="0"/>
                          <a:ea typeface="微软雅黑" charset="0"/>
                          <a:cs typeface="微软雅黑" charset="0"/>
                        </a:rPr>
                        <a:t>(cust_name)</a:t>
                      </a:r>
                      <a:r>
                        <a:rPr lang="zh-CN" altLang="en-US" sz="800" b="0" i="0">
                          <a:solidFill>
                            <a:srgbClr val="0F1115"/>
                          </a:solidFill>
                          <a:latin typeface="微软雅黑" charset="0"/>
                          <a:ea typeface="微软雅黑" charset="0"/>
                          <a:cs typeface="微软雅黑" charset="0"/>
                        </a:rPr>
                        <a:t>是否不存在黑灰名单</a:t>
                      </a:r>
                      <a:r>
                        <a:rPr lang="en-US" altLang="zh-CN" sz="800" b="0" i="0">
                          <a:solidFill>
                            <a:srgbClr val="0F1115"/>
                          </a:solidFill>
                          <a:latin typeface="微软雅黑" charset="0"/>
                          <a:ea typeface="微软雅黑" charset="0"/>
                          <a:cs typeface="微软雅黑" charset="0"/>
                        </a:rPr>
                        <a:t>(black_flag=0)</a:t>
                      </a:r>
                      <a:r>
                        <a:rPr lang="zh-CN" altLang="en-US" sz="800" b="0" i="0">
                          <a:solidFill>
                            <a:srgbClr val="0F1115"/>
                          </a:solidFill>
                          <a:latin typeface="微软雅黑" charset="0"/>
                          <a:ea typeface="微软雅黑" charset="0"/>
                          <a:cs typeface="微软雅黑" charset="0"/>
                        </a:rPr>
                        <a:t>，则进行下一步审批</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行内名单表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credit_db</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blacklist_info</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黑灰名单标识</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black_flag</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进行下一步审批</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500380">
                <a:tc>
                  <a:txBody>
                    <a:bodyPr/>
                    <a:lstStyle/>
                    <a:p>
                      <a:pPr algn="ctr" fontAlgn="ctr"/>
                      <a:r>
                        <a:rPr lang="zh-CN" altLang="en-US" sz="800" b="0" i="0">
                          <a:solidFill>
                            <a:srgbClr val="0F1115"/>
                          </a:solidFill>
                          <a:latin typeface="微软雅黑" charset="0"/>
                          <a:ea typeface="微软雅黑" charset="0"/>
                        </a:rPr>
                        <a:t>客户初筛</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借款人资质审核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借款人信用评级不达标</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cs typeface="微软雅黑" charset="0"/>
                        </a:rPr>
                        <a:t>借款人主体信用评级低于</a:t>
                      </a:r>
                      <a:r>
                        <a:rPr lang="en-US" altLang="zh-CN" sz="800" b="0" i="0">
                          <a:solidFill>
                            <a:srgbClr val="0F1115"/>
                          </a:solidFill>
                          <a:latin typeface="微软雅黑" charset="0"/>
                          <a:ea typeface="微软雅黑" charset="0"/>
                          <a:cs typeface="微软雅黑" charset="0"/>
                        </a:rPr>
                        <a:t>5D</a:t>
                      </a:r>
                      <a:endParaRPr lang="en-US" altLang="zh-CN"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判断：若借款人内部信用评级是否低于</a:t>
                      </a:r>
                      <a:r>
                        <a:rPr lang="en-US" altLang="zh-CN" sz="800" b="0" i="0">
                          <a:solidFill>
                            <a:srgbClr val="0F1115"/>
                          </a:solidFill>
                          <a:latin typeface="微软雅黑" charset="0"/>
                          <a:ea typeface="微软雅黑" charset="0"/>
                          <a:cs typeface="微软雅黑" charset="0"/>
                        </a:rPr>
                        <a:t>5D</a:t>
                      </a:r>
                      <a:r>
                        <a:rPr lang="zh-CN" altLang="en-US" sz="800" b="0" i="0">
                          <a:solidFill>
                            <a:srgbClr val="0F1115"/>
                          </a:solidFill>
                          <a:latin typeface="微软雅黑" charset="0"/>
                          <a:ea typeface="微软雅黑" charset="0"/>
                          <a:cs typeface="微软雅黑" charset="0"/>
                        </a:rPr>
                        <a:t>级</a:t>
                      </a:r>
                      <a:r>
                        <a:rPr lang="en-US" altLang="zh-CN" sz="800" b="0" i="0">
                          <a:solidFill>
                            <a:srgbClr val="0F1115"/>
                          </a:solidFill>
                          <a:latin typeface="微软雅黑" charset="0"/>
                          <a:ea typeface="微软雅黑" charset="0"/>
                          <a:cs typeface="微软雅黑" charset="0"/>
                        </a:rPr>
                        <a:t>(credit_level=0</a:t>
                      </a:r>
                      <a:r>
                        <a:rPr lang="zh-CN" altLang="en-US" sz="800" b="0" i="0">
                          <a:solidFill>
                            <a:srgbClr val="0F1115"/>
                          </a:solidFill>
                          <a:latin typeface="微软雅黑" charset="0"/>
                          <a:ea typeface="微软雅黑" charset="0"/>
                          <a:cs typeface="微软雅黑" charset="0"/>
                        </a:rPr>
                        <a:t>代表低于</a:t>
                      </a:r>
                      <a:r>
                        <a:rPr lang="en-US" altLang="zh-CN" sz="800" b="0" i="0">
                          <a:solidFill>
                            <a:srgbClr val="0F1115"/>
                          </a:solidFill>
                          <a:latin typeface="微软雅黑" charset="0"/>
                          <a:ea typeface="微软雅黑" charset="0"/>
                          <a:cs typeface="微软雅黑" charset="0"/>
                        </a:rPr>
                        <a:t>5D</a:t>
                      </a:r>
                      <a:r>
                        <a:rPr lang="zh-CN" altLang="en-US" sz="800" b="0" i="0">
                          <a:solidFill>
                            <a:srgbClr val="0F1115"/>
                          </a:solidFill>
                          <a:latin typeface="微软雅黑" charset="0"/>
                          <a:ea typeface="微软雅黑" charset="0"/>
                          <a:cs typeface="微软雅黑" charset="0"/>
                        </a:rPr>
                        <a:t>级</a:t>
                      </a:r>
                      <a:r>
                        <a:rPr lang="en-US" altLang="zh-CN" sz="800" b="0" i="0">
                          <a:solidFill>
                            <a:srgbClr val="0F1115"/>
                          </a:solidFill>
                          <a:latin typeface="微软雅黑" charset="0"/>
                          <a:ea typeface="微软雅黑" charset="0"/>
                          <a:cs typeface="微软雅黑" charset="0"/>
                        </a:rPr>
                        <a:t>)</a:t>
                      </a:r>
                      <a:r>
                        <a:rPr lang="zh-CN" altLang="en-US" sz="800" b="0" i="0">
                          <a:solidFill>
                            <a:srgbClr val="0F1115"/>
                          </a:solidFill>
                          <a:latin typeface="微软雅黑" charset="0"/>
                          <a:ea typeface="微软雅黑" charset="0"/>
                          <a:cs typeface="微软雅黑" charset="0"/>
                        </a:rPr>
                        <a:t>，则提示不满足基础准入条件，不予准入</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客户数据表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credit_db</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customer_info</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借款人内部信用评级</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credit_level</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拒绝</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378460">
                <a:tc>
                  <a:txBody>
                    <a:bodyPr/>
                    <a:lstStyle/>
                    <a:p>
                      <a:pPr algn="ctr" fontAlgn="ctr"/>
                      <a:r>
                        <a:rPr lang="zh-CN" altLang="en-US" sz="800" b="0" i="0">
                          <a:solidFill>
                            <a:srgbClr val="0F1115"/>
                          </a:solidFill>
                          <a:latin typeface="微软雅黑" charset="0"/>
                          <a:ea typeface="微软雅黑" charset="0"/>
                        </a:rPr>
                        <a:t>客户初筛</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借款人资质审核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借款人信用评级不达标</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cs typeface="微软雅黑" charset="0"/>
                        </a:rPr>
                        <a:t>借款人主体信用评级高于</a:t>
                      </a:r>
                      <a:r>
                        <a:rPr lang="en-US" altLang="zh-CN" sz="800" b="0" i="0">
                          <a:solidFill>
                            <a:srgbClr val="0F1115"/>
                          </a:solidFill>
                          <a:latin typeface="微软雅黑" charset="0"/>
                          <a:ea typeface="微软雅黑" charset="0"/>
                          <a:cs typeface="微软雅黑" charset="0"/>
                        </a:rPr>
                        <a:t>5D</a:t>
                      </a:r>
                      <a:endParaRPr lang="en-US" altLang="zh-CN"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判断：若借款人内部信用评级是否高于</a:t>
                      </a:r>
                      <a:r>
                        <a:rPr lang="en-US" altLang="zh-CN" sz="800" b="0" i="0">
                          <a:solidFill>
                            <a:srgbClr val="0F1115"/>
                          </a:solidFill>
                          <a:latin typeface="微软雅黑" charset="0"/>
                          <a:ea typeface="微软雅黑" charset="0"/>
                          <a:cs typeface="微软雅黑" charset="0"/>
                        </a:rPr>
                        <a:t>5D</a:t>
                      </a:r>
                      <a:r>
                        <a:rPr lang="zh-CN" altLang="en-US" sz="800" b="0" i="0">
                          <a:solidFill>
                            <a:srgbClr val="0F1115"/>
                          </a:solidFill>
                          <a:latin typeface="微软雅黑" charset="0"/>
                          <a:ea typeface="微软雅黑" charset="0"/>
                          <a:cs typeface="微软雅黑" charset="0"/>
                        </a:rPr>
                        <a:t>级</a:t>
                      </a:r>
                      <a:r>
                        <a:rPr lang="en-US" altLang="zh-CN" sz="800" b="0" i="0">
                          <a:solidFill>
                            <a:srgbClr val="0F1115"/>
                          </a:solidFill>
                          <a:latin typeface="微软雅黑" charset="0"/>
                          <a:ea typeface="微软雅黑" charset="0"/>
                          <a:cs typeface="微软雅黑" charset="0"/>
                        </a:rPr>
                        <a:t>(credit_level=1</a:t>
                      </a:r>
                      <a:r>
                        <a:rPr lang="zh-CN" altLang="en-US" sz="800" b="0" i="0">
                          <a:solidFill>
                            <a:srgbClr val="0F1115"/>
                          </a:solidFill>
                          <a:latin typeface="微软雅黑" charset="0"/>
                          <a:ea typeface="微软雅黑" charset="0"/>
                          <a:cs typeface="微软雅黑" charset="0"/>
                        </a:rPr>
                        <a:t>代表高于</a:t>
                      </a:r>
                      <a:r>
                        <a:rPr lang="en-US" altLang="zh-CN" sz="800" b="0" i="0">
                          <a:solidFill>
                            <a:srgbClr val="0F1115"/>
                          </a:solidFill>
                          <a:latin typeface="微软雅黑" charset="0"/>
                          <a:ea typeface="微软雅黑" charset="0"/>
                          <a:cs typeface="微软雅黑" charset="0"/>
                        </a:rPr>
                        <a:t>5D</a:t>
                      </a:r>
                      <a:r>
                        <a:rPr lang="zh-CN" altLang="en-US" sz="800" b="0" i="0">
                          <a:solidFill>
                            <a:srgbClr val="0F1115"/>
                          </a:solidFill>
                          <a:latin typeface="微软雅黑" charset="0"/>
                          <a:ea typeface="微软雅黑" charset="0"/>
                          <a:cs typeface="微软雅黑" charset="0"/>
                        </a:rPr>
                        <a:t>级</a:t>
                      </a:r>
                      <a:r>
                        <a:rPr lang="en-US" altLang="zh-CN" sz="800" b="0" i="0">
                          <a:solidFill>
                            <a:srgbClr val="0F1115"/>
                          </a:solidFill>
                          <a:latin typeface="微软雅黑" charset="0"/>
                          <a:ea typeface="微软雅黑" charset="0"/>
                          <a:cs typeface="微软雅黑" charset="0"/>
                        </a:rPr>
                        <a:t>)</a:t>
                      </a:r>
                      <a:r>
                        <a:rPr lang="zh-CN" altLang="en-US" sz="800" b="0" i="0">
                          <a:solidFill>
                            <a:srgbClr val="0F1115"/>
                          </a:solidFill>
                          <a:latin typeface="微软雅黑" charset="0"/>
                          <a:ea typeface="微软雅黑" charset="0"/>
                          <a:cs typeface="微软雅黑" charset="0"/>
                        </a:rPr>
                        <a:t>，则进行下一步审批</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客户数据表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credit_db</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customer_info</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借款人内部信用评级</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credit_level</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进行下一步审批</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622300">
                <a:tc>
                  <a:txBody>
                    <a:bodyPr/>
                    <a:lstStyle/>
                    <a:p>
                      <a:pPr algn="ctr" fontAlgn="ctr"/>
                      <a:r>
                        <a:rPr lang="zh-CN" altLang="en-US" sz="800" b="0" i="0">
                          <a:solidFill>
                            <a:srgbClr val="0F1115"/>
                          </a:solidFill>
                          <a:latin typeface="微软雅黑" charset="0"/>
                          <a:ea typeface="微软雅黑" charset="0"/>
                        </a:rPr>
                        <a:t>客户初筛</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借款人资质审核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借款人主体经营异常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借款人主体经营异常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判断：若是否借款人主体经营状态</a:t>
                      </a:r>
                      <a:r>
                        <a:rPr lang="en-US" altLang="zh-CN" sz="800" b="0" i="0">
                          <a:solidFill>
                            <a:srgbClr val="0F1115"/>
                          </a:solidFill>
                          <a:latin typeface="微软雅黑" charset="0"/>
                          <a:ea typeface="微软雅黑" charset="0"/>
                          <a:cs typeface="微软雅黑" charset="0"/>
                        </a:rPr>
                        <a:t>(business_status)</a:t>
                      </a:r>
                      <a:r>
                        <a:rPr lang="zh-CN" altLang="en-US" sz="800" b="0" i="0">
                          <a:solidFill>
                            <a:srgbClr val="0F1115"/>
                          </a:solidFill>
                          <a:latin typeface="微软雅黑" charset="0"/>
                          <a:ea typeface="微软雅黑" charset="0"/>
                          <a:cs typeface="微软雅黑" charset="0"/>
                        </a:rPr>
                        <a:t>存在经营异常 或 营业执照吊销 或 营业执照吊销注销，则提示不满足基础准入条件，不予准入</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客户数据表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credit_db</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customer_info</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经营状态</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business_status</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拒绝</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506095">
                <a:tc>
                  <a:txBody>
                    <a:bodyPr/>
                    <a:lstStyle/>
                    <a:p>
                      <a:pPr algn="ctr" fontAlgn="ctr"/>
                      <a:r>
                        <a:rPr lang="zh-CN" altLang="en-US" sz="800" b="0" i="0">
                          <a:solidFill>
                            <a:srgbClr val="0F1115"/>
                          </a:solidFill>
                          <a:latin typeface="微软雅黑" charset="0"/>
                          <a:ea typeface="微软雅黑" charset="0"/>
                        </a:rPr>
                        <a:t>客户初筛</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借款人资质审核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借款人主体经营异常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借款人主体经营正常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判断：若是否借款人主体经营状态</a:t>
                      </a:r>
                      <a:r>
                        <a:rPr lang="en-US" altLang="zh-CN" sz="800" b="0" i="0">
                          <a:solidFill>
                            <a:srgbClr val="0F1115"/>
                          </a:solidFill>
                          <a:latin typeface="微软雅黑" charset="0"/>
                          <a:ea typeface="微软雅黑" charset="0"/>
                          <a:cs typeface="微软雅黑" charset="0"/>
                        </a:rPr>
                        <a:t>(business_status)</a:t>
                      </a:r>
                      <a:r>
                        <a:rPr lang="zh-CN" altLang="en-US" sz="800" b="0" i="0">
                          <a:solidFill>
                            <a:srgbClr val="0F1115"/>
                          </a:solidFill>
                          <a:latin typeface="微软雅黑" charset="0"/>
                          <a:ea typeface="微软雅黑" charset="0"/>
                          <a:cs typeface="微软雅黑" charset="0"/>
                        </a:rPr>
                        <a:t>不存在经营异常 或 营业执照吊销 或 营业执照吊销注销，则进行下一步审批</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客户数据表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credit_db</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customer_info</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经营状态</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business_status</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进行下一步审批</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744220">
                <a:tc>
                  <a:txBody>
                    <a:bodyPr/>
                    <a:lstStyle/>
                    <a:p>
                      <a:pPr algn="ctr" fontAlgn="ctr"/>
                      <a:r>
                        <a:rPr lang="zh-CN" altLang="en-US" sz="800" b="0" i="0">
                          <a:solidFill>
                            <a:srgbClr val="0F1115"/>
                          </a:solidFill>
                          <a:latin typeface="微软雅黑" charset="0"/>
                          <a:ea typeface="微软雅黑" charset="0"/>
                        </a:rPr>
                        <a:t>客户初筛</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借款人资质审核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借款人主体或其关联方存在不良记录</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借款人主体涉及金融债务诉讼，存在违约或抽贷风险</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判断：若是否存在金融借款</a:t>
                      </a:r>
                      <a:r>
                        <a:rPr lang="en-US" altLang="zh-CN" sz="800" b="0" i="0">
                          <a:solidFill>
                            <a:srgbClr val="0F1115"/>
                          </a:solidFill>
                          <a:latin typeface="微软雅黑" charset="0"/>
                          <a:ea typeface="微软雅黑" charset="0"/>
                          <a:cs typeface="微软雅黑" charset="0"/>
                        </a:rPr>
                        <a:t>/</a:t>
                      </a:r>
                      <a:r>
                        <a:rPr lang="zh-CN" altLang="en-US" sz="800" b="0" i="0">
                          <a:solidFill>
                            <a:srgbClr val="0F1115"/>
                          </a:solidFill>
                          <a:latin typeface="微软雅黑" charset="0"/>
                          <a:ea typeface="微软雅黑" charset="0"/>
                          <a:cs typeface="微软雅黑" charset="0"/>
                        </a:rPr>
                        <a:t>保理</a:t>
                      </a:r>
                      <a:r>
                        <a:rPr lang="en-US" altLang="zh-CN" sz="800" b="0" i="0">
                          <a:solidFill>
                            <a:srgbClr val="0F1115"/>
                          </a:solidFill>
                          <a:latin typeface="微软雅黑" charset="0"/>
                          <a:ea typeface="微软雅黑" charset="0"/>
                          <a:cs typeface="微软雅黑" charset="0"/>
                        </a:rPr>
                        <a:t>/</a:t>
                      </a:r>
                      <a:r>
                        <a:rPr lang="zh-CN" altLang="en-US" sz="800" b="0" i="0">
                          <a:solidFill>
                            <a:srgbClr val="0F1115"/>
                          </a:solidFill>
                          <a:latin typeface="微软雅黑" charset="0"/>
                          <a:ea typeface="微软雅黑" charset="0"/>
                          <a:cs typeface="微软雅黑" charset="0"/>
                        </a:rPr>
                        <a:t>票据</a:t>
                      </a:r>
                      <a:r>
                        <a:rPr lang="en-US" altLang="zh-CN" sz="800" b="0" i="0">
                          <a:solidFill>
                            <a:srgbClr val="0F1115"/>
                          </a:solidFill>
                          <a:latin typeface="微软雅黑" charset="0"/>
                          <a:ea typeface="微软雅黑" charset="0"/>
                          <a:cs typeface="微软雅黑" charset="0"/>
                        </a:rPr>
                        <a:t>/</a:t>
                      </a:r>
                      <a:r>
                        <a:rPr lang="zh-CN" altLang="en-US" sz="800" b="0" i="0">
                          <a:solidFill>
                            <a:srgbClr val="0F1115"/>
                          </a:solidFill>
                          <a:latin typeface="微软雅黑" charset="0"/>
                          <a:ea typeface="微软雅黑" charset="0"/>
                          <a:cs typeface="微软雅黑" charset="0"/>
                        </a:rPr>
                        <a:t>信用证纠纷作为被告</a:t>
                      </a:r>
                      <a:r>
                        <a:rPr lang="en-US" altLang="zh-CN" sz="800" b="0" i="0">
                          <a:solidFill>
                            <a:srgbClr val="0F1115"/>
                          </a:solidFill>
                          <a:latin typeface="微软雅黑" charset="0"/>
                          <a:ea typeface="微软雅黑" charset="0"/>
                          <a:cs typeface="微软雅黑" charset="0"/>
                        </a:rPr>
                        <a:t>(external_lawsuit)</a:t>
                      </a:r>
                      <a:r>
                        <a:rPr lang="zh-CN" altLang="en-US" sz="800" b="0" i="0">
                          <a:solidFill>
                            <a:srgbClr val="0F1115"/>
                          </a:solidFill>
                          <a:latin typeface="微软雅黑" charset="0"/>
                          <a:ea typeface="微软雅黑" charset="0"/>
                          <a:cs typeface="微软雅黑" charset="0"/>
                        </a:rPr>
                        <a:t>，则提示借款人存在较高风险，如需继续推进，请重点核查相关纠纷情况并补充风险可控的佐证材料</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客户数据表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credit_db</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customer_info</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外部诉讼</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en-US" altLang="zh-CN" sz="800" b="0" i="0">
                          <a:solidFill>
                            <a:srgbClr val="0F1115"/>
                          </a:solidFill>
                          <a:latin typeface="微软雅黑" charset="0"/>
                          <a:ea typeface="微软雅黑" charset="0"/>
                        </a:rPr>
                        <a:t>external_lawsuit</a:t>
                      </a:r>
                      <a:endParaRPr lang="en-US" altLang="zh-CN"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高风险预警</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378460">
                <a:tc>
                  <a:txBody>
                    <a:bodyPr/>
                    <a:lstStyle/>
                    <a:p>
                      <a:pPr algn="ctr" fontAlgn="ctr">
                        <a:buClrTx/>
                        <a:buSzTx/>
                        <a:buFontTx/>
                      </a:pPr>
                      <a:r>
                        <a:rPr lang="zh-CN" altLang="en-US" sz="800" b="0" i="0">
                          <a:solidFill>
                            <a:srgbClr val="0F1115"/>
                          </a:solidFill>
                          <a:latin typeface="微软雅黑" charset="0"/>
                          <a:ea typeface="微软雅黑" charset="0"/>
                        </a:rPr>
                        <a:t>授信申请预审</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借款人资料完整性审核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借款人未提供营业执照或单位证明文件</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借款人主体营业执照缺失</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判断：若营业执照</a:t>
                      </a:r>
                      <a:r>
                        <a:rPr lang="en-US" altLang="zh-CN" sz="800" b="0" i="0">
                          <a:solidFill>
                            <a:srgbClr val="0F1115"/>
                          </a:solidFill>
                          <a:latin typeface="微软雅黑" charset="0"/>
                          <a:ea typeface="微软雅黑" charset="0"/>
                          <a:cs typeface="微软雅黑" charset="0"/>
                        </a:rPr>
                        <a:t>(business_license)</a:t>
                      </a:r>
                      <a:r>
                        <a:rPr lang="zh-CN" altLang="en-US" sz="800" b="0" i="0">
                          <a:solidFill>
                            <a:srgbClr val="0F1115"/>
                          </a:solidFill>
                          <a:latin typeface="微软雅黑" charset="0"/>
                          <a:ea typeface="微软雅黑" charset="0"/>
                          <a:cs typeface="微软雅黑" charset="0"/>
                        </a:rPr>
                        <a:t>为空，则要求补充营业执照</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资料表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credit_db</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document_info</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营业执照</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business_license</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要求补充营业执照</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378460">
                <a:tc>
                  <a:txBody>
                    <a:bodyPr/>
                    <a:lstStyle/>
                    <a:p>
                      <a:pPr algn="ctr" fontAlgn="ctr">
                        <a:buClrTx/>
                        <a:buSzTx/>
                        <a:buFontTx/>
                      </a:pPr>
                      <a:r>
                        <a:rPr lang="zh-CN" altLang="en-US" sz="800" b="0" i="0">
                          <a:solidFill>
                            <a:srgbClr val="0F1115"/>
                          </a:solidFill>
                          <a:latin typeface="微软雅黑" charset="0"/>
                          <a:ea typeface="微软雅黑" charset="0"/>
                        </a:rPr>
                        <a:t>授信申请预审</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借款人资料完整性审核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借款人未提供有效的房地产开发资质证书</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借款人主体房地产开发资质证书缺失</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判断：若房地产开发资质证书</a:t>
                      </a:r>
                      <a:r>
                        <a:rPr lang="en-US" altLang="zh-CN" sz="800" b="0" i="0">
                          <a:solidFill>
                            <a:srgbClr val="0F1115"/>
                          </a:solidFill>
                          <a:latin typeface="微软雅黑" charset="0"/>
                          <a:ea typeface="微软雅黑" charset="0"/>
                          <a:cs typeface="微软雅黑" charset="0"/>
                        </a:rPr>
                        <a:t>(estate_license)</a:t>
                      </a:r>
                      <a:r>
                        <a:rPr lang="zh-CN" altLang="en-US" sz="800" b="0" i="0">
                          <a:solidFill>
                            <a:srgbClr val="0F1115"/>
                          </a:solidFill>
                          <a:latin typeface="微软雅黑" charset="0"/>
                          <a:ea typeface="微软雅黑" charset="0"/>
                          <a:cs typeface="微软雅黑" charset="0"/>
                        </a:rPr>
                        <a:t>为空，则要求补充房地产开发资质证书</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资料表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credit_db</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document_info</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房地产开发资质证书</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estate_license</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要求补充房地产开发资质证书</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r h="378460">
                <a:tc>
                  <a:txBody>
                    <a:bodyPr/>
                    <a:lstStyle/>
                    <a:p>
                      <a:pPr algn="ctr" fontAlgn="ctr">
                        <a:buClrTx/>
                        <a:buSzTx/>
                        <a:buFontTx/>
                      </a:pPr>
                      <a:r>
                        <a:rPr lang="zh-CN" altLang="en-US" sz="800" b="0" i="0">
                          <a:solidFill>
                            <a:srgbClr val="0F1115"/>
                          </a:solidFill>
                          <a:latin typeface="微软雅黑" charset="0"/>
                          <a:ea typeface="微软雅黑" charset="0"/>
                        </a:rPr>
                        <a:t>授信申请预审</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借款人资料完整性审核</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借款人未提供征信查询授权书</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借款人主体征信查询授权书缺失</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p>
                      <a:pPr algn="l" fontAlgn="ctr"/>
                      <a:r>
                        <a:rPr lang="zh-CN" altLang="en-US" sz="800" b="0" i="0">
                          <a:solidFill>
                            <a:srgbClr val="0F1115"/>
                          </a:solidFill>
                          <a:latin typeface="微软雅黑" charset="0"/>
                          <a:ea typeface="微软雅黑" charset="0"/>
                          <a:cs typeface="微软雅黑" charset="0"/>
                        </a:rPr>
                        <a:t>判断：若征信查询授权书</a:t>
                      </a:r>
                      <a:r>
                        <a:rPr lang="en-US" altLang="zh-CN" sz="800" b="0" i="0">
                          <a:solidFill>
                            <a:srgbClr val="0F1115"/>
                          </a:solidFill>
                          <a:latin typeface="微软雅黑" charset="0"/>
                          <a:ea typeface="微软雅黑" charset="0"/>
                          <a:cs typeface="微软雅黑" charset="0"/>
                        </a:rPr>
                        <a:t>(credit_auth)</a:t>
                      </a:r>
                      <a:r>
                        <a:rPr lang="zh-CN" altLang="en-US" sz="800" b="0" i="0">
                          <a:solidFill>
                            <a:srgbClr val="0F1115"/>
                          </a:solidFill>
                          <a:latin typeface="微软雅黑" charset="0"/>
                          <a:ea typeface="微软雅黑" charset="0"/>
                          <a:cs typeface="微软雅黑" charset="0"/>
                        </a:rPr>
                        <a:t>为空，则要求补充征信查询授权书</a:t>
                      </a:r>
                      <a:endParaRPr lang="zh-CN" altLang="en-US" sz="800" b="0" i="0">
                        <a:solidFill>
                          <a:srgbClr val="0F1115"/>
                        </a:solidFill>
                        <a:latin typeface="微软雅黑" charset="0"/>
                        <a:ea typeface="微软雅黑" charset="0"/>
                        <a:cs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资料表</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credit_db</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document_info</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征信授权书</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buClrTx/>
                        <a:buSzTx/>
                        <a:buFontTx/>
                      </a:pPr>
                      <a:r>
                        <a:rPr lang="zh-CN" altLang="en-US" sz="800" b="0" i="0">
                          <a:solidFill>
                            <a:srgbClr val="0F1115"/>
                          </a:solidFill>
                          <a:latin typeface="微软雅黑" charset="0"/>
                          <a:ea typeface="微软雅黑" charset="0"/>
                        </a:rPr>
                        <a:t>credit_auth</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c>
                  <a:txBody>
                    <a:bodyPr/>
                    <a:lstStyle/>
                    <a:p>
                      <a:pPr algn="l" fontAlgn="ctr"/>
                      <a:r>
                        <a:rPr lang="zh-CN" altLang="en-US" sz="800" b="0" i="0">
                          <a:solidFill>
                            <a:srgbClr val="0F1115"/>
                          </a:solidFill>
                          <a:latin typeface="微软雅黑" charset="0"/>
                          <a:ea typeface="微软雅黑" charset="0"/>
                        </a:rPr>
                        <a:t>要求补充征信查询授权书</a:t>
                      </a:r>
                      <a:endParaRPr lang="zh-CN" altLang="en-US" sz="800" b="0" i="0">
                        <a:solidFill>
                          <a:srgbClr val="0F1115"/>
                        </a:solidFill>
                        <a:latin typeface="微软雅黑" charset="0"/>
                        <a:ea typeface="微软雅黑" charset="0"/>
                      </a:endParaRPr>
                    </a:p>
                  </a:txBody>
                  <a:tcPr marL="13017" marR="13017" marT="13017" marB="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FFFF"/>
                    </a:solidFill>
                  </a:tcPr>
                </a:tc>
              </a:tr>
            </a:tbl>
          </a:graphicData>
        </a:graphic>
      </p:graphicFrame>
      <p:sp>
        <p:nvSpPr>
          <p:cNvPr id="4" name="文本框 3"/>
          <p:cNvSpPr txBox="1"/>
          <p:nvPr>
            <p:custDataLst>
              <p:tags r:id="rId2"/>
            </p:custDataLst>
          </p:nvPr>
        </p:nvSpPr>
        <p:spPr>
          <a:xfrm>
            <a:off x="2824480" y="844550"/>
            <a:ext cx="1682750" cy="306705"/>
          </a:xfrm>
          <a:prstGeom prst="rect">
            <a:avLst/>
          </a:prstGeom>
          <a:noFill/>
        </p:spPr>
        <p:txBody>
          <a:bodyPr wrap="square" rtlCol="0" anchor="t">
            <a:spAutoFit/>
          </a:bodyPr>
          <a:p>
            <a:r>
              <a:rPr lang="en-US" altLang="zh-CN"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Logic Knowledge</a:t>
            </a:r>
            <a:endParaRPr lang="en-US" altLang="zh-CN"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3"/>
            </p:custDataLst>
          </p:nvPr>
        </p:nvSpPr>
        <p:spPr>
          <a:xfrm>
            <a:off x="7733665" y="833755"/>
            <a:ext cx="2011045" cy="306705"/>
          </a:xfrm>
          <a:prstGeom prst="rect">
            <a:avLst/>
          </a:prstGeom>
          <a:noFill/>
        </p:spPr>
        <p:txBody>
          <a:bodyPr wrap="square" rtlCol="0" anchor="t">
            <a:spAutoFit/>
          </a:bodyPr>
          <a:p>
            <a:pPr algn="ctr"/>
            <a:r>
              <a:rPr lang="en-US" altLang="zh-CN"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Data Knowledge</a:t>
            </a:r>
            <a:endParaRPr lang="en-US" altLang="zh-CN"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4"/>
            </p:custDataLst>
          </p:nvPr>
        </p:nvSpPr>
        <p:spPr>
          <a:xfrm>
            <a:off x="10128250" y="855345"/>
            <a:ext cx="1920875" cy="306705"/>
          </a:xfrm>
          <a:prstGeom prst="rect">
            <a:avLst/>
          </a:prstGeom>
          <a:noFill/>
        </p:spPr>
        <p:txBody>
          <a:bodyPr wrap="square" rtlCol="0" anchor="t">
            <a:spAutoFit/>
          </a:bodyPr>
          <a:p>
            <a:pPr algn="ctr"/>
            <a:r>
              <a:rPr lang="en-US" altLang="zh-CN"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Action</a:t>
            </a:r>
            <a:r>
              <a:rPr lang="en-US" altLang="zh-CN"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rPr>
              <a:t> Knowledge</a:t>
            </a:r>
            <a:endParaRPr lang="en-US" altLang="zh-CN" sz="1400" b="1" dirty="0">
              <a:solidFill>
                <a:srgbClr val="000000">
                  <a:lumMod val="75000"/>
                  <a:lumOff val="25000"/>
                </a:srgbClr>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左大括号 7"/>
          <p:cNvSpPr/>
          <p:nvPr/>
        </p:nvSpPr>
        <p:spPr>
          <a:xfrm rot="5400000">
            <a:off x="3565525" y="-1874520"/>
            <a:ext cx="160655" cy="6375400"/>
          </a:xfrm>
          <a:prstGeom prst="leftBrace">
            <a:avLst>
              <a:gd name="adj1" fmla="val 176877"/>
              <a:gd name="adj2" fmla="val 49815"/>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左大括号 8"/>
          <p:cNvSpPr/>
          <p:nvPr/>
        </p:nvSpPr>
        <p:spPr>
          <a:xfrm rot="5400000">
            <a:off x="8640445" y="-621030"/>
            <a:ext cx="231775" cy="3820160"/>
          </a:xfrm>
          <a:prstGeom prst="leftBrace">
            <a:avLst>
              <a:gd name="adj1" fmla="val 176877"/>
              <a:gd name="adj2" fmla="val 49815"/>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左大括号 9"/>
          <p:cNvSpPr/>
          <p:nvPr/>
        </p:nvSpPr>
        <p:spPr>
          <a:xfrm rot="5400000">
            <a:off x="10993755" y="826135"/>
            <a:ext cx="253365" cy="882015"/>
          </a:xfrm>
          <a:prstGeom prst="leftBrace">
            <a:avLst>
              <a:gd name="adj1" fmla="val 176877"/>
              <a:gd name="adj2" fmla="val 49815"/>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latin typeface="楷体" panose="02010609060101010101" pitchFamily="49" charset="-122"/>
                <a:ea typeface="楷体" panose="02010609060101010101" pitchFamily="49" charset="-122"/>
                <a:cs typeface="楷体" panose="02010609060101010101" pitchFamily="49" charset="-122"/>
                <a:sym typeface="+mn-ea"/>
              </a:rPr>
              <a:t>2.6.2 模型外挂 RAG 向模型内化重构升级</a:t>
            </a:r>
            <a:endParaRPr kumimoji="0" lang="zh-CN" altLang="en-US" sz="2400" b="0" kern="1200">
              <a:latin typeface="楷体" panose="02010609060101010101" pitchFamily="49" charset="-122"/>
              <a:ea typeface="楷体" panose="02010609060101010101" pitchFamily="49" charset="-122"/>
              <a:cs typeface="楷体" panose="02010609060101010101" pitchFamily="49" charset="-122"/>
              <a:sym typeface="+mn-ea"/>
            </a:endParaRPr>
          </a:p>
        </p:txBody>
      </p:sp>
      <p:pic>
        <p:nvPicPr>
          <p:cNvPr id="4" name="图片 3" descr="/Users/zhouqingyun/Library/Containers/com.kingsoft.wpsoffice.mac/Data/tmp/picturecompress_20260708111342/output_1.pngoutput_1"/>
          <p:cNvPicPr>
            <a:picLocks noChangeAspect="1"/>
          </p:cNvPicPr>
          <p:nvPr/>
        </p:nvPicPr>
        <p:blipFill>
          <a:blip r:embed="rId1"/>
          <a:srcRect/>
          <a:stretch>
            <a:fillRect/>
          </a:stretch>
        </p:blipFill>
        <p:spPr>
          <a:xfrm>
            <a:off x="4720996" y="2700052"/>
            <a:ext cx="951567" cy="1125926"/>
          </a:xfrm>
          <a:prstGeom prst="rect">
            <a:avLst/>
          </a:prstGeom>
        </p:spPr>
      </p:pic>
      <p:sp>
        <p:nvSpPr>
          <p:cNvPr id="5" name="箭头: 右 4"/>
          <p:cNvSpPr/>
          <p:nvPr/>
        </p:nvSpPr>
        <p:spPr>
          <a:xfrm>
            <a:off x="1369050" y="2777175"/>
            <a:ext cx="3178788" cy="340535"/>
          </a:xfrm>
          <a:prstGeom prs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 name="箭头: 右 6"/>
          <p:cNvSpPr/>
          <p:nvPr/>
        </p:nvSpPr>
        <p:spPr>
          <a:xfrm rot="10800000">
            <a:off x="1333310" y="3245705"/>
            <a:ext cx="3178788" cy="340535"/>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8" name="文本框 7"/>
          <p:cNvSpPr txBox="1"/>
          <p:nvPr/>
        </p:nvSpPr>
        <p:spPr>
          <a:xfrm>
            <a:off x="362736" y="2390467"/>
            <a:ext cx="5309827" cy="338554"/>
          </a:xfrm>
          <a:prstGeom prst="rect">
            <a:avLst/>
          </a:prstGeom>
          <a:noFill/>
        </p:spPr>
        <p:txBody>
          <a:bodyPr wrap="square" rtlCol="0">
            <a:spAutoFit/>
          </a:bodyPr>
          <a:lstStyle/>
          <a:p>
            <a:pPr algn="ct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模式一：基于向量查询的图推理计算</a:t>
            </a:r>
            <a:endParaRPr lang="en-US" altLang="zh-CN" sz="1600" b="1"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9" name="文本框 8"/>
          <p:cNvSpPr txBox="1"/>
          <p:nvPr/>
        </p:nvSpPr>
        <p:spPr>
          <a:xfrm>
            <a:off x="362736" y="3677578"/>
            <a:ext cx="5309827" cy="338554"/>
          </a:xfrm>
          <a:prstGeom prst="rect">
            <a:avLst/>
          </a:prstGeom>
          <a:noFill/>
        </p:spPr>
        <p:txBody>
          <a:bodyPr wrap="square" rtlCol="0">
            <a:spAutoFit/>
          </a:bodyPr>
          <a:lstStyle/>
          <a:p>
            <a:pPr algn="ctr"/>
            <a:r>
              <a:rPr lang="zh-CN" altLang="en-US" sz="1600" b="1" dirty="0">
                <a:solidFill>
                  <a:schemeClr val="tx1">
                    <a:lumMod val="75000"/>
                    <a:lumOff val="25000"/>
                  </a:schemeClr>
                </a:solidFill>
                <a:latin typeface="微软雅黑 Light" panose="020B0502040204020203" pitchFamily="34" charset="-122"/>
                <a:ea typeface="微软雅黑 Light" panose="020B0502040204020203" pitchFamily="34" charset="-122"/>
              </a:rPr>
              <a:t>模式二：基于图规则数据的专家模型训练</a:t>
            </a:r>
            <a:endParaRPr lang="en-US" altLang="zh-CN" sz="1600" b="1" dirty="0">
              <a:solidFill>
                <a:schemeClr val="tx1">
                  <a:lumMod val="75000"/>
                  <a:lumOff val="25000"/>
                </a:schemeClr>
              </a:solidFill>
              <a:latin typeface="微软雅黑 Light" panose="020B0502040204020203" pitchFamily="34" charset="-122"/>
              <a:ea typeface="微软雅黑 Light" panose="020B0502040204020203" pitchFamily="34" charset="-122"/>
            </a:endParaRPr>
          </a:p>
        </p:txBody>
      </p:sp>
      <p:sp>
        <p:nvSpPr>
          <p:cNvPr id="12" name="文本框 11"/>
          <p:cNvSpPr txBox="1"/>
          <p:nvPr/>
        </p:nvSpPr>
        <p:spPr>
          <a:xfrm>
            <a:off x="380365" y="798195"/>
            <a:ext cx="11262995" cy="1274445"/>
          </a:xfrm>
          <a:prstGeom prst="rect">
            <a:avLst/>
          </a:prstGeom>
          <a:noFill/>
        </p:spPr>
        <p:txBody>
          <a:bodyPr wrap="square">
            <a:noAutofit/>
          </a:bodyPr>
          <a:lstStyle/>
          <a:p>
            <a:pPr>
              <a:lnSpc>
                <a:spcPct val="150000"/>
              </a:lnSpc>
            </a:pPr>
            <a:r>
              <a:rPr lang="zh-CN" altLang="en-US" sz="1600" dirty="0">
                <a:latin typeface="微软雅黑 Light" panose="020B0502040204020203" pitchFamily="34" charset="-122"/>
                <a:ea typeface="微软雅黑 Light" panose="020B0502040204020203" pitchFamily="34" charset="-122"/>
              </a:rPr>
              <a:t>整合图</a:t>
            </a:r>
            <a:r>
              <a:rPr lang="en-US" altLang="zh-CN" sz="1600" dirty="0">
                <a:latin typeface="微软雅黑 Light" panose="020B0502040204020203" pitchFamily="34" charset="-122"/>
                <a:ea typeface="微软雅黑 Light" panose="020B0502040204020203" pitchFamily="34" charset="-122"/>
              </a:rPr>
              <a:t>+</a:t>
            </a:r>
            <a:r>
              <a:rPr lang="zh-CN" altLang="en-US" sz="1600" dirty="0">
                <a:latin typeface="微软雅黑 Light" panose="020B0502040204020203" pitchFamily="34" charset="-122"/>
                <a:ea typeface="微软雅黑 Light" panose="020B0502040204020203" pitchFamily="34" charset="-122"/>
              </a:rPr>
              <a:t>向量</a:t>
            </a:r>
            <a:r>
              <a:rPr lang="en-US" altLang="zh-CN" sz="1600" dirty="0">
                <a:latin typeface="微软雅黑 Light" panose="020B0502040204020203" pitchFamily="34" charset="-122"/>
                <a:ea typeface="微软雅黑 Light" panose="020B0502040204020203" pitchFamily="34" charset="-122"/>
              </a:rPr>
              <a:t>+</a:t>
            </a:r>
            <a:r>
              <a:rPr lang="zh-CN" altLang="en-US" sz="1600" dirty="0">
                <a:latin typeface="微软雅黑 Light" panose="020B0502040204020203" pitchFamily="34" charset="-122"/>
                <a:ea typeface="微软雅黑 Light" panose="020B0502040204020203" pitchFamily="34" charset="-122"/>
              </a:rPr>
              <a:t>时序的高性能协同存算模式，实现底层数据库层的向量数据、静态图、时序图的统一存算融合。本体中纳管了高质量的企业专业知识与数字化生产环境信息，</a:t>
            </a:r>
            <a:r>
              <a:rPr lang="zh-CN" altLang="en-US" sz="1600" b="1" dirty="0">
                <a:solidFill>
                  <a:srgbClr val="C00000"/>
                </a:solidFill>
                <a:latin typeface="微软雅黑 Light" panose="020B0502040204020203" pitchFamily="34" charset="-122"/>
                <a:ea typeface="微软雅黑 Light" panose="020B0502040204020203" pitchFamily="34" charset="-122"/>
              </a:rPr>
              <a:t>通过</a:t>
            </a:r>
            <a:r>
              <a:rPr lang="en-US" altLang="zh-CN" sz="1600" b="1" dirty="0">
                <a:solidFill>
                  <a:srgbClr val="C00000"/>
                </a:solidFill>
                <a:latin typeface="微软雅黑 Light" panose="020B0502040204020203" pitchFamily="34" charset="-122"/>
                <a:ea typeface="微软雅黑 Light" panose="020B0502040204020203" pitchFamily="34" charset="-122"/>
              </a:rPr>
              <a:t>Graph Attention</a:t>
            </a:r>
            <a:r>
              <a:rPr lang="zh-CN" altLang="en-US" sz="1600" b="1" dirty="0">
                <a:solidFill>
                  <a:srgbClr val="C00000"/>
                </a:solidFill>
                <a:latin typeface="微软雅黑 Light" panose="020B0502040204020203" pitchFamily="34" charset="-122"/>
                <a:ea typeface="微软雅黑 Light" panose="020B0502040204020203" pitchFamily="34" charset="-122"/>
              </a:rPr>
              <a:t>可将沉淀的本体知识用于行业模型训练，在考虑行业大模型训练易出现能力漂移的不可逆现象，提出了基于本体训练多专家小模型的</a:t>
            </a:r>
            <a:r>
              <a:rPr lang="en-US" altLang="zh-CN" sz="1600" b="1" dirty="0">
                <a:solidFill>
                  <a:srgbClr val="C00000"/>
                </a:solidFill>
                <a:latin typeface="微软雅黑 Light" panose="020B0502040204020203" pitchFamily="34" charset="-122"/>
                <a:ea typeface="微软雅黑 Light" panose="020B0502040204020203" pitchFamily="34" charset="-122"/>
              </a:rPr>
              <a:t>MOE</a:t>
            </a:r>
            <a:r>
              <a:rPr lang="zh-CN" altLang="en-US" sz="1600" b="1" dirty="0">
                <a:solidFill>
                  <a:srgbClr val="C00000"/>
                </a:solidFill>
                <a:latin typeface="微软雅黑 Light" panose="020B0502040204020203" pitchFamily="34" charset="-122"/>
                <a:ea typeface="微软雅黑 Light" panose="020B0502040204020203" pitchFamily="34" charset="-122"/>
              </a:rPr>
              <a:t>架构</a:t>
            </a:r>
            <a:r>
              <a:rPr lang="zh-CN" altLang="en-US" sz="1600" dirty="0">
                <a:latin typeface="微软雅黑 Light" panose="020B0502040204020203" pitchFamily="34" charset="-122"/>
                <a:ea typeface="微软雅黑 Light" panose="020B0502040204020203" pitchFamily="34" charset="-122"/>
              </a:rPr>
              <a:t>。</a:t>
            </a:r>
            <a:endParaRPr lang="zh-CN" altLang="en-US" sz="1600" dirty="0">
              <a:latin typeface="微软雅黑 Light" panose="020B0502040204020203" pitchFamily="34" charset="-122"/>
              <a:ea typeface="微软雅黑 Light" panose="020B0502040204020203" pitchFamily="34" charset="-122"/>
            </a:endParaRPr>
          </a:p>
        </p:txBody>
      </p:sp>
      <p:pic>
        <p:nvPicPr>
          <p:cNvPr id="13" name="图片 12"/>
          <p:cNvPicPr>
            <a:picLocks noChangeAspect="1"/>
          </p:cNvPicPr>
          <p:nvPr/>
        </p:nvPicPr>
        <p:blipFill>
          <a:blip r:embed="rId2"/>
          <a:stretch>
            <a:fillRect/>
          </a:stretch>
        </p:blipFill>
        <p:spPr>
          <a:xfrm>
            <a:off x="3056359" y="4066267"/>
            <a:ext cx="1455739" cy="2613021"/>
          </a:xfrm>
          <a:prstGeom prst="rect">
            <a:avLst/>
          </a:prstGeom>
        </p:spPr>
      </p:pic>
      <p:pic>
        <p:nvPicPr>
          <p:cNvPr id="14" name="图片 13"/>
          <p:cNvPicPr>
            <a:picLocks noChangeAspect="1"/>
          </p:cNvPicPr>
          <p:nvPr/>
        </p:nvPicPr>
        <p:blipFill>
          <a:blip r:embed="rId3"/>
          <a:stretch>
            <a:fillRect/>
          </a:stretch>
        </p:blipFill>
        <p:spPr>
          <a:xfrm>
            <a:off x="918158" y="4066267"/>
            <a:ext cx="1449442" cy="2613021"/>
          </a:xfrm>
          <a:prstGeom prst="rect">
            <a:avLst/>
          </a:prstGeom>
        </p:spPr>
      </p:pic>
      <p:sp>
        <p:nvSpPr>
          <p:cNvPr id="15" name="文本框 14"/>
          <p:cNvSpPr txBox="1"/>
          <p:nvPr/>
        </p:nvSpPr>
        <p:spPr>
          <a:xfrm>
            <a:off x="628510" y="4218615"/>
            <a:ext cx="251342" cy="2308324"/>
          </a:xfrm>
          <a:prstGeom prst="rect">
            <a:avLst/>
          </a:prstGeom>
          <a:noFill/>
        </p:spPr>
        <p:txBody>
          <a:bodyPr wrap="square">
            <a:spAutoFit/>
          </a:bodyPr>
          <a:lstStyle/>
          <a:p>
            <a:pPr algn="ctr"/>
            <a:r>
              <a:rPr lang="zh-CN" altLang="en-US" sz="1200" b="1" dirty="0">
                <a:solidFill>
                  <a:srgbClr val="C00000"/>
                </a:solidFill>
                <a:latin typeface="微软雅黑 Light" panose="020B0502040204020203" pitchFamily="34" charset="-122"/>
                <a:ea typeface="微软雅黑 Light" panose="020B0502040204020203" pitchFamily="34" charset="-122"/>
              </a:rPr>
              <a:t>基于向量查询的图推理计算</a:t>
            </a:r>
            <a:endParaRPr lang="en-US" altLang="zh-CN" sz="1200" b="1" dirty="0">
              <a:solidFill>
                <a:srgbClr val="C00000"/>
              </a:solidFill>
              <a:latin typeface="微软雅黑 Light" panose="020B0502040204020203" pitchFamily="34" charset="-122"/>
              <a:ea typeface="微软雅黑 Light" panose="020B0502040204020203" pitchFamily="34" charset="-122"/>
            </a:endParaRPr>
          </a:p>
        </p:txBody>
      </p:sp>
      <p:sp>
        <p:nvSpPr>
          <p:cNvPr id="16" name="文本框 15"/>
          <p:cNvSpPr txBox="1"/>
          <p:nvPr/>
        </p:nvSpPr>
        <p:spPr>
          <a:xfrm>
            <a:off x="2775839" y="4403281"/>
            <a:ext cx="280520" cy="1938992"/>
          </a:xfrm>
          <a:prstGeom prst="rect">
            <a:avLst/>
          </a:prstGeom>
          <a:noFill/>
        </p:spPr>
        <p:txBody>
          <a:bodyPr wrap="square">
            <a:spAutoFit/>
          </a:bodyPr>
          <a:lstStyle/>
          <a:p>
            <a:pPr algn="ctr"/>
            <a:r>
              <a:rPr lang="zh-CN" altLang="en-US" sz="1200" b="1" dirty="0">
                <a:solidFill>
                  <a:srgbClr val="C00000"/>
                </a:solidFill>
                <a:latin typeface="微软雅黑 Light" panose="020B0502040204020203" pitchFamily="34" charset="-122"/>
                <a:ea typeface="微软雅黑 Light" panose="020B0502040204020203" pitchFamily="34" charset="-122"/>
              </a:rPr>
              <a:t>基于图的专家模型训练</a:t>
            </a:r>
            <a:endParaRPr lang="en-US" altLang="zh-CN" sz="1200" b="1" dirty="0">
              <a:solidFill>
                <a:srgbClr val="C00000"/>
              </a:solidFill>
              <a:latin typeface="微软雅黑 Light" panose="020B0502040204020203" pitchFamily="34" charset="-122"/>
              <a:ea typeface="微软雅黑 Light" panose="020B0502040204020203" pitchFamily="34" charset="-122"/>
            </a:endParaRPr>
          </a:p>
        </p:txBody>
      </p:sp>
      <p:pic>
        <p:nvPicPr>
          <p:cNvPr id="18" name="图片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18053" y="2162132"/>
            <a:ext cx="698499" cy="698499"/>
          </a:xfrm>
          <a:prstGeom prst="rect">
            <a:avLst/>
          </a:prstGeom>
        </p:spPr>
      </p:pic>
      <p:sp>
        <p:nvSpPr>
          <p:cNvPr id="19" name="文本框 18"/>
          <p:cNvSpPr txBox="1"/>
          <p:nvPr/>
        </p:nvSpPr>
        <p:spPr>
          <a:xfrm>
            <a:off x="8820032" y="2773368"/>
            <a:ext cx="494540" cy="261610"/>
          </a:xfrm>
          <a:prstGeom prst="rect">
            <a:avLst/>
          </a:prstGeom>
          <a:noFill/>
        </p:spPr>
        <p:txBody>
          <a:bodyPr wrap="square" rtlCol="0">
            <a:spAutoFit/>
          </a:bodyPr>
          <a:lstStyle/>
          <a:p>
            <a:pPr algn="ctr"/>
            <a:r>
              <a:rPr lang="en-US" altLang="zh-CN" sz="1050" b="1" dirty="0">
                <a:latin typeface="微软雅黑 Light" panose="020B0502040204020203" pitchFamily="34" charset="-122"/>
                <a:ea typeface="微软雅黑 Light" panose="020B0502040204020203" pitchFamily="34" charset="-122"/>
              </a:rPr>
              <a:t>input</a:t>
            </a:r>
            <a:endParaRPr lang="zh-CN" altLang="en-US" sz="1050" b="1" dirty="0">
              <a:latin typeface="微软雅黑 Light" panose="020B0502040204020203" pitchFamily="34" charset="-122"/>
              <a:ea typeface="微软雅黑 Light" panose="020B0502040204020203" pitchFamily="34" charset="-122"/>
            </a:endParaRPr>
          </a:p>
        </p:txBody>
      </p:sp>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97921" y="4562686"/>
            <a:ext cx="588433" cy="588433"/>
          </a:xfrm>
          <a:prstGeom prst="rect">
            <a:avLst/>
          </a:prstGeom>
        </p:spPr>
      </p:pic>
      <p:pic>
        <p:nvPicPr>
          <p:cNvPr id="23" name="图片 2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77973" y="3252650"/>
            <a:ext cx="584341" cy="584341"/>
          </a:xfrm>
          <a:prstGeom prst="rect">
            <a:avLst/>
          </a:prstGeom>
        </p:spPr>
      </p:pic>
      <p:cxnSp>
        <p:nvCxnSpPr>
          <p:cNvPr id="24" name="直接箭头连接符 23"/>
          <p:cNvCxnSpPr>
            <a:stCxn id="19" idx="2"/>
            <a:endCxn id="23" idx="0"/>
          </p:cNvCxnSpPr>
          <p:nvPr/>
        </p:nvCxnSpPr>
        <p:spPr>
          <a:xfrm>
            <a:off x="9067302" y="3034978"/>
            <a:ext cx="2842" cy="217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8746963" y="3839108"/>
            <a:ext cx="665235" cy="253916"/>
          </a:xfrm>
          <a:prstGeom prst="rect">
            <a:avLst/>
          </a:prstGeom>
          <a:noFill/>
        </p:spPr>
        <p:txBody>
          <a:bodyPr wrap="square" rtlCol="0">
            <a:spAutoFit/>
          </a:bodyPr>
          <a:lstStyle/>
          <a:p>
            <a:pPr algn="ctr"/>
            <a:r>
              <a:rPr lang="en-US" altLang="zh-CN" sz="1050" b="1" dirty="0">
                <a:latin typeface="微软雅黑 Light" panose="020B0502040204020203" pitchFamily="34" charset="-122"/>
                <a:ea typeface="微软雅黑 Light" panose="020B0502040204020203" pitchFamily="34" charset="-122"/>
              </a:rPr>
              <a:t>router</a:t>
            </a:r>
            <a:endParaRPr lang="zh-CN" altLang="en-US" sz="1050" b="1" dirty="0">
              <a:latin typeface="微软雅黑 Light" panose="020B0502040204020203" pitchFamily="34" charset="-122"/>
              <a:ea typeface="微软雅黑 Light" panose="020B0502040204020203" pitchFamily="34" charset="-122"/>
            </a:endParaRPr>
          </a:p>
        </p:txBody>
      </p:sp>
      <p:pic>
        <p:nvPicPr>
          <p:cNvPr id="29" name="图片 2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02020" y="4562686"/>
            <a:ext cx="588433" cy="588433"/>
          </a:xfrm>
          <a:prstGeom prst="rect">
            <a:avLst/>
          </a:prstGeom>
        </p:spPr>
      </p:pic>
      <p:pic>
        <p:nvPicPr>
          <p:cNvPr id="30" name="图片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06119" y="4562686"/>
            <a:ext cx="588433" cy="588433"/>
          </a:xfrm>
          <a:prstGeom prst="rect">
            <a:avLst/>
          </a:prstGeom>
        </p:spPr>
      </p:pic>
      <p:pic>
        <p:nvPicPr>
          <p:cNvPr id="31" name="图片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310218" y="4562686"/>
            <a:ext cx="588433" cy="588433"/>
          </a:xfrm>
          <a:prstGeom prst="rect">
            <a:avLst/>
          </a:prstGeom>
        </p:spPr>
      </p:pic>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14317" y="4562686"/>
            <a:ext cx="588433" cy="588433"/>
          </a:xfrm>
          <a:prstGeom prst="rect">
            <a:avLst/>
          </a:prstGeom>
        </p:spPr>
      </p:pic>
      <p:pic>
        <p:nvPicPr>
          <p:cNvPr id="33" name="图片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18414" y="4562686"/>
            <a:ext cx="588433" cy="588433"/>
          </a:xfrm>
          <a:prstGeom prst="rect">
            <a:avLst/>
          </a:prstGeom>
        </p:spPr>
      </p:pic>
      <p:cxnSp>
        <p:nvCxnSpPr>
          <p:cNvPr id="35" name="连接符: 肘形 34"/>
          <p:cNvCxnSpPr>
            <a:stCxn id="28" idx="2"/>
            <a:endCxn id="21" idx="0"/>
          </p:cNvCxnSpPr>
          <p:nvPr/>
        </p:nvCxnSpPr>
        <p:spPr>
          <a:xfrm rot="5400000">
            <a:off x="7601029" y="3084134"/>
            <a:ext cx="469662" cy="248744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p:cNvCxnSpPr>
            <a:stCxn id="28" idx="2"/>
            <a:endCxn id="29" idx="0"/>
          </p:cNvCxnSpPr>
          <p:nvPr/>
        </p:nvCxnSpPr>
        <p:spPr>
          <a:xfrm rot="5400000">
            <a:off x="8103078" y="3586183"/>
            <a:ext cx="469662" cy="148334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连接符: 肘形 38"/>
          <p:cNvCxnSpPr>
            <a:stCxn id="28" idx="2"/>
            <a:endCxn id="30" idx="0"/>
          </p:cNvCxnSpPr>
          <p:nvPr/>
        </p:nvCxnSpPr>
        <p:spPr>
          <a:xfrm rot="5400000">
            <a:off x="8605128" y="4088233"/>
            <a:ext cx="469662" cy="47924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连接符: 肘形 41"/>
          <p:cNvCxnSpPr>
            <a:stCxn id="28" idx="2"/>
            <a:endCxn id="31" idx="0"/>
          </p:cNvCxnSpPr>
          <p:nvPr/>
        </p:nvCxnSpPr>
        <p:spPr>
          <a:xfrm rot="16200000" flipH="1">
            <a:off x="9107177" y="4065428"/>
            <a:ext cx="469662" cy="52485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连接符: 肘形 44"/>
          <p:cNvCxnSpPr>
            <a:stCxn id="28" idx="2"/>
            <a:endCxn id="32" idx="0"/>
          </p:cNvCxnSpPr>
          <p:nvPr/>
        </p:nvCxnSpPr>
        <p:spPr>
          <a:xfrm rot="16200000" flipH="1">
            <a:off x="9609226" y="3563378"/>
            <a:ext cx="469662" cy="152895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连接符: 肘形 47"/>
          <p:cNvCxnSpPr>
            <a:stCxn id="28" idx="2"/>
            <a:endCxn id="33" idx="0"/>
          </p:cNvCxnSpPr>
          <p:nvPr/>
        </p:nvCxnSpPr>
        <p:spPr>
          <a:xfrm rot="16200000" flipH="1">
            <a:off x="10111275" y="3061330"/>
            <a:ext cx="469662" cy="25330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a:xfrm>
            <a:off x="6182086" y="5151119"/>
            <a:ext cx="820101" cy="253916"/>
          </a:xfrm>
          <a:prstGeom prst="rect">
            <a:avLst/>
          </a:prstGeom>
          <a:noFill/>
        </p:spPr>
        <p:txBody>
          <a:bodyPr wrap="square" rtlCol="0">
            <a:spAutoFit/>
          </a:bodyPr>
          <a:lstStyle/>
          <a:p>
            <a:pPr algn="ctr"/>
            <a:r>
              <a:rPr lang="zh-CN" altLang="en-US" sz="1050" b="1" dirty="0">
                <a:latin typeface="微软雅黑 Light" panose="020B0502040204020203" pitchFamily="34" charset="-122"/>
                <a:ea typeface="微软雅黑 Light" panose="020B0502040204020203" pitchFamily="34" charset="-122"/>
              </a:rPr>
              <a:t>专家模型</a:t>
            </a:r>
            <a:r>
              <a:rPr lang="en-US" altLang="zh-CN" sz="1050" b="1" dirty="0">
                <a:latin typeface="微软雅黑 Light" panose="020B0502040204020203" pitchFamily="34" charset="-122"/>
                <a:ea typeface="微软雅黑 Light" panose="020B0502040204020203" pitchFamily="34" charset="-122"/>
              </a:rPr>
              <a:t>1</a:t>
            </a:r>
            <a:endParaRPr lang="zh-CN" altLang="en-US" sz="1050" b="1" dirty="0">
              <a:latin typeface="微软雅黑 Light" panose="020B0502040204020203" pitchFamily="34" charset="-122"/>
              <a:ea typeface="微软雅黑 Light" panose="020B0502040204020203" pitchFamily="34" charset="-122"/>
            </a:endParaRPr>
          </a:p>
        </p:txBody>
      </p:sp>
      <p:sp>
        <p:nvSpPr>
          <p:cNvPr id="58" name="文本框 57"/>
          <p:cNvSpPr txBox="1"/>
          <p:nvPr/>
        </p:nvSpPr>
        <p:spPr>
          <a:xfrm>
            <a:off x="7186185" y="5151119"/>
            <a:ext cx="820101" cy="253916"/>
          </a:xfrm>
          <a:prstGeom prst="rect">
            <a:avLst/>
          </a:prstGeom>
          <a:noFill/>
        </p:spPr>
        <p:txBody>
          <a:bodyPr wrap="square" rtlCol="0">
            <a:spAutoFit/>
          </a:bodyPr>
          <a:lstStyle/>
          <a:p>
            <a:pPr algn="ctr"/>
            <a:r>
              <a:rPr lang="zh-CN" altLang="en-US" sz="1050" b="1" dirty="0">
                <a:latin typeface="微软雅黑 Light" panose="020B0502040204020203" pitchFamily="34" charset="-122"/>
                <a:ea typeface="微软雅黑 Light" panose="020B0502040204020203" pitchFamily="34" charset="-122"/>
              </a:rPr>
              <a:t>专家模型</a:t>
            </a:r>
            <a:r>
              <a:rPr lang="en-US" altLang="zh-CN" sz="1050" b="1" dirty="0">
                <a:latin typeface="微软雅黑 Light" panose="020B0502040204020203" pitchFamily="34" charset="-122"/>
                <a:ea typeface="微软雅黑 Light" panose="020B0502040204020203" pitchFamily="34" charset="-122"/>
              </a:rPr>
              <a:t>2</a:t>
            </a:r>
            <a:endParaRPr lang="zh-CN" altLang="en-US" sz="1050" b="1" dirty="0">
              <a:latin typeface="微软雅黑 Light" panose="020B0502040204020203" pitchFamily="34" charset="-122"/>
              <a:ea typeface="微软雅黑 Light" panose="020B0502040204020203" pitchFamily="34" charset="-122"/>
            </a:endParaRPr>
          </a:p>
        </p:txBody>
      </p:sp>
      <p:sp>
        <p:nvSpPr>
          <p:cNvPr id="59" name="文本框 58"/>
          <p:cNvSpPr txBox="1"/>
          <p:nvPr/>
        </p:nvSpPr>
        <p:spPr>
          <a:xfrm>
            <a:off x="8190284" y="5151119"/>
            <a:ext cx="820101" cy="253916"/>
          </a:xfrm>
          <a:prstGeom prst="rect">
            <a:avLst/>
          </a:prstGeom>
          <a:noFill/>
        </p:spPr>
        <p:txBody>
          <a:bodyPr wrap="square" rtlCol="0">
            <a:spAutoFit/>
          </a:bodyPr>
          <a:lstStyle/>
          <a:p>
            <a:pPr algn="ctr"/>
            <a:r>
              <a:rPr lang="zh-CN" altLang="en-US" sz="1050" b="1" dirty="0">
                <a:latin typeface="微软雅黑 Light" panose="020B0502040204020203" pitchFamily="34" charset="-122"/>
                <a:ea typeface="微软雅黑 Light" panose="020B0502040204020203" pitchFamily="34" charset="-122"/>
              </a:rPr>
              <a:t>专家模型</a:t>
            </a:r>
            <a:r>
              <a:rPr lang="en-US" altLang="zh-CN" sz="1050" b="1" dirty="0">
                <a:latin typeface="微软雅黑 Light" panose="020B0502040204020203" pitchFamily="34" charset="-122"/>
                <a:ea typeface="微软雅黑 Light" panose="020B0502040204020203" pitchFamily="34" charset="-122"/>
              </a:rPr>
              <a:t>3</a:t>
            </a:r>
            <a:endParaRPr lang="zh-CN" altLang="en-US" sz="1050" b="1" dirty="0">
              <a:latin typeface="微软雅黑 Light" panose="020B0502040204020203" pitchFamily="34" charset="-122"/>
              <a:ea typeface="微软雅黑 Light" panose="020B0502040204020203" pitchFamily="34" charset="-122"/>
            </a:endParaRPr>
          </a:p>
        </p:txBody>
      </p:sp>
      <p:sp>
        <p:nvSpPr>
          <p:cNvPr id="60" name="文本框 59"/>
          <p:cNvSpPr txBox="1"/>
          <p:nvPr/>
        </p:nvSpPr>
        <p:spPr>
          <a:xfrm>
            <a:off x="9194383" y="5151119"/>
            <a:ext cx="820101" cy="253916"/>
          </a:xfrm>
          <a:prstGeom prst="rect">
            <a:avLst/>
          </a:prstGeom>
          <a:noFill/>
        </p:spPr>
        <p:txBody>
          <a:bodyPr wrap="square" rtlCol="0">
            <a:spAutoFit/>
          </a:bodyPr>
          <a:lstStyle/>
          <a:p>
            <a:pPr algn="ctr"/>
            <a:r>
              <a:rPr lang="zh-CN" altLang="en-US" sz="1050" b="1" dirty="0">
                <a:latin typeface="微软雅黑 Light" panose="020B0502040204020203" pitchFamily="34" charset="-122"/>
                <a:ea typeface="微软雅黑 Light" panose="020B0502040204020203" pitchFamily="34" charset="-122"/>
              </a:rPr>
              <a:t>专家模型</a:t>
            </a:r>
            <a:r>
              <a:rPr lang="en-US" altLang="zh-CN" sz="1050" b="1" dirty="0">
                <a:latin typeface="微软雅黑 Light" panose="020B0502040204020203" pitchFamily="34" charset="-122"/>
                <a:ea typeface="微软雅黑 Light" panose="020B0502040204020203" pitchFamily="34" charset="-122"/>
              </a:rPr>
              <a:t>4</a:t>
            </a:r>
            <a:endParaRPr lang="zh-CN" altLang="en-US" sz="1050" b="1" dirty="0">
              <a:latin typeface="微软雅黑 Light" panose="020B0502040204020203" pitchFamily="34" charset="-122"/>
              <a:ea typeface="微软雅黑 Light" panose="020B0502040204020203" pitchFamily="34" charset="-122"/>
            </a:endParaRPr>
          </a:p>
        </p:txBody>
      </p:sp>
      <p:sp>
        <p:nvSpPr>
          <p:cNvPr id="61" name="文本框 60"/>
          <p:cNvSpPr txBox="1"/>
          <p:nvPr/>
        </p:nvSpPr>
        <p:spPr>
          <a:xfrm>
            <a:off x="10198482" y="5151119"/>
            <a:ext cx="820101" cy="253916"/>
          </a:xfrm>
          <a:prstGeom prst="rect">
            <a:avLst/>
          </a:prstGeom>
          <a:noFill/>
        </p:spPr>
        <p:txBody>
          <a:bodyPr wrap="square" rtlCol="0">
            <a:spAutoFit/>
          </a:bodyPr>
          <a:lstStyle/>
          <a:p>
            <a:pPr algn="ctr"/>
            <a:r>
              <a:rPr lang="zh-CN" altLang="en-US" sz="1050" b="1" dirty="0">
                <a:latin typeface="微软雅黑 Light" panose="020B0502040204020203" pitchFamily="34" charset="-122"/>
                <a:ea typeface="微软雅黑 Light" panose="020B0502040204020203" pitchFamily="34" charset="-122"/>
              </a:rPr>
              <a:t>专家模型</a:t>
            </a:r>
            <a:r>
              <a:rPr lang="en-US" altLang="zh-CN" sz="1050" b="1" dirty="0">
                <a:latin typeface="微软雅黑 Light" panose="020B0502040204020203" pitchFamily="34" charset="-122"/>
                <a:ea typeface="微软雅黑 Light" panose="020B0502040204020203" pitchFamily="34" charset="-122"/>
              </a:rPr>
              <a:t>5</a:t>
            </a:r>
            <a:endParaRPr lang="zh-CN" altLang="en-US" sz="1050" b="1" dirty="0">
              <a:latin typeface="微软雅黑 Light" panose="020B0502040204020203" pitchFamily="34" charset="-122"/>
              <a:ea typeface="微软雅黑 Light" panose="020B0502040204020203" pitchFamily="34" charset="-122"/>
            </a:endParaRPr>
          </a:p>
        </p:txBody>
      </p:sp>
      <p:sp>
        <p:nvSpPr>
          <p:cNvPr id="62" name="文本框 61"/>
          <p:cNvSpPr txBox="1"/>
          <p:nvPr/>
        </p:nvSpPr>
        <p:spPr>
          <a:xfrm>
            <a:off x="11202581" y="5151119"/>
            <a:ext cx="820101" cy="253916"/>
          </a:xfrm>
          <a:prstGeom prst="rect">
            <a:avLst/>
          </a:prstGeom>
          <a:noFill/>
        </p:spPr>
        <p:txBody>
          <a:bodyPr wrap="square" rtlCol="0">
            <a:spAutoFit/>
          </a:bodyPr>
          <a:lstStyle/>
          <a:p>
            <a:pPr algn="ctr"/>
            <a:r>
              <a:rPr lang="zh-CN" altLang="en-US" sz="1050" b="1" dirty="0">
                <a:latin typeface="微软雅黑 Light" panose="020B0502040204020203" pitchFamily="34" charset="-122"/>
                <a:ea typeface="微软雅黑 Light" panose="020B0502040204020203" pitchFamily="34" charset="-122"/>
              </a:rPr>
              <a:t>专家模型</a:t>
            </a:r>
            <a:r>
              <a:rPr lang="en-US" altLang="zh-CN" sz="1050" b="1" dirty="0">
                <a:latin typeface="微软雅黑 Light" panose="020B0502040204020203" pitchFamily="34" charset="-122"/>
                <a:ea typeface="微软雅黑 Light" panose="020B0502040204020203" pitchFamily="34" charset="-122"/>
              </a:rPr>
              <a:t>6</a:t>
            </a:r>
            <a:endParaRPr lang="zh-CN" altLang="en-US" sz="1050" b="1" dirty="0">
              <a:latin typeface="微软雅黑 Light" panose="020B0502040204020203" pitchFamily="34" charset="-122"/>
              <a:ea typeface="微软雅黑 Light" panose="020B0502040204020203" pitchFamily="34" charset="-122"/>
            </a:endParaRPr>
          </a:p>
        </p:txBody>
      </p:sp>
      <p:sp>
        <p:nvSpPr>
          <p:cNvPr id="64" name="文本框 63"/>
          <p:cNvSpPr txBox="1"/>
          <p:nvPr/>
        </p:nvSpPr>
        <p:spPr>
          <a:xfrm>
            <a:off x="7765774" y="5639000"/>
            <a:ext cx="2857217" cy="891911"/>
          </a:xfrm>
          <a:prstGeom prst="rect">
            <a:avLst/>
          </a:prstGeom>
          <a:noFill/>
        </p:spPr>
        <p:txBody>
          <a:bodyPr wrap="square">
            <a:spAutoFit/>
          </a:bodyPr>
          <a:lstStyle/>
          <a:p>
            <a:pPr marL="171450" indent="-171450">
              <a:lnSpc>
                <a:spcPct val="150000"/>
              </a:lnSpc>
              <a:buFont typeface="Wingdings" panose="05000000000000000000" pitchFamily="2" charset="2"/>
              <a:buChar char="l"/>
            </a:pPr>
            <a:r>
              <a:rPr lang="zh-CN" altLang="en-US" sz="1200" b="1" u="sng" dirty="0">
                <a:solidFill>
                  <a:srgbClr val="1D6EFE"/>
                </a:solidFill>
                <a:latin typeface="微软雅黑 Light" panose="020B0502040204020203" pitchFamily="34" charset="-122"/>
                <a:ea typeface="微软雅黑 Light" panose="020B0502040204020203" pitchFamily="34" charset="-122"/>
              </a:rPr>
              <a:t>本体供给高质量专业知识</a:t>
            </a:r>
            <a:endParaRPr lang="en-US" altLang="zh-CN" sz="1200" b="1" u="sng" dirty="0">
              <a:solidFill>
                <a:srgbClr val="1D6EFE"/>
              </a:solidFill>
              <a:latin typeface="微软雅黑 Light" panose="020B0502040204020203" pitchFamily="34" charset="-122"/>
              <a:ea typeface="微软雅黑 Light" panose="020B0502040204020203" pitchFamily="34" charset="-122"/>
            </a:endParaRPr>
          </a:p>
          <a:p>
            <a:pPr marL="171450" indent="-171450">
              <a:lnSpc>
                <a:spcPct val="150000"/>
              </a:lnSpc>
              <a:buFont typeface="Wingdings" panose="05000000000000000000" pitchFamily="2" charset="2"/>
              <a:buChar char="l"/>
            </a:pPr>
            <a:r>
              <a:rPr lang="zh-CN" altLang="en-US" sz="1200" b="1" u="sng" dirty="0">
                <a:solidFill>
                  <a:srgbClr val="1D6EFE"/>
                </a:solidFill>
                <a:latin typeface="微软雅黑 Light" panose="020B0502040204020203" pitchFamily="34" charset="-122"/>
                <a:ea typeface="微软雅黑 Light" panose="020B0502040204020203" pitchFamily="34" charset="-122"/>
              </a:rPr>
              <a:t>小参数模型训练成本低</a:t>
            </a:r>
            <a:endParaRPr lang="en-US" altLang="zh-CN" sz="1200" b="1" u="sng" dirty="0">
              <a:solidFill>
                <a:srgbClr val="1D6EFE"/>
              </a:solidFill>
              <a:latin typeface="微软雅黑 Light" panose="020B0502040204020203" pitchFamily="34" charset="-122"/>
              <a:ea typeface="微软雅黑 Light" panose="020B0502040204020203" pitchFamily="34" charset="-122"/>
            </a:endParaRPr>
          </a:p>
          <a:p>
            <a:pPr marL="171450" indent="-171450">
              <a:lnSpc>
                <a:spcPct val="150000"/>
              </a:lnSpc>
              <a:buFont typeface="Wingdings" panose="05000000000000000000" pitchFamily="2" charset="2"/>
              <a:buChar char="l"/>
            </a:pPr>
            <a:r>
              <a:rPr lang="zh-CN" altLang="en-US" sz="1200" b="1" u="sng" dirty="0">
                <a:solidFill>
                  <a:srgbClr val="1D6EFE"/>
                </a:solidFill>
                <a:latin typeface="微软雅黑 Light" panose="020B0502040204020203" pitchFamily="34" charset="-122"/>
                <a:ea typeface="微软雅黑 Light" panose="020B0502040204020203" pitchFamily="34" charset="-122"/>
              </a:rPr>
              <a:t>模型出现性能衰减可灵活插拔</a:t>
            </a:r>
            <a:endParaRPr lang="zh-CN" altLang="en-US" sz="1200" b="1" u="sng" dirty="0">
              <a:solidFill>
                <a:srgbClr val="1D6EFE"/>
              </a:solidFill>
              <a:latin typeface="微软雅黑 Light" panose="020B0502040204020203" pitchFamily="34" charset="-122"/>
              <a:ea typeface="微软雅黑 Light" panose="020B0502040204020203" pitchFamily="34" charset="-122"/>
            </a:endParaRPr>
          </a:p>
        </p:txBody>
      </p:sp>
      <p:pic>
        <p:nvPicPr>
          <p:cNvPr id="66" name="图片 6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91416" y="5884343"/>
            <a:ext cx="588433" cy="588433"/>
          </a:xfrm>
          <a:prstGeom prst="rect">
            <a:avLst/>
          </a:prstGeom>
        </p:spPr>
      </p:pic>
      <p:sp>
        <p:nvSpPr>
          <p:cNvPr id="67" name="文本框 66"/>
          <p:cNvSpPr txBox="1"/>
          <p:nvPr/>
        </p:nvSpPr>
        <p:spPr>
          <a:xfrm>
            <a:off x="11275583" y="6472776"/>
            <a:ext cx="820101" cy="253916"/>
          </a:xfrm>
          <a:prstGeom prst="rect">
            <a:avLst/>
          </a:prstGeom>
          <a:noFill/>
        </p:spPr>
        <p:txBody>
          <a:bodyPr wrap="square" rtlCol="0">
            <a:spAutoFit/>
          </a:bodyPr>
          <a:lstStyle/>
          <a:p>
            <a:pPr algn="ctr"/>
            <a:r>
              <a:rPr lang="zh-CN" altLang="en-US" sz="1050" b="1" dirty="0">
                <a:latin typeface="微软雅黑 Light" panose="020B0502040204020203" pitchFamily="34" charset="-122"/>
                <a:ea typeface="微软雅黑 Light" panose="020B0502040204020203" pitchFamily="34" charset="-122"/>
              </a:rPr>
              <a:t>专家模型</a:t>
            </a:r>
            <a:r>
              <a:rPr lang="en-US" altLang="zh-CN" sz="1050" b="1" dirty="0">
                <a:latin typeface="微软雅黑 Light" panose="020B0502040204020203" pitchFamily="34" charset="-122"/>
                <a:ea typeface="微软雅黑 Light" panose="020B0502040204020203" pitchFamily="34" charset="-122"/>
              </a:rPr>
              <a:t>7</a:t>
            </a:r>
            <a:endParaRPr lang="zh-CN" altLang="en-US" sz="1050" b="1" dirty="0">
              <a:latin typeface="微软雅黑 Light" panose="020B0502040204020203" pitchFamily="34" charset="-122"/>
              <a:ea typeface="微软雅黑 Light" panose="020B0502040204020203" pitchFamily="34" charset="-122"/>
            </a:endParaRPr>
          </a:p>
        </p:txBody>
      </p:sp>
      <p:sp>
        <p:nvSpPr>
          <p:cNvPr id="68" name="箭头: 上 67"/>
          <p:cNvSpPr/>
          <p:nvPr/>
        </p:nvSpPr>
        <p:spPr>
          <a:xfrm>
            <a:off x="11694340" y="5457581"/>
            <a:ext cx="168939" cy="345692"/>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箭头: 上 68"/>
          <p:cNvSpPr/>
          <p:nvPr/>
        </p:nvSpPr>
        <p:spPr>
          <a:xfrm rot="10800000">
            <a:off x="11488378" y="5457581"/>
            <a:ext cx="168939" cy="345692"/>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Users/zhouqingyun/Library/Containers/com.kingsoft.wpsoffice.mac/Data/tmp/picturecompress_20260708154134/output_1.pngoutput_1"/>
          <p:cNvPicPr>
            <a:picLocks noChangeAspect="1"/>
          </p:cNvPicPr>
          <p:nvPr/>
        </p:nvPicPr>
        <p:blipFill>
          <a:blip r:embed="rId7"/>
          <a:srcRect/>
          <a:stretch>
            <a:fillRect/>
          </a:stretch>
        </p:blipFill>
        <p:spPr>
          <a:xfrm>
            <a:off x="124918" y="2700052"/>
            <a:ext cx="898353" cy="977526"/>
          </a:xfrm>
          <a:prstGeom prst="rect">
            <a:avLst/>
          </a:prstGeom>
        </p:spPr>
      </p:pic>
      <p:grpSp>
        <p:nvGrpSpPr>
          <p:cNvPr id="6" name="组合 5"/>
          <p:cNvGrpSpPr/>
          <p:nvPr/>
        </p:nvGrpSpPr>
        <p:grpSpPr>
          <a:xfrm>
            <a:off x="9675495" y="0"/>
            <a:ext cx="2459355" cy="171450"/>
            <a:chOff x="16516" y="0"/>
            <a:chExt cx="2594" cy="270"/>
          </a:xfrm>
        </p:grpSpPr>
        <p:sp>
          <p:nvSpPr>
            <p:cNvPr id="10" name="矩形 9"/>
            <p:cNvSpPr/>
            <p:nvPr/>
          </p:nvSpPr>
          <p:spPr>
            <a:xfrm>
              <a:off x="16516" y="0"/>
              <a:ext cx="1322" cy="270"/>
            </a:xfrm>
            <a:prstGeom prst="rect">
              <a:avLst/>
            </a:prstGeom>
            <a:solidFill>
              <a:schemeClr val="bg1">
                <a:lumMod val="5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数字化全域延伸</a:t>
              </a:r>
              <a:endParaRPr lang="zh-CN" altLang="en-US" sz="1000">
                <a:latin typeface="微软雅黑" panose="020B0503020204020204" charset="-122"/>
                <a:ea typeface="微软雅黑" panose="020B0503020204020204" charset="-122"/>
              </a:endParaRPr>
            </a:p>
          </p:txBody>
        </p:sp>
        <p:sp>
          <p:nvSpPr>
            <p:cNvPr id="11" name="矩形 10"/>
            <p:cNvSpPr/>
            <p:nvPr/>
          </p:nvSpPr>
          <p:spPr>
            <a:xfrm>
              <a:off x="17788" y="0"/>
              <a:ext cx="1322" cy="270"/>
            </a:xfrm>
            <a:prstGeom prst="rect">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000">
                  <a:latin typeface="微软雅黑" panose="020B0503020204020204" charset="-122"/>
                  <a:ea typeface="微软雅黑" panose="020B0503020204020204" charset="-122"/>
                </a:rPr>
                <a:t>模型内化重构升级</a:t>
              </a:r>
              <a:endParaRPr lang="zh-CN" altLang="en-US" sz="1000">
                <a:latin typeface="微软雅黑" panose="020B0503020204020204" charset="-122"/>
                <a:ea typeface="微软雅黑" panose="020B0503020204020204" charset="-122"/>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288353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en-US" altLang="zh-CN"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圆角 56"/>
          <p:cNvSpPr/>
          <p:nvPr/>
        </p:nvSpPr>
        <p:spPr>
          <a:xfrm>
            <a:off x="320396" y="2293722"/>
            <a:ext cx="4668164" cy="4297578"/>
          </a:xfrm>
          <a:prstGeom prst="roundRect">
            <a:avLst>
              <a:gd name="adj" fmla="val 406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7" name="Title 6"/>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科技主导的知识建设模式方案</a:t>
            </a:r>
            <a:endParaRPr kumimoji="0"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8" name="Rectangle 7"/>
          <p:cNvSpPr/>
          <p:nvPr/>
        </p:nvSpPr>
        <p:spPr>
          <a:xfrm>
            <a:off x="320675" y="862330"/>
            <a:ext cx="11438255" cy="10350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n"/>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建设模式</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新建</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知识运营团队</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打造“</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3+N</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”知识管理组织</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科技侧负责平台建设</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主导知识全流程管理</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知识治理和运营</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业务侧负责知识提出需求意向及提供知识相关资料</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lang="zh-CN" altLang="en-US" noProof="0" dirty="0">
                <a:ln>
                  <a:noFill/>
                </a:ln>
                <a:solidFill>
                  <a:prstClr val="black"/>
                </a:solidFill>
                <a:effectLst/>
                <a:uLnTx/>
                <a:uFillTx/>
                <a:latin typeface="微软雅黑" panose="020B0503020204020204" charset="-122"/>
                <a:ea typeface="微软雅黑" panose="020B0503020204020204" charset="-122"/>
                <a:sym typeface="+mn-ea"/>
              </a:rPr>
              <a:t>并对运营报告提出改进建议</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85750" marR="0" lvl="0" indent="-28575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n"/>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技术创新</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实现</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AI</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为主、人工为辅的智能化自治运营体系</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打破传统人工运维的效率评价</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降本增效</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285750" marR="0" lvl="0" indent="-285750" algn="l" defTabSz="914400" rtl="0" eaLnBrk="1" fontAlgn="auto" latinLnBrk="0" hangingPunct="1">
              <a:lnSpc>
                <a:spcPct val="100000"/>
              </a:lnSpc>
              <a:spcBef>
                <a:spcPts val="0"/>
              </a:spcBef>
              <a:spcAft>
                <a:spcPts val="0"/>
              </a:spcAft>
              <a:buClr>
                <a:srgbClr val="4472C4"/>
              </a:buClr>
              <a:buSzTx/>
              <a:buFont typeface="Wingdings" panose="05000000000000000000" pitchFamily="2" charset="2"/>
              <a:buChar char="n"/>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主要流程</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：①</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知识需求实施流程</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②</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知识演进及保鲜流程</a:t>
            </a:r>
            <a:r>
              <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③</a:t>
            </a:r>
            <a:r>
              <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日常知识运营管理流程</a:t>
            </a: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64" name="组合 63"/>
          <p:cNvGrpSpPr/>
          <p:nvPr/>
        </p:nvGrpSpPr>
        <p:grpSpPr>
          <a:xfrm>
            <a:off x="3707327" y="2548980"/>
            <a:ext cx="928940" cy="611545"/>
            <a:chOff x="5934123" y="2372108"/>
            <a:chExt cx="928940" cy="611545"/>
          </a:xfrm>
        </p:grpSpPr>
        <p:grpSp>
          <p:nvGrpSpPr>
            <p:cNvPr id="62" name="组合 61"/>
            <p:cNvGrpSpPr/>
            <p:nvPr/>
          </p:nvGrpSpPr>
          <p:grpSpPr>
            <a:xfrm>
              <a:off x="5934123" y="2372108"/>
              <a:ext cx="925189" cy="251481"/>
              <a:chOff x="579396" y="6165652"/>
              <a:chExt cx="925189" cy="251481"/>
            </a:xfrm>
          </p:grpSpPr>
          <p:sp>
            <p:nvSpPr>
              <p:cNvPr id="26" name="Oval 24"/>
              <p:cNvSpPr/>
              <p:nvPr/>
            </p:nvSpPr>
            <p:spPr bwMode="gray">
              <a:xfrm>
                <a:off x="579396" y="6176869"/>
                <a:ext cx="229046" cy="229046"/>
              </a:xfrm>
              <a:prstGeom prst="ellipse">
                <a:avLst/>
              </a:prstGeom>
              <a:solidFill>
                <a:srgbClr val="FFC9C9"/>
              </a:solidFill>
              <a:ln w="12700" algn="ctr">
                <a:noFill/>
                <a:miter lim="800000"/>
              </a:ln>
            </p:spPr>
            <p:txBody>
              <a:bodyPr rot="0" spcFirstLastPara="0" vertOverflow="overflow" horzOverflow="overflow" vert="horz" wrap="square" lIns="88900" tIns="88900" rIns="88900" bIns="88900" numCol="1" spcCol="0" rtlCol="0" fromWordArt="0" anchor="ctr" anchorCtr="0" forceAA="0" compatLnSpc="1">
                <a:noAutofit/>
              </a:bodyP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endParaRPr kumimoji="0" 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8" name="文本框 27"/>
              <p:cNvSpPr txBox="1"/>
              <p:nvPr/>
            </p:nvSpPr>
            <p:spPr>
              <a:xfrm>
                <a:off x="778946" y="6165652"/>
                <a:ext cx="725639" cy="25148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1"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业务人员</a:t>
                </a:r>
                <a:endParaRPr kumimoji="0" lang="zh-CN" altLang="en-US" sz="1000" b="0" i="1"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59" name="组合 58"/>
            <p:cNvGrpSpPr/>
            <p:nvPr/>
          </p:nvGrpSpPr>
          <p:grpSpPr>
            <a:xfrm>
              <a:off x="5934123" y="2732172"/>
              <a:ext cx="928940" cy="251481"/>
              <a:chOff x="1929274" y="6165652"/>
              <a:chExt cx="928940" cy="251481"/>
            </a:xfrm>
          </p:grpSpPr>
          <p:sp>
            <p:nvSpPr>
              <p:cNvPr id="27" name="Oval 24"/>
              <p:cNvSpPr/>
              <p:nvPr/>
            </p:nvSpPr>
            <p:spPr bwMode="gray">
              <a:xfrm>
                <a:off x="1929274" y="6176869"/>
                <a:ext cx="229046" cy="229046"/>
              </a:xfrm>
              <a:prstGeom prst="ellipse">
                <a:avLst/>
              </a:prstGeom>
              <a:solidFill>
                <a:schemeClr val="accent1">
                  <a:lumMod val="40000"/>
                  <a:lumOff val="60000"/>
                </a:schemeClr>
              </a:solidFill>
              <a:ln w="12700" algn="ctr">
                <a:noFill/>
                <a:miter lim="800000"/>
              </a:ln>
            </p:spPr>
            <p:txBody>
              <a:bodyPr rot="0" spcFirstLastPara="0" vertOverflow="overflow" horzOverflow="overflow" vert="horz" wrap="square" lIns="88900" tIns="88900" rIns="88900" bIns="88900" numCol="1" spcCol="0" rtlCol="0" fromWordArt="0" anchor="ctr" anchorCtr="0" forceAA="0" compatLnSpc="1">
                <a:noAutofit/>
              </a:bodyP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endParaRPr kumimoji="0" lang="en-US" sz="14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9" name="文本框 28"/>
              <p:cNvSpPr txBox="1"/>
              <p:nvPr/>
            </p:nvSpPr>
            <p:spPr>
              <a:xfrm>
                <a:off x="2132575" y="6165652"/>
                <a:ext cx="725639" cy="25148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1"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科技人员</a:t>
                </a:r>
                <a:endParaRPr kumimoji="0" lang="zh-CN" altLang="en-US" sz="1000" b="0" i="1"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grpSp>
      </p:grpSp>
      <p:sp>
        <p:nvSpPr>
          <p:cNvPr id="56" name="Oval 36"/>
          <p:cNvSpPr/>
          <p:nvPr/>
        </p:nvSpPr>
        <p:spPr bwMode="gray">
          <a:xfrm>
            <a:off x="3441925" y="3995771"/>
            <a:ext cx="1071729" cy="1071729"/>
          </a:xfrm>
          <a:prstGeom prst="ellipse">
            <a:avLst/>
          </a:prstGeom>
          <a:solidFill>
            <a:srgbClr val="FFC9C9"/>
          </a:solidFill>
          <a:ln w="12700" algn="ctr">
            <a:noFill/>
            <a:miter lim="800000"/>
          </a:ln>
        </p:spPr>
        <p:txBody>
          <a:bodyPr rot="0" spcFirstLastPara="0" vertOverflow="overflow" horzOverflow="overflow" vert="horz" wrap="square" lIns="88900" tIns="88900" rIns="88900" bIns="88900" numCol="1" spcCol="0" rtlCol="0" fromWordArt="0" anchor="ctr" anchorCtr="0" forceAA="0" compatLnSpc="1">
            <a:noAutofit/>
          </a:bodyP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endParaRPr kumimoji="0" 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6" name="Rounded Rectangle 50"/>
          <p:cNvSpPr/>
          <p:nvPr/>
        </p:nvSpPr>
        <p:spPr bwMode="gray">
          <a:xfrm>
            <a:off x="3178452" y="5426494"/>
            <a:ext cx="1657708" cy="1035264"/>
          </a:xfrm>
          <a:prstGeom prst="roundRect">
            <a:avLst/>
          </a:prstGeom>
          <a:solidFill>
            <a:schemeClr val="bg1">
              <a:lumMod val="95000"/>
            </a:schemeClr>
          </a:solidFill>
          <a:ln w="12700" algn="ctr">
            <a:noFill/>
            <a:miter lim="800000"/>
          </a:ln>
        </p:spPr>
        <p:txBody>
          <a:bodyPr rot="0" spcFirstLastPara="0" vertOverflow="overflow" horzOverflow="overflow" vert="horz" wrap="square" lIns="0" tIns="288000" rIns="0" bIns="36000" numCol="1" spcCol="0" rtlCol="0" fromWordArt="0" anchor="t" anchorCtr="0" forceAA="0" compatLnSpc="1">
            <a:noAutofit/>
          </a:bodyPr>
          <a:lstStyle/>
          <a:p>
            <a:pPr marL="0" marR="0" lvl="0" indent="0" algn="l" defTabSz="914400" rtl="0" eaLnBrk="1" fontAlgn="auto" latinLnBrk="0" hangingPunct="1">
              <a:lnSpc>
                <a:spcPts val="12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负责知识需求的提出和提供知识相关资料</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并对知识运营报告提出改进建议</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sp>
        <p:nvSpPr>
          <p:cNvPr id="155" name="椭圆 154"/>
          <p:cNvSpPr/>
          <p:nvPr/>
        </p:nvSpPr>
        <p:spPr>
          <a:xfrm>
            <a:off x="958166" y="3820808"/>
            <a:ext cx="1443817" cy="1443817"/>
          </a:xfrm>
          <a:prstGeom prst="ellipse">
            <a:avLst/>
          </a:prstGeom>
          <a:noFill/>
          <a:ln>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157" name="组合 156"/>
          <p:cNvGrpSpPr/>
          <p:nvPr/>
        </p:nvGrpSpPr>
        <p:grpSpPr>
          <a:xfrm>
            <a:off x="810533" y="4630616"/>
            <a:ext cx="540000" cy="540000"/>
            <a:chOff x="8356261" y="3100487"/>
            <a:chExt cx="540000" cy="540000"/>
          </a:xfrm>
        </p:grpSpPr>
        <p:sp>
          <p:nvSpPr>
            <p:cNvPr id="141" name="Oval 25"/>
            <p:cNvSpPr/>
            <p:nvPr/>
          </p:nvSpPr>
          <p:spPr bwMode="gray">
            <a:xfrm>
              <a:off x="8356261" y="3100487"/>
              <a:ext cx="540000" cy="540000"/>
            </a:xfrm>
            <a:prstGeom prst="ellipse">
              <a:avLst/>
            </a:prstGeom>
            <a:solidFill>
              <a:schemeClr val="accent1">
                <a:lumMod val="40000"/>
                <a:lumOff val="60000"/>
              </a:schemeClr>
            </a:solidFill>
            <a:ln w="12700" algn="ctr">
              <a:noFill/>
              <a:miter lim="800000"/>
            </a:ln>
          </p:spPr>
          <p:txBody>
            <a:bodyPr rot="0" spcFirstLastPara="0" vertOverflow="overflow" horzOverflow="overflow" vert="horz" wrap="square" lIns="88900" tIns="88900" rIns="88900" bIns="88900" numCol="1" spcCol="0" rtlCol="0" fromWordArt="0" anchor="ctr" anchorCtr="0" forceAA="0" compatLnSpc="1">
              <a:noAutofit/>
            </a:bodyP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endParaRPr kumimoji="0" 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143" name="Group 1090"/>
            <p:cNvGrpSpPr/>
            <p:nvPr/>
          </p:nvGrpSpPr>
          <p:grpSpPr>
            <a:xfrm flipH="1">
              <a:off x="8535111" y="3155249"/>
              <a:ext cx="182298" cy="432388"/>
              <a:chOff x="7516813" y="4146550"/>
              <a:chExt cx="904875" cy="2130425"/>
            </a:xfrm>
          </p:grpSpPr>
          <p:sp>
            <p:nvSpPr>
              <p:cNvPr id="149" name="Freeform 159"/>
              <p:cNvSpPr>
                <a:spLocks noEditPoints="1"/>
              </p:cNvSpPr>
              <p:nvPr/>
            </p:nvSpPr>
            <p:spPr bwMode="auto">
              <a:xfrm>
                <a:off x="7516813" y="4146550"/>
                <a:ext cx="904875" cy="2130425"/>
              </a:xfrm>
              <a:custGeom>
                <a:avLst/>
                <a:gdLst>
                  <a:gd name="T0" fmla="*/ 516 w 570"/>
                  <a:gd name="T1" fmla="*/ 1240 h 1342"/>
                  <a:gd name="T2" fmla="*/ 444 w 570"/>
                  <a:gd name="T3" fmla="*/ 1014 h 1342"/>
                  <a:gd name="T4" fmla="*/ 428 w 570"/>
                  <a:gd name="T5" fmla="*/ 930 h 1342"/>
                  <a:gd name="T6" fmla="*/ 414 w 570"/>
                  <a:gd name="T7" fmla="*/ 750 h 1342"/>
                  <a:gd name="T8" fmla="*/ 396 w 570"/>
                  <a:gd name="T9" fmla="*/ 604 h 1342"/>
                  <a:gd name="T10" fmla="*/ 408 w 570"/>
                  <a:gd name="T11" fmla="*/ 582 h 1342"/>
                  <a:gd name="T12" fmla="*/ 388 w 570"/>
                  <a:gd name="T13" fmla="*/ 526 h 1342"/>
                  <a:gd name="T14" fmla="*/ 384 w 570"/>
                  <a:gd name="T15" fmla="*/ 420 h 1342"/>
                  <a:gd name="T16" fmla="*/ 394 w 570"/>
                  <a:gd name="T17" fmla="*/ 428 h 1342"/>
                  <a:gd name="T18" fmla="*/ 448 w 570"/>
                  <a:gd name="T19" fmla="*/ 612 h 1342"/>
                  <a:gd name="T20" fmla="*/ 464 w 570"/>
                  <a:gd name="T21" fmla="*/ 670 h 1342"/>
                  <a:gd name="T22" fmla="*/ 466 w 570"/>
                  <a:gd name="T23" fmla="*/ 724 h 1342"/>
                  <a:gd name="T24" fmla="*/ 474 w 570"/>
                  <a:gd name="T25" fmla="*/ 716 h 1342"/>
                  <a:gd name="T26" fmla="*/ 482 w 570"/>
                  <a:gd name="T27" fmla="*/ 696 h 1342"/>
                  <a:gd name="T28" fmla="*/ 482 w 570"/>
                  <a:gd name="T29" fmla="*/ 728 h 1342"/>
                  <a:gd name="T30" fmla="*/ 468 w 570"/>
                  <a:gd name="T31" fmla="*/ 748 h 1342"/>
                  <a:gd name="T32" fmla="*/ 504 w 570"/>
                  <a:gd name="T33" fmla="*/ 728 h 1342"/>
                  <a:gd name="T34" fmla="*/ 510 w 570"/>
                  <a:gd name="T35" fmla="*/ 676 h 1342"/>
                  <a:gd name="T36" fmla="*/ 512 w 570"/>
                  <a:gd name="T37" fmla="*/ 622 h 1342"/>
                  <a:gd name="T38" fmla="*/ 464 w 570"/>
                  <a:gd name="T39" fmla="*/ 340 h 1342"/>
                  <a:gd name="T40" fmla="*/ 454 w 570"/>
                  <a:gd name="T41" fmla="*/ 224 h 1342"/>
                  <a:gd name="T42" fmla="*/ 430 w 570"/>
                  <a:gd name="T43" fmla="*/ 210 h 1342"/>
                  <a:gd name="T44" fmla="*/ 418 w 570"/>
                  <a:gd name="T45" fmla="*/ 142 h 1342"/>
                  <a:gd name="T46" fmla="*/ 392 w 570"/>
                  <a:gd name="T47" fmla="*/ 102 h 1342"/>
                  <a:gd name="T48" fmla="*/ 316 w 570"/>
                  <a:gd name="T49" fmla="*/ 18 h 1342"/>
                  <a:gd name="T50" fmla="*/ 244 w 570"/>
                  <a:gd name="T51" fmla="*/ 4 h 1342"/>
                  <a:gd name="T52" fmla="*/ 200 w 570"/>
                  <a:gd name="T53" fmla="*/ 48 h 1342"/>
                  <a:gd name="T54" fmla="*/ 154 w 570"/>
                  <a:gd name="T55" fmla="*/ 140 h 1342"/>
                  <a:gd name="T56" fmla="*/ 172 w 570"/>
                  <a:gd name="T57" fmla="*/ 220 h 1342"/>
                  <a:gd name="T58" fmla="*/ 144 w 570"/>
                  <a:gd name="T59" fmla="*/ 250 h 1342"/>
                  <a:gd name="T60" fmla="*/ 20 w 570"/>
                  <a:gd name="T61" fmla="*/ 352 h 1342"/>
                  <a:gd name="T62" fmla="*/ 4 w 570"/>
                  <a:gd name="T63" fmla="*/ 402 h 1342"/>
                  <a:gd name="T64" fmla="*/ 116 w 570"/>
                  <a:gd name="T65" fmla="*/ 526 h 1342"/>
                  <a:gd name="T66" fmla="*/ 150 w 570"/>
                  <a:gd name="T67" fmla="*/ 512 h 1342"/>
                  <a:gd name="T68" fmla="*/ 142 w 570"/>
                  <a:gd name="T69" fmla="*/ 572 h 1342"/>
                  <a:gd name="T70" fmla="*/ 128 w 570"/>
                  <a:gd name="T71" fmla="*/ 706 h 1342"/>
                  <a:gd name="T72" fmla="*/ 114 w 570"/>
                  <a:gd name="T73" fmla="*/ 914 h 1342"/>
                  <a:gd name="T74" fmla="*/ 142 w 570"/>
                  <a:gd name="T75" fmla="*/ 926 h 1342"/>
                  <a:gd name="T76" fmla="*/ 142 w 570"/>
                  <a:gd name="T77" fmla="*/ 1026 h 1342"/>
                  <a:gd name="T78" fmla="*/ 160 w 570"/>
                  <a:gd name="T79" fmla="*/ 1188 h 1342"/>
                  <a:gd name="T80" fmla="*/ 158 w 570"/>
                  <a:gd name="T81" fmla="*/ 1266 h 1342"/>
                  <a:gd name="T82" fmla="*/ 158 w 570"/>
                  <a:gd name="T83" fmla="*/ 1320 h 1342"/>
                  <a:gd name="T84" fmla="*/ 206 w 570"/>
                  <a:gd name="T85" fmla="*/ 1324 h 1342"/>
                  <a:gd name="T86" fmla="*/ 208 w 570"/>
                  <a:gd name="T87" fmla="*/ 1256 h 1342"/>
                  <a:gd name="T88" fmla="*/ 214 w 570"/>
                  <a:gd name="T89" fmla="*/ 942 h 1342"/>
                  <a:gd name="T90" fmla="*/ 326 w 570"/>
                  <a:gd name="T91" fmla="*/ 938 h 1342"/>
                  <a:gd name="T92" fmla="*/ 352 w 570"/>
                  <a:gd name="T93" fmla="*/ 972 h 1342"/>
                  <a:gd name="T94" fmla="*/ 426 w 570"/>
                  <a:gd name="T95" fmla="*/ 1144 h 1342"/>
                  <a:gd name="T96" fmla="*/ 452 w 570"/>
                  <a:gd name="T97" fmla="*/ 1240 h 1342"/>
                  <a:gd name="T98" fmla="*/ 460 w 570"/>
                  <a:gd name="T99" fmla="*/ 1276 h 1342"/>
                  <a:gd name="T100" fmla="*/ 464 w 570"/>
                  <a:gd name="T101" fmla="*/ 1330 h 1342"/>
                  <a:gd name="T102" fmla="*/ 474 w 570"/>
                  <a:gd name="T103" fmla="*/ 1284 h 1342"/>
                  <a:gd name="T104" fmla="*/ 488 w 570"/>
                  <a:gd name="T105" fmla="*/ 1332 h 1342"/>
                  <a:gd name="T106" fmla="*/ 556 w 570"/>
                  <a:gd name="T107" fmla="*/ 1342 h 1342"/>
                  <a:gd name="T108" fmla="*/ 540 w 570"/>
                  <a:gd name="T109" fmla="*/ 1318 h 1342"/>
                  <a:gd name="T110" fmla="*/ 132 w 570"/>
                  <a:gd name="T111" fmla="*/ 460 h 1342"/>
                  <a:gd name="T112" fmla="*/ 98 w 570"/>
                  <a:gd name="T113" fmla="*/ 426 h 1342"/>
                  <a:gd name="T114" fmla="*/ 78 w 570"/>
                  <a:gd name="T115" fmla="*/ 388 h 1342"/>
                  <a:gd name="T116" fmla="*/ 160 w 570"/>
                  <a:gd name="T117" fmla="*/ 338 h 1342"/>
                  <a:gd name="T118" fmla="*/ 198 w 570"/>
                  <a:gd name="T119" fmla="*/ 382 h 1342"/>
                  <a:gd name="T120" fmla="*/ 202 w 570"/>
                  <a:gd name="T121" fmla="*/ 444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0" h="1342">
                    <a:moveTo>
                      <a:pt x="534" y="1308"/>
                    </a:moveTo>
                    <a:lnTo>
                      <a:pt x="534" y="1308"/>
                    </a:lnTo>
                    <a:lnTo>
                      <a:pt x="530" y="1298"/>
                    </a:lnTo>
                    <a:lnTo>
                      <a:pt x="526" y="1290"/>
                    </a:lnTo>
                    <a:lnTo>
                      <a:pt x="524" y="1274"/>
                    </a:lnTo>
                    <a:lnTo>
                      <a:pt x="520" y="1254"/>
                    </a:lnTo>
                    <a:lnTo>
                      <a:pt x="516" y="1240"/>
                    </a:lnTo>
                    <a:lnTo>
                      <a:pt x="508" y="1224"/>
                    </a:lnTo>
                    <a:lnTo>
                      <a:pt x="508" y="1224"/>
                    </a:lnTo>
                    <a:lnTo>
                      <a:pt x="496" y="1182"/>
                    </a:lnTo>
                    <a:lnTo>
                      <a:pt x="482" y="1138"/>
                    </a:lnTo>
                    <a:lnTo>
                      <a:pt x="454" y="1042"/>
                    </a:lnTo>
                    <a:lnTo>
                      <a:pt x="454" y="1042"/>
                    </a:lnTo>
                    <a:lnTo>
                      <a:pt x="444" y="1014"/>
                    </a:lnTo>
                    <a:lnTo>
                      <a:pt x="434" y="986"/>
                    </a:lnTo>
                    <a:lnTo>
                      <a:pt x="434" y="986"/>
                    </a:lnTo>
                    <a:lnTo>
                      <a:pt x="428" y="958"/>
                    </a:lnTo>
                    <a:lnTo>
                      <a:pt x="426" y="944"/>
                    </a:lnTo>
                    <a:lnTo>
                      <a:pt x="428" y="938"/>
                    </a:lnTo>
                    <a:lnTo>
                      <a:pt x="428" y="930"/>
                    </a:lnTo>
                    <a:lnTo>
                      <a:pt x="428" y="930"/>
                    </a:lnTo>
                    <a:lnTo>
                      <a:pt x="426" y="912"/>
                    </a:lnTo>
                    <a:lnTo>
                      <a:pt x="426" y="892"/>
                    </a:lnTo>
                    <a:lnTo>
                      <a:pt x="428" y="874"/>
                    </a:lnTo>
                    <a:lnTo>
                      <a:pt x="426" y="854"/>
                    </a:lnTo>
                    <a:lnTo>
                      <a:pt x="426" y="854"/>
                    </a:lnTo>
                    <a:lnTo>
                      <a:pt x="420" y="800"/>
                    </a:lnTo>
                    <a:lnTo>
                      <a:pt x="414" y="750"/>
                    </a:lnTo>
                    <a:lnTo>
                      <a:pt x="400" y="658"/>
                    </a:lnTo>
                    <a:lnTo>
                      <a:pt x="400" y="658"/>
                    </a:lnTo>
                    <a:lnTo>
                      <a:pt x="400" y="650"/>
                    </a:lnTo>
                    <a:lnTo>
                      <a:pt x="400" y="638"/>
                    </a:lnTo>
                    <a:lnTo>
                      <a:pt x="400" y="624"/>
                    </a:lnTo>
                    <a:lnTo>
                      <a:pt x="396" y="604"/>
                    </a:lnTo>
                    <a:lnTo>
                      <a:pt x="396" y="604"/>
                    </a:lnTo>
                    <a:lnTo>
                      <a:pt x="398" y="600"/>
                    </a:lnTo>
                    <a:lnTo>
                      <a:pt x="400" y="600"/>
                    </a:lnTo>
                    <a:lnTo>
                      <a:pt x="404" y="598"/>
                    </a:lnTo>
                    <a:lnTo>
                      <a:pt x="406" y="598"/>
                    </a:lnTo>
                    <a:lnTo>
                      <a:pt x="408" y="596"/>
                    </a:lnTo>
                    <a:lnTo>
                      <a:pt x="408" y="590"/>
                    </a:lnTo>
                    <a:lnTo>
                      <a:pt x="408" y="582"/>
                    </a:lnTo>
                    <a:lnTo>
                      <a:pt x="408" y="582"/>
                    </a:lnTo>
                    <a:lnTo>
                      <a:pt x="404" y="564"/>
                    </a:lnTo>
                    <a:lnTo>
                      <a:pt x="400" y="552"/>
                    </a:lnTo>
                    <a:lnTo>
                      <a:pt x="398" y="544"/>
                    </a:lnTo>
                    <a:lnTo>
                      <a:pt x="398" y="544"/>
                    </a:lnTo>
                    <a:lnTo>
                      <a:pt x="392" y="534"/>
                    </a:lnTo>
                    <a:lnTo>
                      <a:pt x="388" y="526"/>
                    </a:lnTo>
                    <a:lnTo>
                      <a:pt x="384" y="508"/>
                    </a:lnTo>
                    <a:lnTo>
                      <a:pt x="382" y="472"/>
                    </a:lnTo>
                    <a:lnTo>
                      <a:pt x="382" y="472"/>
                    </a:lnTo>
                    <a:lnTo>
                      <a:pt x="380" y="454"/>
                    </a:lnTo>
                    <a:lnTo>
                      <a:pt x="380" y="438"/>
                    </a:lnTo>
                    <a:lnTo>
                      <a:pt x="382" y="426"/>
                    </a:lnTo>
                    <a:lnTo>
                      <a:pt x="384" y="420"/>
                    </a:lnTo>
                    <a:lnTo>
                      <a:pt x="384" y="420"/>
                    </a:lnTo>
                    <a:lnTo>
                      <a:pt x="386" y="414"/>
                    </a:lnTo>
                    <a:lnTo>
                      <a:pt x="390" y="410"/>
                    </a:lnTo>
                    <a:lnTo>
                      <a:pt x="392" y="410"/>
                    </a:lnTo>
                    <a:lnTo>
                      <a:pt x="394" y="412"/>
                    </a:lnTo>
                    <a:lnTo>
                      <a:pt x="394" y="428"/>
                    </a:lnTo>
                    <a:lnTo>
                      <a:pt x="394" y="428"/>
                    </a:lnTo>
                    <a:lnTo>
                      <a:pt x="402" y="462"/>
                    </a:lnTo>
                    <a:lnTo>
                      <a:pt x="412" y="494"/>
                    </a:lnTo>
                    <a:lnTo>
                      <a:pt x="420" y="520"/>
                    </a:lnTo>
                    <a:lnTo>
                      <a:pt x="426" y="534"/>
                    </a:lnTo>
                    <a:lnTo>
                      <a:pt x="426" y="534"/>
                    </a:lnTo>
                    <a:lnTo>
                      <a:pt x="436" y="574"/>
                    </a:lnTo>
                    <a:lnTo>
                      <a:pt x="448" y="612"/>
                    </a:lnTo>
                    <a:lnTo>
                      <a:pt x="448" y="612"/>
                    </a:lnTo>
                    <a:lnTo>
                      <a:pt x="454" y="622"/>
                    </a:lnTo>
                    <a:lnTo>
                      <a:pt x="456" y="632"/>
                    </a:lnTo>
                    <a:lnTo>
                      <a:pt x="460" y="652"/>
                    </a:lnTo>
                    <a:lnTo>
                      <a:pt x="462" y="664"/>
                    </a:lnTo>
                    <a:lnTo>
                      <a:pt x="462" y="668"/>
                    </a:lnTo>
                    <a:lnTo>
                      <a:pt x="464" y="670"/>
                    </a:lnTo>
                    <a:lnTo>
                      <a:pt x="466" y="670"/>
                    </a:lnTo>
                    <a:lnTo>
                      <a:pt x="466" y="670"/>
                    </a:lnTo>
                    <a:lnTo>
                      <a:pt x="464" y="680"/>
                    </a:lnTo>
                    <a:lnTo>
                      <a:pt x="464" y="686"/>
                    </a:lnTo>
                    <a:lnTo>
                      <a:pt x="464" y="686"/>
                    </a:lnTo>
                    <a:lnTo>
                      <a:pt x="466" y="724"/>
                    </a:lnTo>
                    <a:lnTo>
                      <a:pt x="466" y="724"/>
                    </a:lnTo>
                    <a:lnTo>
                      <a:pt x="466" y="728"/>
                    </a:lnTo>
                    <a:lnTo>
                      <a:pt x="468" y="730"/>
                    </a:lnTo>
                    <a:lnTo>
                      <a:pt x="470" y="730"/>
                    </a:lnTo>
                    <a:lnTo>
                      <a:pt x="472" y="728"/>
                    </a:lnTo>
                    <a:lnTo>
                      <a:pt x="474" y="724"/>
                    </a:lnTo>
                    <a:lnTo>
                      <a:pt x="474" y="716"/>
                    </a:lnTo>
                    <a:lnTo>
                      <a:pt x="474" y="716"/>
                    </a:lnTo>
                    <a:lnTo>
                      <a:pt x="474" y="708"/>
                    </a:lnTo>
                    <a:lnTo>
                      <a:pt x="474" y="700"/>
                    </a:lnTo>
                    <a:lnTo>
                      <a:pt x="474" y="700"/>
                    </a:lnTo>
                    <a:lnTo>
                      <a:pt x="476" y="696"/>
                    </a:lnTo>
                    <a:lnTo>
                      <a:pt x="478" y="694"/>
                    </a:lnTo>
                    <a:lnTo>
                      <a:pt x="482" y="696"/>
                    </a:lnTo>
                    <a:lnTo>
                      <a:pt x="482" y="696"/>
                    </a:lnTo>
                    <a:lnTo>
                      <a:pt x="482" y="696"/>
                    </a:lnTo>
                    <a:lnTo>
                      <a:pt x="484" y="708"/>
                    </a:lnTo>
                    <a:lnTo>
                      <a:pt x="486" y="718"/>
                    </a:lnTo>
                    <a:lnTo>
                      <a:pt x="486" y="718"/>
                    </a:lnTo>
                    <a:lnTo>
                      <a:pt x="486" y="722"/>
                    </a:lnTo>
                    <a:lnTo>
                      <a:pt x="486" y="726"/>
                    </a:lnTo>
                    <a:lnTo>
                      <a:pt x="482" y="728"/>
                    </a:lnTo>
                    <a:lnTo>
                      <a:pt x="474" y="732"/>
                    </a:lnTo>
                    <a:lnTo>
                      <a:pt x="474" y="732"/>
                    </a:lnTo>
                    <a:lnTo>
                      <a:pt x="466" y="736"/>
                    </a:lnTo>
                    <a:lnTo>
                      <a:pt x="464" y="742"/>
                    </a:lnTo>
                    <a:lnTo>
                      <a:pt x="464" y="746"/>
                    </a:lnTo>
                    <a:lnTo>
                      <a:pt x="468" y="748"/>
                    </a:lnTo>
                    <a:lnTo>
                      <a:pt x="468" y="748"/>
                    </a:lnTo>
                    <a:lnTo>
                      <a:pt x="482" y="744"/>
                    </a:lnTo>
                    <a:lnTo>
                      <a:pt x="490" y="742"/>
                    </a:lnTo>
                    <a:lnTo>
                      <a:pt x="498" y="738"/>
                    </a:lnTo>
                    <a:lnTo>
                      <a:pt x="498" y="738"/>
                    </a:lnTo>
                    <a:lnTo>
                      <a:pt x="502" y="734"/>
                    </a:lnTo>
                    <a:lnTo>
                      <a:pt x="504" y="728"/>
                    </a:lnTo>
                    <a:lnTo>
                      <a:pt x="504" y="728"/>
                    </a:lnTo>
                    <a:lnTo>
                      <a:pt x="512" y="714"/>
                    </a:lnTo>
                    <a:lnTo>
                      <a:pt x="512" y="714"/>
                    </a:lnTo>
                    <a:lnTo>
                      <a:pt x="514" y="710"/>
                    </a:lnTo>
                    <a:lnTo>
                      <a:pt x="516" y="704"/>
                    </a:lnTo>
                    <a:lnTo>
                      <a:pt x="514" y="694"/>
                    </a:lnTo>
                    <a:lnTo>
                      <a:pt x="510" y="676"/>
                    </a:lnTo>
                    <a:lnTo>
                      <a:pt x="510" y="676"/>
                    </a:lnTo>
                    <a:lnTo>
                      <a:pt x="508" y="662"/>
                    </a:lnTo>
                    <a:lnTo>
                      <a:pt x="508" y="662"/>
                    </a:lnTo>
                    <a:lnTo>
                      <a:pt x="514" y="658"/>
                    </a:lnTo>
                    <a:lnTo>
                      <a:pt x="516" y="656"/>
                    </a:lnTo>
                    <a:lnTo>
                      <a:pt x="516" y="656"/>
                    </a:lnTo>
                    <a:lnTo>
                      <a:pt x="514" y="642"/>
                    </a:lnTo>
                    <a:lnTo>
                      <a:pt x="512" y="622"/>
                    </a:lnTo>
                    <a:lnTo>
                      <a:pt x="502" y="568"/>
                    </a:lnTo>
                    <a:lnTo>
                      <a:pt x="490" y="516"/>
                    </a:lnTo>
                    <a:lnTo>
                      <a:pt x="486" y="484"/>
                    </a:lnTo>
                    <a:lnTo>
                      <a:pt x="486" y="484"/>
                    </a:lnTo>
                    <a:lnTo>
                      <a:pt x="482" y="448"/>
                    </a:lnTo>
                    <a:lnTo>
                      <a:pt x="472" y="394"/>
                    </a:lnTo>
                    <a:lnTo>
                      <a:pt x="464" y="340"/>
                    </a:lnTo>
                    <a:lnTo>
                      <a:pt x="462" y="318"/>
                    </a:lnTo>
                    <a:lnTo>
                      <a:pt x="460" y="302"/>
                    </a:lnTo>
                    <a:lnTo>
                      <a:pt x="460" y="302"/>
                    </a:lnTo>
                    <a:lnTo>
                      <a:pt x="462" y="282"/>
                    </a:lnTo>
                    <a:lnTo>
                      <a:pt x="460" y="252"/>
                    </a:lnTo>
                    <a:lnTo>
                      <a:pt x="458" y="236"/>
                    </a:lnTo>
                    <a:lnTo>
                      <a:pt x="454" y="224"/>
                    </a:lnTo>
                    <a:lnTo>
                      <a:pt x="450" y="220"/>
                    </a:lnTo>
                    <a:lnTo>
                      <a:pt x="448" y="216"/>
                    </a:lnTo>
                    <a:lnTo>
                      <a:pt x="442" y="214"/>
                    </a:lnTo>
                    <a:lnTo>
                      <a:pt x="438" y="214"/>
                    </a:lnTo>
                    <a:lnTo>
                      <a:pt x="438" y="214"/>
                    </a:lnTo>
                    <a:lnTo>
                      <a:pt x="432" y="212"/>
                    </a:lnTo>
                    <a:lnTo>
                      <a:pt x="430" y="210"/>
                    </a:lnTo>
                    <a:lnTo>
                      <a:pt x="426" y="204"/>
                    </a:lnTo>
                    <a:lnTo>
                      <a:pt x="418" y="180"/>
                    </a:lnTo>
                    <a:lnTo>
                      <a:pt x="418" y="180"/>
                    </a:lnTo>
                    <a:lnTo>
                      <a:pt x="420" y="168"/>
                    </a:lnTo>
                    <a:lnTo>
                      <a:pt x="420" y="156"/>
                    </a:lnTo>
                    <a:lnTo>
                      <a:pt x="420" y="146"/>
                    </a:lnTo>
                    <a:lnTo>
                      <a:pt x="418" y="142"/>
                    </a:lnTo>
                    <a:lnTo>
                      <a:pt x="414" y="138"/>
                    </a:lnTo>
                    <a:lnTo>
                      <a:pt x="414" y="138"/>
                    </a:lnTo>
                    <a:lnTo>
                      <a:pt x="408" y="138"/>
                    </a:lnTo>
                    <a:lnTo>
                      <a:pt x="404" y="134"/>
                    </a:lnTo>
                    <a:lnTo>
                      <a:pt x="400" y="124"/>
                    </a:lnTo>
                    <a:lnTo>
                      <a:pt x="392" y="102"/>
                    </a:lnTo>
                    <a:lnTo>
                      <a:pt x="392" y="102"/>
                    </a:lnTo>
                    <a:lnTo>
                      <a:pt x="364" y="74"/>
                    </a:lnTo>
                    <a:lnTo>
                      <a:pt x="352" y="62"/>
                    </a:lnTo>
                    <a:lnTo>
                      <a:pt x="342" y="46"/>
                    </a:lnTo>
                    <a:lnTo>
                      <a:pt x="342" y="46"/>
                    </a:lnTo>
                    <a:lnTo>
                      <a:pt x="334" y="34"/>
                    </a:lnTo>
                    <a:lnTo>
                      <a:pt x="326" y="26"/>
                    </a:lnTo>
                    <a:lnTo>
                      <a:pt x="316" y="18"/>
                    </a:lnTo>
                    <a:lnTo>
                      <a:pt x="306" y="12"/>
                    </a:lnTo>
                    <a:lnTo>
                      <a:pt x="296" y="6"/>
                    </a:lnTo>
                    <a:lnTo>
                      <a:pt x="286" y="4"/>
                    </a:lnTo>
                    <a:lnTo>
                      <a:pt x="270" y="0"/>
                    </a:lnTo>
                    <a:lnTo>
                      <a:pt x="270" y="0"/>
                    </a:lnTo>
                    <a:lnTo>
                      <a:pt x="256" y="2"/>
                    </a:lnTo>
                    <a:lnTo>
                      <a:pt x="244" y="4"/>
                    </a:lnTo>
                    <a:lnTo>
                      <a:pt x="234" y="10"/>
                    </a:lnTo>
                    <a:lnTo>
                      <a:pt x="226" y="14"/>
                    </a:lnTo>
                    <a:lnTo>
                      <a:pt x="218" y="20"/>
                    </a:lnTo>
                    <a:lnTo>
                      <a:pt x="214" y="28"/>
                    </a:lnTo>
                    <a:lnTo>
                      <a:pt x="208" y="38"/>
                    </a:lnTo>
                    <a:lnTo>
                      <a:pt x="208" y="38"/>
                    </a:lnTo>
                    <a:lnTo>
                      <a:pt x="200" y="48"/>
                    </a:lnTo>
                    <a:lnTo>
                      <a:pt x="190" y="56"/>
                    </a:lnTo>
                    <a:lnTo>
                      <a:pt x="182" y="64"/>
                    </a:lnTo>
                    <a:lnTo>
                      <a:pt x="176" y="70"/>
                    </a:lnTo>
                    <a:lnTo>
                      <a:pt x="176" y="70"/>
                    </a:lnTo>
                    <a:lnTo>
                      <a:pt x="162" y="116"/>
                    </a:lnTo>
                    <a:lnTo>
                      <a:pt x="158" y="132"/>
                    </a:lnTo>
                    <a:lnTo>
                      <a:pt x="154" y="140"/>
                    </a:lnTo>
                    <a:lnTo>
                      <a:pt x="154" y="140"/>
                    </a:lnTo>
                    <a:lnTo>
                      <a:pt x="154" y="146"/>
                    </a:lnTo>
                    <a:lnTo>
                      <a:pt x="154" y="154"/>
                    </a:lnTo>
                    <a:lnTo>
                      <a:pt x="160" y="174"/>
                    </a:lnTo>
                    <a:lnTo>
                      <a:pt x="168" y="198"/>
                    </a:lnTo>
                    <a:lnTo>
                      <a:pt x="170" y="210"/>
                    </a:lnTo>
                    <a:lnTo>
                      <a:pt x="172" y="220"/>
                    </a:lnTo>
                    <a:lnTo>
                      <a:pt x="172" y="220"/>
                    </a:lnTo>
                    <a:lnTo>
                      <a:pt x="168" y="224"/>
                    </a:lnTo>
                    <a:lnTo>
                      <a:pt x="166" y="226"/>
                    </a:lnTo>
                    <a:lnTo>
                      <a:pt x="160" y="230"/>
                    </a:lnTo>
                    <a:lnTo>
                      <a:pt x="152" y="236"/>
                    </a:lnTo>
                    <a:lnTo>
                      <a:pt x="148" y="242"/>
                    </a:lnTo>
                    <a:lnTo>
                      <a:pt x="144" y="250"/>
                    </a:lnTo>
                    <a:lnTo>
                      <a:pt x="144" y="250"/>
                    </a:lnTo>
                    <a:lnTo>
                      <a:pt x="106" y="282"/>
                    </a:lnTo>
                    <a:lnTo>
                      <a:pt x="62" y="322"/>
                    </a:lnTo>
                    <a:lnTo>
                      <a:pt x="62" y="322"/>
                    </a:lnTo>
                    <a:lnTo>
                      <a:pt x="50" y="332"/>
                    </a:lnTo>
                    <a:lnTo>
                      <a:pt x="36" y="342"/>
                    </a:lnTo>
                    <a:lnTo>
                      <a:pt x="20" y="352"/>
                    </a:lnTo>
                    <a:lnTo>
                      <a:pt x="8" y="362"/>
                    </a:lnTo>
                    <a:lnTo>
                      <a:pt x="8" y="362"/>
                    </a:lnTo>
                    <a:lnTo>
                      <a:pt x="4" y="368"/>
                    </a:lnTo>
                    <a:lnTo>
                      <a:pt x="2" y="374"/>
                    </a:lnTo>
                    <a:lnTo>
                      <a:pt x="0" y="380"/>
                    </a:lnTo>
                    <a:lnTo>
                      <a:pt x="0" y="390"/>
                    </a:lnTo>
                    <a:lnTo>
                      <a:pt x="4" y="402"/>
                    </a:lnTo>
                    <a:lnTo>
                      <a:pt x="12" y="418"/>
                    </a:lnTo>
                    <a:lnTo>
                      <a:pt x="26" y="436"/>
                    </a:lnTo>
                    <a:lnTo>
                      <a:pt x="26" y="436"/>
                    </a:lnTo>
                    <a:lnTo>
                      <a:pt x="32" y="444"/>
                    </a:lnTo>
                    <a:lnTo>
                      <a:pt x="42" y="456"/>
                    </a:lnTo>
                    <a:lnTo>
                      <a:pt x="70" y="484"/>
                    </a:lnTo>
                    <a:lnTo>
                      <a:pt x="116" y="526"/>
                    </a:lnTo>
                    <a:lnTo>
                      <a:pt x="116" y="526"/>
                    </a:lnTo>
                    <a:lnTo>
                      <a:pt x="120" y="528"/>
                    </a:lnTo>
                    <a:lnTo>
                      <a:pt x="122" y="528"/>
                    </a:lnTo>
                    <a:lnTo>
                      <a:pt x="130" y="524"/>
                    </a:lnTo>
                    <a:lnTo>
                      <a:pt x="134" y="520"/>
                    </a:lnTo>
                    <a:lnTo>
                      <a:pt x="140" y="516"/>
                    </a:lnTo>
                    <a:lnTo>
                      <a:pt x="150" y="512"/>
                    </a:lnTo>
                    <a:lnTo>
                      <a:pt x="160" y="510"/>
                    </a:lnTo>
                    <a:lnTo>
                      <a:pt x="160" y="510"/>
                    </a:lnTo>
                    <a:lnTo>
                      <a:pt x="158" y="516"/>
                    </a:lnTo>
                    <a:lnTo>
                      <a:pt x="158" y="516"/>
                    </a:lnTo>
                    <a:lnTo>
                      <a:pt x="150" y="544"/>
                    </a:lnTo>
                    <a:lnTo>
                      <a:pt x="144" y="560"/>
                    </a:lnTo>
                    <a:lnTo>
                      <a:pt x="142" y="572"/>
                    </a:lnTo>
                    <a:lnTo>
                      <a:pt x="142" y="572"/>
                    </a:lnTo>
                    <a:lnTo>
                      <a:pt x="140" y="594"/>
                    </a:lnTo>
                    <a:lnTo>
                      <a:pt x="136" y="612"/>
                    </a:lnTo>
                    <a:lnTo>
                      <a:pt x="132" y="630"/>
                    </a:lnTo>
                    <a:lnTo>
                      <a:pt x="130" y="652"/>
                    </a:lnTo>
                    <a:lnTo>
                      <a:pt x="130" y="652"/>
                    </a:lnTo>
                    <a:lnTo>
                      <a:pt x="128" y="706"/>
                    </a:lnTo>
                    <a:lnTo>
                      <a:pt x="126" y="762"/>
                    </a:lnTo>
                    <a:lnTo>
                      <a:pt x="124" y="816"/>
                    </a:lnTo>
                    <a:lnTo>
                      <a:pt x="122" y="868"/>
                    </a:lnTo>
                    <a:lnTo>
                      <a:pt x="122" y="868"/>
                    </a:lnTo>
                    <a:lnTo>
                      <a:pt x="116" y="890"/>
                    </a:lnTo>
                    <a:lnTo>
                      <a:pt x="114" y="904"/>
                    </a:lnTo>
                    <a:lnTo>
                      <a:pt x="114" y="914"/>
                    </a:lnTo>
                    <a:lnTo>
                      <a:pt x="116" y="920"/>
                    </a:lnTo>
                    <a:lnTo>
                      <a:pt x="118" y="924"/>
                    </a:lnTo>
                    <a:lnTo>
                      <a:pt x="122" y="924"/>
                    </a:lnTo>
                    <a:lnTo>
                      <a:pt x="126" y="924"/>
                    </a:lnTo>
                    <a:lnTo>
                      <a:pt x="126" y="924"/>
                    </a:lnTo>
                    <a:lnTo>
                      <a:pt x="138" y="924"/>
                    </a:lnTo>
                    <a:lnTo>
                      <a:pt x="142" y="926"/>
                    </a:lnTo>
                    <a:lnTo>
                      <a:pt x="144" y="932"/>
                    </a:lnTo>
                    <a:lnTo>
                      <a:pt x="144" y="942"/>
                    </a:lnTo>
                    <a:lnTo>
                      <a:pt x="144" y="942"/>
                    </a:lnTo>
                    <a:lnTo>
                      <a:pt x="140" y="976"/>
                    </a:lnTo>
                    <a:lnTo>
                      <a:pt x="140" y="1000"/>
                    </a:lnTo>
                    <a:lnTo>
                      <a:pt x="142" y="1014"/>
                    </a:lnTo>
                    <a:lnTo>
                      <a:pt x="142" y="1026"/>
                    </a:lnTo>
                    <a:lnTo>
                      <a:pt x="142" y="1026"/>
                    </a:lnTo>
                    <a:lnTo>
                      <a:pt x="142" y="1046"/>
                    </a:lnTo>
                    <a:lnTo>
                      <a:pt x="144" y="1068"/>
                    </a:lnTo>
                    <a:lnTo>
                      <a:pt x="152" y="1114"/>
                    </a:lnTo>
                    <a:lnTo>
                      <a:pt x="160" y="1156"/>
                    </a:lnTo>
                    <a:lnTo>
                      <a:pt x="162" y="1174"/>
                    </a:lnTo>
                    <a:lnTo>
                      <a:pt x="160" y="1188"/>
                    </a:lnTo>
                    <a:lnTo>
                      <a:pt x="160" y="1188"/>
                    </a:lnTo>
                    <a:lnTo>
                      <a:pt x="160" y="1198"/>
                    </a:lnTo>
                    <a:lnTo>
                      <a:pt x="160" y="1206"/>
                    </a:lnTo>
                    <a:lnTo>
                      <a:pt x="162" y="1224"/>
                    </a:lnTo>
                    <a:lnTo>
                      <a:pt x="164" y="1244"/>
                    </a:lnTo>
                    <a:lnTo>
                      <a:pt x="162" y="1254"/>
                    </a:lnTo>
                    <a:lnTo>
                      <a:pt x="158" y="1266"/>
                    </a:lnTo>
                    <a:lnTo>
                      <a:pt x="158" y="1266"/>
                    </a:lnTo>
                    <a:lnTo>
                      <a:pt x="154" y="1280"/>
                    </a:lnTo>
                    <a:lnTo>
                      <a:pt x="152" y="1290"/>
                    </a:lnTo>
                    <a:lnTo>
                      <a:pt x="154" y="1308"/>
                    </a:lnTo>
                    <a:lnTo>
                      <a:pt x="154" y="1308"/>
                    </a:lnTo>
                    <a:lnTo>
                      <a:pt x="154" y="1316"/>
                    </a:lnTo>
                    <a:lnTo>
                      <a:pt x="158" y="1320"/>
                    </a:lnTo>
                    <a:lnTo>
                      <a:pt x="166" y="1330"/>
                    </a:lnTo>
                    <a:lnTo>
                      <a:pt x="176" y="1334"/>
                    </a:lnTo>
                    <a:lnTo>
                      <a:pt x="184" y="1336"/>
                    </a:lnTo>
                    <a:lnTo>
                      <a:pt x="184" y="1336"/>
                    </a:lnTo>
                    <a:lnTo>
                      <a:pt x="192" y="1334"/>
                    </a:lnTo>
                    <a:lnTo>
                      <a:pt x="198" y="1330"/>
                    </a:lnTo>
                    <a:lnTo>
                      <a:pt x="206" y="1324"/>
                    </a:lnTo>
                    <a:lnTo>
                      <a:pt x="212" y="1316"/>
                    </a:lnTo>
                    <a:lnTo>
                      <a:pt x="212" y="1316"/>
                    </a:lnTo>
                    <a:lnTo>
                      <a:pt x="214" y="1310"/>
                    </a:lnTo>
                    <a:lnTo>
                      <a:pt x="214" y="1304"/>
                    </a:lnTo>
                    <a:lnTo>
                      <a:pt x="212" y="1288"/>
                    </a:lnTo>
                    <a:lnTo>
                      <a:pt x="208" y="1272"/>
                    </a:lnTo>
                    <a:lnTo>
                      <a:pt x="208" y="1256"/>
                    </a:lnTo>
                    <a:lnTo>
                      <a:pt x="208" y="1256"/>
                    </a:lnTo>
                    <a:lnTo>
                      <a:pt x="204" y="1190"/>
                    </a:lnTo>
                    <a:lnTo>
                      <a:pt x="204" y="1160"/>
                    </a:lnTo>
                    <a:lnTo>
                      <a:pt x="202" y="1132"/>
                    </a:lnTo>
                    <a:lnTo>
                      <a:pt x="202" y="1132"/>
                    </a:lnTo>
                    <a:lnTo>
                      <a:pt x="214" y="942"/>
                    </a:lnTo>
                    <a:lnTo>
                      <a:pt x="214" y="942"/>
                    </a:lnTo>
                    <a:lnTo>
                      <a:pt x="216" y="934"/>
                    </a:lnTo>
                    <a:lnTo>
                      <a:pt x="216" y="932"/>
                    </a:lnTo>
                    <a:lnTo>
                      <a:pt x="218" y="932"/>
                    </a:lnTo>
                    <a:lnTo>
                      <a:pt x="224" y="930"/>
                    </a:lnTo>
                    <a:lnTo>
                      <a:pt x="236" y="932"/>
                    </a:lnTo>
                    <a:lnTo>
                      <a:pt x="236" y="932"/>
                    </a:lnTo>
                    <a:lnTo>
                      <a:pt x="326" y="938"/>
                    </a:lnTo>
                    <a:lnTo>
                      <a:pt x="326" y="938"/>
                    </a:lnTo>
                    <a:lnTo>
                      <a:pt x="332" y="938"/>
                    </a:lnTo>
                    <a:lnTo>
                      <a:pt x="336" y="938"/>
                    </a:lnTo>
                    <a:lnTo>
                      <a:pt x="340" y="944"/>
                    </a:lnTo>
                    <a:lnTo>
                      <a:pt x="346" y="956"/>
                    </a:lnTo>
                    <a:lnTo>
                      <a:pt x="346" y="956"/>
                    </a:lnTo>
                    <a:lnTo>
                      <a:pt x="352" y="972"/>
                    </a:lnTo>
                    <a:lnTo>
                      <a:pt x="358" y="992"/>
                    </a:lnTo>
                    <a:lnTo>
                      <a:pt x="370" y="1030"/>
                    </a:lnTo>
                    <a:lnTo>
                      <a:pt x="370" y="1030"/>
                    </a:lnTo>
                    <a:lnTo>
                      <a:pt x="394" y="1084"/>
                    </a:lnTo>
                    <a:lnTo>
                      <a:pt x="408" y="1114"/>
                    </a:lnTo>
                    <a:lnTo>
                      <a:pt x="426" y="1144"/>
                    </a:lnTo>
                    <a:lnTo>
                      <a:pt x="426" y="1144"/>
                    </a:lnTo>
                    <a:lnTo>
                      <a:pt x="440" y="1180"/>
                    </a:lnTo>
                    <a:lnTo>
                      <a:pt x="458" y="1230"/>
                    </a:lnTo>
                    <a:lnTo>
                      <a:pt x="458" y="1230"/>
                    </a:lnTo>
                    <a:lnTo>
                      <a:pt x="458" y="1232"/>
                    </a:lnTo>
                    <a:lnTo>
                      <a:pt x="456" y="1234"/>
                    </a:lnTo>
                    <a:lnTo>
                      <a:pt x="454" y="1236"/>
                    </a:lnTo>
                    <a:lnTo>
                      <a:pt x="452" y="1240"/>
                    </a:lnTo>
                    <a:lnTo>
                      <a:pt x="452" y="1240"/>
                    </a:lnTo>
                    <a:lnTo>
                      <a:pt x="450" y="1246"/>
                    </a:lnTo>
                    <a:lnTo>
                      <a:pt x="450" y="1252"/>
                    </a:lnTo>
                    <a:lnTo>
                      <a:pt x="452" y="1258"/>
                    </a:lnTo>
                    <a:lnTo>
                      <a:pt x="454" y="1262"/>
                    </a:lnTo>
                    <a:lnTo>
                      <a:pt x="458" y="1268"/>
                    </a:lnTo>
                    <a:lnTo>
                      <a:pt x="460" y="1276"/>
                    </a:lnTo>
                    <a:lnTo>
                      <a:pt x="460" y="1276"/>
                    </a:lnTo>
                    <a:lnTo>
                      <a:pt x="462" y="1302"/>
                    </a:lnTo>
                    <a:lnTo>
                      <a:pt x="460" y="1326"/>
                    </a:lnTo>
                    <a:lnTo>
                      <a:pt x="460" y="1326"/>
                    </a:lnTo>
                    <a:lnTo>
                      <a:pt x="462" y="1330"/>
                    </a:lnTo>
                    <a:lnTo>
                      <a:pt x="464" y="1332"/>
                    </a:lnTo>
                    <a:lnTo>
                      <a:pt x="464" y="1330"/>
                    </a:lnTo>
                    <a:lnTo>
                      <a:pt x="466" y="1326"/>
                    </a:lnTo>
                    <a:lnTo>
                      <a:pt x="466" y="1326"/>
                    </a:lnTo>
                    <a:lnTo>
                      <a:pt x="466" y="1306"/>
                    </a:lnTo>
                    <a:lnTo>
                      <a:pt x="468" y="1290"/>
                    </a:lnTo>
                    <a:lnTo>
                      <a:pt x="468" y="1290"/>
                    </a:lnTo>
                    <a:lnTo>
                      <a:pt x="472" y="1286"/>
                    </a:lnTo>
                    <a:lnTo>
                      <a:pt x="474" y="1284"/>
                    </a:lnTo>
                    <a:lnTo>
                      <a:pt x="474" y="1284"/>
                    </a:lnTo>
                    <a:lnTo>
                      <a:pt x="478" y="1290"/>
                    </a:lnTo>
                    <a:lnTo>
                      <a:pt x="480" y="1298"/>
                    </a:lnTo>
                    <a:lnTo>
                      <a:pt x="482" y="1310"/>
                    </a:lnTo>
                    <a:lnTo>
                      <a:pt x="482" y="1310"/>
                    </a:lnTo>
                    <a:lnTo>
                      <a:pt x="484" y="1318"/>
                    </a:lnTo>
                    <a:lnTo>
                      <a:pt x="488" y="1332"/>
                    </a:lnTo>
                    <a:lnTo>
                      <a:pt x="488" y="1332"/>
                    </a:lnTo>
                    <a:lnTo>
                      <a:pt x="494" y="1336"/>
                    </a:lnTo>
                    <a:lnTo>
                      <a:pt x="500" y="1340"/>
                    </a:lnTo>
                    <a:lnTo>
                      <a:pt x="508" y="1342"/>
                    </a:lnTo>
                    <a:lnTo>
                      <a:pt x="518" y="1342"/>
                    </a:lnTo>
                    <a:lnTo>
                      <a:pt x="518" y="1342"/>
                    </a:lnTo>
                    <a:lnTo>
                      <a:pt x="556" y="1342"/>
                    </a:lnTo>
                    <a:lnTo>
                      <a:pt x="568" y="1340"/>
                    </a:lnTo>
                    <a:lnTo>
                      <a:pt x="570" y="1338"/>
                    </a:lnTo>
                    <a:lnTo>
                      <a:pt x="568" y="1334"/>
                    </a:lnTo>
                    <a:lnTo>
                      <a:pt x="568" y="1334"/>
                    </a:lnTo>
                    <a:lnTo>
                      <a:pt x="556" y="1330"/>
                    </a:lnTo>
                    <a:lnTo>
                      <a:pt x="548" y="1326"/>
                    </a:lnTo>
                    <a:lnTo>
                      <a:pt x="540" y="1318"/>
                    </a:lnTo>
                    <a:lnTo>
                      <a:pt x="534" y="1308"/>
                    </a:lnTo>
                    <a:lnTo>
                      <a:pt x="534" y="1308"/>
                    </a:lnTo>
                    <a:close/>
                    <a:moveTo>
                      <a:pt x="150" y="468"/>
                    </a:moveTo>
                    <a:lnTo>
                      <a:pt x="150" y="468"/>
                    </a:lnTo>
                    <a:lnTo>
                      <a:pt x="148" y="466"/>
                    </a:lnTo>
                    <a:lnTo>
                      <a:pt x="144" y="464"/>
                    </a:lnTo>
                    <a:lnTo>
                      <a:pt x="132" y="460"/>
                    </a:lnTo>
                    <a:lnTo>
                      <a:pt x="126" y="456"/>
                    </a:lnTo>
                    <a:lnTo>
                      <a:pt x="120" y="450"/>
                    </a:lnTo>
                    <a:lnTo>
                      <a:pt x="116" y="444"/>
                    </a:lnTo>
                    <a:lnTo>
                      <a:pt x="112" y="436"/>
                    </a:lnTo>
                    <a:lnTo>
                      <a:pt x="112" y="436"/>
                    </a:lnTo>
                    <a:lnTo>
                      <a:pt x="106" y="430"/>
                    </a:lnTo>
                    <a:lnTo>
                      <a:pt x="98" y="426"/>
                    </a:lnTo>
                    <a:lnTo>
                      <a:pt x="92" y="422"/>
                    </a:lnTo>
                    <a:lnTo>
                      <a:pt x="88" y="418"/>
                    </a:lnTo>
                    <a:lnTo>
                      <a:pt x="88" y="418"/>
                    </a:lnTo>
                    <a:lnTo>
                      <a:pt x="86" y="404"/>
                    </a:lnTo>
                    <a:lnTo>
                      <a:pt x="82" y="398"/>
                    </a:lnTo>
                    <a:lnTo>
                      <a:pt x="78" y="394"/>
                    </a:lnTo>
                    <a:lnTo>
                      <a:pt x="78" y="388"/>
                    </a:lnTo>
                    <a:lnTo>
                      <a:pt x="78" y="388"/>
                    </a:lnTo>
                    <a:lnTo>
                      <a:pt x="106" y="370"/>
                    </a:lnTo>
                    <a:lnTo>
                      <a:pt x="124" y="358"/>
                    </a:lnTo>
                    <a:lnTo>
                      <a:pt x="124" y="358"/>
                    </a:lnTo>
                    <a:lnTo>
                      <a:pt x="134" y="350"/>
                    </a:lnTo>
                    <a:lnTo>
                      <a:pt x="142" y="344"/>
                    </a:lnTo>
                    <a:lnTo>
                      <a:pt x="160" y="338"/>
                    </a:lnTo>
                    <a:lnTo>
                      <a:pt x="170" y="336"/>
                    </a:lnTo>
                    <a:lnTo>
                      <a:pt x="174" y="334"/>
                    </a:lnTo>
                    <a:lnTo>
                      <a:pt x="174" y="334"/>
                    </a:lnTo>
                    <a:lnTo>
                      <a:pt x="180" y="342"/>
                    </a:lnTo>
                    <a:lnTo>
                      <a:pt x="188" y="358"/>
                    </a:lnTo>
                    <a:lnTo>
                      <a:pt x="194" y="370"/>
                    </a:lnTo>
                    <a:lnTo>
                      <a:pt x="198" y="382"/>
                    </a:lnTo>
                    <a:lnTo>
                      <a:pt x="202" y="396"/>
                    </a:lnTo>
                    <a:lnTo>
                      <a:pt x="202" y="410"/>
                    </a:lnTo>
                    <a:lnTo>
                      <a:pt x="202" y="410"/>
                    </a:lnTo>
                    <a:lnTo>
                      <a:pt x="204" y="424"/>
                    </a:lnTo>
                    <a:lnTo>
                      <a:pt x="204" y="434"/>
                    </a:lnTo>
                    <a:lnTo>
                      <a:pt x="202" y="444"/>
                    </a:lnTo>
                    <a:lnTo>
                      <a:pt x="202" y="444"/>
                    </a:lnTo>
                    <a:lnTo>
                      <a:pt x="188" y="452"/>
                    </a:lnTo>
                    <a:lnTo>
                      <a:pt x="172" y="464"/>
                    </a:lnTo>
                    <a:lnTo>
                      <a:pt x="160" y="470"/>
                    </a:lnTo>
                    <a:lnTo>
                      <a:pt x="154" y="472"/>
                    </a:lnTo>
                    <a:lnTo>
                      <a:pt x="150" y="468"/>
                    </a:lnTo>
                    <a:lnTo>
                      <a:pt x="150" y="46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50" name="Freeform 160"/>
              <p:cNvSpPr/>
              <p:nvPr/>
            </p:nvSpPr>
            <p:spPr bwMode="auto">
              <a:xfrm>
                <a:off x="7831138" y="4473575"/>
                <a:ext cx="295275" cy="257175"/>
              </a:xfrm>
              <a:custGeom>
                <a:avLst/>
                <a:gdLst>
                  <a:gd name="T0" fmla="*/ 122 w 186"/>
                  <a:gd name="T1" fmla="*/ 42 h 162"/>
                  <a:gd name="T2" fmla="*/ 130 w 186"/>
                  <a:gd name="T3" fmla="*/ 16 h 162"/>
                  <a:gd name="T4" fmla="*/ 134 w 186"/>
                  <a:gd name="T5" fmla="*/ 10 h 162"/>
                  <a:gd name="T6" fmla="*/ 142 w 186"/>
                  <a:gd name="T7" fmla="*/ 12 h 162"/>
                  <a:gd name="T8" fmla="*/ 144 w 186"/>
                  <a:gd name="T9" fmla="*/ 14 h 162"/>
                  <a:gd name="T10" fmla="*/ 148 w 186"/>
                  <a:gd name="T11" fmla="*/ 8 h 162"/>
                  <a:gd name="T12" fmla="*/ 154 w 186"/>
                  <a:gd name="T13" fmla="*/ 4 h 162"/>
                  <a:gd name="T14" fmla="*/ 154 w 186"/>
                  <a:gd name="T15" fmla="*/ 4 h 162"/>
                  <a:gd name="T16" fmla="*/ 180 w 186"/>
                  <a:gd name="T17" fmla="*/ 28 h 162"/>
                  <a:gd name="T18" fmla="*/ 178 w 186"/>
                  <a:gd name="T19" fmla="*/ 30 h 162"/>
                  <a:gd name="T20" fmla="*/ 160 w 186"/>
                  <a:gd name="T21" fmla="*/ 38 h 162"/>
                  <a:gd name="T22" fmla="*/ 154 w 186"/>
                  <a:gd name="T23" fmla="*/ 40 h 162"/>
                  <a:gd name="T24" fmla="*/ 160 w 186"/>
                  <a:gd name="T25" fmla="*/ 44 h 162"/>
                  <a:gd name="T26" fmla="*/ 184 w 186"/>
                  <a:gd name="T27" fmla="*/ 46 h 162"/>
                  <a:gd name="T28" fmla="*/ 186 w 186"/>
                  <a:gd name="T29" fmla="*/ 52 h 162"/>
                  <a:gd name="T30" fmla="*/ 166 w 186"/>
                  <a:gd name="T31" fmla="*/ 78 h 162"/>
                  <a:gd name="T32" fmla="*/ 94 w 186"/>
                  <a:gd name="T33" fmla="*/ 160 h 162"/>
                  <a:gd name="T34" fmla="*/ 92 w 186"/>
                  <a:gd name="T35" fmla="*/ 162 h 162"/>
                  <a:gd name="T36" fmla="*/ 86 w 186"/>
                  <a:gd name="T37" fmla="*/ 158 h 162"/>
                  <a:gd name="T38" fmla="*/ 76 w 186"/>
                  <a:gd name="T39" fmla="*/ 150 h 162"/>
                  <a:gd name="T40" fmla="*/ 46 w 186"/>
                  <a:gd name="T41" fmla="*/ 134 h 162"/>
                  <a:gd name="T42" fmla="*/ 28 w 186"/>
                  <a:gd name="T43" fmla="*/ 118 h 162"/>
                  <a:gd name="T44" fmla="*/ 10 w 186"/>
                  <a:gd name="T45" fmla="*/ 88 h 162"/>
                  <a:gd name="T46" fmla="*/ 2 w 186"/>
                  <a:gd name="T47" fmla="*/ 64 h 162"/>
                  <a:gd name="T48" fmla="*/ 2 w 186"/>
                  <a:gd name="T49" fmla="*/ 54 h 162"/>
                  <a:gd name="T50" fmla="*/ 4 w 186"/>
                  <a:gd name="T51" fmla="*/ 52 h 162"/>
                  <a:gd name="T52" fmla="*/ 20 w 186"/>
                  <a:gd name="T53" fmla="*/ 50 h 162"/>
                  <a:gd name="T54" fmla="*/ 34 w 186"/>
                  <a:gd name="T55" fmla="*/ 50 h 162"/>
                  <a:gd name="T56" fmla="*/ 34 w 186"/>
                  <a:gd name="T57" fmla="*/ 46 h 162"/>
                  <a:gd name="T58" fmla="*/ 26 w 186"/>
                  <a:gd name="T59" fmla="*/ 44 h 162"/>
                  <a:gd name="T60" fmla="*/ 18 w 186"/>
                  <a:gd name="T61" fmla="*/ 42 h 162"/>
                  <a:gd name="T62" fmla="*/ 18 w 186"/>
                  <a:gd name="T63" fmla="*/ 40 h 162"/>
                  <a:gd name="T64" fmla="*/ 26 w 186"/>
                  <a:gd name="T65" fmla="*/ 32 h 162"/>
                  <a:gd name="T66" fmla="*/ 36 w 186"/>
                  <a:gd name="T67" fmla="*/ 24 h 162"/>
                  <a:gd name="T68" fmla="*/ 44 w 186"/>
                  <a:gd name="T69" fmla="*/ 6 h 162"/>
                  <a:gd name="T70" fmla="*/ 50 w 186"/>
                  <a:gd name="T71" fmla="*/ 0 h 162"/>
                  <a:gd name="T72" fmla="*/ 54 w 186"/>
                  <a:gd name="T73" fmla="*/ 4 h 162"/>
                  <a:gd name="T74" fmla="*/ 54 w 186"/>
                  <a:gd name="T75" fmla="*/ 44 h 162"/>
                  <a:gd name="T76" fmla="*/ 58 w 186"/>
                  <a:gd name="T77" fmla="*/ 70 h 162"/>
                  <a:gd name="T78" fmla="*/ 72 w 186"/>
                  <a:gd name="T79" fmla="*/ 122 h 162"/>
                  <a:gd name="T80" fmla="*/ 84 w 186"/>
                  <a:gd name="T81" fmla="*/ 150 h 162"/>
                  <a:gd name="T82" fmla="*/ 88 w 186"/>
                  <a:gd name="T83" fmla="*/ 152 h 162"/>
                  <a:gd name="T84" fmla="*/ 92 w 186"/>
                  <a:gd name="T85" fmla="*/ 148 h 162"/>
                  <a:gd name="T86" fmla="*/ 106 w 186"/>
                  <a:gd name="T87" fmla="*/ 108 h 162"/>
                  <a:gd name="T88" fmla="*/ 122 w 186"/>
                  <a:gd name="T89" fmla="*/ 4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86" h="162">
                    <a:moveTo>
                      <a:pt x="122" y="42"/>
                    </a:moveTo>
                    <a:lnTo>
                      <a:pt x="122" y="42"/>
                    </a:lnTo>
                    <a:lnTo>
                      <a:pt x="126" y="28"/>
                    </a:lnTo>
                    <a:lnTo>
                      <a:pt x="130" y="16"/>
                    </a:lnTo>
                    <a:lnTo>
                      <a:pt x="132" y="12"/>
                    </a:lnTo>
                    <a:lnTo>
                      <a:pt x="134" y="10"/>
                    </a:lnTo>
                    <a:lnTo>
                      <a:pt x="138" y="10"/>
                    </a:lnTo>
                    <a:lnTo>
                      <a:pt x="142" y="12"/>
                    </a:lnTo>
                    <a:lnTo>
                      <a:pt x="142" y="12"/>
                    </a:lnTo>
                    <a:lnTo>
                      <a:pt x="144" y="14"/>
                    </a:lnTo>
                    <a:lnTo>
                      <a:pt x="146" y="14"/>
                    </a:lnTo>
                    <a:lnTo>
                      <a:pt x="148" y="8"/>
                    </a:lnTo>
                    <a:lnTo>
                      <a:pt x="152" y="4"/>
                    </a:lnTo>
                    <a:lnTo>
                      <a:pt x="154" y="4"/>
                    </a:lnTo>
                    <a:lnTo>
                      <a:pt x="154" y="4"/>
                    </a:lnTo>
                    <a:lnTo>
                      <a:pt x="154" y="4"/>
                    </a:lnTo>
                    <a:lnTo>
                      <a:pt x="180" y="28"/>
                    </a:lnTo>
                    <a:lnTo>
                      <a:pt x="180" y="28"/>
                    </a:lnTo>
                    <a:lnTo>
                      <a:pt x="180" y="30"/>
                    </a:lnTo>
                    <a:lnTo>
                      <a:pt x="178" y="30"/>
                    </a:lnTo>
                    <a:lnTo>
                      <a:pt x="168" y="34"/>
                    </a:lnTo>
                    <a:lnTo>
                      <a:pt x="160" y="38"/>
                    </a:lnTo>
                    <a:lnTo>
                      <a:pt x="154" y="40"/>
                    </a:lnTo>
                    <a:lnTo>
                      <a:pt x="154" y="40"/>
                    </a:lnTo>
                    <a:lnTo>
                      <a:pt x="156" y="42"/>
                    </a:lnTo>
                    <a:lnTo>
                      <a:pt x="160" y="44"/>
                    </a:lnTo>
                    <a:lnTo>
                      <a:pt x="172" y="46"/>
                    </a:lnTo>
                    <a:lnTo>
                      <a:pt x="184" y="46"/>
                    </a:lnTo>
                    <a:lnTo>
                      <a:pt x="186" y="48"/>
                    </a:lnTo>
                    <a:lnTo>
                      <a:pt x="186" y="52"/>
                    </a:lnTo>
                    <a:lnTo>
                      <a:pt x="186" y="52"/>
                    </a:lnTo>
                    <a:lnTo>
                      <a:pt x="166" y="78"/>
                    </a:lnTo>
                    <a:lnTo>
                      <a:pt x="146" y="104"/>
                    </a:lnTo>
                    <a:lnTo>
                      <a:pt x="94" y="160"/>
                    </a:lnTo>
                    <a:lnTo>
                      <a:pt x="94" y="160"/>
                    </a:lnTo>
                    <a:lnTo>
                      <a:pt x="92" y="162"/>
                    </a:lnTo>
                    <a:lnTo>
                      <a:pt x="90" y="162"/>
                    </a:lnTo>
                    <a:lnTo>
                      <a:pt x="86" y="158"/>
                    </a:lnTo>
                    <a:lnTo>
                      <a:pt x="86" y="158"/>
                    </a:lnTo>
                    <a:lnTo>
                      <a:pt x="76" y="150"/>
                    </a:lnTo>
                    <a:lnTo>
                      <a:pt x="66" y="144"/>
                    </a:lnTo>
                    <a:lnTo>
                      <a:pt x="46" y="134"/>
                    </a:lnTo>
                    <a:lnTo>
                      <a:pt x="38" y="128"/>
                    </a:lnTo>
                    <a:lnTo>
                      <a:pt x="28" y="118"/>
                    </a:lnTo>
                    <a:lnTo>
                      <a:pt x="20" y="106"/>
                    </a:lnTo>
                    <a:lnTo>
                      <a:pt x="10" y="88"/>
                    </a:lnTo>
                    <a:lnTo>
                      <a:pt x="10" y="88"/>
                    </a:lnTo>
                    <a:lnTo>
                      <a:pt x="2" y="64"/>
                    </a:lnTo>
                    <a:lnTo>
                      <a:pt x="0" y="56"/>
                    </a:lnTo>
                    <a:lnTo>
                      <a:pt x="2" y="54"/>
                    </a:lnTo>
                    <a:lnTo>
                      <a:pt x="4" y="52"/>
                    </a:lnTo>
                    <a:lnTo>
                      <a:pt x="4" y="52"/>
                    </a:lnTo>
                    <a:lnTo>
                      <a:pt x="12" y="50"/>
                    </a:lnTo>
                    <a:lnTo>
                      <a:pt x="20" y="50"/>
                    </a:lnTo>
                    <a:lnTo>
                      <a:pt x="30" y="50"/>
                    </a:lnTo>
                    <a:lnTo>
                      <a:pt x="34" y="50"/>
                    </a:lnTo>
                    <a:lnTo>
                      <a:pt x="34" y="46"/>
                    </a:lnTo>
                    <a:lnTo>
                      <a:pt x="34" y="46"/>
                    </a:lnTo>
                    <a:lnTo>
                      <a:pt x="32" y="46"/>
                    </a:lnTo>
                    <a:lnTo>
                      <a:pt x="26" y="44"/>
                    </a:lnTo>
                    <a:lnTo>
                      <a:pt x="20" y="42"/>
                    </a:lnTo>
                    <a:lnTo>
                      <a:pt x="18" y="42"/>
                    </a:lnTo>
                    <a:lnTo>
                      <a:pt x="18" y="40"/>
                    </a:lnTo>
                    <a:lnTo>
                      <a:pt x="18" y="40"/>
                    </a:lnTo>
                    <a:lnTo>
                      <a:pt x="22" y="36"/>
                    </a:lnTo>
                    <a:lnTo>
                      <a:pt x="26" y="32"/>
                    </a:lnTo>
                    <a:lnTo>
                      <a:pt x="32" y="30"/>
                    </a:lnTo>
                    <a:lnTo>
                      <a:pt x="36" y="24"/>
                    </a:lnTo>
                    <a:lnTo>
                      <a:pt x="36" y="24"/>
                    </a:lnTo>
                    <a:lnTo>
                      <a:pt x="44" y="6"/>
                    </a:lnTo>
                    <a:lnTo>
                      <a:pt x="48" y="2"/>
                    </a:lnTo>
                    <a:lnTo>
                      <a:pt x="50" y="0"/>
                    </a:lnTo>
                    <a:lnTo>
                      <a:pt x="52" y="2"/>
                    </a:lnTo>
                    <a:lnTo>
                      <a:pt x="54" y="4"/>
                    </a:lnTo>
                    <a:lnTo>
                      <a:pt x="56" y="14"/>
                    </a:lnTo>
                    <a:lnTo>
                      <a:pt x="54" y="44"/>
                    </a:lnTo>
                    <a:lnTo>
                      <a:pt x="56" y="58"/>
                    </a:lnTo>
                    <a:lnTo>
                      <a:pt x="58" y="70"/>
                    </a:lnTo>
                    <a:lnTo>
                      <a:pt x="58" y="70"/>
                    </a:lnTo>
                    <a:lnTo>
                      <a:pt x="72" y="122"/>
                    </a:lnTo>
                    <a:lnTo>
                      <a:pt x="80" y="142"/>
                    </a:lnTo>
                    <a:lnTo>
                      <a:pt x="84" y="150"/>
                    </a:lnTo>
                    <a:lnTo>
                      <a:pt x="88" y="152"/>
                    </a:lnTo>
                    <a:lnTo>
                      <a:pt x="88" y="152"/>
                    </a:lnTo>
                    <a:lnTo>
                      <a:pt x="90" y="150"/>
                    </a:lnTo>
                    <a:lnTo>
                      <a:pt x="92" y="148"/>
                    </a:lnTo>
                    <a:lnTo>
                      <a:pt x="96" y="138"/>
                    </a:lnTo>
                    <a:lnTo>
                      <a:pt x="106" y="108"/>
                    </a:lnTo>
                    <a:lnTo>
                      <a:pt x="122" y="42"/>
                    </a:lnTo>
                    <a:lnTo>
                      <a:pt x="122"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grpSp>
      <p:grpSp>
        <p:nvGrpSpPr>
          <p:cNvPr id="158" name="组合 157"/>
          <p:cNvGrpSpPr/>
          <p:nvPr/>
        </p:nvGrpSpPr>
        <p:grpSpPr>
          <a:xfrm>
            <a:off x="1984029" y="4630616"/>
            <a:ext cx="540000" cy="540000"/>
            <a:chOff x="9763912" y="3094340"/>
            <a:chExt cx="540000" cy="540000"/>
          </a:xfrm>
        </p:grpSpPr>
        <p:sp>
          <p:nvSpPr>
            <p:cNvPr id="144" name="Oval 36"/>
            <p:cNvSpPr/>
            <p:nvPr/>
          </p:nvSpPr>
          <p:spPr bwMode="gray">
            <a:xfrm>
              <a:off x="9763912" y="3094340"/>
              <a:ext cx="540000" cy="540000"/>
            </a:xfrm>
            <a:prstGeom prst="ellipse">
              <a:avLst/>
            </a:prstGeom>
            <a:solidFill>
              <a:schemeClr val="accent1">
                <a:lumMod val="40000"/>
                <a:lumOff val="60000"/>
              </a:schemeClr>
            </a:solidFill>
            <a:ln w="12700" algn="ctr">
              <a:noFill/>
              <a:miter lim="800000"/>
            </a:ln>
          </p:spPr>
          <p:txBody>
            <a:bodyPr rot="0" spcFirstLastPara="0" vertOverflow="overflow" horzOverflow="overflow" vert="horz" wrap="square" lIns="88900" tIns="88900" rIns="88900" bIns="88900" numCol="1" spcCol="0" rtlCol="0" fromWordArt="0" anchor="ctr" anchorCtr="0" forceAA="0" compatLnSpc="1">
              <a:noAutofit/>
            </a:bodyP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endParaRPr kumimoji="0" 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145" name="Group 11"/>
            <p:cNvGrpSpPr/>
            <p:nvPr/>
          </p:nvGrpSpPr>
          <p:grpSpPr>
            <a:xfrm>
              <a:off x="9910506" y="3153143"/>
              <a:ext cx="246813" cy="430182"/>
              <a:chOff x="3506788" y="3990975"/>
              <a:chExt cx="993775" cy="1958975"/>
            </a:xfrm>
          </p:grpSpPr>
          <p:sp>
            <p:nvSpPr>
              <p:cNvPr id="147" name="Freeform 131"/>
              <p:cNvSpPr>
                <a:spLocks noEditPoints="1"/>
              </p:cNvSpPr>
              <p:nvPr/>
            </p:nvSpPr>
            <p:spPr bwMode="auto">
              <a:xfrm>
                <a:off x="3506788" y="3990975"/>
                <a:ext cx="993775" cy="1958975"/>
              </a:xfrm>
              <a:custGeom>
                <a:avLst/>
                <a:gdLst>
                  <a:gd name="T0" fmla="*/ 600 w 626"/>
                  <a:gd name="T1" fmla="*/ 246 h 1234"/>
                  <a:gd name="T2" fmla="*/ 548 w 626"/>
                  <a:gd name="T3" fmla="*/ 188 h 1234"/>
                  <a:gd name="T4" fmla="*/ 526 w 626"/>
                  <a:gd name="T5" fmla="*/ 122 h 1234"/>
                  <a:gd name="T6" fmla="*/ 506 w 626"/>
                  <a:gd name="T7" fmla="*/ 84 h 1234"/>
                  <a:gd name="T8" fmla="*/ 508 w 626"/>
                  <a:gd name="T9" fmla="*/ 60 h 1234"/>
                  <a:gd name="T10" fmla="*/ 506 w 626"/>
                  <a:gd name="T11" fmla="*/ 38 h 1234"/>
                  <a:gd name="T12" fmla="*/ 504 w 626"/>
                  <a:gd name="T13" fmla="*/ 14 h 1234"/>
                  <a:gd name="T14" fmla="*/ 476 w 626"/>
                  <a:gd name="T15" fmla="*/ 0 h 1234"/>
                  <a:gd name="T16" fmla="*/ 422 w 626"/>
                  <a:gd name="T17" fmla="*/ 0 h 1234"/>
                  <a:gd name="T18" fmla="*/ 384 w 626"/>
                  <a:gd name="T19" fmla="*/ 36 h 1234"/>
                  <a:gd name="T20" fmla="*/ 386 w 626"/>
                  <a:gd name="T21" fmla="*/ 102 h 1234"/>
                  <a:gd name="T22" fmla="*/ 380 w 626"/>
                  <a:gd name="T23" fmla="*/ 142 h 1234"/>
                  <a:gd name="T24" fmla="*/ 348 w 626"/>
                  <a:gd name="T25" fmla="*/ 162 h 1234"/>
                  <a:gd name="T26" fmla="*/ 270 w 626"/>
                  <a:gd name="T27" fmla="*/ 188 h 1234"/>
                  <a:gd name="T28" fmla="*/ 248 w 626"/>
                  <a:gd name="T29" fmla="*/ 236 h 1234"/>
                  <a:gd name="T30" fmla="*/ 206 w 626"/>
                  <a:gd name="T31" fmla="*/ 312 h 1234"/>
                  <a:gd name="T32" fmla="*/ 164 w 626"/>
                  <a:gd name="T33" fmla="*/ 372 h 1234"/>
                  <a:gd name="T34" fmla="*/ 152 w 626"/>
                  <a:gd name="T35" fmla="*/ 496 h 1234"/>
                  <a:gd name="T36" fmla="*/ 148 w 626"/>
                  <a:gd name="T37" fmla="*/ 636 h 1234"/>
                  <a:gd name="T38" fmla="*/ 78 w 626"/>
                  <a:gd name="T39" fmla="*/ 602 h 1234"/>
                  <a:gd name="T40" fmla="*/ 82 w 626"/>
                  <a:gd name="T41" fmla="*/ 852 h 1234"/>
                  <a:gd name="T42" fmla="*/ 218 w 626"/>
                  <a:gd name="T43" fmla="*/ 918 h 1234"/>
                  <a:gd name="T44" fmla="*/ 290 w 626"/>
                  <a:gd name="T45" fmla="*/ 828 h 1234"/>
                  <a:gd name="T46" fmla="*/ 234 w 626"/>
                  <a:gd name="T47" fmla="*/ 968 h 1234"/>
                  <a:gd name="T48" fmla="*/ 154 w 626"/>
                  <a:gd name="T49" fmla="*/ 1012 h 1234"/>
                  <a:gd name="T50" fmla="*/ 132 w 626"/>
                  <a:gd name="T51" fmla="*/ 1052 h 1234"/>
                  <a:gd name="T52" fmla="*/ 150 w 626"/>
                  <a:gd name="T53" fmla="*/ 1074 h 1234"/>
                  <a:gd name="T54" fmla="*/ 194 w 626"/>
                  <a:gd name="T55" fmla="*/ 1182 h 1234"/>
                  <a:gd name="T56" fmla="*/ 218 w 626"/>
                  <a:gd name="T57" fmla="*/ 1162 h 1234"/>
                  <a:gd name="T58" fmla="*/ 204 w 626"/>
                  <a:gd name="T59" fmla="*/ 1124 h 1234"/>
                  <a:gd name="T60" fmla="*/ 242 w 626"/>
                  <a:gd name="T61" fmla="*/ 1088 h 1234"/>
                  <a:gd name="T62" fmla="*/ 290 w 626"/>
                  <a:gd name="T63" fmla="*/ 1064 h 1234"/>
                  <a:gd name="T64" fmla="*/ 312 w 626"/>
                  <a:gd name="T65" fmla="*/ 1220 h 1234"/>
                  <a:gd name="T66" fmla="*/ 356 w 626"/>
                  <a:gd name="T67" fmla="*/ 1220 h 1234"/>
                  <a:gd name="T68" fmla="*/ 468 w 626"/>
                  <a:gd name="T69" fmla="*/ 1228 h 1234"/>
                  <a:gd name="T70" fmla="*/ 440 w 626"/>
                  <a:gd name="T71" fmla="*/ 1210 h 1234"/>
                  <a:gd name="T72" fmla="*/ 396 w 626"/>
                  <a:gd name="T73" fmla="*/ 1160 h 1234"/>
                  <a:gd name="T74" fmla="*/ 390 w 626"/>
                  <a:gd name="T75" fmla="*/ 1050 h 1234"/>
                  <a:gd name="T76" fmla="*/ 412 w 626"/>
                  <a:gd name="T77" fmla="*/ 904 h 1234"/>
                  <a:gd name="T78" fmla="*/ 438 w 626"/>
                  <a:gd name="T79" fmla="*/ 838 h 1234"/>
                  <a:gd name="T80" fmla="*/ 446 w 626"/>
                  <a:gd name="T81" fmla="*/ 738 h 1234"/>
                  <a:gd name="T82" fmla="*/ 456 w 626"/>
                  <a:gd name="T83" fmla="*/ 560 h 1234"/>
                  <a:gd name="T84" fmla="*/ 464 w 626"/>
                  <a:gd name="T85" fmla="*/ 534 h 1234"/>
                  <a:gd name="T86" fmla="*/ 476 w 626"/>
                  <a:gd name="T87" fmla="*/ 484 h 1234"/>
                  <a:gd name="T88" fmla="*/ 492 w 626"/>
                  <a:gd name="T89" fmla="*/ 422 h 1234"/>
                  <a:gd name="T90" fmla="*/ 610 w 626"/>
                  <a:gd name="T91" fmla="*/ 374 h 1234"/>
                  <a:gd name="T92" fmla="*/ 626 w 626"/>
                  <a:gd name="T93" fmla="*/ 338 h 1234"/>
                  <a:gd name="T94" fmla="*/ 512 w 626"/>
                  <a:gd name="T95" fmla="*/ 152 h 1234"/>
                  <a:gd name="T96" fmla="*/ 488 w 626"/>
                  <a:gd name="T97" fmla="*/ 156 h 1234"/>
                  <a:gd name="T98" fmla="*/ 272 w 626"/>
                  <a:gd name="T99" fmla="*/ 736 h 1234"/>
                  <a:gd name="T100" fmla="*/ 216 w 626"/>
                  <a:gd name="T101" fmla="*/ 622 h 1234"/>
                  <a:gd name="T102" fmla="*/ 222 w 626"/>
                  <a:gd name="T103" fmla="*/ 434 h 1234"/>
                  <a:gd name="T104" fmla="*/ 248 w 626"/>
                  <a:gd name="T105" fmla="*/ 418 h 1234"/>
                  <a:gd name="T106" fmla="*/ 266 w 626"/>
                  <a:gd name="T107" fmla="*/ 448 h 1234"/>
                  <a:gd name="T108" fmla="*/ 278 w 626"/>
                  <a:gd name="T109" fmla="*/ 490 h 1234"/>
                  <a:gd name="T110" fmla="*/ 266 w 626"/>
                  <a:gd name="T111" fmla="*/ 586 h 1234"/>
                  <a:gd name="T112" fmla="*/ 442 w 626"/>
                  <a:gd name="T113" fmla="*/ 190 h 1234"/>
                  <a:gd name="T114" fmla="*/ 478 w 626"/>
                  <a:gd name="T115" fmla="*/ 164 h 1234"/>
                  <a:gd name="T116" fmla="*/ 506 w 626"/>
                  <a:gd name="T117" fmla="*/ 196 h 1234"/>
                  <a:gd name="T118" fmla="*/ 502 w 626"/>
                  <a:gd name="T119" fmla="*/ 232 h 1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26" h="1234">
                    <a:moveTo>
                      <a:pt x="614" y="310"/>
                    </a:moveTo>
                    <a:lnTo>
                      <a:pt x="614" y="310"/>
                    </a:lnTo>
                    <a:lnTo>
                      <a:pt x="608" y="286"/>
                    </a:lnTo>
                    <a:lnTo>
                      <a:pt x="602" y="262"/>
                    </a:lnTo>
                    <a:lnTo>
                      <a:pt x="602" y="262"/>
                    </a:lnTo>
                    <a:lnTo>
                      <a:pt x="600" y="246"/>
                    </a:lnTo>
                    <a:lnTo>
                      <a:pt x="600" y="246"/>
                    </a:lnTo>
                    <a:lnTo>
                      <a:pt x="584" y="226"/>
                    </a:lnTo>
                    <a:lnTo>
                      <a:pt x="564" y="206"/>
                    </a:lnTo>
                    <a:lnTo>
                      <a:pt x="564" y="206"/>
                    </a:lnTo>
                    <a:lnTo>
                      <a:pt x="558" y="202"/>
                    </a:lnTo>
                    <a:lnTo>
                      <a:pt x="552" y="194"/>
                    </a:lnTo>
                    <a:lnTo>
                      <a:pt x="552" y="194"/>
                    </a:lnTo>
                    <a:lnTo>
                      <a:pt x="548" y="188"/>
                    </a:lnTo>
                    <a:lnTo>
                      <a:pt x="546" y="180"/>
                    </a:lnTo>
                    <a:lnTo>
                      <a:pt x="544" y="162"/>
                    </a:lnTo>
                    <a:lnTo>
                      <a:pt x="542" y="142"/>
                    </a:lnTo>
                    <a:lnTo>
                      <a:pt x="538" y="126"/>
                    </a:lnTo>
                    <a:lnTo>
                      <a:pt x="538" y="126"/>
                    </a:lnTo>
                    <a:lnTo>
                      <a:pt x="526" y="122"/>
                    </a:lnTo>
                    <a:lnTo>
                      <a:pt x="526" y="122"/>
                    </a:lnTo>
                    <a:lnTo>
                      <a:pt x="508" y="108"/>
                    </a:lnTo>
                    <a:lnTo>
                      <a:pt x="508" y="108"/>
                    </a:lnTo>
                    <a:lnTo>
                      <a:pt x="508" y="98"/>
                    </a:lnTo>
                    <a:lnTo>
                      <a:pt x="506" y="92"/>
                    </a:lnTo>
                    <a:lnTo>
                      <a:pt x="506" y="92"/>
                    </a:lnTo>
                    <a:lnTo>
                      <a:pt x="506" y="88"/>
                    </a:lnTo>
                    <a:lnTo>
                      <a:pt x="506" y="84"/>
                    </a:lnTo>
                    <a:lnTo>
                      <a:pt x="510" y="80"/>
                    </a:lnTo>
                    <a:lnTo>
                      <a:pt x="510" y="80"/>
                    </a:lnTo>
                    <a:lnTo>
                      <a:pt x="510" y="76"/>
                    </a:lnTo>
                    <a:lnTo>
                      <a:pt x="510" y="74"/>
                    </a:lnTo>
                    <a:lnTo>
                      <a:pt x="510" y="70"/>
                    </a:lnTo>
                    <a:lnTo>
                      <a:pt x="510" y="70"/>
                    </a:lnTo>
                    <a:lnTo>
                      <a:pt x="508" y="60"/>
                    </a:lnTo>
                    <a:lnTo>
                      <a:pt x="508" y="60"/>
                    </a:lnTo>
                    <a:lnTo>
                      <a:pt x="506" y="52"/>
                    </a:lnTo>
                    <a:lnTo>
                      <a:pt x="502" y="44"/>
                    </a:lnTo>
                    <a:lnTo>
                      <a:pt x="504" y="44"/>
                    </a:lnTo>
                    <a:lnTo>
                      <a:pt x="504" y="44"/>
                    </a:lnTo>
                    <a:lnTo>
                      <a:pt x="506" y="38"/>
                    </a:lnTo>
                    <a:lnTo>
                      <a:pt x="506" y="38"/>
                    </a:lnTo>
                    <a:lnTo>
                      <a:pt x="506" y="36"/>
                    </a:lnTo>
                    <a:lnTo>
                      <a:pt x="508" y="30"/>
                    </a:lnTo>
                    <a:lnTo>
                      <a:pt x="508" y="22"/>
                    </a:lnTo>
                    <a:lnTo>
                      <a:pt x="508" y="18"/>
                    </a:lnTo>
                    <a:lnTo>
                      <a:pt x="504" y="14"/>
                    </a:lnTo>
                    <a:lnTo>
                      <a:pt x="504" y="14"/>
                    </a:lnTo>
                    <a:lnTo>
                      <a:pt x="504" y="14"/>
                    </a:lnTo>
                    <a:lnTo>
                      <a:pt x="502" y="12"/>
                    </a:lnTo>
                    <a:lnTo>
                      <a:pt x="502" y="12"/>
                    </a:lnTo>
                    <a:lnTo>
                      <a:pt x="500" y="10"/>
                    </a:lnTo>
                    <a:lnTo>
                      <a:pt x="496" y="4"/>
                    </a:lnTo>
                    <a:lnTo>
                      <a:pt x="492" y="2"/>
                    </a:lnTo>
                    <a:lnTo>
                      <a:pt x="486" y="0"/>
                    </a:lnTo>
                    <a:lnTo>
                      <a:pt x="476" y="0"/>
                    </a:lnTo>
                    <a:lnTo>
                      <a:pt x="466" y="2"/>
                    </a:lnTo>
                    <a:lnTo>
                      <a:pt x="466" y="2"/>
                    </a:lnTo>
                    <a:lnTo>
                      <a:pt x="454" y="2"/>
                    </a:lnTo>
                    <a:lnTo>
                      <a:pt x="454" y="2"/>
                    </a:lnTo>
                    <a:lnTo>
                      <a:pt x="446" y="2"/>
                    </a:lnTo>
                    <a:lnTo>
                      <a:pt x="430" y="0"/>
                    </a:lnTo>
                    <a:lnTo>
                      <a:pt x="422" y="0"/>
                    </a:lnTo>
                    <a:lnTo>
                      <a:pt x="414" y="2"/>
                    </a:lnTo>
                    <a:lnTo>
                      <a:pt x="406" y="6"/>
                    </a:lnTo>
                    <a:lnTo>
                      <a:pt x="400" y="12"/>
                    </a:lnTo>
                    <a:lnTo>
                      <a:pt x="400" y="12"/>
                    </a:lnTo>
                    <a:lnTo>
                      <a:pt x="386" y="32"/>
                    </a:lnTo>
                    <a:lnTo>
                      <a:pt x="386" y="32"/>
                    </a:lnTo>
                    <a:lnTo>
                      <a:pt x="384" y="36"/>
                    </a:lnTo>
                    <a:lnTo>
                      <a:pt x="380" y="48"/>
                    </a:lnTo>
                    <a:lnTo>
                      <a:pt x="378" y="66"/>
                    </a:lnTo>
                    <a:lnTo>
                      <a:pt x="380" y="76"/>
                    </a:lnTo>
                    <a:lnTo>
                      <a:pt x="382" y="88"/>
                    </a:lnTo>
                    <a:lnTo>
                      <a:pt x="382" y="88"/>
                    </a:lnTo>
                    <a:lnTo>
                      <a:pt x="386" y="102"/>
                    </a:lnTo>
                    <a:lnTo>
                      <a:pt x="386" y="102"/>
                    </a:lnTo>
                    <a:lnTo>
                      <a:pt x="386" y="114"/>
                    </a:lnTo>
                    <a:lnTo>
                      <a:pt x="386" y="114"/>
                    </a:lnTo>
                    <a:lnTo>
                      <a:pt x="386" y="120"/>
                    </a:lnTo>
                    <a:lnTo>
                      <a:pt x="386" y="124"/>
                    </a:lnTo>
                    <a:lnTo>
                      <a:pt x="386" y="128"/>
                    </a:lnTo>
                    <a:lnTo>
                      <a:pt x="386" y="128"/>
                    </a:lnTo>
                    <a:lnTo>
                      <a:pt x="380" y="142"/>
                    </a:lnTo>
                    <a:lnTo>
                      <a:pt x="380" y="142"/>
                    </a:lnTo>
                    <a:lnTo>
                      <a:pt x="378" y="144"/>
                    </a:lnTo>
                    <a:lnTo>
                      <a:pt x="374" y="142"/>
                    </a:lnTo>
                    <a:lnTo>
                      <a:pt x="368" y="140"/>
                    </a:lnTo>
                    <a:lnTo>
                      <a:pt x="368" y="140"/>
                    </a:lnTo>
                    <a:lnTo>
                      <a:pt x="348" y="162"/>
                    </a:lnTo>
                    <a:lnTo>
                      <a:pt x="348" y="162"/>
                    </a:lnTo>
                    <a:lnTo>
                      <a:pt x="342" y="164"/>
                    </a:lnTo>
                    <a:lnTo>
                      <a:pt x="334" y="164"/>
                    </a:lnTo>
                    <a:lnTo>
                      <a:pt x="328" y="164"/>
                    </a:lnTo>
                    <a:lnTo>
                      <a:pt x="322" y="166"/>
                    </a:lnTo>
                    <a:lnTo>
                      <a:pt x="322" y="166"/>
                    </a:lnTo>
                    <a:lnTo>
                      <a:pt x="286" y="178"/>
                    </a:lnTo>
                    <a:lnTo>
                      <a:pt x="270" y="188"/>
                    </a:lnTo>
                    <a:lnTo>
                      <a:pt x="262" y="194"/>
                    </a:lnTo>
                    <a:lnTo>
                      <a:pt x="256" y="200"/>
                    </a:lnTo>
                    <a:lnTo>
                      <a:pt x="256" y="200"/>
                    </a:lnTo>
                    <a:lnTo>
                      <a:pt x="254" y="208"/>
                    </a:lnTo>
                    <a:lnTo>
                      <a:pt x="252" y="216"/>
                    </a:lnTo>
                    <a:lnTo>
                      <a:pt x="248" y="236"/>
                    </a:lnTo>
                    <a:lnTo>
                      <a:pt x="248" y="236"/>
                    </a:lnTo>
                    <a:lnTo>
                      <a:pt x="240" y="246"/>
                    </a:lnTo>
                    <a:lnTo>
                      <a:pt x="234" y="256"/>
                    </a:lnTo>
                    <a:lnTo>
                      <a:pt x="234" y="256"/>
                    </a:lnTo>
                    <a:lnTo>
                      <a:pt x="220" y="284"/>
                    </a:lnTo>
                    <a:lnTo>
                      <a:pt x="214" y="298"/>
                    </a:lnTo>
                    <a:lnTo>
                      <a:pt x="206" y="312"/>
                    </a:lnTo>
                    <a:lnTo>
                      <a:pt x="206" y="312"/>
                    </a:lnTo>
                    <a:lnTo>
                      <a:pt x="194" y="324"/>
                    </a:lnTo>
                    <a:lnTo>
                      <a:pt x="180" y="336"/>
                    </a:lnTo>
                    <a:lnTo>
                      <a:pt x="180" y="336"/>
                    </a:lnTo>
                    <a:lnTo>
                      <a:pt x="174" y="348"/>
                    </a:lnTo>
                    <a:lnTo>
                      <a:pt x="170" y="360"/>
                    </a:lnTo>
                    <a:lnTo>
                      <a:pt x="170" y="360"/>
                    </a:lnTo>
                    <a:lnTo>
                      <a:pt x="164" y="372"/>
                    </a:lnTo>
                    <a:lnTo>
                      <a:pt x="156" y="384"/>
                    </a:lnTo>
                    <a:lnTo>
                      <a:pt x="150" y="398"/>
                    </a:lnTo>
                    <a:lnTo>
                      <a:pt x="148" y="404"/>
                    </a:lnTo>
                    <a:lnTo>
                      <a:pt x="146" y="412"/>
                    </a:lnTo>
                    <a:lnTo>
                      <a:pt x="146" y="412"/>
                    </a:lnTo>
                    <a:lnTo>
                      <a:pt x="148" y="454"/>
                    </a:lnTo>
                    <a:lnTo>
                      <a:pt x="152" y="496"/>
                    </a:lnTo>
                    <a:lnTo>
                      <a:pt x="152" y="496"/>
                    </a:lnTo>
                    <a:lnTo>
                      <a:pt x="156" y="534"/>
                    </a:lnTo>
                    <a:lnTo>
                      <a:pt x="162" y="572"/>
                    </a:lnTo>
                    <a:lnTo>
                      <a:pt x="162" y="590"/>
                    </a:lnTo>
                    <a:lnTo>
                      <a:pt x="160" y="606"/>
                    </a:lnTo>
                    <a:lnTo>
                      <a:pt x="156" y="622"/>
                    </a:lnTo>
                    <a:lnTo>
                      <a:pt x="148" y="636"/>
                    </a:lnTo>
                    <a:lnTo>
                      <a:pt x="148" y="636"/>
                    </a:lnTo>
                    <a:lnTo>
                      <a:pt x="132" y="622"/>
                    </a:lnTo>
                    <a:lnTo>
                      <a:pt x="124" y="616"/>
                    </a:lnTo>
                    <a:lnTo>
                      <a:pt x="116" y="610"/>
                    </a:lnTo>
                    <a:lnTo>
                      <a:pt x="104" y="606"/>
                    </a:lnTo>
                    <a:lnTo>
                      <a:pt x="92" y="602"/>
                    </a:lnTo>
                    <a:lnTo>
                      <a:pt x="78" y="602"/>
                    </a:lnTo>
                    <a:lnTo>
                      <a:pt x="62" y="604"/>
                    </a:lnTo>
                    <a:lnTo>
                      <a:pt x="62" y="604"/>
                    </a:lnTo>
                    <a:lnTo>
                      <a:pt x="30" y="688"/>
                    </a:lnTo>
                    <a:lnTo>
                      <a:pt x="14" y="732"/>
                    </a:lnTo>
                    <a:lnTo>
                      <a:pt x="0" y="778"/>
                    </a:lnTo>
                    <a:lnTo>
                      <a:pt x="0" y="778"/>
                    </a:lnTo>
                    <a:lnTo>
                      <a:pt x="82" y="852"/>
                    </a:lnTo>
                    <a:lnTo>
                      <a:pt x="122" y="890"/>
                    </a:lnTo>
                    <a:lnTo>
                      <a:pt x="166" y="924"/>
                    </a:lnTo>
                    <a:lnTo>
                      <a:pt x="166" y="924"/>
                    </a:lnTo>
                    <a:lnTo>
                      <a:pt x="180" y="924"/>
                    </a:lnTo>
                    <a:lnTo>
                      <a:pt x="192" y="922"/>
                    </a:lnTo>
                    <a:lnTo>
                      <a:pt x="204" y="920"/>
                    </a:lnTo>
                    <a:lnTo>
                      <a:pt x="218" y="918"/>
                    </a:lnTo>
                    <a:lnTo>
                      <a:pt x="218" y="918"/>
                    </a:lnTo>
                    <a:lnTo>
                      <a:pt x="246" y="840"/>
                    </a:lnTo>
                    <a:lnTo>
                      <a:pt x="262" y="802"/>
                    </a:lnTo>
                    <a:lnTo>
                      <a:pt x="270" y="782"/>
                    </a:lnTo>
                    <a:lnTo>
                      <a:pt x="280" y="766"/>
                    </a:lnTo>
                    <a:lnTo>
                      <a:pt x="280" y="766"/>
                    </a:lnTo>
                    <a:lnTo>
                      <a:pt x="290" y="828"/>
                    </a:lnTo>
                    <a:lnTo>
                      <a:pt x="296" y="858"/>
                    </a:lnTo>
                    <a:lnTo>
                      <a:pt x="304" y="886"/>
                    </a:lnTo>
                    <a:lnTo>
                      <a:pt x="304" y="886"/>
                    </a:lnTo>
                    <a:lnTo>
                      <a:pt x="288" y="898"/>
                    </a:lnTo>
                    <a:lnTo>
                      <a:pt x="274" y="914"/>
                    </a:lnTo>
                    <a:lnTo>
                      <a:pt x="246" y="950"/>
                    </a:lnTo>
                    <a:lnTo>
                      <a:pt x="234" y="968"/>
                    </a:lnTo>
                    <a:lnTo>
                      <a:pt x="218" y="984"/>
                    </a:lnTo>
                    <a:lnTo>
                      <a:pt x="202" y="996"/>
                    </a:lnTo>
                    <a:lnTo>
                      <a:pt x="192" y="1002"/>
                    </a:lnTo>
                    <a:lnTo>
                      <a:pt x="184" y="1006"/>
                    </a:lnTo>
                    <a:lnTo>
                      <a:pt x="184" y="1006"/>
                    </a:lnTo>
                    <a:lnTo>
                      <a:pt x="170" y="1010"/>
                    </a:lnTo>
                    <a:lnTo>
                      <a:pt x="154" y="1012"/>
                    </a:lnTo>
                    <a:lnTo>
                      <a:pt x="140" y="1016"/>
                    </a:lnTo>
                    <a:lnTo>
                      <a:pt x="134" y="1020"/>
                    </a:lnTo>
                    <a:lnTo>
                      <a:pt x="128" y="1024"/>
                    </a:lnTo>
                    <a:lnTo>
                      <a:pt x="128" y="1024"/>
                    </a:lnTo>
                    <a:lnTo>
                      <a:pt x="128" y="1032"/>
                    </a:lnTo>
                    <a:lnTo>
                      <a:pt x="128" y="1040"/>
                    </a:lnTo>
                    <a:lnTo>
                      <a:pt x="132" y="1052"/>
                    </a:lnTo>
                    <a:lnTo>
                      <a:pt x="138" y="1062"/>
                    </a:lnTo>
                    <a:lnTo>
                      <a:pt x="142" y="1074"/>
                    </a:lnTo>
                    <a:lnTo>
                      <a:pt x="142" y="1074"/>
                    </a:lnTo>
                    <a:lnTo>
                      <a:pt x="146" y="1074"/>
                    </a:lnTo>
                    <a:lnTo>
                      <a:pt x="148" y="1074"/>
                    </a:lnTo>
                    <a:lnTo>
                      <a:pt x="150" y="1072"/>
                    </a:lnTo>
                    <a:lnTo>
                      <a:pt x="150" y="1074"/>
                    </a:lnTo>
                    <a:lnTo>
                      <a:pt x="150" y="1074"/>
                    </a:lnTo>
                    <a:lnTo>
                      <a:pt x="160" y="1114"/>
                    </a:lnTo>
                    <a:lnTo>
                      <a:pt x="166" y="1134"/>
                    </a:lnTo>
                    <a:lnTo>
                      <a:pt x="172" y="1154"/>
                    </a:lnTo>
                    <a:lnTo>
                      <a:pt x="182" y="1170"/>
                    </a:lnTo>
                    <a:lnTo>
                      <a:pt x="188" y="1176"/>
                    </a:lnTo>
                    <a:lnTo>
                      <a:pt x="194" y="1182"/>
                    </a:lnTo>
                    <a:lnTo>
                      <a:pt x="202" y="1186"/>
                    </a:lnTo>
                    <a:lnTo>
                      <a:pt x="210" y="1188"/>
                    </a:lnTo>
                    <a:lnTo>
                      <a:pt x="220" y="1190"/>
                    </a:lnTo>
                    <a:lnTo>
                      <a:pt x="230" y="1190"/>
                    </a:lnTo>
                    <a:lnTo>
                      <a:pt x="230" y="1190"/>
                    </a:lnTo>
                    <a:lnTo>
                      <a:pt x="224" y="1174"/>
                    </a:lnTo>
                    <a:lnTo>
                      <a:pt x="218" y="1162"/>
                    </a:lnTo>
                    <a:lnTo>
                      <a:pt x="204" y="1140"/>
                    </a:lnTo>
                    <a:lnTo>
                      <a:pt x="204" y="1140"/>
                    </a:lnTo>
                    <a:lnTo>
                      <a:pt x="208" y="1134"/>
                    </a:lnTo>
                    <a:lnTo>
                      <a:pt x="208" y="1132"/>
                    </a:lnTo>
                    <a:lnTo>
                      <a:pt x="208" y="1128"/>
                    </a:lnTo>
                    <a:lnTo>
                      <a:pt x="204" y="1124"/>
                    </a:lnTo>
                    <a:lnTo>
                      <a:pt x="204" y="1124"/>
                    </a:lnTo>
                    <a:lnTo>
                      <a:pt x="218" y="1098"/>
                    </a:lnTo>
                    <a:lnTo>
                      <a:pt x="222" y="1084"/>
                    </a:lnTo>
                    <a:lnTo>
                      <a:pt x="224" y="1078"/>
                    </a:lnTo>
                    <a:lnTo>
                      <a:pt x="222" y="1074"/>
                    </a:lnTo>
                    <a:lnTo>
                      <a:pt x="222" y="1074"/>
                    </a:lnTo>
                    <a:lnTo>
                      <a:pt x="232" y="1080"/>
                    </a:lnTo>
                    <a:lnTo>
                      <a:pt x="242" y="1088"/>
                    </a:lnTo>
                    <a:lnTo>
                      <a:pt x="250" y="1094"/>
                    </a:lnTo>
                    <a:lnTo>
                      <a:pt x="256" y="1096"/>
                    </a:lnTo>
                    <a:lnTo>
                      <a:pt x="262" y="1098"/>
                    </a:lnTo>
                    <a:lnTo>
                      <a:pt x="262" y="1098"/>
                    </a:lnTo>
                    <a:lnTo>
                      <a:pt x="272" y="1086"/>
                    </a:lnTo>
                    <a:lnTo>
                      <a:pt x="280" y="1074"/>
                    </a:lnTo>
                    <a:lnTo>
                      <a:pt x="290" y="1064"/>
                    </a:lnTo>
                    <a:lnTo>
                      <a:pt x="300" y="1054"/>
                    </a:lnTo>
                    <a:lnTo>
                      <a:pt x="300" y="1054"/>
                    </a:lnTo>
                    <a:lnTo>
                      <a:pt x="300" y="1096"/>
                    </a:lnTo>
                    <a:lnTo>
                      <a:pt x="300" y="1136"/>
                    </a:lnTo>
                    <a:lnTo>
                      <a:pt x="300" y="1216"/>
                    </a:lnTo>
                    <a:lnTo>
                      <a:pt x="300" y="1216"/>
                    </a:lnTo>
                    <a:lnTo>
                      <a:pt x="312" y="1220"/>
                    </a:lnTo>
                    <a:lnTo>
                      <a:pt x="324" y="1224"/>
                    </a:lnTo>
                    <a:lnTo>
                      <a:pt x="332" y="1224"/>
                    </a:lnTo>
                    <a:lnTo>
                      <a:pt x="338" y="1224"/>
                    </a:lnTo>
                    <a:lnTo>
                      <a:pt x="344" y="1222"/>
                    </a:lnTo>
                    <a:lnTo>
                      <a:pt x="348" y="1216"/>
                    </a:lnTo>
                    <a:lnTo>
                      <a:pt x="348" y="1216"/>
                    </a:lnTo>
                    <a:lnTo>
                      <a:pt x="356" y="1220"/>
                    </a:lnTo>
                    <a:lnTo>
                      <a:pt x="372" y="1226"/>
                    </a:lnTo>
                    <a:lnTo>
                      <a:pt x="392" y="1230"/>
                    </a:lnTo>
                    <a:lnTo>
                      <a:pt x="412" y="1232"/>
                    </a:lnTo>
                    <a:lnTo>
                      <a:pt x="434" y="1234"/>
                    </a:lnTo>
                    <a:lnTo>
                      <a:pt x="452" y="1232"/>
                    </a:lnTo>
                    <a:lnTo>
                      <a:pt x="460" y="1230"/>
                    </a:lnTo>
                    <a:lnTo>
                      <a:pt x="468" y="1228"/>
                    </a:lnTo>
                    <a:lnTo>
                      <a:pt x="472" y="1224"/>
                    </a:lnTo>
                    <a:lnTo>
                      <a:pt x="474" y="1218"/>
                    </a:lnTo>
                    <a:lnTo>
                      <a:pt x="474" y="1218"/>
                    </a:lnTo>
                    <a:lnTo>
                      <a:pt x="468" y="1214"/>
                    </a:lnTo>
                    <a:lnTo>
                      <a:pt x="458" y="1210"/>
                    </a:lnTo>
                    <a:lnTo>
                      <a:pt x="450" y="1208"/>
                    </a:lnTo>
                    <a:lnTo>
                      <a:pt x="440" y="1210"/>
                    </a:lnTo>
                    <a:lnTo>
                      <a:pt x="440" y="1210"/>
                    </a:lnTo>
                    <a:lnTo>
                      <a:pt x="430" y="1204"/>
                    </a:lnTo>
                    <a:lnTo>
                      <a:pt x="420" y="1202"/>
                    </a:lnTo>
                    <a:lnTo>
                      <a:pt x="412" y="1200"/>
                    </a:lnTo>
                    <a:lnTo>
                      <a:pt x="408" y="1196"/>
                    </a:lnTo>
                    <a:lnTo>
                      <a:pt x="402" y="1192"/>
                    </a:lnTo>
                    <a:lnTo>
                      <a:pt x="396" y="1160"/>
                    </a:lnTo>
                    <a:lnTo>
                      <a:pt x="396" y="1160"/>
                    </a:lnTo>
                    <a:lnTo>
                      <a:pt x="388" y="1138"/>
                    </a:lnTo>
                    <a:lnTo>
                      <a:pt x="386" y="1128"/>
                    </a:lnTo>
                    <a:lnTo>
                      <a:pt x="386" y="1114"/>
                    </a:lnTo>
                    <a:lnTo>
                      <a:pt x="386" y="1114"/>
                    </a:lnTo>
                    <a:lnTo>
                      <a:pt x="388" y="1082"/>
                    </a:lnTo>
                    <a:lnTo>
                      <a:pt x="390" y="1050"/>
                    </a:lnTo>
                    <a:lnTo>
                      <a:pt x="390" y="1050"/>
                    </a:lnTo>
                    <a:lnTo>
                      <a:pt x="396" y="1020"/>
                    </a:lnTo>
                    <a:lnTo>
                      <a:pt x="402" y="990"/>
                    </a:lnTo>
                    <a:lnTo>
                      <a:pt x="406" y="960"/>
                    </a:lnTo>
                    <a:lnTo>
                      <a:pt x="410" y="930"/>
                    </a:lnTo>
                    <a:lnTo>
                      <a:pt x="410" y="930"/>
                    </a:lnTo>
                    <a:lnTo>
                      <a:pt x="412" y="904"/>
                    </a:lnTo>
                    <a:lnTo>
                      <a:pt x="412" y="904"/>
                    </a:lnTo>
                    <a:lnTo>
                      <a:pt x="426" y="880"/>
                    </a:lnTo>
                    <a:lnTo>
                      <a:pt x="430" y="868"/>
                    </a:lnTo>
                    <a:lnTo>
                      <a:pt x="432" y="862"/>
                    </a:lnTo>
                    <a:lnTo>
                      <a:pt x="432" y="854"/>
                    </a:lnTo>
                    <a:lnTo>
                      <a:pt x="432" y="854"/>
                    </a:lnTo>
                    <a:lnTo>
                      <a:pt x="438" y="838"/>
                    </a:lnTo>
                    <a:lnTo>
                      <a:pt x="438" y="838"/>
                    </a:lnTo>
                    <a:lnTo>
                      <a:pt x="442" y="826"/>
                    </a:lnTo>
                    <a:lnTo>
                      <a:pt x="444" y="814"/>
                    </a:lnTo>
                    <a:lnTo>
                      <a:pt x="444" y="788"/>
                    </a:lnTo>
                    <a:lnTo>
                      <a:pt x="444" y="764"/>
                    </a:lnTo>
                    <a:lnTo>
                      <a:pt x="446" y="738"/>
                    </a:lnTo>
                    <a:lnTo>
                      <a:pt x="446" y="738"/>
                    </a:lnTo>
                    <a:lnTo>
                      <a:pt x="454" y="682"/>
                    </a:lnTo>
                    <a:lnTo>
                      <a:pt x="458" y="654"/>
                    </a:lnTo>
                    <a:lnTo>
                      <a:pt x="460" y="626"/>
                    </a:lnTo>
                    <a:lnTo>
                      <a:pt x="460" y="626"/>
                    </a:lnTo>
                    <a:lnTo>
                      <a:pt x="456" y="592"/>
                    </a:lnTo>
                    <a:lnTo>
                      <a:pt x="456" y="576"/>
                    </a:lnTo>
                    <a:lnTo>
                      <a:pt x="456" y="560"/>
                    </a:lnTo>
                    <a:lnTo>
                      <a:pt x="456" y="560"/>
                    </a:lnTo>
                    <a:lnTo>
                      <a:pt x="458" y="552"/>
                    </a:lnTo>
                    <a:lnTo>
                      <a:pt x="460" y="544"/>
                    </a:lnTo>
                    <a:lnTo>
                      <a:pt x="460" y="544"/>
                    </a:lnTo>
                    <a:lnTo>
                      <a:pt x="460" y="540"/>
                    </a:lnTo>
                    <a:lnTo>
                      <a:pt x="460" y="540"/>
                    </a:lnTo>
                    <a:lnTo>
                      <a:pt x="464" y="534"/>
                    </a:lnTo>
                    <a:lnTo>
                      <a:pt x="470" y="530"/>
                    </a:lnTo>
                    <a:lnTo>
                      <a:pt x="474" y="524"/>
                    </a:lnTo>
                    <a:lnTo>
                      <a:pt x="476" y="516"/>
                    </a:lnTo>
                    <a:lnTo>
                      <a:pt x="476" y="516"/>
                    </a:lnTo>
                    <a:lnTo>
                      <a:pt x="476" y="506"/>
                    </a:lnTo>
                    <a:lnTo>
                      <a:pt x="476" y="494"/>
                    </a:lnTo>
                    <a:lnTo>
                      <a:pt x="476" y="484"/>
                    </a:lnTo>
                    <a:lnTo>
                      <a:pt x="478" y="472"/>
                    </a:lnTo>
                    <a:lnTo>
                      <a:pt x="478" y="472"/>
                    </a:lnTo>
                    <a:lnTo>
                      <a:pt x="480" y="460"/>
                    </a:lnTo>
                    <a:lnTo>
                      <a:pt x="484" y="448"/>
                    </a:lnTo>
                    <a:lnTo>
                      <a:pt x="488" y="434"/>
                    </a:lnTo>
                    <a:lnTo>
                      <a:pt x="492" y="422"/>
                    </a:lnTo>
                    <a:lnTo>
                      <a:pt x="492" y="422"/>
                    </a:lnTo>
                    <a:lnTo>
                      <a:pt x="492" y="394"/>
                    </a:lnTo>
                    <a:lnTo>
                      <a:pt x="492" y="370"/>
                    </a:lnTo>
                    <a:lnTo>
                      <a:pt x="492" y="370"/>
                    </a:lnTo>
                    <a:lnTo>
                      <a:pt x="556" y="380"/>
                    </a:lnTo>
                    <a:lnTo>
                      <a:pt x="556" y="380"/>
                    </a:lnTo>
                    <a:lnTo>
                      <a:pt x="594" y="376"/>
                    </a:lnTo>
                    <a:lnTo>
                      <a:pt x="610" y="374"/>
                    </a:lnTo>
                    <a:lnTo>
                      <a:pt x="616" y="370"/>
                    </a:lnTo>
                    <a:lnTo>
                      <a:pt x="620" y="366"/>
                    </a:lnTo>
                    <a:lnTo>
                      <a:pt x="620" y="366"/>
                    </a:lnTo>
                    <a:lnTo>
                      <a:pt x="624" y="360"/>
                    </a:lnTo>
                    <a:lnTo>
                      <a:pt x="626" y="354"/>
                    </a:lnTo>
                    <a:lnTo>
                      <a:pt x="626" y="346"/>
                    </a:lnTo>
                    <a:lnTo>
                      <a:pt x="626" y="338"/>
                    </a:lnTo>
                    <a:lnTo>
                      <a:pt x="620" y="324"/>
                    </a:lnTo>
                    <a:lnTo>
                      <a:pt x="614" y="310"/>
                    </a:lnTo>
                    <a:lnTo>
                      <a:pt x="614" y="310"/>
                    </a:lnTo>
                    <a:close/>
                    <a:moveTo>
                      <a:pt x="490" y="148"/>
                    </a:moveTo>
                    <a:lnTo>
                      <a:pt x="492" y="146"/>
                    </a:lnTo>
                    <a:lnTo>
                      <a:pt x="492" y="146"/>
                    </a:lnTo>
                    <a:lnTo>
                      <a:pt x="512" y="152"/>
                    </a:lnTo>
                    <a:lnTo>
                      <a:pt x="512" y="152"/>
                    </a:lnTo>
                    <a:lnTo>
                      <a:pt x="510" y="160"/>
                    </a:lnTo>
                    <a:lnTo>
                      <a:pt x="510" y="160"/>
                    </a:lnTo>
                    <a:lnTo>
                      <a:pt x="494" y="162"/>
                    </a:lnTo>
                    <a:lnTo>
                      <a:pt x="494" y="162"/>
                    </a:lnTo>
                    <a:lnTo>
                      <a:pt x="488" y="156"/>
                    </a:lnTo>
                    <a:lnTo>
                      <a:pt x="488" y="156"/>
                    </a:lnTo>
                    <a:lnTo>
                      <a:pt x="490" y="148"/>
                    </a:lnTo>
                    <a:lnTo>
                      <a:pt x="490" y="148"/>
                    </a:lnTo>
                    <a:close/>
                    <a:moveTo>
                      <a:pt x="266" y="586"/>
                    </a:moveTo>
                    <a:lnTo>
                      <a:pt x="266" y="586"/>
                    </a:lnTo>
                    <a:lnTo>
                      <a:pt x="264" y="624"/>
                    </a:lnTo>
                    <a:lnTo>
                      <a:pt x="266" y="662"/>
                    </a:lnTo>
                    <a:lnTo>
                      <a:pt x="272" y="736"/>
                    </a:lnTo>
                    <a:lnTo>
                      <a:pt x="272" y="736"/>
                    </a:lnTo>
                    <a:lnTo>
                      <a:pt x="206" y="684"/>
                    </a:lnTo>
                    <a:lnTo>
                      <a:pt x="206" y="684"/>
                    </a:lnTo>
                    <a:lnTo>
                      <a:pt x="212" y="658"/>
                    </a:lnTo>
                    <a:lnTo>
                      <a:pt x="216" y="640"/>
                    </a:lnTo>
                    <a:lnTo>
                      <a:pt x="216" y="632"/>
                    </a:lnTo>
                    <a:lnTo>
                      <a:pt x="216" y="622"/>
                    </a:lnTo>
                    <a:lnTo>
                      <a:pt x="214" y="612"/>
                    </a:lnTo>
                    <a:lnTo>
                      <a:pt x="210" y="598"/>
                    </a:lnTo>
                    <a:lnTo>
                      <a:pt x="212" y="478"/>
                    </a:lnTo>
                    <a:lnTo>
                      <a:pt x="212" y="478"/>
                    </a:lnTo>
                    <a:lnTo>
                      <a:pt x="218" y="448"/>
                    </a:lnTo>
                    <a:lnTo>
                      <a:pt x="218" y="448"/>
                    </a:lnTo>
                    <a:lnTo>
                      <a:pt x="222" y="434"/>
                    </a:lnTo>
                    <a:lnTo>
                      <a:pt x="230" y="418"/>
                    </a:lnTo>
                    <a:lnTo>
                      <a:pt x="240" y="404"/>
                    </a:lnTo>
                    <a:lnTo>
                      <a:pt x="246" y="396"/>
                    </a:lnTo>
                    <a:lnTo>
                      <a:pt x="246" y="392"/>
                    </a:lnTo>
                    <a:lnTo>
                      <a:pt x="246" y="392"/>
                    </a:lnTo>
                    <a:lnTo>
                      <a:pt x="248" y="406"/>
                    </a:lnTo>
                    <a:lnTo>
                      <a:pt x="248" y="418"/>
                    </a:lnTo>
                    <a:lnTo>
                      <a:pt x="248" y="418"/>
                    </a:lnTo>
                    <a:lnTo>
                      <a:pt x="252" y="430"/>
                    </a:lnTo>
                    <a:lnTo>
                      <a:pt x="254" y="434"/>
                    </a:lnTo>
                    <a:lnTo>
                      <a:pt x="258" y="438"/>
                    </a:lnTo>
                    <a:lnTo>
                      <a:pt x="258" y="438"/>
                    </a:lnTo>
                    <a:lnTo>
                      <a:pt x="262" y="444"/>
                    </a:lnTo>
                    <a:lnTo>
                      <a:pt x="266" y="448"/>
                    </a:lnTo>
                    <a:lnTo>
                      <a:pt x="266" y="448"/>
                    </a:lnTo>
                    <a:lnTo>
                      <a:pt x="264" y="452"/>
                    </a:lnTo>
                    <a:lnTo>
                      <a:pt x="262" y="456"/>
                    </a:lnTo>
                    <a:lnTo>
                      <a:pt x="260" y="460"/>
                    </a:lnTo>
                    <a:lnTo>
                      <a:pt x="260" y="460"/>
                    </a:lnTo>
                    <a:lnTo>
                      <a:pt x="270" y="478"/>
                    </a:lnTo>
                    <a:lnTo>
                      <a:pt x="278" y="490"/>
                    </a:lnTo>
                    <a:lnTo>
                      <a:pt x="282" y="496"/>
                    </a:lnTo>
                    <a:lnTo>
                      <a:pt x="286" y="498"/>
                    </a:lnTo>
                    <a:lnTo>
                      <a:pt x="286" y="498"/>
                    </a:lnTo>
                    <a:lnTo>
                      <a:pt x="282" y="518"/>
                    </a:lnTo>
                    <a:lnTo>
                      <a:pt x="276" y="538"/>
                    </a:lnTo>
                    <a:lnTo>
                      <a:pt x="270" y="560"/>
                    </a:lnTo>
                    <a:lnTo>
                      <a:pt x="266" y="586"/>
                    </a:lnTo>
                    <a:lnTo>
                      <a:pt x="266" y="586"/>
                    </a:lnTo>
                    <a:close/>
                    <a:moveTo>
                      <a:pt x="476" y="216"/>
                    </a:moveTo>
                    <a:lnTo>
                      <a:pt x="476" y="216"/>
                    </a:lnTo>
                    <a:lnTo>
                      <a:pt x="456" y="206"/>
                    </a:lnTo>
                    <a:lnTo>
                      <a:pt x="448" y="200"/>
                    </a:lnTo>
                    <a:lnTo>
                      <a:pt x="444" y="196"/>
                    </a:lnTo>
                    <a:lnTo>
                      <a:pt x="442" y="190"/>
                    </a:lnTo>
                    <a:lnTo>
                      <a:pt x="442" y="190"/>
                    </a:lnTo>
                    <a:lnTo>
                      <a:pt x="450" y="166"/>
                    </a:lnTo>
                    <a:lnTo>
                      <a:pt x="450" y="166"/>
                    </a:lnTo>
                    <a:lnTo>
                      <a:pt x="454" y="164"/>
                    </a:lnTo>
                    <a:lnTo>
                      <a:pt x="464" y="164"/>
                    </a:lnTo>
                    <a:lnTo>
                      <a:pt x="478" y="164"/>
                    </a:lnTo>
                    <a:lnTo>
                      <a:pt x="478" y="164"/>
                    </a:lnTo>
                    <a:lnTo>
                      <a:pt x="480" y="170"/>
                    </a:lnTo>
                    <a:lnTo>
                      <a:pt x="482" y="176"/>
                    </a:lnTo>
                    <a:lnTo>
                      <a:pt x="482" y="176"/>
                    </a:lnTo>
                    <a:lnTo>
                      <a:pt x="488" y="182"/>
                    </a:lnTo>
                    <a:lnTo>
                      <a:pt x="494" y="186"/>
                    </a:lnTo>
                    <a:lnTo>
                      <a:pt x="500" y="190"/>
                    </a:lnTo>
                    <a:lnTo>
                      <a:pt x="506" y="196"/>
                    </a:lnTo>
                    <a:lnTo>
                      <a:pt x="506" y="196"/>
                    </a:lnTo>
                    <a:lnTo>
                      <a:pt x="514" y="208"/>
                    </a:lnTo>
                    <a:lnTo>
                      <a:pt x="520" y="222"/>
                    </a:lnTo>
                    <a:lnTo>
                      <a:pt x="524" y="236"/>
                    </a:lnTo>
                    <a:lnTo>
                      <a:pt x="528" y="252"/>
                    </a:lnTo>
                    <a:lnTo>
                      <a:pt x="528" y="252"/>
                    </a:lnTo>
                    <a:lnTo>
                      <a:pt x="502" y="232"/>
                    </a:lnTo>
                    <a:lnTo>
                      <a:pt x="476" y="216"/>
                    </a:lnTo>
                    <a:lnTo>
                      <a:pt x="476" y="216"/>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86191" tIns="43095" rIns="86191" bIns="43095"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6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48" name="Freeform 132"/>
              <p:cNvSpPr/>
              <p:nvPr/>
            </p:nvSpPr>
            <p:spPr bwMode="auto">
              <a:xfrm>
                <a:off x="4144963" y="4292600"/>
                <a:ext cx="101600" cy="520700"/>
              </a:xfrm>
              <a:custGeom>
                <a:avLst/>
                <a:gdLst>
                  <a:gd name="T0" fmla="*/ 36 w 64"/>
                  <a:gd name="T1" fmla="*/ 32 h 328"/>
                  <a:gd name="T2" fmla="*/ 36 w 64"/>
                  <a:gd name="T3" fmla="*/ 32 h 328"/>
                  <a:gd name="T4" fmla="*/ 38 w 64"/>
                  <a:gd name="T5" fmla="*/ 16 h 328"/>
                  <a:gd name="T6" fmla="*/ 40 w 64"/>
                  <a:gd name="T7" fmla="*/ 10 h 328"/>
                  <a:gd name="T8" fmla="*/ 40 w 64"/>
                  <a:gd name="T9" fmla="*/ 10 h 328"/>
                  <a:gd name="T10" fmla="*/ 34 w 64"/>
                  <a:gd name="T11" fmla="*/ 6 h 328"/>
                  <a:gd name="T12" fmla="*/ 26 w 64"/>
                  <a:gd name="T13" fmla="*/ 2 h 328"/>
                  <a:gd name="T14" fmla="*/ 18 w 64"/>
                  <a:gd name="T15" fmla="*/ 0 h 328"/>
                  <a:gd name="T16" fmla="*/ 18 w 64"/>
                  <a:gd name="T17" fmla="*/ 0 h 328"/>
                  <a:gd name="T18" fmla="*/ 8 w 64"/>
                  <a:gd name="T19" fmla="*/ 6 h 328"/>
                  <a:gd name="T20" fmla="*/ 4 w 64"/>
                  <a:gd name="T21" fmla="*/ 10 h 328"/>
                  <a:gd name="T22" fmla="*/ 0 w 64"/>
                  <a:gd name="T23" fmla="*/ 14 h 328"/>
                  <a:gd name="T24" fmla="*/ 0 w 64"/>
                  <a:gd name="T25" fmla="*/ 14 h 328"/>
                  <a:gd name="T26" fmla="*/ 8 w 64"/>
                  <a:gd name="T27" fmla="*/ 32 h 328"/>
                  <a:gd name="T28" fmla="*/ 8 w 64"/>
                  <a:gd name="T29" fmla="*/ 32 h 328"/>
                  <a:gd name="T30" fmla="*/ 8 w 64"/>
                  <a:gd name="T31" fmla="*/ 102 h 328"/>
                  <a:gd name="T32" fmla="*/ 10 w 64"/>
                  <a:gd name="T33" fmla="*/ 166 h 328"/>
                  <a:gd name="T34" fmla="*/ 22 w 64"/>
                  <a:gd name="T35" fmla="*/ 302 h 328"/>
                  <a:gd name="T36" fmla="*/ 22 w 64"/>
                  <a:gd name="T37" fmla="*/ 302 h 328"/>
                  <a:gd name="T38" fmla="*/ 22 w 64"/>
                  <a:gd name="T39" fmla="*/ 308 h 328"/>
                  <a:gd name="T40" fmla="*/ 22 w 64"/>
                  <a:gd name="T41" fmla="*/ 308 h 328"/>
                  <a:gd name="T42" fmla="*/ 26 w 64"/>
                  <a:gd name="T43" fmla="*/ 310 h 328"/>
                  <a:gd name="T44" fmla="*/ 32 w 64"/>
                  <a:gd name="T45" fmla="*/ 318 h 328"/>
                  <a:gd name="T46" fmla="*/ 38 w 64"/>
                  <a:gd name="T47" fmla="*/ 324 h 328"/>
                  <a:gd name="T48" fmla="*/ 44 w 64"/>
                  <a:gd name="T49" fmla="*/ 328 h 328"/>
                  <a:gd name="T50" fmla="*/ 44 w 64"/>
                  <a:gd name="T51" fmla="*/ 328 h 328"/>
                  <a:gd name="T52" fmla="*/ 46 w 64"/>
                  <a:gd name="T53" fmla="*/ 324 h 328"/>
                  <a:gd name="T54" fmla="*/ 52 w 64"/>
                  <a:gd name="T55" fmla="*/ 322 h 328"/>
                  <a:gd name="T56" fmla="*/ 60 w 64"/>
                  <a:gd name="T57" fmla="*/ 320 h 328"/>
                  <a:gd name="T58" fmla="*/ 64 w 64"/>
                  <a:gd name="T59" fmla="*/ 316 h 328"/>
                  <a:gd name="T60" fmla="*/ 64 w 64"/>
                  <a:gd name="T61" fmla="*/ 316 h 328"/>
                  <a:gd name="T62" fmla="*/ 50 w 64"/>
                  <a:gd name="T63" fmla="*/ 188 h 328"/>
                  <a:gd name="T64" fmla="*/ 36 w 64"/>
                  <a:gd name="T65" fmla="*/ 32 h 328"/>
                  <a:gd name="T66" fmla="*/ 36 w 64"/>
                  <a:gd name="T67" fmla="*/ 32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4" h="328">
                    <a:moveTo>
                      <a:pt x="36" y="32"/>
                    </a:moveTo>
                    <a:lnTo>
                      <a:pt x="36" y="32"/>
                    </a:lnTo>
                    <a:lnTo>
                      <a:pt x="38" y="16"/>
                    </a:lnTo>
                    <a:lnTo>
                      <a:pt x="40" y="10"/>
                    </a:lnTo>
                    <a:lnTo>
                      <a:pt x="40" y="10"/>
                    </a:lnTo>
                    <a:lnTo>
                      <a:pt x="34" y="6"/>
                    </a:lnTo>
                    <a:lnTo>
                      <a:pt x="26" y="2"/>
                    </a:lnTo>
                    <a:lnTo>
                      <a:pt x="18" y="0"/>
                    </a:lnTo>
                    <a:lnTo>
                      <a:pt x="18" y="0"/>
                    </a:lnTo>
                    <a:lnTo>
                      <a:pt x="8" y="6"/>
                    </a:lnTo>
                    <a:lnTo>
                      <a:pt x="4" y="10"/>
                    </a:lnTo>
                    <a:lnTo>
                      <a:pt x="0" y="14"/>
                    </a:lnTo>
                    <a:lnTo>
                      <a:pt x="0" y="14"/>
                    </a:lnTo>
                    <a:lnTo>
                      <a:pt x="8" y="32"/>
                    </a:lnTo>
                    <a:lnTo>
                      <a:pt x="8" y="32"/>
                    </a:lnTo>
                    <a:lnTo>
                      <a:pt x="8" y="102"/>
                    </a:lnTo>
                    <a:lnTo>
                      <a:pt x="10" y="166"/>
                    </a:lnTo>
                    <a:lnTo>
                      <a:pt x="22" y="302"/>
                    </a:lnTo>
                    <a:lnTo>
                      <a:pt x="22" y="302"/>
                    </a:lnTo>
                    <a:lnTo>
                      <a:pt x="22" y="308"/>
                    </a:lnTo>
                    <a:lnTo>
                      <a:pt x="22" y="308"/>
                    </a:lnTo>
                    <a:lnTo>
                      <a:pt x="26" y="310"/>
                    </a:lnTo>
                    <a:lnTo>
                      <a:pt x="32" y="318"/>
                    </a:lnTo>
                    <a:lnTo>
                      <a:pt x="38" y="324"/>
                    </a:lnTo>
                    <a:lnTo>
                      <a:pt x="44" y="328"/>
                    </a:lnTo>
                    <a:lnTo>
                      <a:pt x="44" y="328"/>
                    </a:lnTo>
                    <a:lnTo>
                      <a:pt x="46" y="324"/>
                    </a:lnTo>
                    <a:lnTo>
                      <a:pt x="52" y="322"/>
                    </a:lnTo>
                    <a:lnTo>
                      <a:pt x="60" y="320"/>
                    </a:lnTo>
                    <a:lnTo>
                      <a:pt x="64" y="316"/>
                    </a:lnTo>
                    <a:lnTo>
                      <a:pt x="64" y="316"/>
                    </a:lnTo>
                    <a:lnTo>
                      <a:pt x="50" y="188"/>
                    </a:lnTo>
                    <a:lnTo>
                      <a:pt x="36" y="32"/>
                    </a:lnTo>
                    <a:lnTo>
                      <a:pt x="36" y="3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86191" tIns="43095" rIns="86191" bIns="43095"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695"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grpSp>
      <p:sp>
        <p:nvSpPr>
          <p:cNvPr id="140" name="Oval 24"/>
          <p:cNvSpPr/>
          <p:nvPr/>
        </p:nvSpPr>
        <p:spPr bwMode="gray">
          <a:xfrm>
            <a:off x="1409700" y="3562985"/>
            <a:ext cx="539750" cy="539750"/>
          </a:xfrm>
          <a:prstGeom prst="ellipse">
            <a:avLst/>
          </a:prstGeom>
          <a:solidFill>
            <a:srgbClr val="B4C7E7"/>
          </a:solidFill>
          <a:ln w="12700" algn="ctr">
            <a:noFill/>
            <a:miter lim="800000"/>
          </a:ln>
        </p:spPr>
        <p:txBody>
          <a:bodyPr rot="0" spcFirstLastPara="0" vertOverflow="overflow" horzOverflow="overflow" vert="horz" wrap="square" lIns="88900" tIns="88900" rIns="88900" bIns="88900" numCol="1" spcCol="0" rtlCol="0" fromWordArt="0" anchor="ctr" anchorCtr="0" forceAA="0" compatLnSpc="1">
            <a:noAutofit/>
          </a:bodyP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endParaRPr kumimoji="0" lang="en-US" sz="14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142" name="Group 1089"/>
          <p:cNvGrpSpPr/>
          <p:nvPr/>
        </p:nvGrpSpPr>
        <p:grpSpPr>
          <a:xfrm flipH="1">
            <a:off x="1553845" y="3600450"/>
            <a:ext cx="209550" cy="459105"/>
            <a:chOff x="8281988" y="4048125"/>
            <a:chExt cx="727075" cy="2247900"/>
          </a:xfrm>
        </p:grpSpPr>
        <p:sp>
          <p:nvSpPr>
            <p:cNvPr id="151" name="Freeform 153"/>
            <p:cNvSpPr/>
            <p:nvPr/>
          </p:nvSpPr>
          <p:spPr bwMode="auto">
            <a:xfrm>
              <a:off x="8281988" y="4048125"/>
              <a:ext cx="727075" cy="2247900"/>
            </a:xfrm>
            <a:custGeom>
              <a:avLst/>
              <a:gdLst>
                <a:gd name="T0" fmla="*/ 56 w 458"/>
                <a:gd name="T1" fmla="*/ 1288 h 1416"/>
                <a:gd name="T2" fmla="*/ 86 w 458"/>
                <a:gd name="T3" fmla="*/ 1234 h 1416"/>
                <a:gd name="T4" fmla="*/ 112 w 458"/>
                <a:gd name="T5" fmla="*/ 1170 h 1416"/>
                <a:gd name="T6" fmla="*/ 70 w 458"/>
                <a:gd name="T7" fmla="*/ 832 h 1416"/>
                <a:gd name="T8" fmla="*/ 66 w 458"/>
                <a:gd name="T9" fmla="*/ 652 h 1416"/>
                <a:gd name="T10" fmla="*/ 66 w 458"/>
                <a:gd name="T11" fmla="*/ 260 h 1416"/>
                <a:gd name="T12" fmla="*/ 130 w 458"/>
                <a:gd name="T13" fmla="*/ 200 h 1416"/>
                <a:gd name="T14" fmla="*/ 128 w 458"/>
                <a:gd name="T15" fmla="*/ 148 h 1416"/>
                <a:gd name="T16" fmla="*/ 112 w 458"/>
                <a:gd name="T17" fmla="*/ 120 h 1416"/>
                <a:gd name="T18" fmla="*/ 116 w 458"/>
                <a:gd name="T19" fmla="*/ 90 h 1416"/>
                <a:gd name="T20" fmla="*/ 114 w 458"/>
                <a:gd name="T21" fmla="*/ 72 h 1416"/>
                <a:gd name="T22" fmla="*/ 114 w 458"/>
                <a:gd name="T23" fmla="*/ 60 h 1416"/>
                <a:gd name="T24" fmla="*/ 112 w 458"/>
                <a:gd name="T25" fmla="*/ 50 h 1416"/>
                <a:gd name="T26" fmla="*/ 114 w 458"/>
                <a:gd name="T27" fmla="*/ 42 h 1416"/>
                <a:gd name="T28" fmla="*/ 128 w 458"/>
                <a:gd name="T29" fmla="*/ 30 h 1416"/>
                <a:gd name="T30" fmla="*/ 132 w 458"/>
                <a:gd name="T31" fmla="*/ 24 h 1416"/>
                <a:gd name="T32" fmla="*/ 138 w 458"/>
                <a:gd name="T33" fmla="*/ 24 h 1416"/>
                <a:gd name="T34" fmla="*/ 140 w 458"/>
                <a:gd name="T35" fmla="*/ 18 h 1416"/>
                <a:gd name="T36" fmla="*/ 148 w 458"/>
                <a:gd name="T37" fmla="*/ 10 h 1416"/>
                <a:gd name="T38" fmla="*/ 152 w 458"/>
                <a:gd name="T39" fmla="*/ 8 h 1416"/>
                <a:gd name="T40" fmla="*/ 158 w 458"/>
                <a:gd name="T41" fmla="*/ 6 h 1416"/>
                <a:gd name="T42" fmla="*/ 170 w 458"/>
                <a:gd name="T43" fmla="*/ 2 h 1416"/>
                <a:gd name="T44" fmla="*/ 174 w 458"/>
                <a:gd name="T45" fmla="*/ 2 h 1416"/>
                <a:gd name="T46" fmla="*/ 184 w 458"/>
                <a:gd name="T47" fmla="*/ 2 h 1416"/>
                <a:gd name="T48" fmla="*/ 194 w 458"/>
                <a:gd name="T49" fmla="*/ 6 h 1416"/>
                <a:gd name="T50" fmla="*/ 200 w 458"/>
                <a:gd name="T51" fmla="*/ 8 h 1416"/>
                <a:gd name="T52" fmla="*/ 208 w 458"/>
                <a:gd name="T53" fmla="*/ 14 h 1416"/>
                <a:gd name="T54" fmla="*/ 214 w 458"/>
                <a:gd name="T55" fmla="*/ 16 h 1416"/>
                <a:gd name="T56" fmla="*/ 220 w 458"/>
                <a:gd name="T57" fmla="*/ 16 h 1416"/>
                <a:gd name="T58" fmla="*/ 222 w 458"/>
                <a:gd name="T59" fmla="*/ 26 h 1416"/>
                <a:gd name="T60" fmla="*/ 232 w 458"/>
                <a:gd name="T61" fmla="*/ 30 h 1416"/>
                <a:gd name="T62" fmla="*/ 234 w 458"/>
                <a:gd name="T63" fmla="*/ 36 h 1416"/>
                <a:gd name="T64" fmla="*/ 244 w 458"/>
                <a:gd name="T65" fmla="*/ 48 h 1416"/>
                <a:gd name="T66" fmla="*/ 238 w 458"/>
                <a:gd name="T67" fmla="*/ 58 h 1416"/>
                <a:gd name="T68" fmla="*/ 238 w 458"/>
                <a:gd name="T69" fmla="*/ 64 h 1416"/>
                <a:gd name="T70" fmla="*/ 238 w 458"/>
                <a:gd name="T71" fmla="*/ 72 h 1416"/>
                <a:gd name="T72" fmla="*/ 238 w 458"/>
                <a:gd name="T73" fmla="*/ 86 h 1416"/>
                <a:gd name="T74" fmla="*/ 238 w 458"/>
                <a:gd name="T75" fmla="*/ 94 h 1416"/>
                <a:gd name="T76" fmla="*/ 244 w 458"/>
                <a:gd name="T77" fmla="*/ 98 h 1416"/>
                <a:gd name="T78" fmla="*/ 236 w 458"/>
                <a:gd name="T79" fmla="*/ 136 h 1416"/>
                <a:gd name="T80" fmla="*/ 228 w 458"/>
                <a:gd name="T81" fmla="*/ 162 h 1416"/>
                <a:gd name="T82" fmla="*/ 240 w 458"/>
                <a:gd name="T83" fmla="*/ 188 h 1416"/>
                <a:gd name="T84" fmla="*/ 344 w 458"/>
                <a:gd name="T85" fmla="*/ 234 h 1416"/>
                <a:gd name="T86" fmla="*/ 400 w 458"/>
                <a:gd name="T87" fmla="*/ 348 h 1416"/>
                <a:gd name="T88" fmla="*/ 452 w 458"/>
                <a:gd name="T89" fmla="*/ 496 h 1416"/>
                <a:gd name="T90" fmla="*/ 370 w 458"/>
                <a:gd name="T91" fmla="*/ 628 h 1416"/>
                <a:gd name="T92" fmla="*/ 344 w 458"/>
                <a:gd name="T93" fmla="*/ 722 h 1416"/>
                <a:gd name="T94" fmla="*/ 300 w 458"/>
                <a:gd name="T95" fmla="*/ 762 h 1416"/>
                <a:gd name="T96" fmla="*/ 332 w 458"/>
                <a:gd name="T97" fmla="*/ 1040 h 1416"/>
                <a:gd name="T98" fmla="*/ 346 w 458"/>
                <a:gd name="T99" fmla="*/ 1278 h 1416"/>
                <a:gd name="T100" fmla="*/ 342 w 458"/>
                <a:gd name="T101" fmla="*/ 1330 h 1416"/>
                <a:gd name="T102" fmla="*/ 342 w 458"/>
                <a:gd name="T103" fmla="*/ 1354 h 1416"/>
                <a:gd name="T104" fmla="*/ 326 w 458"/>
                <a:gd name="T105" fmla="*/ 1396 h 1416"/>
                <a:gd name="T106" fmla="*/ 278 w 458"/>
                <a:gd name="T107" fmla="*/ 1414 h 1416"/>
                <a:gd name="T108" fmla="*/ 236 w 458"/>
                <a:gd name="T109" fmla="*/ 1408 h 1416"/>
                <a:gd name="T110" fmla="*/ 240 w 458"/>
                <a:gd name="T111" fmla="*/ 1376 h 1416"/>
                <a:gd name="T112" fmla="*/ 258 w 458"/>
                <a:gd name="T113" fmla="*/ 1342 h 1416"/>
                <a:gd name="T114" fmla="*/ 254 w 458"/>
                <a:gd name="T115" fmla="*/ 1306 h 1416"/>
                <a:gd name="T116" fmla="*/ 246 w 458"/>
                <a:gd name="T117" fmla="*/ 1258 h 1416"/>
                <a:gd name="T118" fmla="*/ 226 w 458"/>
                <a:gd name="T119" fmla="*/ 1198 h 1416"/>
                <a:gd name="T120" fmla="*/ 200 w 458"/>
                <a:gd name="T121" fmla="*/ 1308 h 1416"/>
                <a:gd name="T122" fmla="*/ 4 w 458"/>
                <a:gd name="T123" fmla="*/ 1326 h 1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8" h="1416">
                  <a:moveTo>
                    <a:pt x="4" y="1308"/>
                  </a:moveTo>
                  <a:lnTo>
                    <a:pt x="4" y="1308"/>
                  </a:lnTo>
                  <a:lnTo>
                    <a:pt x="6" y="1300"/>
                  </a:lnTo>
                  <a:lnTo>
                    <a:pt x="10" y="1296"/>
                  </a:lnTo>
                  <a:lnTo>
                    <a:pt x="16" y="1292"/>
                  </a:lnTo>
                  <a:lnTo>
                    <a:pt x="22" y="1290"/>
                  </a:lnTo>
                  <a:lnTo>
                    <a:pt x="24" y="1290"/>
                  </a:lnTo>
                  <a:lnTo>
                    <a:pt x="24" y="1290"/>
                  </a:lnTo>
                  <a:lnTo>
                    <a:pt x="44" y="1288"/>
                  </a:lnTo>
                  <a:lnTo>
                    <a:pt x="56" y="1288"/>
                  </a:lnTo>
                  <a:lnTo>
                    <a:pt x="64" y="1286"/>
                  </a:lnTo>
                  <a:lnTo>
                    <a:pt x="64" y="1286"/>
                  </a:lnTo>
                  <a:lnTo>
                    <a:pt x="70" y="1282"/>
                  </a:lnTo>
                  <a:lnTo>
                    <a:pt x="76" y="1278"/>
                  </a:lnTo>
                  <a:lnTo>
                    <a:pt x="78" y="1274"/>
                  </a:lnTo>
                  <a:lnTo>
                    <a:pt x="80" y="1268"/>
                  </a:lnTo>
                  <a:lnTo>
                    <a:pt x="82" y="1254"/>
                  </a:lnTo>
                  <a:lnTo>
                    <a:pt x="84" y="1242"/>
                  </a:lnTo>
                  <a:lnTo>
                    <a:pt x="84" y="1242"/>
                  </a:lnTo>
                  <a:lnTo>
                    <a:pt x="86" y="1234"/>
                  </a:lnTo>
                  <a:lnTo>
                    <a:pt x="90" y="1230"/>
                  </a:lnTo>
                  <a:lnTo>
                    <a:pt x="94" y="1228"/>
                  </a:lnTo>
                  <a:lnTo>
                    <a:pt x="98" y="1228"/>
                  </a:lnTo>
                  <a:lnTo>
                    <a:pt x="102" y="1228"/>
                  </a:lnTo>
                  <a:lnTo>
                    <a:pt x="106" y="1224"/>
                  </a:lnTo>
                  <a:lnTo>
                    <a:pt x="108" y="1220"/>
                  </a:lnTo>
                  <a:lnTo>
                    <a:pt x="112" y="1210"/>
                  </a:lnTo>
                  <a:lnTo>
                    <a:pt x="112" y="1210"/>
                  </a:lnTo>
                  <a:lnTo>
                    <a:pt x="114" y="1188"/>
                  </a:lnTo>
                  <a:lnTo>
                    <a:pt x="112" y="1170"/>
                  </a:lnTo>
                  <a:lnTo>
                    <a:pt x="110" y="1150"/>
                  </a:lnTo>
                  <a:lnTo>
                    <a:pt x="106" y="1132"/>
                  </a:lnTo>
                  <a:lnTo>
                    <a:pt x="96" y="1092"/>
                  </a:lnTo>
                  <a:lnTo>
                    <a:pt x="92" y="1070"/>
                  </a:lnTo>
                  <a:lnTo>
                    <a:pt x="88" y="1044"/>
                  </a:lnTo>
                  <a:lnTo>
                    <a:pt x="88" y="1044"/>
                  </a:lnTo>
                  <a:lnTo>
                    <a:pt x="82" y="990"/>
                  </a:lnTo>
                  <a:lnTo>
                    <a:pt x="74" y="926"/>
                  </a:lnTo>
                  <a:lnTo>
                    <a:pt x="70" y="860"/>
                  </a:lnTo>
                  <a:lnTo>
                    <a:pt x="70" y="832"/>
                  </a:lnTo>
                  <a:lnTo>
                    <a:pt x="70" y="806"/>
                  </a:lnTo>
                  <a:lnTo>
                    <a:pt x="70" y="806"/>
                  </a:lnTo>
                  <a:lnTo>
                    <a:pt x="72" y="776"/>
                  </a:lnTo>
                  <a:lnTo>
                    <a:pt x="72" y="738"/>
                  </a:lnTo>
                  <a:lnTo>
                    <a:pt x="72" y="700"/>
                  </a:lnTo>
                  <a:lnTo>
                    <a:pt x="72" y="670"/>
                  </a:lnTo>
                  <a:lnTo>
                    <a:pt x="72" y="670"/>
                  </a:lnTo>
                  <a:lnTo>
                    <a:pt x="72" y="664"/>
                  </a:lnTo>
                  <a:lnTo>
                    <a:pt x="72" y="660"/>
                  </a:lnTo>
                  <a:lnTo>
                    <a:pt x="66" y="652"/>
                  </a:lnTo>
                  <a:lnTo>
                    <a:pt x="60" y="646"/>
                  </a:lnTo>
                  <a:lnTo>
                    <a:pt x="58" y="640"/>
                  </a:lnTo>
                  <a:lnTo>
                    <a:pt x="58" y="634"/>
                  </a:lnTo>
                  <a:lnTo>
                    <a:pt x="58" y="634"/>
                  </a:lnTo>
                  <a:lnTo>
                    <a:pt x="62" y="562"/>
                  </a:lnTo>
                  <a:lnTo>
                    <a:pt x="62" y="562"/>
                  </a:lnTo>
                  <a:lnTo>
                    <a:pt x="64" y="490"/>
                  </a:lnTo>
                  <a:lnTo>
                    <a:pt x="66" y="420"/>
                  </a:lnTo>
                  <a:lnTo>
                    <a:pt x="66" y="420"/>
                  </a:lnTo>
                  <a:lnTo>
                    <a:pt x="66" y="260"/>
                  </a:lnTo>
                  <a:lnTo>
                    <a:pt x="66" y="260"/>
                  </a:lnTo>
                  <a:lnTo>
                    <a:pt x="68" y="248"/>
                  </a:lnTo>
                  <a:lnTo>
                    <a:pt x="70" y="238"/>
                  </a:lnTo>
                  <a:lnTo>
                    <a:pt x="74" y="230"/>
                  </a:lnTo>
                  <a:lnTo>
                    <a:pt x="80" y="224"/>
                  </a:lnTo>
                  <a:lnTo>
                    <a:pt x="88" y="218"/>
                  </a:lnTo>
                  <a:lnTo>
                    <a:pt x="98" y="212"/>
                  </a:lnTo>
                  <a:lnTo>
                    <a:pt x="124" y="202"/>
                  </a:lnTo>
                  <a:lnTo>
                    <a:pt x="124" y="202"/>
                  </a:lnTo>
                  <a:lnTo>
                    <a:pt x="130" y="200"/>
                  </a:lnTo>
                  <a:lnTo>
                    <a:pt x="134" y="198"/>
                  </a:lnTo>
                  <a:lnTo>
                    <a:pt x="134" y="198"/>
                  </a:lnTo>
                  <a:lnTo>
                    <a:pt x="136" y="194"/>
                  </a:lnTo>
                  <a:lnTo>
                    <a:pt x="136" y="192"/>
                  </a:lnTo>
                  <a:lnTo>
                    <a:pt x="134" y="184"/>
                  </a:lnTo>
                  <a:lnTo>
                    <a:pt x="134" y="184"/>
                  </a:lnTo>
                  <a:lnTo>
                    <a:pt x="130" y="162"/>
                  </a:lnTo>
                  <a:lnTo>
                    <a:pt x="130" y="162"/>
                  </a:lnTo>
                  <a:lnTo>
                    <a:pt x="128" y="148"/>
                  </a:lnTo>
                  <a:lnTo>
                    <a:pt x="128" y="148"/>
                  </a:lnTo>
                  <a:lnTo>
                    <a:pt x="126" y="140"/>
                  </a:lnTo>
                  <a:lnTo>
                    <a:pt x="126" y="140"/>
                  </a:lnTo>
                  <a:lnTo>
                    <a:pt x="126" y="140"/>
                  </a:lnTo>
                  <a:lnTo>
                    <a:pt x="124" y="140"/>
                  </a:lnTo>
                  <a:lnTo>
                    <a:pt x="124" y="140"/>
                  </a:lnTo>
                  <a:lnTo>
                    <a:pt x="118" y="140"/>
                  </a:lnTo>
                  <a:lnTo>
                    <a:pt x="116" y="138"/>
                  </a:lnTo>
                  <a:lnTo>
                    <a:pt x="114" y="134"/>
                  </a:lnTo>
                  <a:lnTo>
                    <a:pt x="114" y="134"/>
                  </a:lnTo>
                  <a:lnTo>
                    <a:pt x="112" y="120"/>
                  </a:lnTo>
                  <a:lnTo>
                    <a:pt x="112" y="120"/>
                  </a:lnTo>
                  <a:lnTo>
                    <a:pt x="114" y="108"/>
                  </a:lnTo>
                  <a:lnTo>
                    <a:pt x="114" y="108"/>
                  </a:lnTo>
                  <a:lnTo>
                    <a:pt x="114" y="104"/>
                  </a:lnTo>
                  <a:lnTo>
                    <a:pt x="116" y="98"/>
                  </a:lnTo>
                  <a:lnTo>
                    <a:pt x="116" y="98"/>
                  </a:lnTo>
                  <a:lnTo>
                    <a:pt x="116" y="96"/>
                  </a:lnTo>
                  <a:lnTo>
                    <a:pt x="116" y="96"/>
                  </a:lnTo>
                  <a:lnTo>
                    <a:pt x="116" y="90"/>
                  </a:lnTo>
                  <a:lnTo>
                    <a:pt x="116" y="90"/>
                  </a:lnTo>
                  <a:lnTo>
                    <a:pt x="114" y="82"/>
                  </a:lnTo>
                  <a:lnTo>
                    <a:pt x="114" y="82"/>
                  </a:lnTo>
                  <a:lnTo>
                    <a:pt x="114" y="78"/>
                  </a:lnTo>
                  <a:lnTo>
                    <a:pt x="114" y="78"/>
                  </a:lnTo>
                  <a:lnTo>
                    <a:pt x="114" y="78"/>
                  </a:lnTo>
                  <a:lnTo>
                    <a:pt x="114" y="76"/>
                  </a:lnTo>
                  <a:lnTo>
                    <a:pt x="114" y="76"/>
                  </a:lnTo>
                  <a:lnTo>
                    <a:pt x="114" y="72"/>
                  </a:lnTo>
                  <a:lnTo>
                    <a:pt x="114" y="72"/>
                  </a:lnTo>
                  <a:lnTo>
                    <a:pt x="114" y="72"/>
                  </a:lnTo>
                  <a:lnTo>
                    <a:pt x="114" y="72"/>
                  </a:lnTo>
                  <a:lnTo>
                    <a:pt x="114" y="70"/>
                  </a:lnTo>
                  <a:lnTo>
                    <a:pt x="114" y="70"/>
                  </a:lnTo>
                  <a:lnTo>
                    <a:pt x="114" y="66"/>
                  </a:lnTo>
                  <a:lnTo>
                    <a:pt x="114" y="66"/>
                  </a:lnTo>
                  <a:lnTo>
                    <a:pt x="114" y="62"/>
                  </a:lnTo>
                  <a:lnTo>
                    <a:pt x="114" y="62"/>
                  </a:lnTo>
                  <a:lnTo>
                    <a:pt x="114" y="60"/>
                  </a:lnTo>
                  <a:lnTo>
                    <a:pt x="114" y="60"/>
                  </a:lnTo>
                  <a:lnTo>
                    <a:pt x="114" y="60"/>
                  </a:lnTo>
                  <a:lnTo>
                    <a:pt x="112" y="60"/>
                  </a:lnTo>
                  <a:lnTo>
                    <a:pt x="112" y="58"/>
                  </a:lnTo>
                  <a:lnTo>
                    <a:pt x="112" y="58"/>
                  </a:lnTo>
                  <a:lnTo>
                    <a:pt x="112" y="56"/>
                  </a:lnTo>
                  <a:lnTo>
                    <a:pt x="112" y="56"/>
                  </a:lnTo>
                  <a:lnTo>
                    <a:pt x="112" y="56"/>
                  </a:lnTo>
                  <a:lnTo>
                    <a:pt x="112" y="52"/>
                  </a:lnTo>
                  <a:lnTo>
                    <a:pt x="112" y="52"/>
                  </a:lnTo>
                  <a:lnTo>
                    <a:pt x="112" y="50"/>
                  </a:lnTo>
                  <a:lnTo>
                    <a:pt x="112" y="50"/>
                  </a:lnTo>
                  <a:lnTo>
                    <a:pt x="112" y="50"/>
                  </a:lnTo>
                  <a:lnTo>
                    <a:pt x="112" y="48"/>
                  </a:lnTo>
                  <a:lnTo>
                    <a:pt x="112" y="48"/>
                  </a:lnTo>
                  <a:lnTo>
                    <a:pt x="112" y="48"/>
                  </a:lnTo>
                  <a:lnTo>
                    <a:pt x="112" y="48"/>
                  </a:lnTo>
                  <a:lnTo>
                    <a:pt x="112" y="48"/>
                  </a:lnTo>
                  <a:lnTo>
                    <a:pt x="112" y="46"/>
                  </a:lnTo>
                  <a:lnTo>
                    <a:pt x="112" y="46"/>
                  </a:lnTo>
                  <a:lnTo>
                    <a:pt x="114" y="42"/>
                  </a:lnTo>
                  <a:lnTo>
                    <a:pt x="114" y="42"/>
                  </a:lnTo>
                  <a:lnTo>
                    <a:pt x="116" y="40"/>
                  </a:lnTo>
                  <a:lnTo>
                    <a:pt x="116" y="40"/>
                  </a:lnTo>
                  <a:lnTo>
                    <a:pt x="118" y="36"/>
                  </a:lnTo>
                  <a:lnTo>
                    <a:pt x="118" y="36"/>
                  </a:lnTo>
                  <a:lnTo>
                    <a:pt x="118" y="34"/>
                  </a:lnTo>
                  <a:lnTo>
                    <a:pt x="122" y="32"/>
                  </a:lnTo>
                  <a:lnTo>
                    <a:pt x="122" y="32"/>
                  </a:lnTo>
                  <a:lnTo>
                    <a:pt x="124" y="30"/>
                  </a:lnTo>
                  <a:lnTo>
                    <a:pt x="128" y="30"/>
                  </a:lnTo>
                  <a:lnTo>
                    <a:pt x="128" y="30"/>
                  </a:lnTo>
                  <a:lnTo>
                    <a:pt x="130" y="28"/>
                  </a:lnTo>
                  <a:lnTo>
                    <a:pt x="128" y="28"/>
                  </a:lnTo>
                  <a:lnTo>
                    <a:pt x="128" y="28"/>
                  </a:lnTo>
                  <a:lnTo>
                    <a:pt x="130" y="26"/>
                  </a:lnTo>
                  <a:lnTo>
                    <a:pt x="130" y="26"/>
                  </a:lnTo>
                  <a:lnTo>
                    <a:pt x="132" y="26"/>
                  </a:lnTo>
                  <a:lnTo>
                    <a:pt x="130" y="24"/>
                  </a:lnTo>
                  <a:lnTo>
                    <a:pt x="130" y="24"/>
                  </a:lnTo>
                  <a:lnTo>
                    <a:pt x="130" y="24"/>
                  </a:lnTo>
                  <a:lnTo>
                    <a:pt x="132" y="24"/>
                  </a:lnTo>
                  <a:lnTo>
                    <a:pt x="132" y="24"/>
                  </a:lnTo>
                  <a:lnTo>
                    <a:pt x="134" y="24"/>
                  </a:lnTo>
                  <a:lnTo>
                    <a:pt x="132" y="22"/>
                  </a:lnTo>
                  <a:lnTo>
                    <a:pt x="132" y="22"/>
                  </a:lnTo>
                  <a:lnTo>
                    <a:pt x="130" y="22"/>
                  </a:lnTo>
                  <a:lnTo>
                    <a:pt x="134" y="22"/>
                  </a:lnTo>
                  <a:lnTo>
                    <a:pt x="134" y="22"/>
                  </a:lnTo>
                  <a:lnTo>
                    <a:pt x="138" y="24"/>
                  </a:lnTo>
                  <a:lnTo>
                    <a:pt x="138" y="24"/>
                  </a:lnTo>
                  <a:lnTo>
                    <a:pt x="138" y="24"/>
                  </a:lnTo>
                  <a:lnTo>
                    <a:pt x="136" y="20"/>
                  </a:lnTo>
                  <a:lnTo>
                    <a:pt x="136" y="20"/>
                  </a:lnTo>
                  <a:lnTo>
                    <a:pt x="136" y="18"/>
                  </a:lnTo>
                  <a:lnTo>
                    <a:pt x="138" y="20"/>
                  </a:lnTo>
                  <a:lnTo>
                    <a:pt x="138" y="20"/>
                  </a:lnTo>
                  <a:lnTo>
                    <a:pt x="140" y="20"/>
                  </a:lnTo>
                  <a:lnTo>
                    <a:pt x="140" y="18"/>
                  </a:lnTo>
                  <a:lnTo>
                    <a:pt x="140" y="18"/>
                  </a:lnTo>
                  <a:lnTo>
                    <a:pt x="140" y="16"/>
                  </a:lnTo>
                  <a:lnTo>
                    <a:pt x="140" y="18"/>
                  </a:lnTo>
                  <a:lnTo>
                    <a:pt x="140" y="18"/>
                  </a:lnTo>
                  <a:lnTo>
                    <a:pt x="142" y="22"/>
                  </a:lnTo>
                  <a:lnTo>
                    <a:pt x="142" y="18"/>
                  </a:lnTo>
                  <a:lnTo>
                    <a:pt x="142" y="18"/>
                  </a:lnTo>
                  <a:lnTo>
                    <a:pt x="144" y="12"/>
                  </a:lnTo>
                  <a:lnTo>
                    <a:pt x="144" y="16"/>
                  </a:lnTo>
                  <a:lnTo>
                    <a:pt x="144" y="16"/>
                  </a:lnTo>
                  <a:lnTo>
                    <a:pt x="144" y="18"/>
                  </a:lnTo>
                  <a:lnTo>
                    <a:pt x="144" y="16"/>
                  </a:lnTo>
                  <a:lnTo>
                    <a:pt x="148" y="10"/>
                  </a:lnTo>
                  <a:lnTo>
                    <a:pt x="148" y="10"/>
                  </a:lnTo>
                  <a:lnTo>
                    <a:pt x="148" y="10"/>
                  </a:lnTo>
                  <a:lnTo>
                    <a:pt x="148" y="12"/>
                  </a:lnTo>
                  <a:lnTo>
                    <a:pt x="148" y="12"/>
                  </a:lnTo>
                  <a:lnTo>
                    <a:pt x="150" y="8"/>
                  </a:lnTo>
                  <a:lnTo>
                    <a:pt x="150" y="8"/>
                  </a:lnTo>
                  <a:lnTo>
                    <a:pt x="150" y="8"/>
                  </a:lnTo>
                  <a:lnTo>
                    <a:pt x="150" y="10"/>
                  </a:lnTo>
                  <a:lnTo>
                    <a:pt x="150" y="10"/>
                  </a:lnTo>
                  <a:lnTo>
                    <a:pt x="152" y="8"/>
                  </a:lnTo>
                  <a:lnTo>
                    <a:pt x="154" y="6"/>
                  </a:lnTo>
                  <a:lnTo>
                    <a:pt x="154" y="6"/>
                  </a:lnTo>
                  <a:lnTo>
                    <a:pt x="156" y="6"/>
                  </a:lnTo>
                  <a:lnTo>
                    <a:pt x="156" y="6"/>
                  </a:lnTo>
                  <a:lnTo>
                    <a:pt x="156" y="6"/>
                  </a:lnTo>
                  <a:lnTo>
                    <a:pt x="158" y="4"/>
                  </a:lnTo>
                  <a:lnTo>
                    <a:pt x="158" y="4"/>
                  </a:lnTo>
                  <a:lnTo>
                    <a:pt x="160" y="4"/>
                  </a:lnTo>
                  <a:lnTo>
                    <a:pt x="158" y="6"/>
                  </a:lnTo>
                  <a:lnTo>
                    <a:pt x="158" y="6"/>
                  </a:lnTo>
                  <a:lnTo>
                    <a:pt x="158" y="6"/>
                  </a:lnTo>
                  <a:lnTo>
                    <a:pt x="160" y="6"/>
                  </a:lnTo>
                  <a:lnTo>
                    <a:pt x="164" y="2"/>
                  </a:lnTo>
                  <a:lnTo>
                    <a:pt x="164" y="2"/>
                  </a:lnTo>
                  <a:lnTo>
                    <a:pt x="166" y="2"/>
                  </a:lnTo>
                  <a:lnTo>
                    <a:pt x="166" y="4"/>
                  </a:lnTo>
                  <a:lnTo>
                    <a:pt x="166" y="4"/>
                  </a:lnTo>
                  <a:lnTo>
                    <a:pt x="166" y="4"/>
                  </a:lnTo>
                  <a:lnTo>
                    <a:pt x="166" y="4"/>
                  </a:lnTo>
                  <a:lnTo>
                    <a:pt x="170" y="2"/>
                  </a:lnTo>
                  <a:lnTo>
                    <a:pt x="170" y="2"/>
                  </a:lnTo>
                  <a:lnTo>
                    <a:pt x="170" y="2"/>
                  </a:lnTo>
                  <a:lnTo>
                    <a:pt x="170" y="4"/>
                  </a:lnTo>
                  <a:lnTo>
                    <a:pt x="170" y="4"/>
                  </a:lnTo>
                  <a:lnTo>
                    <a:pt x="172" y="4"/>
                  </a:lnTo>
                  <a:lnTo>
                    <a:pt x="172" y="2"/>
                  </a:lnTo>
                  <a:lnTo>
                    <a:pt x="172" y="2"/>
                  </a:lnTo>
                  <a:lnTo>
                    <a:pt x="172" y="2"/>
                  </a:lnTo>
                  <a:lnTo>
                    <a:pt x="174" y="2"/>
                  </a:lnTo>
                  <a:lnTo>
                    <a:pt x="174" y="2"/>
                  </a:lnTo>
                  <a:lnTo>
                    <a:pt x="178" y="4"/>
                  </a:lnTo>
                  <a:lnTo>
                    <a:pt x="176" y="2"/>
                  </a:lnTo>
                  <a:lnTo>
                    <a:pt x="176" y="2"/>
                  </a:lnTo>
                  <a:lnTo>
                    <a:pt x="176" y="0"/>
                  </a:lnTo>
                  <a:lnTo>
                    <a:pt x="178" y="2"/>
                  </a:lnTo>
                  <a:lnTo>
                    <a:pt x="180" y="4"/>
                  </a:lnTo>
                  <a:lnTo>
                    <a:pt x="180" y="4"/>
                  </a:lnTo>
                  <a:lnTo>
                    <a:pt x="182" y="4"/>
                  </a:lnTo>
                  <a:lnTo>
                    <a:pt x="184" y="4"/>
                  </a:lnTo>
                  <a:lnTo>
                    <a:pt x="184" y="2"/>
                  </a:lnTo>
                  <a:lnTo>
                    <a:pt x="184" y="2"/>
                  </a:lnTo>
                  <a:lnTo>
                    <a:pt x="184" y="2"/>
                  </a:lnTo>
                  <a:lnTo>
                    <a:pt x="186" y="4"/>
                  </a:lnTo>
                  <a:lnTo>
                    <a:pt x="186" y="4"/>
                  </a:lnTo>
                  <a:lnTo>
                    <a:pt x="190" y="6"/>
                  </a:lnTo>
                  <a:lnTo>
                    <a:pt x="190" y="6"/>
                  </a:lnTo>
                  <a:lnTo>
                    <a:pt x="190" y="4"/>
                  </a:lnTo>
                  <a:lnTo>
                    <a:pt x="190" y="4"/>
                  </a:lnTo>
                  <a:lnTo>
                    <a:pt x="190" y="4"/>
                  </a:lnTo>
                  <a:lnTo>
                    <a:pt x="194" y="6"/>
                  </a:lnTo>
                  <a:lnTo>
                    <a:pt x="194" y="6"/>
                  </a:lnTo>
                  <a:lnTo>
                    <a:pt x="196" y="8"/>
                  </a:lnTo>
                  <a:lnTo>
                    <a:pt x="196" y="8"/>
                  </a:lnTo>
                  <a:lnTo>
                    <a:pt x="196" y="8"/>
                  </a:lnTo>
                  <a:lnTo>
                    <a:pt x="198" y="8"/>
                  </a:lnTo>
                  <a:lnTo>
                    <a:pt x="200" y="10"/>
                  </a:lnTo>
                  <a:lnTo>
                    <a:pt x="200" y="10"/>
                  </a:lnTo>
                  <a:lnTo>
                    <a:pt x="200" y="12"/>
                  </a:lnTo>
                  <a:lnTo>
                    <a:pt x="200" y="10"/>
                  </a:lnTo>
                  <a:lnTo>
                    <a:pt x="200" y="8"/>
                  </a:lnTo>
                  <a:lnTo>
                    <a:pt x="200" y="8"/>
                  </a:lnTo>
                  <a:lnTo>
                    <a:pt x="202" y="10"/>
                  </a:lnTo>
                  <a:lnTo>
                    <a:pt x="202" y="10"/>
                  </a:lnTo>
                  <a:lnTo>
                    <a:pt x="204" y="10"/>
                  </a:lnTo>
                  <a:lnTo>
                    <a:pt x="206" y="10"/>
                  </a:lnTo>
                  <a:lnTo>
                    <a:pt x="206" y="10"/>
                  </a:lnTo>
                  <a:lnTo>
                    <a:pt x="206" y="10"/>
                  </a:lnTo>
                  <a:lnTo>
                    <a:pt x="206" y="10"/>
                  </a:lnTo>
                  <a:lnTo>
                    <a:pt x="208" y="10"/>
                  </a:lnTo>
                  <a:lnTo>
                    <a:pt x="208" y="14"/>
                  </a:lnTo>
                  <a:lnTo>
                    <a:pt x="208" y="14"/>
                  </a:lnTo>
                  <a:lnTo>
                    <a:pt x="210" y="14"/>
                  </a:lnTo>
                  <a:lnTo>
                    <a:pt x="210" y="14"/>
                  </a:lnTo>
                  <a:lnTo>
                    <a:pt x="210" y="10"/>
                  </a:lnTo>
                  <a:lnTo>
                    <a:pt x="210" y="10"/>
                  </a:lnTo>
                  <a:lnTo>
                    <a:pt x="210" y="10"/>
                  </a:lnTo>
                  <a:lnTo>
                    <a:pt x="210" y="10"/>
                  </a:lnTo>
                  <a:lnTo>
                    <a:pt x="212" y="12"/>
                  </a:lnTo>
                  <a:lnTo>
                    <a:pt x="212" y="12"/>
                  </a:lnTo>
                  <a:lnTo>
                    <a:pt x="214" y="16"/>
                  </a:lnTo>
                  <a:lnTo>
                    <a:pt x="214" y="16"/>
                  </a:lnTo>
                  <a:lnTo>
                    <a:pt x="214" y="16"/>
                  </a:lnTo>
                  <a:lnTo>
                    <a:pt x="216" y="12"/>
                  </a:lnTo>
                  <a:lnTo>
                    <a:pt x="216" y="12"/>
                  </a:lnTo>
                  <a:lnTo>
                    <a:pt x="218" y="16"/>
                  </a:lnTo>
                  <a:lnTo>
                    <a:pt x="218" y="16"/>
                  </a:lnTo>
                  <a:lnTo>
                    <a:pt x="218" y="20"/>
                  </a:lnTo>
                  <a:lnTo>
                    <a:pt x="220" y="16"/>
                  </a:lnTo>
                  <a:lnTo>
                    <a:pt x="220" y="16"/>
                  </a:lnTo>
                  <a:lnTo>
                    <a:pt x="220" y="16"/>
                  </a:lnTo>
                  <a:lnTo>
                    <a:pt x="220" y="16"/>
                  </a:lnTo>
                  <a:lnTo>
                    <a:pt x="220" y="20"/>
                  </a:lnTo>
                  <a:lnTo>
                    <a:pt x="220" y="20"/>
                  </a:lnTo>
                  <a:lnTo>
                    <a:pt x="222" y="24"/>
                  </a:lnTo>
                  <a:lnTo>
                    <a:pt x="224" y="22"/>
                  </a:lnTo>
                  <a:lnTo>
                    <a:pt x="224" y="22"/>
                  </a:lnTo>
                  <a:lnTo>
                    <a:pt x="224" y="22"/>
                  </a:lnTo>
                  <a:lnTo>
                    <a:pt x="224" y="26"/>
                  </a:lnTo>
                  <a:lnTo>
                    <a:pt x="224" y="26"/>
                  </a:lnTo>
                  <a:lnTo>
                    <a:pt x="222" y="26"/>
                  </a:lnTo>
                  <a:lnTo>
                    <a:pt x="226" y="26"/>
                  </a:lnTo>
                  <a:lnTo>
                    <a:pt x="226" y="26"/>
                  </a:lnTo>
                  <a:lnTo>
                    <a:pt x="230" y="26"/>
                  </a:lnTo>
                  <a:lnTo>
                    <a:pt x="228" y="28"/>
                  </a:lnTo>
                  <a:lnTo>
                    <a:pt x="228" y="28"/>
                  </a:lnTo>
                  <a:lnTo>
                    <a:pt x="228" y="28"/>
                  </a:lnTo>
                  <a:lnTo>
                    <a:pt x="228" y="28"/>
                  </a:lnTo>
                  <a:lnTo>
                    <a:pt x="232" y="28"/>
                  </a:lnTo>
                  <a:lnTo>
                    <a:pt x="232" y="28"/>
                  </a:lnTo>
                  <a:lnTo>
                    <a:pt x="232" y="30"/>
                  </a:lnTo>
                  <a:lnTo>
                    <a:pt x="232" y="30"/>
                  </a:lnTo>
                  <a:lnTo>
                    <a:pt x="232" y="30"/>
                  </a:lnTo>
                  <a:lnTo>
                    <a:pt x="230" y="32"/>
                  </a:lnTo>
                  <a:lnTo>
                    <a:pt x="232" y="32"/>
                  </a:lnTo>
                  <a:lnTo>
                    <a:pt x="236" y="32"/>
                  </a:lnTo>
                  <a:lnTo>
                    <a:pt x="236" y="32"/>
                  </a:lnTo>
                  <a:lnTo>
                    <a:pt x="236" y="34"/>
                  </a:lnTo>
                  <a:lnTo>
                    <a:pt x="234" y="34"/>
                  </a:lnTo>
                  <a:lnTo>
                    <a:pt x="234" y="34"/>
                  </a:lnTo>
                  <a:lnTo>
                    <a:pt x="234" y="36"/>
                  </a:lnTo>
                  <a:lnTo>
                    <a:pt x="234" y="36"/>
                  </a:lnTo>
                  <a:lnTo>
                    <a:pt x="240" y="38"/>
                  </a:lnTo>
                  <a:lnTo>
                    <a:pt x="240" y="38"/>
                  </a:lnTo>
                  <a:lnTo>
                    <a:pt x="242" y="42"/>
                  </a:lnTo>
                  <a:lnTo>
                    <a:pt x="238" y="40"/>
                  </a:lnTo>
                  <a:lnTo>
                    <a:pt x="238" y="40"/>
                  </a:lnTo>
                  <a:lnTo>
                    <a:pt x="238" y="42"/>
                  </a:lnTo>
                  <a:lnTo>
                    <a:pt x="238" y="44"/>
                  </a:lnTo>
                  <a:lnTo>
                    <a:pt x="244" y="48"/>
                  </a:lnTo>
                  <a:lnTo>
                    <a:pt x="244" y="48"/>
                  </a:lnTo>
                  <a:lnTo>
                    <a:pt x="244" y="48"/>
                  </a:lnTo>
                  <a:lnTo>
                    <a:pt x="244" y="50"/>
                  </a:lnTo>
                  <a:lnTo>
                    <a:pt x="238" y="50"/>
                  </a:lnTo>
                  <a:lnTo>
                    <a:pt x="238" y="50"/>
                  </a:lnTo>
                  <a:lnTo>
                    <a:pt x="236" y="50"/>
                  </a:lnTo>
                  <a:lnTo>
                    <a:pt x="238" y="52"/>
                  </a:lnTo>
                  <a:lnTo>
                    <a:pt x="240" y="56"/>
                  </a:lnTo>
                  <a:lnTo>
                    <a:pt x="240" y="56"/>
                  </a:lnTo>
                  <a:lnTo>
                    <a:pt x="242" y="58"/>
                  </a:lnTo>
                  <a:lnTo>
                    <a:pt x="238" y="58"/>
                  </a:lnTo>
                  <a:lnTo>
                    <a:pt x="238" y="58"/>
                  </a:lnTo>
                  <a:lnTo>
                    <a:pt x="238" y="58"/>
                  </a:lnTo>
                  <a:lnTo>
                    <a:pt x="238" y="58"/>
                  </a:lnTo>
                  <a:lnTo>
                    <a:pt x="240" y="60"/>
                  </a:lnTo>
                  <a:lnTo>
                    <a:pt x="240" y="60"/>
                  </a:lnTo>
                  <a:lnTo>
                    <a:pt x="242" y="62"/>
                  </a:lnTo>
                  <a:lnTo>
                    <a:pt x="240" y="62"/>
                  </a:lnTo>
                  <a:lnTo>
                    <a:pt x="240" y="62"/>
                  </a:lnTo>
                  <a:lnTo>
                    <a:pt x="238" y="62"/>
                  </a:lnTo>
                  <a:lnTo>
                    <a:pt x="238" y="64"/>
                  </a:lnTo>
                  <a:lnTo>
                    <a:pt x="238" y="64"/>
                  </a:lnTo>
                  <a:lnTo>
                    <a:pt x="240" y="66"/>
                  </a:lnTo>
                  <a:lnTo>
                    <a:pt x="240" y="66"/>
                  </a:lnTo>
                  <a:lnTo>
                    <a:pt x="238" y="66"/>
                  </a:lnTo>
                  <a:lnTo>
                    <a:pt x="238" y="66"/>
                  </a:lnTo>
                  <a:lnTo>
                    <a:pt x="238" y="66"/>
                  </a:lnTo>
                  <a:lnTo>
                    <a:pt x="238" y="66"/>
                  </a:lnTo>
                  <a:lnTo>
                    <a:pt x="238" y="72"/>
                  </a:lnTo>
                  <a:lnTo>
                    <a:pt x="238" y="72"/>
                  </a:lnTo>
                  <a:lnTo>
                    <a:pt x="238" y="72"/>
                  </a:lnTo>
                  <a:lnTo>
                    <a:pt x="238" y="70"/>
                  </a:lnTo>
                  <a:lnTo>
                    <a:pt x="238" y="70"/>
                  </a:lnTo>
                  <a:lnTo>
                    <a:pt x="238" y="78"/>
                  </a:lnTo>
                  <a:lnTo>
                    <a:pt x="238" y="78"/>
                  </a:lnTo>
                  <a:lnTo>
                    <a:pt x="238" y="80"/>
                  </a:lnTo>
                  <a:lnTo>
                    <a:pt x="236" y="78"/>
                  </a:lnTo>
                  <a:lnTo>
                    <a:pt x="236" y="78"/>
                  </a:lnTo>
                  <a:lnTo>
                    <a:pt x="236" y="80"/>
                  </a:lnTo>
                  <a:lnTo>
                    <a:pt x="238" y="86"/>
                  </a:lnTo>
                  <a:lnTo>
                    <a:pt x="238" y="86"/>
                  </a:lnTo>
                  <a:lnTo>
                    <a:pt x="238" y="86"/>
                  </a:lnTo>
                  <a:lnTo>
                    <a:pt x="236" y="84"/>
                  </a:lnTo>
                  <a:lnTo>
                    <a:pt x="236" y="84"/>
                  </a:lnTo>
                  <a:lnTo>
                    <a:pt x="238" y="90"/>
                  </a:lnTo>
                  <a:lnTo>
                    <a:pt x="238" y="90"/>
                  </a:lnTo>
                  <a:lnTo>
                    <a:pt x="238" y="90"/>
                  </a:lnTo>
                  <a:lnTo>
                    <a:pt x="236" y="90"/>
                  </a:lnTo>
                  <a:lnTo>
                    <a:pt x="236" y="90"/>
                  </a:lnTo>
                  <a:lnTo>
                    <a:pt x="236" y="90"/>
                  </a:lnTo>
                  <a:lnTo>
                    <a:pt x="238" y="94"/>
                  </a:lnTo>
                  <a:lnTo>
                    <a:pt x="238" y="94"/>
                  </a:lnTo>
                  <a:lnTo>
                    <a:pt x="238" y="94"/>
                  </a:lnTo>
                  <a:lnTo>
                    <a:pt x="236" y="94"/>
                  </a:lnTo>
                  <a:lnTo>
                    <a:pt x="236" y="94"/>
                  </a:lnTo>
                  <a:lnTo>
                    <a:pt x="236" y="94"/>
                  </a:lnTo>
                  <a:lnTo>
                    <a:pt x="236" y="96"/>
                  </a:lnTo>
                  <a:lnTo>
                    <a:pt x="236" y="96"/>
                  </a:lnTo>
                  <a:lnTo>
                    <a:pt x="240" y="96"/>
                  </a:lnTo>
                  <a:lnTo>
                    <a:pt x="242" y="96"/>
                  </a:lnTo>
                  <a:lnTo>
                    <a:pt x="244" y="98"/>
                  </a:lnTo>
                  <a:lnTo>
                    <a:pt x="244" y="98"/>
                  </a:lnTo>
                  <a:lnTo>
                    <a:pt x="246" y="110"/>
                  </a:lnTo>
                  <a:lnTo>
                    <a:pt x="246" y="110"/>
                  </a:lnTo>
                  <a:lnTo>
                    <a:pt x="246" y="116"/>
                  </a:lnTo>
                  <a:lnTo>
                    <a:pt x="246" y="116"/>
                  </a:lnTo>
                  <a:lnTo>
                    <a:pt x="246" y="122"/>
                  </a:lnTo>
                  <a:lnTo>
                    <a:pt x="244" y="128"/>
                  </a:lnTo>
                  <a:lnTo>
                    <a:pt x="244" y="128"/>
                  </a:lnTo>
                  <a:lnTo>
                    <a:pt x="240" y="134"/>
                  </a:lnTo>
                  <a:lnTo>
                    <a:pt x="236" y="136"/>
                  </a:lnTo>
                  <a:lnTo>
                    <a:pt x="236" y="136"/>
                  </a:lnTo>
                  <a:lnTo>
                    <a:pt x="232" y="138"/>
                  </a:lnTo>
                  <a:lnTo>
                    <a:pt x="230" y="138"/>
                  </a:lnTo>
                  <a:lnTo>
                    <a:pt x="230" y="138"/>
                  </a:lnTo>
                  <a:lnTo>
                    <a:pt x="228" y="138"/>
                  </a:lnTo>
                  <a:lnTo>
                    <a:pt x="228" y="140"/>
                  </a:lnTo>
                  <a:lnTo>
                    <a:pt x="230" y="146"/>
                  </a:lnTo>
                  <a:lnTo>
                    <a:pt x="230" y="146"/>
                  </a:lnTo>
                  <a:lnTo>
                    <a:pt x="228" y="162"/>
                  </a:lnTo>
                  <a:lnTo>
                    <a:pt x="228" y="162"/>
                  </a:lnTo>
                  <a:lnTo>
                    <a:pt x="228" y="170"/>
                  </a:lnTo>
                  <a:lnTo>
                    <a:pt x="230" y="178"/>
                  </a:lnTo>
                  <a:lnTo>
                    <a:pt x="230" y="178"/>
                  </a:lnTo>
                  <a:lnTo>
                    <a:pt x="232" y="180"/>
                  </a:lnTo>
                  <a:lnTo>
                    <a:pt x="234" y="182"/>
                  </a:lnTo>
                  <a:lnTo>
                    <a:pt x="236" y="184"/>
                  </a:lnTo>
                  <a:lnTo>
                    <a:pt x="236" y="184"/>
                  </a:lnTo>
                  <a:lnTo>
                    <a:pt x="238" y="186"/>
                  </a:lnTo>
                  <a:lnTo>
                    <a:pt x="240" y="188"/>
                  </a:lnTo>
                  <a:lnTo>
                    <a:pt x="240" y="188"/>
                  </a:lnTo>
                  <a:lnTo>
                    <a:pt x="244" y="188"/>
                  </a:lnTo>
                  <a:lnTo>
                    <a:pt x="248" y="188"/>
                  </a:lnTo>
                  <a:lnTo>
                    <a:pt x="248" y="188"/>
                  </a:lnTo>
                  <a:lnTo>
                    <a:pt x="264" y="202"/>
                  </a:lnTo>
                  <a:lnTo>
                    <a:pt x="280" y="214"/>
                  </a:lnTo>
                  <a:lnTo>
                    <a:pt x="290" y="218"/>
                  </a:lnTo>
                  <a:lnTo>
                    <a:pt x="298" y="222"/>
                  </a:lnTo>
                  <a:lnTo>
                    <a:pt x="298" y="222"/>
                  </a:lnTo>
                  <a:lnTo>
                    <a:pt x="320" y="228"/>
                  </a:lnTo>
                  <a:lnTo>
                    <a:pt x="344" y="234"/>
                  </a:lnTo>
                  <a:lnTo>
                    <a:pt x="354" y="238"/>
                  </a:lnTo>
                  <a:lnTo>
                    <a:pt x="364" y="246"/>
                  </a:lnTo>
                  <a:lnTo>
                    <a:pt x="370" y="254"/>
                  </a:lnTo>
                  <a:lnTo>
                    <a:pt x="372" y="260"/>
                  </a:lnTo>
                  <a:lnTo>
                    <a:pt x="372" y="266"/>
                  </a:lnTo>
                  <a:lnTo>
                    <a:pt x="372" y="266"/>
                  </a:lnTo>
                  <a:lnTo>
                    <a:pt x="376" y="288"/>
                  </a:lnTo>
                  <a:lnTo>
                    <a:pt x="382" y="308"/>
                  </a:lnTo>
                  <a:lnTo>
                    <a:pt x="390" y="328"/>
                  </a:lnTo>
                  <a:lnTo>
                    <a:pt x="400" y="348"/>
                  </a:lnTo>
                  <a:lnTo>
                    <a:pt x="424" y="392"/>
                  </a:lnTo>
                  <a:lnTo>
                    <a:pt x="436" y="418"/>
                  </a:lnTo>
                  <a:lnTo>
                    <a:pt x="450" y="448"/>
                  </a:lnTo>
                  <a:lnTo>
                    <a:pt x="450" y="448"/>
                  </a:lnTo>
                  <a:lnTo>
                    <a:pt x="452" y="452"/>
                  </a:lnTo>
                  <a:lnTo>
                    <a:pt x="454" y="456"/>
                  </a:lnTo>
                  <a:lnTo>
                    <a:pt x="458" y="468"/>
                  </a:lnTo>
                  <a:lnTo>
                    <a:pt x="458" y="476"/>
                  </a:lnTo>
                  <a:lnTo>
                    <a:pt x="458" y="486"/>
                  </a:lnTo>
                  <a:lnTo>
                    <a:pt x="452" y="496"/>
                  </a:lnTo>
                  <a:lnTo>
                    <a:pt x="444" y="512"/>
                  </a:lnTo>
                  <a:lnTo>
                    <a:pt x="444" y="512"/>
                  </a:lnTo>
                  <a:lnTo>
                    <a:pt x="434" y="528"/>
                  </a:lnTo>
                  <a:lnTo>
                    <a:pt x="424" y="544"/>
                  </a:lnTo>
                  <a:lnTo>
                    <a:pt x="400" y="574"/>
                  </a:lnTo>
                  <a:lnTo>
                    <a:pt x="388" y="588"/>
                  </a:lnTo>
                  <a:lnTo>
                    <a:pt x="378" y="600"/>
                  </a:lnTo>
                  <a:lnTo>
                    <a:pt x="372" y="614"/>
                  </a:lnTo>
                  <a:lnTo>
                    <a:pt x="370" y="628"/>
                  </a:lnTo>
                  <a:lnTo>
                    <a:pt x="370" y="628"/>
                  </a:lnTo>
                  <a:lnTo>
                    <a:pt x="372" y="646"/>
                  </a:lnTo>
                  <a:lnTo>
                    <a:pt x="374" y="662"/>
                  </a:lnTo>
                  <a:lnTo>
                    <a:pt x="376" y="678"/>
                  </a:lnTo>
                  <a:lnTo>
                    <a:pt x="376" y="696"/>
                  </a:lnTo>
                  <a:lnTo>
                    <a:pt x="376" y="696"/>
                  </a:lnTo>
                  <a:lnTo>
                    <a:pt x="376" y="702"/>
                  </a:lnTo>
                  <a:lnTo>
                    <a:pt x="372" y="706"/>
                  </a:lnTo>
                  <a:lnTo>
                    <a:pt x="366" y="710"/>
                  </a:lnTo>
                  <a:lnTo>
                    <a:pt x="360" y="712"/>
                  </a:lnTo>
                  <a:lnTo>
                    <a:pt x="344" y="722"/>
                  </a:lnTo>
                  <a:lnTo>
                    <a:pt x="336" y="728"/>
                  </a:lnTo>
                  <a:lnTo>
                    <a:pt x="326" y="738"/>
                  </a:lnTo>
                  <a:lnTo>
                    <a:pt x="326" y="738"/>
                  </a:lnTo>
                  <a:lnTo>
                    <a:pt x="324" y="740"/>
                  </a:lnTo>
                  <a:lnTo>
                    <a:pt x="322" y="742"/>
                  </a:lnTo>
                  <a:lnTo>
                    <a:pt x="312" y="742"/>
                  </a:lnTo>
                  <a:lnTo>
                    <a:pt x="308" y="742"/>
                  </a:lnTo>
                  <a:lnTo>
                    <a:pt x="304" y="746"/>
                  </a:lnTo>
                  <a:lnTo>
                    <a:pt x="300" y="752"/>
                  </a:lnTo>
                  <a:lnTo>
                    <a:pt x="300" y="762"/>
                  </a:lnTo>
                  <a:lnTo>
                    <a:pt x="300" y="762"/>
                  </a:lnTo>
                  <a:lnTo>
                    <a:pt x="300" y="830"/>
                  </a:lnTo>
                  <a:lnTo>
                    <a:pt x="300" y="896"/>
                  </a:lnTo>
                  <a:lnTo>
                    <a:pt x="300" y="896"/>
                  </a:lnTo>
                  <a:lnTo>
                    <a:pt x="302" y="916"/>
                  </a:lnTo>
                  <a:lnTo>
                    <a:pt x="306" y="934"/>
                  </a:lnTo>
                  <a:lnTo>
                    <a:pt x="314" y="970"/>
                  </a:lnTo>
                  <a:lnTo>
                    <a:pt x="324" y="1006"/>
                  </a:lnTo>
                  <a:lnTo>
                    <a:pt x="332" y="1040"/>
                  </a:lnTo>
                  <a:lnTo>
                    <a:pt x="332" y="1040"/>
                  </a:lnTo>
                  <a:lnTo>
                    <a:pt x="336" y="1082"/>
                  </a:lnTo>
                  <a:lnTo>
                    <a:pt x="338" y="1122"/>
                  </a:lnTo>
                  <a:lnTo>
                    <a:pt x="338" y="1162"/>
                  </a:lnTo>
                  <a:lnTo>
                    <a:pt x="342" y="1180"/>
                  </a:lnTo>
                  <a:lnTo>
                    <a:pt x="344" y="1198"/>
                  </a:lnTo>
                  <a:lnTo>
                    <a:pt x="344" y="1198"/>
                  </a:lnTo>
                  <a:lnTo>
                    <a:pt x="346" y="1250"/>
                  </a:lnTo>
                  <a:lnTo>
                    <a:pt x="346" y="1250"/>
                  </a:lnTo>
                  <a:lnTo>
                    <a:pt x="346" y="1278"/>
                  </a:lnTo>
                  <a:lnTo>
                    <a:pt x="346" y="1278"/>
                  </a:lnTo>
                  <a:lnTo>
                    <a:pt x="348" y="1294"/>
                  </a:lnTo>
                  <a:lnTo>
                    <a:pt x="348" y="1294"/>
                  </a:lnTo>
                  <a:lnTo>
                    <a:pt x="350" y="1306"/>
                  </a:lnTo>
                  <a:lnTo>
                    <a:pt x="350" y="1306"/>
                  </a:lnTo>
                  <a:lnTo>
                    <a:pt x="344" y="1322"/>
                  </a:lnTo>
                  <a:lnTo>
                    <a:pt x="344" y="1322"/>
                  </a:lnTo>
                  <a:lnTo>
                    <a:pt x="342" y="1326"/>
                  </a:lnTo>
                  <a:lnTo>
                    <a:pt x="342" y="1326"/>
                  </a:lnTo>
                  <a:lnTo>
                    <a:pt x="342" y="1328"/>
                  </a:lnTo>
                  <a:lnTo>
                    <a:pt x="342" y="1330"/>
                  </a:lnTo>
                  <a:lnTo>
                    <a:pt x="342" y="1330"/>
                  </a:lnTo>
                  <a:lnTo>
                    <a:pt x="340" y="1334"/>
                  </a:lnTo>
                  <a:lnTo>
                    <a:pt x="336" y="1336"/>
                  </a:lnTo>
                  <a:lnTo>
                    <a:pt x="336" y="1336"/>
                  </a:lnTo>
                  <a:lnTo>
                    <a:pt x="336" y="1340"/>
                  </a:lnTo>
                  <a:lnTo>
                    <a:pt x="336" y="1340"/>
                  </a:lnTo>
                  <a:lnTo>
                    <a:pt x="338" y="1344"/>
                  </a:lnTo>
                  <a:lnTo>
                    <a:pt x="342" y="1348"/>
                  </a:lnTo>
                  <a:lnTo>
                    <a:pt x="342" y="1350"/>
                  </a:lnTo>
                  <a:lnTo>
                    <a:pt x="342" y="1354"/>
                  </a:lnTo>
                  <a:lnTo>
                    <a:pt x="342" y="1358"/>
                  </a:lnTo>
                  <a:lnTo>
                    <a:pt x="340" y="1364"/>
                  </a:lnTo>
                  <a:lnTo>
                    <a:pt x="340" y="1364"/>
                  </a:lnTo>
                  <a:lnTo>
                    <a:pt x="332" y="1378"/>
                  </a:lnTo>
                  <a:lnTo>
                    <a:pt x="332" y="1378"/>
                  </a:lnTo>
                  <a:lnTo>
                    <a:pt x="332" y="1382"/>
                  </a:lnTo>
                  <a:lnTo>
                    <a:pt x="332" y="1382"/>
                  </a:lnTo>
                  <a:lnTo>
                    <a:pt x="332" y="1390"/>
                  </a:lnTo>
                  <a:lnTo>
                    <a:pt x="330" y="1394"/>
                  </a:lnTo>
                  <a:lnTo>
                    <a:pt x="326" y="1396"/>
                  </a:lnTo>
                  <a:lnTo>
                    <a:pt x="326" y="1396"/>
                  </a:lnTo>
                  <a:lnTo>
                    <a:pt x="326" y="1400"/>
                  </a:lnTo>
                  <a:lnTo>
                    <a:pt x="326" y="1406"/>
                  </a:lnTo>
                  <a:lnTo>
                    <a:pt x="326" y="1406"/>
                  </a:lnTo>
                  <a:lnTo>
                    <a:pt x="326" y="1410"/>
                  </a:lnTo>
                  <a:lnTo>
                    <a:pt x="324" y="1412"/>
                  </a:lnTo>
                  <a:lnTo>
                    <a:pt x="320" y="1414"/>
                  </a:lnTo>
                  <a:lnTo>
                    <a:pt x="310" y="1416"/>
                  </a:lnTo>
                  <a:lnTo>
                    <a:pt x="310" y="1416"/>
                  </a:lnTo>
                  <a:lnTo>
                    <a:pt x="278" y="1414"/>
                  </a:lnTo>
                  <a:lnTo>
                    <a:pt x="278" y="1414"/>
                  </a:lnTo>
                  <a:lnTo>
                    <a:pt x="270" y="1414"/>
                  </a:lnTo>
                  <a:lnTo>
                    <a:pt x="270" y="1414"/>
                  </a:lnTo>
                  <a:lnTo>
                    <a:pt x="258" y="1414"/>
                  </a:lnTo>
                  <a:lnTo>
                    <a:pt x="248" y="1412"/>
                  </a:lnTo>
                  <a:lnTo>
                    <a:pt x="248" y="1412"/>
                  </a:lnTo>
                  <a:lnTo>
                    <a:pt x="240" y="1410"/>
                  </a:lnTo>
                  <a:lnTo>
                    <a:pt x="240" y="1410"/>
                  </a:lnTo>
                  <a:lnTo>
                    <a:pt x="238" y="1410"/>
                  </a:lnTo>
                  <a:lnTo>
                    <a:pt x="236" y="1408"/>
                  </a:lnTo>
                  <a:lnTo>
                    <a:pt x="236" y="1400"/>
                  </a:lnTo>
                  <a:lnTo>
                    <a:pt x="236" y="1400"/>
                  </a:lnTo>
                  <a:lnTo>
                    <a:pt x="236" y="1394"/>
                  </a:lnTo>
                  <a:lnTo>
                    <a:pt x="238" y="1390"/>
                  </a:lnTo>
                  <a:lnTo>
                    <a:pt x="242" y="1388"/>
                  </a:lnTo>
                  <a:lnTo>
                    <a:pt x="242" y="1388"/>
                  </a:lnTo>
                  <a:lnTo>
                    <a:pt x="242" y="1386"/>
                  </a:lnTo>
                  <a:lnTo>
                    <a:pt x="240" y="1380"/>
                  </a:lnTo>
                  <a:lnTo>
                    <a:pt x="240" y="1380"/>
                  </a:lnTo>
                  <a:lnTo>
                    <a:pt x="240" y="1376"/>
                  </a:lnTo>
                  <a:lnTo>
                    <a:pt x="242" y="1372"/>
                  </a:lnTo>
                  <a:lnTo>
                    <a:pt x="246" y="1366"/>
                  </a:lnTo>
                  <a:lnTo>
                    <a:pt x="246" y="1366"/>
                  </a:lnTo>
                  <a:lnTo>
                    <a:pt x="252" y="1358"/>
                  </a:lnTo>
                  <a:lnTo>
                    <a:pt x="252" y="1358"/>
                  </a:lnTo>
                  <a:lnTo>
                    <a:pt x="260" y="1346"/>
                  </a:lnTo>
                  <a:lnTo>
                    <a:pt x="260" y="1346"/>
                  </a:lnTo>
                  <a:lnTo>
                    <a:pt x="260" y="1344"/>
                  </a:lnTo>
                  <a:lnTo>
                    <a:pt x="258" y="1342"/>
                  </a:lnTo>
                  <a:lnTo>
                    <a:pt x="258" y="1342"/>
                  </a:lnTo>
                  <a:lnTo>
                    <a:pt x="252" y="1336"/>
                  </a:lnTo>
                  <a:lnTo>
                    <a:pt x="252" y="1336"/>
                  </a:lnTo>
                  <a:lnTo>
                    <a:pt x="250" y="1334"/>
                  </a:lnTo>
                  <a:lnTo>
                    <a:pt x="248" y="1328"/>
                  </a:lnTo>
                  <a:lnTo>
                    <a:pt x="248" y="1328"/>
                  </a:lnTo>
                  <a:lnTo>
                    <a:pt x="248" y="1324"/>
                  </a:lnTo>
                  <a:lnTo>
                    <a:pt x="250" y="1318"/>
                  </a:lnTo>
                  <a:lnTo>
                    <a:pt x="254" y="1312"/>
                  </a:lnTo>
                  <a:lnTo>
                    <a:pt x="254" y="1312"/>
                  </a:lnTo>
                  <a:lnTo>
                    <a:pt x="254" y="1306"/>
                  </a:lnTo>
                  <a:lnTo>
                    <a:pt x="252" y="1300"/>
                  </a:lnTo>
                  <a:lnTo>
                    <a:pt x="252" y="1300"/>
                  </a:lnTo>
                  <a:lnTo>
                    <a:pt x="246" y="1292"/>
                  </a:lnTo>
                  <a:lnTo>
                    <a:pt x="246" y="1292"/>
                  </a:lnTo>
                  <a:lnTo>
                    <a:pt x="242" y="1286"/>
                  </a:lnTo>
                  <a:lnTo>
                    <a:pt x="242" y="1278"/>
                  </a:lnTo>
                  <a:lnTo>
                    <a:pt x="242" y="1278"/>
                  </a:lnTo>
                  <a:lnTo>
                    <a:pt x="242" y="1270"/>
                  </a:lnTo>
                  <a:lnTo>
                    <a:pt x="246" y="1258"/>
                  </a:lnTo>
                  <a:lnTo>
                    <a:pt x="246" y="1258"/>
                  </a:lnTo>
                  <a:lnTo>
                    <a:pt x="248" y="1248"/>
                  </a:lnTo>
                  <a:lnTo>
                    <a:pt x="248" y="1248"/>
                  </a:lnTo>
                  <a:lnTo>
                    <a:pt x="246" y="1218"/>
                  </a:lnTo>
                  <a:lnTo>
                    <a:pt x="240" y="1176"/>
                  </a:lnTo>
                  <a:lnTo>
                    <a:pt x="240" y="1176"/>
                  </a:lnTo>
                  <a:lnTo>
                    <a:pt x="234" y="1112"/>
                  </a:lnTo>
                  <a:lnTo>
                    <a:pt x="234" y="1112"/>
                  </a:lnTo>
                  <a:lnTo>
                    <a:pt x="234" y="1150"/>
                  </a:lnTo>
                  <a:lnTo>
                    <a:pt x="230" y="1178"/>
                  </a:lnTo>
                  <a:lnTo>
                    <a:pt x="226" y="1198"/>
                  </a:lnTo>
                  <a:lnTo>
                    <a:pt x="222" y="1212"/>
                  </a:lnTo>
                  <a:lnTo>
                    <a:pt x="210" y="1234"/>
                  </a:lnTo>
                  <a:lnTo>
                    <a:pt x="208" y="1244"/>
                  </a:lnTo>
                  <a:lnTo>
                    <a:pt x="206" y="1258"/>
                  </a:lnTo>
                  <a:lnTo>
                    <a:pt x="206" y="1258"/>
                  </a:lnTo>
                  <a:lnTo>
                    <a:pt x="202" y="1284"/>
                  </a:lnTo>
                  <a:lnTo>
                    <a:pt x="198" y="1298"/>
                  </a:lnTo>
                  <a:lnTo>
                    <a:pt x="198" y="1298"/>
                  </a:lnTo>
                  <a:lnTo>
                    <a:pt x="198" y="1302"/>
                  </a:lnTo>
                  <a:lnTo>
                    <a:pt x="200" y="1308"/>
                  </a:lnTo>
                  <a:lnTo>
                    <a:pt x="200" y="1308"/>
                  </a:lnTo>
                  <a:lnTo>
                    <a:pt x="200" y="1314"/>
                  </a:lnTo>
                  <a:lnTo>
                    <a:pt x="196" y="1320"/>
                  </a:lnTo>
                  <a:lnTo>
                    <a:pt x="190" y="1324"/>
                  </a:lnTo>
                  <a:lnTo>
                    <a:pt x="182" y="1326"/>
                  </a:lnTo>
                  <a:lnTo>
                    <a:pt x="130" y="1322"/>
                  </a:lnTo>
                  <a:lnTo>
                    <a:pt x="130" y="1322"/>
                  </a:lnTo>
                  <a:lnTo>
                    <a:pt x="62" y="1326"/>
                  </a:lnTo>
                  <a:lnTo>
                    <a:pt x="18" y="1328"/>
                  </a:lnTo>
                  <a:lnTo>
                    <a:pt x="4" y="1326"/>
                  </a:lnTo>
                  <a:lnTo>
                    <a:pt x="0" y="1326"/>
                  </a:lnTo>
                  <a:lnTo>
                    <a:pt x="0" y="1324"/>
                  </a:lnTo>
                  <a:lnTo>
                    <a:pt x="4" y="130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52" name="Freeform 154"/>
            <p:cNvSpPr/>
            <p:nvPr/>
          </p:nvSpPr>
          <p:spPr bwMode="auto">
            <a:xfrm>
              <a:off x="8402638" y="4333875"/>
              <a:ext cx="314325" cy="688975"/>
            </a:xfrm>
            <a:custGeom>
              <a:avLst/>
              <a:gdLst>
                <a:gd name="T0" fmla="*/ 8 w 198"/>
                <a:gd name="T1" fmla="*/ 168 h 434"/>
                <a:gd name="T2" fmla="*/ 4 w 198"/>
                <a:gd name="T3" fmla="*/ 262 h 434"/>
                <a:gd name="T4" fmla="*/ 0 w 198"/>
                <a:gd name="T5" fmla="*/ 358 h 434"/>
                <a:gd name="T6" fmla="*/ 0 w 198"/>
                <a:gd name="T7" fmla="*/ 402 h 434"/>
                <a:gd name="T8" fmla="*/ 4 w 198"/>
                <a:gd name="T9" fmla="*/ 424 h 434"/>
                <a:gd name="T10" fmla="*/ 8 w 198"/>
                <a:gd name="T11" fmla="*/ 426 h 434"/>
                <a:gd name="T12" fmla="*/ 28 w 198"/>
                <a:gd name="T13" fmla="*/ 430 h 434"/>
                <a:gd name="T14" fmla="*/ 86 w 198"/>
                <a:gd name="T15" fmla="*/ 434 h 434"/>
                <a:gd name="T16" fmla="*/ 102 w 198"/>
                <a:gd name="T17" fmla="*/ 434 h 434"/>
                <a:gd name="T18" fmla="*/ 136 w 198"/>
                <a:gd name="T19" fmla="*/ 428 h 434"/>
                <a:gd name="T20" fmla="*/ 172 w 198"/>
                <a:gd name="T21" fmla="*/ 422 h 434"/>
                <a:gd name="T22" fmla="*/ 188 w 198"/>
                <a:gd name="T23" fmla="*/ 420 h 434"/>
                <a:gd name="T24" fmla="*/ 198 w 198"/>
                <a:gd name="T25" fmla="*/ 416 h 434"/>
                <a:gd name="T26" fmla="*/ 196 w 198"/>
                <a:gd name="T27" fmla="*/ 404 h 434"/>
                <a:gd name="T28" fmla="*/ 164 w 198"/>
                <a:gd name="T29" fmla="*/ 360 h 434"/>
                <a:gd name="T30" fmla="*/ 132 w 198"/>
                <a:gd name="T31" fmla="*/ 310 h 434"/>
                <a:gd name="T32" fmla="*/ 116 w 198"/>
                <a:gd name="T33" fmla="*/ 270 h 434"/>
                <a:gd name="T34" fmla="*/ 104 w 198"/>
                <a:gd name="T35" fmla="*/ 226 h 434"/>
                <a:gd name="T36" fmla="*/ 102 w 198"/>
                <a:gd name="T37" fmla="*/ 202 h 434"/>
                <a:gd name="T38" fmla="*/ 106 w 198"/>
                <a:gd name="T39" fmla="*/ 170 h 434"/>
                <a:gd name="T40" fmla="*/ 126 w 198"/>
                <a:gd name="T41" fmla="*/ 96 h 434"/>
                <a:gd name="T42" fmla="*/ 136 w 198"/>
                <a:gd name="T43" fmla="*/ 52 h 434"/>
                <a:gd name="T44" fmla="*/ 138 w 198"/>
                <a:gd name="T45" fmla="*/ 46 h 434"/>
                <a:gd name="T46" fmla="*/ 144 w 198"/>
                <a:gd name="T47" fmla="*/ 40 h 434"/>
                <a:gd name="T48" fmla="*/ 166 w 198"/>
                <a:gd name="T49" fmla="*/ 16 h 434"/>
                <a:gd name="T50" fmla="*/ 172 w 198"/>
                <a:gd name="T51" fmla="*/ 8 h 434"/>
                <a:gd name="T52" fmla="*/ 170 w 198"/>
                <a:gd name="T53" fmla="*/ 8 h 434"/>
                <a:gd name="T54" fmla="*/ 168 w 198"/>
                <a:gd name="T55" fmla="*/ 2 h 434"/>
                <a:gd name="T56" fmla="*/ 168 w 198"/>
                <a:gd name="T57" fmla="*/ 2 h 434"/>
                <a:gd name="T58" fmla="*/ 158 w 198"/>
                <a:gd name="T59" fmla="*/ 4 h 434"/>
                <a:gd name="T60" fmla="*/ 120 w 198"/>
                <a:gd name="T61" fmla="*/ 24 h 434"/>
                <a:gd name="T62" fmla="*/ 90 w 198"/>
                <a:gd name="T63" fmla="*/ 34 h 434"/>
                <a:gd name="T64" fmla="*/ 78 w 198"/>
                <a:gd name="T65" fmla="*/ 34 h 434"/>
                <a:gd name="T66" fmla="*/ 64 w 198"/>
                <a:gd name="T67" fmla="*/ 28 h 434"/>
                <a:gd name="T68" fmla="*/ 56 w 198"/>
                <a:gd name="T69" fmla="*/ 14 h 434"/>
                <a:gd name="T70" fmla="*/ 54 w 198"/>
                <a:gd name="T71" fmla="*/ 12 h 434"/>
                <a:gd name="T72" fmla="*/ 52 w 198"/>
                <a:gd name="T73" fmla="*/ 26 h 434"/>
                <a:gd name="T74" fmla="*/ 50 w 198"/>
                <a:gd name="T75" fmla="*/ 70 h 434"/>
                <a:gd name="T76" fmla="*/ 46 w 198"/>
                <a:gd name="T77" fmla="*/ 80 h 434"/>
                <a:gd name="T78" fmla="*/ 28 w 198"/>
                <a:gd name="T79" fmla="*/ 116 h 434"/>
                <a:gd name="T80" fmla="*/ 10 w 198"/>
                <a:gd name="T81" fmla="*/ 156 h 434"/>
                <a:gd name="T82" fmla="*/ 8 w 198"/>
                <a:gd name="T83" fmla="*/ 168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8" h="434">
                  <a:moveTo>
                    <a:pt x="8" y="168"/>
                  </a:moveTo>
                  <a:lnTo>
                    <a:pt x="8" y="168"/>
                  </a:lnTo>
                  <a:lnTo>
                    <a:pt x="6" y="224"/>
                  </a:lnTo>
                  <a:lnTo>
                    <a:pt x="4" y="262"/>
                  </a:lnTo>
                  <a:lnTo>
                    <a:pt x="2" y="300"/>
                  </a:lnTo>
                  <a:lnTo>
                    <a:pt x="0" y="358"/>
                  </a:lnTo>
                  <a:lnTo>
                    <a:pt x="0" y="358"/>
                  </a:lnTo>
                  <a:lnTo>
                    <a:pt x="0" y="402"/>
                  </a:lnTo>
                  <a:lnTo>
                    <a:pt x="2" y="420"/>
                  </a:lnTo>
                  <a:lnTo>
                    <a:pt x="4" y="424"/>
                  </a:lnTo>
                  <a:lnTo>
                    <a:pt x="6" y="426"/>
                  </a:lnTo>
                  <a:lnTo>
                    <a:pt x="8" y="426"/>
                  </a:lnTo>
                  <a:lnTo>
                    <a:pt x="8" y="426"/>
                  </a:lnTo>
                  <a:lnTo>
                    <a:pt x="28" y="430"/>
                  </a:lnTo>
                  <a:lnTo>
                    <a:pt x="48" y="432"/>
                  </a:lnTo>
                  <a:lnTo>
                    <a:pt x="86" y="434"/>
                  </a:lnTo>
                  <a:lnTo>
                    <a:pt x="86" y="434"/>
                  </a:lnTo>
                  <a:lnTo>
                    <a:pt x="102" y="434"/>
                  </a:lnTo>
                  <a:lnTo>
                    <a:pt x="114" y="432"/>
                  </a:lnTo>
                  <a:lnTo>
                    <a:pt x="136" y="428"/>
                  </a:lnTo>
                  <a:lnTo>
                    <a:pt x="160" y="422"/>
                  </a:lnTo>
                  <a:lnTo>
                    <a:pt x="172" y="422"/>
                  </a:lnTo>
                  <a:lnTo>
                    <a:pt x="188" y="420"/>
                  </a:lnTo>
                  <a:lnTo>
                    <a:pt x="188" y="420"/>
                  </a:lnTo>
                  <a:lnTo>
                    <a:pt x="196" y="420"/>
                  </a:lnTo>
                  <a:lnTo>
                    <a:pt x="198" y="416"/>
                  </a:lnTo>
                  <a:lnTo>
                    <a:pt x="198" y="412"/>
                  </a:lnTo>
                  <a:lnTo>
                    <a:pt x="196" y="404"/>
                  </a:lnTo>
                  <a:lnTo>
                    <a:pt x="182" y="386"/>
                  </a:lnTo>
                  <a:lnTo>
                    <a:pt x="164" y="360"/>
                  </a:lnTo>
                  <a:lnTo>
                    <a:pt x="142" y="328"/>
                  </a:lnTo>
                  <a:lnTo>
                    <a:pt x="132" y="310"/>
                  </a:lnTo>
                  <a:lnTo>
                    <a:pt x="124" y="292"/>
                  </a:lnTo>
                  <a:lnTo>
                    <a:pt x="116" y="270"/>
                  </a:lnTo>
                  <a:lnTo>
                    <a:pt x="108" y="250"/>
                  </a:lnTo>
                  <a:lnTo>
                    <a:pt x="104" y="226"/>
                  </a:lnTo>
                  <a:lnTo>
                    <a:pt x="102" y="202"/>
                  </a:lnTo>
                  <a:lnTo>
                    <a:pt x="102" y="202"/>
                  </a:lnTo>
                  <a:lnTo>
                    <a:pt x="102" y="186"/>
                  </a:lnTo>
                  <a:lnTo>
                    <a:pt x="106" y="170"/>
                  </a:lnTo>
                  <a:lnTo>
                    <a:pt x="114" y="134"/>
                  </a:lnTo>
                  <a:lnTo>
                    <a:pt x="126" y="96"/>
                  </a:lnTo>
                  <a:lnTo>
                    <a:pt x="132" y="74"/>
                  </a:lnTo>
                  <a:lnTo>
                    <a:pt x="136" y="52"/>
                  </a:lnTo>
                  <a:lnTo>
                    <a:pt x="136" y="52"/>
                  </a:lnTo>
                  <a:lnTo>
                    <a:pt x="138" y="46"/>
                  </a:lnTo>
                  <a:lnTo>
                    <a:pt x="144" y="40"/>
                  </a:lnTo>
                  <a:lnTo>
                    <a:pt x="144" y="40"/>
                  </a:lnTo>
                  <a:lnTo>
                    <a:pt x="158" y="26"/>
                  </a:lnTo>
                  <a:lnTo>
                    <a:pt x="166" y="16"/>
                  </a:lnTo>
                  <a:lnTo>
                    <a:pt x="172" y="8"/>
                  </a:lnTo>
                  <a:lnTo>
                    <a:pt x="172" y="8"/>
                  </a:lnTo>
                  <a:lnTo>
                    <a:pt x="172" y="8"/>
                  </a:lnTo>
                  <a:lnTo>
                    <a:pt x="170" y="8"/>
                  </a:lnTo>
                  <a:lnTo>
                    <a:pt x="170" y="6"/>
                  </a:lnTo>
                  <a:lnTo>
                    <a:pt x="168" y="2"/>
                  </a:lnTo>
                  <a:lnTo>
                    <a:pt x="168" y="2"/>
                  </a:lnTo>
                  <a:lnTo>
                    <a:pt x="168" y="2"/>
                  </a:lnTo>
                  <a:lnTo>
                    <a:pt x="166" y="0"/>
                  </a:lnTo>
                  <a:lnTo>
                    <a:pt x="158" y="4"/>
                  </a:lnTo>
                  <a:lnTo>
                    <a:pt x="134" y="16"/>
                  </a:lnTo>
                  <a:lnTo>
                    <a:pt x="120" y="24"/>
                  </a:lnTo>
                  <a:lnTo>
                    <a:pt x="106" y="30"/>
                  </a:lnTo>
                  <a:lnTo>
                    <a:pt x="90" y="34"/>
                  </a:lnTo>
                  <a:lnTo>
                    <a:pt x="78" y="34"/>
                  </a:lnTo>
                  <a:lnTo>
                    <a:pt x="78" y="34"/>
                  </a:lnTo>
                  <a:lnTo>
                    <a:pt x="70" y="32"/>
                  </a:lnTo>
                  <a:lnTo>
                    <a:pt x="64" y="28"/>
                  </a:lnTo>
                  <a:lnTo>
                    <a:pt x="60" y="22"/>
                  </a:lnTo>
                  <a:lnTo>
                    <a:pt x="56" y="14"/>
                  </a:lnTo>
                  <a:lnTo>
                    <a:pt x="56" y="14"/>
                  </a:lnTo>
                  <a:lnTo>
                    <a:pt x="54" y="12"/>
                  </a:lnTo>
                  <a:lnTo>
                    <a:pt x="54" y="14"/>
                  </a:lnTo>
                  <a:lnTo>
                    <a:pt x="52" y="26"/>
                  </a:lnTo>
                  <a:lnTo>
                    <a:pt x="52" y="46"/>
                  </a:lnTo>
                  <a:lnTo>
                    <a:pt x="50" y="70"/>
                  </a:lnTo>
                  <a:lnTo>
                    <a:pt x="50" y="70"/>
                  </a:lnTo>
                  <a:lnTo>
                    <a:pt x="46" y="80"/>
                  </a:lnTo>
                  <a:lnTo>
                    <a:pt x="42" y="92"/>
                  </a:lnTo>
                  <a:lnTo>
                    <a:pt x="28" y="116"/>
                  </a:lnTo>
                  <a:lnTo>
                    <a:pt x="16" y="142"/>
                  </a:lnTo>
                  <a:lnTo>
                    <a:pt x="10" y="156"/>
                  </a:lnTo>
                  <a:lnTo>
                    <a:pt x="8" y="168"/>
                  </a:lnTo>
                  <a:lnTo>
                    <a:pt x="8" y="16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53" name="Freeform 155"/>
            <p:cNvSpPr/>
            <p:nvPr/>
          </p:nvSpPr>
          <p:spPr bwMode="auto">
            <a:xfrm>
              <a:off x="8424863" y="4394200"/>
              <a:ext cx="142875" cy="609600"/>
            </a:xfrm>
            <a:custGeom>
              <a:avLst/>
              <a:gdLst>
                <a:gd name="T0" fmla="*/ 68 w 90"/>
                <a:gd name="T1" fmla="*/ 52 h 384"/>
                <a:gd name="T2" fmla="*/ 68 w 90"/>
                <a:gd name="T3" fmla="*/ 52 h 384"/>
                <a:gd name="T4" fmla="*/ 64 w 90"/>
                <a:gd name="T5" fmla="*/ 90 h 384"/>
                <a:gd name="T6" fmla="*/ 58 w 90"/>
                <a:gd name="T7" fmla="*/ 116 h 384"/>
                <a:gd name="T8" fmla="*/ 56 w 90"/>
                <a:gd name="T9" fmla="*/ 140 h 384"/>
                <a:gd name="T10" fmla="*/ 58 w 90"/>
                <a:gd name="T11" fmla="*/ 166 h 384"/>
                <a:gd name="T12" fmla="*/ 58 w 90"/>
                <a:gd name="T13" fmla="*/ 166 h 384"/>
                <a:gd name="T14" fmla="*/ 58 w 90"/>
                <a:gd name="T15" fmla="*/ 198 h 384"/>
                <a:gd name="T16" fmla="*/ 56 w 90"/>
                <a:gd name="T17" fmla="*/ 226 h 384"/>
                <a:gd name="T18" fmla="*/ 52 w 90"/>
                <a:gd name="T19" fmla="*/ 256 h 384"/>
                <a:gd name="T20" fmla="*/ 46 w 90"/>
                <a:gd name="T21" fmla="*/ 296 h 384"/>
                <a:gd name="T22" fmla="*/ 46 w 90"/>
                <a:gd name="T23" fmla="*/ 296 h 384"/>
                <a:gd name="T24" fmla="*/ 44 w 90"/>
                <a:gd name="T25" fmla="*/ 306 h 384"/>
                <a:gd name="T26" fmla="*/ 42 w 90"/>
                <a:gd name="T27" fmla="*/ 332 h 384"/>
                <a:gd name="T28" fmla="*/ 42 w 90"/>
                <a:gd name="T29" fmla="*/ 356 h 384"/>
                <a:gd name="T30" fmla="*/ 40 w 90"/>
                <a:gd name="T31" fmla="*/ 368 h 384"/>
                <a:gd name="T32" fmla="*/ 40 w 90"/>
                <a:gd name="T33" fmla="*/ 368 h 384"/>
                <a:gd name="T34" fmla="*/ 32 w 90"/>
                <a:gd name="T35" fmla="*/ 372 h 384"/>
                <a:gd name="T36" fmla="*/ 28 w 90"/>
                <a:gd name="T37" fmla="*/ 376 h 384"/>
                <a:gd name="T38" fmla="*/ 22 w 90"/>
                <a:gd name="T39" fmla="*/ 380 h 384"/>
                <a:gd name="T40" fmla="*/ 14 w 90"/>
                <a:gd name="T41" fmla="*/ 384 h 384"/>
                <a:gd name="T42" fmla="*/ 14 w 90"/>
                <a:gd name="T43" fmla="*/ 384 h 384"/>
                <a:gd name="T44" fmla="*/ 10 w 90"/>
                <a:gd name="T45" fmla="*/ 384 h 384"/>
                <a:gd name="T46" fmla="*/ 8 w 90"/>
                <a:gd name="T47" fmla="*/ 384 h 384"/>
                <a:gd name="T48" fmla="*/ 2 w 90"/>
                <a:gd name="T49" fmla="*/ 378 h 384"/>
                <a:gd name="T50" fmla="*/ 0 w 90"/>
                <a:gd name="T51" fmla="*/ 368 h 384"/>
                <a:gd name="T52" fmla="*/ 0 w 90"/>
                <a:gd name="T53" fmla="*/ 356 h 384"/>
                <a:gd name="T54" fmla="*/ 0 w 90"/>
                <a:gd name="T55" fmla="*/ 356 h 384"/>
                <a:gd name="T56" fmla="*/ 14 w 90"/>
                <a:gd name="T57" fmla="*/ 272 h 384"/>
                <a:gd name="T58" fmla="*/ 18 w 90"/>
                <a:gd name="T59" fmla="*/ 230 h 384"/>
                <a:gd name="T60" fmla="*/ 22 w 90"/>
                <a:gd name="T61" fmla="*/ 194 h 384"/>
                <a:gd name="T62" fmla="*/ 22 w 90"/>
                <a:gd name="T63" fmla="*/ 194 h 384"/>
                <a:gd name="T64" fmla="*/ 46 w 90"/>
                <a:gd name="T65" fmla="*/ 46 h 384"/>
                <a:gd name="T66" fmla="*/ 46 w 90"/>
                <a:gd name="T67" fmla="*/ 46 h 384"/>
                <a:gd name="T68" fmla="*/ 46 w 90"/>
                <a:gd name="T69" fmla="*/ 38 h 384"/>
                <a:gd name="T70" fmla="*/ 46 w 90"/>
                <a:gd name="T71" fmla="*/ 32 h 384"/>
                <a:gd name="T72" fmla="*/ 44 w 90"/>
                <a:gd name="T73" fmla="*/ 28 h 384"/>
                <a:gd name="T74" fmla="*/ 44 w 90"/>
                <a:gd name="T75" fmla="*/ 24 h 384"/>
                <a:gd name="T76" fmla="*/ 44 w 90"/>
                <a:gd name="T77" fmla="*/ 24 h 384"/>
                <a:gd name="T78" fmla="*/ 48 w 90"/>
                <a:gd name="T79" fmla="*/ 14 h 384"/>
                <a:gd name="T80" fmla="*/ 54 w 90"/>
                <a:gd name="T81" fmla="*/ 8 h 384"/>
                <a:gd name="T82" fmla="*/ 60 w 90"/>
                <a:gd name="T83" fmla="*/ 2 h 384"/>
                <a:gd name="T84" fmla="*/ 64 w 90"/>
                <a:gd name="T85" fmla="*/ 0 h 384"/>
                <a:gd name="T86" fmla="*/ 64 w 90"/>
                <a:gd name="T87" fmla="*/ 0 h 384"/>
                <a:gd name="T88" fmla="*/ 82 w 90"/>
                <a:gd name="T89" fmla="*/ 14 h 384"/>
                <a:gd name="T90" fmla="*/ 90 w 90"/>
                <a:gd name="T91" fmla="*/ 20 h 384"/>
                <a:gd name="T92" fmla="*/ 90 w 90"/>
                <a:gd name="T93" fmla="*/ 20 h 384"/>
                <a:gd name="T94" fmla="*/ 88 w 90"/>
                <a:gd name="T95" fmla="*/ 24 h 384"/>
                <a:gd name="T96" fmla="*/ 86 w 90"/>
                <a:gd name="T97" fmla="*/ 28 h 384"/>
                <a:gd name="T98" fmla="*/ 80 w 90"/>
                <a:gd name="T99" fmla="*/ 32 h 384"/>
                <a:gd name="T100" fmla="*/ 74 w 90"/>
                <a:gd name="T101" fmla="*/ 40 h 384"/>
                <a:gd name="T102" fmla="*/ 70 w 90"/>
                <a:gd name="T103" fmla="*/ 44 h 384"/>
                <a:gd name="T104" fmla="*/ 68 w 90"/>
                <a:gd name="T105" fmla="*/ 52 h 384"/>
                <a:gd name="T106" fmla="*/ 68 w 90"/>
                <a:gd name="T107" fmla="*/ 5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0" h="384">
                  <a:moveTo>
                    <a:pt x="68" y="52"/>
                  </a:moveTo>
                  <a:lnTo>
                    <a:pt x="68" y="52"/>
                  </a:lnTo>
                  <a:lnTo>
                    <a:pt x="64" y="90"/>
                  </a:lnTo>
                  <a:lnTo>
                    <a:pt x="58" y="116"/>
                  </a:lnTo>
                  <a:lnTo>
                    <a:pt x="56" y="140"/>
                  </a:lnTo>
                  <a:lnTo>
                    <a:pt x="58" y="166"/>
                  </a:lnTo>
                  <a:lnTo>
                    <a:pt x="58" y="166"/>
                  </a:lnTo>
                  <a:lnTo>
                    <a:pt x="58" y="198"/>
                  </a:lnTo>
                  <a:lnTo>
                    <a:pt x="56" y="226"/>
                  </a:lnTo>
                  <a:lnTo>
                    <a:pt x="52" y="256"/>
                  </a:lnTo>
                  <a:lnTo>
                    <a:pt x="46" y="296"/>
                  </a:lnTo>
                  <a:lnTo>
                    <a:pt x="46" y="296"/>
                  </a:lnTo>
                  <a:lnTo>
                    <a:pt x="44" y="306"/>
                  </a:lnTo>
                  <a:lnTo>
                    <a:pt x="42" y="332"/>
                  </a:lnTo>
                  <a:lnTo>
                    <a:pt x="42" y="356"/>
                  </a:lnTo>
                  <a:lnTo>
                    <a:pt x="40" y="368"/>
                  </a:lnTo>
                  <a:lnTo>
                    <a:pt x="40" y="368"/>
                  </a:lnTo>
                  <a:lnTo>
                    <a:pt x="32" y="372"/>
                  </a:lnTo>
                  <a:lnTo>
                    <a:pt x="28" y="376"/>
                  </a:lnTo>
                  <a:lnTo>
                    <a:pt x="22" y="380"/>
                  </a:lnTo>
                  <a:lnTo>
                    <a:pt x="14" y="384"/>
                  </a:lnTo>
                  <a:lnTo>
                    <a:pt x="14" y="384"/>
                  </a:lnTo>
                  <a:lnTo>
                    <a:pt x="10" y="384"/>
                  </a:lnTo>
                  <a:lnTo>
                    <a:pt x="8" y="384"/>
                  </a:lnTo>
                  <a:lnTo>
                    <a:pt x="2" y="378"/>
                  </a:lnTo>
                  <a:lnTo>
                    <a:pt x="0" y="368"/>
                  </a:lnTo>
                  <a:lnTo>
                    <a:pt x="0" y="356"/>
                  </a:lnTo>
                  <a:lnTo>
                    <a:pt x="0" y="356"/>
                  </a:lnTo>
                  <a:lnTo>
                    <a:pt x="14" y="272"/>
                  </a:lnTo>
                  <a:lnTo>
                    <a:pt x="18" y="230"/>
                  </a:lnTo>
                  <a:lnTo>
                    <a:pt x="22" y="194"/>
                  </a:lnTo>
                  <a:lnTo>
                    <a:pt x="22" y="194"/>
                  </a:lnTo>
                  <a:lnTo>
                    <a:pt x="46" y="46"/>
                  </a:lnTo>
                  <a:lnTo>
                    <a:pt x="46" y="46"/>
                  </a:lnTo>
                  <a:lnTo>
                    <a:pt x="46" y="38"/>
                  </a:lnTo>
                  <a:lnTo>
                    <a:pt x="46" y="32"/>
                  </a:lnTo>
                  <a:lnTo>
                    <a:pt x="44" y="28"/>
                  </a:lnTo>
                  <a:lnTo>
                    <a:pt x="44" y="24"/>
                  </a:lnTo>
                  <a:lnTo>
                    <a:pt x="44" y="24"/>
                  </a:lnTo>
                  <a:lnTo>
                    <a:pt x="48" y="14"/>
                  </a:lnTo>
                  <a:lnTo>
                    <a:pt x="54" y="8"/>
                  </a:lnTo>
                  <a:lnTo>
                    <a:pt x="60" y="2"/>
                  </a:lnTo>
                  <a:lnTo>
                    <a:pt x="64" y="0"/>
                  </a:lnTo>
                  <a:lnTo>
                    <a:pt x="64" y="0"/>
                  </a:lnTo>
                  <a:lnTo>
                    <a:pt x="82" y="14"/>
                  </a:lnTo>
                  <a:lnTo>
                    <a:pt x="90" y="20"/>
                  </a:lnTo>
                  <a:lnTo>
                    <a:pt x="90" y="20"/>
                  </a:lnTo>
                  <a:lnTo>
                    <a:pt x="88" y="24"/>
                  </a:lnTo>
                  <a:lnTo>
                    <a:pt x="86" y="28"/>
                  </a:lnTo>
                  <a:lnTo>
                    <a:pt x="80" y="32"/>
                  </a:lnTo>
                  <a:lnTo>
                    <a:pt x="74" y="40"/>
                  </a:lnTo>
                  <a:lnTo>
                    <a:pt x="70" y="44"/>
                  </a:lnTo>
                  <a:lnTo>
                    <a:pt x="68" y="52"/>
                  </a:lnTo>
                  <a:lnTo>
                    <a:pt x="68" y="5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sp>
        <p:nvSpPr>
          <p:cNvPr id="159" name="TextBox 48"/>
          <p:cNvSpPr txBox="1"/>
          <p:nvPr/>
        </p:nvSpPr>
        <p:spPr>
          <a:xfrm>
            <a:off x="1325535" y="4314643"/>
            <a:ext cx="715518" cy="43053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defRPr/>
            </a:pPr>
            <a:r>
              <a:rPr kumimoji="0" lang="zh-CN" altLang="en-US" sz="14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知识生产和维护</a:t>
            </a:r>
            <a:endParaRPr kumimoji="0" lang="zh-CN" altLang="en-US" sz="14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endParaRPr>
          </a:p>
        </p:txBody>
      </p:sp>
      <p:grpSp>
        <p:nvGrpSpPr>
          <p:cNvPr id="2" name="Group 1"/>
          <p:cNvGrpSpPr/>
          <p:nvPr/>
        </p:nvGrpSpPr>
        <p:grpSpPr>
          <a:xfrm>
            <a:off x="903046" y="2605157"/>
            <a:ext cx="1626902" cy="931937"/>
            <a:chOff x="903046" y="2455332"/>
            <a:chExt cx="1626902" cy="931937"/>
          </a:xfrm>
        </p:grpSpPr>
        <p:sp>
          <p:nvSpPr>
            <p:cNvPr id="160" name="Rounded Rectangle 50"/>
            <p:cNvSpPr/>
            <p:nvPr/>
          </p:nvSpPr>
          <p:spPr bwMode="gray">
            <a:xfrm>
              <a:off x="903046" y="2455332"/>
              <a:ext cx="1626902" cy="931937"/>
            </a:xfrm>
            <a:prstGeom prst="roundRect">
              <a:avLst/>
            </a:prstGeom>
            <a:solidFill>
              <a:schemeClr val="bg1">
                <a:lumMod val="95000"/>
              </a:schemeClr>
            </a:solidFill>
            <a:ln w="12700" algn="ctr">
              <a:noFill/>
              <a:miter lim="800000"/>
            </a:ln>
          </p:spPr>
          <p:txBody>
            <a:bodyPr rot="0" spcFirstLastPara="0" vertOverflow="overflow" horzOverflow="overflow" vert="horz" wrap="square" lIns="0" tIns="288000" rIns="0" bIns="36000" numCol="1" spcCol="0" rtlCol="0" fromWordArt="0" anchor="t" anchorCtr="0" forceAA="0" compatLnSpc="1">
              <a:noAutofit/>
            </a:bodyPr>
            <a:lstStyle/>
            <a:p>
              <a:pPr marL="0" marR="0" lvl="0" indent="0" algn="l" defTabSz="914400" rtl="0" eaLnBrk="1" fontAlgn="auto" latinLnBrk="0" hangingPunct="1">
                <a:lnSpc>
                  <a:spcPts val="12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负责对接业务需求，制定实施方案，相应领域元数据标准制定</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对复杂问题进行深入分析。</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61" name="TextBox 51"/>
            <p:cNvSpPr txBox="1"/>
            <p:nvPr/>
          </p:nvSpPr>
          <p:spPr>
            <a:xfrm>
              <a:off x="1346619" y="2508147"/>
              <a:ext cx="739775" cy="18415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defRPr/>
              </a:pPr>
              <a:r>
                <a:rPr kumimoji="0" lang="en-US" altLang="zh-CN"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IT</a:t>
              </a:r>
              <a:r>
                <a:rPr kumimoji="0" lang="zh-CN" alt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rPr>
                <a:t>融合团队</a:t>
              </a:r>
              <a:endParaRPr kumimoji="0" lang="zh-CN" alt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endParaRPr>
            </a:p>
          </p:txBody>
        </p:sp>
      </p:grpSp>
      <p:grpSp>
        <p:nvGrpSpPr>
          <p:cNvPr id="5" name="Group 4"/>
          <p:cNvGrpSpPr/>
          <p:nvPr/>
        </p:nvGrpSpPr>
        <p:grpSpPr>
          <a:xfrm>
            <a:off x="1826888" y="5426495"/>
            <a:ext cx="1176800" cy="1035264"/>
            <a:chOff x="2395848" y="5172495"/>
            <a:chExt cx="1176800" cy="1035264"/>
          </a:xfrm>
        </p:grpSpPr>
        <p:sp>
          <p:nvSpPr>
            <p:cNvPr id="164" name="Rounded Rectangle 50"/>
            <p:cNvSpPr/>
            <p:nvPr/>
          </p:nvSpPr>
          <p:spPr bwMode="gray">
            <a:xfrm>
              <a:off x="2395848" y="5172495"/>
              <a:ext cx="1170000" cy="1035264"/>
            </a:xfrm>
            <a:prstGeom prst="roundRect">
              <a:avLst/>
            </a:prstGeom>
            <a:solidFill>
              <a:schemeClr val="bg1">
                <a:lumMod val="95000"/>
              </a:schemeClr>
            </a:solidFill>
            <a:ln w="12700" algn="ctr">
              <a:noFill/>
              <a:miter lim="800000"/>
            </a:ln>
          </p:spPr>
          <p:txBody>
            <a:bodyPr rot="0" spcFirstLastPara="0" vertOverflow="overflow" horzOverflow="overflow" vert="horz" wrap="square" lIns="0" tIns="288000" rIns="0" bIns="36000" numCol="1" spcCol="0" rtlCol="0" fromWordArt="0" anchor="t" anchorCtr="0" forceAA="0" compatLnSpc="1">
              <a:noAutofit/>
            </a:bodyPr>
            <a:lstStyle/>
            <a:p>
              <a:pPr marL="0" marR="0" lvl="0" indent="0" algn="l" defTabSz="914400" rtl="0" eaLnBrk="1" fontAlgn="auto" latinLnBrk="0" hangingPunct="1">
                <a:lnSpc>
                  <a:spcPts val="12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负责知识目录管理知识运营监控</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运营规范制定</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对知识日常问题分析及处理</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9" name="TextBox 33"/>
            <p:cNvSpPr txBox="1"/>
            <p:nvPr/>
          </p:nvSpPr>
          <p:spPr>
            <a:xfrm>
              <a:off x="2519183" y="5206881"/>
              <a:ext cx="1053465" cy="18415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600"/>
                </a:spcBef>
                <a:spcAft>
                  <a:spcPts val="0"/>
                </a:spcAft>
                <a:buClrTx/>
                <a:buSzPct val="100000"/>
                <a:buFontTx/>
                <a:buNone/>
                <a:defRPr/>
              </a:pPr>
              <a:r>
                <a:rPr kumimoji="0" lang="en-US" altLang="zh-CN"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rPr>
                <a:t>知识运营团队</a:t>
              </a:r>
              <a:endParaRPr kumimoji="0" 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4" name="Group 3"/>
          <p:cNvGrpSpPr/>
          <p:nvPr/>
        </p:nvGrpSpPr>
        <p:grpSpPr>
          <a:xfrm>
            <a:off x="373314" y="5426494"/>
            <a:ext cx="1168022" cy="1035265"/>
            <a:chOff x="505394" y="5172494"/>
            <a:chExt cx="1168022" cy="1035265"/>
          </a:xfrm>
        </p:grpSpPr>
        <p:sp>
          <p:nvSpPr>
            <p:cNvPr id="162" name="Rounded Rectangle 50"/>
            <p:cNvSpPr/>
            <p:nvPr/>
          </p:nvSpPr>
          <p:spPr bwMode="gray">
            <a:xfrm>
              <a:off x="505394" y="5172494"/>
              <a:ext cx="1168022" cy="1035265"/>
            </a:xfrm>
            <a:prstGeom prst="roundRect">
              <a:avLst/>
            </a:prstGeom>
            <a:solidFill>
              <a:schemeClr val="bg1">
                <a:lumMod val="95000"/>
              </a:schemeClr>
            </a:solidFill>
            <a:ln w="12700" algn="ctr">
              <a:noFill/>
              <a:miter lim="800000"/>
            </a:ln>
          </p:spPr>
          <p:txBody>
            <a:bodyPr rot="0" spcFirstLastPara="0" vertOverflow="overflow" horzOverflow="overflow" vert="horz" wrap="square" lIns="0" tIns="288000" rIns="0" bIns="36000" numCol="1" spcCol="0" rtlCol="0" fromWordArt="0" anchor="t" anchorCtr="0" forceAA="0" compatLnSpc="1">
              <a:noAutofit/>
            </a:bodyPr>
            <a:lstStyle/>
            <a:p>
              <a:pPr marL="0" marR="0" lvl="0" indent="0" algn="l" defTabSz="914400" rtl="0" eaLnBrk="1" fontAlgn="auto" latinLnBrk="0" hangingPunct="1">
                <a:lnSpc>
                  <a:spcPts val="1200"/>
                </a:lnSpc>
                <a:spcBef>
                  <a:spcPts val="0"/>
                </a:spcBef>
                <a:spcAft>
                  <a:spcPts val="0"/>
                </a:spcAft>
                <a:buClrTx/>
                <a:buSzTx/>
                <a:buFontTx/>
                <a:buNone/>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mn-ea"/>
                </a:rPr>
                <a:t>负责平台能力建设，知识需求方案落地实施，并推动领域知识建模</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endParaRPr kumimoji="0" 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4" name="TextBox 54"/>
            <p:cNvSpPr txBox="1"/>
            <p:nvPr/>
          </p:nvSpPr>
          <p:spPr>
            <a:xfrm>
              <a:off x="524259" y="5206881"/>
              <a:ext cx="1130300" cy="18415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600"/>
                </a:spcBef>
                <a:spcAft>
                  <a:spcPts val="0"/>
                </a:spcAft>
                <a:buClrTx/>
                <a:buSzPct val="100000"/>
                <a:buFontTx/>
                <a:buNone/>
                <a:defRPr/>
              </a:pPr>
              <a:r>
                <a:rPr kumimoji="0" lang="en-US" altLang="zh-CN"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rPr>
                <a:t>知识工程团队 </a:t>
              </a:r>
              <a:endParaRPr kumimoji="0" 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5" name="TextBox 33"/>
          <p:cNvSpPr txBox="1"/>
          <p:nvPr/>
        </p:nvSpPr>
        <p:spPr>
          <a:xfrm>
            <a:off x="3315335" y="5478145"/>
            <a:ext cx="1443355" cy="224790"/>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ts val="800"/>
              </a:lnSpc>
              <a:spcBef>
                <a:spcPts val="600"/>
              </a:spcBef>
              <a:spcAft>
                <a:spcPts val="0"/>
              </a:spcAft>
              <a:buClrTx/>
              <a:buSzTx/>
              <a:buFontTx/>
              <a:buNone/>
              <a:defRPr/>
            </a:pPr>
            <a:r>
              <a:rPr kumimoji="0" lang="zh-CN" alt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sym typeface="+mn-ea"/>
              </a:rPr>
              <a:t>业务团队</a:t>
            </a:r>
            <a:endParaRPr kumimoji="0" lang="zh-CN" altLang="en-US" sz="1200" b="1"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mn-cs"/>
              <a:sym typeface="+mn-ea"/>
            </a:endParaRPr>
          </a:p>
        </p:txBody>
      </p:sp>
      <p:grpSp>
        <p:nvGrpSpPr>
          <p:cNvPr id="30" name="组合 29"/>
          <p:cNvGrpSpPr/>
          <p:nvPr/>
        </p:nvGrpSpPr>
        <p:grpSpPr>
          <a:xfrm>
            <a:off x="3601779" y="4152222"/>
            <a:ext cx="785720" cy="761580"/>
            <a:chOff x="10459268" y="1390382"/>
            <a:chExt cx="1474588" cy="1429283"/>
          </a:xfrm>
        </p:grpSpPr>
        <p:grpSp>
          <p:nvGrpSpPr>
            <p:cNvPr id="31" name="Group 491"/>
            <p:cNvGrpSpPr/>
            <p:nvPr/>
          </p:nvGrpSpPr>
          <p:grpSpPr>
            <a:xfrm>
              <a:off x="11467380" y="1487479"/>
              <a:ext cx="466476" cy="1332186"/>
              <a:chOff x="6367463" y="6446838"/>
              <a:chExt cx="528638" cy="1509712"/>
            </a:xfrm>
          </p:grpSpPr>
          <p:sp>
            <p:nvSpPr>
              <p:cNvPr id="46" name="Freeform 79"/>
              <p:cNvSpPr>
                <a:spLocks noEditPoints="1"/>
              </p:cNvSpPr>
              <p:nvPr/>
            </p:nvSpPr>
            <p:spPr bwMode="auto">
              <a:xfrm>
                <a:off x="6367463" y="6446838"/>
                <a:ext cx="528638" cy="1509712"/>
              </a:xfrm>
              <a:custGeom>
                <a:avLst/>
                <a:gdLst>
                  <a:gd name="T0" fmla="*/ 52 w 333"/>
                  <a:gd name="T1" fmla="*/ 892 h 951"/>
                  <a:gd name="T2" fmla="*/ 118 w 333"/>
                  <a:gd name="T3" fmla="*/ 885 h 951"/>
                  <a:gd name="T4" fmla="*/ 126 w 333"/>
                  <a:gd name="T5" fmla="*/ 855 h 951"/>
                  <a:gd name="T6" fmla="*/ 152 w 333"/>
                  <a:gd name="T7" fmla="*/ 703 h 951"/>
                  <a:gd name="T8" fmla="*/ 159 w 333"/>
                  <a:gd name="T9" fmla="*/ 609 h 951"/>
                  <a:gd name="T10" fmla="*/ 180 w 333"/>
                  <a:gd name="T11" fmla="*/ 720 h 951"/>
                  <a:gd name="T12" fmla="*/ 177 w 333"/>
                  <a:gd name="T13" fmla="*/ 818 h 951"/>
                  <a:gd name="T14" fmla="*/ 182 w 333"/>
                  <a:gd name="T15" fmla="*/ 891 h 951"/>
                  <a:gd name="T16" fmla="*/ 188 w 333"/>
                  <a:gd name="T17" fmla="*/ 931 h 951"/>
                  <a:gd name="T18" fmla="*/ 231 w 333"/>
                  <a:gd name="T19" fmla="*/ 949 h 951"/>
                  <a:gd name="T20" fmla="*/ 253 w 333"/>
                  <a:gd name="T21" fmla="*/ 911 h 951"/>
                  <a:gd name="T22" fmla="*/ 254 w 333"/>
                  <a:gd name="T23" fmla="*/ 879 h 951"/>
                  <a:gd name="T24" fmla="*/ 250 w 333"/>
                  <a:gd name="T25" fmla="*/ 726 h 951"/>
                  <a:gd name="T26" fmla="*/ 245 w 333"/>
                  <a:gd name="T27" fmla="*/ 644 h 951"/>
                  <a:gd name="T28" fmla="*/ 250 w 333"/>
                  <a:gd name="T29" fmla="*/ 499 h 951"/>
                  <a:gd name="T30" fmla="*/ 260 w 333"/>
                  <a:gd name="T31" fmla="*/ 442 h 951"/>
                  <a:gd name="T32" fmla="*/ 246 w 333"/>
                  <a:gd name="T33" fmla="*/ 282 h 951"/>
                  <a:gd name="T34" fmla="*/ 250 w 333"/>
                  <a:gd name="T35" fmla="*/ 220 h 951"/>
                  <a:gd name="T36" fmla="*/ 265 w 333"/>
                  <a:gd name="T37" fmla="*/ 191 h 951"/>
                  <a:gd name="T38" fmla="*/ 319 w 333"/>
                  <a:gd name="T39" fmla="*/ 140 h 951"/>
                  <a:gd name="T40" fmla="*/ 327 w 333"/>
                  <a:gd name="T41" fmla="*/ 129 h 951"/>
                  <a:gd name="T42" fmla="*/ 330 w 333"/>
                  <a:gd name="T43" fmla="*/ 114 h 951"/>
                  <a:gd name="T44" fmla="*/ 320 w 333"/>
                  <a:gd name="T45" fmla="*/ 95 h 951"/>
                  <a:gd name="T46" fmla="*/ 311 w 333"/>
                  <a:gd name="T47" fmla="*/ 86 h 951"/>
                  <a:gd name="T48" fmla="*/ 274 w 333"/>
                  <a:gd name="T49" fmla="*/ 55 h 951"/>
                  <a:gd name="T50" fmla="*/ 251 w 333"/>
                  <a:gd name="T51" fmla="*/ 32 h 951"/>
                  <a:gd name="T52" fmla="*/ 226 w 333"/>
                  <a:gd name="T53" fmla="*/ 29 h 951"/>
                  <a:gd name="T54" fmla="*/ 202 w 333"/>
                  <a:gd name="T55" fmla="*/ 1 h 951"/>
                  <a:gd name="T56" fmla="*/ 188 w 333"/>
                  <a:gd name="T57" fmla="*/ 9 h 951"/>
                  <a:gd name="T58" fmla="*/ 131 w 333"/>
                  <a:gd name="T59" fmla="*/ 5 h 951"/>
                  <a:gd name="T60" fmla="*/ 114 w 333"/>
                  <a:gd name="T61" fmla="*/ 32 h 951"/>
                  <a:gd name="T62" fmla="*/ 105 w 333"/>
                  <a:gd name="T63" fmla="*/ 51 h 951"/>
                  <a:gd name="T64" fmla="*/ 100 w 333"/>
                  <a:gd name="T65" fmla="*/ 69 h 951"/>
                  <a:gd name="T66" fmla="*/ 102 w 333"/>
                  <a:gd name="T67" fmla="*/ 86 h 951"/>
                  <a:gd name="T68" fmla="*/ 102 w 333"/>
                  <a:gd name="T69" fmla="*/ 102 h 951"/>
                  <a:gd name="T70" fmla="*/ 106 w 333"/>
                  <a:gd name="T71" fmla="*/ 120 h 951"/>
                  <a:gd name="T72" fmla="*/ 117 w 333"/>
                  <a:gd name="T73" fmla="*/ 137 h 951"/>
                  <a:gd name="T74" fmla="*/ 58 w 333"/>
                  <a:gd name="T75" fmla="*/ 183 h 951"/>
                  <a:gd name="T76" fmla="*/ 49 w 333"/>
                  <a:gd name="T77" fmla="*/ 271 h 951"/>
                  <a:gd name="T78" fmla="*/ 43 w 333"/>
                  <a:gd name="T79" fmla="*/ 299 h 951"/>
                  <a:gd name="T80" fmla="*/ 35 w 333"/>
                  <a:gd name="T81" fmla="*/ 327 h 951"/>
                  <a:gd name="T82" fmla="*/ 34 w 333"/>
                  <a:gd name="T83" fmla="*/ 359 h 951"/>
                  <a:gd name="T84" fmla="*/ 40 w 333"/>
                  <a:gd name="T85" fmla="*/ 402 h 951"/>
                  <a:gd name="T86" fmla="*/ 57 w 333"/>
                  <a:gd name="T87" fmla="*/ 448 h 951"/>
                  <a:gd name="T88" fmla="*/ 58 w 333"/>
                  <a:gd name="T89" fmla="*/ 478 h 951"/>
                  <a:gd name="T90" fmla="*/ 83 w 333"/>
                  <a:gd name="T91" fmla="*/ 637 h 951"/>
                  <a:gd name="T92" fmla="*/ 74 w 333"/>
                  <a:gd name="T93" fmla="*/ 758 h 951"/>
                  <a:gd name="T94" fmla="*/ 52 w 333"/>
                  <a:gd name="T95" fmla="*/ 849 h 951"/>
                  <a:gd name="T96" fmla="*/ 0 w 333"/>
                  <a:gd name="T97" fmla="*/ 885 h 951"/>
                  <a:gd name="T98" fmla="*/ 197 w 333"/>
                  <a:gd name="T99" fmla="*/ 92 h 951"/>
                  <a:gd name="T100" fmla="*/ 209 w 333"/>
                  <a:gd name="T101" fmla="*/ 71 h 951"/>
                  <a:gd name="T102" fmla="*/ 237 w 333"/>
                  <a:gd name="T103" fmla="*/ 79 h 951"/>
                  <a:gd name="T104" fmla="*/ 256 w 333"/>
                  <a:gd name="T105" fmla="*/ 105 h 951"/>
                  <a:gd name="T106" fmla="*/ 268 w 333"/>
                  <a:gd name="T107" fmla="*/ 119 h 951"/>
                  <a:gd name="T108" fmla="*/ 251 w 333"/>
                  <a:gd name="T109" fmla="*/ 112 h 951"/>
                  <a:gd name="T110" fmla="*/ 211 w 333"/>
                  <a:gd name="T111" fmla="*/ 126 h 951"/>
                  <a:gd name="T112" fmla="*/ 183 w 333"/>
                  <a:gd name="T113" fmla="*/ 123 h 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33" h="951">
                    <a:moveTo>
                      <a:pt x="1" y="894"/>
                    </a:moveTo>
                    <a:lnTo>
                      <a:pt x="1" y="894"/>
                    </a:lnTo>
                    <a:lnTo>
                      <a:pt x="3" y="897"/>
                    </a:lnTo>
                    <a:lnTo>
                      <a:pt x="6" y="899"/>
                    </a:lnTo>
                    <a:lnTo>
                      <a:pt x="14" y="900"/>
                    </a:lnTo>
                    <a:lnTo>
                      <a:pt x="23" y="900"/>
                    </a:lnTo>
                    <a:lnTo>
                      <a:pt x="32" y="899"/>
                    </a:lnTo>
                    <a:lnTo>
                      <a:pt x="52" y="892"/>
                    </a:lnTo>
                    <a:lnTo>
                      <a:pt x="66" y="888"/>
                    </a:lnTo>
                    <a:lnTo>
                      <a:pt x="66" y="888"/>
                    </a:lnTo>
                    <a:lnTo>
                      <a:pt x="71" y="886"/>
                    </a:lnTo>
                    <a:lnTo>
                      <a:pt x="77" y="885"/>
                    </a:lnTo>
                    <a:lnTo>
                      <a:pt x="92" y="886"/>
                    </a:lnTo>
                    <a:lnTo>
                      <a:pt x="106" y="886"/>
                    </a:lnTo>
                    <a:lnTo>
                      <a:pt x="112" y="886"/>
                    </a:lnTo>
                    <a:lnTo>
                      <a:pt x="118" y="885"/>
                    </a:lnTo>
                    <a:lnTo>
                      <a:pt x="118" y="885"/>
                    </a:lnTo>
                    <a:lnTo>
                      <a:pt x="122" y="882"/>
                    </a:lnTo>
                    <a:lnTo>
                      <a:pt x="125" y="877"/>
                    </a:lnTo>
                    <a:lnTo>
                      <a:pt x="126" y="872"/>
                    </a:lnTo>
                    <a:lnTo>
                      <a:pt x="126" y="868"/>
                    </a:lnTo>
                    <a:lnTo>
                      <a:pt x="126" y="859"/>
                    </a:lnTo>
                    <a:lnTo>
                      <a:pt x="126" y="855"/>
                    </a:lnTo>
                    <a:lnTo>
                      <a:pt x="126" y="855"/>
                    </a:lnTo>
                    <a:lnTo>
                      <a:pt x="128" y="843"/>
                    </a:lnTo>
                    <a:lnTo>
                      <a:pt x="128" y="843"/>
                    </a:lnTo>
                    <a:lnTo>
                      <a:pt x="134" y="822"/>
                    </a:lnTo>
                    <a:lnTo>
                      <a:pt x="142" y="791"/>
                    </a:lnTo>
                    <a:lnTo>
                      <a:pt x="142" y="791"/>
                    </a:lnTo>
                    <a:lnTo>
                      <a:pt x="149" y="749"/>
                    </a:lnTo>
                    <a:lnTo>
                      <a:pt x="152" y="724"/>
                    </a:lnTo>
                    <a:lnTo>
                      <a:pt x="152" y="703"/>
                    </a:lnTo>
                    <a:lnTo>
                      <a:pt x="152" y="703"/>
                    </a:lnTo>
                    <a:lnTo>
                      <a:pt x="154" y="686"/>
                    </a:lnTo>
                    <a:lnTo>
                      <a:pt x="154" y="669"/>
                    </a:lnTo>
                    <a:lnTo>
                      <a:pt x="155" y="653"/>
                    </a:lnTo>
                    <a:lnTo>
                      <a:pt x="157" y="641"/>
                    </a:lnTo>
                    <a:lnTo>
                      <a:pt x="157" y="641"/>
                    </a:lnTo>
                    <a:lnTo>
                      <a:pt x="157" y="627"/>
                    </a:lnTo>
                    <a:lnTo>
                      <a:pt x="159" y="609"/>
                    </a:lnTo>
                    <a:lnTo>
                      <a:pt x="160" y="589"/>
                    </a:lnTo>
                    <a:lnTo>
                      <a:pt x="160" y="589"/>
                    </a:lnTo>
                    <a:lnTo>
                      <a:pt x="168" y="627"/>
                    </a:lnTo>
                    <a:lnTo>
                      <a:pt x="172" y="657"/>
                    </a:lnTo>
                    <a:lnTo>
                      <a:pt x="176" y="678"/>
                    </a:lnTo>
                    <a:lnTo>
                      <a:pt x="176" y="678"/>
                    </a:lnTo>
                    <a:lnTo>
                      <a:pt x="177" y="700"/>
                    </a:lnTo>
                    <a:lnTo>
                      <a:pt x="180" y="720"/>
                    </a:lnTo>
                    <a:lnTo>
                      <a:pt x="180" y="720"/>
                    </a:lnTo>
                    <a:lnTo>
                      <a:pt x="182" y="727"/>
                    </a:lnTo>
                    <a:lnTo>
                      <a:pt x="182" y="737"/>
                    </a:lnTo>
                    <a:lnTo>
                      <a:pt x="180" y="761"/>
                    </a:lnTo>
                    <a:lnTo>
                      <a:pt x="176" y="805"/>
                    </a:lnTo>
                    <a:lnTo>
                      <a:pt x="176" y="805"/>
                    </a:lnTo>
                    <a:lnTo>
                      <a:pt x="176" y="811"/>
                    </a:lnTo>
                    <a:lnTo>
                      <a:pt x="177" y="818"/>
                    </a:lnTo>
                    <a:lnTo>
                      <a:pt x="180" y="834"/>
                    </a:lnTo>
                    <a:lnTo>
                      <a:pt x="183" y="848"/>
                    </a:lnTo>
                    <a:lnTo>
                      <a:pt x="185" y="857"/>
                    </a:lnTo>
                    <a:lnTo>
                      <a:pt x="185" y="857"/>
                    </a:lnTo>
                    <a:lnTo>
                      <a:pt x="182" y="875"/>
                    </a:lnTo>
                    <a:lnTo>
                      <a:pt x="180" y="888"/>
                    </a:lnTo>
                    <a:lnTo>
                      <a:pt x="180" y="888"/>
                    </a:lnTo>
                    <a:lnTo>
                      <a:pt x="182" y="891"/>
                    </a:lnTo>
                    <a:lnTo>
                      <a:pt x="185" y="894"/>
                    </a:lnTo>
                    <a:lnTo>
                      <a:pt x="191" y="896"/>
                    </a:lnTo>
                    <a:lnTo>
                      <a:pt x="191" y="896"/>
                    </a:lnTo>
                    <a:lnTo>
                      <a:pt x="191" y="906"/>
                    </a:lnTo>
                    <a:lnTo>
                      <a:pt x="191" y="916"/>
                    </a:lnTo>
                    <a:lnTo>
                      <a:pt x="189" y="926"/>
                    </a:lnTo>
                    <a:lnTo>
                      <a:pt x="189" y="926"/>
                    </a:lnTo>
                    <a:lnTo>
                      <a:pt x="188" y="931"/>
                    </a:lnTo>
                    <a:lnTo>
                      <a:pt x="188" y="936"/>
                    </a:lnTo>
                    <a:lnTo>
                      <a:pt x="189" y="940"/>
                    </a:lnTo>
                    <a:lnTo>
                      <a:pt x="192" y="945"/>
                    </a:lnTo>
                    <a:lnTo>
                      <a:pt x="197" y="949"/>
                    </a:lnTo>
                    <a:lnTo>
                      <a:pt x="205" y="951"/>
                    </a:lnTo>
                    <a:lnTo>
                      <a:pt x="217" y="951"/>
                    </a:lnTo>
                    <a:lnTo>
                      <a:pt x="231" y="949"/>
                    </a:lnTo>
                    <a:lnTo>
                      <a:pt x="231" y="949"/>
                    </a:lnTo>
                    <a:lnTo>
                      <a:pt x="239" y="948"/>
                    </a:lnTo>
                    <a:lnTo>
                      <a:pt x="245" y="945"/>
                    </a:lnTo>
                    <a:lnTo>
                      <a:pt x="250" y="942"/>
                    </a:lnTo>
                    <a:lnTo>
                      <a:pt x="253" y="939"/>
                    </a:lnTo>
                    <a:lnTo>
                      <a:pt x="254" y="934"/>
                    </a:lnTo>
                    <a:lnTo>
                      <a:pt x="256" y="929"/>
                    </a:lnTo>
                    <a:lnTo>
                      <a:pt x="254" y="920"/>
                    </a:lnTo>
                    <a:lnTo>
                      <a:pt x="253" y="911"/>
                    </a:lnTo>
                    <a:lnTo>
                      <a:pt x="250" y="903"/>
                    </a:lnTo>
                    <a:lnTo>
                      <a:pt x="245" y="896"/>
                    </a:lnTo>
                    <a:lnTo>
                      <a:pt x="245" y="896"/>
                    </a:lnTo>
                    <a:lnTo>
                      <a:pt x="245" y="891"/>
                    </a:lnTo>
                    <a:lnTo>
                      <a:pt x="245" y="886"/>
                    </a:lnTo>
                    <a:lnTo>
                      <a:pt x="246" y="885"/>
                    </a:lnTo>
                    <a:lnTo>
                      <a:pt x="246" y="885"/>
                    </a:lnTo>
                    <a:lnTo>
                      <a:pt x="254" y="879"/>
                    </a:lnTo>
                    <a:lnTo>
                      <a:pt x="260" y="872"/>
                    </a:lnTo>
                    <a:lnTo>
                      <a:pt x="260" y="872"/>
                    </a:lnTo>
                    <a:lnTo>
                      <a:pt x="257" y="829"/>
                    </a:lnTo>
                    <a:lnTo>
                      <a:pt x="256" y="794"/>
                    </a:lnTo>
                    <a:lnTo>
                      <a:pt x="253" y="763"/>
                    </a:lnTo>
                    <a:lnTo>
                      <a:pt x="253" y="763"/>
                    </a:lnTo>
                    <a:lnTo>
                      <a:pt x="250" y="743"/>
                    </a:lnTo>
                    <a:lnTo>
                      <a:pt x="250" y="726"/>
                    </a:lnTo>
                    <a:lnTo>
                      <a:pt x="250" y="711"/>
                    </a:lnTo>
                    <a:lnTo>
                      <a:pt x="248" y="697"/>
                    </a:lnTo>
                    <a:lnTo>
                      <a:pt x="248" y="697"/>
                    </a:lnTo>
                    <a:lnTo>
                      <a:pt x="246" y="686"/>
                    </a:lnTo>
                    <a:lnTo>
                      <a:pt x="245" y="678"/>
                    </a:lnTo>
                    <a:lnTo>
                      <a:pt x="243" y="664"/>
                    </a:lnTo>
                    <a:lnTo>
                      <a:pt x="243" y="664"/>
                    </a:lnTo>
                    <a:lnTo>
                      <a:pt x="245" y="644"/>
                    </a:lnTo>
                    <a:lnTo>
                      <a:pt x="246" y="618"/>
                    </a:lnTo>
                    <a:lnTo>
                      <a:pt x="246" y="618"/>
                    </a:lnTo>
                    <a:lnTo>
                      <a:pt x="246" y="589"/>
                    </a:lnTo>
                    <a:lnTo>
                      <a:pt x="245" y="563"/>
                    </a:lnTo>
                    <a:lnTo>
                      <a:pt x="245" y="563"/>
                    </a:lnTo>
                    <a:lnTo>
                      <a:pt x="246" y="532"/>
                    </a:lnTo>
                    <a:lnTo>
                      <a:pt x="250" y="499"/>
                    </a:lnTo>
                    <a:lnTo>
                      <a:pt x="250" y="499"/>
                    </a:lnTo>
                    <a:lnTo>
                      <a:pt x="250" y="478"/>
                    </a:lnTo>
                    <a:lnTo>
                      <a:pt x="251" y="459"/>
                    </a:lnTo>
                    <a:lnTo>
                      <a:pt x="251" y="459"/>
                    </a:lnTo>
                    <a:lnTo>
                      <a:pt x="251" y="453"/>
                    </a:lnTo>
                    <a:lnTo>
                      <a:pt x="250" y="445"/>
                    </a:lnTo>
                    <a:lnTo>
                      <a:pt x="250" y="436"/>
                    </a:lnTo>
                    <a:lnTo>
                      <a:pt x="260" y="442"/>
                    </a:lnTo>
                    <a:lnTo>
                      <a:pt x="260" y="442"/>
                    </a:lnTo>
                    <a:lnTo>
                      <a:pt x="256" y="361"/>
                    </a:lnTo>
                    <a:lnTo>
                      <a:pt x="256" y="361"/>
                    </a:lnTo>
                    <a:lnTo>
                      <a:pt x="251" y="325"/>
                    </a:lnTo>
                    <a:lnTo>
                      <a:pt x="246" y="300"/>
                    </a:lnTo>
                    <a:lnTo>
                      <a:pt x="246" y="300"/>
                    </a:lnTo>
                    <a:lnTo>
                      <a:pt x="246" y="296"/>
                    </a:lnTo>
                    <a:lnTo>
                      <a:pt x="246" y="291"/>
                    </a:lnTo>
                    <a:lnTo>
                      <a:pt x="246" y="282"/>
                    </a:lnTo>
                    <a:lnTo>
                      <a:pt x="246" y="282"/>
                    </a:lnTo>
                    <a:lnTo>
                      <a:pt x="243" y="245"/>
                    </a:lnTo>
                    <a:lnTo>
                      <a:pt x="243" y="245"/>
                    </a:lnTo>
                    <a:lnTo>
                      <a:pt x="245" y="240"/>
                    </a:lnTo>
                    <a:lnTo>
                      <a:pt x="248" y="234"/>
                    </a:lnTo>
                    <a:lnTo>
                      <a:pt x="248" y="226"/>
                    </a:lnTo>
                    <a:lnTo>
                      <a:pt x="250" y="220"/>
                    </a:lnTo>
                    <a:lnTo>
                      <a:pt x="250" y="220"/>
                    </a:lnTo>
                    <a:lnTo>
                      <a:pt x="250" y="216"/>
                    </a:lnTo>
                    <a:lnTo>
                      <a:pt x="250" y="214"/>
                    </a:lnTo>
                    <a:lnTo>
                      <a:pt x="253" y="211"/>
                    </a:lnTo>
                    <a:lnTo>
                      <a:pt x="256" y="208"/>
                    </a:lnTo>
                    <a:lnTo>
                      <a:pt x="256" y="208"/>
                    </a:lnTo>
                    <a:lnTo>
                      <a:pt x="260" y="199"/>
                    </a:lnTo>
                    <a:lnTo>
                      <a:pt x="265" y="191"/>
                    </a:lnTo>
                    <a:lnTo>
                      <a:pt x="265" y="191"/>
                    </a:lnTo>
                    <a:lnTo>
                      <a:pt x="273" y="186"/>
                    </a:lnTo>
                    <a:lnTo>
                      <a:pt x="279" y="182"/>
                    </a:lnTo>
                    <a:lnTo>
                      <a:pt x="279" y="182"/>
                    </a:lnTo>
                    <a:lnTo>
                      <a:pt x="293" y="173"/>
                    </a:lnTo>
                    <a:lnTo>
                      <a:pt x="299" y="166"/>
                    </a:lnTo>
                    <a:lnTo>
                      <a:pt x="305" y="159"/>
                    </a:lnTo>
                    <a:lnTo>
                      <a:pt x="305" y="159"/>
                    </a:lnTo>
                    <a:lnTo>
                      <a:pt x="319" y="140"/>
                    </a:lnTo>
                    <a:lnTo>
                      <a:pt x="319" y="140"/>
                    </a:lnTo>
                    <a:lnTo>
                      <a:pt x="324" y="137"/>
                    </a:lnTo>
                    <a:lnTo>
                      <a:pt x="327" y="134"/>
                    </a:lnTo>
                    <a:lnTo>
                      <a:pt x="327" y="134"/>
                    </a:lnTo>
                    <a:lnTo>
                      <a:pt x="328" y="132"/>
                    </a:lnTo>
                    <a:lnTo>
                      <a:pt x="327" y="131"/>
                    </a:lnTo>
                    <a:lnTo>
                      <a:pt x="327" y="129"/>
                    </a:lnTo>
                    <a:lnTo>
                      <a:pt x="327" y="129"/>
                    </a:lnTo>
                    <a:lnTo>
                      <a:pt x="331" y="125"/>
                    </a:lnTo>
                    <a:lnTo>
                      <a:pt x="331" y="125"/>
                    </a:lnTo>
                    <a:lnTo>
                      <a:pt x="331" y="123"/>
                    </a:lnTo>
                    <a:lnTo>
                      <a:pt x="331" y="120"/>
                    </a:lnTo>
                    <a:lnTo>
                      <a:pt x="331" y="120"/>
                    </a:lnTo>
                    <a:lnTo>
                      <a:pt x="330" y="117"/>
                    </a:lnTo>
                    <a:lnTo>
                      <a:pt x="330" y="116"/>
                    </a:lnTo>
                    <a:lnTo>
                      <a:pt x="330" y="114"/>
                    </a:lnTo>
                    <a:lnTo>
                      <a:pt x="331" y="114"/>
                    </a:lnTo>
                    <a:lnTo>
                      <a:pt x="331" y="114"/>
                    </a:lnTo>
                    <a:lnTo>
                      <a:pt x="333" y="112"/>
                    </a:lnTo>
                    <a:lnTo>
                      <a:pt x="331" y="109"/>
                    </a:lnTo>
                    <a:lnTo>
                      <a:pt x="324" y="102"/>
                    </a:lnTo>
                    <a:lnTo>
                      <a:pt x="324" y="102"/>
                    </a:lnTo>
                    <a:lnTo>
                      <a:pt x="322" y="99"/>
                    </a:lnTo>
                    <a:lnTo>
                      <a:pt x="320" y="95"/>
                    </a:lnTo>
                    <a:lnTo>
                      <a:pt x="319" y="94"/>
                    </a:lnTo>
                    <a:lnTo>
                      <a:pt x="317" y="92"/>
                    </a:lnTo>
                    <a:lnTo>
                      <a:pt x="317" y="92"/>
                    </a:lnTo>
                    <a:lnTo>
                      <a:pt x="314" y="91"/>
                    </a:lnTo>
                    <a:lnTo>
                      <a:pt x="314" y="91"/>
                    </a:lnTo>
                    <a:lnTo>
                      <a:pt x="313" y="88"/>
                    </a:lnTo>
                    <a:lnTo>
                      <a:pt x="311" y="86"/>
                    </a:lnTo>
                    <a:lnTo>
                      <a:pt x="311" y="86"/>
                    </a:lnTo>
                    <a:lnTo>
                      <a:pt x="308" y="85"/>
                    </a:lnTo>
                    <a:lnTo>
                      <a:pt x="308" y="83"/>
                    </a:lnTo>
                    <a:lnTo>
                      <a:pt x="308" y="82"/>
                    </a:lnTo>
                    <a:lnTo>
                      <a:pt x="305" y="77"/>
                    </a:lnTo>
                    <a:lnTo>
                      <a:pt x="305" y="77"/>
                    </a:lnTo>
                    <a:lnTo>
                      <a:pt x="299" y="71"/>
                    </a:lnTo>
                    <a:lnTo>
                      <a:pt x="291" y="65"/>
                    </a:lnTo>
                    <a:lnTo>
                      <a:pt x="274" y="55"/>
                    </a:lnTo>
                    <a:lnTo>
                      <a:pt x="274" y="55"/>
                    </a:lnTo>
                    <a:lnTo>
                      <a:pt x="268" y="51"/>
                    </a:lnTo>
                    <a:lnTo>
                      <a:pt x="266" y="46"/>
                    </a:lnTo>
                    <a:lnTo>
                      <a:pt x="265" y="42"/>
                    </a:lnTo>
                    <a:lnTo>
                      <a:pt x="259" y="35"/>
                    </a:lnTo>
                    <a:lnTo>
                      <a:pt x="259" y="35"/>
                    </a:lnTo>
                    <a:lnTo>
                      <a:pt x="254" y="34"/>
                    </a:lnTo>
                    <a:lnTo>
                      <a:pt x="251" y="32"/>
                    </a:lnTo>
                    <a:lnTo>
                      <a:pt x="248" y="32"/>
                    </a:lnTo>
                    <a:lnTo>
                      <a:pt x="246" y="34"/>
                    </a:lnTo>
                    <a:lnTo>
                      <a:pt x="243" y="37"/>
                    </a:lnTo>
                    <a:lnTo>
                      <a:pt x="242" y="38"/>
                    </a:lnTo>
                    <a:lnTo>
                      <a:pt x="242" y="38"/>
                    </a:lnTo>
                    <a:lnTo>
                      <a:pt x="237" y="37"/>
                    </a:lnTo>
                    <a:lnTo>
                      <a:pt x="231" y="34"/>
                    </a:lnTo>
                    <a:lnTo>
                      <a:pt x="226" y="29"/>
                    </a:lnTo>
                    <a:lnTo>
                      <a:pt x="222" y="25"/>
                    </a:lnTo>
                    <a:lnTo>
                      <a:pt x="222" y="25"/>
                    </a:lnTo>
                    <a:lnTo>
                      <a:pt x="211" y="8"/>
                    </a:lnTo>
                    <a:lnTo>
                      <a:pt x="211" y="8"/>
                    </a:lnTo>
                    <a:lnTo>
                      <a:pt x="208" y="5"/>
                    </a:lnTo>
                    <a:lnTo>
                      <a:pt x="206" y="3"/>
                    </a:lnTo>
                    <a:lnTo>
                      <a:pt x="202" y="1"/>
                    </a:lnTo>
                    <a:lnTo>
                      <a:pt x="202" y="1"/>
                    </a:lnTo>
                    <a:lnTo>
                      <a:pt x="197" y="1"/>
                    </a:lnTo>
                    <a:lnTo>
                      <a:pt x="196" y="3"/>
                    </a:lnTo>
                    <a:lnTo>
                      <a:pt x="192" y="6"/>
                    </a:lnTo>
                    <a:lnTo>
                      <a:pt x="192" y="6"/>
                    </a:lnTo>
                    <a:lnTo>
                      <a:pt x="189" y="6"/>
                    </a:lnTo>
                    <a:lnTo>
                      <a:pt x="188" y="8"/>
                    </a:lnTo>
                    <a:lnTo>
                      <a:pt x="188" y="9"/>
                    </a:lnTo>
                    <a:lnTo>
                      <a:pt x="188" y="9"/>
                    </a:lnTo>
                    <a:lnTo>
                      <a:pt x="177" y="6"/>
                    </a:lnTo>
                    <a:lnTo>
                      <a:pt x="162" y="1"/>
                    </a:lnTo>
                    <a:lnTo>
                      <a:pt x="162" y="1"/>
                    </a:lnTo>
                    <a:lnTo>
                      <a:pt x="157" y="0"/>
                    </a:lnTo>
                    <a:lnTo>
                      <a:pt x="149" y="0"/>
                    </a:lnTo>
                    <a:lnTo>
                      <a:pt x="140" y="1"/>
                    </a:lnTo>
                    <a:lnTo>
                      <a:pt x="131" y="5"/>
                    </a:lnTo>
                    <a:lnTo>
                      <a:pt x="131" y="5"/>
                    </a:lnTo>
                    <a:lnTo>
                      <a:pt x="126" y="8"/>
                    </a:lnTo>
                    <a:lnTo>
                      <a:pt x="125" y="11"/>
                    </a:lnTo>
                    <a:lnTo>
                      <a:pt x="123" y="15"/>
                    </a:lnTo>
                    <a:lnTo>
                      <a:pt x="123" y="20"/>
                    </a:lnTo>
                    <a:lnTo>
                      <a:pt x="125" y="21"/>
                    </a:lnTo>
                    <a:lnTo>
                      <a:pt x="125" y="21"/>
                    </a:lnTo>
                    <a:lnTo>
                      <a:pt x="117" y="28"/>
                    </a:lnTo>
                    <a:lnTo>
                      <a:pt x="114" y="32"/>
                    </a:lnTo>
                    <a:lnTo>
                      <a:pt x="111" y="37"/>
                    </a:lnTo>
                    <a:lnTo>
                      <a:pt x="111" y="37"/>
                    </a:lnTo>
                    <a:lnTo>
                      <a:pt x="109" y="42"/>
                    </a:lnTo>
                    <a:lnTo>
                      <a:pt x="108" y="43"/>
                    </a:lnTo>
                    <a:lnTo>
                      <a:pt x="108" y="45"/>
                    </a:lnTo>
                    <a:lnTo>
                      <a:pt x="106" y="48"/>
                    </a:lnTo>
                    <a:lnTo>
                      <a:pt x="106" y="48"/>
                    </a:lnTo>
                    <a:lnTo>
                      <a:pt x="105" y="51"/>
                    </a:lnTo>
                    <a:lnTo>
                      <a:pt x="106" y="52"/>
                    </a:lnTo>
                    <a:lnTo>
                      <a:pt x="106" y="52"/>
                    </a:lnTo>
                    <a:lnTo>
                      <a:pt x="106" y="55"/>
                    </a:lnTo>
                    <a:lnTo>
                      <a:pt x="106" y="55"/>
                    </a:lnTo>
                    <a:lnTo>
                      <a:pt x="106" y="62"/>
                    </a:lnTo>
                    <a:lnTo>
                      <a:pt x="106" y="63"/>
                    </a:lnTo>
                    <a:lnTo>
                      <a:pt x="106" y="63"/>
                    </a:lnTo>
                    <a:lnTo>
                      <a:pt x="100" y="69"/>
                    </a:lnTo>
                    <a:lnTo>
                      <a:pt x="100" y="69"/>
                    </a:lnTo>
                    <a:lnTo>
                      <a:pt x="98" y="72"/>
                    </a:lnTo>
                    <a:lnTo>
                      <a:pt x="100" y="75"/>
                    </a:lnTo>
                    <a:lnTo>
                      <a:pt x="103" y="77"/>
                    </a:lnTo>
                    <a:lnTo>
                      <a:pt x="103" y="77"/>
                    </a:lnTo>
                    <a:lnTo>
                      <a:pt x="102" y="82"/>
                    </a:lnTo>
                    <a:lnTo>
                      <a:pt x="102" y="82"/>
                    </a:lnTo>
                    <a:lnTo>
                      <a:pt x="102" y="86"/>
                    </a:lnTo>
                    <a:lnTo>
                      <a:pt x="100" y="88"/>
                    </a:lnTo>
                    <a:lnTo>
                      <a:pt x="100" y="88"/>
                    </a:lnTo>
                    <a:lnTo>
                      <a:pt x="100" y="91"/>
                    </a:lnTo>
                    <a:lnTo>
                      <a:pt x="100" y="94"/>
                    </a:lnTo>
                    <a:lnTo>
                      <a:pt x="100" y="94"/>
                    </a:lnTo>
                    <a:lnTo>
                      <a:pt x="100" y="95"/>
                    </a:lnTo>
                    <a:lnTo>
                      <a:pt x="100" y="99"/>
                    </a:lnTo>
                    <a:lnTo>
                      <a:pt x="102" y="102"/>
                    </a:lnTo>
                    <a:lnTo>
                      <a:pt x="102" y="102"/>
                    </a:lnTo>
                    <a:lnTo>
                      <a:pt x="100" y="106"/>
                    </a:lnTo>
                    <a:lnTo>
                      <a:pt x="98" y="109"/>
                    </a:lnTo>
                    <a:lnTo>
                      <a:pt x="98" y="109"/>
                    </a:lnTo>
                    <a:lnTo>
                      <a:pt x="97" y="112"/>
                    </a:lnTo>
                    <a:lnTo>
                      <a:pt x="100" y="117"/>
                    </a:lnTo>
                    <a:lnTo>
                      <a:pt x="100" y="117"/>
                    </a:lnTo>
                    <a:lnTo>
                      <a:pt x="106" y="120"/>
                    </a:lnTo>
                    <a:lnTo>
                      <a:pt x="115" y="123"/>
                    </a:lnTo>
                    <a:lnTo>
                      <a:pt x="115" y="123"/>
                    </a:lnTo>
                    <a:lnTo>
                      <a:pt x="117" y="123"/>
                    </a:lnTo>
                    <a:lnTo>
                      <a:pt x="118" y="126"/>
                    </a:lnTo>
                    <a:lnTo>
                      <a:pt x="120" y="131"/>
                    </a:lnTo>
                    <a:lnTo>
                      <a:pt x="120" y="136"/>
                    </a:lnTo>
                    <a:lnTo>
                      <a:pt x="120" y="136"/>
                    </a:lnTo>
                    <a:lnTo>
                      <a:pt x="117" y="137"/>
                    </a:lnTo>
                    <a:lnTo>
                      <a:pt x="115" y="139"/>
                    </a:lnTo>
                    <a:lnTo>
                      <a:pt x="114" y="142"/>
                    </a:lnTo>
                    <a:lnTo>
                      <a:pt x="112" y="146"/>
                    </a:lnTo>
                    <a:lnTo>
                      <a:pt x="112" y="146"/>
                    </a:lnTo>
                    <a:lnTo>
                      <a:pt x="69" y="174"/>
                    </a:lnTo>
                    <a:lnTo>
                      <a:pt x="69" y="174"/>
                    </a:lnTo>
                    <a:lnTo>
                      <a:pt x="63" y="179"/>
                    </a:lnTo>
                    <a:lnTo>
                      <a:pt x="58" y="183"/>
                    </a:lnTo>
                    <a:lnTo>
                      <a:pt x="55" y="191"/>
                    </a:lnTo>
                    <a:lnTo>
                      <a:pt x="55" y="191"/>
                    </a:lnTo>
                    <a:lnTo>
                      <a:pt x="52" y="211"/>
                    </a:lnTo>
                    <a:lnTo>
                      <a:pt x="51" y="228"/>
                    </a:lnTo>
                    <a:lnTo>
                      <a:pt x="51" y="228"/>
                    </a:lnTo>
                    <a:lnTo>
                      <a:pt x="49" y="259"/>
                    </a:lnTo>
                    <a:lnTo>
                      <a:pt x="49" y="259"/>
                    </a:lnTo>
                    <a:lnTo>
                      <a:pt x="49" y="271"/>
                    </a:lnTo>
                    <a:lnTo>
                      <a:pt x="48" y="274"/>
                    </a:lnTo>
                    <a:lnTo>
                      <a:pt x="43" y="279"/>
                    </a:lnTo>
                    <a:lnTo>
                      <a:pt x="43" y="279"/>
                    </a:lnTo>
                    <a:lnTo>
                      <a:pt x="40" y="285"/>
                    </a:lnTo>
                    <a:lnTo>
                      <a:pt x="40" y="290"/>
                    </a:lnTo>
                    <a:lnTo>
                      <a:pt x="41" y="294"/>
                    </a:lnTo>
                    <a:lnTo>
                      <a:pt x="43" y="299"/>
                    </a:lnTo>
                    <a:lnTo>
                      <a:pt x="43" y="299"/>
                    </a:lnTo>
                    <a:lnTo>
                      <a:pt x="43" y="304"/>
                    </a:lnTo>
                    <a:lnTo>
                      <a:pt x="41" y="307"/>
                    </a:lnTo>
                    <a:lnTo>
                      <a:pt x="41" y="311"/>
                    </a:lnTo>
                    <a:lnTo>
                      <a:pt x="40" y="317"/>
                    </a:lnTo>
                    <a:lnTo>
                      <a:pt x="40" y="317"/>
                    </a:lnTo>
                    <a:lnTo>
                      <a:pt x="40" y="322"/>
                    </a:lnTo>
                    <a:lnTo>
                      <a:pt x="38" y="325"/>
                    </a:lnTo>
                    <a:lnTo>
                      <a:pt x="35" y="327"/>
                    </a:lnTo>
                    <a:lnTo>
                      <a:pt x="34" y="330"/>
                    </a:lnTo>
                    <a:lnTo>
                      <a:pt x="34" y="330"/>
                    </a:lnTo>
                    <a:lnTo>
                      <a:pt x="32" y="333"/>
                    </a:lnTo>
                    <a:lnTo>
                      <a:pt x="32" y="337"/>
                    </a:lnTo>
                    <a:lnTo>
                      <a:pt x="32" y="348"/>
                    </a:lnTo>
                    <a:lnTo>
                      <a:pt x="32" y="348"/>
                    </a:lnTo>
                    <a:lnTo>
                      <a:pt x="32" y="353"/>
                    </a:lnTo>
                    <a:lnTo>
                      <a:pt x="34" y="359"/>
                    </a:lnTo>
                    <a:lnTo>
                      <a:pt x="34" y="365"/>
                    </a:lnTo>
                    <a:lnTo>
                      <a:pt x="35" y="371"/>
                    </a:lnTo>
                    <a:lnTo>
                      <a:pt x="35" y="371"/>
                    </a:lnTo>
                    <a:lnTo>
                      <a:pt x="35" y="381"/>
                    </a:lnTo>
                    <a:lnTo>
                      <a:pt x="35" y="390"/>
                    </a:lnTo>
                    <a:lnTo>
                      <a:pt x="35" y="390"/>
                    </a:lnTo>
                    <a:lnTo>
                      <a:pt x="37" y="396"/>
                    </a:lnTo>
                    <a:lnTo>
                      <a:pt x="40" y="402"/>
                    </a:lnTo>
                    <a:lnTo>
                      <a:pt x="41" y="411"/>
                    </a:lnTo>
                    <a:lnTo>
                      <a:pt x="43" y="425"/>
                    </a:lnTo>
                    <a:lnTo>
                      <a:pt x="43" y="425"/>
                    </a:lnTo>
                    <a:lnTo>
                      <a:pt x="44" y="435"/>
                    </a:lnTo>
                    <a:lnTo>
                      <a:pt x="46" y="439"/>
                    </a:lnTo>
                    <a:lnTo>
                      <a:pt x="49" y="444"/>
                    </a:lnTo>
                    <a:lnTo>
                      <a:pt x="52" y="447"/>
                    </a:lnTo>
                    <a:lnTo>
                      <a:pt x="57" y="448"/>
                    </a:lnTo>
                    <a:lnTo>
                      <a:pt x="60" y="448"/>
                    </a:lnTo>
                    <a:lnTo>
                      <a:pt x="60" y="453"/>
                    </a:lnTo>
                    <a:lnTo>
                      <a:pt x="60" y="453"/>
                    </a:lnTo>
                    <a:lnTo>
                      <a:pt x="57" y="459"/>
                    </a:lnTo>
                    <a:lnTo>
                      <a:pt x="55" y="462"/>
                    </a:lnTo>
                    <a:lnTo>
                      <a:pt x="55" y="467"/>
                    </a:lnTo>
                    <a:lnTo>
                      <a:pt x="55" y="470"/>
                    </a:lnTo>
                    <a:lnTo>
                      <a:pt x="58" y="478"/>
                    </a:lnTo>
                    <a:lnTo>
                      <a:pt x="63" y="485"/>
                    </a:lnTo>
                    <a:lnTo>
                      <a:pt x="63" y="485"/>
                    </a:lnTo>
                    <a:lnTo>
                      <a:pt x="68" y="496"/>
                    </a:lnTo>
                    <a:lnTo>
                      <a:pt x="69" y="509"/>
                    </a:lnTo>
                    <a:lnTo>
                      <a:pt x="69" y="535"/>
                    </a:lnTo>
                    <a:lnTo>
                      <a:pt x="69" y="535"/>
                    </a:lnTo>
                    <a:lnTo>
                      <a:pt x="77" y="598"/>
                    </a:lnTo>
                    <a:lnTo>
                      <a:pt x="83" y="637"/>
                    </a:lnTo>
                    <a:lnTo>
                      <a:pt x="88" y="658"/>
                    </a:lnTo>
                    <a:lnTo>
                      <a:pt x="88" y="658"/>
                    </a:lnTo>
                    <a:lnTo>
                      <a:pt x="89" y="666"/>
                    </a:lnTo>
                    <a:lnTo>
                      <a:pt x="88" y="677"/>
                    </a:lnTo>
                    <a:lnTo>
                      <a:pt x="85" y="707"/>
                    </a:lnTo>
                    <a:lnTo>
                      <a:pt x="78" y="737"/>
                    </a:lnTo>
                    <a:lnTo>
                      <a:pt x="74" y="758"/>
                    </a:lnTo>
                    <a:lnTo>
                      <a:pt x="74" y="758"/>
                    </a:lnTo>
                    <a:lnTo>
                      <a:pt x="71" y="777"/>
                    </a:lnTo>
                    <a:lnTo>
                      <a:pt x="71" y="800"/>
                    </a:lnTo>
                    <a:lnTo>
                      <a:pt x="71" y="831"/>
                    </a:lnTo>
                    <a:lnTo>
                      <a:pt x="71" y="831"/>
                    </a:lnTo>
                    <a:lnTo>
                      <a:pt x="63" y="838"/>
                    </a:lnTo>
                    <a:lnTo>
                      <a:pt x="54" y="848"/>
                    </a:lnTo>
                    <a:lnTo>
                      <a:pt x="54" y="848"/>
                    </a:lnTo>
                    <a:lnTo>
                      <a:pt x="52" y="849"/>
                    </a:lnTo>
                    <a:lnTo>
                      <a:pt x="46" y="854"/>
                    </a:lnTo>
                    <a:lnTo>
                      <a:pt x="37" y="860"/>
                    </a:lnTo>
                    <a:lnTo>
                      <a:pt x="26" y="865"/>
                    </a:lnTo>
                    <a:lnTo>
                      <a:pt x="26" y="865"/>
                    </a:lnTo>
                    <a:lnTo>
                      <a:pt x="14" y="869"/>
                    </a:lnTo>
                    <a:lnTo>
                      <a:pt x="4" y="877"/>
                    </a:lnTo>
                    <a:lnTo>
                      <a:pt x="1" y="880"/>
                    </a:lnTo>
                    <a:lnTo>
                      <a:pt x="0" y="885"/>
                    </a:lnTo>
                    <a:lnTo>
                      <a:pt x="0" y="889"/>
                    </a:lnTo>
                    <a:lnTo>
                      <a:pt x="1" y="894"/>
                    </a:lnTo>
                    <a:lnTo>
                      <a:pt x="1" y="894"/>
                    </a:lnTo>
                    <a:close/>
                    <a:moveTo>
                      <a:pt x="180" y="112"/>
                    </a:moveTo>
                    <a:lnTo>
                      <a:pt x="180" y="112"/>
                    </a:lnTo>
                    <a:lnTo>
                      <a:pt x="183" y="106"/>
                    </a:lnTo>
                    <a:lnTo>
                      <a:pt x="186" y="102"/>
                    </a:lnTo>
                    <a:lnTo>
                      <a:pt x="197" y="92"/>
                    </a:lnTo>
                    <a:lnTo>
                      <a:pt x="197" y="92"/>
                    </a:lnTo>
                    <a:lnTo>
                      <a:pt x="202" y="86"/>
                    </a:lnTo>
                    <a:lnTo>
                      <a:pt x="205" y="80"/>
                    </a:lnTo>
                    <a:lnTo>
                      <a:pt x="205" y="74"/>
                    </a:lnTo>
                    <a:lnTo>
                      <a:pt x="205" y="74"/>
                    </a:lnTo>
                    <a:lnTo>
                      <a:pt x="208" y="72"/>
                    </a:lnTo>
                    <a:lnTo>
                      <a:pt x="209" y="71"/>
                    </a:lnTo>
                    <a:lnTo>
                      <a:pt x="209" y="71"/>
                    </a:lnTo>
                    <a:lnTo>
                      <a:pt x="214" y="69"/>
                    </a:lnTo>
                    <a:lnTo>
                      <a:pt x="219" y="68"/>
                    </a:lnTo>
                    <a:lnTo>
                      <a:pt x="219" y="68"/>
                    </a:lnTo>
                    <a:lnTo>
                      <a:pt x="228" y="65"/>
                    </a:lnTo>
                    <a:lnTo>
                      <a:pt x="231" y="66"/>
                    </a:lnTo>
                    <a:lnTo>
                      <a:pt x="231" y="66"/>
                    </a:lnTo>
                    <a:lnTo>
                      <a:pt x="237" y="79"/>
                    </a:lnTo>
                    <a:lnTo>
                      <a:pt x="237" y="79"/>
                    </a:lnTo>
                    <a:lnTo>
                      <a:pt x="240" y="83"/>
                    </a:lnTo>
                    <a:lnTo>
                      <a:pt x="250" y="92"/>
                    </a:lnTo>
                    <a:lnTo>
                      <a:pt x="250" y="92"/>
                    </a:lnTo>
                    <a:lnTo>
                      <a:pt x="254" y="99"/>
                    </a:lnTo>
                    <a:lnTo>
                      <a:pt x="256" y="102"/>
                    </a:lnTo>
                    <a:lnTo>
                      <a:pt x="256" y="103"/>
                    </a:lnTo>
                    <a:lnTo>
                      <a:pt x="256" y="105"/>
                    </a:lnTo>
                    <a:lnTo>
                      <a:pt x="256" y="105"/>
                    </a:lnTo>
                    <a:lnTo>
                      <a:pt x="259" y="106"/>
                    </a:lnTo>
                    <a:lnTo>
                      <a:pt x="262" y="108"/>
                    </a:lnTo>
                    <a:lnTo>
                      <a:pt x="262" y="108"/>
                    </a:lnTo>
                    <a:lnTo>
                      <a:pt x="263" y="109"/>
                    </a:lnTo>
                    <a:lnTo>
                      <a:pt x="265" y="111"/>
                    </a:lnTo>
                    <a:lnTo>
                      <a:pt x="266" y="116"/>
                    </a:lnTo>
                    <a:lnTo>
                      <a:pt x="266" y="116"/>
                    </a:lnTo>
                    <a:lnTo>
                      <a:pt x="268" y="119"/>
                    </a:lnTo>
                    <a:lnTo>
                      <a:pt x="266" y="119"/>
                    </a:lnTo>
                    <a:lnTo>
                      <a:pt x="263" y="119"/>
                    </a:lnTo>
                    <a:lnTo>
                      <a:pt x="263" y="119"/>
                    </a:lnTo>
                    <a:lnTo>
                      <a:pt x="260" y="119"/>
                    </a:lnTo>
                    <a:lnTo>
                      <a:pt x="257" y="117"/>
                    </a:lnTo>
                    <a:lnTo>
                      <a:pt x="254" y="114"/>
                    </a:lnTo>
                    <a:lnTo>
                      <a:pt x="251" y="112"/>
                    </a:lnTo>
                    <a:lnTo>
                      <a:pt x="251" y="112"/>
                    </a:lnTo>
                    <a:lnTo>
                      <a:pt x="246" y="109"/>
                    </a:lnTo>
                    <a:lnTo>
                      <a:pt x="240" y="109"/>
                    </a:lnTo>
                    <a:lnTo>
                      <a:pt x="234" y="111"/>
                    </a:lnTo>
                    <a:lnTo>
                      <a:pt x="226" y="117"/>
                    </a:lnTo>
                    <a:lnTo>
                      <a:pt x="226" y="117"/>
                    </a:lnTo>
                    <a:lnTo>
                      <a:pt x="220" y="123"/>
                    </a:lnTo>
                    <a:lnTo>
                      <a:pt x="216" y="125"/>
                    </a:lnTo>
                    <a:lnTo>
                      <a:pt x="211" y="126"/>
                    </a:lnTo>
                    <a:lnTo>
                      <a:pt x="208" y="128"/>
                    </a:lnTo>
                    <a:lnTo>
                      <a:pt x="208" y="128"/>
                    </a:lnTo>
                    <a:lnTo>
                      <a:pt x="202" y="129"/>
                    </a:lnTo>
                    <a:lnTo>
                      <a:pt x="197" y="129"/>
                    </a:lnTo>
                    <a:lnTo>
                      <a:pt x="191" y="128"/>
                    </a:lnTo>
                    <a:lnTo>
                      <a:pt x="186" y="126"/>
                    </a:lnTo>
                    <a:lnTo>
                      <a:pt x="186" y="126"/>
                    </a:lnTo>
                    <a:lnTo>
                      <a:pt x="183" y="123"/>
                    </a:lnTo>
                    <a:lnTo>
                      <a:pt x="182" y="119"/>
                    </a:lnTo>
                    <a:lnTo>
                      <a:pt x="180" y="112"/>
                    </a:lnTo>
                    <a:lnTo>
                      <a:pt x="180" y="112"/>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7" name="Freeform 80"/>
              <p:cNvSpPr/>
              <p:nvPr/>
            </p:nvSpPr>
            <p:spPr bwMode="auto">
              <a:xfrm>
                <a:off x="6484938" y="6637338"/>
                <a:ext cx="220663" cy="477837"/>
              </a:xfrm>
              <a:custGeom>
                <a:avLst/>
                <a:gdLst>
                  <a:gd name="T0" fmla="*/ 4 w 139"/>
                  <a:gd name="T1" fmla="*/ 301 h 301"/>
                  <a:gd name="T2" fmla="*/ 0 w 139"/>
                  <a:gd name="T3" fmla="*/ 291 h 301"/>
                  <a:gd name="T4" fmla="*/ 0 w 139"/>
                  <a:gd name="T5" fmla="*/ 285 h 301"/>
                  <a:gd name="T6" fmla="*/ 3 w 139"/>
                  <a:gd name="T7" fmla="*/ 275 h 301"/>
                  <a:gd name="T8" fmla="*/ 3 w 139"/>
                  <a:gd name="T9" fmla="*/ 267 h 301"/>
                  <a:gd name="T10" fmla="*/ 1 w 139"/>
                  <a:gd name="T11" fmla="*/ 264 h 301"/>
                  <a:gd name="T12" fmla="*/ 0 w 139"/>
                  <a:gd name="T13" fmla="*/ 256 h 301"/>
                  <a:gd name="T14" fmla="*/ 3 w 139"/>
                  <a:gd name="T15" fmla="*/ 251 h 301"/>
                  <a:gd name="T16" fmla="*/ 7 w 139"/>
                  <a:gd name="T17" fmla="*/ 239 h 301"/>
                  <a:gd name="T18" fmla="*/ 7 w 139"/>
                  <a:gd name="T19" fmla="*/ 236 h 301"/>
                  <a:gd name="T20" fmla="*/ 6 w 139"/>
                  <a:gd name="T21" fmla="*/ 230 h 301"/>
                  <a:gd name="T22" fmla="*/ 7 w 139"/>
                  <a:gd name="T23" fmla="*/ 227 h 301"/>
                  <a:gd name="T24" fmla="*/ 12 w 139"/>
                  <a:gd name="T25" fmla="*/ 224 h 301"/>
                  <a:gd name="T26" fmla="*/ 12 w 139"/>
                  <a:gd name="T27" fmla="*/ 221 h 301"/>
                  <a:gd name="T28" fmla="*/ 9 w 139"/>
                  <a:gd name="T29" fmla="*/ 214 h 301"/>
                  <a:gd name="T30" fmla="*/ 11 w 139"/>
                  <a:gd name="T31" fmla="*/ 211 h 301"/>
                  <a:gd name="T32" fmla="*/ 14 w 139"/>
                  <a:gd name="T33" fmla="*/ 207 h 301"/>
                  <a:gd name="T34" fmla="*/ 15 w 139"/>
                  <a:gd name="T35" fmla="*/ 201 h 301"/>
                  <a:gd name="T36" fmla="*/ 14 w 139"/>
                  <a:gd name="T37" fmla="*/ 194 h 301"/>
                  <a:gd name="T38" fmla="*/ 14 w 139"/>
                  <a:gd name="T39" fmla="*/ 191 h 301"/>
                  <a:gd name="T40" fmla="*/ 15 w 139"/>
                  <a:gd name="T41" fmla="*/ 176 h 301"/>
                  <a:gd name="T42" fmla="*/ 17 w 139"/>
                  <a:gd name="T43" fmla="*/ 160 h 301"/>
                  <a:gd name="T44" fmla="*/ 20 w 139"/>
                  <a:gd name="T45" fmla="*/ 143 h 301"/>
                  <a:gd name="T46" fmla="*/ 28 w 139"/>
                  <a:gd name="T47" fmla="*/ 79 h 301"/>
                  <a:gd name="T48" fmla="*/ 32 w 139"/>
                  <a:gd name="T49" fmla="*/ 62 h 301"/>
                  <a:gd name="T50" fmla="*/ 35 w 139"/>
                  <a:gd name="T51" fmla="*/ 49 h 301"/>
                  <a:gd name="T52" fmla="*/ 38 w 139"/>
                  <a:gd name="T53" fmla="*/ 46 h 301"/>
                  <a:gd name="T54" fmla="*/ 40 w 139"/>
                  <a:gd name="T55" fmla="*/ 43 h 301"/>
                  <a:gd name="T56" fmla="*/ 38 w 139"/>
                  <a:gd name="T57" fmla="*/ 36 h 301"/>
                  <a:gd name="T58" fmla="*/ 40 w 139"/>
                  <a:gd name="T59" fmla="*/ 29 h 301"/>
                  <a:gd name="T60" fmla="*/ 38 w 139"/>
                  <a:gd name="T61" fmla="*/ 25 h 301"/>
                  <a:gd name="T62" fmla="*/ 41 w 139"/>
                  <a:gd name="T63" fmla="*/ 19 h 301"/>
                  <a:gd name="T64" fmla="*/ 44 w 139"/>
                  <a:gd name="T65" fmla="*/ 17 h 301"/>
                  <a:gd name="T66" fmla="*/ 44 w 139"/>
                  <a:gd name="T67" fmla="*/ 17 h 301"/>
                  <a:gd name="T68" fmla="*/ 44 w 139"/>
                  <a:gd name="T69" fmla="*/ 23 h 301"/>
                  <a:gd name="T70" fmla="*/ 48 w 139"/>
                  <a:gd name="T71" fmla="*/ 25 h 301"/>
                  <a:gd name="T72" fmla="*/ 55 w 139"/>
                  <a:gd name="T73" fmla="*/ 28 h 301"/>
                  <a:gd name="T74" fmla="*/ 65 w 139"/>
                  <a:gd name="T75" fmla="*/ 25 h 301"/>
                  <a:gd name="T76" fmla="*/ 88 w 139"/>
                  <a:gd name="T77" fmla="*/ 12 h 301"/>
                  <a:gd name="T78" fmla="*/ 97 w 139"/>
                  <a:gd name="T79" fmla="*/ 6 h 301"/>
                  <a:gd name="T80" fmla="*/ 105 w 139"/>
                  <a:gd name="T81" fmla="*/ 0 h 301"/>
                  <a:gd name="T82" fmla="*/ 105 w 139"/>
                  <a:gd name="T83" fmla="*/ 3 h 301"/>
                  <a:gd name="T84" fmla="*/ 103 w 139"/>
                  <a:gd name="T85" fmla="*/ 12 h 301"/>
                  <a:gd name="T86" fmla="*/ 98 w 139"/>
                  <a:gd name="T87" fmla="*/ 26 h 301"/>
                  <a:gd name="T88" fmla="*/ 95 w 139"/>
                  <a:gd name="T89" fmla="*/ 40 h 301"/>
                  <a:gd name="T90" fmla="*/ 94 w 139"/>
                  <a:gd name="T91" fmla="*/ 88 h 301"/>
                  <a:gd name="T92" fmla="*/ 92 w 139"/>
                  <a:gd name="T93" fmla="*/ 96 h 301"/>
                  <a:gd name="T94" fmla="*/ 97 w 139"/>
                  <a:gd name="T95" fmla="*/ 108 h 301"/>
                  <a:gd name="T96" fmla="*/ 112 w 139"/>
                  <a:gd name="T97" fmla="*/ 128 h 301"/>
                  <a:gd name="T98" fmla="*/ 122 w 139"/>
                  <a:gd name="T99" fmla="*/ 147 h 301"/>
                  <a:gd name="T100" fmla="*/ 128 w 139"/>
                  <a:gd name="T101" fmla="*/ 168 h 301"/>
                  <a:gd name="T102" fmla="*/ 132 w 139"/>
                  <a:gd name="T103" fmla="*/ 188 h 301"/>
                  <a:gd name="T104" fmla="*/ 135 w 139"/>
                  <a:gd name="T105" fmla="*/ 242 h 301"/>
                  <a:gd name="T106" fmla="*/ 139 w 139"/>
                  <a:gd name="T107" fmla="*/ 287 h 301"/>
                  <a:gd name="T108" fmla="*/ 105 w 139"/>
                  <a:gd name="T109" fmla="*/ 288 h 301"/>
                  <a:gd name="T110" fmla="*/ 38 w 139"/>
                  <a:gd name="T111" fmla="*/ 296 h 301"/>
                  <a:gd name="T112" fmla="*/ 9 w 139"/>
                  <a:gd name="T113" fmla="*/ 298 h 301"/>
                  <a:gd name="T114" fmla="*/ 4 w 139"/>
                  <a:gd name="T115"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9" h="301">
                    <a:moveTo>
                      <a:pt x="4" y="301"/>
                    </a:moveTo>
                    <a:lnTo>
                      <a:pt x="4" y="301"/>
                    </a:lnTo>
                    <a:lnTo>
                      <a:pt x="1" y="296"/>
                    </a:lnTo>
                    <a:lnTo>
                      <a:pt x="0" y="291"/>
                    </a:lnTo>
                    <a:lnTo>
                      <a:pt x="0" y="285"/>
                    </a:lnTo>
                    <a:lnTo>
                      <a:pt x="0" y="285"/>
                    </a:lnTo>
                    <a:lnTo>
                      <a:pt x="1" y="279"/>
                    </a:lnTo>
                    <a:lnTo>
                      <a:pt x="3" y="275"/>
                    </a:lnTo>
                    <a:lnTo>
                      <a:pt x="4" y="270"/>
                    </a:lnTo>
                    <a:lnTo>
                      <a:pt x="3" y="267"/>
                    </a:lnTo>
                    <a:lnTo>
                      <a:pt x="3" y="267"/>
                    </a:lnTo>
                    <a:lnTo>
                      <a:pt x="1" y="264"/>
                    </a:lnTo>
                    <a:lnTo>
                      <a:pt x="0" y="259"/>
                    </a:lnTo>
                    <a:lnTo>
                      <a:pt x="0" y="256"/>
                    </a:lnTo>
                    <a:lnTo>
                      <a:pt x="3" y="251"/>
                    </a:lnTo>
                    <a:lnTo>
                      <a:pt x="3" y="251"/>
                    </a:lnTo>
                    <a:lnTo>
                      <a:pt x="6" y="242"/>
                    </a:lnTo>
                    <a:lnTo>
                      <a:pt x="7" y="239"/>
                    </a:lnTo>
                    <a:lnTo>
                      <a:pt x="7" y="236"/>
                    </a:lnTo>
                    <a:lnTo>
                      <a:pt x="7" y="236"/>
                    </a:lnTo>
                    <a:lnTo>
                      <a:pt x="6" y="233"/>
                    </a:lnTo>
                    <a:lnTo>
                      <a:pt x="6" y="230"/>
                    </a:lnTo>
                    <a:lnTo>
                      <a:pt x="6" y="230"/>
                    </a:lnTo>
                    <a:lnTo>
                      <a:pt x="7" y="227"/>
                    </a:lnTo>
                    <a:lnTo>
                      <a:pt x="11" y="225"/>
                    </a:lnTo>
                    <a:lnTo>
                      <a:pt x="12" y="224"/>
                    </a:lnTo>
                    <a:lnTo>
                      <a:pt x="12" y="221"/>
                    </a:lnTo>
                    <a:lnTo>
                      <a:pt x="12" y="221"/>
                    </a:lnTo>
                    <a:lnTo>
                      <a:pt x="9" y="216"/>
                    </a:lnTo>
                    <a:lnTo>
                      <a:pt x="9" y="214"/>
                    </a:lnTo>
                    <a:lnTo>
                      <a:pt x="11" y="211"/>
                    </a:lnTo>
                    <a:lnTo>
                      <a:pt x="11" y="211"/>
                    </a:lnTo>
                    <a:lnTo>
                      <a:pt x="12" y="208"/>
                    </a:lnTo>
                    <a:lnTo>
                      <a:pt x="14" y="207"/>
                    </a:lnTo>
                    <a:lnTo>
                      <a:pt x="15" y="205"/>
                    </a:lnTo>
                    <a:lnTo>
                      <a:pt x="15" y="201"/>
                    </a:lnTo>
                    <a:lnTo>
                      <a:pt x="15" y="201"/>
                    </a:lnTo>
                    <a:lnTo>
                      <a:pt x="14" y="194"/>
                    </a:lnTo>
                    <a:lnTo>
                      <a:pt x="14" y="191"/>
                    </a:lnTo>
                    <a:lnTo>
                      <a:pt x="14" y="191"/>
                    </a:lnTo>
                    <a:lnTo>
                      <a:pt x="15" y="185"/>
                    </a:lnTo>
                    <a:lnTo>
                      <a:pt x="15" y="176"/>
                    </a:lnTo>
                    <a:lnTo>
                      <a:pt x="15" y="176"/>
                    </a:lnTo>
                    <a:lnTo>
                      <a:pt x="17" y="160"/>
                    </a:lnTo>
                    <a:lnTo>
                      <a:pt x="20" y="143"/>
                    </a:lnTo>
                    <a:lnTo>
                      <a:pt x="20" y="143"/>
                    </a:lnTo>
                    <a:lnTo>
                      <a:pt x="23" y="111"/>
                    </a:lnTo>
                    <a:lnTo>
                      <a:pt x="28" y="79"/>
                    </a:lnTo>
                    <a:lnTo>
                      <a:pt x="28" y="79"/>
                    </a:lnTo>
                    <a:lnTo>
                      <a:pt x="32" y="62"/>
                    </a:lnTo>
                    <a:lnTo>
                      <a:pt x="34" y="54"/>
                    </a:lnTo>
                    <a:lnTo>
                      <a:pt x="35" y="49"/>
                    </a:lnTo>
                    <a:lnTo>
                      <a:pt x="35" y="49"/>
                    </a:lnTo>
                    <a:lnTo>
                      <a:pt x="38" y="46"/>
                    </a:lnTo>
                    <a:lnTo>
                      <a:pt x="40" y="43"/>
                    </a:lnTo>
                    <a:lnTo>
                      <a:pt x="40" y="43"/>
                    </a:lnTo>
                    <a:lnTo>
                      <a:pt x="38" y="40"/>
                    </a:lnTo>
                    <a:lnTo>
                      <a:pt x="38" y="36"/>
                    </a:lnTo>
                    <a:lnTo>
                      <a:pt x="38" y="36"/>
                    </a:lnTo>
                    <a:lnTo>
                      <a:pt x="40" y="29"/>
                    </a:lnTo>
                    <a:lnTo>
                      <a:pt x="38" y="25"/>
                    </a:lnTo>
                    <a:lnTo>
                      <a:pt x="38" y="25"/>
                    </a:lnTo>
                    <a:lnTo>
                      <a:pt x="40" y="20"/>
                    </a:lnTo>
                    <a:lnTo>
                      <a:pt x="41" y="19"/>
                    </a:lnTo>
                    <a:lnTo>
                      <a:pt x="44" y="17"/>
                    </a:lnTo>
                    <a:lnTo>
                      <a:pt x="44" y="17"/>
                    </a:lnTo>
                    <a:lnTo>
                      <a:pt x="44" y="17"/>
                    </a:lnTo>
                    <a:lnTo>
                      <a:pt x="44" y="17"/>
                    </a:lnTo>
                    <a:lnTo>
                      <a:pt x="43" y="22"/>
                    </a:lnTo>
                    <a:lnTo>
                      <a:pt x="44" y="23"/>
                    </a:lnTo>
                    <a:lnTo>
                      <a:pt x="48" y="25"/>
                    </a:lnTo>
                    <a:lnTo>
                      <a:pt x="48" y="25"/>
                    </a:lnTo>
                    <a:lnTo>
                      <a:pt x="51" y="28"/>
                    </a:lnTo>
                    <a:lnTo>
                      <a:pt x="55" y="28"/>
                    </a:lnTo>
                    <a:lnTo>
                      <a:pt x="60" y="28"/>
                    </a:lnTo>
                    <a:lnTo>
                      <a:pt x="65" y="25"/>
                    </a:lnTo>
                    <a:lnTo>
                      <a:pt x="65" y="25"/>
                    </a:lnTo>
                    <a:lnTo>
                      <a:pt x="88" y="12"/>
                    </a:lnTo>
                    <a:lnTo>
                      <a:pt x="88" y="12"/>
                    </a:lnTo>
                    <a:lnTo>
                      <a:pt x="97" y="6"/>
                    </a:lnTo>
                    <a:lnTo>
                      <a:pt x="102" y="3"/>
                    </a:lnTo>
                    <a:lnTo>
                      <a:pt x="105" y="0"/>
                    </a:lnTo>
                    <a:lnTo>
                      <a:pt x="105" y="0"/>
                    </a:lnTo>
                    <a:lnTo>
                      <a:pt x="105" y="3"/>
                    </a:lnTo>
                    <a:lnTo>
                      <a:pt x="105" y="6"/>
                    </a:lnTo>
                    <a:lnTo>
                      <a:pt x="103" y="12"/>
                    </a:lnTo>
                    <a:lnTo>
                      <a:pt x="103" y="12"/>
                    </a:lnTo>
                    <a:lnTo>
                      <a:pt x="98" y="26"/>
                    </a:lnTo>
                    <a:lnTo>
                      <a:pt x="97" y="33"/>
                    </a:lnTo>
                    <a:lnTo>
                      <a:pt x="95" y="40"/>
                    </a:lnTo>
                    <a:lnTo>
                      <a:pt x="95" y="40"/>
                    </a:lnTo>
                    <a:lnTo>
                      <a:pt x="94" y="88"/>
                    </a:lnTo>
                    <a:lnTo>
                      <a:pt x="94" y="88"/>
                    </a:lnTo>
                    <a:lnTo>
                      <a:pt x="92" y="96"/>
                    </a:lnTo>
                    <a:lnTo>
                      <a:pt x="92" y="102"/>
                    </a:lnTo>
                    <a:lnTo>
                      <a:pt x="97" y="108"/>
                    </a:lnTo>
                    <a:lnTo>
                      <a:pt x="97" y="108"/>
                    </a:lnTo>
                    <a:lnTo>
                      <a:pt x="112" y="128"/>
                    </a:lnTo>
                    <a:lnTo>
                      <a:pt x="118" y="137"/>
                    </a:lnTo>
                    <a:lnTo>
                      <a:pt x="122" y="147"/>
                    </a:lnTo>
                    <a:lnTo>
                      <a:pt x="122" y="147"/>
                    </a:lnTo>
                    <a:lnTo>
                      <a:pt x="128" y="168"/>
                    </a:lnTo>
                    <a:lnTo>
                      <a:pt x="131" y="179"/>
                    </a:lnTo>
                    <a:lnTo>
                      <a:pt x="132" y="188"/>
                    </a:lnTo>
                    <a:lnTo>
                      <a:pt x="132" y="188"/>
                    </a:lnTo>
                    <a:lnTo>
                      <a:pt x="135" y="242"/>
                    </a:lnTo>
                    <a:lnTo>
                      <a:pt x="139" y="287"/>
                    </a:lnTo>
                    <a:lnTo>
                      <a:pt x="139" y="287"/>
                    </a:lnTo>
                    <a:lnTo>
                      <a:pt x="105" y="288"/>
                    </a:lnTo>
                    <a:lnTo>
                      <a:pt x="105" y="288"/>
                    </a:lnTo>
                    <a:lnTo>
                      <a:pt x="38" y="296"/>
                    </a:lnTo>
                    <a:lnTo>
                      <a:pt x="38" y="296"/>
                    </a:lnTo>
                    <a:lnTo>
                      <a:pt x="17" y="298"/>
                    </a:lnTo>
                    <a:lnTo>
                      <a:pt x="9" y="298"/>
                    </a:lnTo>
                    <a:lnTo>
                      <a:pt x="6" y="299"/>
                    </a:lnTo>
                    <a:lnTo>
                      <a:pt x="4" y="301"/>
                    </a:lnTo>
                    <a:lnTo>
                      <a:pt x="4" y="30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1" name="Freeform 81"/>
              <p:cNvSpPr/>
              <p:nvPr/>
            </p:nvSpPr>
            <p:spPr bwMode="auto">
              <a:xfrm>
                <a:off x="6726238" y="6515100"/>
                <a:ext cx="17463" cy="36512"/>
              </a:xfrm>
              <a:custGeom>
                <a:avLst/>
                <a:gdLst>
                  <a:gd name="T0" fmla="*/ 11 w 11"/>
                  <a:gd name="T1" fmla="*/ 0 h 23"/>
                  <a:gd name="T2" fmla="*/ 5 w 11"/>
                  <a:gd name="T3" fmla="*/ 23 h 23"/>
                  <a:gd name="T4" fmla="*/ 5 w 11"/>
                  <a:gd name="T5" fmla="*/ 23 h 23"/>
                  <a:gd name="T6" fmla="*/ 5 w 11"/>
                  <a:gd name="T7" fmla="*/ 23 h 23"/>
                  <a:gd name="T8" fmla="*/ 2 w 11"/>
                  <a:gd name="T9" fmla="*/ 22 h 23"/>
                  <a:gd name="T10" fmla="*/ 2 w 11"/>
                  <a:gd name="T11" fmla="*/ 22 h 23"/>
                  <a:gd name="T12" fmla="*/ 0 w 11"/>
                  <a:gd name="T13" fmla="*/ 22 h 23"/>
                  <a:gd name="T14" fmla="*/ 0 w 11"/>
                  <a:gd name="T15" fmla="*/ 22 h 23"/>
                  <a:gd name="T16" fmla="*/ 0 w 11"/>
                  <a:gd name="T17" fmla="*/ 17 h 23"/>
                  <a:gd name="T18" fmla="*/ 2 w 11"/>
                  <a:gd name="T19" fmla="*/ 12 h 23"/>
                  <a:gd name="T20" fmla="*/ 5 w 11"/>
                  <a:gd name="T21" fmla="*/ 6 h 23"/>
                  <a:gd name="T22" fmla="*/ 11 w 11"/>
                  <a:gd name="T23" fmla="*/ 0 h 23"/>
                  <a:gd name="T24" fmla="*/ 11 w 11"/>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 h="23">
                    <a:moveTo>
                      <a:pt x="11" y="0"/>
                    </a:moveTo>
                    <a:lnTo>
                      <a:pt x="5" y="23"/>
                    </a:lnTo>
                    <a:lnTo>
                      <a:pt x="5" y="23"/>
                    </a:lnTo>
                    <a:lnTo>
                      <a:pt x="5" y="23"/>
                    </a:lnTo>
                    <a:lnTo>
                      <a:pt x="2" y="22"/>
                    </a:lnTo>
                    <a:lnTo>
                      <a:pt x="2" y="22"/>
                    </a:lnTo>
                    <a:lnTo>
                      <a:pt x="0" y="22"/>
                    </a:lnTo>
                    <a:lnTo>
                      <a:pt x="0" y="22"/>
                    </a:lnTo>
                    <a:lnTo>
                      <a:pt x="0" y="17"/>
                    </a:lnTo>
                    <a:lnTo>
                      <a:pt x="2" y="12"/>
                    </a:lnTo>
                    <a:lnTo>
                      <a:pt x="5" y="6"/>
                    </a:lnTo>
                    <a:lnTo>
                      <a:pt x="11" y="0"/>
                    </a:ln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3" name="Freeform 82"/>
              <p:cNvSpPr/>
              <p:nvPr/>
            </p:nvSpPr>
            <p:spPr bwMode="auto">
              <a:xfrm>
                <a:off x="6445251" y="7105650"/>
                <a:ext cx="39688" cy="38100"/>
              </a:xfrm>
              <a:custGeom>
                <a:avLst/>
                <a:gdLst>
                  <a:gd name="T0" fmla="*/ 8 w 25"/>
                  <a:gd name="T1" fmla="*/ 24 h 24"/>
                  <a:gd name="T2" fmla="*/ 8 w 25"/>
                  <a:gd name="T3" fmla="*/ 24 h 24"/>
                  <a:gd name="T4" fmla="*/ 5 w 25"/>
                  <a:gd name="T5" fmla="*/ 24 h 24"/>
                  <a:gd name="T6" fmla="*/ 3 w 25"/>
                  <a:gd name="T7" fmla="*/ 24 h 24"/>
                  <a:gd name="T8" fmla="*/ 2 w 25"/>
                  <a:gd name="T9" fmla="*/ 24 h 24"/>
                  <a:gd name="T10" fmla="*/ 2 w 25"/>
                  <a:gd name="T11" fmla="*/ 24 h 24"/>
                  <a:gd name="T12" fmla="*/ 0 w 25"/>
                  <a:gd name="T13" fmla="*/ 21 h 24"/>
                  <a:gd name="T14" fmla="*/ 0 w 25"/>
                  <a:gd name="T15" fmla="*/ 17 h 24"/>
                  <a:gd name="T16" fmla="*/ 0 w 25"/>
                  <a:gd name="T17" fmla="*/ 12 h 24"/>
                  <a:gd name="T18" fmla="*/ 3 w 25"/>
                  <a:gd name="T19" fmla="*/ 6 h 24"/>
                  <a:gd name="T20" fmla="*/ 3 w 25"/>
                  <a:gd name="T21" fmla="*/ 6 h 24"/>
                  <a:gd name="T22" fmla="*/ 6 w 25"/>
                  <a:gd name="T23" fmla="*/ 3 h 24"/>
                  <a:gd name="T24" fmla="*/ 9 w 25"/>
                  <a:gd name="T25" fmla="*/ 1 h 24"/>
                  <a:gd name="T26" fmla="*/ 16 w 25"/>
                  <a:gd name="T27" fmla="*/ 0 h 24"/>
                  <a:gd name="T28" fmla="*/ 22 w 25"/>
                  <a:gd name="T29" fmla="*/ 1 h 24"/>
                  <a:gd name="T30" fmla="*/ 23 w 25"/>
                  <a:gd name="T31" fmla="*/ 3 h 24"/>
                  <a:gd name="T32" fmla="*/ 25 w 25"/>
                  <a:gd name="T33" fmla="*/ 6 h 24"/>
                  <a:gd name="T34" fmla="*/ 25 w 25"/>
                  <a:gd name="T35" fmla="*/ 6 h 24"/>
                  <a:gd name="T36" fmla="*/ 23 w 25"/>
                  <a:gd name="T37" fmla="*/ 4 h 24"/>
                  <a:gd name="T38" fmla="*/ 19 w 25"/>
                  <a:gd name="T39" fmla="*/ 3 h 24"/>
                  <a:gd name="T40" fmla="*/ 14 w 25"/>
                  <a:gd name="T41" fmla="*/ 3 h 24"/>
                  <a:gd name="T42" fmla="*/ 11 w 25"/>
                  <a:gd name="T43" fmla="*/ 4 h 24"/>
                  <a:gd name="T44" fmla="*/ 8 w 25"/>
                  <a:gd name="T45" fmla="*/ 6 h 24"/>
                  <a:gd name="T46" fmla="*/ 8 w 25"/>
                  <a:gd name="T47" fmla="*/ 6 h 24"/>
                  <a:gd name="T48" fmla="*/ 5 w 25"/>
                  <a:gd name="T49" fmla="*/ 13 h 24"/>
                  <a:gd name="T50" fmla="*/ 3 w 25"/>
                  <a:gd name="T51" fmla="*/ 18 h 24"/>
                  <a:gd name="T52" fmla="*/ 5 w 25"/>
                  <a:gd name="T53" fmla="*/ 21 h 24"/>
                  <a:gd name="T54" fmla="*/ 8 w 25"/>
                  <a:gd name="T55" fmla="*/ 24 h 24"/>
                  <a:gd name="T56" fmla="*/ 8 w 25"/>
                  <a:gd name="T5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 h="24">
                    <a:moveTo>
                      <a:pt x="8" y="24"/>
                    </a:moveTo>
                    <a:lnTo>
                      <a:pt x="8" y="24"/>
                    </a:lnTo>
                    <a:lnTo>
                      <a:pt x="5" y="24"/>
                    </a:lnTo>
                    <a:lnTo>
                      <a:pt x="3" y="24"/>
                    </a:lnTo>
                    <a:lnTo>
                      <a:pt x="2" y="24"/>
                    </a:lnTo>
                    <a:lnTo>
                      <a:pt x="2" y="24"/>
                    </a:lnTo>
                    <a:lnTo>
                      <a:pt x="0" y="21"/>
                    </a:lnTo>
                    <a:lnTo>
                      <a:pt x="0" y="17"/>
                    </a:lnTo>
                    <a:lnTo>
                      <a:pt x="0" y="12"/>
                    </a:lnTo>
                    <a:lnTo>
                      <a:pt x="3" y="6"/>
                    </a:lnTo>
                    <a:lnTo>
                      <a:pt x="3" y="6"/>
                    </a:lnTo>
                    <a:lnTo>
                      <a:pt x="6" y="3"/>
                    </a:lnTo>
                    <a:lnTo>
                      <a:pt x="9" y="1"/>
                    </a:lnTo>
                    <a:lnTo>
                      <a:pt x="16" y="0"/>
                    </a:lnTo>
                    <a:lnTo>
                      <a:pt x="22" y="1"/>
                    </a:lnTo>
                    <a:lnTo>
                      <a:pt x="23" y="3"/>
                    </a:lnTo>
                    <a:lnTo>
                      <a:pt x="25" y="6"/>
                    </a:lnTo>
                    <a:lnTo>
                      <a:pt x="25" y="6"/>
                    </a:lnTo>
                    <a:lnTo>
                      <a:pt x="23" y="4"/>
                    </a:lnTo>
                    <a:lnTo>
                      <a:pt x="19" y="3"/>
                    </a:lnTo>
                    <a:lnTo>
                      <a:pt x="14" y="3"/>
                    </a:lnTo>
                    <a:lnTo>
                      <a:pt x="11" y="4"/>
                    </a:lnTo>
                    <a:lnTo>
                      <a:pt x="8" y="6"/>
                    </a:lnTo>
                    <a:lnTo>
                      <a:pt x="8" y="6"/>
                    </a:lnTo>
                    <a:lnTo>
                      <a:pt x="5" y="13"/>
                    </a:lnTo>
                    <a:lnTo>
                      <a:pt x="3" y="18"/>
                    </a:lnTo>
                    <a:lnTo>
                      <a:pt x="5" y="21"/>
                    </a:lnTo>
                    <a:lnTo>
                      <a:pt x="8" y="24"/>
                    </a:lnTo>
                    <a:lnTo>
                      <a:pt x="8" y="2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4" name="Freeform 83"/>
              <p:cNvSpPr/>
              <p:nvPr/>
            </p:nvSpPr>
            <p:spPr bwMode="auto">
              <a:xfrm>
                <a:off x="6526213" y="6689725"/>
                <a:ext cx="63500" cy="349250"/>
              </a:xfrm>
              <a:custGeom>
                <a:avLst/>
                <a:gdLst>
                  <a:gd name="T0" fmla="*/ 40 w 40"/>
                  <a:gd name="T1" fmla="*/ 9 h 220"/>
                  <a:gd name="T2" fmla="*/ 40 w 40"/>
                  <a:gd name="T3" fmla="*/ 9 h 220"/>
                  <a:gd name="T4" fmla="*/ 39 w 40"/>
                  <a:gd name="T5" fmla="*/ 4 h 220"/>
                  <a:gd name="T6" fmla="*/ 35 w 40"/>
                  <a:gd name="T7" fmla="*/ 1 h 220"/>
                  <a:gd name="T8" fmla="*/ 34 w 40"/>
                  <a:gd name="T9" fmla="*/ 0 h 220"/>
                  <a:gd name="T10" fmla="*/ 34 w 40"/>
                  <a:gd name="T11" fmla="*/ 0 h 220"/>
                  <a:gd name="T12" fmla="*/ 29 w 40"/>
                  <a:gd name="T13" fmla="*/ 1 h 220"/>
                  <a:gd name="T14" fmla="*/ 28 w 40"/>
                  <a:gd name="T15" fmla="*/ 3 h 220"/>
                  <a:gd name="T16" fmla="*/ 26 w 40"/>
                  <a:gd name="T17" fmla="*/ 6 h 220"/>
                  <a:gd name="T18" fmla="*/ 26 w 40"/>
                  <a:gd name="T19" fmla="*/ 6 h 220"/>
                  <a:gd name="T20" fmla="*/ 23 w 40"/>
                  <a:gd name="T21" fmla="*/ 13 h 220"/>
                  <a:gd name="T22" fmla="*/ 20 w 40"/>
                  <a:gd name="T23" fmla="*/ 20 h 220"/>
                  <a:gd name="T24" fmla="*/ 20 w 40"/>
                  <a:gd name="T25" fmla="*/ 20 h 220"/>
                  <a:gd name="T26" fmla="*/ 15 w 40"/>
                  <a:gd name="T27" fmla="*/ 33 h 220"/>
                  <a:gd name="T28" fmla="*/ 12 w 40"/>
                  <a:gd name="T29" fmla="*/ 43 h 220"/>
                  <a:gd name="T30" fmla="*/ 11 w 40"/>
                  <a:gd name="T31" fmla="*/ 52 h 220"/>
                  <a:gd name="T32" fmla="*/ 11 w 40"/>
                  <a:gd name="T33" fmla="*/ 52 h 220"/>
                  <a:gd name="T34" fmla="*/ 5 w 40"/>
                  <a:gd name="T35" fmla="*/ 98 h 220"/>
                  <a:gd name="T36" fmla="*/ 2 w 40"/>
                  <a:gd name="T37" fmla="*/ 149 h 220"/>
                  <a:gd name="T38" fmla="*/ 2 w 40"/>
                  <a:gd name="T39" fmla="*/ 149 h 220"/>
                  <a:gd name="T40" fmla="*/ 0 w 40"/>
                  <a:gd name="T41" fmla="*/ 205 h 220"/>
                  <a:gd name="T42" fmla="*/ 15 w 40"/>
                  <a:gd name="T43" fmla="*/ 220 h 220"/>
                  <a:gd name="T44" fmla="*/ 37 w 40"/>
                  <a:gd name="T45" fmla="*/ 203 h 220"/>
                  <a:gd name="T46" fmla="*/ 37 w 40"/>
                  <a:gd name="T47" fmla="*/ 203 h 220"/>
                  <a:gd name="T48" fmla="*/ 37 w 40"/>
                  <a:gd name="T49" fmla="*/ 124 h 220"/>
                  <a:gd name="T50" fmla="*/ 37 w 40"/>
                  <a:gd name="T51" fmla="*/ 124 h 220"/>
                  <a:gd name="T52" fmla="*/ 37 w 40"/>
                  <a:gd name="T53" fmla="*/ 70 h 220"/>
                  <a:gd name="T54" fmla="*/ 37 w 40"/>
                  <a:gd name="T55" fmla="*/ 23 h 220"/>
                  <a:gd name="T56" fmla="*/ 37 w 40"/>
                  <a:gd name="T57" fmla="*/ 23 h 220"/>
                  <a:gd name="T58" fmla="*/ 32 w 40"/>
                  <a:gd name="T59" fmla="*/ 16 h 220"/>
                  <a:gd name="T60" fmla="*/ 32 w 40"/>
                  <a:gd name="T61" fmla="*/ 16 h 220"/>
                  <a:gd name="T62" fmla="*/ 37 w 40"/>
                  <a:gd name="T63" fmla="*/ 13 h 220"/>
                  <a:gd name="T64" fmla="*/ 39 w 40"/>
                  <a:gd name="T65" fmla="*/ 10 h 220"/>
                  <a:gd name="T66" fmla="*/ 40 w 40"/>
                  <a:gd name="T67" fmla="*/ 9 h 220"/>
                  <a:gd name="T68" fmla="*/ 40 w 40"/>
                  <a:gd name="T69" fmla="*/ 9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 h="220">
                    <a:moveTo>
                      <a:pt x="40" y="9"/>
                    </a:moveTo>
                    <a:lnTo>
                      <a:pt x="40" y="9"/>
                    </a:lnTo>
                    <a:lnTo>
                      <a:pt x="39" y="4"/>
                    </a:lnTo>
                    <a:lnTo>
                      <a:pt x="35" y="1"/>
                    </a:lnTo>
                    <a:lnTo>
                      <a:pt x="34" y="0"/>
                    </a:lnTo>
                    <a:lnTo>
                      <a:pt x="34" y="0"/>
                    </a:lnTo>
                    <a:lnTo>
                      <a:pt x="29" y="1"/>
                    </a:lnTo>
                    <a:lnTo>
                      <a:pt x="28" y="3"/>
                    </a:lnTo>
                    <a:lnTo>
                      <a:pt x="26" y="6"/>
                    </a:lnTo>
                    <a:lnTo>
                      <a:pt x="26" y="6"/>
                    </a:lnTo>
                    <a:lnTo>
                      <a:pt x="23" y="13"/>
                    </a:lnTo>
                    <a:lnTo>
                      <a:pt x="20" y="20"/>
                    </a:lnTo>
                    <a:lnTo>
                      <a:pt x="20" y="20"/>
                    </a:lnTo>
                    <a:lnTo>
                      <a:pt x="15" y="33"/>
                    </a:lnTo>
                    <a:lnTo>
                      <a:pt x="12" y="43"/>
                    </a:lnTo>
                    <a:lnTo>
                      <a:pt x="11" y="52"/>
                    </a:lnTo>
                    <a:lnTo>
                      <a:pt x="11" y="52"/>
                    </a:lnTo>
                    <a:lnTo>
                      <a:pt x="5" y="98"/>
                    </a:lnTo>
                    <a:lnTo>
                      <a:pt x="2" y="149"/>
                    </a:lnTo>
                    <a:lnTo>
                      <a:pt x="2" y="149"/>
                    </a:lnTo>
                    <a:lnTo>
                      <a:pt x="0" y="205"/>
                    </a:lnTo>
                    <a:lnTo>
                      <a:pt x="15" y="220"/>
                    </a:lnTo>
                    <a:lnTo>
                      <a:pt x="37" y="203"/>
                    </a:lnTo>
                    <a:lnTo>
                      <a:pt x="37" y="203"/>
                    </a:lnTo>
                    <a:lnTo>
                      <a:pt x="37" y="124"/>
                    </a:lnTo>
                    <a:lnTo>
                      <a:pt x="37" y="124"/>
                    </a:lnTo>
                    <a:lnTo>
                      <a:pt x="37" y="70"/>
                    </a:lnTo>
                    <a:lnTo>
                      <a:pt x="37" y="23"/>
                    </a:lnTo>
                    <a:lnTo>
                      <a:pt x="37" y="23"/>
                    </a:lnTo>
                    <a:lnTo>
                      <a:pt x="32" y="16"/>
                    </a:lnTo>
                    <a:lnTo>
                      <a:pt x="32" y="16"/>
                    </a:lnTo>
                    <a:lnTo>
                      <a:pt x="37" y="13"/>
                    </a:lnTo>
                    <a:lnTo>
                      <a:pt x="39" y="10"/>
                    </a:lnTo>
                    <a:lnTo>
                      <a:pt x="40" y="9"/>
                    </a:lnTo>
                    <a:lnTo>
                      <a:pt x="40" y="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32" name="Group 484"/>
            <p:cNvGrpSpPr/>
            <p:nvPr/>
          </p:nvGrpSpPr>
          <p:grpSpPr>
            <a:xfrm>
              <a:off x="10891316" y="1501299"/>
              <a:ext cx="614957" cy="1318366"/>
              <a:chOff x="5473701" y="6442075"/>
              <a:chExt cx="695325" cy="1490662"/>
            </a:xfrm>
          </p:grpSpPr>
          <p:sp>
            <p:nvSpPr>
              <p:cNvPr id="36" name="Freeform 73"/>
              <p:cNvSpPr/>
              <p:nvPr/>
            </p:nvSpPr>
            <p:spPr bwMode="auto">
              <a:xfrm>
                <a:off x="5722938" y="7569200"/>
                <a:ext cx="3175" cy="11112"/>
              </a:xfrm>
              <a:custGeom>
                <a:avLst/>
                <a:gdLst>
                  <a:gd name="T0" fmla="*/ 0 w 2"/>
                  <a:gd name="T1" fmla="*/ 7 h 7"/>
                  <a:gd name="T2" fmla="*/ 0 w 2"/>
                  <a:gd name="T3" fmla="*/ 7 h 7"/>
                  <a:gd name="T4" fmla="*/ 2 w 2"/>
                  <a:gd name="T5" fmla="*/ 0 h 7"/>
                  <a:gd name="T6" fmla="*/ 2 w 2"/>
                  <a:gd name="T7" fmla="*/ 0 h 7"/>
                  <a:gd name="T8" fmla="*/ 0 w 2"/>
                  <a:gd name="T9" fmla="*/ 7 h 7"/>
                  <a:gd name="T10" fmla="*/ 0 w 2"/>
                  <a:gd name="T11" fmla="*/ 7 h 7"/>
                </a:gdLst>
                <a:ahLst/>
                <a:cxnLst>
                  <a:cxn ang="0">
                    <a:pos x="T0" y="T1"/>
                  </a:cxn>
                  <a:cxn ang="0">
                    <a:pos x="T2" y="T3"/>
                  </a:cxn>
                  <a:cxn ang="0">
                    <a:pos x="T4" y="T5"/>
                  </a:cxn>
                  <a:cxn ang="0">
                    <a:pos x="T6" y="T7"/>
                  </a:cxn>
                  <a:cxn ang="0">
                    <a:pos x="T8" y="T9"/>
                  </a:cxn>
                  <a:cxn ang="0">
                    <a:pos x="T10" y="T11"/>
                  </a:cxn>
                </a:cxnLst>
                <a:rect l="0" t="0" r="r" b="b"/>
                <a:pathLst>
                  <a:path w="2" h="7">
                    <a:moveTo>
                      <a:pt x="0" y="7"/>
                    </a:moveTo>
                    <a:lnTo>
                      <a:pt x="0" y="7"/>
                    </a:lnTo>
                    <a:lnTo>
                      <a:pt x="2" y="0"/>
                    </a:lnTo>
                    <a:lnTo>
                      <a:pt x="2" y="0"/>
                    </a:lnTo>
                    <a:lnTo>
                      <a:pt x="0" y="7"/>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7" name="Freeform 74"/>
              <p:cNvSpPr/>
              <p:nvPr/>
            </p:nvSpPr>
            <p:spPr bwMode="auto">
              <a:xfrm>
                <a:off x="6111876" y="6958013"/>
                <a:ext cx="3175" cy="3175"/>
              </a:xfrm>
              <a:custGeom>
                <a:avLst/>
                <a:gdLst>
                  <a:gd name="T0" fmla="*/ 2 w 2"/>
                  <a:gd name="T1" fmla="*/ 0 h 2"/>
                  <a:gd name="T2" fmla="*/ 2 w 2"/>
                  <a:gd name="T3" fmla="*/ 0 h 2"/>
                  <a:gd name="T4" fmla="*/ 2 w 2"/>
                  <a:gd name="T5" fmla="*/ 0 h 2"/>
                  <a:gd name="T6" fmla="*/ 2 w 2"/>
                  <a:gd name="T7" fmla="*/ 0 h 2"/>
                  <a:gd name="T8" fmla="*/ 0 w 2"/>
                  <a:gd name="T9" fmla="*/ 2 h 2"/>
                  <a:gd name="T10" fmla="*/ 0 w 2"/>
                  <a:gd name="T11" fmla="*/ 2 h 2"/>
                  <a:gd name="T12" fmla="*/ 2 w 2"/>
                  <a:gd name="T13" fmla="*/ 2 h 2"/>
                  <a:gd name="T14" fmla="*/ 2 w 2"/>
                  <a:gd name="T15" fmla="*/ 2 h 2"/>
                  <a:gd name="T16" fmla="*/ 2 w 2"/>
                  <a:gd name="T17" fmla="*/ 0 h 2"/>
                  <a:gd name="T18" fmla="*/ 2 w 2"/>
                  <a:gd name="T19"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 h="2">
                    <a:moveTo>
                      <a:pt x="2" y="0"/>
                    </a:moveTo>
                    <a:lnTo>
                      <a:pt x="2" y="0"/>
                    </a:lnTo>
                    <a:lnTo>
                      <a:pt x="2" y="0"/>
                    </a:lnTo>
                    <a:lnTo>
                      <a:pt x="2" y="0"/>
                    </a:lnTo>
                    <a:lnTo>
                      <a:pt x="0" y="2"/>
                    </a:lnTo>
                    <a:lnTo>
                      <a:pt x="0" y="2"/>
                    </a:lnTo>
                    <a:lnTo>
                      <a:pt x="2" y="2"/>
                    </a:lnTo>
                    <a:lnTo>
                      <a:pt x="2" y="2"/>
                    </a:lnTo>
                    <a:lnTo>
                      <a:pt x="2"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8" name="Freeform 75"/>
              <p:cNvSpPr/>
              <p:nvPr/>
            </p:nvSpPr>
            <p:spPr bwMode="auto">
              <a:xfrm>
                <a:off x="5973763" y="6994525"/>
                <a:ext cx="36513" cy="36512"/>
              </a:xfrm>
              <a:custGeom>
                <a:avLst/>
                <a:gdLst>
                  <a:gd name="T0" fmla="*/ 10 w 23"/>
                  <a:gd name="T1" fmla="*/ 19 h 23"/>
                  <a:gd name="T2" fmla="*/ 10 w 23"/>
                  <a:gd name="T3" fmla="*/ 19 h 23"/>
                  <a:gd name="T4" fmla="*/ 9 w 23"/>
                  <a:gd name="T5" fmla="*/ 17 h 23"/>
                  <a:gd name="T6" fmla="*/ 7 w 23"/>
                  <a:gd name="T7" fmla="*/ 14 h 23"/>
                  <a:gd name="T8" fmla="*/ 7 w 23"/>
                  <a:gd name="T9" fmla="*/ 6 h 23"/>
                  <a:gd name="T10" fmla="*/ 7 w 23"/>
                  <a:gd name="T11" fmla="*/ 6 h 23"/>
                  <a:gd name="T12" fmla="*/ 7 w 23"/>
                  <a:gd name="T13" fmla="*/ 5 h 23"/>
                  <a:gd name="T14" fmla="*/ 7 w 23"/>
                  <a:gd name="T15" fmla="*/ 5 h 23"/>
                  <a:gd name="T16" fmla="*/ 7 w 23"/>
                  <a:gd name="T17" fmla="*/ 0 h 23"/>
                  <a:gd name="T18" fmla="*/ 7 w 23"/>
                  <a:gd name="T19" fmla="*/ 0 h 23"/>
                  <a:gd name="T20" fmla="*/ 6 w 23"/>
                  <a:gd name="T21" fmla="*/ 0 h 23"/>
                  <a:gd name="T22" fmla="*/ 6 w 23"/>
                  <a:gd name="T23" fmla="*/ 0 h 23"/>
                  <a:gd name="T24" fmla="*/ 3 w 23"/>
                  <a:gd name="T25" fmla="*/ 3 h 23"/>
                  <a:gd name="T26" fmla="*/ 1 w 23"/>
                  <a:gd name="T27" fmla="*/ 11 h 23"/>
                  <a:gd name="T28" fmla="*/ 0 w 23"/>
                  <a:gd name="T29" fmla="*/ 20 h 23"/>
                  <a:gd name="T30" fmla="*/ 0 w 23"/>
                  <a:gd name="T31" fmla="*/ 20 h 23"/>
                  <a:gd name="T32" fmla="*/ 0 w 23"/>
                  <a:gd name="T33" fmla="*/ 22 h 23"/>
                  <a:gd name="T34" fmla="*/ 1 w 23"/>
                  <a:gd name="T35" fmla="*/ 23 h 23"/>
                  <a:gd name="T36" fmla="*/ 10 w 23"/>
                  <a:gd name="T37" fmla="*/ 23 h 23"/>
                  <a:gd name="T38" fmla="*/ 10 w 23"/>
                  <a:gd name="T39" fmla="*/ 23 h 23"/>
                  <a:gd name="T40" fmla="*/ 18 w 23"/>
                  <a:gd name="T41" fmla="*/ 22 h 23"/>
                  <a:gd name="T42" fmla="*/ 23 w 23"/>
                  <a:gd name="T43" fmla="*/ 20 h 23"/>
                  <a:gd name="T44" fmla="*/ 23 w 23"/>
                  <a:gd name="T45" fmla="*/ 20 h 23"/>
                  <a:gd name="T46" fmla="*/ 23 w 23"/>
                  <a:gd name="T47" fmla="*/ 20 h 23"/>
                  <a:gd name="T48" fmla="*/ 23 w 23"/>
                  <a:gd name="T49" fmla="*/ 20 h 23"/>
                  <a:gd name="T50" fmla="*/ 23 w 23"/>
                  <a:gd name="T51" fmla="*/ 20 h 23"/>
                  <a:gd name="T52" fmla="*/ 17 w 23"/>
                  <a:gd name="T53" fmla="*/ 20 h 23"/>
                  <a:gd name="T54" fmla="*/ 10 w 23"/>
                  <a:gd name="T55" fmla="*/ 19 h 23"/>
                  <a:gd name="T56" fmla="*/ 10 w 23"/>
                  <a:gd name="T57"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 h="23">
                    <a:moveTo>
                      <a:pt x="10" y="19"/>
                    </a:moveTo>
                    <a:lnTo>
                      <a:pt x="10" y="19"/>
                    </a:lnTo>
                    <a:lnTo>
                      <a:pt x="9" y="17"/>
                    </a:lnTo>
                    <a:lnTo>
                      <a:pt x="7" y="14"/>
                    </a:lnTo>
                    <a:lnTo>
                      <a:pt x="7" y="6"/>
                    </a:lnTo>
                    <a:lnTo>
                      <a:pt x="7" y="6"/>
                    </a:lnTo>
                    <a:lnTo>
                      <a:pt x="7" y="5"/>
                    </a:lnTo>
                    <a:lnTo>
                      <a:pt x="7" y="5"/>
                    </a:lnTo>
                    <a:lnTo>
                      <a:pt x="7" y="0"/>
                    </a:lnTo>
                    <a:lnTo>
                      <a:pt x="7" y="0"/>
                    </a:lnTo>
                    <a:lnTo>
                      <a:pt x="6" y="0"/>
                    </a:lnTo>
                    <a:lnTo>
                      <a:pt x="6" y="0"/>
                    </a:lnTo>
                    <a:lnTo>
                      <a:pt x="3" y="3"/>
                    </a:lnTo>
                    <a:lnTo>
                      <a:pt x="1" y="11"/>
                    </a:lnTo>
                    <a:lnTo>
                      <a:pt x="0" y="20"/>
                    </a:lnTo>
                    <a:lnTo>
                      <a:pt x="0" y="20"/>
                    </a:lnTo>
                    <a:lnTo>
                      <a:pt x="0" y="22"/>
                    </a:lnTo>
                    <a:lnTo>
                      <a:pt x="1" y="23"/>
                    </a:lnTo>
                    <a:lnTo>
                      <a:pt x="10" y="23"/>
                    </a:lnTo>
                    <a:lnTo>
                      <a:pt x="10" y="23"/>
                    </a:lnTo>
                    <a:lnTo>
                      <a:pt x="18" y="22"/>
                    </a:lnTo>
                    <a:lnTo>
                      <a:pt x="23" y="20"/>
                    </a:lnTo>
                    <a:lnTo>
                      <a:pt x="23" y="20"/>
                    </a:lnTo>
                    <a:lnTo>
                      <a:pt x="23" y="20"/>
                    </a:lnTo>
                    <a:lnTo>
                      <a:pt x="23" y="20"/>
                    </a:lnTo>
                    <a:lnTo>
                      <a:pt x="23" y="20"/>
                    </a:lnTo>
                    <a:lnTo>
                      <a:pt x="17" y="20"/>
                    </a:lnTo>
                    <a:lnTo>
                      <a:pt x="10" y="19"/>
                    </a:lnTo>
                    <a:lnTo>
                      <a:pt x="1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9" name="Freeform 76"/>
              <p:cNvSpPr>
                <a:spLocks noEditPoints="1"/>
              </p:cNvSpPr>
              <p:nvPr/>
            </p:nvSpPr>
            <p:spPr bwMode="auto">
              <a:xfrm>
                <a:off x="5473701" y="6442075"/>
                <a:ext cx="641350" cy="1490662"/>
              </a:xfrm>
              <a:custGeom>
                <a:avLst/>
                <a:gdLst>
                  <a:gd name="T0" fmla="*/ 318 w 404"/>
                  <a:gd name="T1" fmla="*/ 351 h 939"/>
                  <a:gd name="T2" fmla="*/ 207 w 404"/>
                  <a:gd name="T3" fmla="*/ 328 h 939"/>
                  <a:gd name="T4" fmla="*/ 265 w 404"/>
                  <a:gd name="T5" fmla="*/ 314 h 939"/>
                  <a:gd name="T6" fmla="*/ 284 w 404"/>
                  <a:gd name="T7" fmla="*/ 320 h 939"/>
                  <a:gd name="T8" fmla="*/ 296 w 404"/>
                  <a:gd name="T9" fmla="*/ 317 h 939"/>
                  <a:gd name="T10" fmla="*/ 291 w 404"/>
                  <a:gd name="T11" fmla="*/ 303 h 939"/>
                  <a:gd name="T12" fmla="*/ 271 w 404"/>
                  <a:gd name="T13" fmla="*/ 285 h 939"/>
                  <a:gd name="T14" fmla="*/ 225 w 404"/>
                  <a:gd name="T15" fmla="*/ 200 h 939"/>
                  <a:gd name="T16" fmla="*/ 177 w 404"/>
                  <a:gd name="T17" fmla="*/ 163 h 939"/>
                  <a:gd name="T18" fmla="*/ 176 w 404"/>
                  <a:gd name="T19" fmla="*/ 143 h 939"/>
                  <a:gd name="T20" fmla="*/ 187 w 404"/>
                  <a:gd name="T21" fmla="*/ 132 h 939"/>
                  <a:gd name="T22" fmla="*/ 197 w 404"/>
                  <a:gd name="T23" fmla="*/ 120 h 939"/>
                  <a:gd name="T24" fmla="*/ 196 w 404"/>
                  <a:gd name="T25" fmla="*/ 97 h 939"/>
                  <a:gd name="T26" fmla="*/ 208 w 404"/>
                  <a:gd name="T27" fmla="*/ 68 h 939"/>
                  <a:gd name="T28" fmla="*/ 205 w 404"/>
                  <a:gd name="T29" fmla="*/ 35 h 939"/>
                  <a:gd name="T30" fmla="*/ 145 w 404"/>
                  <a:gd name="T31" fmla="*/ 0 h 939"/>
                  <a:gd name="T32" fmla="*/ 100 w 404"/>
                  <a:gd name="T33" fmla="*/ 45 h 939"/>
                  <a:gd name="T34" fmla="*/ 102 w 404"/>
                  <a:gd name="T35" fmla="*/ 105 h 939"/>
                  <a:gd name="T36" fmla="*/ 85 w 404"/>
                  <a:gd name="T37" fmla="*/ 120 h 939"/>
                  <a:gd name="T38" fmla="*/ 49 w 404"/>
                  <a:gd name="T39" fmla="*/ 142 h 939"/>
                  <a:gd name="T40" fmla="*/ 19 w 404"/>
                  <a:gd name="T41" fmla="*/ 152 h 939"/>
                  <a:gd name="T42" fmla="*/ 0 w 404"/>
                  <a:gd name="T43" fmla="*/ 185 h 939"/>
                  <a:gd name="T44" fmla="*/ 8 w 404"/>
                  <a:gd name="T45" fmla="*/ 242 h 939"/>
                  <a:gd name="T46" fmla="*/ 53 w 404"/>
                  <a:gd name="T47" fmla="*/ 356 h 939"/>
                  <a:gd name="T48" fmla="*/ 45 w 404"/>
                  <a:gd name="T49" fmla="*/ 458 h 939"/>
                  <a:gd name="T50" fmla="*/ 65 w 404"/>
                  <a:gd name="T51" fmla="*/ 559 h 939"/>
                  <a:gd name="T52" fmla="*/ 88 w 404"/>
                  <a:gd name="T53" fmla="*/ 743 h 939"/>
                  <a:gd name="T54" fmla="*/ 99 w 404"/>
                  <a:gd name="T55" fmla="*/ 848 h 939"/>
                  <a:gd name="T56" fmla="*/ 94 w 404"/>
                  <a:gd name="T57" fmla="*/ 869 h 939"/>
                  <a:gd name="T58" fmla="*/ 93 w 404"/>
                  <a:gd name="T59" fmla="*/ 909 h 939"/>
                  <a:gd name="T60" fmla="*/ 128 w 404"/>
                  <a:gd name="T61" fmla="*/ 939 h 939"/>
                  <a:gd name="T62" fmla="*/ 162 w 404"/>
                  <a:gd name="T63" fmla="*/ 914 h 939"/>
                  <a:gd name="T64" fmla="*/ 164 w 404"/>
                  <a:gd name="T65" fmla="*/ 882 h 939"/>
                  <a:gd name="T66" fmla="*/ 156 w 404"/>
                  <a:gd name="T67" fmla="*/ 758 h 939"/>
                  <a:gd name="T68" fmla="*/ 160 w 404"/>
                  <a:gd name="T69" fmla="*/ 751 h 939"/>
                  <a:gd name="T70" fmla="*/ 171 w 404"/>
                  <a:gd name="T71" fmla="*/ 883 h 939"/>
                  <a:gd name="T72" fmla="*/ 211 w 404"/>
                  <a:gd name="T73" fmla="*/ 905 h 939"/>
                  <a:gd name="T74" fmla="*/ 288 w 404"/>
                  <a:gd name="T75" fmla="*/ 914 h 939"/>
                  <a:gd name="T76" fmla="*/ 302 w 404"/>
                  <a:gd name="T77" fmla="*/ 886 h 939"/>
                  <a:gd name="T78" fmla="*/ 251 w 404"/>
                  <a:gd name="T79" fmla="*/ 860 h 939"/>
                  <a:gd name="T80" fmla="*/ 236 w 404"/>
                  <a:gd name="T81" fmla="*/ 841 h 939"/>
                  <a:gd name="T82" fmla="*/ 236 w 404"/>
                  <a:gd name="T83" fmla="*/ 817 h 939"/>
                  <a:gd name="T84" fmla="*/ 238 w 404"/>
                  <a:gd name="T85" fmla="*/ 706 h 939"/>
                  <a:gd name="T86" fmla="*/ 236 w 404"/>
                  <a:gd name="T87" fmla="*/ 599 h 939"/>
                  <a:gd name="T88" fmla="*/ 242 w 404"/>
                  <a:gd name="T89" fmla="*/ 504 h 939"/>
                  <a:gd name="T90" fmla="*/ 224 w 404"/>
                  <a:gd name="T91" fmla="*/ 401 h 939"/>
                  <a:gd name="T92" fmla="*/ 216 w 404"/>
                  <a:gd name="T93" fmla="*/ 345 h 939"/>
                  <a:gd name="T94" fmla="*/ 299 w 404"/>
                  <a:gd name="T95" fmla="*/ 388 h 939"/>
                  <a:gd name="T96" fmla="*/ 338 w 404"/>
                  <a:gd name="T97" fmla="*/ 368 h 939"/>
                  <a:gd name="T98" fmla="*/ 270 w 404"/>
                  <a:gd name="T99" fmla="*/ 308 h 939"/>
                  <a:gd name="T100" fmla="*/ 402 w 404"/>
                  <a:gd name="T101" fmla="*/ 327 h 939"/>
                  <a:gd name="T102" fmla="*/ 399 w 404"/>
                  <a:gd name="T103" fmla="*/ 308 h 939"/>
                  <a:gd name="T104" fmla="*/ 390 w 404"/>
                  <a:gd name="T105" fmla="*/ 293 h 939"/>
                  <a:gd name="T106" fmla="*/ 379 w 404"/>
                  <a:gd name="T107" fmla="*/ 313 h 939"/>
                  <a:gd name="T108" fmla="*/ 370 w 404"/>
                  <a:gd name="T109" fmla="*/ 344 h 939"/>
                  <a:gd name="T110" fmla="*/ 322 w 404"/>
                  <a:gd name="T111" fmla="*/ 348 h 939"/>
                  <a:gd name="T112" fmla="*/ 325 w 404"/>
                  <a:gd name="T113" fmla="*/ 367 h 939"/>
                  <a:gd name="T114" fmla="*/ 362 w 404"/>
                  <a:gd name="T115" fmla="*/ 361 h 939"/>
                  <a:gd name="T116" fmla="*/ 396 w 404"/>
                  <a:gd name="T117" fmla="*/ 351 h 939"/>
                  <a:gd name="T118" fmla="*/ 404 w 404"/>
                  <a:gd name="T119" fmla="*/ 327 h 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04" h="939">
                    <a:moveTo>
                      <a:pt x="325" y="371"/>
                    </a:moveTo>
                    <a:lnTo>
                      <a:pt x="325" y="371"/>
                    </a:lnTo>
                    <a:lnTo>
                      <a:pt x="316" y="371"/>
                    </a:lnTo>
                    <a:lnTo>
                      <a:pt x="315" y="370"/>
                    </a:lnTo>
                    <a:lnTo>
                      <a:pt x="315" y="368"/>
                    </a:lnTo>
                    <a:lnTo>
                      <a:pt x="315" y="368"/>
                    </a:lnTo>
                    <a:lnTo>
                      <a:pt x="316" y="359"/>
                    </a:lnTo>
                    <a:lnTo>
                      <a:pt x="318" y="351"/>
                    </a:lnTo>
                    <a:lnTo>
                      <a:pt x="321" y="348"/>
                    </a:lnTo>
                    <a:lnTo>
                      <a:pt x="321" y="348"/>
                    </a:lnTo>
                    <a:lnTo>
                      <a:pt x="213" y="340"/>
                    </a:lnTo>
                    <a:lnTo>
                      <a:pt x="213" y="340"/>
                    </a:lnTo>
                    <a:lnTo>
                      <a:pt x="207" y="339"/>
                    </a:lnTo>
                    <a:lnTo>
                      <a:pt x="207" y="337"/>
                    </a:lnTo>
                    <a:lnTo>
                      <a:pt x="207" y="337"/>
                    </a:lnTo>
                    <a:lnTo>
                      <a:pt x="207" y="328"/>
                    </a:lnTo>
                    <a:lnTo>
                      <a:pt x="259" y="311"/>
                    </a:lnTo>
                    <a:lnTo>
                      <a:pt x="259" y="311"/>
                    </a:lnTo>
                    <a:lnTo>
                      <a:pt x="261" y="313"/>
                    </a:lnTo>
                    <a:lnTo>
                      <a:pt x="261" y="313"/>
                    </a:lnTo>
                    <a:lnTo>
                      <a:pt x="262" y="313"/>
                    </a:lnTo>
                    <a:lnTo>
                      <a:pt x="262" y="313"/>
                    </a:lnTo>
                    <a:lnTo>
                      <a:pt x="265" y="314"/>
                    </a:lnTo>
                    <a:lnTo>
                      <a:pt x="265" y="314"/>
                    </a:lnTo>
                    <a:lnTo>
                      <a:pt x="271" y="320"/>
                    </a:lnTo>
                    <a:lnTo>
                      <a:pt x="278" y="324"/>
                    </a:lnTo>
                    <a:lnTo>
                      <a:pt x="278" y="324"/>
                    </a:lnTo>
                    <a:lnTo>
                      <a:pt x="282" y="324"/>
                    </a:lnTo>
                    <a:lnTo>
                      <a:pt x="282" y="320"/>
                    </a:lnTo>
                    <a:lnTo>
                      <a:pt x="282" y="320"/>
                    </a:lnTo>
                    <a:lnTo>
                      <a:pt x="284" y="320"/>
                    </a:lnTo>
                    <a:lnTo>
                      <a:pt x="284" y="320"/>
                    </a:lnTo>
                    <a:lnTo>
                      <a:pt x="285" y="320"/>
                    </a:lnTo>
                    <a:lnTo>
                      <a:pt x="287" y="319"/>
                    </a:lnTo>
                    <a:lnTo>
                      <a:pt x="287" y="319"/>
                    </a:lnTo>
                    <a:lnTo>
                      <a:pt x="288" y="313"/>
                    </a:lnTo>
                    <a:lnTo>
                      <a:pt x="288" y="313"/>
                    </a:lnTo>
                    <a:lnTo>
                      <a:pt x="293" y="316"/>
                    </a:lnTo>
                    <a:lnTo>
                      <a:pt x="293" y="316"/>
                    </a:lnTo>
                    <a:lnTo>
                      <a:pt x="296" y="317"/>
                    </a:lnTo>
                    <a:lnTo>
                      <a:pt x="301" y="317"/>
                    </a:lnTo>
                    <a:lnTo>
                      <a:pt x="301" y="317"/>
                    </a:lnTo>
                    <a:lnTo>
                      <a:pt x="301" y="316"/>
                    </a:lnTo>
                    <a:lnTo>
                      <a:pt x="299" y="313"/>
                    </a:lnTo>
                    <a:lnTo>
                      <a:pt x="299" y="313"/>
                    </a:lnTo>
                    <a:lnTo>
                      <a:pt x="293" y="305"/>
                    </a:lnTo>
                    <a:lnTo>
                      <a:pt x="293" y="305"/>
                    </a:lnTo>
                    <a:lnTo>
                      <a:pt x="291" y="303"/>
                    </a:lnTo>
                    <a:lnTo>
                      <a:pt x="291" y="303"/>
                    </a:lnTo>
                    <a:lnTo>
                      <a:pt x="291" y="300"/>
                    </a:lnTo>
                    <a:lnTo>
                      <a:pt x="290" y="293"/>
                    </a:lnTo>
                    <a:lnTo>
                      <a:pt x="290" y="293"/>
                    </a:lnTo>
                    <a:lnTo>
                      <a:pt x="287" y="288"/>
                    </a:lnTo>
                    <a:lnTo>
                      <a:pt x="285" y="287"/>
                    </a:lnTo>
                    <a:lnTo>
                      <a:pt x="285" y="287"/>
                    </a:lnTo>
                    <a:lnTo>
                      <a:pt x="271" y="285"/>
                    </a:lnTo>
                    <a:lnTo>
                      <a:pt x="261" y="285"/>
                    </a:lnTo>
                    <a:lnTo>
                      <a:pt x="248" y="282"/>
                    </a:lnTo>
                    <a:lnTo>
                      <a:pt x="248" y="282"/>
                    </a:lnTo>
                    <a:lnTo>
                      <a:pt x="242" y="270"/>
                    </a:lnTo>
                    <a:lnTo>
                      <a:pt x="238" y="260"/>
                    </a:lnTo>
                    <a:lnTo>
                      <a:pt x="236" y="254"/>
                    </a:lnTo>
                    <a:lnTo>
                      <a:pt x="236" y="254"/>
                    </a:lnTo>
                    <a:lnTo>
                      <a:pt x="225" y="200"/>
                    </a:lnTo>
                    <a:lnTo>
                      <a:pt x="225" y="200"/>
                    </a:lnTo>
                    <a:lnTo>
                      <a:pt x="221" y="188"/>
                    </a:lnTo>
                    <a:lnTo>
                      <a:pt x="219" y="185"/>
                    </a:lnTo>
                    <a:lnTo>
                      <a:pt x="216" y="182"/>
                    </a:lnTo>
                    <a:lnTo>
                      <a:pt x="208" y="177"/>
                    </a:lnTo>
                    <a:lnTo>
                      <a:pt x="201" y="174"/>
                    </a:lnTo>
                    <a:lnTo>
                      <a:pt x="201" y="174"/>
                    </a:lnTo>
                    <a:lnTo>
                      <a:pt x="177" y="163"/>
                    </a:lnTo>
                    <a:lnTo>
                      <a:pt x="165" y="156"/>
                    </a:lnTo>
                    <a:lnTo>
                      <a:pt x="165" y="156"/>
                    </a:lnTo>
                    <a:lnTo>
                      <a:pt x="170" y="154"/>
                    </a:lnTo>
                    <a:lnTo>
                      <a:pt x="173" y="151"/>
                    </a:lnTo>
                    <a:lnTo>
                      <a:pt x="176" y="148"/>
                    </a:lnTo>
                    <a:lnTo>
                      <a:pt x="176" y="145"/>
                    </a:lnTo>
                    <a:lnTo>
                      <a:pt x="176" y="145"/>
                    </a:lnTo>
                    <a:lnTo>
                      <a:pt x="176" y="143"/>
                    </a:lnTo>
                    <a:lnTo>
                      <a:pt x="177" y="142"/>
                    </a:lnTo>
                    <a:lnTo>
                      <a:pt x="182" y="140"/>
                    </a:lnTo>
                    <a:lnTo>
                      <a:pt x="182" y="140"/>
                    </a:lnTo>
                    <a:lnTo>
                      <a:pt x="184" y="139"/>
                    </a:lnTo>
                    <a:lnTo>
                      <a:pt x="184" y="137"/>
                    </a:lnTo>
                    <a:lnTo>
                      <a:pt x="184" y="134"/>
                    </a:lnTo>
                    <a:lnTo>
                      <a:pt x="184" y="134"/>
                    </a:lnTo>
                    <a:lnTo>
                      <a:pt x="187" y="132"/>
                    </a:lnTo>
                    <a:lnTo>
                      <a:pt x="188" y="131"/>
                    </a:lnTo>
                    <a:lnTo>
                      <a:pt x="190" y="126"/>
                    </a:lnTo>
                    <a:lnTo>
                      <a:pt x="190" y="126"/>
                    </a:lnTo>
                    <a:lnTo>
                      <a:pt x="190" y="123"/>
                    </a:lnTo>
                    <a:lnTo>
                      <a:pt x="191" y="122"/>
                    </a:lnTo>
                    <a:lnTo>
                      <a:pt x="191" y="122"/>
                    </a:lnTo>
                    <a:lnTo>
                      <a:pt x="194" y="122"/>
                    </a:lnTo>
                    <a:lnTo>
                      <a:pt x="197" y="120"/>
                    </a:lnTo>
                    <a:lnTo>
                      <a:pt x="197" y="120"/>
                    </a:lnTo>
                    <a:lnTo>
                      <a:pt x="199" y="119"/>
                    </a:lnTo>
                    <a:lnTo>
                      <a:pt x="199" y="115"/>
                    </a:lnTo>
                    <a:lnTo>
                      <a:pt x="197" y="108"/>
                    </a:lnTo>
                    <a:lnTo>
                      <a:pt x="197" y="108"/>
                    </a:lnTo>
                    <a:lnTo>
                      <a:pt x="196" y="102"/>
                    </a:lnTo>
                    <a:lnTo>
                      <a:pt x="196" y="97"/>
                    </a:lnTo>
                    <a:lnTo>
                      <a:pt x="196" y="97"/>
                    </a:lnTo>
                    <a:lnTo>
                      <a:pt x="199" y="94"/>
                    </a:lnTo>
                    <a:lnTo>
                      <a:pt x="202" y="89"/>
                    </a:lnTo>
                    <a:lnTo>
                      <a:pt x="202" y="89"/>
                    </a:lnTo>
                    <a:lnTo>
                      <a:pt x="204" y="89"/>
                    </a:lnTo>
                    <a:lnTo>
                      <a:pt x="205" y="85"/>
                    </a:lnTo>
                    <a:lnTo>
                      <a:pt x="205" y="85"/>
                    </a:lnTo>
                    <a:lnTo>
                      <a:pt x="207" y="77"/>
                    </a:lnTo>
                    <a:lnTo>
                      <a:pt x="208" y="68"/>
                    </a:lnTo>
                    <a:lnTo>
                      <a:pt x="208" y="68"/>
                    </a:lnTo>
                    <a:lnTo>
                      <a:pt x="208" y="65"/>
                    </a:lnTo>
                    <a:lnTo>
                      <a:pt x="207" y="60"/>
                    </a:lnTo>
                    <a:lnTo>
                      <a:pt x="205" y="55"/>
                    </a:lnTo>
                    <a:lnTo>
                      <a:pt x="205" y="55"/>
                    </a:lnTo>
                    <a:lnTo>
                      <a:pt x="208" y="49"/>
                    </a:lnTo>
                    <a:lnTo>
                      <a:pt x="208" y="41"/>
                    </a:lnTo>
                    <a:lnTo>
                      <a:pt x="205" y="35"/>
                    </a:lnTo>
                    <a:lnTo>
                      <a:pt x="201" y="28"/>
                    </a:lnTo>
                    <a:lnTo>
                      <a:pt x="193" y="20"/>
                    </a:lnTo>
                    <a:lnTo>
                      <a:pt x="185" y="14"/>
                    </a:lnTo>
                    <a:lnTo>
                      <a:pt x="176" y="8"/>
                    </a:lnTo>
                    <a:lnTo>
                      <a:pt x="165" y="1"/>
                    </a:lnTo>
                    <a:lnTo>
                      <a:pt x="165" y="1"/>
                    </a:lnTo>
                    <a:lnTo>
                      <a:pt x="154" y="0"/>
                    </a:lnTo>
                    <a:lnTo>
                      <a:pt x="145" y="0"/>
                    </a:lnTo>
                    <a:lnTo>
                      <a:pt x="136" y="1"/>
                    </a:lnTo>
                    <a:lnTo>
                      <a:pt x="127" y="6"/>
                    </a:lnTo>
                    <a:lnTo>
                      <a:pt x="119" y="12"/>
                    </a:lnTo>
                    <a:lnTo>
                      <a:pt x="113" y="20"/>
                    </a:lnTo>
                    <a:lnTo>
                      <a:pt x="106" y="28"/>
                    </a:lnTo>
                    <a:lnTo>
                      <a:pt x="102" y="35"/>
                    </a:lnTo>
                    <a:lnTo>
                      <a:pt x="102" y="35"/>
                    </a:lnTo>
                    <a:lnTo>
                      <a:pt x="100" y="45"/>
                    </a:lnTo>
                    <a:lnTo>
                      <a:pt x="99" y="52"/>
                    </a:lnTo>
                    <a:lnTo>
                      <a:pt x="99" y="60"/>
                    </a:lnTo>
                    <a:lnTo>
                      <a:pt x="100" y="66"/>
                    </a:lnTo>
                    <a:lnTo>
                      <a:pt x="103" y="78"/>
                    </a:lnTo>
                    <a:lnTo>
                      <a:pt x="105" y="89"/>
                    </a:lnTo>
                    <a:lnTo>
                      <a:pt x="105" y="89"/>
                    </a:lnTo>
                    <a:lnTo>
                      <a:pt x="103" y="102"/>
                    </a:lnTo>
                    <a:lnTo>
                      <a:pt x="102" y="105"/>
                    </a:lnTo>
                    <a:lnTo>
                      <a:pt x="97" y="115"/>
                    </a:lnTo>
                    <a:lnTo>
                      <a:pt x="97" y="115"/>
                    </a:lnTo>
                    <a:lnTo>
                      <a:pt x="94" y="115"/>
                    </a:lnTo>
                    <a:lnTo>
                      <a:pt x="93" y="117"/>
                    </a:lnTo>
                    <a:lnTo>
                      <a:pt x="91" y="117"/>
                    </a:lnTo>
                    <a:lnTo>
                      <a:pt x="90" y="119"/>
                    </a:lnTo>
                    <a:lnTo>
                      <a:pt x="90" y="119"/>
                    </a:lnTo>
                    <a:lnTo>
                      <a:pt x="85" y="120"/>
                    </a:lnTo>
                    <a:lnTo>
                      <a:pt x="80" y="125"/>
                    </a:lnTo>
                    <a:lnTo>
                      <a:pt x="71" y="134"/>
                    </a:lnTo>
                    <a:lnTo>
                      <a:pt x="71" y="134"/>
                    </a:lnTo>
                    <a:lnTo>
                      <a:pt x="63" y="139"/>
                    </a:lnTo>
                    <a:lnTo>
                      <a:pt x="59" y="140"/>
                    </a:lnTo>
                    <a:lnTo>
                      <a:pt x="54" y="140"/>
                    </a:lnTo>
                    <a:lnTo>
                      <a:pt x="54" y="140"/>
                    </a:lnTo>
                    <a:lnTo>
                      <a:pt x="49" y="142"/>
                    </a:lnTo>
                    <a:lnTo>
                      <a:pt x="45" y="142"/>
                    </a:lnTo>
                    <a:lnTo>
                      <a:pt x="37" y="146"/>
                    </a:lnTo>
                    <a:lnTo>
                      <a:pt x="37" y="146"/>
                    </a:lnTo>
                    <a:lnTo>
                      <a:pt x="32" y="149"/>
                    </a:lnTo>
                    <a:lnTo>
                      <a:pt x="28" y="149"/>
                    </a:lnTo>
                    <a:lnTo>
                      <a:pt x="28" y="149"/>
                    </a:lnTo>
                    <a:lnTo>
                      <a:pt x="23" y="149"/>
                    </a:lnTo>
                    <a:lnTo>
                      <a:pt x="19" y="152"/>
                    </a:lnTo>
                    <a:lnTo>
                      <a:pt x="8" y="159"/>
                    </a:lnTo>
                    <a:lnTo>
                      <a:pt x="8" y="159"/>
                    </a:lnTo>
                    <a:lnTo>
                      <a:pt x="5" y="162"/>
                    </a:lnTo>
                    <a:lnTo>
                      <a:pt x="2" y="163"/>
                    </a:lnTo>
                    <a:lnTo>
                      <a:pt x="2" y="174"/>
                    </a:lnTo>
                    <a:lnTo>
                      <a:pt x="2" y="174"/>
                    </a:lnTo>
                    <a:lnTo>
                      <a:pt x="0" y="185"/>
                    </a:lnTo>
                    <a:lnTo>
                      <a:pt x="0" y="185"/>
                    </a:lnTo>
                    <a:lnTo>
                      <a:pt x="0" y="200"/>
                    </a:lnTo>
                    <a:lnTo>
                      <a:pt x="0" y="200"/>
                    </a:lnTo>
                    <a:lnTo>
                      <a:pt x="0" y="206"/>
                    </a:lnTo>
                    <a:lnTo>
                      <a:pt x="2" y="216"/>
                    </a:lnTo>
                    <a:lnTo>
                      <a:pt x="2" y="216"/>
                    </a:lnTo>
                    <a:lnTo>
                      <a:pt x="5" y="234"/>
                    </a:lnTo>
                    <a:lnTo>
                      <a:pt x="5" y="234"/>
                    </a:lnTo>
                    <a:lnTo>
                      <a:pt x="8" y="242"/>
                    </a:lnTo>
                    <a:lnTo>
                      <a:pt x="11" y="251"/>
                    </a:lnTo>
                    <a:lnTo>
                      <a:pt x="22" y="274"/>
                    </a:lnTo>
                    <a:lnTo>
                      <a:pt x="34" y="300"/>
                    </a:lnTo>
                    <a:lnTo>
                      <a:pt x="46" y="327"/>
                    </a:lnTo>
                    <a:lnTo>
                      <a:pt x="46" y="327"/>
                    </a:lnTo>
                    <a:lnTo>
                      <a:pt x="49" y="339"/>
                    </a:lnTo>
                    <a:lnTo>
                      <a:pt x="51" y="348"/>
                    </a:lnTo>
                    <a:lnTo>
                      <a:pt x="53" y="356"/>
                    </a:lnTo>
                    <a:lnTo>
                      <a:pt x="53" y="364"/>
                    </a:lnTo>
                    <a:lnTo>
                      <a:pt x="49" y="377"/>
                    </a:lnTo>
                    <a:lnTo>
                      <a:pt x="46" y="390"/>
                    </a:lnTo>
                    <a:lnTo>
                      <a:pt x="46" y="390"/>
                    </a:lnTo>
                    <a:lnTo>
                      <a:pt x="45" y="405"/>
                    </a:lnTo>
                    <a:lnTo>
                      <a:pt x="43" y="419"/>
                    </a:lnTo>
                    <a:lnTo>
                      <a:pt x="45" y="458"/>
                    </a:lnTo>
                    <a:lnTo>
                      <a:pt x="45" y="458"/>
                    </a:lnTo>
                    <a:lnTo>
                      <a:pt x="46" y="481"/>
                    </a:lnTo>
                    <a:lnTo>
                      <a:pt x="45" y="498"/>
                    </a:lnTo>
                    <a:lnTo>
                      <a:pt x="43" y="515"/>
                    </a:lnTo>
                    <a:lnTo>
                      <a:pt x="54" y="513"/>
                    </a:lnTo>
                    <a:lnTo>
                      <a:pt x="54" y="513"/>
                    </a:lnTo>
                    <a:lnTo>
                      <a:pt x="54" y="522"/>
                    </a:lnTo>
                    <a:lnTo>
                      <a:pt x="57" y="533"/>
                    </a:lnTo>
                    <a:lnTo>
                      <a:pt x="65" y="559"/>
                    </a:lnTo>
                    <a:lnTo>
                      <a:pt x="73" y="586"/>
                    </a:lnTo>
                    <a:lnTo>
                      <a:pt x="76" y="598"/>
                    </a:lnTo>
                    <a:lnTo>
                      <a:pt x="77" y="609"/>
                    </a:lnTo>
                    <a:lnTo>
                      <a:pt x="77" y="609"/>
                    </a:lnTo>
                    <a:lnTo>
                      <a:pt x="83" y="675"/>
                    </a:lnTo>
                    <a:lnTo>
                      <a:pt x="86" y="714"/>
                    </a:lnTo>
                    <a:lnTo>
                      <a:pt x="88" y="743"/>
                    </a:lnTo>
                    <a:lnTo>
                      <a:pt x="88" y="743"/>
                    </a:lnTo>
                    <a:lnTo>
                      <a:pt x="88" y="766"/>
                    </a:lnTo>
                    <a:lnTo>
                      <a:pt x="91" y="783"/>
                    </a:lnTo>
                    <a:lnTo>
                      <a:pt x="93" y="798"/>
                    </a:lnTo>
                    <a:lnTo>
                      <a:pt x="94" y="812"/>
                    </a:lnTo>
                    <a:lnTo>
                      <a:pt x="94" y="812"/>
                    </a:lnTo>
                    <a:lnTo>
                      <a:pt x="96" y="834"/>
                    </a:lnTo>
                    <a:lnTo>
                      <a:pt x="99" y="848"/>
                    </a:lnTo>
                    <a:lnTo>
                      <a:pt x="99" y="848"/>
                    </a:lnTo>
                    <a:lnTo>
                      <a:pt x="100" y="854"/>
                    </a:lnTo>
                    <a:lnTo>
                      <a:pt x="99" y="854"/>
                    </a:lnTo>
                    <a:lnTo>
                      <a:pt x="96" y="855"/>
                    </a:lnTo>
                    <a:lnTo>
                      <a:pt x="93" y="857"/>
                    </a:lnTo>
                    <a:lnTo>
                      <a:pt x="93" y="857"/>
                    </a:lnTo>
                    <a:lnTo>
                      <a:pt x="91" y="860"/>
                    </a:lnTo>
                    <a:lnTo>
                      <a:pt x="91" y="865"/>
                    </a:lnTo>
                    <a:lnTo>
                      <a:pt x="94" y="869"/>
                    </a:lnTo>
                    <a:lnTo>
                      <a:pt x="96" y="875"/>
                    </a:lnTo>
                    <a:lnTo>
                      <a:pt x="96" y="875"/>
                    </a:lnTo>
                    <a:lnTo>
                      <a:pt x="97" y="888"/>
                    </a:lnTo>
                    <a:lnTo>
                      <a:pt x="97" y="892"/>
                    </a:lnTo>
                    <a:lnTo>
                      <a:pt x="97" y="892"/>
                    </a:lnTo>
                    <a:lnTo>
                      <a:pt x="96" y="895"/>
                    </a:lnTo>
                    <a:lnTo>
                      <a:pt x="94" y="902"/>
                    </a:lnTo>
                    <a:lnTo>
                      <a:pt x="93" y="909"/>
                    </a:lnTo>
                    <a:lnTo>
                      <a:pt x="93" y="917"/>
                    </a:lnTo>
                    <a:lnTo>
                      <a:pt x="96" y="925"/>
                    </a:lnTo>
                    <a:lnTo>
                      <a:pt x="99" y="929"/>
                    </a:lnTo>
                    <a:lnTo>
                      <a:pt x="102" y="932"/>
                    </a:lnTo>
                    <a:lnTo>
                      <a:pt x="106" y="934"/>
                    </a:lnTo>
                    <a:lnTo>
                      <a:pt x="113" y="937"/>
                    </a:lnTo>
                    <a:lnTo>
                      <a:pt x="119" y="939"/>
                    </a:lnTo>
                    <a:lnTo>
                      <a:pt x="128" y="939"/>
                    </a:lnTo>
                    <a:lnTo>
                      <a:pt x="128" y="939"/>
                    </a:lnTo>
                    <a:lnTo>
                      <a:pt x="136" y="937"/>
                    </a:lnTo>
                    <a:lnTo>
                      <a:pt x="143" y="936"/>
                    </a:lnTo>
                    <a:lnTo>
                      <a:pt x="148" y="934"/>
                    </a:lnTo>
                    <a:lnTo>
                      <a:pt x="153" y="931"/>
                    </a:lnTo>
                    <a:lnTo>
                      <a:pt x="157" y="928"/>
                    </a:lnTo>
                    <a:lnTo>
                      <a:pt x="159" y="923"/>
                    </a:lnTo>
                    <a:lnTo>
                      <a:pt x="162" y="914"/>
                    </a:lnTo>
                    <a:lnTo>
                      <a:pt x="164" y="905"/>
                    </a:lnTo>
                    <a:lnTo>
                      <a:pt x="162" y="897"/>
                    </a:lnTo>
                    <a:lnTo>
                      <a:pt x="160" y="891"/>
                    </a:lnTo>
                    <a:lnTo>
                      <a:pt x="160" y="891"/>
                    </a:lnTo>
                    <a:lnTo>
                      <a:pt x="164" y="888"/>
                    </a:lnTo>
                    <a:lnTo>
                      <a:pt x="164" y="885"/>
                    </a:lnTo>
                    <a:lnTo>
                      <a:pt x="164" y="882"/>
                    </a:lnTo>
                    <a:lnTo>
                      <a:pt x="164" y="882"/>
                    </a:lnTo>
                    <a:lnTo>
                      <a:pt x="164" y="868"/>
                    </a:lnTo>
                    <a:lnTo>
                      <a:pt x="162" y="854"/>
                    </a:lnTo>
                    <a:lnTo>
                      <a:pt x="162" y="854"/>
                    </a:lnTo>
                    <a:lnTo>
                      <a:pt x="159" y="826"/>
                    </a:lnTo>
                    <a:lnTo>
                      <a:pt x="156" y="795"/>
                    </a:lnTo>
                    <a:lnTo>
                      <a:pt x="156" y="795"/>
                    </a:lnTo>
                    <a:lnTo>
                      <a:pt x="156" y="781"/>
                    </a:lnTo>
                    <a:lnTo>
                      <a:pt x="156" y="758"/>
                    </a:lnTo>
                    <a:lnTo>
                      <a:pt x="157" y="717"/>
                    </a:lnTo>
                    <a:lnTo>
                      <a:pt x="157" y="717"/>
                    </a:lnTo>
                    <a:lnTo>
                      <a:pt x="159" y="710"/>
                    </a:lnTo>
                    <a:lnTo>
                      <a:pt x="159" y="710"/>
                    </a:lnTo>
                    <a:lnTo>
                      <a:pt x="157" y="717"/>
                    </a:lnTo>
                    <a:lnTo>
                      <a:pt x="157" y="717"/>
                    </a:lnTo>
                    <a:lnTo>
                      <a:pt x="159" y="732"/>
                    </a:lnTo>
                    <a:lnTo>
                      <a:pt x="160" y="751"/>
                    </a:lnTo>
                    <a:lnTo>
                      <a:pt x="167" y="795"/>
                    </a:lnTo>
                    <a:lnTo>
                      <a:pt x="173" y="835"/>
                    </a:lnTo>
                    <a:lnTo>
                      <a:pt x="176" y="857"/>
                    </a:lnTo>
                    <a:lnTo>
                      <a:pt x="176" y="857"/>
                    </a:lnTo>
                    <a:lnTo>
                      <a:pt x="176" y="863"/>
                    </a:lnTo>
                    <a:lnTo>
                      <a:pt x="174" y="866"/>
                    </a:lnTo>
                    <a:lnTo>
                      <a:pt x="173" y="872"/>
                    </a:lnTo>
                    <a:lnTo>
                      <a:pt x="171" y="883"/>
                    </a:lnTo>
                    <a:lnTo>
                      <a:pt x="171" y="883"/>
                    </a:lnTo>
                    <a:lnTo>
                      <a:pt x="174" y="891"/>
                    </a:lnTo>
                    <a:lnTo>
                      <a:pt x="177" y="895"/>
                    </a:lnTo>
                    <a:lnTo>
                      <a:pt x="185" y="899"/>
                    </a:lnTo>
                    <a:lnTo>
                      <a:pt x="191" y="902"/>
                    </a:lnTo>
                    <a:lnTo>
                      <a:pt x="205" y="903"/>
                    </a:lnTo>
                    <a:lnTo>
                      <a:pt x="211" y="905"/>
                    </a:lnTo>
                    <a:lnTo>
                      <a:pt x="211" y="905"/>
                    </a:lnTo>
                    <a:lnTo>
                      <a:pt x="219" y="909"/>
                    </a:lnTo>
                    <a:lnTo>
                      <a:pt x="228" y="912"/>
                    </a:lnTo>
                    <a:lnTo>
                      <a:pt x="239" y="915"/>
                    </a:lnTo>
                    <a:lnTo>
                      <a:pt x="239" y="915"/>
                    </a:lnTo>
                    <a:lnTo>
                      <a:pt x="258" y="917"/>
                    </a:lnTo>
                    <a:lnTo>
                      <a:pt x="268" y="917"/>
                    </a:lnTo>
                    <a:lnTo>
                      <a:pt x="279" y="915"/>
                    </a:lnTo>
                    <a:lnTo>
                      <a:pt x="288" y="914"/>
                    </a:lnTo>
                    <a:lnTo>
                      <a:pt x="298" y="909"/>
                    </a:lnTo>
                    <a:lnTo>
                      <a:pt x="301" y="906"/>
                    </a:lnTo>
                    <a:lnTo>
                      <a:pt x="302" y="903"/>
                    </a:lnTo>
                    <a:lnTo>
                      <a:pt x="304" y="900"/>
                    </a:lnTo>
                    <a:lnTo>
                      <a:pt x="305" y="895"/>
                    </a:lnTo>
                    <a:lnTo>
                      <a:pt x="305" y="895"/>
                    </a:lnTo>
                    <a:lnTo>
                      <a:pt x="304" y="891"/>
                    </a:lnTo>
                    <a:lnTo>
                      <a:pt x="302" y="886"/>
                    </a:lnTo>
                    <a:lnTo>
                      <a:pt x="298" y="878"/>
                    </a:lnTo>
                    <a:lnTo>
                      <a:pt x="290" y="874"/>
                    </a:lnTo>
                    <a:lnTo>
                      <a:pt x="281" y="871"/>
                    </a:lnTo>
                    <a:lnTo>
                      <a:pt x="262" y="865"/>
                    </a:lnTo>
                    <a:lnTo>
                      <a:pt x="256" y="863"/>
                    </a:lnTo>
                    <a:lnTo>
                      <a:pt x="254" y="862"/>
                    </a:lnTo>
                    <a:lnTo>
                      <a:pt x="254" y="862"/>
                    </a:lnTo>
                    <a:lnTo>
                      <a:pt x="251" y="860"/>
                    </a:lnTo>
                    <a:lnTo>
                      <a:pt x="248" y="858"/>
                    </a:lnTo>
                    <a:lnTo>
                      <a:pt x="245" y="858"/>
                    </a:lnTo>
                    <a:lnTo>
                      <a:pt x="245" y="858"/>
                    </a:lnTo>
                    <a:lnTo>
                      <a:pt x="244" y="852"/>
                    </a:lnTo>
                    <a:lnTo>
                      <a:pt x="241" y="843"/>
                    </a:lnTo>
                    <a:lnTo>
                      <a:pt x="241" y="843"/>
                    </a:lnTo>
                    <a:lnTo>
                      <a:pt x="239" y="841"/>
                    </a:lnTo>
                    <a:lnTo>
                      <a:pt x="236" y="841"/>
                    </a:lnTo>
                    <a:lnTo>
                      <a:pt x="231" y="841"/>
                    </a:lnTo>
                    <a:lnTo>
                      <a:pt x="231" y="841"/>
                    </a:lnTo>
                    <a:lnTo>
                      <a:pt x="230" y="840"/>
                    </a:lnTo>
                    <a:lnTo>
                      <a:pt x="230" y="838"/>
                    </a:lnTo>
                    <a:lnTo>
                      <a:pt x="230" y="832"/>
                    </a:lnTo>
                    <a:lnTo>
                      <a:pt x="230" y="832"/>
                    </a:lnTo>
                    <a:lnTo>
                      <a:pt x="234" y="825"/>
                    </a:lnTo>
                    <a:lnTo>
                      <a:pt x="236" y="817"/>
                    </a:lnTo>
                    <a:lnTo>
                      <a:pt x="236" y="809"/>
                    </a:lnTo>
                    <a:lnTo>
                      <a:pt x="236" y="809"/>
                    </a:lnTo>
                    <a:lnTo>
                      <a:pt x="234" y="784"/>
                    </a:lnTo>
                    <a:lnTo>
                      <a:pt x="234" y="767"/>
                    </a:lnTo>
                    <a:lnTo>
                      <a:pt x="236" y="749"/>
                    </a:lnTo>
                    <a:lnTo>
                      <a:pt x="236" y="749"/>
                    </a:lnTo>
                    <a:lnTo>
                      <a:pt x="236" y="724"/>
                    </a:lnTo>
                    <a:lnTo>
                      <a:pt x="238" y="706"/>
                    </a:lnTo>
                    <a:lnTo>
                      <a:pt x="238" y="706"/>
                    </a:lnTo>
                    <a:lnTo>
                      <a:pt x="238" y="695"/>
                    </a:lnTo>
                    <a:lnTo>
                      <a:pt x="236" y="686"/>
                    </a:lnTo>
                    <a:lnTo>
                      <a:pt x="234" y="673"/>
                    </a:lnTo>
                    <a:lnTo>
                      <a:pt x="233" y="656"/>
                    </a:lnTo>
                    <a:lnTo>
                      <a:pt x="233" y="656"/>
                    </a:lnTo>
                    <a:lnTo>
                      <a:pt x="233" y="630"/>
                    </a:lnTo>
                    <a:lnTo>
                      <a:pt x="236" y="599"/>
                    </a:lnTo>
                    <a:lnTo>
                      <a:pt x="238" y="570"/>
                    </a:lnTo>
                    <a:lnTo>
                      <a:pt x="239" y="547"/>
                    </a:lnTo>
                    <a:lnTo>
                      <a:pt x="239" y="547"/>
                    </a:lnTo>
                    <a:lnTo>
                      <a:pt x="239" y="530"/>
                    </a:lnTo>
                    <a:lnTo>
                      <a:pt x="238" y="518"/>
                    </a:lnTo>
                    <a:lnTo>
                      <a:pt x="234" y="507"/>
                    </a:lnTo>
                    <a:lnTo>
                      <a:pt x="242" y="504"/>
                    </a:lnTo>
                    <a:lnTo>
                      <a:pt x="242" y="504"/>
                    </a:lnTo>
                    <a:lnTo>
                      <a:pt x="241" y="482"/>
                    </a:lnTo>
                    <a:lnTo>
                      <a:pt x="236" y="462"/>
                    </a:lnTo>
                    <a:lnTo>
                      <a:pt x="233" y="451"/>
                    </a:lnTo>
                    <a:lnTo>
                      <a:pt x="230" y="442"/>
                    </a:lnTo>
                    <a:lnTo>
                      <a:pt x="230" y="442"/>
                    </a:lnTo>
                    <a:lnTo>
                      <a:pt x="225" y="428"/>
                    </a:lnTo>
                    <a:lnTo>
                      <a:pt x="222" y="421"/>
                    </a:lnTo>
                    <a:lnTo>
                      <a:pt x="224" y="401"/>
                    </a:lnTo>
                    <a:lnTo>
                      <a:pt x="224" y="401"/>
                    </a:lnTo>
                    <a:lnTo>
                      <a:pt x="224" y="387"/>
                    </a:lnTo>
                    <a:lnTo>
                      <a:pt x="222" y="379"/>
                    </a:lnTo>
                    <a:lnTo>
                      <a:pt x="217" y="368"/>
                    </a:lnTo>
                    <a:lnTo>
                      <a:pt x="217" y="368"/>
                    </a:lnTo>
                    <a:lnTo>
                      <a:pt x="211" y="345"/>
                    </a:lnTo>
                    <a:lnTo>
                      <a:pt x="216" y="345"/>
                    </a:lnTo>
                    <a:lnTo>
                      <a:pt x="216" y="345"/>
                    </a:lnTo>
                    <a:lnTo>
                      <a:pt x="216" y="348"/>
                    </a:lnTo>
                    <a:lnTo>
                      <a:pt x="219" y="351"/>
                    </a:lnTo>
                    <a:lnTo>
                      <a:pt x="222" y="354"/>
                    </a:lnTo>
                    <a:lnTo>
                      <a:pt x="222" y="354"/>
                    </a:lnTo>
                    <a:lnTo>
                      <a:pt x="236" y="361"/>
                    </a:lnTo>
                    <a:lnTo>
                      <a:pt x="264" y="371"/>
                    </a:lnTo>
                    <a:lnTo>
                      <a:pt x="264" y="371"/>
                    </a:lnTo>
                    <a:lnTo>
                      <a:pt x="299" y="388"/>
                    </a:lnTo>
                    <a:lnTo>
                      <a:pt x="316" y="398"/>
                    </a:lnTo>
                    <a:lnTo>
                      <a:pt x="316" y="398"/>
                    </a:lnTo>
                    <a:lnTo>
                      <a:pt x="318" y="396"/>
                    </a:lnTo>
                    <a:lnTo>
                      <a:pt x="318" y="396"/>
                    </a:lnTo>
                    <a:lnTo>
                      <a:pt x="322" y="390"/>
                    </a:lnTo>
                    <a:lnTo>
                      <a:pt x="330" y="381"/>
                    </a:lnTo>
                    <a:lnTo>
                      <a:pt x="330" y="381"/>
                    </a:lnTo>
                    <a:lnTo>
                      <a:pt x="338" y="368"/>
                    </a:lnTo>
                    <a:lnTo>
                      <a:pt x="338" y="368"/>
                    </a:lnTo>
                    <a:lnTo>
                      <a:pt x="333" y="370"/>
                    </a:lnTo>
                    <a:lnTo>
                      <a:pt x="325" y="371"/>
                    </a:lnTo>
                    <a:lnTo>
                      <a:pt x="325" y="371"/>
                    </a:lnTo>
                    <a:close/>
                    <a:moveTo>
                      <a:pt x="273" y="305"/>
                    </a:moveTo>
                    <a:lnTo>
                      <a:pt x="273" y="305"/>
                    </a:lnTo>
                    <a:lnTo>
                      <a:pt x="276" y="305"/>
                    </a:lnTo>
                    <a:lnTo>
                      <a:pt x="270" y="308"/>
                    </a:lnTo>
                    <a:lnTo>
                      <a:pt x="270" y="308"/>
                    </a:lnTo>
                    <a:lnTo>
                      <a:pt x="267" y="303"/>
                    </a:lnTo>
                    <a:lnTo>
                      <a:pt x="267" y="303"/>
                    </a:lnTo>
                    <a:lnTo>
                      <a:pt x="273" y="305"/>
                    </a:lnTo>
                    <a:lnTo>
                      <a:pt x="273" y="305"/>
                    </a:lnTo>
                    <a:close/>
                    <a:moveTo>
                      <a:pt x="404" y="327"/>
                    </a:moveTo>
                    <a:lnTo>
                      <a:pt x="404" y="327"/>
                    </a:lnTo>
                    <a:lnTo>
                      <a:pt x="402" y="327"/>
                    </a:lnTo>
                    <a:lnTo>
                      <a:pt x="402" y="327"/>
                    </a:lnTo>
                    <a:lnTo>
                      <a:pt x="404" y="325"/>
                    </a:lnTo>
                    <a:lnTo>
                      <a:pt x="404" y="325"/>
                    </a:lnTo>
                    <a:lnTo>
                      <a:pt x="404" y="322"/>
                    </a:lnTo>
                    <a:lnTo>
                      <a:pt x="402" y="319"/>
                    </a:lnTo>
                    <a:lnTo>
                      <a:pt x="402" y="319"/>
                    </a:lnTo>
                    <a:lnTo>
                      <a:pt x="401" y="316"/>
                    </a:lnTo>
                    <a:lnTo>
                      <a:pt x="399" y="308"/>
                    </a:lnTo>
                    <a:lnTo>
                      <a:pt x="399" y="308"/>
                    </a:lnTo>
                    <a:lnTo>
                      <a:pt x="398" y="303"/>
                    </a:lnTo>
                    <a:lnTo>
                      <a:pt x="396" y="302"/>
                    </a:lnTo>
                    <a:lnTo>
                      <a:pt x="395" y="302"/>
                    </a:lnTo>
                    <a:lnTo>
                      <a:pt x="395" y="302"/>
                    </a:lnTo>
                    <a:lnTo>
                      <a:pt x="395" y="297"/>
                    </a:lnTo>
                    <a:lnTo>
                      <a:pt x="392" y="294"/>
                    </a:lnTo>
                    <a:lnTo>
                      <a:pt x="390" y="293"/>
                    </a:lnTo>
                    <a:lnTo>
                      <a:pt x="390" y="293"/>
                    </a:lnTo>
                    <a:lnTo>
                      <a:pt x="387" y="294"/>
                    </a:lnTo>
                    <a:lnTo>
                      <a:pt x="386" y="297"/>
                    </a:lnTo>
                    <a:lnTo>
                      <a:pt x="386" y="300"/>
                    </a:lnTo>
                    <a:lnTo>
                      <a:pt x="386" y="300"/>
                    </a:lnTo>
                    <a:lnTo>
                      <a:pt x="382" y="302"/>
                    </a:lnTo>
                    <a:lnTo>
                      <a:pt x="381" y="305"/>
                    </a:lnTo>
                    <a:lnTo>
                      <a:pt x="379" y="313"/>
                    </a:lnTo>
                    <a:lnTo>
                      <a:pt x="381" y="325"/>
                    </a:lnTo>
                    <a:lnTo>
                      <a:pt x="381" y="325"/>
                    </a:lnTo>
                    <a:lnTo>
                      <a:pt x="378" y="324"/>
                    </a:lnTo>
                    <a:lnTo>
                      <a:pt x="375" y="325"/>
                    </a:lnTo>
                    <a:lnTo>
                      <a:pt x="375" y="325"/>
                    </a:lnTo>
                    <a:lnTo>
                      <a:pt x="373" y="330"/>
                    </a:lnTo>
                    <a:lnTo>
                      <a:pt x="373" y="330"/>
                    </a:lnTo>
                    <a:lnTo>
                      <a:pt x="370" y="344"/>
                    </a:lnTo>
                    <a:lnTo>
                      <a:pt x="353" y="350"/>
                    </a:lnTo>
                    <a:lnTo>
                      <a:pt x="341" y="348"/>
                    </a:lnTo>
                    <a:lnTo>
                      <a:pt x="341" y="348"/>
                    </a:lnTo>
                    <a:lnTo>
                      <a:pt x="336" y="348"/>
                    </a:lnTo>
                    <a:lnTo>
                      <a:pt x="336" y="348"/>
                    </a:lnTo>
                    <a:lnTo>
                      <a:pt x="325" y="348"/>
                    </a:lnTo>
                    <a:lnTo>
                      <a:pt x="325" y="348"/>
                    </a:lnTo>
                    <a:lnTo>
                      <a:pt x="322" y="348"/>
                    </a:lnTo>
                    <a:lnTo>
                      <a:pt x="322" y="348"/>
                    </a:lnTo>
                    <a:lnTo>
                      <a:pt x="322" y="353"/>
                    </a:lnTo>
                    <a:lnTo>
                      <a:pt x="322" y="353"/>
                    </a:lnTo>
                    <a:lnTo>
                      <a:pt x="322" y="354"/>
                    </a:lnTo>
                    <a:lnTo>
                      <a:pt x="322" y="354"/>
                    </a:lnTo>
                    <a:lnTo>
                      <a:pt x="322" y="362"/>
                    </a:lnTo>
                    <a:lnTo>
                      <a:pt x="324" y="365"/>
                    </a:lnTo>
                    <a:lnTo>
                      <a:pt x="325" y="367"/>
                    </a:lnTo>
                    <a:lnTo>
                      <a:pt x="325" y="367"/>
                    </a:lnTo>
                    <a:lnTo>
                      <a:pt x="332" y="368"/>
                    </a:lnTo>
                    <a:lnTo>
                      <a:pt x="338" y="368"/>
                    </a:lnTo>
                    <a:lnTo>
                      <a:pt x="338" y="367"/>
                    </a:lnTo>
                    <a:lnTo>
                      <a:pt x="338" y="367"/>
                    </a:lnTo>
                    <a:lnTo>
                      <a:pt x="353" y="364"/>
                    </a:lnTo>
                    <a:lnTo>
                      <a:pt x="362" y="361"/>
                    </a:lnTo>
                    <a:lnTo>
                      <a:pt x="362" y="361"/>
                    </a:lnTo>
                    <a:lnTo>
                      <a:pt x="378" y="359"/>
                    </a:lnTo>
                    <a:lnTo>
                      <a:pt x="378" y="359"/>
                    </a:lnTo>
                    <a:lnTo>
                      <a:pt x="387" y="359"/>
                    </a:lnTo>
                    <a:lnTo>
                      <a:pt x="387" y="359"/>
                    </a:lnTo>
                    <a:lnTo>
                      <a:pt x="390" y="357"/>
                    </a:lnTo>
                    <a:lnTo>
                      <a:pt x="392" y="356"/>
                    </a:lnTo>
                    <a:lnTo>
                      <a:pt x="396" y="351"/>
                    </a:lnTo>
                    <a:lnTo>
                      <a:pt x="396" y="351"/>
                    </a:lnTo>
                    <a:lnTo>
                      <a:pt x="398" y="348"/>
                    </a:lnTo>
                    <a:lnTo>
                      <a:pt x="399" y="345"/>
                    </a:lnTo>
                    <a:lnTo>
                      <a:pt x="399" y="345"/>
                    </a:lnTo>
                    <a:lnTo>
                      <a:pt x="402" y="337"/>
                    </a:lnTo>
                    <a:lnTo>
                      <a:pt x="404" y="330"/>
                    </a:lnTo>
                    <a:lnTo>
                      <a:pt x="404" y="330"/>
                    </a:lnTo>
                    <a:lnTo>
                      <a:pt x="404" y="327"/>
                    </a:lnTo>
                    <a:lnTo>
                      <a:pt x="404" y="32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4" name="Freeform 77"/>
              <p:cNvSpPr/>
              <p:nvPr/>
            </p:nvSpPr>
            <p:spPr bwMode="auto">
              <a:xfrm>
                <a:off x="5802313" y="6731000"/>
                <a:ext cx="366713" cy="266700"/>
              </a:xfrm>
              <a:custGeom>
                <a:avLst/>
                <a:gdLst>
                  <a:gd name="T0" fmla="*/ 228 w 231"/>
                  <a:gd name="T1" fmla="*/ 1 h 168"/>
                  <a:gd name="T2" fmla="*/ 222 w 231"/>
                  <a:gd name="T3" fmla="*/ 0 h 168"/>
                  <a:gd name="T4" fmla="*/ 166 w 231"/>
                  <a:gd name="T5" fmla="*/ 6 h 168"/>
                  <a:gd name="T6" fmla="*/ 163 w 231"/>
                  <a:gd name="T7" fmla="*/ 6 h 168"/>
                  <a:gd name="T8" fmla="*/ 158 w 231"/>
                  <a:gd name="T9" fmla="*/ 18 h 168"/>
                  <a:gd name="T10" fmla="*/ 140 w 231"/>
                  <a:gd name="T11" fmla="*/ 121 h 168"/>
                  <a:gd name="T12" fmla="*/ 86 w 231"/>
                  <a:gd name="T13" fmla="*/ 123 h 168"/>
                  <a:gd name="T14" fmla="*/ 92 w 231"/>
                  <a:gd name="T15" fmla="*/ 131 h 168"/>
                  <a:gd name="T16" fmla="*/ 94 w 231"/>
                  <a:gd name="T17" fmla="*/ 135 h 168"/>
                  <a:gd name="T18" fmla="*/ 89 w 231"/>
                  <a:gd name="T19" fmla="*/ 135 h 168"/>
                  <a:gd name="T20" fmla="*/ 86 w 231"/>
                  <a:gd name="T21" fmla="*/ 134 h 168"/>
                  <a:gd name="T22" fmla="*/ 81 w 231"/>
                  <a:gd name="T23" fmla="*/ 131 h 168"/>
                  <a:gd name="T24" fmla="*/ 80 w 231"/>
                  <a:gd name="T25" fmla="*/ 132 h 168"/>
                  <a:gd name="T26" fmla="*/ 80 w 231"/>
                  <a:gd name="T27" fmla="*/ 137 h 168"/>
                  <a:gd name="T28" fmla="*/ 77 w 231"/>
                  <a:gd name="T29" fmla="*/ 138 h 168"/>
                  <a:gd name="T30" fmla="*/ 75 w 231"/>
                  <a:gd name="T31" fmla="*/ 138 h 168"/>
                  <a:gd name="T32" fmla="*/ 75 w 231"/>
                  <a:gd name="T33" fmla="*/ 142 h 168"/>
                  <a:gd name="T34" fmla="*/ 71 w 231"/>
                  <a:gd name="T35" fmla="*/ 142 h 168"/>
                  <a:gd name="T36" fmla="*/ 58 w 231"/>
                  <a:gd name="T37" fmla="*/ 132 h 168"/>
                  <a:gd name="T38" fmla="*/ 55 w 231"/>
                  <a:gd name="T39" fmla="*/ 131 h 168"/>
                  <a:gd name="T40" fmla="*/ 54 w 231"/>
                  <a:gd name="T41" fmla="*/ 131 h 168"/>
                  <a:gd name="T42" fmla="*/ 52 w 231"/>
                  <a:gd name="T43" fmla="*/ 129 h 168"/>
                  <a:gd name="T44" fmla="*/ 0 w 231"/>
                  <a:gd name="T45" fmla="*/ 146 h 168"/>
                  <a:gd name="T46" fmla="*/ 0 w 231"/>
                  <a:gd name="T47" fmla="*/ 155 h 168"/>
                  <a:gd name="T48" fmla="*/ 6 w 231"/>
                  <a:gd name="T49" fmla="*/ 158 h 168"/>
                  <a:gd name="T50" fmla="*/ 114 w 231"/>
                  <a:gd name="T51" fmla="*/ 166 h 168"/>
                  <a:gd name="T52" fmla="*/ 115 w 231"/>
                  <a:gd name="T53" fmla="*/ 166 h 168"/>
                  <a:gd name="T54" fmla="*/ 118 w 231"/>
                  <a:gd name="T55" fmla="*/ 166 h 168"/>
                  <a:gd name="T56" fmla="*/ 129 w 231"/>
                  <a:gd name="T57" fmla="*/ 166 h 168"/>
                  <a:gd name="T58" fmla="*/ 134 w 231"/>
                  <a:gd name="T59" fmla="*/ 166 h 168"/>
                  <a:gd name="T60" fmla="*/ 163 w 231"/>
                  <a:gd name="T61" fmla="*/ 162 h 168"/>
                  <a:gd name="T62" fmla="*/ 166 w 231"/>
                  <a:gd name="T63" fmla="*/ 148 h 168"/>
                  <a:gd name="T64" fmla="*/ 168 w 231"/>
                  <a:gd name="T65" fmla="*/ 143 h 168"/>
                  <a:gd name="T66" fmla="*/ 171 w 231"/>
                  <a:gd name="T67" fmla="*/ 142 h 168"/>
                  <a:gd name="T68" fmla="*/ 174 w 231"/>
                  <a:gd name="T69" fmla="*/ 143 h 168"/>
                  <a:gd name="T70" fmla="*/ 174 w 231"/>
                  <a:gd name="T71" fmla="*/ 123 h 168"/>
                  <a:gd name="T72" fmla="*/ 179 w 231"/>
                  <a:gd name="T73" fmla="*/ 118 h 168"/>
                  <a:gd name="T74" fmla="*/ 179 w 231"/>
                  <a:gd name="T75" fmla="*/ 115 h 168"/>
                  <a:gd name="T76" fmla="*/ 183 w 231"/>
                  <a:gd name="T77" fmla="*/ 111 h 168"/>
                  <a:gd name="T78" fmla="*/ 185 w 231"/>
                  <a:gd name="T79" fmla="*/ 112 h 168"/>
                  <a:gd name="T80" fmla="*/ 188 w 231"/>
                  <a:gd name="T81" fmla="*/ 120 h 168"/>
                  <a:gd name="T82" fmla="*/ 189 w 231"/>
                  <a:gd name="T83" fmla="*/ 120 h 168"/>
                  <a:gd name="T84" fmla="*/ 192 w 231"/>
                  <a:gd name="T85" fmla="*/ 126 h 168"/>
                  <a:gd name="T86" fmla="*/ 194 w 231"/>
                  <a:gd name="T87" fmla="*/ 134 h 168"/>
                  <a:gd name="T88" fmla="*/ 195 w 231"/>
                  <a:gd name="T89" fmla="*/ 137 h 168"/>
                  <a:gd name="T90" fmla="*/ 197 w 231"/>
                  <a:gd name="T91" fmla="*/ 143 h 168"/>
                  <a:gd name="T92" fmla="*/ 197 w 231"/>
                  <a:gd name="T93" fmla="*/ 143 h 168"/>
                  <a:gd name="T94" fmla="*/ 197 w 231"/>
                  <a:gd name="T95" fmla="*/ 145 h 168"/>
                  <a:gd name="T96" fmla="*/ 206 w 231"/>
                  <a:gd name="T97" fmla="*/ 140 h 168"/>
                  <a:gd name="T98" fmla="*/ 208 w 231"/>
                  <a:gd name="T99" fmla="*/ 138 h 168"/>
                  <a:gd name="T100" fmla="*/ 209 w 231"/>
                  <a:gd name="T101" fmla="*/ 134 h 168"/>
                  <a:gd name="T102" fmla="*/ 231 w 231"/>
                  <a:gd name="T103" fmla="*/ 7 h 168"/>
                  <a:gd name="T104" fmla="*/ 231 w 231"/>
                  <a:gd name="T105" fmla="*/ 3 h 168"/>
                  <a:gd name="T106" fmla="*/ 228 w 231"/>
                  <a:gd name="T107" fmla="*/ 1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1" h="168">
                    <a:moveTo>
                      <a:pt x="228" y="1"/>
                    </a:moveTo>
                    <a:lnTo>
                      <a:pt x="228" y="1"/>
                    </a:lnTo>
                    <a:lnTo>
                      <a:pt x="222" y="0"/>
                    </a:lnTo>
                    <a:lnTo>
                      <a:pt x="222" y="0"/>
                    </a:lnTo>
                    <a:lnTo>
                      <a:pt x="166" y="6"/>
                    </a:lnTo>
                    <a:lnTo>
                      <a:pt x="166" y="6"/>
                    </a:lnTo>
                    <a:lnTo>
                      <a:pt x="165" y="6"/>
                    </a:lnTo>
                    <a:lnTo>
                      <a:pt x="163" y="6"/>
                    </a:lnTo>
                    <a:lnTo>
                      <a:pt x="160" y="11"/>
                    </a:lnTo>
                    <a:lnTo>
                      <a:pt x="158" y="18"/>
                    </a:lnTo>
                    <a:lnTo>
                      <a:pt x="158" y="18"/>
                    </a:lnTo>
                    <a:lnTo>
                      <a:pt x="140" y="121"/>
                    </a:lnTo>
                    <a:lnTo>
                      <a:pt x="86" y="123"/>
                    </a:lnTo>
                    <a:lnTo>
                      <a:pt x="86" y="123"/>
                    </a:lnTo>
                    <a:lnTo>
                      <a:pt x="92" y="131"/>
                    </a:lnTo>
                    <a:lnTo>
                      <a:pt x="92" y="131"/>
                    </a:lnTo>
                    <a:lnTo>
                      <a:pt x="94" y="134"/>
                    </a:lnTo>
                    <a:lnTo>
                      <a:pt x="94" y="135"/>
                    </a:lnTo>
                    <a:lnTo>
                      <a:pt x="94" y="135"/>
                    </a:lnTo>
                    <a:lnTo>
                      <a:pt x="89" y="135"/>
                    </a:lnTo>
                    <a:lnTo>
                      <a:pt x="86" y="134"/>
                    </a:lnTo>
                    <a:lnTo>
                      <a:pt x="86" y="134"/>
                    </a:lnTo>
                    <a:lnTo>
                      <a:pt x="83" y="131"/>
                    </a:lnTo>
                    <a:lnTo>
                      <a:pt x="81" y="131"/>
                    </a:lnTo>
                    <a:lnTo>
                      <a:pt x="81" y="131"/>
                    </a:lnTo>
                    <a:lnTo>
                      <a:pt x="80" y="132"/>
                    </a:lnTo>
                    <a:lnTo>
                      <a:pt x="80" y="137"/>
                    </a:lnTo>
                    <a:lnTo>
                      <a:pt x="80" y="137"/>
                    </a:lnTo>
                    <a:lnTo>
                      <a:pt x="78" y="138"/>
                    </a:lnTo>
                    <a:lnTo>
                      <a:pt x="77" y="138"/>
                    </a:lnTo>
                    <a:lnTo>
                      <a:pt x="77" y="138"/>
                    </a:lnTo>
                    <a:lnTo>
                      <a:pt x="75" y="138"/>
                    </a:lnTo>
                    <a:lnTo>
                      <a:pt x="75" y="138"/>
                    </a:lnTo>
                    <a:lnTo>
                      <a:pt x="75" y="142"/>
                    </a:lnTo>
                    <a:lnTo>
                      <a:pt x="71" y="142"/>
                    </a:lnTo>
                    <a:lnTo>
                      <a:pt x="71" y="142"/>
                    </a:lnTo>
                    <a:lnTo>
                      <a:pt x="64" y="138"/>
                    </a:lnTo>
                    <a:lnTo>
                      <a:pt x="58" y="132"/>
                    </a:lnTo>
                    <a:lnTo>
                      <a:pt x="58" y="132"/>
                    </a:lnTo>
                    <a:lnTo>
                      <a:pt x="55" y="131"/>
                    </a:lnTo>
                    <a:lnTo>
                      <a:pt x="55" y="131"/>
                    </a:lnTo>
                    <a:lnTo>
                      <a:pt x="54" y="131"/>
                    </a:lnTo>
                    <a:lnTo>
                      <a:pt x="54" y="131"/>
                    </a:lnTo>
                    <a:lnTo>
                      <a:pt x="52" y="129"/>
                    </a:lnTo>
                    <a:lnTo>
                      <a:pt x="0" y="146"/>
                    </a:lnTo>
                    <a:lnTo>
                      <a:pt x="0" y="146"/>
                    </a:lnTo>
                    <a:lnTo>
                      <a:pt x="0" y="155"/>
                    </a:lnTo>
                    <a:lnTo>
                      <a:pt x="0" y="155"/>
                    </a:lnTo>
                    <a:lnTo>
                      <a:pt x="0" y="157"/>
                    </a:lnTo>
                    <a:lnTo>
                      <a:pt x="6" y="158"/>
                    </a:lnTo>
                    <a:lnTo>
                      <a:pt x="6" y="158"/>
                    </a:lnTo>
                    <a:lnTo>
                      <a:pt x="114" y="166"/>
                    </a:lnTo>
                    <a:lnTo>
                      <a:pt x="114" y="166"/>
                    </a:lnTo>
                    <a:lnTo>
                      <a:pt x="115" y="166"/>
                    </a:lnTo>
                    <a:lnTo>
                      <a:pt x="115" y="166"/>
                    </a:lnTo>
                    <a:lnTo>
                      <a:pt x="118" y="166"/>
                    </a:lnTo>
                    <a:lnTo>
                      <a:pt x="118" y="166"/>
                    </a:lnTo>
                    <a:lnTo>
                      <a:pt x="129" y="166"/>
                    </a:lnTo>
                    <a:lnTo>
                      <a:pt x="129" y="166"/>
                    </a:lnTo>
                    <a:lnTo>
                      <a:pt x="134" y="166"/>
                    </a:lnTo>
                    <a:lnTo>
                      <a:pt x="146" y="168"/>
                    </a:lnTo>
                    <a:lnTo>
                      <a:pt x="163" y="162"/>
                    </a:lnTo>
                    <a:lnTo>
                      <a:pt x="163" y="162"/>
                    </a:lnTo>
                    <a:lnTo>
                      <a:pt x="166" y="148"/>
                    </a:lnTo>
                    <a:lnTo>
                      <a:pt x="166" y="148"/>
                    </a:lnTo>
                    <a:lnTo>
                      <a:pt x="168" y="143"/>
                    </a:lnTo>
                    <a:lnTo>
                      <a:pt x="168" y="143"/>
                    </a:lnTo>
                    <a:lnTo>
                      <a:pt x="171" y="142"/>
                    </a:lnTo>
                    <a:lnTo>
                      <a:pt x="174" y="143"/>
                    </a:lnTo>
                    <a:lnTo>
                      <a:pt x="174" y="143"/>
                    </a:lnTo>
                    <a:lnTo>
                      <a:pt x="172" y="131"/>
                    </a:lnTo>
                    <a:lnTo>
                      <a:pt x="174" y="123"/>
                    </a:lnTo>
                    <a:lnTo>
                      <a:pt x="175" y="120"/>
                    </a:lnTo>
                    <a:lnTo>
                      <a:pt x="179" y="118"/>
                    </a:lnTo>
                    <a:lnTo>
                      <a:pt x="179" y="118"/>
                    </a:lnTo>
                    <a:lnTo>
                      <a:pt x="179" y="115"/>
                    </a:lnTo>
                    <a:lnTo>
                      <a:pt x="180" y="112"/>
                    </a:lnTo>
                    <a:lnTo>
                      <a:pt x="183" y="111"/>
                    </a:lnTo>
                    <a:lnTo>
                      <a:pt x="183" y="111"/>
                    </a:lnTo>
                    <a:lnTo>
                      <a:pt x="185" y="112"/>
                    </a:lnTo>
                    <a:lnTo>
                      <a:pt x="188" y="115"/>
                    </a:lnTo>
                    <a:lnTo>
                      <a:pt x="188" y="120"/>
                    </a:lnTo>
                    <a:lnTo>
                      <a:pt x="188" y="120"/>
                    </a:lnTo>
                    <a:lnTo>
                      <a:pt x="189" y="120"/>
                    </a:lnTo>
                    <a:lnTo>
                      <a:pt x="191" y="121"/>
                    </a:lnTo>
                    <a:lnTo>
                      <a:pt x="192" y="126"/>
                    </a:lnTo>
                    <a:lnTo>
                      <a:pt x="192" y="126"/>
                    </a:lnTo>
                    <a:lnTo>
                      <a:pt x="194" y="134"/>
                    </a:lnTo>
                    <a:lnTo>
                      <a:pt x="195" y="137"/>
                    </a:lnTo>
                    <a:lnTo>
                      <a:pt x="195" y="137"/>
                    </a:lnTo>
                    <a:lnTo>
                      <a:pt x="197" y="140"/>
                    </a:lnTo>
                    <a:lnTo>
                      <a:pt x="197" y="143"/>
                    </a:lnTo>
                    <a:lnTo>
                      <a:pt x="197" y="143"/>
                    </a:lnTo>
                    <a:lnTo>
                      <a:pt x="197" y="143"/>
                    </a:lnTo>
                    <a:lnTo>
                      <a:pt x="197" y="143"/>
                    </a:lnTo>
                    <a:lnTo>
                      <a:pt x="197" y="145"/>
                    </a:lnTo>
                    <a:lnTo>
                      <a:pt x="197" y="145"/>
                    </a:lnTo>
                    <a:lnTo>
                      <a:pt x="206" y="140"/>
                    </a:lnTo>
                    <a:lnTo>
                      <a:pt x="206" y="140"/>
                    </a:lnTo>
                    <a:lnTo>
                      <a:pt x="208" y="138"/>
                    </a:lnTo>
                    <a:lnTo>
                      <a:pt x="209" y="134"/>
                    </a:lnTo>
                    <a:lnTo>
                      <a:pt x="209" y="134"/>
                    </a:lnTo>
                    <a:lnTo>
                      <a:pt x="231" y="7"/>
                    </a:lnTo>
                    <a:lnTo>
                      <a:pt x="231" y="7"/>
                    </a:lnTo>
                    <a:lnTo>
                      <a:pt x="231" y="4"/>
                    </a:lnTo>
                    <a:lnTo>
                      <a:pt x="231" y="3"/>
                    </a:lnTo>
                    <a:lnTo>
                      <a:pt x="228" y="1"/>
                    </a:lnTo>
                    <a:lnTo>
                      <a:pt x="228" y="1"/>
                    </a:lnTo>
                    <a:close/>
                  </a:path>
                </a:pathLst>
              </a:custGeom>
              <a:solidFill>
                <a:srgbClr val="8F8F8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5" name="Freeform 78"/>
              <p:cNvSpPr>
                <a:spLocks noEditPoints="1"/>
              </p:cNvSpPr>
              <p:nvPr/>
            </p:nvSpPr>
            <p:spPr bwMode="auto">
              <a:xfrm>
                <a:off x="5610226" y="6624638"/>
                <a:ext cx="176213" cy="309562"/>
              </a:xfrm>
              <a:custGeom>
                <a:avLst/>
                <a:gdLst>
                  <a:gd name="T0" fmla="*/ 111 w 111"/>
                  <a:gd name="T1" fmla="*/ 178 h 195"/>
                  <a:gd name="T2" fmla="*/ 107 w 111"/>
                  <a:gd name="T3" fmla="*/ 165 h 195"/>
                  <a:gd name="T4" fmla="*/ 105 w 111"/>
                  <a:gd name="T5" fmla="*/ 193 h 195"/>
                  <a:gd name="T6" fmla="*/ 107 w 111"/>
                  <a:gd name="T7" fmla="*/ 195 h 195"/>
                  <a:gd name="T8" fmla="*/ 108 w 111"/>
                  <a:gd name="T9" fmla="*/ 193 h 195"/>
                  <a:gd name="T10" fmla="*/ 110 w 111"/>
                  <a:gd name="T11" fmla="*/ 190 h 195"/>
                  <a:gd name="T12" fmla="*/ 111 w 111"/>
                  <a:gd name="T13" fmla="*/ 178 h 195"/>
                  <a:gd name="T14" fmla="*/ 61 w 111"/>
                  <a:gd name="T15" fmla="*/ 36 h 195"/>
                  <a:gd name="T16" fmla="*/ 57 w 111"/>
                  <a:gd name="T17" fmla="*/ 37 h 195"/>
                  <a:gd name="T18" fmla="*/ 50 w 111"/>
                  <a:gd name="T19" fmla="*/ 37 h 195"/>
                  <a:gd name="T20" fmla="*/ 37 w 111"/>
                  <a:gd name="T21" fmla="*/ 31 h 195"/>
                  <a:gd name="T22" fmla="*/ 27 w 111"/>
                  <a:gd name="T23" fmla="*/ 24 h 195"/>
                  <a:gd name="T24" fmla="*/ 11 w 111"/>
                  <a:gd name="T25" fmla="*/ 13 h 195"/>
                  <a:gd name="T26" fmla="*/ 8 w 111"/>
                  <a:gd name="T27" fmla="*/ 8 h 195"/>
                  <a:gd name="T28" fmla="*/ 11 w 111"/>
                  <a:gd name="T29" fmla="*/ 5 h 195"/>
                  <a:gd name="T30" fmla="*/ 11 w 111"/>
                  <a:gd name="T31" fmla="*/ 0 h 195"/>
                  <a:gd name="T32" fmla="*/ 8 w 111"/>
                  <a:gd name="T33" fmla="*/ 0 h 195"/>
                  <a:gd name="T34" fmla="*/ 5 w 111"/>
                  <a:gd name="T35" fmla="*/ 2 h 195"/>
                  <a:gd name="T36" fmla="*/ 4 w 111"/>
                  <a:gd name="T37" fmla="*/ 4 h 195"/>
                  <a:gd name="T38" fmla="*/ 0 w 111"/>
                  <a:gd name="T39" fmla="*/ 8 h 195"/>
                  <a:gd name="T40" fmla="*/ 8 w 111"/>
                  <a:gd name="T41" fmla="*/ 17 h 195"/>
                  <a:gd name="T42" fmla="*/ 16 w 111"/>
                  <a:gd name="T43" fmla="*/ 27 h 195"/>
                  <a:gd name="T44" fmla="*/ 31 w 111"/>
                  <a:gd name="T45" fmla="*/ 47 h 195"/>
                  <a:gd name="T46" fmla="*/ 50 w 111"/>
                  <a:gd name="T47" fmla="*/ 74 h 195"/>
                  <a:gd name="T48" fmla="*/ 48 w 111"/>
                  <a:gd name="T49" fmla="*/ 59 h 195"/>
                  <a:gd name="T50" fmla="*/ 44 w 111"/>
                  <a:gd name="T51" fmla="*/ 54 h 195"/>
                  <a:gd name="T52" fmla="*/ 41 w 111"/>
                  <a:gd name="T53" fmla="*/ 53 h 195"/>
                  <a:gd name="T54" fmla="*/ 45 w 111"/>
                  <a:gd name="T55" fmla="*/ 44 h 195"/>
                  <a:gd name="T56" fmla="*/ 50 w 111"/>
                  <a:gd name="T57" fmla="*/ 44 h 195"/>
                  <a:gd name="T58" fmla="*/ 53 w 111"/>
                  <a:gd name="T59" fmla="*/ 44 h 195"/>
                  <a:gd name="T60" fmla="*/ 57 w 111"/>
                  <a:gd name="T61" fmla="*/ 50 h 195"/>
                  <a:gd name="T62" fmla="*/ 62 w 111"/>
                  <a:gd name="T63" fmla="*/ 64 h 195"/>
                  <a:gd name="T64" fmla="*/ 70 w 111"/>
                  <a:gd name="T65" fmla="*/ 78 h 195"/>
                  <a:gd name="T66" fmla="*/ 73 w 111"/>
                  <a:gd name="T67" fmla="*/ 87 h 195"/>
                  <a:gd name="T68" fmla="*/ 71 w 111"/>
                  <a:gd name="T69" fmla="*/ 48 h 195"/>
                  <a:gd name="T70" fmla="*/ 70 w 111"/>
                  <a:gd name="T71" fmla="*/ 41 h 195"/>
                  <a:gd name="T72" fmla="*/ 62 w 111"/>
                  <a:gd name="T73" fmla="*/ 36 h 195"/>
                  <a:gd name="T74" fmla="*/ 61 w 111"/>
                  <a:gd name="T75" fmla="*/ 36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1" h="195">
                    <a:moveTo>
                      <a:pt x="111" y="178"/>
                    </a:moveTo>
                    <a:lnTo>
                      <a:pt x="111" y="178"/>
                    </a:lnTo>
                    <a:lnTo>
                      <a:pt x="108" y="170"/>
                    </a:lnTo>
                    <a:lnTo>
                      <a:pt x="107" y="165"/>
                    </a:lnTo>
                    <a:lnTo>
                      <a:pt x="105" y="193"/>
                    </a:lnTo>
                    <a:lnTo>
                      <a:pt x="105" y="193"/>
                    </a:lnTo>
                    <a:lnTo>
                      <a:pt x="107" y="195"/>
                    </a:lnTo>
                    <a:lnTo>
                      <a:pt x="107" y="195"/>
                    </a:lnTo>
                    <a:lnTo>
                      <a:pt x="108" y="193"/>
                    </a:lnTo>
                    <a:lnTo>
                      <a:pt x="108" y="193"/>
                    </a:lnTo>
                    <a:lnTo>
                      <a:pt x="110" y="190"/>
                    </a:lnTo>
                    <a:lnTo>
                      <a:pt x="110" y="190"/>
                    </a:lnTo>
                    <a:lnTo>
                      <a:pt x="111" y="185"/>
                    </a:lnTo>
                    <a:lnTo>
                      <a:pt x="111" y="178"/>
                    </a:lnTo>
                    <a:lnTo>
                      <a:pt x="111" y="178"/>
                    </a:lnTo>
                    <a:close/>
                    <a:moveTo>
                      <a:pt x="61" y="36"/>
                    </a:moveTo>
                    <a:lnTo>
                      <a:pt x="61" y="36"/>
                    </a:lnTo>
                    <a:lnTo>
                      <a:pt x="57" y="37"/>
                    </a:lnTo>
                    <a:lnTo>
                      <a:pt x="53" y="39"/>
                    </a:lnTo>
                    <a:lnTo>
                      <a:pt x="50" y="37"/>
                    </a:lnTo>
                    <a:lnTo>
                      <a:pt x="45" y="36"/>
                    </a:lnTo>
                    <a:lnTo>
                      <a:pt x="37" y="31"/>
                    </a:lnTo>
                    <a:lnTo>
                      <a:pt x="27" y="24"/>
                    </a:lnTo>
                    <a:lnTo>
                      <a:pt x="27" y="24"/>
                    </a:lnTo>
                    <a:lnTo>
                      <a:pt x="17" y="17"/>
                    </a:lnTo>
                    <a:lnTo>
                      <a:pt x="11" y="13"/>
                    </a:lnTo>
                    <a:lnTo>
                      <a:pt x="8" y="8"/>
                    </a:lnTo>
                    <a:lnTo>
                      <a:pt x="8" y="8"/>
                    </a:lnTo>
                    <a:lnTo>
                      <a:pt x="11" y="5"/>
                    </a:lnTo>
                    <a:lnTo>
                      <a:pt x="11" y="5"/>
                    </a:lnTo>
                    <a:lnTo>
                      <a:pt x="11" y="0"/>
                    </a:lnTo>
                    <a:lnTo>
                      <a:pt x="11" y="0"/>
                    </a:lnTo>
                    <a:lnTo>
                      <a:pt x="11" y="0"/>
                    </a:lnTo>
                    <a:lnTo>
                      <a:pt x="8" y="0"/>
                    </a:lnTo>
                    <a:lnTo>
                      <a:pt x="7" y="2"/>
                    </a:lnTo>
                    <a:lnTo>
                      <a:pt x="5" y="2"/>
                    </a:lnTo>
                    <a:lnTo>
                      <a:pt x="4" y="4"/>
                    </a:lnTo>
                    <a:lnTo>
                      <a:pt x="4" y="4"/>
                    </a:lnTo>
                    <a:lnTo>
                      <a:pt x="2" y="4"/>
                    </a:lnTo>
                    <a:lnTo>
                      <a:pt x="0" y="8"/>
                    </a:lnTo>
                    <a:lnTo>
                      <a:pt x="0" y="8"/>
                    </a:lnTo>
                    <a:lnTo>
                      <a:pt x="8" y="17"/>
                    </a:lnTo>
                    <a:lnTo>
                      <a:pt x="8" y="17"/>
                    </a:lnTo>
                    <a:lnTo>
                      <a:pt x="16" y="27"/>
                    </a:lnTo>
                    <a:lnTo>
                      <a:pt x="31" y="47"/>
                    </a:lnTo>
                    <a:lnTo>
                      <a:pt x="31" y="47"/>
                    </a:lnTo>
                    <a:lnTo>
                      <a:pt x="50" y="74"/>
                    </a:lnTo>
                    <a:lnTo>
                      <a:pt x="50" y="74"/>
                    </a:lnTo>
                    <a:lnTo>
                      <a:pt x="50" y="68"/>
                    </a:lnTo>
                    <a:lnTo>
                      <a:pt x="48" y="59"/>
                    </a:lnTo>
                    <a:lnTo>
                      <a:pt x="48" y="59"/>
                    </a:lnTo>
                    <a:lnTo>
                      <a:pt x="44" y="54"/>
                    </a:lnTo>
                    <a:lnTo>
                      <a:pt x="41" y="53"/>
                    </a:lnTo>
                    <a:lnTo>
                      <a:pt x="41" y="53"/>
                    </a:lnTo>
                    <a:lnTo>
                      <a:pt x="42" y="47"/>
                    </a:lnTo>
                    <a:lnTo>
                      <a:pt x="45" y="44"/>
                    </a:lnTo>
                    <a:lnTo>
                      <a:pt x="47" y="44"/>
                    </a:lnTo>
                    <a:lnTo>
                      <a:pt x="50" y="44"/>
                    </a:lnTo>
                    <a:lnTo>
                      <a:pt x="50" y="44"/>
                    </a:lnTo>
                    <a:lnTo>
                      <a:pt x="53" y="44"/>
                    </a:lnTo>
                    <a:lnTo>
                      <a:pt x="54" y="45"/>
                    </a:lnTo>
                    <a:lnTo>
                      <a:pt x="57" y="50"/>
                    </a:lnTo>
                    <a:lnTo>
                      <a:pt x="59" y="56"/>
                    </a:lnTo>
                    <a:lnTo>
                      <a:pt x="62" y="64"/>
                    </a:lnTo>
                    <a:lnTo>
                      <a:pt x="62" y="64"/>
                    </a:lnTo>
                    <a:lnTo>
                      <a:pt x="70" y="78"/>
                    </a:lnTo>
                    <a:lnTo>
                      <a:pt x="73" y="87"/>
                    </a:lnTo>
                    <a:lnTo>
                      <a:pt x="73" y="87"/>
                    </a:lnTo>
                    <a:lnTo>
                      <a:pt x="71" y="48"/>
                    </a:lnTo>
                    <a:lnTo>
                      <a:pt x="71" y="48"/>
                    </a:lnTo>
                    <a:lnTo>
                      <a:pt x="71" y="44"/>
                    </a:lnTo>
                    <a:lnTo>
                      <a:pt x="70" y="41"/>
                    </a:lnTo>
                    <a:lnTo>
                      <a:pt x="67" y="37"/>
                    </a:lnTo>
                    <a:lnTo>
                      <a:pt x="62" y="36"/>
                    </a:lnTo>
                    <a:lnTo>
                      <a:pt x="61" y="36"/>
                    </a:lnTo>
                    <a:lnTo>
                      <a:pt x="61" y="3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grpSp>
          <p:nvGrpSpPr>
            <p:cNvPr id="33" name="Group 521"/>
            <p:cNvGrpSpPr/>
            <p:nvPr/>
          </p:nvGrpSpPr>
          <p:grpSpPr>
            <a:xfrm>
              <a:off x="10459268" y="1390382"/>
              <a:ext cx="379083" cy="1429283"/>
              <a:chOff x="4719638" y="4116388"/>
              <a:chExt cx="428625" cy="1616075"/>
            </a:xfrm>
          </p:grpSpPr>
          <p:sp>
            <p:nvSpPr>
              <p:cNvPr id="34" name="Freeform 100"/>
              <p:cNvSpPr>
                <a:spLocks noEditPoints="1"/>
              </p:cNvSpPr>
              <p:nvPr/>
            </p:nvSpPr>
            <p:spPr bwMode="auto">
              <a:xfrm>
                <a:off x="4719638" y="4116388"/>
                <a:ext cx="428625" cy="1616075"/>
              </a:xfrm>
              <a:custGeom>
                <a:avLst/>
                <a:gdLst>
                  <a:gd name="T0" fmla="*/ 256 w 270"/>
                  <a:gd name="T1" fmla="*/ 521 h 1018"/>
                  <a:gd name="T2" fmla="*/ 265 w 270"/>
                  <a:gd name="T3" fmla="*/ 518 h 1018"/>
                  <a:gd name="T4" fmla="*/ 256 w 270"/>
                  <a:gd name="T5" fmla="*/ 395 h 1018"/>
                  <a:gd name="T6" fmla="*/ 252 w 270"/>
                  <a:gd name="T7" fmla="*/ 269 h 1018"/>
                  <a:gd name="T8" fmla="*/ 252 w 270"/>
                  <a:gd name="T9" fmla="*/ 212 h 1018"/>
                  <a:gd name="T10" fmla="*/ 241 w 270"/>
                  <a:gd name="T11" fmla="*/ 187 h 1018"/>
                  <a:gd name="T12" fmla="*/ 198 w 270"/>
                  <a:gd name="T13" fmla="*/ 128 h 1018"/>
                  <a:gd name="T14" fmla="*/ 218 w 270"/>
                  <a:gd name="T15" fmla="*/ 96 h 1018"/>
                  <a:gd name="T16" fmla="*/ 225 w 270"/>
                  <a:gd name="T17" fmla="*/ 91 h 1018"/>
                  <a:gd name="T18" fmla="*/ 227 w 270"/>
                  <a:gd name="T19" fmla="*/ 68 h 1018"/>
                  <a:gd name="T20" fmla="*/ 222 w 270"/>
                  <a:gd name="T21" fmla="*/ 59 h 1018"/>
                  <a:gd name="T22" fmla="*/ 224 w 270"/>
                  <a:gd name="T23" fmla="*/ 25 h 1018"/>
                  <a:gd name="T24" fmla="*/ 198 w 270"/>
                  <a:gd name="T25" fmla="*/ 2 h 1018"/>
                  <a:gd name="T26" fmla="*/ 161 w 270"/>
                  <a:gd name="T27" fmla="*/ 3 h 1018"/>
                  <a:gd name="T28" fmla="*/ 136 w 270"/>
                  <a:gd name="T29" fmla="*/ 28 h 1018"/>
                  <a:gd name="T30" fmla="*/ 134 w 270"/>
                  <a:gd name="T31" fmla="*/ 73 h 1018"/>
                  <a:gd name="T32" fmla="*/ 137 w 270"/>
                  <a:gd name="T33" fmla="*/ 91 h 1018"/>
                  <a:gd name="T34" fmla="*/ 145 w 270"/>
                  <a:gd name="T35" fmla="*/ 105 h 1018"/>
                  <a:gd name="T36" fmla="*/ 128 w 270"/>
                  <a:gd name="T37" fmla="*/ 130 h 1018"/>
                  <a:gd name="T38" fmla="*/ 74 w 270"/>
                  <a:gd name="T39" fmla="*/ 156 h 1018"/>
                  <a:gd name="T40" fmla="*/ 43 w 270"/>
                  <a:gd name="T41" fmla="*/ 175 h 1018"/>
                  <a:gd name="T42" fmla="*/ 33 w 270"/>
                  <a:gd name="T43" fmla="*/ 222 h 1018"/>
                  <a:gd name="T44" fmla="*/ 28 w 270"/>
                  <a:gd name="T45" fmla="*/ 244 h 1018"/>
                  <a:gd name="T46" fmla="*/ 19 w 270"/>
                  <a:gd name="T47" fmla="*/ 266 h 1018"/>
                  <a:gd name="T48" fmla="*/ 17 w 270"/>
                  <a:gd name="T49" fmla="*/ 278 h 1018"/>
                  <a:gd name="T50" fmla="*/ 14 w 270"/>
                  <a:gd name="T51" fmla="*/ 289 h 1018"/>
                  <a:gd name="T52" fmla="*/ 2 w 270"/>
                  <a:gd name="T53" fmla="*/ 321 h 1018"/>
                  <a:gd name="T54" fmla="*/ 6 w 270"/>
                  <a:gd name="T55" fmla="*/ 375 h 1018"/>
                  <a:gd name="T56" fmla="*/ 62 w 270"/>
                  <a:gd name="T57" fmla="*/ 474 h 1018"/>
                  <a:gd name="T58" fmla="*/ 94 w 270"/>
                  <a:gd name="T59" fmla="*/ 509 h 1018"/>
                  <a:gd name="T60" fmla="*/ 97 w 270"/>
                  <a:gd name="T61" fmla="*/ 545 h 1018"/>
                  <a:gd name="T62" fmla="*/ 100 w 270"/>
                  <a:gd name="T63" fmla="*/ 580 h 1018"/>
                  <a:gd name="T64" fmla="*/ 116 w 270"/>
                  <a:gd name="T65" fmla="*/ 631 h 1018"/>
                  <a:gd name="T66" fmla="*/ 108 w 270"/>
                  <a:gd name="T67" fmla="*/ 663 h 1018"/>
                  <a:gd name="T68" fmla="*/ 116 w 270"/>
                  <a:gd name="T69" fmla="*/ 693 h 1018"/>
                  <a:gd name="T70" fmla="*/ 111 w 270"/>
                  <a:gd name="T71" fmla="*/ 716 h 1018"/>
                  <a:gd name="T72" fmla="*/ 96 w 270"/>
                  <a:gd name="T73" fmla="*/ 768 h 1018"/>
                  <a:gd name="T74" fmla="*/ 87 w 270"/>
                  <a:gd name="T75" fmla="*/ 881 h 1018"/>
                  <a:gd name="T76" fmla="*/ 85 w 270"/>
                  <a:gd name="T77" fmla="*/ 910 h 1018"/>
                  <a:gd name="T78" fmla="*/ 88 w 270"/>
                  <a:gd name="T79" fmla="*/ 919 h 1018"/>
                  <a:gd name="T80" fmla="*/ 71 w 270"/>
                  <a:gd name="T81" fmla="*/ 987 h 1018"/>
                  <a:gd name="T82" fmla="*/ 88 w 270"/>
                  <a:gd name="T83" fmla="*/ 1015 h 1018"/>
                  <a:gd name="T84" fmla="*/ 114 w 270"/>
                  <a:gd name="T85" fmla="*/ 1015 h 1018"/>
                  <a:gd name="T86" fmla="*/ 130 w 270"/>
                  <a:gd name="T87" fmla="*/ 992 h 1018"/>
                  <a:gd name="T88" fmla="*/ 145 w 270"/>
                  <a:gd name="T89" fmla="*/ 968 h 1018"/>
                  <a:gd name="T90" fmla="*/ 202 w 270"/>
                  <a:gd name="T91" fmla="*/ 985 h 1018"/>
                  <a:gd name="T92" fmla="*/ 233 w 270"/>
                  <a:gd name="T93" fmla="*/ 979 h 1018"/>
                  <a:gd name="T94" fmla="*/ 221 w 270"/>
                  <a:gd name="T95" fmla="*/ 964 h 1018"/>
                  <a:gd name="T96" fmla="*/ 162 w 270"/>
                  <a:gd name="T97" fmla="*/ 913 h 1018"/>
                  <a:gd name="T98" fmla="*/ 158 w 270"/>
                  <a:gd name="T99" fmla="*/ 879 h 1018"/>
                  <a:gd name="T100" fmla="*/ 165 w 270"/>
                  <a:gd name="T101" fmla="*/ 802 h 1018"/>
                  <a:gd name="T102" fmla="*/ 184 w 270"/>
                  <a:gd name="T103" fmla="*/ 751 h 1018"/>
                  <a:gd name="T104" fmla="*/ 228 w 270"/>
                  <a:gd name="T105" fmla="*/ 586 h 1018"/>
                  <a:gd name="T106" fmla="*/ 256 w 270"/>
                  <a:gd name="T107" fmla="*/ 583 h 1018"/>
                  <a:gd name="T108" fmla="*/ 270 w 270"/>
                  <a:gd name="T109" fmla="*/ 557 h 1018"/>
                  <a:gd name="T110" fmla="*/ 74 w 270"/>
                  <a:gd name="T111" fmla="*/ 373 h 1018"/>
                  <a:gd name="T112" fmla="*/ 67 w 270"/>
                  <a:gd name="T113" fmla="*/ 346 h 1018"/>
                  <a:gd name="T114" fmla="*/ 62 w 270"/>
                  <a:gd name="T115" fmla="*/ 338 h 1018"/>
                  <a:gd name="T116" fmla="*/ 67 w 270"/>
                  <a:gd name="T117" fmla="*/ 327 h 1018"/>
                  <a:gd name="T118" fmla="*/ 76 w 270"/>
                  <a:gd name="T119" fmla="*/ 344 h 1018"/>
                  <a:gd name="T120" fmla="*/ 74 w 270"/>
                  <a:gd name="T121" fmla="*/ 373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70" h="1018">
                    <a:moveTo>
                      <a:pt x="264" y="541"/>
                    </a:moveTo>
                    <a:lnTo>
                      <a:pt x="264" y="541"/>
                    </a:lnTo>
                    <a:lnTo>
                      <a:pt x="259" y="534"/>
                    </a:lnTo>
                    <a:lnTo>
                      <a:pt x="258" y="528"/>
                    </a:lnTo>
                    <a:lnTo>
                      <a:pt x="256" y="521"/>
                    </a:lnTo>
                    <a:lnTo>
                      <a:pt x="256" y="521"/>
                    </a:lnTo>
                    <a:lnTo>
                      <a:pt x="262" y="521"/>
                    </a:lnTo>
                    <a:lnTo>
                      <a:pt x="265" y="520"/>
                    </a:lnTo>
                    <a:lnTo>
                      <a:pt x="265" y="520"/>
                    </a:lnTo>
                    <a:lnTo>
                      <a:pt x="265" y="518"/>
                    </a:lnTo>
                    <a:lnTo>
                      <a:pt x="265" y="518"/>
                    </a:lnTo>
                    <a:lnTo>
                      <a:pt x="262" y="503"/>
                    </a:lnTo>
                    <a:lnTo>
                      <a:pt x="261" y="467"/>
                    </a:lnTo>
                    <a:lnTo>
                      <a:pt x="256" y="395"/>
                    </a:lnTo>
                    <a:lnTo>
                      <a:pt x="256" y="395"/>
                    </a:lnTo>
                    <a:lnTo>
                      <a:pt x="255" y="366"/>
                    </a:lnTo>
                    <a:lnTo>
                      <a:pt x="255" y="329"/>
                    </a:lnTo>
                    <a:lnTo>
                      <a:pt x="253" y="293"/>
                    </a:lnTo>
                    <a:lnTo>
                      <a:pt x="253" y="279"/>
                    </a:lnTo>
                    <a:lnTo>
                      <a:pt x="252" y="269"/>
                    </a:lnTo>
                    <a:lnTo>
                      <a:pt x="252" y="269"/>
                    </a:lnTo>
                    <a:lnTo>
                      <a:pt x="250" y="261"/>
                    </a:lnTo>
                    <a:lnTo>
                      <a:pt x="250" y="250"/>
                    </a:lnTo>
                    <a:lnTo>
                      <a:pt x="250" y="230"/>
                    </a:lnTo>
                    <a:lnTo>
                      <a:pt x="252" y="212"/>
                    </a:lnTo>
                    <a:lnTo>
                      <a:pt x="252" y="204"/>
                    </a:lnTo>
                    <a:lnTo>
                      <a:pt x="250" y="198"/>
                    </a:lnTo>
                    <a:lnTo>
                      <a:pt x="250" y="198"/>
                    </a:lnTo>
                    <a:lnTo>
                      <a:pt x="247" y="193"/>
                    </a:lnTo>
                    <a:lnTo>
                      <a:pt x="241" y="187"/>
                    </a:lnTo>
                    <a:lnTo>
                      <a:pt x="225" y="176"/>
                    </a:lnTo>
                    <a:lnTo>
                      <a:pt x="204" y="162"/>
                    </a:lnTo>
                    <a:lnTo>
                      <a:pt x="198" y="145"/>
                    </a:lnTo>
                    <a:lnTo>
                      <a:pt x="198" y="128"/>
                    </a:lnTo>
                    <a:lnTo>
                      <a:pt x="198" y="128"/>
                    </a:lnTo>
                    <a:lnTo>
                      <a:pt x="204" y="127"/>
                    </a:lnTo>
                    <a:lnTo>
                      <a:pt x="208" y="121"/>
                    </a:lnTo>
                    <a:lnTo>
                      <a:pt x="211" y="114"/>
                    </a:lnTo>
                    <a:lnTo>
                      <a:pt x="215" y="108"/>
                    </a:lnTo>
                    <a:lnTo>
                      <a:pt x="218" y="96"/>
                    </a:lnTo>
                    <a:lnTo>
                      <a:pt x="219" y="91"/>
                    </a:lnTo>
                    <a:lnTo>
                      <a:pt x="219" y="91"/>
                    </a:lnTo>
                    <a:lnTo>
                      <a:pt x="221" y="93"/>
                    </a:lnTo>
                    <a:lnTo>
                      <a:pt x="224" y="93"/>
                    </a:lnTo>
                    <a:lnTo>
                      <a:pt x="225" y="91"/>
                    </a:lnTo>
                    <a:lnTo>
                      <a:pt x="225" y="90"/>
                    </a:lnTo>
                    <a:lnTo>
                      <a:pt x="228" y="84"/>
                    </a:lnTo>
                    <a:lnTo>
                      <a:pt x="228" y="76"/>
                    </a:lnTo>
                    <a:lnTo>
                      <a:pt x="228" y="76"/>
                    </a:lnTo>
                    <a:lnTo>
                      <a:pt x="227" y="68"/>
                    </a:lnTo>
                    <a:lnTo>
                      <a:pt x="225" y="65"/>
                    </a:lnTo>
                    <a:lnTo>
                      <a:pt x="224" y="64"/>
                    </a:lnTo>
                    <a:lnTo>
                      <a:pt x="224" y="64"/>
                    </a:lnTo>
                    <a:lnTo>
                      <a:pt x="224" y="64"/>
                    </a:lnTo>
                    <a:lnTo>
                      <a:pt x="222" y="59"/>
                    </a:lnTo>
                    <a:lnTo>
                      <a:pt x="224" y="54"/>
                    </a:lnTo>
                    <a:lnTo>
                      <a:pt x="225" y="44"/>
                    </a:lnTo>
                    <a:lnTo>
                      <a:pt x="227" y="34"/>
                    </a:lnTo>
                    <a:lnTo>
                      <a:pt x="227" y="30"/>
                    </a:lnTo>
                    <a:lnTo>
                      <a:pt x="224" y="25"/>
                    </a:lnTo>
                    <a:lnTo>
                      <a:pt x="224" y="25"/>
                    </a:lnTo>
                    <a:lnTo>
                      <a:pt x="216" y="17"/>
                    </a:lnTo>
                    <a:lnTo>
                      <a:pt x="208" y="10"/>
                    </a:lnTo>
                    <a:lnTo>
                      <a:pt x="202" y="5"/>
                    </a:lnTo>
                    <a:lnTo>
                      <a:pt x="198" y="2"/>
                    </a:lnTo>
                    <a:lnTo>
                      <a:pt x="191" y="0"/>
                    </a:lnTo>
                    <a:lnTo>
                      <a:pt x="184" y="0"/>
                    </a:lnTo>
                    <a:lnTo>
                      <a:pt x="184" y="0"/>
                    </a:lnTo>
                    <a:lnTo>
                      <a:pt x="171" y="0"/>
                    </a:lnTo>
                    <a:lnTo>
                      <a:pt x="161" y="3"/>
                    </a:lnTo>
                    <a:lnTo>
                      <a:pt x="153" y="7"/>
                    </a:lnTo>
                    <a:lnTo>
                      <a:pt x="147" y="11"/>
                    </a:lnTo>
                    <a:lnTo>
                      <a:pt x="147" y="11"/>
                    </a:lnTo>
                    <a:lnTo>
                      <a:pt x="141" y="19"/>
                    </a:lnTo>
                    <a:lnTo>
                      <a:pt x="136" y="28"/>
                    </a:lnTo>
                    <a:lnTo>
                      <a:pt x="133" y="40"/>
                    </a:lnTo>
                    <a:lnTo>
                      <a:pt x="131" y="54"/>
                    </a:lnTo>
                    <a:lnTo>
                      <a:pt x="131" y="54"/>
                    </a:lnTo>
                    <a:lnTo>
                      <a:pt x="133" y="67"/>
                    </a:lnTo>
                    <a:lnTo>
                      <a:pt x="134" y="73"/>
                    </a:lnTo>
                    <a:lnTo>
                      <a:pt x="136" y="79"/>
                    </a:lnTo>
                    <a:lnTo>
                      <a:pt x="136" y="84"/>
                    </a:lnTo>
                    <a:lnTo>
                      <a:pt x="136" y="84"/>
                    </a:lnTo>
                    <a:lnTo>
                      <a:pt x="136" y="88"/>
                    </a:lnTo>
                    <a:lnTo>
                      <a:pt x="137" y="91"/>
                    </a:lnTo>
                    <a:lnTo>
                      <a:pt x="144" y="96"/>
                    </a:lnTo>
                    <a:lnTo>
                      <a:pt x="144" y="96"/>
                    </a:lnTo>
                    <a:lnTo>
                      <a:pt x="145" y="98"/>
                    </a:lnTo>
                    <a:lnTo>
                      <a:pt x="145" y="101"/>
                    </a:lnTo>
                    <a:lnTo>
                      <a:pt x="145" y="105"/>
                    </a:lnTo>
                    <a:lnTo>
                      <a:pt x="142" y="111"/>
                    </a:lnTo>
                    <a:lnTo>
                      <a:pt x="136" y="111"/>
                    </a:lnTo>
                    <a:lnTo>
                      <a:pt x="136" y="111"/>
                    </a:lnTo>
                    <a:lnTo>
                      <a:pt x="134" y="116"/>
                    </a:lnTo>
                    <a:lnTo>
                      <a:pt x="128" y="130"/>
                    </a:lnTo>
                    <a:lnTo>
                      <a:pt x="128" y="130"/>
                    </a:lnTo>
                    <a:lnTo>
                      <a:pt x="125" y="135"/>
                    </a:lnTo>
                    <a:lnTo>
                      <a:pt x="117" y="139"/>
                    </a:lnTo>
                    <a:lnTo>
                      <a:pt x="96" y="148"/>
                    </a:lnTo>
                    <a:lnTo>
                      <a:pt x="74" y="156"/>
                    </a:lnTo>
                    <a:lnTo>
                      <a:pt x="57" y="161"/>
                    </a:lnTo>
                    <a:lnTo>
                      <a:pt x="57" y="161"/>
                    </a:lnTo>
                    <a:lnTo>
                      <a:pt x="51" y="164"/>
                    </a:lnTo>
                    <a:lnTo>
                      <a:pt x="47" y="168"/>
                    </a:lnTo>
                    <a:lnTo>
                      <a:pt x="43" y="175"/>
                    </a:lnTo>
                    <a:lnTo>
                      <a:pt x="40" y="181"/>
                    </a:lnTo>
                    <a:lnTo>
                      <a:pt x="37" y="192"/>
                    </a:lnTo>
                    <a:lnTo>
                      <a:pt x="36" y="199"/>
                    </a:lnTo>
                    <a:lnTo>
                      <a:pt x="36" y="199"/>
                    </a:lnTo>
                    <a:lnTo>
                      <a:pt x="33" y="222"/>
                    </a:lnTo>
                    <a:lnTo>
                      <a:pt x="33" y="222"/>
                    </a:lnTo>
                    <a:lnTo>
                      <a:pt x="33" y="227"/>
                    </a:lnTo>
                    <a:lnTo>
                      <a:pt x="31" y="232"/>
                    </a:lnTo>
                    <a:lnTo>
                      <a:pt x="31" y="232"/>
                    </a:lnTo>
                    <a:lnTo>
                      <a:pt x="28" y="244"/>
                    </a:lnTo>
                    <a:lnTo>
                      <a:pt x="25" y="258"/>
                    </a:lnTo>
                    <a:lnTo>
                      <a:pt x="25" y="258"/>
                    </a:lnTo>
                    <a:lnTo>
                      <a:pt x="23" y="261"/>
                    </a:lnTo>
                    <a:lnTo>
                      <a:pt x="22" y="262"/>
                    </a:lnTo>
                    <a:lnTo>
                      <a:pt x="19" y="266"/>
                    </a:lnTo>
                    <a:lnTo>
                      <a:pt x="17" y="270"/>
                    </a:lnTo>
                    <a:lnTo>
                      <a:pt x="17" y="270"/>
                    </a:lnTo>
                    <a:lnTo>
                      <a:pt x="16" y="273"/>
                    </a:lnTo>
                    <a:lnTo>
                      <a:pt x="16" y="275"/>
                    </a:lnTo>
                    <a:lnTo>
                      <a:pt x="17" y="278"/>
                    </a:lnTo>
                    <a:lnTo>
                      <a:pt x="17" y="282"/>
                    </a:lnTo>
                    <a:lnTo>
                      <a:pt x="17" y="282"/>
                    </a:lnTo>
                    <a:lnTo>
                      <a:pt x="14" y="289"/>
                    </a:lnTo>
                    <a:lnTo>
                      <a:pt x="14" y="289"/>
                    </a:lnTo>
                    <a:lnTo>
                      <a:pt x="14" y="289"/>
                    </a:lnTo>
                    <a:lnTo>
                      <a:pt x="14" y="289"/>
                    </a:lnTo>
                    <a:lnTo>
                      <a:pt x="10" y="298"/>
                    </a:lnTo>
                    <a:lnTo>
                      <a:pt x="6" y="309"/>
                    </a:lnTo>
                    <a:lnTo>
                      <a:pt x="2" y="321"/>
                    </a:lnTo>
                    <a:lnTo>
                      <a:pt x="2" y="321"/>
                    </a:lnTo>
                    <a:lnTo>
                      <a:pt x="0" y="338"/>
                    </a:lnTo>
                    <a:lnTo>
                      <a:pt x="0" y="353"/>
                    </a:lnTo>
                    <a:lnTo>
                      <a:pt x="3" y="366"/>
                    </a:lnTo>
                    <a:lnTo>
                      <a:pt x="6" y="375"/>
                    </a:lnTo>
                    <a:lnTo>
                      <a:pt x="6" y="375"/>
                    </a:lnTo>
                    <a:lnTo>
                      <a:pt x="16" y="390"/>
                    </a:lnTo>
                    <a:lnTo>
                      <a:pt x="31" y="418"/>
                    </a:lnTo>
                    <a:lnTo>
                      <a:pt x="59" y="466"/>
                    </a:lnTo>
                    <a:lnTo>
                      <a:pt x="59" y="466"/>
                    </a:lnTo>
                    <a:lnTo>
                      <a:pt x="62" y="474"/>
                    </a:lnTo>
                    <a:lnTo>
                      <a:pt x="65" y="480"/>
                    </a:lnTo>
                    <a:lnTo>
                      <a:pt x="65" y="484"/>
                    </a:lnTo>
                    <a:lnTo>
                      <a:pt x="87" y="486"/>
                    </a:lnTo>
                    <a:lnTo>
                      <a:pt x="87" y="486"/>
                    </a:lnTo>
                    <a:lnTo>
                      <a:pt x="94" y="509"/>
                    </a:lnTo>
                    <a:lnTo>
                      <a:pt x="94" y="509"/>
                    </a:lnTo>
                    <a:lnTo>
                      <a:pt x="96" y="515"/>
                    </a:lnTo>
                    <a:lnTo>
                      <a:pt x="96" y="526"/>
                    </a:lnTo>
                    <a:lnTo>
                      <a:pt x="96" y="537"/>
                    </a:lnTo>
                    <a:lnTo>
                      <a:pt x="97" y="545"/>
                    </a:lnTo>
                    <a:lnTo>
                      <a:pt x="97" y="545"/>
                    </a:lnTo>
                    <a:lnTo>
                      <a:pt x="99" y="552"/>
                    </a:lnTo>
                    <a:lnTo>
                      <a:pt x="99" y="562"/>
                    </a:lnTo>
                    <a:lnTo>
                      <a:pt x="99" y="571"/>
                    </a:lnTo>
                    <a:lnTo>
                      <a:pt x="100" y="580"/>
                    </a:lnTo>
                    <a:lnTo>
                      <a:pt x="100" y="580"/>
                    </a:lnTo>
                    <a:lnTo>
                      <a:pt x="104" y="592"/>
                    </a:lnTo>
                    <a:lnTo>
                      <a:pt x="108" y="608"/>
                    </a:lnTo>
                    <a:lnTo>
                      <a:pt x="116" y="631"/>
                    </a:lnTo>
                    <a:lnTo>
                      <a:pt x="116" y="631"/>
                    </a:lnTo>
                    <a:lnTo>
                      <a:pt x="117" y="635"/>
                    </a:lnTo>
                    <a:lnTo>
                      <a:pt x="116" y="639"/>
                    </a:lnTo>
                    <a:lnTo>
                      <a:pt x="113" y="648"/>
                    </a:lnTo>
                    <a:lnTo>
                      <a:pt x="110" y="656"/>
                    </a:lnTo>
                    <a:lnTo>
                      <a:pt x="108" y="663"/>
                    </a:lnTo>
                    <a:lnTo>
                      <a:pt x="108" y="663"/>
                    </a:lnTo>
                    <a:lnTo>
                      <a:pt x="108" y="671"/>
                    </a:lnTo>
                    <a:lnTo>
                      <a:pt x="111" y="677"/>
                    </a:lnTo>
                    <a:lnTo>
                      <a:pt x="113" y="683"/>
                    </a:lnTo>
                    <a:lnTo>
                      <a:pt x="116" y="693"/>
                    </a:lnTo>
                    <a:lnTo>
                      <a:pt x="116" y="693"/>
                    </a:lnTo>
                    <a:lnTo>
                      <a:pt x="117" y="700"/>
                    </a:lnTo>
                    <a:lnTo>
                      <a:pt x="117" y="705"/>
                    </a:lnTo>
                    <a:lnTo>
                      <a:pt x="116" y="709"/>
                    </a:lnTo>
                    <a:lnTo>
                      <a:pt x="111" y="716"/>
                    </a:lnTo>
                    <a:lnTo>
                      <a:pt x="111" y="716"/>
                    </a:lnTo>
                    <a:lnTo>
                      <a:pt x="108" y="720"/>
                    </a:lnTo>
                    <a:lnTo>
                      <a:pt x="105" y="728"/>
                    </a:lnTo>
                    <a:lnTo>
                      <a:pt x="100" y="746"/>
                    </a:lnTo>
                    <a:lnTo>
                      <a:pt x="96" y="768"/>
                    </a:lnTo>
                    <a:lnTo>
                      <a:pt x="94" y="793"/>
                    </a:lnTo>
                    <a:lnTo>
                      <a:pt x="94" y="793"/>
                    </a:lnTo>
                    <a:lnTo>
                      <a:pt x="93" y="819"/>
                    </a:lnTo>
                    <a:lnTo>
                      <a:pt x="91" y="845"/>
                    </a:lnTo>
                    <a:lnTo>
                      <a:pt x="87" y="881"/>
                    </a:lnTo>
                    <a:lnTo>
                      <a:pt x="87" y="881"/>
                    </a:lnTo>
                    <a:lnTo>
                      <a:pt x="84" y="899"/>
                    </a:lnTo>
                    <a:lnTo>
                      <a:pt x="80" y="908"/>
                    </a:lnTo>
                    <a:lnTo>
                      <a:pt x="80" y="908"/>
                    </a:lnTo>
                    <a:lnTo>
                      <a:pt x="85" y="910"/>
                    </a:lnTo>
                    <a:lnTo>
                      <a:pt x="85" y="910"/>
                    </a:lnTo>
                    <a:lnTo>
                      <a:pt x="88" y="911"/>
                    </a:lnTo>
                    <a:lnTo>
                      <a:pt x="88" y="915"/>
                    </a:lnTo>
                    <a:lnTo>
                      <a:pt x="88" y="919"/>
                    </a:lnTo>
                    <a:lnTo>
                      <a:pt x="88" y="919"/>
                    </a:lnTo>
                    <a:lnTo>
                      <a:pt x="79" y="945"/>
                    </a:lnTo>
                    <a:lnTo>
                      <a:pt x="73" y="967"/>
                    </a:lnTo>
                    <a:lnTo>
                      <a:pt x="70" y="981"/>
                    </a:lnTo>
                    <a:lnTo>
                      <a:pt x="70" y="981"/>
                    </a:lnTo>
                    <a:lnTo>
                      <a:pt x="71" y="987"/>
                    </a:lnTo>
                    <a:lnTo>
                      <a:pt x="73" y="992"/>
                    </a:lnTo>
                    <a:lnTo>
                      <a:pt x="74" y="998"/>
                    </a:lnTo>
                    <a:lnTo>
                      <a:pt x="79" y="1004"/>
                    </a:lnTo>
                    <a:lnTo>
                      <a:pt x="84" y="1010"/>
                    </a:lnTo>
                    <a:lnTo>
                      <a:pt x="88" y="1015"/>
                    </a:lnTo>
                    <a:lnTo>
                      <a:pt x="96" y="1016"/>
                    </a:lnTo>
                    <a:lnTo>
                      <a:pt x="102" y="1018"/>
                    </a:lnTo>
                    <a:lnTo>
                      <a:pt x="102" y="1018"/>
                    </a:lnTo>
                    <a:lnTo>
                      <a:pt x="110" y="1018"/>
                    </a:lnTo>
                    <a:lnTo>
                      <a:pt x="114" y="1015"/>
                    </a:lnTo>
                    <a:lnTo>
                      <a:pt x="121" y="1012"/>
                    </a:lnTo>
                    <a:lnTo>
                      <a:pt x="124" y="1007"/>
                    </a:lnTo>
                    <a:lnTo>
                      <a:pt x="128" y="999"/>
                    </a:lnTo>
                    <a:lnTo>
                      <a:pt x="130" y="992"/>
                    </a:lnTo>
                    <a:lnTo>
                      <a:pt x="130" y="992"/>
                    </a:lnTo>
                    <a:lnTo>
                      <a:pt x="128" y="976"/>
                    </a:lnTo>
                    <a:lnTo>
                      <a:pt x="125" y="965"/>
                    </a:lnTo>
                    <a:lnTo>
                      <a:pt x="125" y="965"/>
                    </a:lnTo>
                    <a:lnTo>
                      <a:pt x="136" y="965"/>
                    </a:lnTo>
                    <a:lnTo>
                      <a:pt x="145" y="968"/>
                    </a:lnTo>
                    <a:lnTo>
                      <a:pt x="161" y="976"/>
                    </a:lnTo>
                    <a:lnTo>
                      <a:pt x="161" y="976"/>
                    </a:lnTo>
                    <a:lnTo>
                      <a:pt x="173" y="979"/>
                    </a:lnTo>
                    <a:lnTo>
                      <a:pt x="187" y="984"/>
                    </a:lnTo>
                    <a:lnTo>
                      <a:pt x="202" y="985"/>
                    </a:lnTo>
                    <a:lnTo>
                      <a:pt x="215" y="987"/>
                    </a:lnTo>
                    <a:lnTo>
                      <a:pt x="215" y="987"/>
                    </a:lnTo>
                    <a:lnTo>
                      <a:pt x="222" y="987"/>
                    </a:lnTo>
                    <a:lnTo>
                      <a:pt x="228" y="984"/>
                    </a:lnTo>
                    <a:lnTo>
                      <a:pt x="233" y="979"/>
                    </a:lnTo>
                    <a:lnTo>
                      <a:pt x="235" y="976"/>
                    </a:lnTo>
                    <a:lnTo>
                      <a:pt x="235" y="976"/>
                    </a:lnTo>
                    <a:lnTo>
                      <a:pt x="233" y="973"/>
                    </a:lnTo>
                    <a:lnTo>
                      <a:pt x="230" y="970"/>
                    </a:lnTo>
                    <a:lnTo>
                      <a:pt x="221" y="964"/>
                    </a:lnTo>
                    <a:lnTo>
                      <a:pt x="196" y="948"/>
                    </a:lnTo>
                    <a:lnTo>
                      <a:pt x="196" y="948"/>
                    </a:lnTo>
                    <a:lnTo>
                      <a:pt x="185" y="939"/>
                    </a:lnTo>
                    <a:lnTo>
                      <a:pt x="176" y="930"/>
                    </a:lnTo>
                    <a:lnTo>
                      <a:pt x="162" y="913"/>
                    </a:lnTo>
                    <a:lnTo>
                      <a:pt x="162" y="913"/>
                    </a:lnTo>
                    <a:lnTo>
                      <a:pt x="156" y="907"/>
                    </a:lnTo>
                    <a:lnTo>
                      <a:pt x="153" y="907"/>
                    </a:lnTo>
                    <a:lnTo>
                      <a:pt x="153" y="907"/>
                    </a:lnTo>
                    <a:lnTo>
                      <a:pt x="158" y="879"/>
                    </a:lnTo>
                    <a:lnTo>
                      <a:pt x="161" y="856"/>
                    </a:lnTo>
                    <a:lnTo>
                      <a:pt x="161" y="837"/>
                    </a:lnTo>
                    <a:lnTo>
                      <a:pt x="161" y="837"/>
                    </a:lnTo>
                    <a:lnTo>
                      <a:pt x="162" y="820"/>
                    </a:lnTo>
                    <a:lnTo>
                      <a:pt x="165" y="802"/>
                    </a:lnTo>
                    <a:lnTo>
                      <a:pt x="168" y="780"/>
                    </a:lnTo>
                    <a:lnTo>
                      <a:pt x="168" y="780"/>
                    </a:lnTo>
                    <a:lnTo>
                      <a:pt x="181" y="759"/>
                    </a:lnTo>
                    <a:lnTo>
                      <a:pt x="181" y="759"/>
                    </a:lnTo>
                    <a:lnTo>
                      <a:pt x="184" y="751"/>
                    </a:lnTo>
                    <a:lnTo>
                      <a:pt x="187" y="743"/>
                    </a:lnTo>
                    <a:lnTo>
                      <a:pt x="190" y="730"/>
                    </a:lnTo>
                    <a:lnTo>
                      <a:pt x="190" y="720"/>
                    </a:lnTo>
                    <a:lnTo>
                      <a:pt x="188" y="716"/>
                    </a:lnTo>
                    <a:lnTo>
                      <a:pt x="228" y="586"/>
                    </a:lnTo>
                    <a:lnTo>
                      <a:pt x="228" y="586"/>
                    </a:lnTo>
                    <a:lnTo>
                      <a:pt x="239" y="586"/>
                    </a:lnTo>
                    <a:lnTo>
                      <a:pt x="248" y="585"/>
                    </a:lnTo>
                    <a:lnTo>
                      <a:pt x="256" y="583"/>
                    </a:lnTo>
                    <a:lnTo>
                      <a:pt x="256" y="583"/>
                    </a:lnTo>
                    <a:lnTo>
                      <a:pt x="259" y="578"/>
                    </a:lnTo>
                    <a:lnTo>
                      <a:pt x="262" y="574"/>
                    </a:lnTo>
                    <a:lnTo>
                      <a:pt x="269" y="562"/>
                    </a:lnTo>
                    <a:lnTo>
                      <a:pt x="269" y="562"/>
                    </a:lnTo>
                    <a:lnTo>
                      <a:pt x="270" y="557"/>
                    </a:lnTo>
                    <a:lnTo>
                      <a:pt x="270" y="552"/>
                    </a:lnTo>
                    <a:lnTo>
                      <a:pt x="267" y="548"/>
                    </a:lnTo>
                    <a:lnTo>
                      <a:pt x="264" y="541"/>
                    </a:lnTo>
                    <a:lnTo>
                      <a:pt x="264" y="541"/>
                    </a:lnTo>
                    <a:close/>
                    <a:moveTo>
                      <a:pt x="74" y="373"/>
                    </a:moveTo>
                    <a:lnTo>
                      <a:pt x="74" y="373"/>
                    </a:lnTo>
                    <a:lnTo>
                      <a:pt x="71" y="361"/>
                    </a:lnTo>
                    <a:lnTo>
                      <a:pt x="71" y="361"/>
                    </a:lnTo>
                    <a:lnTo>
                      <a:pt x="71" y="360"/>
                    </a:lnTo>
                    <a:lnTo>
                      <a:pt x="67" y="346"/>
                    </a:lnTo>
                    <a:lnTo>
                      <a:pt x="67" y="346"/>
                    </a:lnTo>
                    <a:lnTo>
                      <a:pt x="63" y="336"/>
                    </a:lnTo>
                    <a:lnTo>
                      <a:pt x="63" y="338"/>
                    </a:lnTo>
                    <a:lnTo>
                      <a:pt x="63" y="338"/>
                    </a:lnTo>
                    <a:lnTo>
                      <a:pt x="62" y="338"/>
                    </a:lnTo>
                    <a:lnTo>
                      <a:pt x="62" y="338"/>
                    </a:lnTo>
                    <a:lnTo>
                      <a:pt x="62" y="335"/>
                    </a:lnTo>
                    <a:lnTo>
                      <a:pt x="63" y="330"/>
                    </a:lnTo>
                    <a:lnTo>
                      <a:pt x="67" y="327"/>
                    </a:lnTo>
                    <a:lnTo>
                      <a:pt x="67" y="327"/>
                    </a:lnTo>
                    <a:lnTo>
                      <a:pt x="70" y="330"/>
                    </a:lnTo>
                    <a:lnTo>
                      <a:pt x="71" y="333"/>
                    </a:lnTo>
                    <a:lnTo>
                      <a:pt x="73" y="338"/>
                    </a:lnTo>
                    <a:lnTo>
                      <a:pt x="73" y="338"/>
                    </a:lnTo>
                    <a:lnTo>
                      <a:pt x="76" y="344"/>
                    </a:lnTo>
                    <a:lnTo>
                      <a:pt x="79" y="355"/>
                    </a:lnTo>
                    <a:lnTo>
                      <a:pt x="79" y="355"/>
                    </a:lnTo>
                    <a:lnTo>
                      <a:pt x="79" y="361"/>
                    </a:lnTo>
                    <a:lnTo>
                      <a:pt x="77" y="367"/>
                    </a:lnTo>
                    <a:lnTo>
                      <a:pt x="74" y="373"/>
                    </a:lnTo>
                    <a:lnTo>
                      <a:pt x="74" y="373"/>
                    </a:lnTo>
                    <a:close/>
                  </a:path>
                </a:pathLst>
              </a:custGeom>
              <a:solidFill>
                <a:srgbClr val="01010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5" name="Freeform 101"/>
              <p:cNvSpPr/>
              <p:nvPr/>
            </p:nvSpPr>
            <p:spPr bwMode="auto">
              <a:xfrm>
                <a:off x="4926013" y="4303713"/>
                <a:ext cx="134938" cy="341312"/>
              </a:xfrm>
              <a:custGeom>
                <a:avLst/>
                <a:gdLst>
                  <a:gd name="T0" fmla="*/ 1 w 85"/>
                  <a:gd name="T1" fmla="*/ 12 h 215"/>
                  <a:gd name="T2" fmla="*/ 1 w 85"/>
                  <a:gd name="T3" fmla="*/ 12 h 215"/>
                  <a:gd name="T4" fmla="*/ 3 w 85"/>
                  <a:gd name="T5" fmla="*/ 15 h 215"/>
                  <a:gd name="T6" fmla="*/ 6 w 85"/>
                  <a:gd name="T7" fmla="*/ 23 h 215"/>
                  <a:gd name="T8" fmla="*/ 6 w 85"/>
                  <a:gd name="T9" fmla="*/ 23 h 215"/>
                  <a:gd name="T10" fmla="*/ 11 w 85"/>
                  <a:gd name="T11" fmla="*/ 30 h 215"/>
                  <a:gd name="T12" fmla="*/ 15 w 85"/>
                  <a:gd name="T13" fmla="*/ 44 h 215"/>
                  <a:gd name="T14" fmla="*/ 28 w 85"/>
                  <a:gd name="T15" fmla="*/ 78 h 215"/>
                  <a:gd name="T16" fmla="*/ 28 w 85"/>
                  <a:gd name="T17" fmla="*/ 78 h 215"/>
                  <a:gd name="T18" fmla="*/ 57 w 85"/>
                  <a:gd name="T19" fmla="*/ 148 h 215"/>
                  <a:gd name="T20" fmla="*/ 72 w 85"/>
                  <a:gd name="T21" fmla="*/ 189 h 215"/>
                  <a:gd name="T22" fmla="*/ 77 w 85"/>
                  <a:gd name="T23" fmla="*/ 205 h 215"/>
                  <a:gd name="T24" fmla="*/ 80 w 85"/>
                  <a:gd name="T25" fmla="*/ 215 h 215"/>
                  <a:gd name="T26" fmla="*/ 80 w 85"/>
                  <a:gd name="T27" fmla="*/ 215 h 215"/>
                  <a:gd name="T28" fmla="*/ 81 w 85"/>
                  <a:gd name="T29" fmla="*/ 191 h 215"/>
                  <a:gd name="T30" fmla="*/ 85 w 85"/>
                  <a:gd name="T31" fmla="*/ 146 h 215"/>
                  <a:gd name="T32" fmla="*/ 85 w 85"/>
                  <a:gd name="T33" fmla="*/ 146 h 215"/>
                  <a:gd name="T34" fmla="*/ 85 w 85"/>
                  <a:gd name="T35" fmla="*/ 124 h 215"/>
                  <a:gd name="T36" fmla="*/ 83 w 85"/>
                  <a:gd name="T37" fmla="*/ 101 h 215"/>
                  <a:gd name="T38" fmla="*/ 80 w 85"/>
                  <a:gd name="T39" fmla="*/ 81 h 215"/>
                  <a:gd name="T40" fmla="*/ 77 w 85"/>
                  <a:gd name="T41" fmla="*/ 69 h 215"/>
                  <a:gd name="T42" fmla="*/ 77 w 85"/>
                  <a:gd name="T43" fmla="*/ 69 h 215"/>
                  <a:gd name="T44" fmla="*/ 74 w 85"/>
                  <a:gd name="T45" fmla="*/ 57 h 215"/>
                  <a:gd name="T46" fmla="*/ 74 w 85"/>
                  <a:gd name="T47" fmla="*/ 44 h 215"/>
                  <a:gd name="T48" fmla="*/ 74 w 85"/>
                  <a:gd name="T49" fmla="*/ 44 h 215"/>
                  <a:gd name="T50" fmla="*/ 74 w 85"/>
                  <a:gd name="T51" fmla="*/ 44 h 215"/>
                  <a:gd name="T52" fmla="*/ 71 w 85"/>
                  <a:gd name="T53" fmla="*/ 33 h 215"/>
                  <a:gd name="T54" fmla="*/ 63 w 85"/>
                  <a:gd name="T55" fmla="*/ 41 h 215"/>
                  <a:gd name="T56" fmla="*/ 60 w 85"/>
                  <a:gd name="T57" fmla="*/ 61 h 215"/>
                  <a:gd name="T58" fmla="*/ 61 w 85"/>
                  <a:gd name="T59" fmla="*/ 78 h 215"/>
                  <a:gd name="T60" fmla="*/ 58 w 85"/>
                  <a:gd name="T61" fmla="*/ 91 h 215"/>
                  <a:gd name="T62" fmla="*/ 55 w 85"/>
                  <a:gd name="T63" fmla="*/ 61 h 215"/>
                  <a:gd name="T64" fmla="*/ 44 w 85"/>
                  <a:gd name="T65" fmla="*/ 32 h 215"/>
                  <a:gd name="T66" fmla="*/ 44 w 85"/>
                  <a:gd name="T67" fmla="*/ 32 h 215"/>
                  <a:gd name="T68" fmla="*/ 7 w 85"/>
                  <a:gd name="T69" fmla="*/ 1 h 215"/>
                  <a:gd name="T70" fmla="*/ 7 w 85"/>
                  <a:gd name="T71" fmla="*/ 1 h 215"/>
                  <a:gd name="T72" fmla="*/ 6 w 85"/>
                  <a:gd name="T73" fmla="*/ 0 h 215"/>
                  <a:gd name="T74" fmla="*/ 4 w 85"/>
                  <a:gd name="T75" fmla="*/ 0 h 215"/>
                  <a:gd name="T76" fmla="*/ 4 w 85"/>
                  <a:gd name="T77" fmla="*/ 0 h 215"/>
                  <a:gd name="T78" fmla="*/ 0 w 85"/>
                  <a:gd name="T79" fmla="*/ 12 h 215"/>
                  <a:gd name="T80" fmla="*/ 1 w 85"/>
                  <a:gd name="T81" fmla="*/ 1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215">
                    <a:moveTo>
                      <a:pt x="1" y="12"/>
                    </a:moveTo>
                    <a:lnTo>
                      <a:pt x="1" y="12"/>
                    </a:lnTo>
                    <a:lnTo>
                      <a:pt x="3" y="15"/>
                    </a:lnTo>
                    <a:lnTo>
                      <a:pt x="6" y="23"/>
                    </a:lnTo>
                    <a:lnTo>
                      <a:pt x="6" y="23"/>
                    </a:lnTo>
                    <a:lnTo>
                      <a:pt x="11" y="30"/>
                    </a:lnTo>
                    <a:lnTo>
                      <a:pt x="15" y="44"/>
                    </a:lnTo>
                    <a:lnTo>
                      <a:pt x="28" y="78"/>
                    </a:lnTo>
                    <a:lnTo>
                      <a:pt x="28" y="78"/>
                    </a:lnTo>
                    <a:lnTo>
                      <a:pt x="57" y="148"/>
                    </a:lnTo>
                    <a:lnTo>
                      <a:pt x="72" y="189"/>
                    </a:lnTo>
                    <a:lnTo>
                      <a:pt x="77" y="205"/>
                    </a:lnTo>
                    <a:lnTo>
                      <a:pt x="80" y="215"/>
                    </a:lnTo>
                    <a:lnTo>
                      <a:pt x="80" y="215"/>
                    </a:lnTo>
                    <a:lnTo>
                      <a:pt x="81" y="191"/>
                    </a:lnTo>
                    <a:lnTo>
                      <a:pt x="85" y="146"/>
                    </a:lnTo>
                    <a:lnTo>
                      <a:pt x="85" y="146"/>
                    </a:lnTo>
                    <a:lnTo>
                      <a:pt x="85" y="124"/>
                    </a:lnTo>
                    <a:lnTo>
                      <a:pt x="83" y="101"/>
                    </a:lnTo>
                    <a:lnTo>
                      <a:pt x="80" y="81"/>
                    </a:lnTo>
                    <a:lnTo>
                      <a:pt x="77" y="69"/>
                    </a:lnTo>
                    <a:lnTo>
                      <a:pt x="77" y="69"/>
                    </a:lnTo>
                    <a:lnTo>
                      <a:pt x="74" y="57"/>
                    </a:lnTo>
                    <a:lnTo>
                      <a:pt x="74" y="44"/>
                    </a:lnTo>
                    <a:lnTo>
                      <a:pt x="74" y="44"/>
                    </a:lnTo>
                    <a:lnTo>
                      <a:pt x="74" y="44"/>
                    </a:lnTo>
                    <a:lnTo>
                      <a:pt x="71" y="33"/>
                    </a:lnTo>
                    <a:lnTo>
                      <a:pt x="63" y="41"/>
                    </a:lnTo>
                    <a:lnTo>
                      <a:pt x="60" y="61"/>
                    </a:lnTo>
                    <a:lnTo>
                      <a:pt x="61" y="78"/>
                    </a:lnTo>
                    <a:lnTo>
                      <a:pt x="58" y="91"/>
                    </a:lnTo>
                    <a:lnTo>
                      <a:pt x="55" y="61"/>
                    </a:lnTo>
                    <a:lnTo>
                      <a:pt x="44" y="32"/>
                    </a:lnTo>
                    <a:lnTo>
                      <a:pt x="44" y="32"/>
                    </a:lnTo>
                    <a:lnTo>
                      <a:pt x="7" y="1"/>
                    </a:lnTo>
                    <a:lnTo>
                      <a:pt x="7" y="1"/>
                    </a:lnTo>
                    <a:lnTo>
                      <a:pt x="6" y="0"/>
                    </a:lnTo>
                    <a:lnTo>
                      <a:pt x="4" y="0"/>
                    </a:lnTo>
                    <a:lnTo>
                      <a:pt x="4" y="0"/>
                    </a:lnTo>
                    <a:lnTo>
                      <a:pt x="0" y="12"/>
                    </a:lnTo>
                    <a:lnTo>
                      <a:pt x="1"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grpSp>
      </p:grpSp>
      <p:sp>
        <p:nvSpPr>
          <p:cNvPr id="55" name="加号 54"/>
          <p:cNvSpPr/>
          <p:nvPr/>
        </p:nvSpPr>
        <p:spPr>
          <a:xfrm>
            <a:off x="2729975" y="4353249"/>
            <a:ext cx="482600" cy="482600"/>
          </a:xfrm>
          <a:prstGeom prst="mathPlus">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63" name="矩形 62"/>
          <p:cNvSpPr/>
          <p:nvPr/>
        </p:nvSpPr>
        <p:spPr>
          <a:xfrm>
            <a:off x="675355" y="2052426"/>
            <a:ext cx="3958247" cy="4644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a:t>
            </a:r>
            <a:r>
              <a:rPr kumimoji="0" lang="en-US" altLang="zh-CN" sz="18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3+N”</a:t>
            </a:r>
            <a:r>
              <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rPr>
              <a:t>协同知识管理组织</a:t>
            </a:r>
            <a:endParaRPr kumimoji="0" lang="zh-CN" altLang="en-US" sz="1800" b="1" i="0" u="none" strike="noStrike" kern="1200" cap="none" spc="0" normalizeH="0" baseline="0" noProof="0" dirty="0">
              <a:ln>
                <a:noFill/>
              </a:ln>
              <a:solidFill>
                <a:srgbClr val="4472C4">
                  <a:lumMod val="75000"/>
                </a:srgbClr>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63" name="组合 162"/>
          <p:cNvGrpSpPr/>
          <p:nvPr/>
        </p:nvGrpSpPr>
        <p:grpSpPr>
          <a:xfrm>
            <a:off x="5045710" y="2111375"/>
            <a:ext cx="6972935" cy="4415155"/>
            <a:chOff x="7946" y="3325"/>
            <a:chExt cx="10981" cy="6953"/>
          </a:xfrm>
        </p:grpSpPr>
        <p:sp>
          <p:nvSpPr>
            <p:cNvPr id="106" name="Rectangle 9"/>
            <p:cNvSpPr/>
            <p:nvPr/>
          </p:nvSpPr>
          <p:spPr>
            <a:xfrm>
              <a:off x="7946" y="4043"/>
              <a:ext cx="1400" cy="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7" name="Rectangle 10"/>
            <p:cNvSpPr/>
            <p:nvPr/>
          </p:nvSpPr>
          <p:spPr>
            <a:xfrm>
              <a:off x="7947" y="5633"/>
              <a:ext cx="1348" cy="91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融合团队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8" name="Rectangle 15"/>
            <p:cNvSpPr/>
            <p:nvPr/>
          </p:nvSpPr>
          <p:spPr>
            <a:xfrm>
              <a:off x="7946" y="9058"/>
              <a:ext cx="1576" cy="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知识运营团队</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9" name="Rectangle 15"/>
            <p:cNvSpPr/>
            <p:nvPr/>
          </p:nvSpPr>
          <p:spPr>
            <a:xfrm>
              <a:off x="7946" y="7383"/>
              <a:ext cx="1439" cy="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知识工程团队</a:t>
              </a:r>
              <a:endPar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0" name="箭头: V 形 7"/>
            <p:cNvSpPr/>
            <p:nvPr/>
          </p:nvSpPr>
          <p:spPr>
            <a:xfrm>
              <a:off x="9584" y="3325"/>
              <a:ext cx="2154"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需求及方案</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1" name="箭头: V 形 9"/>
            <p:cNvSpPr/>
            <p:nvPr/>
          </p:nvSpPr>
          <p:spPr>
            <a:xfrm>
              <a:off x="11603" y="3325"/>
              <a:ext cx="1850"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知识工程实施</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2" name="箭头: V 形 10"/>
            <p:cNvSpPr/>
            <p:nvPr/>
          </p:nvSpPr>
          <p:spPr>
            <a:xfrm>
              <a:off x="14859" y="3325"/>
              <a:ext cx="1861"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知识投产</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3" name="箭头: V 形 11"/>
            <p:cNvSpPr/>
            <p:nvPr/>
          </p:nvSpPr>
          <p:spPr>
            <a:xfrm>
              <a:off x="16544" y="3325"/>
              <a:ext cx="2352"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知识运营</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114" name="直接连接符 16"/>
            <p:cNvCxnSpPr/>
            <p:nvPr/>
          </p:nvCxnSpPr>
          <p:spPr>
            <a:xfrm>
              <a:off x="9207" y="6941"/>
              <a:ext cx="9581"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5" name="直接连接符 17"/>
            <p:cNvCxnSpPr/>
            <p:nvPr/>
          </p:nvCxnSpPr>
          <p:spPr>
            <a:xfrm>
              <a:off x="9315" y="8518"/>
              <a:ext cx="9581"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6" name="直接连接符 18"/>
            <p:cNvCxnSpPr/>
            <p:nvPr/>
          </p:nvCxnSpPr>
          <p:spPr>
            <a:xfrm>
              <a:off x="9315" y="10278"/>
              <a:ext cx="9581"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18" name="矩形: 圆角 59"/>
            <p:cNvSpPr/>
            <p:nvPr/>
          </p:nvSpPr>
          <p:spPr>
            <a:xfrm>
              <a:off x="9756" y="3996"/>
              <a:ext cx="1862" cy="1000"/>
            </a:xfrm>
            <a:prstGeom prst="roundRect">
              <a:avLst/>
            </a:prstGeom>
            <a:pattFill prst="smCheck">
              <a:fgClr>
                <a:schemeClr val="accent1">
                  <a:lumMod val="20000"/>
                  <a:lumOff val="80000"/>
                </a:schemeClr>
              </a:fgClr>
              <a:bgClr>
                <a:schemeClr val="bg1"/>
              </a:bgClr>
            </a:patt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600"/>
                </a:spcAft>
                <a:buClrTx/>
                <a:buSzTx/>
                <a:buFontTx/>
                <a:buNone/>
                <a:defRPr/>
              </a:pPr>
              <a:r>
                <a:rPr kumimoji="0" lang="zh-CN" altLang="en-US" sz="11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提出需求意向及知识相关资料</a:t>
              </a:r>
              <a:endParaRPr kumimoji="0" lang="zh-CN" altLang="en-US" sz="11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矩形: 圆角 60"/>
            <p:cNvSpPr/>
            <p:nvPr/>
          </p:nvSpPr>
          <p:spPr>
            <a:xfrm>
              <a:off x="9799" y="5599"/>
              <a:ext cx="1818" cy="973"/>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知识需求分析及知识方案设计</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1" name="矩形: 圆角 62"/>
            <p:cNvSpPr/>
            <p:nvPr/>
          </p:nvSpPr>
          <p:spPr>
            <a:xfrm>
              <a:off x="12025" y="7188"/>
              <a:ext cx="1072" cy="118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知识接入</a:t>
              </a:r>
              <a:r>
                <a:rPr kumimoji="0" lang="en-US" altLang="zh-CN"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加工及检索</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23" name="矩形: 圆角 67"/>
            <p:cNvSpPr/>
            <p:nvPr/>
          </p:nvSpPr>
          <p:spPr>
            <a:xfrm>
              <a:off x="17201" y="8664"/>
              <a:ext cx="1438" cy="4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知识演进及保鲜</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cxnSp>
          <p:nvCxnSpPr>
            <p:cNvPr id="125" name="直接箭头连接符 70"/>
            <p:cNvCxnSpPr>
              <a:stCxn id="118" idx="2"/>
              <a:endCxn id="120" idx="0"/>
            </p:cNvCxnSpPr>
            <p:nvPr/>
          </p:nvCxnSpPr>
          <p:spPr>
            <a:xfrm>
              <a:off x="10687" y="4996"/>
              <a:ext cx="21" cy="6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6" name="直接连接符 15"/>
            <p:cNvCxnSpPr/>
            <p:nvPr/>
          </p:nvCxnSpPr>
          <p:spPr>
            <a:xfrm>
              <a:off x="9308" y="5112"/>
              <a:ext cx="9619"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28" name="矩形: 圆角 60"/>
            <p:cNvSpPr/>
            <p:nvPr/>
          </p:nvSpPr>
          <p:spPr>
            <a:xfrm>
              <a:off x="9791" y="7198"/>
              <a:ext cx="1801" cy="114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文档接入及业务建模</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29" name="直接箭头连接符 128"/>
            <p:cNvCxnSpPr>
              <a:stCxn id="120" idx="2"/>
              <a:endCxn id="128" idx="0"/>
            </p:cNvCxnSpPr>
            <p:nvPr/>
          </p:nvCxnSpPr>
          <p:spPr>
            <a:xfrm flipH="1">
              <a:off x="10692" y="6572"/>
              <a:ext cx="16" cy="62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p:cNvCxnSpPr>
              <a:stCxn id="128" idx="3"/>
              <a:endCxn id="121" idx="1"/>
            </p:cNvCxnSpPr>
            <p:nvPr/>
          </p:nvCxnSpPr>
          <p:spPr>
            <a:xfrm>
              <a:off x="11592" y="7768"/>
              <a:ext cx="433" cy="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1" name="箭头: V 形 9"/>
            <p:cNvSpPr/>
            <p:nvPr/>
          </p:nvSpPr>
          <p:spPr>
            <a:xfrm>
              <a:off x="13239" y="3325"/>
              <a:ext cx="1850"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知识测评</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32" name="矩形: 圆角 62"/>
            <p:cNvSpPr/>
            <p:nvPr/>
          </p:nvSpPr>
          <p:spPr>
            <a:xfrm>
              <a:off x="13424" y="5611"/>
              <a:ext cx="1073" cy="118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评测集编制及知识测评</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33" name="矩形: 圆角 62"/>
            <p:cNvSpPr/>
            <p:nvPr/>
          </p:nvSpPr>
          <p:spPr>
            <a:xfrm>
              <a:off x="14668" y="5599"/>
              <a:ext cx="822" cy="1178"/>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知识效果验收</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34" name="矩形: 圆角 62"/>
            <p:cNvSpPr/>
            <p:nvPr/>
          </p:nvSpPr>
          <p:spPr>
            <a:xfrm>
              <a:off x="15148" y="7138"/>
              <a:ext cx="1236" cy="118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知识库投产</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35" name="肘形连接符 134"/>
            <p:cNvCxnSpPr>
              <a:stCxn id="121" idx="3"/>
              <a:endCxn id="132" idx="1"/>
            </p:cNvCxnSpPr>
            <p:nvPr/>
          </p:nvCxnSpPr>
          <p:spPr>
            <a:xfrm flipV="1">
              <a:off x="13097" y="6202"/>
              <a:ext cx="327" cy="1577"/>
            </a:xfrm>
            <a:prstGeom prst="bentConnector3">
              <a:avLst>
                <a:gd name="adj1" fmla="val 50153"/>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8" name="肘形连接符 137"/>
            <p:cNvCxnSpPr>
              <a:stCxn id="134" idx="3"/>
              <a:endCxn id="123" idx="1"/>
            </p:cNvCxnSpPr>
            <p:nvPr/>
          </p:nvCxnSpPr>
          <p:spPr>
            <a:xfrm>
              <a:off x="16384" y="7729"/>
              <a:ext cx="817" cy="1181"/>
            </a:xfrm>
            <a:prstGeom prst="bentConnector3">
              <a:avLst>
                <a:gd name="adj1" fmla="val 5006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6" name="肘形连接符 155"/>
            <p:cNvCxnSpPr>
              <a:stCxn id="123" idx="3"/>
              <a:endCxn id="128" idx="2"/>
            </p:cNvCxnSpPr>
            <p:nvPr/>
          </p:nvCxnSpPr>
          <p:spPr>
            <a:xfrm flipH="1" flipV="1">
              <a:off x="10692" y="8338"/>
              <a:ext cx="7947" cy="572"/>
            </a:xfrm>
            <a:prstGeom prst="bentConnector4">
              <a:avLst>
                <a:gd name="adj1" fmla="val -4719"/>
                <a:gd name="adj2" fmla="val -225699"/>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2985770" y="3652520"/>
            <a:ext cx="2042160" cy="281940"/>
          </a:xfrm>
          <a:prstGeom prst="rect">
            <a:avLst/>
          </a:prstGeom>
          <a:noFill/>
        </p:spPr>
        <p:txBody>
          <a:bodyPr wrap="square" rtlCol="0">
            <a:noAutofit/>
          </a:bodyPr>
          <a:lstStyle/>
          <a:p>
            <a:pPr algn="ctr"/>
            <a:r>
              <a:rPr lang="zh-CN" altLang="en-US" sz="1200">
                <a:latin typeface="微软雅黑" panose="020B0503020204020204" charset="-122"/>
                <a:ea typeface="微软雅黑" panose="020B0503020204020204" charset="-122"/>
              </a:rPr>
              <a:t>对公</a:t>
            </a:r>
            <a:r>
              <a:rPr lang="en-US" altLang="zh-CN" sz="1200">
                <a:latin typeface="微软雅黑" panose="020B0503020204020204" charset="-122"/>
                <a:ea typeface="微软雅黑" panose="020B0503020204020204" charset="-122"/>
              </a:rPr>
              <a:t>、</a:t>
            </a:r>
            <a:r>
              <a:rPr lang="zh-CN" altLang="en-US" sz="1200">
                <a:latin typeface="微软雅黑" panose="020B0503020204020204" charset="-122"/>
                <a:ea typeface="微软雅黑" panose="020B0503020204020204" charset="-122"/>
              </a:rPr>
              <a:t>零售</a:t>
            </a:r>
            <a:r>
              <a:rPr lang="en-US" altLang="zh-CN" sz="1200">
                <a:latin typeface="微软雅黑" panose="020B0503020204020204" charset="-122"/>
                <a:ea typeface="微软雅黑" panose="020B0503020204020204" charset="-122"/>
              </a:rPr>
              <a:t>、</a:t>
            </a:r>
            <a:r>
              <a:rPr lang="zh-CN" altLang="en-US" sz="1200">
                <a:latin typeface="微软雅黑" panose="020B0503020204020204" charset="-122"/>
                <a:ea typeface="微软雅黑" panose="020B0503020204020204" charset="-122"/>
              </a:rPr>
              <a:t>金市</a:t>
            </a:r>
            <a:r>
              <a:rPr lang="en-US" altLang="zh-CN" sz="1200">
                <a:latin typeface="微软雅黑" panose="020B0503020204020204" charset="-122"/>
                <a:ea typeface="微软雅黑" panose="020B0503020204020204" charset="-122"/>
              </a:rPr>
              <a:t>、</a:t>
            </a:r>
            <a:r>
              <a:rPr lang="zh-CN" altLang="en-US" sz="1200">
                <a:latin typeface="微软雅黑" panose="020B0503020204020204" charset="-122"/>
                <a:ea typeface="微软雅黑" panose="020B0503020204020204" charset="-122"/>
              </a:rPr>
              <a:t>分行等</a:t>
            </a:r>
            <a:endParaRPr lang="zh-CN" altLang="en-US" sz="1200">
              <a:latin typeface="微软雅黑" panose="020B0503020204020204" charset="-122"/>
              <a:ea typeface="微软雅黑" panose="020B0503020204020204" charset="-122"/>
            </a:endParaRPr>
          </a:p>
        </p:txBody>
      </p:sp>
      <p:sp>
        <p:nvSpPr>
          <p:cNvPr id="9" name="矩形: 圆角 67"/>
          <p:cNvSpPr/>
          <p:nvPr/>
        </p:nvSpPr>
        <p:spPr>
          <a:xfrm>
            <a:off x="10922635" y="6031230"/>
            <a:ext cx="913130" cy="38862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日常知识运营管理</a:t>
            </a:r>
            <a:endParaRPr kumimoji="0" lang="zh-CN" altLang="en-US" sz="11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cxnSp>
        <p:nvCxnSpPr>
          <p:cNvPr id="10" name="直接箭头连接符 9"/>
          <p:cNvCxnSpPr>
            <a:stCxn id="123" idx="2"/>
            <a:endCxn id="9" idx="0"/>
          </p:cNvCxnSpPr>
          <p:nvPr/>
        </p:nvCxnSpPr>
        <p:spPr>
          <a:xfrm>
            <a:off x="11379200" y="5814060"/>
            <a:ext cx="0" cy="2171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6034405" y="2517140"/>
            <a:ext cx="4500880" cy="2960370"/>
          </a:xfrm>
          <a:prstGeom prst="rect">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椭圆 10"/>
          <p:cNvSpPr/>
          <p:nvPr/>
        </p:nvSpPr>
        <p:spPr>
          <a:xfrm>
            <a:off x="5846445" y="2399030"/>
            <a:ext cx="259080" cy="25908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a:latin typeface="+mn-ea"/>
              </a:rPr>
              <a:t>1</a:t>
            </a:r>
            <a:endParaRPr lang="en-US" altLang="zh-CN" sz="1200">
              <a:latin typeface="+mn-ea"/>
            </a:endParaRPr>
          </a:p>
        </p:txBody>
      </p:sp>
      <p:sp>
        <p:nvSpPr>
          <p:cNvPr id="13" name="椭圆 12"/>
          <p:cNvSpPr/>
          <p:nvPr/>
        </p:nvSpPr>
        <p:spPr>
          <a:xfrm>
            <a:off x="10720705" y="5322570"/>
            <a:ext cx="259080" cy="25908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a:latin typeface="+mn-ea"/>
              </a:rPr>
              <a:t>2</a:t>
            </a:r>
            <a:endParaRPr lang="en-US" altLang="zh-CN" sz="1200">
              <a:latin typeface="+mn-ea"/>
            </a:endParaRPr>
          </a:p>
        </p:txBody>
      </p:sp>
      <p:sp>
        <p:nvSpPr>
          <p:cNvPr id="14" name="椭圆 13"/>
          <p:cNvSpPr/>
          <p:nvPr/>
        </p:nvSpPr>
        <p:spPr>
          <a:xfrm>
            <a:off x="10720705" y="6103620"/>
            <a:ext cx="259080" cy="25908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200">
                <a:latin typeface="+mn-ea"/>
              </a:rPr>
              <a:t>3</a:t>
            </a:r>
            <a:endParaRPr lang="en-US" altLang="zh-CN" sz="1200">
              <a:latin typeface="+mn-ea"/>
            </a:endParaRPr>
          </a:p>
        </p:txBody>
      </p:sp>
      <p:cxnSp>
        <p:nvCxnSpPr>
          <p:cNvPr id="15" name="直接箭头连接符 14"/>
          <p:cNvCxnSpPr>
            <a:stCxn id="132" idx="3"/>
            <a:endCxn id="133" idx="1"/>
          </p:cNvCxnSpPr>
          <p:nvPr/>
        </p:nvCxnSpPr>
        <p:spPr>
          <a:xfrm flipV="1">
            <a:off x="9205595" y="3929380"/>
            <a:ext cx="108585" cy="889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7" name="肘形连接符 16"/>
          <p:cNvCxnSpPr>
            <a:stCxn id="133" idx="3"/>
            <a:endCxn id="134" idx="0"/>
          </p:cNvCxnSpPr>
          <p:nvPr/>
        </p:nvCxnSpPr>
        <p:spPr>
          <a:xfrm>
            <a:off x="9836150" y="3929380"/>
            <a:ext cx="175260" cy="603250"/>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fontScale="90000"/>
          </a:bodyPr>
          <a:lstStyle/>
          <a:p>
            <a:pPr lvl="0" algn="l">
              <a:buClrTx/>
              <a:buSzTx/>
              <a:buFontTx/>
            </a:pPr>
            <a:r>
              <a:rPr lang="zh-CN" altLang="en-US">
                <a:latin typeface="楷体" panose="02010609060101010101" pitchFamily="49" charset="-122"/>
                <a:ea typeface="楷体" panose="02010609060101010101" pitchFamily="49" charset="-122"/>
                <a:cs typeface="楷体" panose="02010609060101010101" pitchFamily="49" charset="-122"/>
                <a:sym typeface="+mn-ea"/>
              </a:rPr>
              <a:t>知识运营团队组织形式</a:t>
            </a:r>
            <a:endParaRPr lang="zh-CN" altLang="en-US">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圆角矩形 9"/>
          <p:cNvSpPr/>
          <p:nvPr/>
        </p:nvSpPr>
        <p:spPr bwMode="auto">
          <a:xfrm>
            <a:off x="128270" y="906145"/>
            <a:ext cx="11971655" cy="853440"/>
          </a:xfrm>
          <a:prstGeom prst="roundRect">
            <a:avLst>
              <a:gd name="adj" fmla="val 3086"/>
            </a:avLst>
          </a:prstGeom>
          <a:noFill/>
          <a:ln w="9525" cap="rnd" cmpd="sng" algn="ctr">
            <a:solidFill>
              <a:schemeClr val="accent1"/>
            </a:solidFill>
            <a:prstDash val="dash"/>
            <a:round/>
            <a:headEnd type="none" w="med" len="med"/>
            <a:tailEnd type="none" w="med" len="med"/>
          </a:ln>
        </p:spPr>
        <p:txBody>
          <a:bodyPr vert="horz" wrap="square" lIns="88457" tIns="44228" rIns="88457" bIns="44228" numCol="1" rtlCol="0" anchor="t" anchorCtr="0" compatLnSpc="1">
            <a:noAutofit/>
          </a:bodyPr>
          <a:lstStyle/>
          <a:p>
            <a:pPr marL="0" lvl="2" indent="457200" algn="just" defTabSz="1097280" eaLnBrk="0" fontAlgn="base" hangingPunct="0">
              <a:lnSpc>
                <a:spcPct val="150000"/>
              </a:lnSpc>
              <a:defRPr/>
            </a:pPr>
            <a:r>
              <a:rPr lang="zh-CN" altLang="en-US" sz="1600" b="1" dirty="0">
                <a:solidFill>
                  <a:srgbClr val="C00000"/>
                </a:solidFill>
                <a:effectLst/>
                <a:latin typeface="微软雅黑" panose="020B0503020204020204" charset="-122"/>
                <a:ea typeface="微软雅黑" panose="020B0503020204020204" charset="-122"/>
              </a:rPr>
              <a:t>采用 "条线对接 + 统一建设 + 集中运营" 的组织模式，</a:t>
            </a:r>
            <a:r>
              <a:rPr lang="en-US" altLang="zh-CN" sz="1600" dirty="0">
                <a:solidFill>
                  <a:schemeClr val="tx1"/>
                </a:solidFill>
                <a:effectLst/>
                <a:latin typeface="微软雅黑" panose="020B0503020204020204" charset="-122"/>
                <a:ea typeface="微软雅黑" panose="020B0503020204020204" charset="-122"/>
              </a:rPr>
              <a:t>IT </a:t>
            </a:r>
            <a:r>
              <a:rPr lang="zh-CN" altLang="en-US" sz="1600" dirty="0">
                <a:solidFill>
                  <a:schemeClr val="tx1"/>
                </a:solidFill>
                <a:effectLst/>
                <a:latin typeface="微软雅黑" panose="020B0503020204020204" charset="-122"/>
                <a:ea typeface="微软雅黑" panose="020B0503020204020204" charset="-122"/>
              </a:rPr>
              <a:t>融合团队按业务条线对口承接需求，</a:t>
            </a:r>
            <a:r>
              <a:rPr lang="en-US" altLang="zh-CN" sz="1600" dirty="0">
                <a:solidFill>
                  <a:schemeClr val="tx1"/>
                </a:solidFill>
                <a:effectLst/>
                <a:latin typeface="微软雅黑" panose="020B0503020204020204" charset="-122"/>
                <a:ea typeface="微软雅黑" panose="020B0503020204020204" charset="-122"/>
              </a:rPr>
              <a:t>IT </a:t>
            </a:r>
            <a:r>
              <a:rPr lang="zh-CN" altLang="en-US" sz="1600" dirty="0">
                <a:solidFill>
                  <a:schemeClr val="tx1"/>
                </a:solidFill>
                <a:effectLst/>
                <a:latin typeface="微软雅黑" panose="020B0503020204020204" charset="-122"/>
                <a:ea typeface="微软雅黑" panose="020B0503020204020204" charset="-122"/>
              </a:rPr>
              <a:t>知识工程团队统一负责平台建设与知识加工，</a:t>
            </a:r>
            <a:r>
              <a:rPr lang="en-US" altLang="zh-CN" sz="1600" dirty="0">
                <a:solidFill>
                  <a:schemeClr val="tx1"/>
                </a:solidFill>
                <a:effectLst/>
                <a:latin typeface="微软雅黑" panose="020B0503020204020204" charset="-122"/>
                <a:ea typeface="微软雅黑" panose="020B0503020204020204" charset="-122"/>
              </a:rPr>
              <a:t>IT </a:t>
            </a:r>
            <a:r>
              <a:rPr lang="zh-CN" altLang="en-US" sz="1600" dirty="0">
                <a:solidFill>
                  <a:schemeClr val="tx1"/>
                </a:solidFill>
                <a:effectLst/>
                <a:latin typeface="微软雅黑" panose="020B0503020204020204" charset="-122"/>
                <a:ea typeface="微软雅黑" panose="020B0503020204020204" charset="-122"/>
              </a:rPr>
              <a:t>知识运营团队统一负责治理运营，避免各条线烟囱式重复建设。</a:t>
            </a:r>
            <a:endParaRPr lang="zh-CN" altLang="en-US" sz="1600" dirty="0">
              <a:solidFill>
                <a:schemeClr val="tx1"/>
              </a:solidFill>
              <a:effectLst/>
              <a:latin typeface="微软雅黑" panose="020B0503020204020204" charset="-122"/>
              <a:ea typeface="微软雅黑" panose="020B0503020204020204" charset="-122"/>
            </a:endParaRPr>
          </a:p>
        </p:txBody>
      </p:sp>
      <p:grpSp>
        <p:nvGrpSpPr>
          <p:cNvPr id="57" name="组合 56"/>
          <p:cNvGrpSpPr/>
          <p:nvPr/>
        </p:nvGrpSpPr>
        <p:grpSpPr>
          <a:xfrm>
            <a:off x="191135" y="2174240"/>
            <a:ext cx="8455650" cy="3818255"/>
            <a:chOff x="616" y="3424"/>
            <a:chExt cx="13526" cy="6013"/>
          </a:xfrm>
        </p:grpSpPr>
        <p:sp>
          <p:nvSpPr>
            <p:cNvPr id="10" name="矩形 9"/>
            <p:cNvSpPr/>
            <p:nvPr/>
          </p:nvSpPr>
          <p:spPr>
            <a:xfrm>
              <a:off x="2835" y="3424"/>
              <a:ext cx="8917" cy="1202"/>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zh-CN" altLang="en-US" sz="1400">
                  <a:solidFill>
                    <a:schemeClr val="tx1"/>
                  </a:solidFill>
                  <a:latin typeface="微软雅黑" panose="020B0503020204020204" charset="-122"/>
                  <a:ea typeface="微软雅黑" panose="020B0503020204020204" charset="-122"/>
                </a:rPr>
                <a:t>业务团队</a:t>
              </a:r>
              <a:endParaRPr lang="zh-CN" altLang="en-US" sz="1400">
                <a:solidFill>
                  <a:schemeClr val="tx1"/>
                </a:solidFill>
                <a:latin typeface="微软雅黑" panose="020B0503020204020204" charset="-122"/>
                <a:ea typeface="微软雅黑" panose="020B0503020204020204" charset="-122"/>
              </a:endParaRPr>
            </a:p>
          </p:txBody>
        </p:sp>
        <p:sp>
          <p:nvSpPr>
            <p:cNvPr id="13" name="矩形 12"/>
            <p:cNvSpPr/>
            <p:nvPr/>
          </p:nvSpPr>
          <p:spPr>
            <a:xfrm>
              <a:off x="3182" y="3865"/>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公司金融</a:t>
              </a:r>
              <a:endParaRPr lang="zh-CN" altLang="en-US" sz="1400">
                <a:solidFill>
                  <a:schemeClr val="tx1"/>
                </a:solidFill>
                <a:latin typeface="微软雅黑" panose="020B0503020204020204" charset="-122"/>
                <a:ea typeface="微软雅黑" panose="020B0503020204020204" charset="-122"/>
              </a:endParaRPr>
            </a:p>
          </p:txBody>
        </p:sp>
        <p:sp>
          <p:nvSpPr>
            <p:cNvPr id="14" name="矩形 13"/>
            <p:cNvSpPr/>
            <p:nvPr/>
          </p:nvSpPr>
          <p:spPr>
            <a:xfrm>
              <a:off x="4775" y="3865"/>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零售金融</a:t>
              </a:r>
              <a:endParaRPr lang="zh-CN" altLang="en-US" sz="1400">
                <a:solidFill>
                  <a:schemeClr val="tx1"/>
                </a:solidFill>
                <a:latin typeface="微软雅黑" panose="020B0503020204020204" charset="-122"/>
                <a:ea typeface="微软雅黑" panose="020B0503020204020204" charset="-122"/>
              </a:endParaRPr>
            </a:p>
          </p:txBody>
        </p:sp>
        <p:sp>
          <p:nvSpPr>
            <p:cNvPr id="15" name="矩形 14"/>
            <p:cNvSpPr/>
            <p:nvPr/>
          </p:nvSpPr>
          <p:spPr>
            <a:xfrm>
              <a:off x="6368" y="3865"/>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金融市场</a:t>
              </a:r>
              <a:endParaRPr lang="zh-CN" altLang="en-US" sz="1400">
                <a:solidFill>
                  <a:schemeClr val="tx1"/>
                </a:solidFill>
                <a:latin typeface="微软雅黑" panose="020B0503020204020204" charset="-122"/>
                <a:ea typeface="微软雅黑" panose="020B0503020204020204" charset="-122"/>
              </a:endParaRPr>
            </a:p>
          </p:txBody>
        </p:sp>
        <p:sp>
          <p:nvSpPr>
            <p:cNvPr id="16" name="矩形 15"/>
            <p:cNvSpPr/>
            <p:nvPr/>
          </p:nvSpPr>
          <p:spPr>
            <a:xfrm>
              <a:off x="7961" y="3865"/>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风险管理</a:t>
              </a:r>
              <a:endParaRPr lang="zh-CN" altLang="en-US" sz="1400">
                <a:solidFill>
                  <a:schemeClr val="tx1"/>
                </a:solidFill>
                <a:latin typeface="微软雅黑" panose="020B0503020204020204" charset="-122"/>
                <a:ea typeface="微软雅黑" panose="020B0503020204020204" charset="-122"/>
              </a:endParaRPr>
            </a:p>
          </p:txBody>
        </p:sp>
        <p:sp>
          <p:nvSpPr>
            <p:cNvPr id="17" name="矩形 16"/>
            <p:cNvSpPr/>
            <p:nvPr/>
          </p:nvSpPr>
          <p:spPr>
            <a:xfrm>
              <a:off x="9745" y="3865"/>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p:txBody>
        </p:sp>
        <p:sp>
          <p:nvSpPr>
            <p:cNvPr id="18" name="矩形 17"/>
            <p:cNvSpPr/>
            <p:nvPr/>
          </p:nvSpPr>
          <p:spPr>
            <a:xfrm>
              <a:off x="2835" y="5335"/>
              <a:ext cx="8917" cy="1150"/>
            </a:xfrm>
            <a:prstGeom prst="rect">
              <a:avLst/>
            </a:prstGeom>
            <a:solidFill>
              <a:srgbClr val="DEEBF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en-US" altLang="zh-CN" sz="1400">
                  <a:solidFill>
                    <a:schemeClr val="tx1"/>
                  </a:solidFill>
                  <a:latin typeface="微软雅黑" panose="020B0503020204020204" charset="-122"/>
                  <a:ea typeface="微软雅黑" panose="020B0503020204020204" charset="-122"/>
                </a:rPr>
                <a:t>IT</a:t>
              </a:r>
              <a:r>
                <a:rPr lang="zh-CN" altLang="en-US" sz="1400">
                  <a:solidFill>
                    <a:schemeClr val="tx1"/>
                  </a:solidFill>
                  <a:latin typeface="微软雅黑" panose="020B0503020204020204" charset="-122"/>
                  <a:ea typeface="微软雅黑" panose="020B0503020204020204" charset="-122"/>
                </a:rPr>
                <a:t>融合团队</a:t>
              </a:r>
              <a:endParaRPr lang="zh-CN" altLang="en-US" sz="1400">
                <a:solidFill>
                  <a:schemeClr val="tx1"/>
                </a:solidFill>
                <a:latin typeface="微软雅黑" panose="020B0503020204020204" charset="-122"/>
                <a:ea typeface="微软雅黑" panose="020B0503020204020204" charset="-122"/>
              </a:endParaRPr>
            </a:p>
            <a:p>
              <a:pPr algn="ctr"/>
              <a:endParaRPr lang="zh-CN" altLang="en-US" sz="1400">
                <a:solidFill>
                  <a:schemeClr val="tx1"/>
                </a:solidFill>
                <a:latin typeface="微软雅黑" panose="020B0503020204020204" charset="-122"/>
                <a:ea typeface="微软雅黑" panose="020B0503020204020204" charset="-122"/>
              </a:endParaRPr>
            </a:p>
          </p:txBody>
        </p:sp>
        <p:sp>
          <p:nvSpPr>
            <p:cNvPr id="19" name="矩形 18"/>
            <p:cNvSpPr/>
            <p:nvPr/>
          </p:nvSpPr>
          <p:spPr>
            <a:xfrm>
              <a:off x="3182" y="5829"/>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公司金融</a:t>
              </a:r>
              <a:endParaRPr lang="zh-CN" altLang="en-US" sz="1400">
                <a:solidFill>
                  <a:schemeClr val="tx1"/>
                </a:solidFill>
                <a:latin typeface="微软雅黑" panose="020B0503020204020204" charset="-122"/>
                <a:ea typeface="微软雅黑" panose="020B0503020204020204" charset="-122"/>
              </a:endParaRPr>
            </a:p>
          </p:txBody>
        </p:sp>
        <p:sp>
          <p:nvSpPr>
            <p:cNvPr id="20" name="矩形 19"/>
            <p:cNvSpPr/>
            <p:nvPr/>
          </p:nvSpPr>
          <p:spPr>
            <a:xfrm>
              <a:off x="4775" y="5829"/>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零售金融</a:t>
              </a:r>
              <a:endParaRPr lang="zh-CN" altLang="en-US" sz="1400">
                <a:solidFill>
                  <a:schemeClr val="tx1"/>
                </a:solidFill>
                <a:latin typeface="微软雅黑" panose="020B0503020204020204" charset="-122"/>
                <a:ea typeface="微软雅黑" panose="020B0503020204020204" charset="-122"/>
              </a:endParaRPr>
            </a:p>
          </p:txBody>
        </p:sp>
        <p:sp>
          <p:nvSpPr>
            <p:cNvPr id="21" name="矩形 20"/>
            <p:cNvSpPr/>
            <p:nvPr/>
          </p:nvSpPr>
          <p:spPr>
            <a:xfrm>
              <a:off x="6368" y="5829"/>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金融市场</a:t>
              </a:r>
              <a:endParaRPr lang="zh-CN" altLang="en-US" sz="1400">
                <a:solidFill>
                  <a:schemeClr val="tx1"/>
                </a:solidFill>
                <a:latin typeface="微软雅黑" panose="020B0503020204020204" charset="-122"/>
                <a:ea typeface="微软雅黑" panose="020B0503020204020204" charset="-122"/>
              </a:endParaRPr>
            </a:p>
          </p:txBody>
        </p:sp>
        <p:sp>
          <p:nvSpPr>
            <p:cNvPr id="22" name="矩形 21"/>
            <p:cNvSpPr/>
            <p:nvPr/>
          </p:nvSpPr>
          <p:spPr>
            <a:xfrm>
              <a:off x="7961" y="5829"/>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1400">
                  <a:solidFill>
                    <a:schemeClr val="tx1"/>
                  </a:solidFill>
                  <a:latin typeface="微软雅黑" panose="020B0503020204020204" charset="-122"/>
                  <a:ea typeface="微软雅黑" panose="020B0503020204020204" charset="-122"/>
                </a:rPr>
                <a:t>风险管理</a:t>
              </a:r>
              <a:endParaRPr lang="zh-CN" altLang="en-US" sz="1400">
                <a:solidFill>
                  <a:schemeClr val="tx1"/>
                </a:solidFill>
                <a:latin typeface="微软雅黑" panose="020B0503020204020204" charset="-122"/>
                <a:ea typeface="微软雅黑" panose="020B0503020204020204" charset="-122"/>
              </a:endParaRPr>
            </a:p>
          </p:txBody>
        </p:sp>
        <p:sp>
          <p:nvSpPr>
            <p:cNvPr id="23" name="矩形 22"/>
            <p:cNvSpPr/>
            <p:nvPr/>
          </p:nvSpPr>
          <p:spPr>
            <a:xfrm>
              <a:off x="9745" y="5829"/>
              <a:ext cx="1456" cy="544"/>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a:solidFill>
                    <a:schemeClr val="tx1"/>
                  </a:solidFill>
                  <a:latin typeface="微软雅黑" panose="020B0503020204020204" charset="-122"/>
                  <a:ea typeface="微软雅黑" panose="020B0503020204020204" charset="-122"/>
                </a:rPr>
                <a:t>……</a:t>
              </a:r>
              <a:endParaRPr lang="en-US" altLang="zh-CN" sz="1400">
                <a:solidFill>
                  <a:schemeClr val="tx1"/>
                </a:solidFill>
                <a:latin typeface="微软雅黑" panose="020B0503020204020204" charset="-122"/>
                <a:ea typeface="微软雅黑" panose="020B0503020204020204" charset="-122"/>
              </a:endParaRPr>
            </a:p>
          </p:txBody>
        </p:sp>
        <p:sp>
          <p:nvSpPr>
            <p:cNvPr id="24" name="矩形 23"/>
            <p:cNvSpPr/>
            <p:nvPr/>
          </p:nvSpPr>
          <p:spPr>
            <a:xfrm>
              <a:off x="616" y="7095"/>
              <a:ext cx="6409" cy="2342"/>
            </a:xfrm>
            <a:prstGeom prst="rect">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en-US" altLang="zh-CN" sz="1400" dirty="0">
                  <a:solidFill>
                    <a:schemeClr val="tx1"/>
                  </a:solidFill>
                  <a:latin typeface="微软雅黑" panose="020B0503020204020204" charset="-122"/>
                  <a:ea typeface="微软雅黑" panose="020B0503020204020204" charset="-122"/>
                </a:rPr>
                <a:t>IT</a:t>
              </a:r>
              <a:r>
                <a:rPr lang="zh-CN" altLang="en-US" sz="1400" dirty="0">
                  <a:solidFill>
                    <a:schemeClr val="tx1"/>
                  </a:solidFill>
                  <a:latin typeface="微软雅黑" panose="020B0503020204020204" charset="-122"/>
                  <a:ea typeface="微软雅黑" panose="020B0503020204020204" charset="-122"/>
                </a:rPr>
                <a:t>知识工程团队</a:t>
              </a:r>
              <a:endParaRPr lang="zh-CN" altLang="en-US" sz="1400" dirty="0">
                <a:solidFill>
                  <a:schemeClr val="tx1"/>
                </a:solidFill>
                <a:latin typeface="微软雅黑" panose="020B0503020204020204" charset="-122"/>
                <a:ea typeface="微软雅黑" panose="020B0503020204020204" charset="-122"/>
              </a:endParaRPr>
            </a:p>
            <a:p>
              <a:pPr algn="ctr"/>
              <a:endParaRPr lang="zh-CN" altLang="en-US" sz="1400" dirty="0">
                <a:solidFill>
                  <a:schemeClr val="tx1"/>
                </a:solidFill>
                <a:latin typeface="微软雅黑" panose="020B0503020204020204" charset="-122"/>
                <a:ea typeface="微软雅黑" panose="020B0503020204020204" charset="-122"/>
              </a:endParaRPr>
            </a:p>
          </p:txBody>
        </p:sp>
        <p:sp>
          <p:nvSpPr>
            <p:cNvPr id="25" name="矩形 24"/>
            <p:cNvSpPr/>
            <p:nvPr/>
          </p:nvSpPr>
          <p:spPr>
            <a:xfrm>
              <a:off x="7489" y="7095"/>
              <a:ext cx="6653" cy="2342"/>
            </a:xfrm>
            <a:prstGeom prst="rect">
              <a:avLst/>
            </a:prstGeom>
            <a:solidFill>
              <a:schemeClr val="accent5">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t" anchorCtr="0"/>
            <a:lstStyle/>
            <a:p>
              <a:pPr algn="ctr"/>
              <a:r>
                <a:rPr lang="en-US" altLang="zh-CN" sz="1400">
                  <a:solidFill>
                    <a:schemeClr val="tx1"/>
                  </a:solidFill>
                  <a:latin typeface="微软雅黑" panose="020B0503020204020204" charset="-122"/>
                  <a:ea typeface="微软雅黑" panose="020B0503020204020204" charset="-122"/>
                </a:rPr>
                <a:t>IT</a:t>
              </a:r>
              <a:r>
                <a:rPr lang="zh-CN" altLang="en-US" sz="1400">
                  <a:solidFill>
                    <a:schemeClr val="tx1"/>
                  </a:solidFill>
                  <a:latin typeface="微软雅黑" panose="020B0503020204020204" charset="-122"/>
                  <a:ea typeface="微软雅黑" panose="020B0503020204020204" charset="-122"/>
                </a:rPr>
                <a:t>知识运营团队</a:t>
              </a:r>
              <a:endParaRPr lang="zh-CN" altLang="en-US" sz="1400">
                <a:solidFill>
                  <a:schemeClr val="tx1"/>
                </a:solidFill>
                <a:latin typeface="微软雅黑" panose="020B0503020204020204" charset="-122"/>
                <a:ea typeface="微软雅黑" panose="020B0503020204020204" charset="-122"/>
              </a:endParaRPr>
            </a:p>
            <a:p>
              <a:pPr algn="ctr"/>
              <a:endParaRPr lang="zh-CN" altLang="en-US" sz="1400">
                <a:solidFill>
                  <a:schemeClr val="tx1"/>
                </a:solidFill>
                <a:latin typeface="微软雅黑" panose="020B0503020204020204" charset="-122"/>
                <a:ea typeface="微软雅黑" panose="020B0503020204020204" charset="-122"/>
              </a:endParaRPr>
            </a:p>
          </p:txBody>
        </p:sp>
        <p:sp>
          <p:nvSpPr>
            <p:cNvPr id="26" name="矩形 25"/>
            <p:cNvSpPr/>
            <p:nvPr/>
          </p:nvSpPr>
          <p:spPr>
            <a:xfrm>
              <a:off x="833" y="7812"/>
              <a:ext cx="5833" cy="112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bg1">
                      <a:lumMod val="50000"/>
                    </a:schemeClr>
                  </a:solidFill>
                  <a:latin typeface="微软雅黑" panose="020B0503020204020204" charset="-122"/>
                  <a:ea typeface="微软雅黑" panose="020B0503020204020204" charset="-122"/>
                  <a:sym typeface="+mn-ea"/>
                </a:rPr>
                <a:t>行员：</a:t>
              </a:r>
              <a:r>
                <a:rPr lang="en-US" altLang="zh-CN" sz="1200" dirty="0">
                  <a:solidFill>
                    <a:schemeClr val="bg1">
                      <a:lumMod val="50000"/>
                    </a:schemeClr>
                  </a:solidFill>
                  <a:latin typeface="微软雅黑" panose="020B0503020204020204" charset="-122"/>
                  <a:ea typeface="微软雅黑" panose="020B0503020204020204" charset="-122"/>
                  <a:sym typeface="+mn-ea"/>
                </a:rPr>
                <a:t>2026</a:t>
              </a:r>
              <a:r>
                <a:rPr lang="zh-CN" altLang="en-US" sz="1200" dirty="0">
                  <a:solidFill>
                    <a:schemeClr val="bg1">
                      <a:lumMod val="50000"/>
                    </a:schemeClr>
                  </a:solidFill>
                  <a:latin typeface="微软雅黑" panose="020B0503020204020204" charset="-122"/>
                  <a:ea typeface="微软雅黑" panose="020B0503020204020204" charset="-122"/>
                  <a:sym typeface="+mn-ea"/>
                </a:rPr>
                <a:t>年：</a:t>
              </a:r>
              <a:r>
                <a:rPr lang="en-US" altLang="zh-CN" sz="1200" dirty="0">
                  <a:solidFill>
                    <a:schemeClr val="bg1">
                      <a:lumMod val="50000"/>
                    </a:schemeClr>
                  </a:solidFill>
                  <a:latin typeface="微软雅黑" panose="020B0503020204020204" charset="-122"/>
                  <a:ea typeface="微软雅黑" panose="020B0503020204020204" charset="-122"/>
                  <a:sym typeface="+mn-ea"/>
                </a:rPr>
                <a:t>25</a:t>
              </a:r>
              <a:r>
                <a:rPr lang="zh-CN" altLang="en-US" sz="1200" dirty="0">
                  <a:solidFill>
                    <a:schemeClr val="bg1">
                      <a:lumMod val="50000"/>
                    </a:schemeClr>
                  </a:solidFill>
                  <a:latin typeface="微软雅黑" panose="020B0503020204020204" charset="-122"/>
                  <a:ea typeface="微软雅黑" panose="020B0503020204020204" charset="-122"/>
                  <a:sym typeface="+mn-ea"/>
                </a:rPr>
                <a:t>人</a:t>
              </a:r>
              <a:r>
                <a:rPr lang="en-US" altLang="zh-CN" sz="1200" dirty="0">
                  <a:solidFill>
                    <a:schemeClr val="bg1">
                      <a:lumMod val="50000"/>
                    </a:schemeClr>
                  </a:solidFill>
                  <a:latin typeface="微软雅黑" panose="020B0503020204020204" charset="-122"/>
                  <a:ea typeface="微软雅黑" panose="020B0503020204020204" charset="-122"/>
                  <a:sym typeface="+mn-ea"/>
                </a:rPr>
                <a:t>-&gt;2027</a:t>
              </a:r>
              <a:r>
                <a:rPr lang="zh-CN" altLang="en-US" sz="1200" dirty="0">
                  <a:solidFill>
                    <a:schemeClr val="bg1">
                      <a:lumMod val="50000"/>
                    </a:schemeClr>
                  </a:solidFill>
                  <a:latin typeface="微软雅黑" panose="020B0503020204020204" charset="-122"/>
                  <a:ea typeface="微软雅黑" panose="020B0503020204020204" charset="-122"/>
                  <a:sym typeface="+mn-ea"/>
                </a:rPr>
                <a:t>年：</a:t>
              </a:r>
              <a:r>
                <a:rPr lang="en-US" altLang="zh-CN" sz="1200" dirty="0">
                  <a:solidFill>
                    <a:schemeClr val="bg1">
                      <a:lumMod val="50000"/>
                    </a:schemeClr>
                  </a:solidFill>
                  <a:latin typeface="微软雅黑" panose="020B0503020204020204" charset="-122"/>
                  <a:ea typeface="微软雅黑" panose="020B0503020204020204" charset="-122"/>
                  <a:sym typeface="+mn-ea"/>
                </a:rPr>
                <a:t>35</a:t>
              </a:r>
              <a:r>
                <a:rPr lang="zh-CN" altLang="en-US" sz="1200" dirty="0">
                  <a:solidFill>
                    <a:schemeClr val="bg1">
                      <a:lumMod val="50000"/>
                    </a:schemeClr>
                  </a:solidFill>
                  <a:latin typeface="微软雅黑" panose="020B0503020204020204" charset="-122"/>
                  <a:ea typeface="微软雅黑" panose="020B0503020204020204" charset="-122"/>
                  <a:sym typeface="+mn-ea"/>
                </a:rPr>
                <a:t>人</a:t>
              </a:r>
              <a:endParaRPr lang="zh-CN" altLang="en-US" sz="1200" dirty="0">
                <a:solidFill>
                  <a:schemeClr val="bg1">
                    <a:lumMod val="50000"/>
                  </a:schemeClr>
                </a:solidFill>
                <a:latin typeface="微软雅黑" panose="020B0503020204020204" charset="-122"/>
                <a:ea typeface="微软雅黑" panose="020B0503020204020204" charset="-122"/>
                <a:sym typeface="+mn-ea"/>
              </a:endParaRPr>
            </a:p>
          </p:txBody>
        </p:sp>
        <p:sp>
          <p:nvSpPr>
            <p:cNvPr id="30" name="矩形 29"/>
            <p:cNvSpPr/>
            <p:nvPr/>
          </p:nvSpPr>
          <p:spPr>
            <a:xfrm>
              <a:off x="7630" y="7825"/>
              <a:ext cx="6308" cy="11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200" dirty="0">
                  <a:solidFill>
                    <a:schemeClr val="bg1">
                      <a:lumMod val="50000"/>
                    </a:schemeClr>
                  </a:solidFill>
                  <a:latin typeface="微软雅黑" panose="020B0503020204020204" charset="-122"/>
                  <a:ea typeface="微软雅黑" panose="020B0503020204020204" charset="-122"/>
                  <a:sym typeface="+mn-ea"/>
                </a:rPr>
                <a:t>行员：</a:t>
              </a:r>
              <a:r>
                <a:rPr lang="en-US" altLang="zh-CN" sz="1200" dirty="0">
                  <a:solidFill>
                    <a:schemeClr val="bg1">
                      <a:lumMod val="50000"/>
                    </a:schemeClr>
                  </a:solidFill>
                  <a:latin typeface="微软雅黑" panose="020B0503020204020204" charset="-122"/>
                  <a:ea typeface="微软雅黑" panose="020B0503020204020204" charset="-122"/>
                  <a:sym typeface="+mn-ea"/>
                </a:rPr>
                <a:t>2026</a:t>
              </a:r>
              <a:r>
                <a:rPr lang="zh-CN" altLang="en-US" sz="1200" dirty="0">
                  <a:solidFill>
                    <a:schemeClr val="bg1">
                      <a:lumMod val="50000"/>
                    </a:schemeClr>
                  </a:solidFill>
                  <a:latin typeface="微软雅黑" panose="020B0503020204020204" charset="-122"/>
                  <a:ea typeface="微软雅黑" panose="020B0503020204020204" charset="-122"/>
                  <a:sym typeface="+mn-ea"/>
                </a:rPr>
                <a:t>年：</a:t>
              </a:r>
              <a:r>
                <a:rPr lang="en-US" altLang="zh-CN" sz="1200" dirty="0">
                  <a:solidFill>
                    <a:schemeClr val="bg1">
                      <a:lumMod val="50000"/>
                    </a:schemeClr>
                  </a:solidFill>
                  <a:latin typeface="微软雅黑" panose="020B0503020204020204" charset="-122"/>
                  <a:ea typeface="微软雅黑" panose="020B0503020204020204" charset="-122"/>
                  <a:sym typeface="+mn-ea"/>
                </a:rPr>
                <a:t>10</a:t>
              </a:r>
              <a:r>
                <a:rPr lang="zh-CN" altLang="en-US" sz="1200" dirty="0">
                  <a:solidFill>
                    <a:schemeClr val="bg1">
                      <a:lumMod val="50000"/>
                    </a:schemeClr>
                  </a:solidFill>
                  <a:latin typeface="微软雅黑" panose="020B0503020204020204" charset="-122"/>
                  <a:ea typeface="微软雅黑" panose="020B0503020204020204" charset="-122"/>
                  <a:sym typeface="+mn-ea"/>
                </a:rPr>
                <a:t>人</a:t>
              </a:r>
              <a:r>
                <a:rPr lang="en-US" altLang="zh-CN" sz="1200" dirty="0">
                  <a:solidFill>
                    <a:schemeClr val="bg1">
                      <a:lumMod val="50000"/>
                    </a:schemeClr>
                  </a:solidFill>
                  <a:latin typeface="微软雅黑" panose="020B0503020204020204" charset="-122"/>
                  <a:ea typeface="微软雅黑" panose="020B0503020204020204" charset="-122"/>
                  <a:sym typeface="+mn-ea"/>
                </a:rPr>
                <a:t>-&gt;2027</a:t>
              </a:r>
              <a:r>
                <a:rPr lang="zh-CN" altLang="en-US" sz="1200" dirty="0">
                  <a:solidFill>
                    <a:schemeClr val="bg1">
                      <a:lumMod val="50000"/>
                    </a:schemeClr>
                  </a:solidFill>
                  <a:latin typeface="微软雅黑" panose="020B0503020204020204" charset="-122"/>
                  <a:ea typeface="微软雅黑" panose="020B0503020204020204" charset="-122"/>
                  <a:sym typeface="+mn-ea"/>
                </a:rPr>
                <a:t>年：</a:t>
              </a:r>
              <a:r>
                <a:rPr lang="en-US" altLang="zh-CN" sz="1200" dirty="0">
                  <a:solidFill>
                    <a:schemeClr val="bg1">
                      <a:lumMod val="50000"/>
                    </a:schemeClr>
                  </a:solidFill>
                  <a:latin typeface="微软雅黑" panose="020B0503020204020204" charset="-122"/>
                  <a:ea typeface="微软雅黑" panose="020B0503020204020204" charset="-122"/>
                  <a:sym typeface="+mn-ea"/>
                </a:rPr>
                <a:t>20</a:t>
              </a:r>
              <a:r>
                <a:rPr lang="zh-CN" altLang="en-US" sz="1200" dirty="0">
                  <a:solidFill>
                    <a:schemeClr val="bg1">
                      <a:lumMod val="50000"/>
                    </a:schemeClr>
                  </a:solidFill>
                  <a:latin typeface="微软雅黑" panose="020B0503020204020204" charset="-122"/>
                  <a:ea typeface="微软雅黑" panose="020B0503020204020204" charset="-122"/>
                  <a:sym typeface="+mn-ea"/>
                </a:rPr>
                <a:t>人</a:t>
              </a:r>
              <a:endParaRPr lang="zh-CN" altLang="en-US" sz="1200" dirty="0">
                <a:solidFill>
                  <a:schemeClr val="bg1">
                    <a:lumMod val="50000"/>
                  </a:schemeClr>
                </a:solidFill>
                <a:latin typeface="微软雅黑" panose="020B0503020204020204" charset="-122"/>
                <a:ea typeface="微软雅黑" panose="020B0503020204020204" charset="-122"/>
                <a:sym typeface="+mn-ea"/>
              </a:endParaRPr>
            </a:p>
          </p:txBody>
        </p:sp>
        <p:cxnSp>
          <p:nvCxnSpPr>
            <p:cNvPr id="36" name="直接连接符 35"/>
            <p:cNvCxnSpPr>
              <a:stCxn id="10" idx="2"/>
              <a:endCxn id="18" idx="0"/>
            </p:cNvCxnSpPr>
            <p:nvPr/>
          </p:nvCxnSpPr>
          <p:spPr>
            <a:xfrm>
              <a:off x="7294" y="4626"/>
              <a:ext cx="0" cy="709"/>
            </a:xfrm>
            <a:prstGeom prst="line">
              <a:avLst/>
            </a:prstGeom>
          </p:spPr>
          <p:style>
            <a:lnRef idx="2">
              <a:schemeClr val="accent1"/>
            </a:lnRef>
            <a:fillRef idx="0">
              <a:srgbClr val="FFFFFF"/>
            </a:fillRef>
            <a:effectRef idx="0">
              <a:srgbClr val="FFFFFF"/>
            </a:effectRef>
            <a:fontRef idx="minor">
              <a:schemeClr val="tx1"/>
            </a:fontRef>
          </p:style>
        </p:cxnSp>
        <p:cxnSp>
          <p:nvCxnSpPr>
            <p:cNvPr id="40" name="肘形连接符 39"/>
            <p:cNvCxnSpPr>
              <a:stCxn id="18" idx="2"/>
              <a:endCxn id="24" idx="0"/>
            </p:cNvCxnSpPr>
            <p:nvPr/>
          </p:nvCxnSpPr>
          <p:spPr>
            <a:xfrm rot="5400000">
              <a:off x="5252" y="5053"/>
              <a:ext cx="610" cy="3473"/>
            </a:xfrm>
            <a:prstGeom prst="bentConnector3">
              <a:avLst>
                <a:gd name="adj1" fmla="val 49918"/>
              </a:avLst>
            </a:prstGeom>
          </p:spPr>
          <p:style>
            <a:lnRef idx="2">
              <a:schemeClr val="accent1"/>
            </a:lnRef>
            <a:fillRef idx="0">
              <a:srgbClr val="FFFFFF"/>
            </a:fillRef>
            <a:effectRef idx="0">
              <a:srgbClr val="FFFFFF"/>
            </a:effectRef>
            <a:fontRef idx="minor">
              <a:schemeClr val="tx1"/>
            </a:fontRef>
          </p:style>
        </p:cxnSp>
        <p:cxnSp>
          <p:nvCxnSpPr>
            <p:cNvPr id="48" name="肘形连接符 47"/>
            <p:cNvCxnSpPr>
              <a:stCxn id="18" idx="2"/>
              <a:endCxn id="25" idx="0"/>
            </p:cNvCxnSpPr>
            <p:nvPr/>
          </p:nvCxnSpPr>
          <p:spPr>
            <a:xfrm rot="5400000" flipV="1">
              <a:off x="8750" y="5029"/>
              <a:ext cx="610" cy="3522"/>
            </a:xfrm>
            <a:prstGeom prst="bentConnector3">
              <a:avLst>
                <a:gd name="adj1" fmla="val 50000"/>
              </a:avLst>
            </a:prstGeom>
          </p:spPr>
          <p:style>
            <a:lnRef idx="2">
              <a:schemeClr val="accent1"/>
            </a:lnRef>
            <a:fillRef idx="0">
              <a:srgbClr val="FFFFFF"/>
            </a:fillRef>
            <a:effectRef idx="0">
              <a:srgbClr val="FFFFFF"/>
            </a:effectRef>
            <a:fontRef idx="minor">
              <a:schemeClr val="tx1"/>
            </a:fontRef>
          </p:style>
        </p:cxnSp>
      </p:grpSp>
      <p:sp>
        <p:nvSpPr>
          <p:cNvPr id="4" name="文本框 3"/>
          <p:cNvSpPr txBox="1"/>
          <p:nvPr/>
        </p:nvSpPr>
        <p:spPr>
          <a:xfrm>
            <a:off x="8776335" y="2136140"/>
            <a:ext cx="3394075" cy="845820"/>
          </a:xfrm>
          <a:prstGeom prst="rect">
            <a:avLst/>
          </a:prstGeom>
          <a:solidFill>
            <a:schemeClr val="bg1">
              <a:lumMod val="95000"/>
            </a:schemeClr>
          </a:solidFill>
        </p:spPr>
        <p:txBody>
          <a:bodyPr wrap="square" rtlCol="0">
            <a:noAutofit/>
          </a:bodyPr>
          <a:lstStyle/>
          <a:p>
            <a:r>
              <a:rPr lang="zh-CN" altLang="en-US" sz="1400" b="1">
                <a:latin typeface="微软雅黑" panose="020B0503020204020204" charset="-122"/>
                <a:ea typeface="微软雅黑" panose="020B0503020204020204" charset="-122"/>
              </a:rPr>
              <a:t>业务团队：</a:t>
            </a:r>
            <a:endParaRPr lang="zh-CN" altLang="en-US" sz="1400" b="1">
              <a:latin typeface="微软雅黑" panose="020B0503020204020204" charset="-122"/>
              <a:ea typeface="微软雅黑" panose="020B0503020204020204" charset="-122"/>
            </a:endParaRPr>
          </a:p>
          <a:p>
            <a:r>
              <a:rPr lang="en-US" altLang="zh-CN" sz="1200">
                <a:latin typeface="微软雅黑" panose="020B0503020204020204" charset="-122"/>
                <a:ea typeface="微软雅黑" panose="020B0503020204020204" charset="-122"/>
              </a:rPr>
              <a:t>1</a:t>
            </a:r>
            <a:r>
              <a:rPr lang="zh-CN" altLang="en-US" sz="1200">
                <a:latin typeface="微软雅黑" panose="020B0503020204020204" charset="-122"/>
                <a:ea typeface="微软雅黑" panose="020B0503020204020204" charset="-122"/>
              </a:rPr>
              <a:t>、负责本条线业务需求意向提出</a:t>
            </a:r>
            <a:endParaRPr lang="en-US" altLang="zh-CN" sz="1200">
              <a:latin typeface="微软雅黑" panose="020B0503020204020204" charset="-122"/>
              <a:ea typeface="微软雅黑" panose="020B0503020204020204" charset="-122"/>
            </a:endParaRPr>
          </a:p>
          <a:p>
            <a:r>
              <a:rPr lang="en-US" altLang="zh-CN" sz="1200">
                <a:latin typeface="微软雅黑" panose="020B0503020204020204" charset="-122"/>
                <a:ea typeface="微软雅黑" panose="020B0503020204020204" charset="-122"/>
              </a:rPr>
              <a:t>2、</a:t>
            </a:r>
            <a:r>
              <a:rPr lang="zh-CN" altLang="en-US" sz="1200">
                <a:latin typeface="微软雅黑" panose="020B0503020204020204" charset="-122"/>
                <a:ea typeface="微软雅黑" panose="020B0503020204020204" charset="-122"/>
              </a:rPr>
              <a:t>负责提供知识文档</a:t>
            </a:r>
            <a:endParaRPr lang="zh-CN" altLang="en-US" sz="1200">
              <a:latin typeface="微软雅黑" panose="020B0503020204020204" charset="-122"/>
              <a:ea typeface="微软雅黑" panose="020B0503020204020204" charset="-122"/>
            </a:endParaRPr>
          </a:p>
          <a:p>
            <a:r>
              <a:rPr lang="en-US" altLang="zh-CN" sz="1200">
                <a:latin typeface="微软雅黑" panose="020B0503020204020204" charset="-122"/>
                <a:ea typeface="微软雅黑" panose="020B0503020204020204" charset="-122"/>
              </a:rPr>
              <a:t>3、</a:t>
            </a:r>
            <a:r>
              <a:rPr lang="zh-CN" altLang="en-US" sz="1200">
                <a:latin typeface="微软雅黑" panose="020B0503020204020204" charset="-122"/>
                <a:ea typeface="微软雅黑" panose="020B0503020204020204" charset="-122"/>
              </a:rPr>
              <a:t>负责</a:t>
            </a:r>
            <a:r>
              <a:rPr lang="zh-CN" altLang="en-US" sz="1200" noProof="0" dirty="0">
                <a:ln>
                  <a:noFill/>
                </a:ln>
                <a:solidFill>
                  <a:prstClr val="black"/>
                </a:solidFill>
                <a:effectLst/>
                <a:uLnTx/>
                <a:uFillTx/>
                <a:latin typeface="微软雅黑" panose="020B0503020204020204" charset="-122"/>
                <a:ea typeface="微软雅黑" panose="020B0503020204020204" charset="-122"/>
                <a:sym typeface="+mn-ea"/>
              </a:rPr>
              <a:t>对运营报告提出改进建议</a:t>
            </a:r>
            <a:endParaRPr lang="en-US" altLang="zh-CN" sz="1200">
              <a:latin typeface="微软雅黑" panose="020B0503020204020204" charset="-122"/>
              <a:ea typeface="微软雅黑" panose="020B0503020204020204" charset="-122"/>
            </a:endParaRPr>
          </a:p>
        </p:txBody>
      </p:sp>
      <p:sp>
        <p:nvSpPr>
          <p:cNvPr id="5" name="文本框 4"/>
          <p:cNvSpPr txBox="1"/>
          <p:nvPr/>
        </p:nvSpPr>
        <p:spPr>
          <a:xfrm>
            <a:off x="8776335" y="3070225"/>
            <a:ext cx="3394075" cy="1044575"/>
          </a:xfrm>
          <a:prstGeom prst="rect">
            <a:avLst/>
          </a:prstGeom>
          <a:solidFill>
            <a:srgbClr val="DEEBF7"/>
          </a:solidFill>
        </p:spPr>
        <p:txBody>
          <a:bodyPr wrap="square" rtlCol="0">
            <a:noAutofit/>
          </a:bodyPr>
          <a:lstStyle/>
          <a:p>
            <a:r>
              <a:rPr lang="en-US" altLang="zh-CN" sz="1400" b="1" dirty="0">
                <a:latin typeface="微软雅黑" panose="020B0503020204020204" charset="-122"/>
                <a:ea typeface="微软雅黑" panose="020B0503020204020204" charset="-122"/>
              </a:rPr>
              <a:t>IT</a:t>
            </a:r>
            <a:r>
              <a:rPr lang="zh-CN" altLang="en-US" sz="1400" b="1" dirty="0">
                <a:latin typeface="微软雅黑" panose="020B0503020204020204" charset="-122"/>
                <a:ea typeface="微软雅黑" panose="020B0503020204020204" charset="-122"/>
              </a:rPr>
              <a:t>融合团队：</a:t>
            </a:r>
            <a:endParaRPr lang="zh-CN" altLang="en-US" sz="1400" b="1"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、承接条线业务需求并并制定需求实施方案</a:t>
            </a:r>
            <a:r>
              <a:rPr lang="en-US" altLang="zh-CN" sz="1200" dirty="0">
                <a:latin typeface="微软雅黑" panose="020B0503020204020204" charset="-122"/>
                <a:ea typeface="微软雅黑" panose="020B0503020204020204" charset="-122"/>
              </a:rPr>
              <a:t>，</a:t>
            </a:r>
            <a:endParaRPr lang="zh-CN" altLang="en-US"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负责相应领域的元数据标准制定</a:t>
            </a:r>
            <a:endParaRPr lang="zh-CN" altLang="en-US"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、负责知识测评集设计及知识测评工作</a:t>
            </a:r>
            <a:endParaRPr lang="zh-CN" altLang="en-US"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4、</a:t>
            </a:r>
            <a:r>
              <a:rPr lang="zh-CN" altLang="en-US" sz="1200" dirty="0">
                <a:latin typeface="微软雅黑" panose="020B0503020204020204" charset="-122"/>
                <a:ea typeface="微软雅黑" panose="020B0503020204020204" charset="-122"/>
              </a:rPr>
              <a:t>负责知识质量问题根因分析及优化方案制定</a:t>
            </a:r>
            <a:endParaRPr lang="zh-CN" altLang="en-US" sz="1200" dirty="0">
              <a:latin typeface="微软雅黑" panose="020B0503020204020204" charset="-122"/>
              <a:ea typeface="微软雅黑" panose="020B0503020204020204" charset="-122"/>
            </a:endParaRPr>
          </a:p>
        </p:txBody>
      </p:sp>
      <p:sp>
        <p:nvSpPr>
          <p:cNvPr id="6" name="文本框 5"/>
          <p:cNvSpPr txBox="1"/>
          <p:nvPr/>
        </p:nvSpPr>
        <p:spPr>
          <a:xfrm>
            <a:off x="8768715" y="4187112"/>
            <a:ext cx="3394075" cy="1045210"/>
          </a:xfrm>
          <a:prstGeom prst="rect">
            <a:avLst/>
          </a:prstGeom>
          <a:solidFill>
            <a:srgbClr val="DEEBF7"/>
          </a:solidFill>
        </p:spPr>
        <p:txBody>
          <a:bodyPr wrap="square" rtlCol="0">
            <a:spAutoFit/>
          </a:bodyPr>
          <a:lstStyle/>
          <a:p>
            <a:r>
              <a:rPr lang="en-US" altLang="zh-CN" sz="1400" b="1" dirty="0">
                <a:latin typeface="微软雅黑" panose="020B0503020204020204" charset="-122"/>
                <a:ea typeface="微软雅黑" panose="020B0503020204020204" charset="-122"/>
              </a:rPr>
              <a:t>IT</a:t>
            </a:r>
            <a:r>
              <a:rPr lang="zh-CN" altLang="en-US" sz="1400" b="1" dirty="0">
                <a:latin typeface="微软雅黑" panose="020B0503020204020204" charset="-122"/>
                <a:ea typeface="微软雅黑" panose="020B0503020204020204" charset="-122"/>
              </a:rPr>
              <a:t>知识工程团队：</a:t>
            </a:r>
            <a:endParaRPr lang="zh-CN" altLang="en-US" sz="1400" b="1"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、进行平台功能统一建设及迭代优化</a:t>
            </a:r>
            <a:endParaRPr lang="zh-CN" altLang="en-US"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、进行向量库知识加工</a:t>
            </a:r>
            <a:r>
              <a:rPr lang="en-US"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专题知识图谱本体建模</a:t>
            </a:r>
            <a:r>
              <a:rPr lang="zh-CN" altLang="en-US" sz="1200" dirty="0">
                <a:latin typeface="微软雅黑" panose="020B0503020204020204" charset="-122"/>
                <a:ea typeface="微软雅黑" panose="020B0503020204020204" charset="-122"/>
              </a:rPr>
              <a:t>及知识</a:t>
            </a:r>
            <a:r>
              <a:rPr lang="zh-CN" altLang="en-US" sz="1200" dirty="0">
                <a:latin typeface="微软雅黑" panose="020B0503020204020204" charset="-122"/>
                <a:ea typeface="微软雅黑" panose="020B0503020204020204" charset="-122"/>
              </a:rPr>
              <a:t>抽取</a:t>
            </a:r>
            <a:endParaRPr lang="zh-CN" altLang="en-US"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、负责知识服务接口封装以支持上层应用调用</a:t>
            </a:r>
            <a:endParaRPr lang="zh-CN" altLang="en-US" sz="1200" dirty="0">
              <a:latin typeface="微软雅黑" panose="020B0503020204020204" charset="-122"/>
              <a:ea typeface="微软雅黑" panose="020B0503020204020204" charset="-122"/>
            </a:endParaRPr>
          </a:p>
        </p:txBody>
      </p:sp>
      <p:sp>
        <p:nvSpPr>
          <p:cNvPr id="7" name="文本框 6"/>
          <p:cNvSpPr txBox="1"/>
          <p:nvPr/>
        </p:nvSpPr>
        <p:spPr>
          <a:xfrm>
            <a:off x="8768715" y="5325357"/>
            <a:ext cx="3394075" cy="1045210"/>
          </a:xfrm>
          <a:prstGeom prst="rect">
            <a:avLst/>
          </a:prstGeom>
          <a:solidFill>
            <a:srgbClr val="DEEBF7"/>
          </a:solidFill>
        </p:spPr>
        <p:txBody>
          <a:bodyPr wrap="square" rtlCol="0">
            <a:spAutoFit/>
          </a:bodyPr>
          <a:lstStyle/>
          <a:p>
            <a:r>
              <a:rPr lang="en-US" altLang="zh-CN" sz="1400" b="1" dirty="0">
                <a:latin typeface="微软雅黑" panose="020B0503020204020204" charset="-122"/>
                <a:ea typeface="微软雅黑" panose="020B0503020204020204" charset="-122"/>
              </a:rPr>
              <a:t>IT</a:t>
            </a:r>
            <a:r>
              <a:rPr lang="zh-CN" altLang="en-US" sz="1400" b="1" dirty="0">
                <a:latin typeface="微软雅黑" panose="020B0503020204020204" charset="-122"/>
                <a:ea typeface="微软雅黑" panose="020B0503020204020204" charset="-122"/>
              </a:rPr>
              <a:t>知识运营团队：</a:t>
            </a:r>
            <a:endParaRPr lang="zh-CN" altLang="en-US" sz="1400" b="1"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sym typeface="+mn-ea"/>
              </a:rPr>
              <a:t>1</a:t>
            </a:r>
            <a:r>
              <a:rPr lang="zh-CN" altLang="en-US" sz="1200" dirty="0">
                <a:latin typeface="微软雅黑" panose="020B0503020204020204" charset="-122"/>
                <a:ea typeface="微软雅黑" panose="020B0503020204020204" charset="-122"/>
                <a:sym typeface="+mn-ea"/>
              </a:rPr>
              <a:t>、负责</a:t>
            </a:r>
            <a:r>
              <a:rPr lang="zh-CN" altLang="en-US" sz="1200" dirty="0">
                <a:latin typeface="微软雅黑" panose="020B0503020204020204" charset="-122"/>
                <a:ea typeface="微软雅黑" panose="020B0503020204020204" charset="-122"/>
                <a:sym typeface="+mn-ea"/>
              </a:rPr>
              <a:t>知识目录管理</a:t>
            </a:r>
            <a:r>
              <a:rPr lang="en-US" altLang="zh-CN" sz="1200" dirty="0">
                <a:latin typeface="微软雅黑" panose="020B0503020204020204" charset="-122"/>
                <a:ea typeface="微软雅黑" panose="020B0503020204020204" charset="-122"/>
                <a:sym typeface="+mn-ea"/>
              </a:rPr>
              <a:t>、</a:t>
            </a:r>
            <a:r>
              <a:rPr lang="zh-CN" altLang="en-US" sz="1200" dirty="0">
                <a:latin typeface="微软雅黑" panose="020B0503020204020204" charset="-122"/>
                <a:ea typeface="微软雅黑" panose="020B0503020204020204" charset="-122"/>
                <a:sym typeface="+mn-ea"/>
              </a:rPr>
              <a:t>资产盘点等工作</a:t>
            </a:r>
            <a:endParaRPr lang="en-US" altLang="zh-CN"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、负责知识运营监控、质效监控及跟踪问题整改闭环</a:t>
            </a:r>
            <a:endParaRPr lang="zh-CN" altLang="en-US" sz="1200" dirty="0">
              <a:latin typeface="微软雅黑" panose="020B0503020204020204" charset="-122"/>
              <a:ea typeface="微软雅黑" panose="020B0503020204020204" charset="-122"/>
            </a:endParaRPr>
          </a:p>
          <a:p>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、负责知识运营策略配置及知识演进更新</a:t>
            </a:r>
            <a:endParaRPr lang="en-US" altLang="zh-CN" sz="1200" dirty="0">
              <a:latin typeface="微软雅黑" panose="020B0503020204020204" charset="-122"/>
              <a:ea typeface="微软雅黑" panose="020B0503020204020204"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fontScale="90000"/>
          </a:bodyPr>
          <a:lstStyle/>
          <a:p>
            <a:pPr lvl="0" algn="l">
              <a:buClrTx/>
              <a:buSzTx/>
              <a:buFontTx/>
            </a:pPr>
            <a:r>
              <a:rPr lang="zh-CN" altLang="en-US">
                <a:latin typeface="楷体" panose="02010609060101010101" pitchFamily="49" charset="-122"/>
                <a:ea typeface="楷体" panose="02010609060101010101" pitchFamily="49" charset="-122"/>
                <a:cs typeface="楷体" panose="02010609060101010101" pitchFamily="49" charset="-122"/>
                <a:sym typeface="+mn-ea"/>
              </a:rPr>
              <a:t>知识运营流程</a:t>
            </a:r>
            <a:r>
              <a:rPr lang="en-US" altLang="zh-CN">
                <a:latin typeface="楷体" panose="02010609060101010101" pitchFamily="49" charset="-122"/>
                <a:ea typeface="楷体" panose="02010609060101010101" pitchFamily="49" charset="-122"/>
                <a:cs typeface="楷体" panose="02010609060101010101" pitchFamily="49" charset="-122"/>
                <a:sym typeface="+mn-ea"/>
              </a:rPr>
              <a:t>—</a:t>
            </a:r>
            <a:r>
              <a:rPr lang="zh-CN" altLang="en-US">
                <a:latin typeface="楷体" panose="02010609060101010101" pitchFamily="49" charset="-122"/>
                <a:ea typeface="楷体" panose="02010609060101010101" pitchFamily="49" charset="-122"/>
                <a:cs typeface="楷体" panose="02010609060101010101" pitchFamily="49" charset="-122"/>
                <a:sym typeface="+mn-ea"/>
              </a:rPr>
              <a:t>知识需求实施流程</a:t>
            </a:r>
            <a:endParaRPr lang="zh-CN" altLang="en-US">
              <a:latin typeface="楷体" panose="02010609060101010101" pitchFamily="49" charset="-122"/>
              <a:ea typeface="楷体" panose="02010609060101010101" pitchFamily="49" charset="-122"/>
              <a:cs typeface="楷体" panose="02010609060101010101" pitchFamily="49" charset="-122"/>
              <a:sym typeface="+mn-ea"/>
            </a:endParaRPr>
          </a:p>
        </p:txBody>
      </p:sp>
      <p:grpSp>
        <p:nvGrpSpPr>
          <p:cNvPr id="5" name="组合 4"/>
          <p:cNvGrpSpPr/>
          <p:nvPr/>
        </p:nvGrpSpPr>
        <p:grpSpPr>
          <a:xfrm>
            <a:off x="180975" y="1379855"/>
            <a:ext cx="11504930" cy="5374640"/>
            <a:chOff x="285" y="1543"/>
            <a:chExt cx="18118" cy="8464"/>
          </a:xfrm>
        </p:grpSpPr>
        <p:sp>
          <p:nvSpPr>
            <p:cNvPr id="3" name="箭头: V 形 7"/>
            <p:cNvSpPr/>
            <p:nvPr/>
          </p:nvSpPr>
          <p:spPr>
            <a:xfrm>
              <a:off x="1435" y="1543"/>
              <a:ext cx="2314"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需求提出</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9" name="箭头: V 形 7"/>
            <p:cNvSpPr/>
            <p:nvPr/>
          </p:nvSpPr>
          <p:spPr>
            <a:xfrm>
              <a:off x="3547" y="1543"/>
              <a:ext cx="1520" cy="572"/>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方案设计</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3" name="箭头: V 形 7"/>
            <p:cNvSpPr/>
            <p:nvPr/>
          </p:nvSpPr>
          <p:spPr>
            <a:xfrm>
              <a:off x="4874" y="1543"/>
              <a:ext cx="1705"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方案评审</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6" name="箭头: V 形 7"/>
            <p:cNvSpPr/>
            <p:nvPr/>
          </p:nvSpPr>
          <p:spPr>
            <a:xfrm>
              <a:off x="6392" y="1543"/>
              <a:ext cx="1467" cy="573"/>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知识接入</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2" name="箭头: V 形 7"/>
            <p:cNvSpPr/>
            <p:nvPr/>
          </p:nvSpPr>
          <p:spPr>
            <a:xfrm>
              <a:off x="7684" y="1543"/>
              <a:ext cx="3908" cy="589"/>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知识加工</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7" name="箭头: V 形 7"/>
            <p:cNvSpPr/>
            <p:nvPr/>
          </p:nvSpPr>
          <p:spPr>
            <a:xfrm>
              <a:off x="11404" y="1544"/>
              <a:ext cx="2682"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知识评测</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8" name="箭头: V 形 7"/>
            <p:cNvSpPr/>
            <p:nvPr/>
          </p:nvSpPr>
          <p:spPr>
            <a:xfrm>
              <a:off x="13856" y="1543"/>
              <a:ext cx="1805"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知识投产</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3" name="箭头: V 形 7"/>
            <p:cNvSpPr/>
            <p:nvPr/>
          </p:nvSpPr>
          <p:spPr>
            <a:xfrm>
              <a:off x="15528" y="1543"/>
              <a:ext cx="2875" cy="573"/>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知识运营</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4" name="Rectangle 9"/>
            <p:cNvSpPr/>
            <p:nvPr/>
          </p:nvSpPr>
          <p:spPr>
            <a:xfrm>
              <a:off x="285" y="2989"/>
              <a:ext cx="1400" cy="101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35" name="Rectangle 10"/>
            <p:cNvSpPr/>
            <p:nvPr/>
          </p:nvSpPr>
          <p:spPr>
            <a:xfrm>
              <a:off x="285" y="4498"/>
              <a:ext cx="1399" cy="10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融合</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6" name="矩形: 圆角 59"/>
            <p:cNvSpPr/>
            <p:nvPr/>
          </p:nvSpPr>
          <p:spPr>
            <a:xfrm>
              <a:off x="1887" y="2990"/>
              <a:ext cx="1235" cy="1012"/>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提出需求意向及知识相关资料</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8" name="矩形: 圆角 60"/>
            <p:cNvSpPr/>
            <p:nvPr/>
          </p:nvSpPr>
          <p:spPr>
            <a:xfrm>
              <a:off x="3641" y="4337"/>
              <a:ext cx="1119" cy="2604"/>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需求分析</a:t>
              </a: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元数据设计</a:t>
              </a: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a:t>
              </a:r>
              <a:endPar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图谱建模、本体建模及智能体方案设计</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61" name="直接连接符 60"/>
            <p:cNvCxnSpPr/>
            <p:nvPr/>
          </p:nvCxnSpPr>
          <p:spPr>
            <a:xfrm>
              <a:off x="487" y="4219"/>
              <a:ext cx="17603"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62" name="直接连接符 61"/>
            <p:cNvCxnSpPr/>
            <p:nvPr/>
          </p:nvCxnSpPr>
          <p:spPr>
            <a:xfrm>
              <a:off x="487" y="5949"/>
              <a:ext cx="17603"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75" name="直接连接符 74"/>
            <p:cNvCxnSpPr/>
            <p:nvPr/>
          </p:nvCxnSpPr>
          <p:spPr>
            <a:xfrm>
              <a:off x="487" y="8258"/>
              <a:ext cx="17603"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76" name="肘形连接符 75"/>
            <p:cNvCxnSpPr>
              <a:stCxn id="36" idx="3"/>
              <a:endCxn id="48" idx="1"/>
            </p:cNvCxnSpPr>
            <p:nvPr/>
          </p:nvCxnSpPr>
          <p:spPr>
            <a:xfrm>
              <a:off x="3122" y="3496"/>
              <a:ext cx="519" cy="2143"/>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77" name="肘形连接符 76"/>
            <p:cNvCxnSpPr>
              <a:stCxn id="48" idx="3"/>
              <a:endCxn id="83" idx="1"/>
            </p:cNvCxnSpPr>
            <p:nvPr/>
          </p:nvCxnSpPr>
          <p:spPr>
            <a:xfrm>
              <a:off x="4760" y="5639"/>
              <a:ext cx="238" cy="1"/>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81" name="Rectangle 10"/>
            <p:cNvSpPr/>
            <p:nvPr/>
          </p:nvSpPr>
          <p:spPr>
            <a:xfrm>
              <a:off x="285" y="6624"/>
              <a:ext cx="1399" cy="10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工程团队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2" name="Rectangle 10"/>
            <p:cNvSpPr/>
            <p:nvPr/>
          </p:nvSpPr>
          <p:spPr>
            <a:xfrm>
              <a:off x="285" y="8992"/>
              <a:ext cx="1399" cy="10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运营团队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3" name="矩形: 圆角 60"/>
            <p:cNvSpPr/>
            <p:nvPr/>
          </p:nvSpPr>
          <p:spPr>
            <a:xfrm>
              <a:off x="4998" y="3540"/>
              <a:ext cx="627" cy="4199"/>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设计方案评审</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5" name="矩形: 圆角 60"/>
            <p:cNvSpPr/>
            <p:nvPr/>
          </p:nvSpPr>
          <p:spPr>
            <a:xfrm>
              <a:off x="6732" y="6286"/>
              <a:ext cx="754" cy="1704"/>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知识源接入</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7" name="矩形: 圆角 60"/>
            <p:cNvSpPr/>
            <p:nvPr/>
          </p:nvSpPr>
          <p:spPr>
            <a:xfrm>
              <a:off x="8650" y="7375"/>
              <a:ext cx="1034" cy="643"/>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向量知识库配置</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8" name="矩形: 圆角 60"/>
            <p:cNvSpPr/>
            <p:nvPr/>
          </p:nvSpPr>
          <p:spPr>
            <a:xfrm>
              <a:off x="8650" y="6018"/>
              <a:ext cx="1068" cy="835"/>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专题知识</a:t>
              </a:r>
              <a:r>
                <a:rPr kumimoji="0" lang="en-US" altLang="zh-CN"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 </a:t>
              </a: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图谱、本体模型配置</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89" name="矩形: 圆角 60"/>
            <p:cNvSpPr/>
            <p:nvPr/>
          </p:nvSpPr>
          <p:spPr>
            <a:xfrm>
              <a:off x="8585" y="4944"/>
              <a:ext cx="1173" cy="596"/>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本体业务规则配置</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93" name="矩形: 圆角 60"/>
            <p:cNvSpPr/>
            <p:nvPr/>
          </p:nvSpPr>
          <p:spPr>
            <a:xfrm>
              <a:off x="9991" y="6130"/>
              <a:ext cx="1234" cy="814"/>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专题知识图谱算子开发及抽取</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94" name="矩形: 圆角 60"/>
            <p:cNvSpPr/>
            <p:nvPr/>
          </p:nvSpPr>
          <p:spPr>
            <a:xfrm>
              <a:off x="10108" y="7398"/>
              <a:ext cx="1118" cy="619"/>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向量知识库加工</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95" name="直接箭头连接符 94"/>
            <p:cNvCxnSpPr>
              <a:stCxn id="87" idx="3"/>
              <a:endCxn id="94" idx="1"/>
            </p:cNvCxnSpPr>
            <p:nvPr/>
          </p:nvCxnSpPr>
          <p:spPr>
            <a:xfrm>
              <a:off x="9684" y="7697"/>
              <a:ext cx="424" cy="11"/>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6" name="肘形连接符 95"/>
            <p:cNvCxnSpPr>
              <a:stCxn id="85" idx="3"/>
              <a:endCxn id="88" idx="1"/>
            </p:cNvCxnSpPr>
            <p:nvPr/>
          </p:nvCxnSpPr>
          <p:spPr>
            <a:xfrm flipV="1">
              <a:off x="7486" y="6436"/>
              <a:ext cx="1164" cy="702"/>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98" name="矩形: 圆角 60"/>
            <p:cNvSpPr/>
            <p:nvPr/>
          </p:nvSpPr>
          <p:spPr>
            <a:xfrm>
              <a:off x="11485" y="4983"/>
              <a:ext cx="857" cy="777"/>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评测集编制</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00" name="肘形连接符 99"/>
            <p:cNvCxnSpPr>
              <a:stCxn id="93" idx="3"/>
              <a:endCxn id="98" idx="1"/>
            </p:cNvCxnSpPr>
            <p:nvPr/>
          </p:nvCxnSpPr>
          <p:spPr>
            <a:xfrm flipV="1">
              <a:off x="11225" y="5372"/>
              <a:ext cx="260" cy="116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101" name="肘形连接符 100"/>
            <p:cNvCxnSpPr>
              <a:stCxn id="94" idx="3"/>
              <a:endCxn id="98" idx="1"/>
            </p:cNvCxnSpPr>
            <p:nvPr/>
          </p:nvCxnSpPr>
          <p:spPr>
            <a:xfrm flipV="1">
              <a:off x="11226" y="5372"/>
              <a:ext cx="259" cy="2336"/>
            </a:xfrm>
            <a:prstGeom prst="bentConnector3">
              <a:avLst>
                <a:gd name="adj1" fmla="val 50193"/>
              </a:avLst>
            </a:prstGeom>
            <a:ln>
              <a:tailEnd type="arrow"/>
            </a:ln>
          </p:spPr>
          <p:style>
            <a:lnRef idx="2">
              <a:schemeClr val="accent1"/>
            </a:lnRef>
            <a:fillRef idx="0">
              <a:srgbClr val="FFFFFF"/>
            </a:fillRef>
            <a:effectRef idx="0">
              <a:srgbClr val="FFFFFF"/>
            </a:effectRef>
            <a:fontRef idx="minor">
              <a:schemeClr val="tx1"/>
            </a:fontRef>
          </p:style>
        </p:cxnSp>
        <p:sp>
          <p:nvSpPr>
            <p:cNvPr id="102" name="矩形: 圆角 60"/>
            <p:cNvSpPr/>
            <p:nvPr/>
          </p:nvSpPr>
          <p:spPr>
            <a:xfrm>
              <a:off x="12478" y="4983"/>
              <a:ext cx="857" cy="777"/>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测评</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103" name="菱形 102"/>
            <p:cNvSpPr/>
            <p:nvPr/>
          </p:nvSpPr>
          <p:spPr>
            <a:xfrm>
              <a:off x="13498" y="4845"/>
              <a:ext cx="810" cy="1018"/>
            </a:xfrm>
            <a:prstGeom prst="diamond">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是否通过</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104" name="肘形连接符 103"/>
            <p:cNvCxnSpPr>
              <a:stCxn id="103" idx="0"/>
            </p:cNvCxnSpPr>
            <p:nvPr/>
          </p:nvCxnSpPr>
          <p:spPr>
            <a:xfrm rot="16200000" flipH="1" flipV="1">
              <a:off x="9786" y="2168"/>
              <a:ext cx="1440" cy="6794"/>
            </a:xfrm>
            <a:prstGeom prst="bentConnector4">
              <a:avLst>
                <a:gd name="adj1" fmla="val -26042"/>
                <a:gd name="adj2" fmla="val 100029"/>
              </a:avLst>
            </a:prstGeom>
            <a:ln>
              <a:tailEnd type="arrow"/>
            </a:ln>
          </p:spPr>
          <p:style>
            <a:lnRef idx="2">
              <a:schemeClr val="accent1"/>
            </a:lnRef>
            <a:fillRef idx="0">
              <a:srgbClr val="FFFFFF"/>
            </a:fillRef>
            <a:effectRef idx="0">
              <a:srgbClr val="FFFFFF"/>
            </a:effectRef>
            <a:fontRef idx="minor">
              <a:schemeClr val="tx1"/>
            </a:fontRef>
          </p:style>
        </p:cxnSp>
        <p:cxnSp>
          <p:nvCxnSpPr>
            <p:cNvPr id="105" name="直接箭头连接符 104"/>
            <p:cNvCxnSpPr>
              <a:stCxn id="98" idx="3"/>
              <a:endCxn id="102" idx="1"/>
            </p:cNvCxnSpPr>
            <p:nvPr/>
          </p:nvCxnSpPr>
          <p:spPr>
            <a:xfrm>
              <a:off x="12342" y="5372"/>
              <a:ext cx="136"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9" name="直接箭头连接符 108"/>
            <p:cNvCxnSpPr>
              <a:stCxn id="102" idx="3"/>
              <a:endCxn id="103" idx="1"/>
            </p:cNvCxnSpPr>
            <p:nvPr/>
          </p:nvCxnSpPr>
          <p:spPr>
            <a:xfrm flipV="1">
              <a:off x="13335" y="5354"/>
              <a:ext cx="163" cy="1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1" name="矩形: 圆角 60"/>
            <p:cNvSpPr/>
            <p:nvPr/>
          </p:nvSpPr>
          <p:spPr>
            <a:xfrm>
              <a:off x="14430" y="4823"/>
              <a:ext cx="516" cy="1057"/>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知识效果验收</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4" name="矩形: 圆角 60"/>
            <p:cNvSpPr/>
            <p:nvPr/>
          </p:nvSpPr>
          <p:spPr>
            <a:xfrm>
              <a:off x="14788" y="6187"/>
              <a:ext cx="862" cy="1508"/>
            </a:xfrm>
            <a:prstGeom prst="roundRect">
              <a:avLst>
                <a:gd name="adj" fmla="val 12993"/>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知识库投产</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15" name="文本框 114"/>
            <p:cNvSpPr txBox="1"/>
            <p:nvPr/>
          </p:nvSpPr>
          <p:spPr>
            <a:xfrm>
              <a:off x="10700" y="4498"/>
              <a:ext cx="526" cy="362"/>
            </a:xfrm>
            <a:prstGeom prst="rect">
              <a:avLst/>
            </a:prstGeom>
            <a:noFill/>
          </p:spPr>
          <p:txBody>
            <a:bodyPr wrap="square" rtlCol="0">
              <a:spAutoFit/>
            </a:bodyPr>
            <a:lstStyle/>
            <a:p>
              <a:r>
                <a:rPr lang="zh-CN" altLang="en-US" sz="900">
                  <a:latin typeface="微软雅黑" panose="020B0503020204020204" charset="-122"/>
                  <a:ea typeface="微软雅黑" panose="020B0503020204020204" charset="-122"/>
                </a:rPr>
                <a:t>否</a:t>
              </a:r>
              <a:endParaRPr lang="zh-CN" altLang="en-US" sz="900">
                <a:latin typeface="微软雅黑" panose="020B0503020204020204" charset="-122"/>
                <a:ea typeface="微软雅黑" panose="020B0503020204020204" charset="-122"/>
              </a:endParaRPr>
            </a:p>
          </p:txBody>
        </p:sp>
        <p:sp>
          <p:nvSpPr>
            <p:cNvPr id="116" name="文本框 115"/>
            <p:cNvSpPr txBox="1"/>
            <p:nvPr/>
          </p:nvSpPr>
          <p:spPr>
            <a:xfrm>
              <a:off x="13972" y="4582"/>
              <a:ext cx="526" cy="362"/>
            </a:xfrm>
            <a:prstGeom prst="rect">
              <a:avLst/>
            </a:prstGeom>
            <a:noFill/>
          </p:spPr>
          <p:txBody>
            <a:bodyPr wrap="square" rtlCol="0">
              <a:spAutoFit/>
            </a:bodyPr>
            <a:lstStyle/>
            <a:p>
              <a:r>
                <a:rPr lang="zh-CN" altLang="en-US" sz="900">
                  <a:latin typeface="微软雅黑" panose="020B0503020204020204" charset="-122"/>
                  <a:ea typeface="微软雅黑" panose="020B0503020204020204" charset="-122"/>
                </a:rPr>
                <a:t>是</a:t>
              </a:r>
              <a:endParaRPr lang="zh-CN" altLang="en-US" sz="900">
                <a:latin typeface="微软雅黑" panose="020B0503020204020204" charset="-122"/>
                <a:ea typeface="微软雅黑" panose="020B0503020204020204" charset="-122"/>
              </a:endParaRPr>
            </a:p>
          </p:txBody>
        </p:sp>
        <p:cxnSp>
          <p:nvCxnSpPr>
            <p:cNvPr id="117" name="肘形连接符 116"/>
            <p:cNvCxnSpPr>
              <a:stCxn id="111" idx="3"/>
              <a:endCxn id="114" idx="0"/>
            </p:cNvCxnSpPr>
            <p:nvPr/>
          </p:nvCxnSpPr>
          <p:spPr>
            <a:xfrm>
              <a:off x="14946" y="5352"/>
              <a:ext cx="273" cy="83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21" name="矩形: 圆角 60"/>
            <p:cNvSpPr/>
            <p:nvPr/>
          </p:nvSpPr>
          <p:spPr>
            <a:xfrm>
              <a:off x="15752" y="8725"/>
              <a:ext cx="1169" cy="878"/>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知识演进及保鲜</a:t>
              </a:r>
              <a:endParaRPr kumimoji="0" lang="zh-CN" altLang="en-US" sz="10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cxnSp>
          <p:nvCxnSpPr>
            <p:cNvPr id="122" name="肘形连接符 121"/>
            <p:cNvCxnSpPr>
              <a:stCxn id="114" idx="3"/>
              <a:endCxn id="121" idx="0"/>
            </p:cNvCxnSpPr>
            <p:nvPr/>
          </p:nvCxnSpPr>
          <p:spPr>
            <a:xfrm>
              <a:off x="15650" y="6941"/>
              <a:ext cx="687" cy="1784"/>
            </a:xfrm>
            <a:prstGeom prst="bentConnector2">
              <a:avLst/>
            </a:prstGeom>
            <a:ln>
              <a:tailEnd type="arrow" w="med" len="med"/>
            </a:ln>
          </p:spPr>
          <p:style>
            <a:lnRef idx="2">
              <a:schemeClr val="accent1"/>
            </a:lnRef>
            <a:fillRef idx="0">
              <a:srgbClr val="FFFFFF"/>
            </a:fillRef>
            <a:effectRef idx="0">
              <a:srgbClr val="FFFFFF"/>
            </a:effectRef>
            <a:fontRef idx="minor">
              <a:schemeClr val="tx1"/>
            </a:fontRef>
          </p:style>
        </p:cxnSp>
        <p:cxnSp>
          <p:nvCxnSpPr>
            <p:cNvPr id="7" name="肘形连接符 6"/>
            <p:cNvCxnSpPr>
              <a:stCxn id="83" idx="3"/>
              <a:endCxn id="85" idx="1"/>
            </p:cNvCxnSpPr>
            <p:nvPr/>
          </p:nvCxnSpPr>
          <p:spPr>
            <a:xfrm>
              <a:off x="5625" y="5640"/>
              <a:ext cx="1107" cy="1498"/>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8" name="肘形连接符 7"/>
            <p:cNvCxnSpPr>
              <a:stCxn id="85" idx="3"/>
              <a:endCxn id="87" idx="1"/>
            </p:cNvCxnSpPr>
            <p:nvPr/>
          </p:nvCxnSpPr>
          <p:spPr>
            <a:xfrm>
              <a:off x="7486" y="7138"/>
              <a:ext cx="1164" cy="559"/>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7646" y="5908"/>
              <a:ext cx="1025" cy="582"/>
            </a:xfrm>
            <a:prstGeom prst="rect">
              <a:avLst/>
            </a:prstGeom>
            <a:noFill/>
          </p:spPr>
          <p:txBody>
            <a:bodyPr wrap="square" rtlCol="0">
              <a:spAutoFit/>
            </a:bodyPr>
            <a:lstStyle/>
            <a:p>
              <a:r>
                <a:rPr lang="zh-CN" altLang="en-US" sz="900" dirty="0">
                  <a:latin typeface="微软雅黑" panose="020B0503020204020204" charset="-122"/>
                  <a:ea typeface="微软雅黑" panose="020B0503020204020204" charset="-122"/>
                </a:rPr>
                <a:t>涉及图谱及本体</a:t>
              </a:r>
              <a:endParaRPr lang="zh-CN" altLang="en-US" sz="900" dirty="0">
                <a:latin typeface="微软雅黑" panose="020B0503020204020204" charset="-122"/>
                <a:ea typeface="微软雅黑" panose="020B0503020204020204" charset="-122"/>
              </a:endParaRPr>
            </a:p>
          </p:txBody>
        </p:sp>
        <p:cxnSp>
          <p:nvCxnSpPr>
            <p:cNvPr id="11" name="直接箭头连接符 10"/>
            <p:cNvCxnSpPr>
              <a:stCxn id="88" idx="0"/>
              <a:endCxn id="89" idx="2"/>
            </p:cNvCxnSpPr>
            <p:nvPr/>
          </p:nvCxnSpPr>
          <p:spPr>
            <a:xfrm flipH="1" flipV="1">
              <a:off x="9172" y="5540"/>
              <a:ext cx="12" cy="47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肘形连接符 11"/>
            <p:cNvCxnSpPr>
              <a:stCxn id="89" idx="3"/>
              <a:endCxn id="93" idx="0"/>
            </p:cNvCxnSpPr>
            <p:nvPr/>
          </p:nvCxnSpPr>
          <p:spPr>
            <a:xfrm>
              <a:off x="9758" y="5242"/>
              <a:ext cx="850" cy="888"/>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grpSp>
      <p:sp>
        <p:nvSpPr>
          <p:cNvPr id="6" name="文本框 5"/>
          <p:cNvSpPr txBox="1"/>
          <p:nvPr/>
        </p:nvSpPr>
        <p:spPr>
          <a:xfrm>
            <a:off x="697230" y="915670"/>
            <a:ext cx="9437370" cy="306705"/>
          </a:xfrm>
          <a:prstGeom prst="rect">
            <a:avLst/>
          </a:prstGeom>
          <a:noFill/>
        </p:spPr>
        <p:txBody>
          <a:bodyPr wrap="square" rtlCol="0">
            <a:spAutoFit/>
          </a:bodyPr>
          <a:lstStyle/>
          <a:p>
            <a:pPr marL="285750" indent="-285750">
              <a:buFont typeface="Wingdings" panose="05000000000000000000" charset="0"/>
              <a:buChar char="n"/>
            </a:pPr>
            <a:r>
              <a:rPr lang="zh-CN" altLang="en-US" sz="1400">
                <a:latin typeface="微软雅黑" panose="020B0503020204020204" charset="-122"/>
                <a:ea typeface="微软雅黑" panose="020B0503020204020204" charset="-122"/>
                <a:cs typeface="微软雅黑" panose="020B0503020204020204" charset="-122"/>
              </a:rPr>
              <a:t>通过</a:t>
            </a:r>
            <a:r>
              <a:rPr lang="zh-CN" altLang="en-US" sz="1400" b="1"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a:t>
            </a:r>
            <a:r>
              <a:rPr lang="en-US" altLang="zh-CN" sz="1400" b="1"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3+N</a:t>
            </a:r>
            <a:r>
              <a:rPr lang="zh-CN" altLang="en-US" sz="1400" b="1"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”模式，实现知识需求的快速实现；</a:t>
            </a:r>
            <a:endParaRPr lang="zh-CN" altLang="en-US" sz="1400" b="1"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endParaRPr>
          </a:p>
        </p:txBody>
      </p:sp>
      <p:cxnSp>
        <p:nvCxnSpPr>
          <p:cNvPr id="14" name="直接箭头连接符 13"/>
          <p:cNvCxnSpPr>
            <a:stCxn id="103" idx="3"/>
            <a:endCxn id="111" idx="1"/>
          </p:cNvCxnSpPr>
          <p:nvPr/>
        </p:nvCxnSpPr>
        <p:spPr>
          <a:xfrm flipV="1">
            <a:off x="9085580" y="3798570"/>
            <a:ext cx="77470" cy="12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8" name="矩形: 圆角 59"/>
          <p:cNvSpPr/>
          <p:nvPr/>
        </p:nvSpPr>
        <p:spPr>
          <a:xfrm>
            <a:off x="1201420" y="5940425"/>
            <a:ext cx="784225" cy="642620"/>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日常知识运营管理</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19" name="肘形连接符 18"/>
          <p:cNvCxnSpPr>
            <a:stCxn id="18" idx="0"/>
            <a:endCxn id="21" idx="2"/>
          </p:cNvCxnSpPr>
          <p:nvPr/>
        </p:nvCxnSpPr>
        <p:spPr>
          <a:xfrm rot="16200000" flipV="1">
            <a:off x="624840" y="4971415"/>
            <a:ext cx="1934845" cy="3175"/>
          </a:xfrm>
          <a:prstGeom prst="bentConnector3">
            <a:avLst>
              <a:gd name="adj1" fmla="val 49984"/>
            </a:avLst>
          </a:prstGeom>
          <a:ln>
            <a:tailEnd type="arrow"/>
          </a:ln>
        </p:spPr>
        <p:style>
          <a:lnRef idx="2">
            <a:schemeClr val="accent1"/>
          </a:lnRef>
          <a:fillRef idx="0">
            <a:srgbClr val="FFFFFF"/>
          </a:fillRef>
          <a:effectRef idx="0">
            <a:srgbClr val="FFFFFF"/>
          </a:effectRef>
          <a:fontRef idx="minor">
            <a:schemeClr val="tx1"/>
          </a:fontRef>
        </p:style>
      </p:cxnSp>
      <p:sp>
        <p:nvSpPr>
          <p:cNvPr id="21" name="矩形: 圆角 59"/>
          <p:cNvSpPr/>
          <p:nvPr/>
        </p:nvSpPr>
        <p:spPr>
          <a:xfrm>
            <a:off x="1198245" y="3362960"/>
            <a:ext cx="784225" cy="642620"/>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根据运营报告分析提出优化需求</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42" name="肘形连接符 75"/>
          <p:cNvCxnSpPr>
            <a:stCxn id="21" idx="3"/>
            <a:endCxn id="48" idx="1"/>
          </p:cNvCxnSpPr>
          <p:nvPr/>
        </p:nvCxnSpPr>
        <p:spPr>
          <a:xfrm>
            <a:off x="1982470" y="3684270"/>
            <a:ext cx="329565" cy="29654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fontScale="90000"/>
          </a:bodyPr>
          <a:lstStyle/>
          <a:p>
            <a:pPr lvl="0" algn="l">
              <a:buClrTx/>
              <a:buSzTx/>
              <a:buFontTx/>
            </a:pPr>
            <a:r>
              <a:rPr lang="zh-CN" altLang="en-US">
                <a:latin typeface="楷体" panose="02010609060101010101" pitchFamily="49" charset="-122"/>
                <a:ea typeface="楷体" panose="02010609060101010101" pitchFamily="49" charset="-122"/>
                <a:cs typeface="楷体" panose="02010609060101010101" pitchFamily="49" charset="-122"/>
                <a:sym typeface="+mn-ea"/>
              </a:rPr>
              <a:t>知识运营流程</a:t>
            </a:r>
            <a:r>
              <a:rPr lang="en-US" altLang="zh-CN">
                <a:latin typeface="楷体" panose="02010609060101010101" pitchFamily="49" charset="-122"/>
                <a:ea typeface="楷体" panose="02010609060101010101" pitchFamily="49" charset="-122"/>
                <a:cs typeface="楷体" panose="02010609060101010101" pitchFamily="49" charset="-122"/>
                <a:sym typeface="+mn-ea"/>
              </a:rPr>
              <a:t>——</a:t>
            </a:r>
            <a:r>
              <a:rPr lang="zh-CN" altLang="en-US">
                <a:latin typeface="楷体" panose="02010609060101010101" pitchFamily="49" charset="-122"/>
                <a:ea typeface="楷体" panose="02010609060101010101" pitchFamily="49" charset="-122"/>
                <a:cs typeface="楷体" panose="02010609060101010101" pitchFamily="49" charset="-122"/>
                <a:sym typeface="+mn-ea"/>
              </a:rPr>
              <a:t>知识演进及保鲜流程</a:t>
            </a:r>
            <a:endParaRPr lang="zh-CN" altLang="en-US">
              <a:latin typeface="楷体" panose="02010609060101010101" pitchFamily="49" charset="-122"/>
              <a:ea typeface="楷体" panose="02010609060101010101" pitchFamily="49" charset="-122"/>
              <a:cs typeface="楷体" panose="02010609060101010101" pitchFamily="49" charset="-122"/>
              <a:sym typeface="+mn-ea"/>
            </a:endParaRPr>
          </a:p>
        </p:txBody>
      </p:sp>
      <p:cxnSp>
        <p:nvCxnSpPr>
          <p:cNvPr id="19" name="直接连接符 18"/>
          <p:cNvCxnSpPr/>
          <p:nvPr/>
        </p:nvCxnSpPr>
        <p:spPr>
          <a:xfrm>
            <a:off x="309245" y="4218940"/>
            <a:ext cx="11177905"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8" name="直接连接符 17"/>
          <p:cNvCxnSpPr/>
          <p:nvPr/>
        </p:nvCxnSpPr>
        <p:spPr>
          <a:xfrm>
            <a:off x="309245" y="3369310"/>
            <a:ext cx="11177905"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7" name="直接连接符 16"/>
          <p:cNvCxnSpPr/>
          <p:nvPr/>
        </p:nvCxnSpPr>
        <p:spPr>
          <a:xfrm>
            <a:off x="309245" y="2641600"/>
            <a:ext cx="11177905"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06" name="Rectangle 9"/>
          <p:cNvSpPr/>
          <p:nvPr/>
        </p:nvSpPr>
        <p:spPr>
          <a:xfrm>
            <a:off x="180975" y="2019300"/>
            <a:ext cx="889000" cy="53467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107" name="Rectangle 10"/>
          <p:cNvSpPr/>
          <p:nvPr/>
        </p:nvSpPr>
        <p:spPr>
          <a:xfrm>
            <a:off x="180975" y="2745105"/>
            <a:ext cx="888365" cy="5353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融合</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 name="Rectangle 10"/>
          <p:cNvSpPr/>
          <p:nvPr/>
        </p:nvSpPr>
        <p:spPr>
          <a:xfrm>
            <a:off x="180975" y="3505835"/>
            <a:ext cx="888365" cy="5353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工程团队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 name="Rectangle 10"/>
          <p:cNvSpPr/>
          <p:nvPr/>
        </p:nvSpPr>
        <p:spPr>
          <a:xfrm>
            <a:off x="180975" y="4859655"/>
            <a:ext cx="888365" cy="53530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运营团队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 name="矩形: 圆角 59"/>
          <p:cNvSpPr/>
          <p:nvPr/>
        </p:nvSpPr>
        <p:spPr>
          <a:xfrm>
            <a:off x="941705" y="1754505"/>
            <a:ext cx="1369695" cy="438785"/>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业务智能体知识应用及用户问题反馈</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grpSp>
        <p:nvGrpSpPr>
          <p:cNvPr id="6" name="组合 5"/>
          <p:cNvGrpSpPr/>
          <p:nvPr/>
        </p:nvGrpSpPr>
        <p:grpSpPr>
          <a:xfrm>
            <a:off x="911225" y="1363345"/>
            <a:ext cx="10711180" cy="344805"/>
            <a:chOff x="1435" y="1543"/>
            <a:chExt cx="14239" cy="590"/>
          </a:xfrm>
        </p:grpSpPr>
        <p:sp>
          <p:nvSpPr>
            <p:cNvPr id="5" name="箭头: V 形 7"/>
            <p:cNvSpPr/>
            <p:nvPr/>
          </p:nvSpPr>
          <p:spPr>
            <a:xfrm>
              <a:off x="1435" y="1543"/>
              <a:ext cx="2664"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知识运营监控</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2" name="箭头: V 形 7"/>
            <p:cNvSpPr/>
            <p:nvPr/>
          </p:nvSpPr>
          <p:spPr>
            <a:xfrm>
              <a:off x="3960" y="1543"/>
              <a:ext cx="2664"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知识问题分析</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 name="箭头: V 形 7"/>
            <p:cNvSpPr/>
            <p:nvPr/>
          </p:nvSpPr>
          <p:spPr>
            <a:xfrm>
              <a:off x="6450" y="1543"/>
              <a:ext cx="7412"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知识演进及保鲜实施</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3" name="箭头: V 形 7"/>
            <p:cNvSpPr/>
            <p:nvPr/>
          </p:nvSpPr>
          <p:spPr>
            <a:xfrm>
              <a:off x="13707" y="1545"/>
              <a:ext cx="1967" cy="588"/>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知识更新</a:t>
              </a:r>
              <a:endParaRPr kumimoji="0" lang="zh-CN"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sp>
        <p:nvSpPr>
          <p:cNvPr id="15" name="矩形: 圆角 59"/>
          <p:cNvSpPr/>
          <p:nvPr/>
        </p:nvSpPr>
        <p:spPr>
          <a:xfrm>
            <a:off x="1155700" y="5173980"/>
            <a:ext cx="887095" cy="827405"/>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知识应用</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全链路监控</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3" name="矩形: 圆角 59"/>
          <p:cNvSpPr/>
          <p:nvPr/>
        </p:nvSpPr>
        <p:spPr>
          <a:xfrm>
            <a:off x="4683760" y="2814955"/>
            <a:ext cx="1151890" cy="380365"/>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知识缺失评估</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4" name="矩形: 圆角 59"/>
          <p:cNvSpPr/>
          <p:nvPr/>
        </p:nvSpPr>
        <p:spPr>
          <a:xfrm>
            <a:off x="6402070" y="2837815"/>
            <a:ext cx="1151890" cy="35814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知识文档整理及</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上传</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7" name="矩形: 圆角 59"/>
          <p:cNvSpPr/>
          <p:nvPr/>
        </p:nvSpPr>
        <p:spPr>
          <a:xfrm>
            <a:off x="6376035" y="3406140"/>
            <a:ext cx="1216025" cy="443865"/>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知识源文件接入、加工及检索</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0" name="矩形: 圆角 59"/>
          <p:cNvSpPr/>
          <p:nvPr/>
        </p:nvSpPr>
        <p:spPr>
          <a:xfrm>
            <a:off x="7717790" y="2814955"/>
            <a:ext cx="788035" cy="38100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知识测评方案设计</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1" name="矩形: 圆角 59"/>
          <p:cNvSpPr/>
          <p:nvPr/>
        </p:nvSpPr>
        <p:spPr>
          <a:xfrm>
            <a:off x="8612505" y="2814955"/>
            <a:ext cx="849630" cy="38100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知识测评及测评报告生成</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2" name="矩形: 圆角 59"/>
          <p:cNvSpPr/>
          <p:nvPr/>
        </p:nvSpPr>
        <p:spPr>
          <a:xfrm>
            <a:off x="9597390" y="2814955"/>
            <a:ext cx="788035" cy="38100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知识验收</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96" name="肘形连接符 95"/>
          <p:cNvCxnSpPr>
            <a:stCxn id="14" idx="3"/>
            <a:endCxn id="33" idx="2"/>
          </p:cNvCxnSpPr>
          <p:nvPr/>
        </p:nvCxnSpPr>
        <p:spPr>
          <a:xfrm flipH="1" flipV="1">
            <a:off x="5259705" y="3195320"/>
            <a:ext cx="429260" cy="1769745"/>
          </a:xfrm>
          <a:prstGeom prst="bentConnector4">
            <a:avLst>
              <a:gd name="adj1" fmla="val -89645"/>
              <a:gd name="adj2" fmla="val 53606"/>
            </a:avLst>
          </a:prstGeom>
          <a:ln>
            <a:tailEnd type="arrow"/>
          </a:ln>
        </p:spPr>
        <p:style>
          <a:lnRef idx="2">
            <a:schemeClr val="accent1"/>
          </a:lnRef>
          <a:fillRef idx="0">
            <a:srgbClr val="FFFFFF"/>
          </a:fillRef>
          <a:effectRef idx="0">
            <a:srgbClr val="FFFFFF"/>
          </a:effectRef>
          <a:fontRef idx="minor">
            <a:schemeClr val="tx1"/>
          </a:fontRef>
        </p:style>
      </p:cxnSp>
      <p:cxnSp>
        <p:nvCxnSpPr>
          <p:cNvPr id="118" name="直接箭头连接符 117"/>
          <p:cNvCxnSpPr>
            <a:stCxn id="4" idx="2"/>
            <a:endCxn id="15" idx="0"/>
          </p:cNvCxnSpPr>
          <p:nvPr/>
        </p:nvCxnSpPr>
        <p:spPr>
          <a:xfrm flipH="1">
            <a:off x="1599565" y="2193290"/>
            <a:ext cx="27305" cy="29800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1" name="肘形连接符 130"/>
          <p:cNvCxnSpPr>
            <a:stCxn id="34" idx="2"/>
            <a:endCxn id="37" idx="0"/>
          </p:cNvCxnSpPr>
          <p:nvPr/>
        </p:nvCxnSpPr>
        <p:spPr>
          <a:xfrm rot="5400000" flipV="1">
            <a:off x="6876098" y="3297873"/>
            <a:ext cx="210185" cy="635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134" name="肘形连接符 133"/>
          <p:cNvCxnSpPr>
            <a:stCxn id="37" idx="3"/>
            <a:endCxn id="40" idx="2"/>
          </p:cNvCxnSpPr>
          <p:nvPr/>
        </p:nvCxnSpPr>
        <p:spPr>
          <a:xfrm flipV="1">
            <a:off x="7592060" y="3195955"/>
            <a:ext cx="520065" cy="43243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35" name="直接箭头连接符 134"/>
          <p:cNvCxnSpPr>
            <a:stCxn id="40" idx="3"/>
            <a:endCxn id="41" idx="1"/>
          </p:cNvCxnSpPr>
          <p:nvPr/>
        </p:nvCxnSpPr>
        <p:spPr>
          <a:xfrm>
            <a:off x="8505825" y="3005455"/>
            <a:ext cx="10668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36" name="直接箭头连接符 135"/>
          <p:cNvCxnSpPr>
            <a:stCxn id="41" idx="3"/>
            <a:endCxn id="42" idx="1"/>
          </p:cNvCxnSpPr>
          <p:nvPr/>
        </p:nvCxnSpPr>
        <p:spPr>
          <a:xfrm>
            <a:off x="9462135" y="3005455"/>
            <a:ext cx="13525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7" name="矩形: 圆角 59"/>
          <p:cNvSpPr/>
          <p:nvPr/>
        </p:nvSpPr>
        <p:spPr>
          <a:xfrm>
            <a:off x="10571480" y="2820035"/>
            <a:ext cx="767715" cy="381000"/>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知识更新</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138" name="肘形连接符 137"/>
          <p:cNvCxnSpPr>
            <a:stCxn id="42" idx="3"/>
            <a:endCxn id="137" idx="1"/>
          </p:cNvCxnSpPr>
          <p:nvPr/>
        </p:nvCxnSpPr>
        <p:spPr>
          <a:xfrm>
            <a:off x="10385425" y="3005455"/>
            <a:ext cx="186055" cy="5080"/>
          </a:xfrm>
          <a:prstGeom prst="bentConnector3">
            <a:avLst>
              <a:gd name="adj1" fmla="val 50171"/>
            </a:avLst>
          </a:prstGeom>
          <a:ln>
            <a:tailEnd type="arrow"/>
          </a:ln>
        </p:spPr>
        <p:style>
          <a:lnRef idx="2">
            <a:schemeClr val="accent1"/>
          </a:lnRef>
          <a:fillRef idx="0">
            <a:srgbClr val="FFFFFF"/>
          </a:fillRef>
          <a:effectRef idx="0">
            <a:srgbClr val="FFFFFF"/>
          </a:effectRef>
          <a:fontRef idx="minor">
            <a:schemeClr val="tx1"/>
          </a:fontRef>
        </p:style>
      </p:cxnSp>
      <p:cxnSp>
        <p:nvCxnSpPr>
          <p:cNvPr id="140" name="肘形连接符 139"/>
          <p:cNvCxnSpPr>
            <a:stCxn id="137" idx="3"/>
            <a:endCxn id="4" idx="3"/>
          </p:cNvCxnSpPr>
          <p:nvPr/>
        </p:nvCxnSpPr>
        <p:spPr>
          <a:xfrm flipH="1" flipV="1">
            <a:off x="2311400" y="1974215"/>
            <a:ext cx="9027795" cy="1036320"/>
          </a:xfrm>
          <a:prstGeom prst="bentConnector3">
            <a:avLst>
              <a:gd name="adj1" fmla="val -2638"/>
            </a:avLst>
          </a:prstGeom>
          <a:ln>
            <a:tailEnd type="arrow" w="med" len="med"/>
          </a:ln>
        </p:spPr>
        <p:style>
          <a:lnRef idx="2">
            <a:schemeClr val="accent1"/>
          </a:lnRef>
          <a:fillRef idx="0">
            <a:srgbClr val="FFFFFF"/>
          </a:fillRef>
          <a:effectRef idx="0">
            <a:srgbClr val="FFFFFF"/>
          </a:effectRef>
          <a:fontRef idx="minor">
            <a:schemeClr val="tx1"/>
          </a:fontRef>
        </p:style>
      </p:cxnSp>
      <p:sp>
        <p:nvSpPr>
          <p:cNvPr id="7" name="矩形: 圆角 59"/>
          <p:cNvSpPr/>
          <p:nvPr/>
        </p:nvSpPr>
        <p:spPr>
          <a:xfrm>
            <a:off x="2167255" y="5321300"/>
            <a:ext cx="849630" cy="539115"/>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效果评估</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8" name="矩形: 圆角 59"/>
          <p:cNvSpPr/>
          <p:nvPr/>
        </p:nvSpPr>
        <p:spPr>
          <a:xfrm>
            <a:off x="3152140" y="5321300"/>
            <a:ext cx="849630" cy="539115"/>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大模型</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归因分析</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14" name="矩形: 圆角 59"/>
          <p:cNvSpPr/>
          <p:nvPr/>
        </p:nvSpPr>
        <p:spPr>
          <a:xfrm>
            <a:off x="4204335" y="4837430"/>
            <a:ext cx="1484630" cy="255270"/>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知识缺失</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rPr>
              <a:t>无检索内容</a:t>
            </a:r>
            <a:endPar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endParaRPr>
          </a:p>
        </p:txBody>
      </p:sp>
      <p:sp>
        <p:nvSpPr>
          <p:cNvPr id="20" name="矩形: 圆角 59"/>
          <p:cNvSpPr/>
          <p:nvPr/>
        </p:nvSpPr>
        <p:spPr>
          <a:xfrm>
            <a:off x="4204335" y="5123180"/>
            <a:ext cx="148463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不可检索</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rPr>
              <a:t>有内容，没检索出来</a:t>
            </a:r>
            <a:endPar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endParaRPr>
          </a:p>
        </p:txBody>
      </p:sp>
      <p:sp>
        <p:nvSpPr>
          <p:cNvPr id="21" name="矩形: 圆角 59"/>
          <p:cNvSpPr/>
          <p:nvPr/>
        </p:nvSpPr>
        <p:spPr>
          <a:xfrm>
            <a:off x="4204335" y="5408930"/>
            <a:ext cx="148463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知识错误</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rPr>
              <a:t>用户点踩，重新追问</a:t>
            </a:r>
            <a:endPar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endParaRPr>
          </a:p>
        </p:txBody>
      </p:sp>
      <p:sp>
        <p:nvSpPr>
          <p:cNvPr id="22" name="矩形: 圆角 59"/>
          <p:cNvSpPr/>
          <p:nvPr/>
        </p:nvSpPr>
        <p:spPr>
          <a:xfrm>
            <a:off x="4204335" y="5694680"/>
            <a:ext cx="148463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知识冲突</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rPr>
              <a:t>召回内容出现冲突描述</a:t>
            </a:r>
            <a:endPar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endParaRPr>
          </a:p>
        </p:txBody>
      </p:sp>
      <p:sp>
        <p:nvSpPr>
          <p:cNvPr id="23" name="矩形: 圆角 59"/>
          <p:cNvSpPr/>
          <p:nvPr/>
        </p:nvSpPr>
        <p:spPr>
          <a:xfrm>
            <a:off x="4204335" y="5980430"/>
            <a:ext cx="148463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知识过期</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rPr>
              <a:t>召回已经过期知识</a:t>
            </a:r>
            <a:endParaRPr lang="zh-CN" altLang="en-US" sz="800" noProof="0" dirty="0">
              <a:ln>
                <a:noFill/>
              </a:ln>
              <a:solidFill>
                <a:schemeClr val="bg1">
                  <a:lumMod val="50000"/>
                </a:schemeClr>
              </a:solidFill>
              <a:effectLst/>
              <a:uLnTx/>
              <a:uFillTx/>
              <a:latin typeface="微软雅黑" panose="020B0503020204020204" charset="-122"/>
              <a:ea typeface="微软雅黑" panose="020B0503020204020204" charset="-122"/>
              <a:sym typeface="+mn-ea"/>
            </a:endParaRPr>
          </a:p>
        </p:txBody>
      </p:sp>
      <p:sp>
        <p:nvSpPr>
          <p:cNvPr id="31" name="矩形 30"/>
          <p:cNvSpPr/>
          <p:nvPr/>
        </p:nvSpPr>
        <p:spPr>
          <a:xfrm>
            <a:off x="4156075" y="4524375"/>
            <a:ext cx="1561465" cy="1770380"/>
          </a:xfrm>
          <a:prstGeom prst="rect">
            <a:avLst/>
          </a:prstGeom>
          <a:noFill/>
          <a:ln>
            <a:solidFill>
              <a:schemeClr val="accent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矩形: 圆角 59"/>
          <p:cNvSpPr/>
          <p:nvPr/>
        </p:nvSpPr>
        <p:spPr>
          <a:xfrm>
            <a:off x="5832475" y="6423660"/>
            <a:ext cx="1513205" cy="27940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知识运营策略配置</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6" name="矩形: 圆角 59"/>
          <p:cNvSpPr/>
          <p:nvPr/>
        </p:nvSpPr>
        <p:spPr>
          <a:xfrm>
            <a:off x="5967095" y="5130800"/>
            <a:ext cx="1242695"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专业术语映射</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（高置信度）</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3" name="矩形: 圆角 59"/>
          <p:cNvSpPr/>
          <p:nvPr/>
        </p:nvSpPr>
        <p:spPr>
          <a:xfrm>
            <a:off x="5967095" y="5416550"/>
            <a:ext cx="1242695"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沉降</a:t>
            </a:r>
            <a:r>
              <a:rPr lang="en-US" altLang="zh-CN" sz="1000" noProof="0" dirty="0">
                <a:ln>
                  <a:noFill/>
                </a:ln>
                <a:solidFill>
                  <a:prstClr val="black"/>
                </a:solidFill>
                <a:effectLst/>
                <a:uLnTx/>
                <a:uFillTx/>
                <a:latin typeface="微软雅黑" panose="020B0503020204020204" charset="-122"/>
                <a:ea typeface="微软雅黑" panose="020B0503020204020204" charset="-122"/>
                <a:sym typeface="+mn-ea"/>
              </a:rPr>
              <a:t>/</a:t>
            </a: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下架清单</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4" name="矩形: 圆角 59"/>
          <p:cNvSpPr/>
          <p:nvPr/>
        </p:nvSpPr>
        <p:spPr>
          <a:xfrm>
            <a:off x="5967095" y="5702300"/>
            <a:ext cx="1242695"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sz="1000" noProof="0" dirty="0">
                <a:ln>
                  <a:noFill/>
                </a:ln>
                <a:solidFill>
                  <a:prstClr val="black"/>
                </a:solidFill>
                <a:effectLst/>
                <a:uLnTx/>
                <a:uFillTx/>
                <a:latin typeface="微软雅黑" panose="020B0503020204020204" charset="-122"/>
                <a:ea typeface="微软雅黑" panose="020B0503020204020204" charset="-122"/>
                <a:sym typeface="+mn-ea"/>
              </a:rPr>
              <a:t>抬升</a:t>
            </a:r>
            <a:r>
              <a:rPr lang="en-US" altLang="zh-CN" sz="1000" noProof="0" dirty="0">
                <a:ln>
                  <a:noFill/>
                </a:ln>
                <a:solidFill>
                  <a:prstClr val="black"/>
                </a:solidFill>
                <a:effectLst/>
                <a:uLnTx/>
                <a:uFillTx/>
                <a:latin typeface="微软雅黑" panose="020B0503020204020204" charset="-122"/>
                <a:ea typeface="微软雅黑" panose="020B0503020204020204" charset="-122"/>
                <a:sym typeface="+mn-ea"/>
              </a:rPr>
              <a:t>/</a:t>
            </a: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沉降清单</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5" name="矩形: 圆角 59"/>
          <p:cNvSpPr/>
          <p:nvPr/>
        </p:nvSpPr>
        <p:spPr>
          <a:xfrm>
            <a:off x="5967095" y="5988050"/>
            <a:ext cx="1242695"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检索过滤清单</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过期标识清单</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6" name="矩形: 圆角 59"/>
          <p:cNvSpPr/>
          <p:nvPr/>
        </p:nvSpPr>
        <p:spPr>
          <a:xfrm>
            <a:off x="7287260" y="4253230"/>
            <a:ext cx="675640" cy="43053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sz="1000" noProof="0" dirty="0">
                <a:ln>
                  <a:noFill/>
                </a:ln>
                <a:solidFill>
                  <a:prstClr val="black"/>
                </a:solidFill>
                <a:effectLst/>
                <a:uLnTx/>
                <a:uFillTx/>
                <a:latin typeface="微软雅黑" panose="020B0503020204020204" charset="-122"/>
                <a:ea typeface="微软雅黑" panose="020B0503020204020204" charset="-122"/>
                <a:sym typeface="+mn-ea"/>
              </a:rPr>
              <a:t>人工筛选及审核</a:t>
            </a:r>
            <a:endParaRPr lang="zh-CN"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48" name="矩形: 圆角 59"/>
          <p:cNvSpPr/>
          <p:nvPr/>
        </p:nvSpPr>
        <p:spPr>
          <a:xfrm>
            <a:off x="8140065" y="5139055"/>
            <a:ext cx="286131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对语义图谱、文本块标签、元数据标签的专业术语信息进行更新</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53" name="矩形: 圆角 59"/>
          <p:cNvSpPr/>
          <p:nvPr/>
        </p:nvSpPr>
        <p:spPr>
          <a:xfrm>
            <a:off x="8140065" y="5424805"/>
            <a:ext cx="286131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错误知识删除、不匹配知识权威度沉降</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56" name="矩形: 圆角 59"/>
          <p:cNvSpPr/>
          <p:nvPr/>
        </p:nvSpPr>
        <p:spPr>
          <a:xfrm>
            <a:off x="8140065" y="5710555"/>
            <a:ext cx="286131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按版本、更新时间调整权威度</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57" name="矩形: 圆角 59"/>
          <p:cNvSpPr/>
          <p:nvPr/>
        </p:nvSpPr>
        <p:spPr>
          <a:xfrm>
            <a:off x="8140065" y="5998845"/>
            <a:ext cx="2861310" cy="25527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添加至检索过滤策略，标识已过期</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60" name="矩形 59"/>
          <p:cNvSpPr/>
          <p:nvPr/>
        </p:nvSpPr>
        <p:spPr>
          <a:xfrm>
            <a:off x="8076565" y="5093335"/>
            <a:ext cx="3041015" cy="1196340"/>
          </a:xfrm>
          <a:prstGeom prst="rect">
            <a:avLst/>
          </a:prstGeom>
          <a:noFill/>
          <a:ln>
            <a:solidFill>
              <a:schemeClr val="accent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61" name="直接箭头连接符 60"/>
          <p:cNvCxnSpPr>
            <a:stCxn id="15" idx="3"/>
            <a:endCxn id="7" idx="1"/>
          </p:cNvCxnSpPr>
          <p:nvPr/>
        </p:nvCxnSpPr>
        <p:spPr>
          <a:xfrm>
            <a:off x="2042795" y="5587365"/>
            <a:ext cx="124460" cy="38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7" name="直接箭头连接符 66"/>
          <p:cNvCxnSpPr>
            <a:stCxn id="7" idx="3"/>
            <a:endCxn id="8" idx="1"/>
          </p:cNvCxnSpPr>
          <p:nvPr/>
        </p:nvCxnSpPr>
        <p:spPr>
          <a:xfrm>
            <a:off x="3016885" y="5591175"/>
            <a:ext cx="13525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2" name="肘形连接符 71"/>
          <p:cNvCxnSpPr>
            <a:stCxn id="8" idx="3"/>
          </p:cNvCxnSpPr>
          <p:nvPr/>
        </p:nvCxnSpPr>
        <p:spPr>
          <a:xfrm>
            <a:off x="4001770" y="5591175"/>
            <a:ext cx="154305" cy="102235"/>
          </a:xfrm>
          <a:prstGeom prst="bentConnector3">
            <a:avLst>
              <a:gd name="adj1" fmla="val 50206"/>
            </a:avLst>
          </a:prstGeom>
          <a:ln>
            <a:tailEnd type="arrow"/>
          </a:ln>
        </p:spPr>
        <p:style>
          <a:lnRef idx="2">
            <a:schemeClr val="accent1"/>
          </a:lnRef>
          <a:fillRef idx="0">
            <a:srgbClr val="FFFFFF"/>
          </a:fillRef>
          <a:effectRef idx="0">
            <a:srgbClr val="FFFFFF"/>
          </a:effectRef>
          <a:fontRef idx="minor">
            <a:schemeClr val="tx1"/>
          </a:fontRef>
        </p:style>
      </p:cxnSp>
      <p:cxnSp>
        <p:nvCxnSpPr>
          <p:cNvPr id="75" name="直接箭头连接符 74"/>
          <p:cNvCxnSpPr>
            <a:stCxn id="20" idx="3"/>
            <a:endCxn id="36" idx="1"/>
          </p:cNvCxnSpPr>
          <p:nvPr/>
        </p:nvCxnSpPr>
        <p:spPr>
          <a:xfrm>
            <a:off x="5688965" y="5250815"/>
            <a:ext cx="278130" cy="76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6" name="直接箭头连接符 75"/>
          <p:cNvCxnSpPr>
            <a:stCxn id="21" idx="3"/>
            <a:endCxn id="43" idx="1"/>
          </p:cNvCxnSpPr>
          <p:nvPr/>
        </p:nvCxnSpPr>
        <p:spPr>
          <a:xfrm>
            <a:off x="5688965" y="5536565"/>
            <a:ext cx="278130" cy="76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7" name="直接箭头连接符 76"/>
          <p:cNvCxnSpPr>
            <a:stCxn id="22" idx="3"/>
            <a:endCxn id="44" idx="1"/>
          </p:cNvCxnSpPr>
          <p:nvPr/>
        </p:nvCxnSpPr>
        <p:spPr>
          <a:xfrm>
            <a:off x="5688965" y="5822315"/>
            <a:ext cx="278130" cy="76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0" name="直接箭头连接符 79"/>
          <p:cNvCxnSpPr>
            <a:stCxn id="23" idx="3"/>
            <a:endCxn id="45" idx="1"/>
          </p:cNvCxnSpPr>
          <p:nvPr/>
        </p:nvCxnSpPr>
        <p:spPr>
          <a:xfrm>
            <a:off x="5688965" y="6108065"/>
            <a:ext cx="278130" cy="76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2" name="肘形连接符 81"/>
          <p:cNvCxnSpPr>
            <a:stCxn id="36" idx="3"/>
            <a:endCxn id="46" idx="1"/>
          </p:cNvCxnSpPr>
          <p:nvPr/>
        </p:nvCxnSpPr>
        <p:spPr>
          <a:xfrm flipV="1">
            <a:off x="7209790" y="4468495"/>
            <a:ext cx="77470" cy="78994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84" name="矩形 83"/>
          <p:cNvSpPr/>
          <p:nvPr/>
        </p:nvSpPr>
        <p:spPr>
          <a:xfrm>
            <a:off x="5905500" y="5092700"/>
            <a:ext cx="1369060" cy="1196975"/>
          </a:xfrm>
          <a:prstGeom prst="rect">
            <a:avLst/>
          </a:prstGeom>
          <a:noFill/>
          <a:ln>
            <a:solidFill>
              <a:schemeClr val="accent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88" name="肘形连接符 87"/>
          <p:cNvCxnSpPr>
            <a:stCxn id="43" idx="3"/>
            <a:endCxn id="46" idx="1"/>
          </p:cNvCxnSpPr>
          <p:nvPr/>
        </p:nvCxnSpPr>
        <p:spPr>
          <a:xfrm flipV="1">
            <a:off x="7209790" y="4468495"/>
            <a:ext cx="77470" cy="107569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89" name="肘形连接符 88"/>
          <p:cNvCxnSpPr>
            <a:stCxn id="44" idx="3"/>
            <a:endCxn id="46" idx="1"/>
          </p:cNvCxnSpPr>
          <p:nvPr/>
        </p:nvCxnSpPr>
        <p:spPr>
          <a:xfrm flipV="1">
            <a:off x="7209790" y="4468495"/>
            <a:ext cx="77470" cy="136144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91" name="肘形连接符 90"/>
          <p:cNvCxnSpPr>
            <a:stCxn id="46" idx="3"/>
            <a:endCxn id="48" idx="1"/>
          </p:cNvCxnSpPr>
          <p:nvPr/>
        </p:nvCxnSpPr>
        <p:spPr>
          <a:xfrm>
            <a:off x="7962900" y="4468495"/>
            <a:ext cx="177165" cy="798195"/>
          </a:xfrm>
          <a:prstGeom prst="bentConnector3">
            <a:avLst>
              <a:gd name="adj1" fmla="val 50179"/>
            </a:avLst>
          </a:prstGeom>
          <a:ln>
            <a:tailEnd type="arrow"/>
          </a:ln>
        </p:spPr>
        <p:style>
          <a:lnRef idx="2">
            <a:schemeClr val="accent1"/>
          </a:lnRef>
          <a:fillRef idx="0">
            <a:srgbClr val="FFFFFF"/>
          </a:fillRef>
          <a:effectRef idx="0">
            <a:srgbClr val="FFFFFF"/>
          </a:effectRef>
          <a:fontRef idx="minor">
            <a:schemeClr val="tx1"/>
          </a:fontRef>
        </p:style>
      </p:cxnSp>
      <p:cxnSp>
        <p:nvCxnSpPr>
          <p:cNvPr id="92" name="肘形连接符 91"/>
          <p:cNvCxnSpPr>
            <a:stCxn id="46" idx="3"/>
            <a:endCxn id="53" idx="1"/>
          </p:cNvCxnSpPr>
          <p:nvPr/>
        </p:nvCxnSpPr>
        <p:spPr>
          <a:xfrm>
            <a:off x="7962900" y="4468495"/>
            <a:ext cx="177165" cy="1083945"/>
          </a:xfrm>
          <a:prstGeom prst="bentConnector3">
            <a:avLst>
              <a:gd name="adj1" fmla="val 50179"/>
            </a:avLst>
          </a:prstGeom>
          <a:ln>
            <a:tailEnd type="arrow"/>
          </a:ln>
        </p:spPr>
        <p:style>
          <a:lnRef idx="2">
            <a:schemeClr val="accent1"/>
          </a:lnRef>
          <a:fillRef idx="0">
            <a:srgbClr val="FFFFFF"/>
          </a:fillRef>
          <a:effectRef idx="0">
            <a:srgbClr val="FFFFFF"/>
          </a:effectRef>
          <a:fontRef idx="minor">
            <a:schemeClr val="tx1"/>
          </a:fontRef>
        </p:style>
      </p:cxnSp>
      <p:cxnSp>
        <p:nvCxnSpPr>
          <p:cNvPr id="93" name="肘形连接符 92"/>
          <p:cNvCxnSpPr>
            <a:stCxn id="46" idx="3"/>
            <a:endCxn id="56" idx="1"/>
          </p:cNvCxnSpPr>
          <p:nvPr/>
        </p:nvCxnSpPr>
        <p:spPr>
          <a:xfrm>
            <a:off x="7962900" y="4468495"/>
            <a:ext cx="177165" cy="1369695"/>
          </a:xfrm>
          <a:prstGeom prst="bentConnector3">
            <a:avLst>
              <a:gd name="adj1" fmla="val 50179"/>
            </a:avLst>
          </a:prstGeom>
          <a:ln>
            <a:tailEnd type="arrow"/>
          </a:ln>
        </p:spPr>
        <p:style>
          <a:lnRef idx="2">
            <a:schemeClr val="accent1"/>
          </a:lnRef>
          <a:fillRef idx="0">
            <a:srgbClr val="FFFFFF"/>
          </a:fillRef>
          <a:effectRef idx="0">
            <a:srgbClr val="FFFFFF"/>
          </a:effectRef>
          <a:fontRef idx="minor">
            <a:schemeClr val="tx1"/>
          </a:fontRef>
        </p:style>
      </p:cxnSp>
      <p:cxnSp>
        <p:nvCxnSpPr>
          <p:cNvPr id="95" name="直接箭头连接符 94"/>
          <p:cNvCxnSpPr>
            <a:stCxn id="45" idx="3"/>
            <a:endCxn id="57" idx="1"/>
          </p:cNvCxnSpPr>
          <p:nvPr/>
        </p:nvCxnSpPr>
        <p:spPr>
          <a:xfrm>
            <a:off x="7209790" y="6115685"/>
            <a:ext cx="93027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0" name="肘形连接符 99"/>
          <p:cNvCxnSpPr>
            <a:stCxn id="11" idx="0"/>
            <a:endCxn id="137" idx="2"/>
          </p:cNvCxnSpPr>
          <p:nvPr/>
        </p:nvCxnSpPr>
        <p:spPr>
          <a:xfrm rot="16200000" flipV="1">
            <a:off x="10328910" y="3827780"/>
            <a:ext cx="1891665" cy="638175"/>
          </a:xfrm>
          <a:prstGeom prst="bentConnector3">
            <a:avLst>
              <a:gd name="adj1" fmla="val 49983"/>
            </a:avLst>
          </a:prstGeom>
          <a:ln>
            <a:tailEnd type="arrow"/>
          </a:ln>
        </p:spPr>
        <p:style>
          <a:lnRef idx="2">
            <a:schemeClr val="accent1"/>
          </a:lnRef>
          <a:fillRef idx="0">
            <a:srgbClr val="FFFFFF"/>
          </a:fillRef>
          <a:effectRef idx="0">
            <a:srgbClr val="FFFFFF"/>
          </a:effectRef>
          <a:fontRef idx="minor">
            <a:schemeClr val="tx1"/>
          </a:fontRef>
        </p:style>
      </p:cxnSp>
      <p:sp>
        <p:nvSpPr>
          <p:cNvPr id="102" name="矩形: 圆角 59"/>
          <p:cNvSpPr/>
          <p:nvPr/>
        </p:nvSpPr>
        <p:spPr>
          <a:xfrm>
            <a:off x="2697480" y="2105025"/>
            <a:ext cx="1369060" cy="306070"/>
          </a:xfrm>
          <a:prstGeom prst="roundRect">
            <a:avLst>
              <a:gd name="adj" fmla="val 19707"/>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新知识补充需求并提供知识相关材料</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109" name="矩形: 圆角 59"/>
          <p:cNvSpPr/>
          <p:nvPr/>
        </p:nvSpPr>
        <p:spPr>
          <a:xfrm>
            <a:off x="4204335" y="4587875"/>
            <a:ext cx="1484630" cy="22225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900" noProof="0" dirty="0">
                <a:ln>
                  <a:noFill/>
                </a:ln>
                <a:solidFill>
                  <a:schemeClr val="tx1"/>
                </a:solidFill>
                <a:effectLst/>
                <a:uLnTx/>
                <a:uFillTx/>
                <a:latin typeface="微软雅黑" panose="020B0503020204020204" charset="-122"/>
                <a:ea typeface="微软雅黑" panose="020B0503020204020204" charset="-122"/>
                <a:sym typeface="+mn-ea"/>
              </a:rPr>
              <a:t>无法定位的问题</a:t>
            </a:r>
            <a:endParaRPr lang="zh-CN" altLang="en-US" sz="900" noProof="0" dirty="0">
              <a:ln>
                <a:noFill/>
              </a:ln>
              <a:solidFill>
                <a:schemeClr val="tx1"/>
              </a:solidFill>
              <a:effectLst/>
              <a:uLnTx/>
              <a:uFillTx/>
              <a:latin typeface="微软雅黑" panose="020B0503020204020204" charset="-122"/>
              <a:ea typeface="微软雅黑" panose="020B0503020204020204" charset="-122"/>
              <a:sym typeface="+mn-ea"/>
            </a:endParaRPr>
          </a:p>
        </p:txBody>
      </p:sp>
      <p:cxnSp>
        <p:nvCxnSpPr>
          <p:cNvPr id="110" name="肘形连接符 109"/>
          <p:cNvCxnSpPr>
            <a:stCxn id="109" idx="3"/>
            <a:endCxn id="33" idx="2"/>
          </p:cNvCxnSpPr>
          <p:nvPr/>
        </p:nvCxnSpPr>
        <p:spPr>
          <a:xfrm flipH="1" flipV="1">
            <a:off x="5259705" y="3195320"/>
            <a:ext cx="429260" cy="1503680"/>
          </a:xfrm>
          <a:prstGeom prst="bentConnector4">
            <a:avLst>
              <a:gd name="adj1" fmla="val -89645"/>
              <a:gd name="adj2" fmla="val 53674"/>
            </a:avLst>
          </a:prstGeom>
          <a:ln>
            <a:tailEnd type="arrow"/>
          </a:ln>
        </p:spPr>
        <p:style>
          <a:lnRef idx="2">
            <a:schemeClr val="accent1"/>
          </a:lnRef>
          <a:fillRef idx="0">
            <a:srgbClr val="FFFFFF"/>
          </a:fillRef>
          <a:effectRef idx="0">
            <a:srgbClr val="FFFFFF"/>
          </a:effectRef>
          <a:fontRef idx="minor">
            <a:schemeClr val="tx1"/>
          </a:fontRef>
        </p:style>
      </p:cxnSp>
      <p:sp>
        <p:nvSpPr>
          <p:cNvPr id="64" name="矩形 63"/>
          <p:cNvSpPr/>
          <p:nvPr/>
        </p:nvSpPr>
        <p:spPr>
          <a:xfrm>
            <a:off x="1122680" y="4684395"/>
            <a:ext cx="10852785" cy="2018665"/>
          </a:xfrm>
          <a:prstGeom prst="rect">
            <a:avLst/>
          </a:prstGeom>
          <a:noFill/>
          <a:ln>
            <a:solidFill>
              <a:schemeClr val="accent2"/>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12" name="肘形连接符 111"/>
          <p:cNvCxnSpPr>
            <a:stCxn id="32" idx="3"/>
            <a:endCxn id="60" idx="2"/>
          </p:cNvCxnSpPr>
          <p:nvPr/>
        </p:nvCxnSpPr>
        <p:spPr>
          <a:xfrm flipV="1">
            <a:off x="7345680" y="6289675"/>
            <a:ext cx="2251710" cy="27368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1" name="矩形: 圆角 59"/>
          <p:cNvSpPr/>
          <p:nvPr/>
        </p:nvSpPr>
        <p:spPr>
          <a:xfrm>
            <a:off x="11316335" y="5092700"/>
            <a:ext cx="554990" cy="1210310"/>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知识自动复测验证</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16" name="直接箭头连接符 15"/>
          <p:cNvCxnSpPr>
            <a:stCxn id="60" idx="3"/>
            <a:endCxn id="11" idx="1"/>
          </p:cNvCxnSpPr>
          <p:nvPr/>
        </p:nvCxnSpPr>
        <p:spPr>
          <a:xfrm>
            <a:off x="11117580" y="5691505"/>
            <a:ext cx="198755"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5" name="肘形连接符 34"/>
          <p:cNvCxnSpPr>
            <a:stCxn id="4" idx="2"/>
            <a:endCxn id="102" idx="1"/>
          </p:cNvCxnSpPr>
          <p:nvPr/>
        </p:nvCxnSpPr>
        <p:spPr>
          <a:xfrm rot="5400000" flipV="1">
            <a:off x="2129790" y="1690370"/>
            <a:ext cx="64770" cy="107061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38" name="Shape 24"/>
          <p:cNvSpPr/>
          <p:nvPr/>
        </p:nvSpPr>
        <p:spPr>
          <a:xfrm>
            <a:off x="683895" y="1754505"/>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55" name="Shape 24"/>
          <p:cNvSpPr/>
          <p:nvPr/>
        </p:nvSpPr>
        <p:spPr>
          <a:xfrm>
            <a:off x="5826760" y="6365875"/>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58" name="Shape 24"/>
          <p:cNvSpPr/>
          <p:nvPr/>
        </p:nvSpPr>
        <p:spPr>
          <a:xfrm>
            <a:off x="7200265" y="4183380"/>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66" name="Shape 24"/>
          <p:cNvSpPr/>
          <p:nvPr/>
        </p:nvSpPr>
        <p:spPr>
          <a:xfrm>
            <a:off x="2635250" y="2005965"/>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69" name="Shape 24"/>
          <p:cNvSpPr/>
          <p:nvPr/>
        </p:nvSpPr>
        <p:spPr>
          <a:xfrm>
            <a:off x="4696460" y="2758440"/>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68" name="Shape 24"/>
          <p:cNvSpPr/>
          <p:nvPr/>
        </p:nvSpPr>
        <p:spPr>
          <a:xfrm>
            <a:off x="6358890" y="2705100"/>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71" name="Shape 24"/>
          <p:cNvSpPr/>
          <p:nvPr/>
        </p:nvSpPr>
        <p:spPr>
          <a:xfrm>
            <a:off x="9597390" y="2745105"/>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txBody>
          <a:bodyPr/>
          <a:lstStyle/>
          <a:p>
            <a:endParaRPr lang="zh-CN" altLang="en-US"/>
          </a:p>
        </p:txBody>
      </p:sp>
      <p:sp>
        <p:nvSpPr>
          <p:cNvPr id="73" name="Shape 24"/>
          <p:cNvSpPr/>
          <p:nvPr/>
        </p:nvSpPr>
        <p:spPr>
          <a:xfrm>
            <a:off x="7630160" y="2745105"/>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74" name="Shape 24"/>
          <p:cNvSpPr/>
          <p:nvPr/>
        </p:nvSpPr>
        <p:spPr>
          <a:xfrm>
            <a:off x="8557895" y="2745105"/>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78" name="Shape 24"/>
          <p:cNvSpPr/>
          <p:nvPr/>
        </p:nvSpPr>
        <p:spPr>
          <a:xfrm>
            <a:off x="209550" y="5591175"/>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83" name="文本框 82"/>
          <p:cNvSpPr txBox="1"/>
          <p:nvPr/>
        </p:nvSpPr>
        <p:spPr>
          <a:xfrm>
            <a:off x="442595" y="5525135"/>
            <a:ext cx="499745" cy="368300"/>
          </a:xfrm>
          <a:prstGeom prst="rect">
            <a:avLst/>
          </a:prstGeom>
          <a:noFill/>
        </p:spPr>
        <p:txBody>
          <a:bodyPr wrap="square" rtlCol="0">
            <a:spAutoFit/>
          </a:bodyPr>
          <a:lstStyle/>
          <a:p>
            <a:pPr algn="ctr"/>
            <a:r>
              <a:rPr lang="zh-CN" altLang="en-US" sz="900"/>
              <a:t>人工参与</a:t>
            </a:r>
            <a:endParaRPr lang="zh-CN" altLang="en-US" sz="900"/>
          </a:p>
        </p:txBody>
      </p:sp>
      <p:sp>
        <p:nvSpPr>
          <p:cNvPr id="85" name="文本框 84"/>
          <p:cNvSpPr txBox="1"/>
          <p:nvPr/>
        </p:nvSpPr>
        <p:spPr>
          <a:xfrm>
            <a:off x="394970" y="5901055"/>
            <a:ext cx="626745" cy="368300"/>
          </a:xfrm>
          <a:prstGeom prst="rect">
            <a:avLst/>
          </a:prstGeom>
          <a:noFill/>
        </p:spPr>
        <p:txBody>
          <a:bodyPr wrap="square" rtlCol="0">
            <a:spAutoFit/>
          </a:bodyPr>
          <a:lstStyle/>
          <a:p>
            <a:pPr algn="ctr"/>
            <a:r>
              <a:rPr lang="zh-CN" altLang="en-US" sz="900"/>
              <a:t>智能体支持</a:t>
            </a:r>
            <a:endParaRPr lang="zh-CN" altLang="en-US" sz="900"/>
          </a:p>
        </p:txBody>
      </p:sp>
      <p:sp>
        <p:nvSpPr>
          <p:cNvPr id="87" name="文本框 86"/>
          <p:cNvSpPr txBox="1"/>
          <p:nvPr/>
        </p:nvSpPr>
        <p:spPr>
          <a:xfrm>
            <a:off x="697230" y="896620"/>
            <a:ext cx="9437370" cy="306705"/>
          </a:xfrm>
          <a:prstGeom prst="rect">
            <a:avLst/>
          </a:prstGeom>
          <a:noFill/>
        </p:spPr>
        <p:txBody>
          <a:bodyPr wrap="square" rtlCol="0">
            <a:spAutoFit/>
          </a:bodyPr>
          <a:lstStyle/>
          <a:p>
            <a:pPr marL="285750" indent="-285750">
              <a:buFont typeface="Wingdings" panose="05000000000000000000" charset="0"/>
              <a:buChar char="n"/>
            </a:pPr>
            <a:r>
              <a:rPr lang="zh-CN" altLang="en-US" sz="1400">
                <a:latin typeface="微软雅黑" panose="020B0503020204020204" charset="-122"/>
                <a:ea typeface="微软雅黑" panose="020B0503020204020204" charset="-122"/>
              </a:rPr>
              <a:t>基于</a:t>
            </a:r>
            <a:r>
              <a:rPr lang="zh-CN" altLang="en-US" sz="1400" b="1">
                <a:solidFill>
                  <a:schemeClr val="accent1"/>
                </a:solidFill>
                <a:latin typeface="微软雅黑" panose="020B0503020204020204" charset="-122"/>
                <a:ea typeface="微软雅黑" panose="020B0503020204020204" charset="-122"/>
              </a:rPr>
              <a:t>业务智能体日志及用户反馈问题</a:t>
            </a:r>
            <a:r>
              <a:rPr lang="zh-CN" altLang="en-US" sz="1400">
                <a:latin typeface="微软雅黑" panose="020B0503020204020204" charset="-122"/>
                <a:ea typeface="微软雅黑" panose="020B0503020204020204" charset="-122"/>
              </a:rPr>
              <a:t>进行</a:t>
            </a:r>
            <a:r>
              <a:rPr lang="zh-CN" altLang="en-US" sz="1400" b="1">
                <a:solidFill>
                  <a:schemeClr val="accent1"/>
                </a:solidFill>
                <a:latin typeface="微软雅黑" panose="020B0503020204020204" charset="-122"/>
                <a:ea typeface="微软雅黑" panose="020B0503020204020204" charset="-122"/>
              </a:rPr>
              <a:t>知识运营策略配置</a:t>
            </a:r>
            <a:r>
              <a:rPr lang="zh-CN" altLang="en-US" sz="1400">
                <a:latin typeface="微软雅黑" panose="020B0503020204020204" charset="-122"/>
                <a:ea typeface="微软雅黑" panose="020B0503020204020204" charset="-122"/>
              </a:rPr>
              <a:t>，通过智能体技术</a:t>
            </a:r>
            <a:r>
              <a:rPr lang="zh-CN" altLang="en-US" sz="1400" b="1">
                <a:solidFill>
                  <a:schemeClr val="accent1"/>
                </a:solidFill>
                <a:latin typeface="微软雅黑" panose="020B0503020204020204" charset="-122"/>
                <a:ea typeface="微软雅黑" panose="020B0503020204020204" charset="-122"/>
              </a:rPr>
              <a:t>实现知识智能演进及保鲜。</a:t>
            </a:r>
            <a:endParaRPr lang="zh-CN" altLang="en-US" sz="1400" b="1">
              <a:solidFill>
                <a:schemeClr val="accent1"/>
              </a:solidFill>
              <a:latin typeface="微软雅黑" panose="020B0503020204020204" charset="-122"/>
              <a:ea typeface="微软雅黑" panose="020B0503020204020204" charset="-122"/>
            </a:endParaRPr>
          </a:p>
        </p:txBody>
      </p:sp>
      <p:cxnSp>
        <p:nvCxnSpPr>
          <p:cNvPr id="26" name="肘形连接符 25"/>
          <p:cNvCxnSpPr>
            <a:stCxn id="102" idx="3"/>
            <a:endCxn id="34" idx="0"/>
          </p:cNvCxnSpPr>
          <p:nvPr/>
        </p:nvCxnSpPr>
        <p:spPr>
          <a:xfrm>
            <a:off x="4066540" y="2258060"/>
            <a:ext cx="2911475" cy="57975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肘形连接符 27"/>
          <p:cNvCxnSpPr>
            <a:stCxn id="33" idx="0"/>
            <a:endCxn id="102" idx="2"/>
          </p:cNvCxnSpPr>
          <p:nvPr/>
        </p:nvCxnSpPr>
        <p:spPr>
          <a:xfrm rot="16200000" flipV="1">
            <a:off x="4118928" y="1674178"/>
            <a:ext cx="403860" cy="1877695"/>
          </a:xfrm>
          <a:prstGeom prst="bentConnector3">
            <a:avLst>
              <a:gd name="adj1" fmla="val 50079"/>
            </a:avLst>
          </a:prstGeom>
          <a:ln>
            <a:tailEnd type="arrow"/>
          </a:ln>
        </p:spPr>
        <p:style>
          <a:lnRef idx="2">
            <a:schemeClr val="accent1"/>
          </a:lnRef>
          <a:fillRef idx="0">
            <a:srgbClr val="FFFFFF"/>
          </a:fillRef>
          <a:effectRef idx="0">
            <a:srgbClr val="FFFFFF"/>
          </a:effectRef>
          <a:fontRef idx="minor">
            <a:schemeClr val="tx1"/>
          </a:fontRef>
        </p:style>
      </p:cxnSp>
      <p:sp>
        <p:nvSpPr>
          <p:cNvPr id="29" name="矩形: 圆角 59"/>
          <p:cNvSpPr/>
          <p:nvPr/>
        </p:nvSpPr>
        <p:spPr>
          <a:xfrm>
            <a:off x="2098675" y="4306570"/>
            <a:ext cx="991235" cy="342265"/>
          </a:xfrm>
          <a:prstGeom prst="roundRect">
            <a:avLst>
              <a:gd name="adj" fmla="val 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rPr>
              <a:t>问题分析及评估</a:t>
            </a:r>
            <a:endParaRPr lang="zh-CN" altLang="en-US" sz="1000" noProof="0" dirty="0">
              <a:ln>
                <a:noFill/>
              </a:ln>
              <a:solidFill>
                <a:prstClr val="black"/>
              </a:solidFill>
              <a:effectLst/>
              <a:uLnTx/>
              <a:uFillTx/>
              <a:latin typeface="微软雅黑" panose="020B0503020204020204" charset="-122"/>
              <a:ea typeface="微软雅黑" panose="020B0503020204020204" charset="-122"/>
              <a:sym typeface="+mn-ea"/>
            </a:endParaRPr>
          </a:p>
        </p:txBody>
      </p:sp>
      <p:cxnSp>
        <p:nvCxnSpPr>
          <p:cNvPr id="49" name="肘形连接符 48"/>
          <p:cNvCxnSpPr>
            <a:stCxn id="4" idx="2"/>
            <a:endCxn id="29" idx="0"/>
          </p:cNvCxnSpPr>
          <p:nvPr/>
        </p:nvCxnSpPr>
        <p:spPr>
          <a:xfrm rot="5400000" flipV="1">
            <a:off x="1054100" y="2766060"/>
            <a:ext cx="2113280" cy="96774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70" name="肘形连接符 69"/>
          <p:cNvCxnSpPr>
            <a:stCxn id="29" idx="3"/>
            <a:endCxn id="8" idx="0"/>
          </p:cNvCxnSpPr>
          <p:nvPr/>
        </p:nvCxnSpPr>
        <p:spPr>
          <a:xfrm>
            <a:off x="3089910" y="4478020"/>
            <a:ext cx="487045" cy="84328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90" name="Shape 24"/>
          <p:cNvSpPr/>
          <p:nvPr/>
        </p:nvSpPr>
        <p:spPr>
          <a:xfrm>
            <a:off x="2140585" y="4218940"/>
            <a:ext cx="175260" cy="161290"/>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94" name="文本框 93"/>
          <p:cNvSpPr txBox="1"/>
          <p:nvPr/>
        </p:nvSpPr>
        <p:spPr>
          <a:xfrm>
            <a:off x="2286635" y="3559175"/>
            <a:ext cx="678180" cy="229870"/>
          </a:xfrm>
          <a:prstGeom prst="rect">
            <a:avLst/>
          </a:prstGeom>
          <a:noFill/>
        </p:spPr>
        <p:txBody>
          <a:bodyPr wrap="square" rtlCol="0">
            <a:spAutoFit/>
          </a:bodyPr>
          <a:lstStyle/>
          <a:p>
            <a:r>
              <a:rPr lang="zh-CN" altLang="en-US" sz="900">
                <a:latin typeface="微软雅黑" panose="020B0503020204020204" charset="-122"/>
                <a:ea typeface="微软雅黑" panose="020B0503020204020204" charset="-122"/>
              </a:rPr>
              <a:t>问题工单</a:t>
            </a:r>
            <a:endParaRPr lang="zh-CN" altLang="en-US" sz="900">
              <a:latin typeface="微软雅黑" panose="020B0503020204020204" charset="-122"/>
              <a:ea typeface="微软雅黑" panose="020B0503020204020204" charset="-122"/>
            </a:endParaRPr>
          </a:p>
        </p:txBody>
      </p:sp>
      <p:sp>
        <p:nvSpPr>
          <p:cNvPr id="98" name="文本框 97"/>
          <p:cNvSpPr txBox="1"/>
          <p:nvPr/>
        </p:nvSpPr>
        <p:spPr>
          <a:xfrm>
            <a:off x="1283335" y="3692525"/>
            <a:ext cx="767715" cy="368300"/>
          </a:xfrm>
          <a:prstGeom prst="rect">
            <a:avLst/>
          </a:prstGeom>
          <a:noFill/>
        </p:spPr>
        <p:txBody>
          <a:bodyPr wrap="square" rtlCol="0">
            <a:spAutoFit/>
          </a:bodyPr>
          <a:lstStyle/>
          <a:p>
            <a:r>
              <a:rPr lang="zh-CN" altLang="en-US" sz="900">
                <a:latin typeface="微软雅黑" panose="020B0503020204020204" charset="-122"/>
                <a:ea typeface="微软雅黑" panose="020B0503020204020204" charset="-122"/>
              </a:rPr>
              <a:t>智能体问题日志接口</a:t>
            </a:r>
            <a:endParaRPr lang="zh-CN" altLang="en-US" sz="900">
              <a:latin typeface="微软雅黑" panose="020B0503020204020204" charset="-122"/>
              <a:ea typeface="微软雅黑" panose="020B0503020204020204" charset="-122"/>
            </a:endParaRPr>
          </a:p>
        </p:txBody>
      </p:sp>
      <p:cxnSp>
        <p:nvCxnSpPr>
          <p:cNvPr id="99" name="肘形连接符 98"/>
          <p:cNvCxnSpPr>
            <a:stCxn id="32" idx="1"/>
            <a:endCxn id="31" idx="2"/>
          </p:cNvCxnSpPr>
          <p:nvPr/>
        </p:nvCxnSpPr>
        <p:spPr>
          <a:xfrm rot="10800000">
            <a:off x="4937125" y="6294755"/>
            <a:ext cx="895350" cy="26860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1" name="直接箭头连接符 100"/>
          <p:cNvCxnSpPr>
            <a:stCxn id="32" idx="0"/>
            <a:endCxn id="84" idx="2"/>
          </p:cNvCxnSpPr>
          <p:nvPr/>
        </p:nvCxnSpPr>
        <p:spPr>
          <a:xfrm flipV="1">
            <a:off x="6589395" y="6289675"/>
            <a:ext cx="635" cy="133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51" name="图片 50" descr="306c53c637757190bb64ccebd5793d40"/>
          <p:cNvPicPr>
            <a:picLocks noChangeAspect="1"/>
          </p:cNvPicPr>
          <p:nvPr/>
        </p:nvPicPr>
        <p:blipFill>
          <a:blip r:embed="rId1"/>
          <a:stretch>
            <a:fillRect/>
          </a:stretch>
        </p:blipFill>
        <p:spPr>
          <a:xfrm>
            <a:off x="95250" y="5885815"/>
            <a:ext cx="405765" cy="381000"/>
          </a:xfrm>
          <a:prstGeom prst="rect">
            <a:avLst/>
          </a:prstGeom>
        </p:spPr>
      </p:pic>
      <p:pic>
        <p:nvPicPr>
          <p:cNvPr id="52" name="图片 51" descr="306c53c637757190bb64ccebd5793d40"/>
          <p:cNvPicPr>
            <a:picLocks noChangeAspect="1"/>
          </p:cNvPicPr>
          <p:nvPr/>
        </p:nvPicPr>
        <p:blipFill>
          <a:blip r:embed="rId1"/>
          <a:stretch>
            <a:fillRect/>
          </a:stretch>
        </p:blipFill>
        <p:spPr>
          <a:xfrm>
            <a:off x="1024890" y="5095240"/>
            <a:ext cx="405765" cy="381000"/>
          </a:xfrm>
          <a:prstGeom prst="rect">
            <a:avLst/>
          </a:prstGeom>
        </p:spPr>
      </p:pic>
      <p:pic>
        <p:nvPicPr>
          <p:cNvPr id="54" name="图片 53" descr="306c53c637757190bb64ccebd5793d40"/>
          <p:cNvPicPr>
            <a:picLocks noChangeAspect="1"/>
          </p:cNvPicPr>
          <p:nvPr/>
        </p:nvPicPr>
        <p:blipFill>
          <a:blip r:embed="rId1"/>
          <a:stretch>
            <a:fillRect/>
          </a:stretch>
        </p:blipFill>
        <p:spPr>
          <a:xfrm>
            <a:off x="2042795" y="5178425"/>
            <a:ext cx="405765" cy="381000"/>
          </a:xfrm>
          <a:prstGeom prst="rect">
            <a:avLst/>
          </a:prstGeom>
        </p:spPr>
      </p:pic>
      <p:pic>
        <p:nvPicPr>
          <p:cNvPr id="59" name="图片 58" descr="306c53c637757190bb64ccebd5793d40"/>
          <p:cNvPicPr>
            <a:picLocks noChangeAspect="1"/>
          </p:cNvPicPr>
          <p:nvPr/>
        </p:nvPicPr>
        <p:blipFill>
          <a:blip r:embed="rId1"/>
          <a:stretch>
            <a:fillRect/>
          </a:stretch>
        </p:blipFill>
        <p:spPr>
          <a:xfrm>
            <a:off x="2993390" y="5195570"/>
            <a:ext cx="405765" cy="381000"/>
          </a:xfrm>
          <a:prstGeom prst="rect">
            <a:avLst/>
          </a:prstGeom>
        </p:spPr>
      </p:pic>
      <p:pic>
        <p:nvPicPr>
          <p:cNvPr id="62" name="图片 61" descr="306c53c637757190bb64ccebd5793d40"/>
          <p:cNvPicPr>
            <a:picLocks noChangeAspect="1"/>
          </p:cNvPicPr>
          <p:nvPr/>
        </p:nvPicPr>
        <p:blipFill>
          <a:blip r:embed="rId1"/>
          <a:stretch>
            <a:fillRect/>
          </a:stretch>
        </p:blipFill>
        <p:spPr>
          <a:xfrm>
            <a:off x="4001770" y="4390390"/>
            <a:ext cx="405765" cy="381000"/>
          </a:xfrm>
          <a:prstGeom prst="rect">
            <a:avLst/>
          </a:prstGeom>
        </p:spPr>
      </p:pic>
      <p:pic>
        <p:nvPicPr>
          <p:cNvPr id="63" name="图片 62" descr="306c53c637757190bb64ccebd5793d40"/>
          <p:cNvPicPr>
            <a:picLocks noChangeAspect="1"/>
          </p:cNvPicPr>
          <p:nvPr/>
        </p:nvPicPr>
        <p:blipFill>
          <a:blip r:embed="rId1"/>
          <a:stretch>
            <a:fillRect/>
          </a:stretch>
        </p:blipFill>
        <p:spPr>
          <a:xfrm>
            <a:off x="5789930" y="4952365"/>
            <a:ext cx="405765" cy="424180"/>
          </a:xfrm>
          <a:prstGeom prst="rect">
            <a:avLst/>
          </a:prstGeom>
        </p:spPr>
      </p:pic>
      <p:pic>
        <p:nvPicPr>
          <p:cNvPr id="65" name="图片 64" descr="306c53c637757190bb64ccebd5793d40"/>
          <p:cNvPicPr>
            <a:picLocks noChangeAspect="1"/>
          </p:cNvPicPr>
          <p:nvPr/>
        </p:nvPicPr>
        <p:blipFill>
          <a:blip r:embed="rId1"/>
          <a:stretch>
            <a:fillRect/>
          </a:stretch>
        </p:blipFill>
        <p:spPr>
          <a:xfrm>
            <a:off x="7962900" y="4940935"/>
            <a:ext cx="405765" cy="381000"/>
          </a:xfrm>
          <a:prstGeom prst="rect">
            <a:avLst/>
          </a:prstGeom>
        </p:spPr>
      </p:pic>
      <p:pic>
        <p:nvPicPr>
          <p:cNvPr id="79" name="图片 78" descr="306c53c637757190bb64ccebd5793d40"/>
          <p:cNvPicPr>
            <a:picLocks noChangeAspect="1"/>
          </p:cNvPicPr>
          <p:nvPr/>
        </p:nvPicPr>
        <p:blipFill>
          <a:blip r:embed="rId1"/>
          <a:stretch>
            <a:fillRect/>
          </a:stretch>
        </p:blipFill>
        <p:spPr>
          <a:xfrm>
            <a:off x="11129645" y="4983480"/>
            <a:ext cx="405765" cy="381000"/>
          </a:xfrm>
          <a:prstGeom prst="rect">
            <a:avLst/>
          </a:prstGeom>
        </p:spPr>
      </p:pic>
      <p:pic>
        <p:nvPicPr>
          <p:cNvPr id="81" name="图片 80" descr="306c53c637757190bb64ccebd5793d40"/>
          <p:cNvPicPr>
            <a:picLocks noChangeAspect="1"/>
          </p:cNvPicPr>
          <p:nvPr/>
        </p:nvPicPr>
        <p:blipFill>
          <a:blip r:embed="rId1"/>
          <a:stretch>
            <a:fillRect/>
          </a:stretch>
        </p:blipFill>
        <p:spPr>
          <a:xfrm>
            <a:off x="9224645" y="2644140"/>
            <a:ext cx="405765" cy="381000"/>
          </a:xfrm>
          <a:prstGeom prst="rect">
            <a:avLst/>
          </a:prstGeom>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lIns="91440" tIns="45720" rIns="91440" bIns="45720" rtlCol="0" anchor="ctr">
            <a:normAutofit fontScale="90000"/>
          </a:bodyPr>
          <a:lstStyle/>
          <a:p>
            <a:pPr lvl="0" algn="l">
              <a:buClrTx/>
              <a:buSzTx/>
              <a:buFontTx/>
            </a:pPr>
            <a:r>
              <a:rPr lang="zh-CN" altLang="en-US" dirty="0">
                <a:latin typeface="楷体" panose="02010609060101010101" pitchFamily="49" charset="-122"/>
                <a:ea typeface="楷体" panose="02010609060101010101" pitchFamily="49" charset="-122"/>
                <a:cs typeface="楷体" panose="02010609060101010101" pitchFamily="49" charset="-122"/>
                <a:sym typeface="+mn-ea"/>
              </a:rPr>
              <a:t>知识运营流程</a:t>
            </a:r>
            <a:r>
              <a:rPr lang="en-US" altLang="zh-CN" dirty="0">
                <a:latin typeface="楷体" panose="02010609060101010101" pitchFamily="49" charset="-122"/>
                <a:ea typeface="楷体" panose="02010609060101010101" pitchFamily="49" charset="-122"/>
                <a:cs typeface="楷体" panose="02010609060101010101" pitchFamily="49" charset="-122"/>
                <a:sym typeface="+mn-ea"/>
              </a:rPr>
              <a:t>——</a:t>
            </a:r>
            <a:r>
              <a:rPr lang="zh-CN" altLang="en-US" dirty="0">
                <a:latin typeface="楷体" panose="02010609060101010101" pitchFamily="49" charset="-122"/>
                <a:ea typeface="楷体" panose="02010609060101010101" pitchFamily="49" charset="-122"/>
                <a:cs typeface="楷体" panose="02010609060101010101" pitchFamily="49" charset="-122"/>
                <a:sym typeface="+mn-ea"/>
              </a:rPr>
              <a:t>日常知识运营管理</a:t>
            </a:r>
            <a:endParaRPr lang="zh-CN" altLang="en-US" dirty="0">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5" name="箭头: V 形 7"/>
          <p:cNvSpPr/>
          <p:nvPr/>
        </p:nvSpPr>
        <p:spPr>
          <a:xfrm>
            <a:off x="911225" y="1357630"/>
            <a:ext cx="10756265" cy="330835"/>
          </a:xfrm>
          <a:prstGeom prst="chevron">
            <a:avLst/>
          </a:prstGeom>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日常运营管理</a:t>
            </a:r>
            <a:endParaRPr kumimoji="0" lang="zh-CN" altLang="en-US" sz="11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cxnSp>
        <p:nvCxnSpPr>
          <p:cNvPr id="38" name="直接连接符 37"/>
          <p:cNvCxnSpPr/>
          <p:nvPr/>
        </p:nvCxnSpPr>
        <p:spPr>
          <a:xfrm>
            <a:off x="309245" y="3952875"/>
            <a:ext cx="11177905"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49" name="直接连接符 48"/>
          <p:cNvCxnSpPr/>
          <p:nvPr/>
        </p:nvCxnSpPr>
        <p:spPr>
          <a:xfrm>
            <a:off x="309245" y="3087370"/>
            <a:ext cx="11177905"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50" name="直接连接符 49"/>
          <p:cNvCxnSpPr/>
          <p:nvPr/>
        </p:nvCxnSpPr>
        <p:spPr>
          <a:xfrm>
            <a:off x="309245" y="2345690"/>
            <a:ext cx="11177905" cy="0"/>
          </a:xfrm>
          <a:prstGeom prst="line">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51" name="Rectangle 9"/>
          <p:cNvSpPr/>
          <p:nvPr/>
        </p:nvSpPr>
        <p:spPr>
          <a:xfrm>
            <a:off x="180975" y="1711960"/>
            <a:ext cx="889000" cy="5448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业务</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2" name="Rectangle 10"/>
          <p:cNvSpPr/>
          <p:nvPr/>
        </p:nvSpPr>
        <p:spPr>
          <a:xfrm>
            <a:off x="180975" y="2451100"/>
            <a:ext cx="888365" cy="54546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融合</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Rectangle 10"/>
          <p:cNvSpPr/>
          <p:nvPr/>
        </p:nvSpPr>
        <p:spPr>
          <a:xfrm>
            <a:off x="180975" y="3226435"/>
            <a:ext cx="888365" cy="54546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工程团队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5" name="Rectangle 10"/>
          <p:cNvSpPr/>
          <p:nvPr/>
        </p:nvSpPr>
        <p:spPr>
          <a:xfrm>
            <a:off x="180975" y="4605655"/>
            <a:ext cx="888365" cy="54546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运营团队</a:t>
            </a:r>
            <a:endParaRPr kumimoji="0" lang="zh-CN" altLang="en-US" sz="14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矩形: 圆角 59"/>
          <p:cNvSpPr/>
          <p:nvPr/>
        </p:nvSpPr>
        <p:spPr>
          <a:xfrm>
            <a:off x="1198245" y="2379345"/>
            <a:ext cx="946785" cy="1003935"/>
          </a:xfrm>
          <a:prstGeom prst="roundRect">
            <a:avLst/>
          </a:prstGeom>
          <a:solidFill>
            <a:srgbClr val="4874CB">
              <a:lumMod val="20000"/>
              <a:lumOff val="80000"/>
            </a:srgbClr>
          </a:solidFill>
          <a:ln w="12700" cap="flat" cmpd="sng" algn="ctr">
            <a:solidFill>
              <a:schemeClr val="accent1"/>
            </a:solid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元数据标准制定</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65" name="矩形: 圆角 59"/>
          <p:cNvSpPr/>
          <p:nvPr/>
        </p:nvSpPr>
        <p:spPr>
          <a:xfrm>
            <a:off x="1778635" y="4650105"/>
            <a:ext cx="1950085" cy="378460"/>
          </a:xfrm>
          <a:prstGeom prst="roundRect">
            <a:avLst/>
          </a:prstGeom>
          <a:solidFill>
            <a:srgbClr val="4874CB">
              <a:lumMod val="20000"/>
              <a:lumOff val="80000"/>
            </a:srgbClr>
          </a:solidFill>
          <a:ln w="12700" cap="flat" cmpd="sng" algn="ctr">
            <a:solidFill>
              <a:schemeClr val="accent1"/>
            </a:solid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知识运营监控</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8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调用量、成功率、点踩率</a:t>
            </a:r>
            <a:r>
              <a:rPr lang="en-US" altLang="zh-CN"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endPar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68" name="矩形: 圆角 59"/>
          <p:cNvSpPr/>
          <p:nvPr/>
        </p:nvSpPr>
        <p:spPr>
          <a:xfrm>
            <a:off x="5122546" y="2451100"/>
            <a:ext cx="1250315" cy="833755"/>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元数据标准</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发布</a:t>
            </a:r>
            <a:endParaRPr lang="en-US" altLang="zh-CN"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1200" dirty="0">
                <a:solidFill>
                  <a:prstClr val="black"/>
                </a:solidFill>
                <a:latin typeface="微软雅黑" panose="020B0503020204020204" charset="-122"/>
                <a:ea typeface="微软雅黑" panose="020B0503020204020204" charset="-122"/>
                <a:sym typeface="微软雅黑" panose="020B0503020204020204" charset="-122"/>
              </a:rPr>
              <a:t>（谁制定、谁发布）</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73" name="矩形: 圆角 59"/>
          <p:cNvSpPr/>
          <p:nvPr/>
        </p:nvSpPr>
        <p:spPr>
          <a:xfrm>
            <a:off x="7026275" y="4008120"/>
            <a:ext cx="1250315" cy="545465"/>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知识目录管理及资产盘点</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83" name="直接箭头连接符 82"/>
          <p:cNvCxnSpPr>
            <a:stCxn id="58" idx="3"/>
            <a:endCxn id="45" idx="1"/>
          </p:cNvCxnSpPr>
          <p:nvPr/>
        </p:nvCxnSpPr>
        <p:spPr>
          <a:xfrm flipV="1">
            <a:off x="2145030" y="2867189"/>
            <a:ext cx="745809" cy="14124"/>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4" name="矩形: 圆角 59"/>
          <p:cNvSpPr/>
          <p:nvPr/>
        </p:nvSpPr>
        <p:spPr>
          <a:xfrm>
            <a:off x="4131945" y="4785360"/>
            <a:ext cx="1461770" cy="527685"/>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运营综合评估</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53" name="矩形: 圆角 59"/>
          <p:cNvSpPr/>
          <p:nvPr/>
        </p:nvSpPr>
        <p:spPr>
          <a:xfrm>
            <a:off x="1778635" y="5080635"/>
            <a:ext cx="1950085" cy="374650"/>
          </a:xfrm>
          <a:prstGeom prst="roundRect">
            <a:avLst/>
          </a:prstGeom>
          <a:solidFill>
            <a:srgbClr val="4874CB">
              <a:lumMod val="20000"/>
              <a:lumOff val="80000"/>
            </a:srgbClr>
          </a:solidFill>
          <a:ln w="12700" cap="flat" cmpd="sng" algn="ctr">
            <a:solidFill>
              <a:schemeClr val="accent1"/>
            </a:solid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知识健康度监控</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（时效率、覆盖率、准确率</a:t>
            </a:r>
            <a:r>
              <a:rPr lang="en-US" altLang="zh-CN"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endPar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154" name="肘形连接符 153"/>
          <p:cNvCxnSpPr>
            <a:stCxn id="65" idx="3"/>
            <a:endCxn id="114" idx="1"/>
          </p:cNvCxnSpPr>
          <p:nvPr/>
        </p:nvCxnSpPr>
        <p:spPr>
          <a:xfrm>
            <a:off x="3728720" y="4839335"/>
            <a:ext cx="403225" cy="210185"/>
          </a:xfrm>
          <a:prstGeom prst="bentConnector3">
            <a:avLst>
              <a:gd name="adj1" fmla="val 50079"/>
            </a:avLst>
          </a:prstGeom>
          <a:ln>
            <a:tailEnd type="arrow"/>
          </a:ln>
        </p:spPr>
        <p:style>
          <a:lnRef idx="2">
            <a:schemeClr val="accent1"/>
          </a:lnRef>
          <a:fillRef idx="0">
            <a:srgbClr val="FFFFFF"/>
          </a:fillRef>
          <a:effectRef idx="0">
            <a:srgbClr val="FFFFFF"/>
          </a:effectRef>
          <a:fontRef idx="minor">
            <a:schemeClr val="tx1"/>
          </a:fontRef>
        </p:style>
      </p:cxnSp>
      <p:cxnSp>
        <p:nvCxnSpPr>
          <p:cNvPr id="155" name="肘形连接符 154"/>
          <p:cNvCxnSpPr>
            <a:stCxn id="153" idx="3"/>
            <a:endCxn id="114" idx="1"/>
          </p:cNvCxnSpPr>
          <p:nvPr/>
        </p:nvCxnSpPr>
        <p:spPr>
          <a:xfrm flipV="1">
            <a:off x="3728720" y="5049520"/>
            <a:ext cx="403225" cy="218440"/>
          </a:xfrm>
          <a:prstGeom prst="bentConnector3">
            <a:avLst>
              <a:gd name="adj1" fmla="val 50079"/>
            </a:avLst>
          </a:prstGeom>
          <a:ln>
            <a:tailEnd type="arrow"/>
          </a:ln>
        </p:spPr>
        <p:style>
          <a:lnRef idx="2">
            <a:schemeClr val="accent1"/>
          </a:lnRef>
          <a:fillRef idx="0">
            <a:srgbClr val="FFFFFF"/>
          </a:fillRef>
          <a:effectRef idx="0">
            <a:srgbClr val="FFFFFF"/>
          </a:effectRef>
          <a:fontRef idx="minor">
            <a:schemeClr val="tx1"/>
          </a:fontRef>
        </p:style>
      </p:cxnSp>
      <p:cxnSp>
        <p:nvCxnSpPr>
          <p:cNvPr id="157" name="直接箭头连接符 156"/>
          <p:cNvCxnSpPr>
            <a:stCxn id="114" idx="3"/>
            <a:endCxn id="163" idx="1"/>
          </p:cNvCxnSpPr>
          <p:nvPr/>
        </p:nvCxnSpPr>
        <p:spPr>
          <a:xfrm>
            <a:off x="5593715" y="5049520"/>
            <a:ext cx="2832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3" name="矩形: 圆角 59"/>
          <p:cNvSpPr/>
          <p:nvPr/>
        </p:nvSpPr>
        <p:spPr>
          <a:xfrm>
            <a:off x="5876925" y="4785360"/>
            <a:ext cx="1461770" cy="527685"/>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监控问题整理</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64" name="矩形: 圆角 59"/>
          <p:cNvSpPr/>
          <p:nvPr/>
        </p:nvSpPr>
        <p:spPr>
          <a:xfrm>
            <a:off x="7984490" y="4785360"/>
            <a:ext cx="1000760" cy="527685"/>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运营报告生成</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165" name="直接箭头连接符 164"/>
          <p:cNvCxnSpPr>
            <a:stCxn id="163" idx="3"/>
            <a:endCxn id="164" idx="1"/>
          </p:cNvCxnSpPr>
          <p:nvPr/>
        </p:nvCxnSpPr>
        <p:spPr>
          <a:xfrm>
            <a:off x="7338695" y="5049520"/>
            <a:ext cx="6457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6" name="矩形: 圆角 59"/>
          <p:cNvSpPr/>
          <p:nvPr/>
        </p:nvSpPr>
        <p:spPr>
          <a:xfrm>
            <a:off x="9168765" y="2444115"/>
            <a:ext cx="981710" cy="1003300"/>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运营问题优化方案设计</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167" name="肘形连接符 166"/>
          <p:cNvCxnSpPr>
            <a:stCxn id="33" idx="0"/>
            <a:endCxn id="166" idx="2"/>
          </p:cNvCxnSpPr>
          <p:nvPr/>
        </p:nvCxnSpPr>
        <p:spPr>
          <a:xfrm rot="16200000">
            <a:off x="8990965" y="4116070"/>
            <a:ext cx="1337310" cy="317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73" name="矩形: 圆角 59"/>
          <p:cNvSpPr/>
          <p:nvPr/>
        </p:nvSpPr>
        <p:spPr>
          <a:xfrm>
            <a:off x="1778635" y="6175375"/>
            <a:ext cx="1950085" cy="488315"/>
          </a:xfrm>
          <a:prstGeom prst="roundRect">
            <a:avLst/>
          </a:prstGeom>
          <a:solidFill>
            <a:srgbClr val="4874CB">
              <a:lumMod val="20000"/>
              <a:lumOff val="80000"/>
            </a:srgbClr>
          </a:solidFill>
          <a:ln w="12700" cap="flat" cmpd="sng" algn="ctr">
            <a:solidFill>
              <a:schemeClr val="accent1"/>
            </a:solid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知识运营</a:t>
            </a: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相关</a:t>
            </a:r>
            <a:r>
              <a:rPr lang="zh-CN"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规范制</a:t>
            </a:r>
            <a:r>
              <a:rPr lang="zh-CN" altLang="en-US" sz="1200" dirty="0">
                <a:solidFill>
                  <a:prstClr val="black"/>
                </a:solidFill>
                <a:latin typeface="微软雅黑" panose="020B0503020204020204" charset="-122"/>
                <a:ea typeface="微软雅黑" panose="020B0503020204020204" charset="-122"/>
                <a:sym typeface="微软雅黑" panose="020B0503020204020204" charset="-122"/>
              </a:rPr>
              <a:t>定</a:t>
            </a:r>
            <a:endParaRPr lang="zh-CN"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74" name="矩形: 圆角 59"/>
          <p:cNvSpPr/>
          <p:nvPr/>
        </p:nvSpPr>
        <p:spPr>
          <a:xfrm>
            <a:off x="1778635" y="5612130"/>
            <a:ext cx="1950085" cy="378460"/>
          </a:xfrm>
          <a:prstGeom prst="roundRect">
            <a:avLst/>
          </a:prstGeom>
          <a:solidFill>
            <a:srgbClr val="4874CB">
              <a:lumMod val="20000"/>
              <a:lumOff val="80000"/>
            </a:srgbClr>
          </a:solidFill>
          <a:ln w="12700" cap="flat" cmpd="sng" algn="ctr">
            <a:solidFill>
              <a:schemeClr val="accent1"/>
            </a:solid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日常任务监控</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（知识巡检、知识演进</a:t>
            </a:r>
            <a:r>
              <a:rPr lang="en-US" altLang="zh-CN"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endPar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75" name="矩形: 圆角 59"/>
          <p:cNvSpPr/>
          <p:nvPr/>
        </p:nvSpPr>
        <p:spPr>
          <a:xfrm>
            <a:off x="4097020" y="5612130"/>
            <a:ext cx="1495425" cy="378460"/>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异常任务处理</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（停止、重跑</a:t>
            </a:r>
            <a:r>
              <a:rPr lang="en-US" altLang="zh-CN"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r>
              <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a:t>
            </a:r>
            <a:endParaRPr lang="zh-CN" altLang="en-US"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76" name="矩形: 圆角 59"/>
          <p:cNvSpPr/>
          <p:nvPr/>
        </p:nvSpPr>
        <p:spPr>
          <a:xfrm>
            <a:off x="5876925" y="5612130"/>
            <a:ext cx="1495425" cy="378460"/>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异常问题整理</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177" name="直接箭头连接符 176"/>
          <p:cNvCxnSpPr>
            <a:stCxn id="174" idx="3"/>
            <a:endCxn id="175" idx="1"/>
          </p:cNvCxnSpPr>
          <p:nvPr/>
        </p:nvCxnSpPr>
        <p:spPr>
          <a:xfrm>
            <a:off x="3728720" y="5801360"/>
            <a:ext cx="3683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78" name="直接箭头连接符 177"/>
          <p:cNvCxnSpPr>
            <a:stCxn id="175" idx="3"/>
            <a:endCxn id="176" idx="1"/>
          </p:cNvCxnSpPr>
          <p:nvPr/>
        </p:nvCxnSpPr>
        <p:spPr>
          <a:xfrm>
            <a:off x="5592445" y="5801360"/>
            <a:ext cx="28448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80" name="肘形连接符 179"/>
          <p:cNvCxnSpPr>
            <a:stCxn id="176" idx="3"/>
            <a:endCxn id="164" idx="2"/>
          </p:cNvCxnSpPr>
          <p:nvPr/>
        </p:nvCxnSpPr>
        <p:spPr>
          <a:xfrm flipV="1">
            <a:off x="7372350" y="5313045"/>
            <a:ext cx="1112520" cy="48831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83" name="矩形: 圆角 59"/>
          <p:cNvSpPr/>
          <p:nvPr/>
        </p:nvSpPr>
        <p:spPr>
          <a:xfrm>
            <a:off x="4144010" y="6176010"/>
            <a:ext cx="3228340" cy="487680"/>
          </a:xfrm>
          <a:prstGeom prst="roundRect">
            <a:avLst>
              <a:gd name="adj" fmla="val 13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知识运营规范制度宣贯与培训</a:t>
            </a:r>
            <a:endParaRPr lang="zh-CN" sz="9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184" name="直接箭头连接符 183"/>
          <p:cNvCxnSpPr>
            <a:stCxn id="173" idx="3"/>
            <a:endCxn id="183" idx="1"/>
          </p:cNvCxnSpPr>
          <p:nvPr/>
        </p:nvCxnSpPr>
        <p:spPr>
          <a:xfrm>
            <a:off x="3728720" y="6419850"/>
            <a:ext cx="4152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85" name="肘形连接符 184"/>
          <p:cNvCxnSpPr>
            <a:stCxn id="166" idx="3"/>
            <a:endCxn id="30" idx="1"/>
          </p:cNvCxnSpPr>
          <p:nvPr/>
        </p:nvCxnSpPr>
        <p:spPr>
          <a:xfrm flipV="1">
            <a:off x="10150475" y="2737485"/>
            <a:ext cx="552450" cy="20828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4" name="肘形连接符 3"/>
          <p:cNvCxnSpPr>
            <a:stCxn id="73" idx="2"/>
            <a:endCxn id="164" idx="1"/>
          </p:cNvCxnSpPr>
          <p:nvPr/>
        </p:nvCxnSpPr>
        <p:spPr>
          <a:xfrm rot="5400000" flipV="1">
            <a:off x="7570153" y="4635183"/>
            <a:ext cx="495935" cy="33274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6" name="Shape 24"/>
          <p:cNvSpPr/>
          <p:nvPr/>
        </p:nvSpPr>
        <p:spPr>
          <a:xfrm>
            <a:off x="209550" y="566610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8" name="文本框 7"/>
          <p:cNvSpPr txBox="1"/>
          <p:nvPr/>
        </p:nvSpPr>
        <p:spPr>
          <a:xfrm>
            <a:off x="442595" y="5598795"/>
            <a:ext cx="499745" cy="368300"/>
          </a:xfrm>
          <a:prstGeom prst="rect">
            <a:avLst/>
          </a:prstGeom>
          <a:noFill/>
        </p:spPr>
        <p:txBody>
          <a:bodyPr wrap="square" rtlCol="0">
            <a:spAutoFit/>
          </a:bodyPr>
          <a:lstStyle/>
          <a:p>
            <a:pPr algn="ctr"/>
            <a:r>
              <a:rPr lang="zh-CN" altLang="en-US" sz="900"/>
              <a:t>人工参与</a:t>
            </a:r>
            <a:endParaRPr lang="zh-CN" altLang="en-US" sz="900"/>
          </a:p>
        </p:txBody>
      </p:sp>
      <p:sp>
        <p:nvSpPr>
          <p:cNvPr id="85" name="文本框 84"/>
          <p:cNvSpPr txBox="1"/>
          <p:nvPr/>
        </p:nvSpPr>
        <p:spPr>
          <a:xfrm>
            <a:off x="394970" y="5981700"/>
            <a:ext cx="626745" cy="368300"/>
          </a:xfrm>
          <a:prstGeom prst="rect">
            <a:avLst/>
          </a:prstGeom>
          <a:noFill/>
        </p:spPr>
        <p:txBody>
          <a:bodyPr wrap="square" rtlCol="0">
            <a:spAutoFit/>
          </a:bodyPr>
          <a:lstStyle/>
          <a:p>
            <a:pPr algn="ctr"/>
            <a:r>
              <a:rPr lang="zh-CN" altLang="en-US" sz="900"/>
              <a:t>智能体支持</a:t>
            </a:r>
            <a:endParaRPr lang="zh-CN" altLang="en-US" sz="900"/>
          </a:p>
        </p:txBody>
      </p:sp>
      <p:sp>
        <p:nvSpPr>
          <p:cNvPr id="9" name="Shape 24"/>
          <p:cNvSpPr/>
          <p:nvPr/>
        </p:nvSpPr>
        <p:spPr>
          <a:xfrm>
            <a:off x="1198245" y="231457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12" name="Shape 24"/>
          <p:cNvSpPr/>
          <p:nvPr/>
        </p:nvSpPr>
        <p:spPr>
          <a:xfrm>
            <a:off x="7026275" y="395287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17" name="Shape 24"/>
          <p:cNvSpPr/>
          <p:nvPr/>
        </p:nvSpPr>
        <p:spPr>
          <a:xfrm>
            <a:off x="4145280" y="478472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18" name="Shape 24"/>
          <p:cNvSpPr/>
          <p:nvPr/>
        </p:nvSpPr>
        <p:spPr>
          <a:xfrm>
            <a:off x="5844540" y="4757420"/>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19" name="Shape 24"/>
          <p:cNvSpPr/>
          <p:nvPr/>
        </p:nvSpPr>
        <p:spPr>
          <a:xfrm>
            <a:off x="4089400" y="555688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20" name="Shape 24"/>
          <p:cNvSpPr/>
          <p:nvPr/>
        </p:nvSpPr>
        <p:spPr>
          <a:xfrm>
            <a:off x="5858510" y="555688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21" name="Shape 24"/>
          <p:cNvSpPr/>
          <p:nvPr/>
        </p:nvSpPr>
        <p:spPr>
          <a:xfrm>
            <a:off x="4138295" y="611568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22" name="Shape 24"/>
          <p:cNvSpPr/>
          <p:nvPr/>
        </p:nvSpPr>
        <p:spPr>
          <a:xfrm>
            <a:off x="1778635" y="611568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23" name="Shape 24"/>
          <p:cNvSpPr/>
          <p:nvPr/>
        </p:nvSpPr>
        <p:spPr>
          <a:xfrm>
            <a:off x="9159240" y="2451100"/>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sp>
        <p:nvSpPr>
          <p:cNvPr id="27" name="文本框 26"/>
          <p:cNvSpPr txBox="1"/>
          <p:nvPr/>
        </p:nvSpPr>
        <p:spPr>
          <a:xfrm>
            <a:off x="434975" y="925195"/>
            <a:ext cx="11871325" cy="306705"/>
          </a:xfrm>
          <a:prstGeom prst="rect">
            <a:avLst/>
          </a:prstGeom>
          <a:noFill/>
        </p:spPr>
        <p:txBody>
          <a:bodyPr wrap="square" rtlCol="0">
            <a:spAutoFit/>
          </a:bodyPr>
          <a:lstStyle/>
          <a:p>
            <a:pPr marL="285750" indent="-285750">
              <a:buFont typeface="Wingdings" panose="05000000000000000000" charset="0"/>
              <a:buChar char="n"/>
            </a:pPr>
            <a:r>
              <a:rPr lang="zh-CN" altLang="en-US" sz="1400">
                <a:latin typeface="微软雅黑" panose="020B0503020204020204" charset="-122"/>
                <a:ea typeface="微软雅黑" panose="020B0503020204020204" charset="-122"/>
              </a:rPr>
              <a:t>日常知识运维包括：</a:t>
            </a:r>
            <a:r>
              <a:rPr lang="zh-CN" altLang="en-US" sz="1400" b="1">
                <a:solidFill>
                  <a:schemeClr val="accent1"/>
                </a:solidFill>
                <a:latin typeface="微软雅黑" panose="020B0503020204020204" charset="-122"/>
                <a:ea typeface="微软雅黑" panose="020B0503020204020204" charset="-122"/>
              </a:rPr>
              <a:t>元数据标准管理、知识运营及健康度监控与问题排查、日常任务监控及异常处理、知识运营规范制度的设计与宣贯</a:t>
            </a:r>
            <a:endParaRPr lang="zh-CN" altLang="en-US" sz="1400" b="1">
              <a:solidFill>
                <a:schemeClr val="accent1"/>
              </a:solidFill>
              <a:latin typeface="微软雅黑" panose="020B0503020204020204" charset="-122"/>
              <a:ea typeface="微软雅黑" panose="020B0503020204020204" charset="-122"/>
            </a:endParaRPr>
          </a:p>
        </p:txBody>
      </p:sp>
      <p:sp>
        <p:nvSpPr>
          <p:cNvPr id="25" name="矩形: 圆角 59"/>
          <p:cNvSpPr/>
          <p:nvPr/>
        </p:nvSpPr>
        <p:spPr>
          <a:xfrm>
            <a:off x="7759065" y="1789430"/>
            <a:ext cx="1461770" cy="466725"/>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运营报告审核</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及改进建议</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28" name="肘形连接符 27"/>
          <p:cNvCxnSpPr>
            <a:stCxn id="164" idx="0"/>
            <a:endCxn id="25" idx="2"/>
          </p:cNvCxnSpPr>
          <p:nvPr/>
        </p:nvCxnSpPr>
        <p:spPr>
          <a:xfrm rot="16200000">
            <a:off x="7222808" y="3518218"/>
            <a:ext cx="2529205" cy="508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肘形连接符 28"/>
          <p:cNvCxnSpPr>
            <a:stCxn id="25" idx="3"/>
            <a:endCxn id="166" idx="0"/>
          </p:cNvCxnSpPr>
          <p:nvPr/>
        </p:nvCxnSpPr>
        <p:spPr>
          <a:xfrm>
            <a:off x="9220835" y="2023110"/>
            <a:ext cx="438785" cy="42100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30" name="矩形: 圆角 59"/>
          <p:cNvSpPr/>
          <p:nvPr/>
        </p:nvSpPr>
        <p:spPr>
          <a:xfrm>
            <a:off x="10702925" y="2416175"/>
            <a:ext cx="946150" cy="642620"/>
          </a:xfrm>
          <a:prstGeom prst="roundRect">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mn-ea"/>
              </a:rPr>
              <a:t>根据运营报告分析提出优化需求</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mn-ea"/>
            </a:endParaRPr>
          </a:p>
        </p:txBody>
      </p:sp>
      <p:sp>
        <p:nvSpPr>
          <p:cNvPr id="31" name="Shape 24"/>
          <p:cNvSpPr/>
          <p:nvPr/>
        </p:nvSpPr>
        <p:spPr>
          <a:xfrm>
            <a:off x="10654665" y="2353333"/>
            <a:ext cx="175260" cy="164289"/>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txBody>
          <a:bodyPr/>
          <a:lstStyle/>
          <a:p>
            <a:endParaRPr lang="zh-CN" altLang="en-US"/>
          </a:p>
        </p:txBody>
      </p:sp>
      <p:sp>
        <p:nvSpPr>
          <p:cNvPr id="33" name="矩形: 圆角 59"/>
          <p:cNvSpPr/>
          <p:nvPr/>
        </p:nvSpPr>
        <p:spPr>
          <a:xfrm>
            <a:off x="9159240" y="4784725"/>
            <a:ext cx="1000760" cy="527685"/>
          </a:xfrm>
          <a:prstGeom prst="roundRect">
            <a:avLst>
              <a:gd name="adj" fmla="val 0"/>
            </a:avLst>
          </a:prstGeom>
          <a:solidFill>
            <a:srgbClr val="4874CB">
              <a:lumMod val="20000"/>
              <a:lumOff val="80000"/>
            </a:srgbClr>
          </a:solidFill>
          <a:ln w="12700" cap="flat" cmpd="sng" algn="ctr">
            <a:no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知识运营分析</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cxnSp>
        <p:nvCxnSpPr>
          <p:cNvPr id="34" name="直接箭头连接符 33"/>
          <p:cNvCxnSpPr>
            <a:stCxn id="164" idx="3"/>
            <a:endCxn id="33" idx="1"/>
          </p:cNvCxnSpPr>
          <p:nvPr/>
        </p:nvCxnSpPr>
        <p:spPr>
          <a:xfrm flipV="1">
            <a:off x="8985250" y="5048885"/>
            <a:ext cx="173990" cy="6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5" name="Shape 24"/>
          <p:cNvSpPr/>
          <p:nvPr/>
        </p:nvSpPr>
        <p:spPr>
          <a:xfrm>
            <a:off x="9220835" y="4704738"/>
            <a:ext cx="175260" cy="164289"/>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txBody>
          <a:bodyPr/>
          <a:lstStyle/>
          <a:p>
            <a:endParaRPr lang="zh-CN" altLang="en-US"/>
          </a:p>
        </p:txBody>
      </p:sp>
      <p:sp>
        <p:nvSpPr>
          <p:cNvPr id="36" name="Shape 24"/>
          <p:cNvSpPr/>
          <p:nvPr/>
        </p:nvSpPr>
        <p:spPr>
          <a:xfrm>
            <a:off x="7759065" y="1750083"/>
            <a:ext cx="175260" cy="164289"/>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txBody>
          <a:bodyPr/>
          <a:lstStyle/>
          <a:p>
            <a:endParaRPr lang="zh-CN" altLang="en-US"/>
          </a:p>
        </p:txBody>
      </p:sp>
      <p:cxnSp>
        <p:nvCxnSpPr>
          <p:cNvPr id="26" name="肘形连接符 184"/>
          <p:cNvCxnSpPr>
            <a:stCxn id="68" idx="3"/>
            <a:endCxn id="73" idx="0"/>
          </p:cNvCxnSpPr>
          <p:nvPr/>
        </p:nvCxnSpPr>
        <p:spPr>
          <a:xfrm>
            <a:off x="6372861" y="2867978"/>
            <a:ext cx="1278572" cy="1140142"/>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45" name="矩形: 圆角 59"/>
          <p:cNvSpPr/>
          <p:nvPr/>
        </p:nvSpPr>
        <p:spPr>
          <a:xfrm>
            <a:off x="2890839" y="2365221"/>
            <a:ext cx="946785" cy="1003935"/>
          </a:xfrm>
          <a:prstGeom prst="roundRect">
            <a:avLst/>
          </a:prstGeom>
          <a:solidFill>
            <a:srgbClr val="4874CB">
              <a:lumMod val="20000"/>
              <a:lumOff val="80000"/>
            </a:srgbClr>
          </a:solidFill>
          <a:ln w="12700" cap="flat" cmpd="sng" algn="ctr">
            <a:solidFill>
              <a:schemeClr val="accent1"/>
            </a:solidFill>
            <a:prstDash val="solid"/>
            <a:miter lim="800000"/>
          </a:ln>
          <a:effectLst/>
        </p:spPr>
        <p:txBody>
          <a:bodyPr vertOverflow="overflow" horzOverflow="overflow" vert="horz" wrap="square" lIns="36000" rIns="36000" numCol="1" spcCol="0" rtlCol="0" fromWordArt="0" anchor="ctr" anchorCtr="0" forceAA="0" compatLnSpc="1">
            <a:noAutofit/>
          </a:bodyPr>
          <a:lstStyle/>
          <a:p>
            <a:pPr lvl="0" algn="ctr">
              <a:spcBef>
                <a:spcPts val="0"/>
              </a:spcBef>
              <a:spcAft>
                <a:spcPts val="0"/>
              </a:spcAft>
              <a:buClrTx/>
              <a:buSzTx/>
              <a:buFontTx/>
              <a:defRPr/>
            </a:pPr>
            <a:r>
              <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rPr>
              <a:t>提交中心评审</a:t>
            </a:r>
            <a:endParaRPr lang="zh-CN" altLang="en-US" sz="1200" noProof="0" dirty="0">
              <a:ln>
                <a:noFill/>
              </a:ln>
              <a:solidFill>
                <a:prstClr val="black"/>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47" name="Shape 24"/>
          <p:cNvSpPr/>
          <p:nvPr/>
        </p:nvSpPr>
        <p:spPr>
          <a:xfrm>
            <a:off x="2890839" y="2300451"/>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cxnSp>
        <p:nvCxnSpPr>
          <p:cNvPr id="53" name="直接箭头连接符 52"/>
          <p:cNvCxnSpPr>
            <a:stCxn id="45" idx="3"/>
            <a:endCxn id="68" idx="1"/>
          </p:cNvCxnSpPr>
          <p:nvPr/>
        </p:nvCxnSpPr>
        <p:spPr>
          <a:xfrm>
            <a:off x="3837624" y="2867189"/>
            <a:ext cx="1284922" cy="78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0" name="Shape 24"/>
          <p:cNvSpPr/>
          <p:nvPr/>
        </p:nvSpPr>
        <p:spPr>
          <a:xfrm>
            <a:off x="5124134" y="2338705"/>
            <a:ext cx="175260" cy="164465"/>
          </a:xfrm>
          <a:custGeom>
            <a:avLst/>
            <a:gdLst/>
            <a:ahLst/>
            <a:cxnLst/>
            <a:rect l="l" t="t" r="r" b="b"/>
            <a:pathLst>
              <a:path w="508000" h="508000">
                <a:moveTo>
                  <a:pt x="56444" y="127000"/>
                </a:moveTo>
                <a:cubicBezTo>
                  <a:pt x="56444" y="65668"/>
                  <a:pt x="100705" y="15875"/>
                  <a:pt x="155222" y="15875"/>
                </a:cubicBezTo>
                <a:cubicBezTo>
                  <a:pt x="209739" y="15875"/>
                  <a:pt x="254000" y="65668"/>
                  <a:pt x="254000" y="127000"/>
                </a:cubicBezTo>
                <a:cubicBezTo>
                  <a:pt x="254000" y="188332"/>
                  <a:pt x="209739" y="238125"/>
                  <a:pt x="155222" y="238125"/>
                </a:cubicBezTo>
                <a:cubicBezTo>
                  <a:pt x="100705" y="238125"/>
                  <a:pt x="56444" y="188332"/>
                  <a:pt x="56444" y="127000"/>
                </a:cubicBezTo>
                <a:close/>
                <a:moveTo>
                  <a:pt x="0" y="460375"/>
                </a:moveTo>
                <a:cubicBezTo>
                  <a:pt x="0" y="363934"/>
                  <a:pt x="69497" y="285750"/>
                  <a:pt x="155222" y="285750"/>
                </a:cubicBezTo>
                <a:cubicBezTo>
                  <a:pt x="240947" y="285750"/>
                  <a:pt x="310444" y="363934"/>
                  <a:pt x="310444" y="460375"/>
                </a:cubicBezTo>
                <a:lnTo>
                  <a:pt x="310444" y="466328"/>
                </a:lnTo>
                <a:cubicBezTo>
                  <a:pt x="310444" y="489347"/>
                  <a:pt x="293864" y="508000"/>
                  <a:pt x="273403" y="508000"/>
                </a:cubicBezTo>
                <a:lnTo>
                  <a:pt x="37042" y="508000"/>
                </a:lnTo>
                <a:cubicBezTo>
                  <a:pt x="16581" y="508000"/>
                  <a:pt x="0" y="489347"/>
                  <a:pt x="0" y="466328"/>
                </a:cubicBezTo>
                <a:lnTo>
                  <a:pt x="0" y="460375"/>
                </a:lnTo>
                <a:close/>
                <a:moveTo>
                  <a:pt x="381000" y="63500"/>
                </a:moveTo>
                <a:cubicBezTo>
                  <a:pt x="427729" y="63500"/>
                  <a:pt x="465667" y="106180"/>
                  <a:pt x="465667" y="158750"/>
                </a:cubicBezTo>
                <a:cubicBezTo>
                  <a:pt x="465667" y="211320"/>
                  <a:pt x="427729" y="254000"/>
                  <a:pt x="381000" y="254000"/>
                </a:cubicBezTo>
                <a:cubicBezTo>
                  <a:pt x="334271" y="254000"/>
                  <a:pt x="296333" y="211320"/>
                  <a:pt x="296333" y="158750"/>
                </a:cubicBezTo>
                <a:cubicBezTo>
                  <a:pt x="296333" y="106180"/>
                  <a:pt x="334271" y="63500"/>
                  <a:pt x="381000" y="63500"/>
                </a:cubicBezTo>
                <a:close/>
                <a:moveTo>
                  <a:pt x="381000" y="301625"/>
                </a:moveTo>
                <a:cubicBezTo>
                  <a:pt x="451115" y="301625"/>
                  <a:pt x="508000" y="365621"/>
                  <a:pt x="508000" y="444500"/>
                </a:cubicBezTo>
                <a:lnTo>
                  <a:pt x="508000" y="466725"/>
                </a:lnTo>
                <a:cubicBezTo>
                  <a:pt x="508000" y="489545"/>
                  <a:pt x="491596" y="508000"/>
                  <a:pt x="471311" y="508000"/>
                </a:cubicBezTo>
                <a:lnTo>
                  <a:pt x="343606" y="508000"/>
                </a:lnTo>
                <a:cubicBezTo>
                  <a:pt x="349426" y="495598"/>
                  <a:pt x="352778" y="481409"/>
                  <a:pt x="352778" y="466328"/>
                </a:cubicBezTo>
                <a:lnTo>
                  <a:pt x="352778" y="460375"/>
                </a:lnTo>
                <a:cubicBezTo>
                  <a:pt x="352778" y="409277"/>
                  <a:pt x="337432" y="362248"/>
                  <a:pt x="311767" y="324743"/>
                </a:cubicBezTo>
                <a:cubicBezTo>
                  <a:pt x="331699" y="310158"/>
                  <a:pt x="355512" y="301625"/>
                  <a:pt x="381000" y="301625"/>
                </a:cubicBezTo>
                <a:close/>
              </a:path>
            </a:pathLst>
          </a:custGeom>
          <a:solidFill>
            <a:schemeClr val="accent1"/>
          </a:solidFill>
        </p:spPr>
      </p:sp>
      <p:cxnSp>
        <p:nvCxnSpPr>
          <p:cNvPr id="61" name="肘形连接符 184"/>
          <p:cNvCxnSpPr>
            <a:stCxn id="33" idx="3"/>
            <a:endCxn id="30" idx="2"/>
          </p:cNvCxnSpPr>
          <p:nvPr/>
        </p:nvCxnSpPr>
        <p:spPr>
          <a:xfrm flipV="1">
            <a:off x="10160000" y="3058795"/>
            <a:ext cx="1016000" cy="1989773"/>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pic>
        <p:nvPicPr>
          <p:cNvPr id="3" name="图片 2" descr="306c53c637757190bb64ccebd5793d40"/>
          <p:cNvPicPr>
            <a:picLocks noChangeAspect="1"/>
          </p:cNvPicPr>
          <p:nvPr/>
        </p:nvPicPr>
        <p:blipFill>
          <a:blip r:embed="rId1"/>
          <a:stretch>
            <a:fillRect/>
          </a:stretch>
        </p:blipFill>
        <p:spPr>
          <a:xfrm>
            <a:off x="95250" y="5928995"/>
            <a:ext cx="405765" cy="421005"/>
          </a:xfrm>
          <a:prstGeom prst="rect">
            <a:avLst/>
          </a:prstGeom>
        </p:spPr>
      </p:pic>
      <p:pic>
        <p:nvPicPr>
          <p:cNvPr id="7" name="图片 6" descr="306c53c637757190bb64ccebd5793d40"/>
          <p:cNvPicPr>
            <a:picLocks noChangeAspect="1"/>
          </p:cNvPicPr>
          <p:nvPr/>
        </p:nvPicPr>
        <p:blipFill>
          <a:blip r:embed="rId1"/>
          <a:stretch>
            <a:fillRect/>
          </a:stretch>
        </p:blipFill>
        <p:spPr>
          <a:xfrm>
            <a:off x="1614805" y="4520565"/>
            <a:ext cx="405765" cy="421005"/>
          </a:xfrm>
          <a:prstGeom prst="rect">
            <a:avLst/>
          </a:prstGeom>
        </p:spPr>
      </p:pic>
      <p:pic>
        <p:nvPicPr>
          <p:cNvPr id="10" name="图片 9" descr="306c53c637757190bb64ccebd5793d40"/>
          <p:cNvPicPr>
            <a:picLocks noChangeAspect="1"/>
          </p:cNvPicPr>
          <p:nvPr/>
        </p:nvPicPr>
        <p:blipFill>
          <a:blip r:embed="rId1"/>
          <a:stretch>
            <a:fillRect/>
          </a:stretch>
        </p:blipFill>
        <p:spPr>
          <a:xfrm>
            <a:off x="1619885" y="4977765"/>
            <a:ext cx="405765" cy="421005"/>
          </a:xfrm>
          <a:prstGeom prst="rect">
            <a:avLst/>
          </a:prstGeom>
        </p:spPr>
      </p:pic>
      <p:pic>
        <p:nvPicPr>
          <p:cNvPr id="11" name="图片 10" descr="306c53c637757190bb64ccebd5793d40"/>
          <p:cNvPicPr>
            <a:picLocks noChangeAspect="1"/>
          </p:cNvPicPr>
          <p:nvPr/>
        </p:nvPicPr>
        <p:blipFill>
          <a:blip r:embed="rId1"/>
          <a:stretch>
            <a:fillRect/>
          </a:stretch>
        </p:blipFill>
        <p:spPr>
          <a:xfrm>
            <a:off x="1619885" y="5485765"/>
            <a:ext cx="405765" cy="421005"/>
          </a:xfrm>
          <a:prstGeom prst="rect">
            <a:avLst/>
          </a:prstGeom>
        </p:spPr>
      </p:pic>
      <p:pic>
        <p:nvPicPr>
          <p:cNvPr id="13" name="图片 12" descr="306c53c637757190bb64ccebd5793d40"/>
          <p:cNvPicPr>
            <a:picLocks noChangeAspect="1"/>
          </p:cNvPicPr>
          <p:nvPr/>
        </p:nvPicPr>
        <p:blipFill>
          <a:blip r:embed="rId1"/>
          <a:stretch>
            <a:fillRect/>
          </a:stretch>
        </p:blipFill>
        <p:spPr>
          <a:xfrm>
            <a:off x="7806690" y="4636135"/>
            <a:ext cx="405765" cy="421005"/>
          </a:xfrm>
          <a:prstGeom prst="rect">
            <a:avLst/>
          </a:prstGeom>
        </p:spPr>
      </p:pic>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custDataLst>
              <p:tags r:id="rId1"/>
            </p:custDataLst>
          </p:nvPr>
        </p:nvGraphicFramePr>
        <p:xfrm>
          <a:off x="444261" y="1387316"/>
          <a:ext cx="11303478" cy="3108960"/>
        </p:xfrm>
        <a:graphic>
          <a:graphicData uri="http://schemas.openxmlformats.org/drawingml/2006/table">
            <a:tbl>
              <a:tblPr firstRow="1" bandRow="1">
                <a:tableStyleId>{5940675A-B579-460E-94D1-54222C63F5DA}</a:tableStyleId>
              </a:tblPr>
              <a:tblGrid>
                <a:gridCol w="652145"/>
                <a:gridCol w="3386138"/>
                <a:gridCol w="5487099"/>
                <a:gridCol w="1049432"/>
                <a:gridCol w="728664"/>
              </a:tblGrid>
              <a:tr h="457200">
                <a:tc>
                  <a:txBody>
                    <a:bodyPr/>
                    <a:lstStyle/>
                    <a:p>
                      <a:pPr algn="ctr">
                        <a:buNone/>
                      </a:pPr>
                      <a:r>
                        <a:rPr lang="zh-CN" altLang="en-US" sz="1200" dirty="0">
                          <a:solidFill>
                            <a:schemeClr val="bg1"/>
                          </a:solidFill>
                          <a:latin typeface="微软雅黑" panose="020B0503020204020204" charset="-122"/>
                          <a:ea typeface="微软雅黑" panose="020B0503020204020204" charset="-122"/>
                        </a:rPr>
                        <a:t>序号</a:t>
                      </a:r>
                      <a:endParaRPr lang="zh-CN" altLang="en-US" sz="1200" dirty="0">
                        <a:solidFill>
                          <a:schemeClr val="bg1"/>
                        </a:solidFill>
                        <a:latin typeface="微软雅黑" panose="020B0503020204020204" charset="-122"/>
                        <a:ea typeface="微软雅黑" panose="020B0503020204020204" charset="-122"/>
                      </a:endParaRPr>
                    </a:p>
                  </a:txBody>
                  <a:tcPr anchor="ctr">
                    <a:solidFill>
                      <a:schemeClr val="accent1"/>
                    </a:solidFill>
                  </a:tcPr>
                </a:tc>
                <a:tc>
                  <a:txBody>
                    <a:bodyPr/>
                    <a:lstStyle/>
                    <a:p>
                      <a:pPr algn="ctr">
                        <a:buNone/>
                      </a:pPr>
                      <a:r>
                        <a:rPr lang="zh-CN" altLang="en-US" sz="1200" dirty="0">
                          <a:solidFill>
                            <a:schemeClr val="bg1"/>
                          </a:solidFill>
                          <a:latin typeface="微软雅黑" panose="020B0503020204020204" charset="-122"/>
                          <a:ea typeface="微软雅黑" panose="020B0503020204020204" charset="-122"/>
                        </a:rPr>
                        <a:t>规范名称</a:t>
                      </a:r>
                      <a:endParaRPr lang="zh-CN" altLang="en-US" sz="1200" dirty="0">
                        <a:solidFill>
                          <a:schemeClr val="bg1"/>
                        </a:solidFill>
                        <a:latin typeface="微软雅黑" panose="020B0503020204020204" charset="-122"/>
                        <a:ea typeface="微软雅黑" panose="020B0503020204020204" charset="-122"/>
                      </a:endParaRPr>
                    </a:p>
                  </a:txBody>
                  <a:tcPr anchor="ctr">
                    <a:solidFill>
                      <a:schemeClr val="accent1"/>
                    </a:solidFill>
                  </a:tcPr>
                </a:tc>
                <a:tc>
                  <a:txBody>
                    <a:bodyPr/>
                    <a:lstStyle/>
                    <a:p>
                      <a:pPr algn="ctr">
                        <a:buNone/>
                      </a:pPr>
                      <a:r>
                        <a:rPr lang="zh-CN" altLang="en-US" sz="1200" dirty="0">
                          <a:solidFill>
                            <a:schemeClr val="bg1"/>
                          </a:solidFill>
                          <a:latin typeface="微软雅黑" panose="020B0503020204020204" charset="-122"/>
                          <a:ea typeface="微软雅黑" panose="020B0503020204020204" charset="-122"/>
                        </a:rPr>
                        <a:t>内容说明</a:t>
                      </a:r>
                      <a:endParaRPr lang="zh-CN" altLang="en-US" sz="1200" dirty="0">
                        <a:solidFill>
                          <a:schemeClr val="bg1"/>
                        </a:solidFill>
                        <a:latin typeface="微软雅黑" panose="020B0503020204020204" charset="-122"/>
                        <a:ea typeface="微软雅黑" panose="020B0503020204020204" charset="-122"/>
                      </a:endParaRPr>
                    </a:p>
                  </a:txBody>
                  <a:tcPr anchor="ctr">
                    <a:solidFill>
                      <a:schemeClr val="accent1"/>
                    </a:solidFill>
                  </a:tcPr>
                </a:tc>
                <a:tc>
                  <a:txBody>
                    <a:bodyPr/>
                    <a:lstStyle/>
                    <a:p>
                      <a:pPr algn="ctr">
                        <a:buNone/>
                      </a:pPr>
                      <a:r>
                        <a:rPr lang="zh-CN" altLang="en-US" sz="1200" dirty="0">
                          <a:solidFill>
                            <a:schemeClr val="bg1"/>
                          </a:solidFill>
                          <a:latin typeface="微软雅黑" panose="020B0503020204020204" charset="-122"/>
                          <a:ea typeface="微软雅黑" panose="020B0503020204020204" charset="-122"/>
                        </a:rPr>
                        <a:t>计划完成时间</a:t>
                      </a:r>
                      <a:endParaRPr lang="zh-CN" altLang="en-US" sz="1200" dirty="0">
                        <a:solidFill>
                          <a:schemeClr val="bg1"/>
                        </a:solidFill>
                        <a:latin typeface="微软雅黑" panose="020B0503020204020204" charset="-122"/>
                        <a:ea typeface="微软雅黑" panose="020B0503020204020204" charset="-122"/>
                      </a:endParaRPr>
                    </a:p>
                  </a:txBody>
                  <a:tcPr anchor="ctr">
                    <a:solidFill>
                      <a:schemeClr val="accent1"/>
                    </a:solidFill>
                  </a:tcPr>
                </a:tc>
                <a:tc>
                  <a:txBody>
                    <a:bodyPr/>
                    <a:lstStyle/>
                    <a:p>
                      <a:pPr algn="ctr">
                        <a:buNone/>
                      </a:pPr>
                      <a:r>
                        <a:rPr lang="zh-CN" altLang="en-US" sz="1200" dirty="0">
                          <a:solidFill>
                            <a:schemeClr val="bg1"/>
                          </a:solidFill>
                          <a:latin typeface="微软雅黑" panose="020B0503020204020204" charset="-122"/>
                          <a:ea typeface="微软雅黑" panose="020B0503020204020204" charset="-122"/>
                        </a:rPr>
                        <a:t>备注</a:t>
                      </a:r>
                      <a:endParaRPr lang="zh-CN" altLang="en-US" sz="1200" dirty="0">
                        <a:solidFill>
                          <a:schemeClr val="bg1"/>
                        </a:solidFill>
                        <a:latin typeface="微软雅黑" panose="020B0503020204020204" charset="-122"/>
                        <a:ea typeface="微软雅黑" panose="020B0503020204020204" charset="-122"/>
                      </a:endParaRPr>
                    </a:p>
                  </a:txBody>
                  <a:tcPr anchor="ctr">
                    <a:solidFill>
                      <a:schemeClr val="accent1"/>
                    </a:solidFill>
                  </a:tcPr>
                </a:tc>
              </a:tr>
              <a:tr h="822960">
                <a:tc>
                  <a:txBody>
                    <a:bodyPr/>
                    <a:lstStyle/>
                    <a:p>
                      <a:pPr marL="0" indent="0" algn="ctr">
                        <a:buFont typeface="+mj-lt"/>
                        <a:buNone/>
                      </a:pPr>
                      <a:r>
                        <a:rPr lang="en-US" altLang="zh-CN" sz="1200" dirty="0">
                          <a:latin typeface="微软雅黑" panose="020B0503020204020204" charset="-122"/>
                          <a:ea typeface="微软雅黑" panose="020B0503020204020204" charset="-122"/>
                        </a:rPr>
                        <a:t>1.</a:t>
                      </a:r>
                      <a:endParaRPr lang="zh-CN" altLang="en-US" sz="1200" dirty="0">
                        <a:latin typeface="微软雅黑" panose="020B0503020204020204" charset="-122"/>
                        <a:ea typeface="微软雅黑" panose="020B0503020204020204" charset="-122"/>
                      </a:endParaRPr>
                    </a:p>
                  </a:txBody>
                  <a:tcPr anchor="ctr"/>
                </a:tc>
                <a:tc>
                  <a:txBody>
                    <a:bodyPr/>
                    <a:lstStyle/>
                    <a:p>
                      <a:pPr algn="l">
                        <a:buClrTx/>
                        <a:buSzTx/>
                        <a:buFontTx/>
                        <a:buNone/>
                      </a:pPr>
                      <a:r>
                        <a:rPr lang="en-US" altLang="zh-CN" sz="1200" dirty="0">
                          <a:latin typeface="微软雅黑" panose="020B0503020204020204" charset="-122"/>
                          <a:ea typeface="微软雅黑" panose="020B0503020204020204" charset="-122"/>
                          <a:cs typeface="微软雅黑" panose="020B0503020204020204" charset="-122"/>
                          <a:sym typeface="+mn-ea"/>
                        </a:rPr>
                        <a:t>《</a:t>
                      </a:r>
                      <a:r>
                        <a:rPr lang="zh-CN" altLang="en-US" sz="1200" dirty="0">
                          <a:latin typeface="微软雅黑" panose="020B0503020204020204" charset="-122"/>
                          <a:ea typeface="微软雅黑" panose="020B0503020204020204" charset="-122"/>
                          <a:cs typeface="微软雅黑" panose="020B0503020204020204" charset="-122"/>
                          <a:sym typeface="+mn-ea"/>
                        </a:rPr>
                        <a:t>中信银行知识工程平台应用接入规范</a:t>
                      </a:r>
                      <a:r>
                        <a:rPr lang="en-US" altLang="zh-CN" sz="1200" dirty="0">
                          <a:latin typeface="微软雅黑" panose="020B0503020204020204" charset="-122"/>
                          <a:ea typeface="微软雅黑" panose="020B0503020204020204" charset="-122"/>
                          <a:cs typeface="微软雅黑" panose="020B0503020204020204" charset="-122"/>
                          <a:sym typeface="+mn-ea"/>
                        </a:rPr>
                        <a:t>》</a:t>
                      </a:r>
                      <a:endParaRPr lang="en-US" altLang="zh-CN" sz="1200" dirty="0">
                        <a:latin typeface="微软雅黑" panose="020B0503020204020204" charset="-122"/>
                        <a:ea typeface="微软雅黑" panose="020B0503020204020204" charset="-122"/>
                        <a:cs typeface="微软雅黑" panose="020B0503020204020204" charset="-122"/>
                        <a:sym typeface="+mn-ea"/>
                      </a:endParaRPr>
                    </a:p>
                  </a:txBody>
                  <a:tcPr anchor="ctr"/>
                </a:tc>
                <a:tc>
                  <a:txBody>
                    <a:bodyPr/>
                    <a:lstStyle/>
                    <a:p>
                      <a:pPr>
                        <a:buNone/>
                      </a:pPr>
                      <a:r>
                        <a:rPr lang="zh-CN" altLang="en-US" sz="1200" dirty="0">
                          <a:latin typeface="微软雅黑" panose="020B0503020204020204" charset="-122"/>
                          <a:ea typeface="微软雅黑" panose="020B0503020204020204" charset="-122"/>
                          <a:cs typeface="微软雅黑" panose="020B0503020204020204" charset="-122"/>
                        </a:rPr>
                        <a:t>内容包括应用接入申请、知识库构建、导入解析、检索调用、知识更新迭代、接口规范等</a:t>
                      </a:r>
                      <a:endParaRPr lang="zh-CN" altLang="en-US" sz="1200" dirty="0">
                        <a:latin typeface="微软雅黑" panose="020B0503020204020204" charset="-122"/>
                        <a:ea typeface="微软雅黑" panose="020B0503020204020204" charset="-122"/>
                        <a:cs typeface="微软雅黑" panose="020B0503020204020204" charset="-122"/>
                      </a:endParaRPr>
                    </a:p>
                  </a:txBody>
                  <a:tcPr anchor="ctr"/>
                </a:tc>
                <a:tc>
                  <a:txBody>
                    <a:bodyPr/>
                    <a:lstStyle/>
                    <a:p>
                      <a:pPr>
                        <a:buNone/>
                      </a:pPr>
                      <a:r>
                        <a:rPr lang="en-US" altLang="zh-CN" sz="1200" dirty="0">
                          <a:latin typeface="微软雅黑" panose="020B0503020204020204" charset="-122"/>
                          <a:ea typeface="微软雅黑" panose="020B0503020204020204" charset="-122"/>
                        </a:rPr>
                        <a:t>2026</a:t>
                      </a:r>
                      <a:r>
                        <a:rPr lang="zh-CN" altLang="en-US" sz="1200" dirty="0">
                          <a:latin typeface="微软雅黑" panose="020B0503020204020204" charset="-122"/>
                          <a:ea typeface="微软雅黑" panose="020B0503020204020204" charset="-122"/>
                        </a:rPr>
                        <a:t>年</a:t>
                      </a:r>
                      <a:r>
                        <a:rPr lang="en-US" altLang="zh-CN" sz="1200" dirty="0">
                          <a:latin typeface="微软雅黑" panose="020B0503020204020204" charset="-122"/>
                          <a:ea typeface="微软雅黑" panose="020B0503020204020204" charset="-122"/>
                        </a:rPr>
                        <a:t>Q4</a:t>
                      </a:r>
                      <a:endParaRPr lang="zh-CN" altLang="en-US" sz="1200" dirty="0">
                        <a:latin typeface="微软雅黑" panose="020B0503020204020204" charset="-122"/>
                        <a:ea typeface="微软雅黑" panose="020B0503020204020204" charset="-122"/>
                      </a:endParaRPr>
                    </a:p>
                  </a:txBody>
                  <a:tcPr anchor="ctr"/>
                </a:tc>
                <a:tc>
                  <a:txBody>
                    <a:bodyPr/>
                    <a:lstStyle/>
                    <a:p>
                      <a:pPr>
                        <a:buNone/>
                      </a:pPr>
                      <a:r>
                        <a:rPr lang="zh-CN" altLang="en-US" sz="1200" dirty="0">
                          <a:latin typeface="微软雅黑" panose="020B0503020204020204" charset="-122"/>
                          <a:ea typeface="微软雅黑" panose="020B0503020204020204" charset="-122"/>
                        </a:rPr>
                        <a:t>新增</a:t>
                      </a:r>
                      <a:endParaRPr lang="zh-CN" altLang="en-US" sz="1200" dirty="0">
                        <a:latin typeface="微软雅黑" panose="020B0503020204020204" charset="-122"/>
                        <a:ea typeface="微软雅黑" panose="020B0503020204020204" charset="-122"/>
                      </a:endParaRPr>
                    </a:p>
                  </a:txBody>
                  <a:tcPr anchor="ctr"/>
                </a:tc>
              </a:tr>
              <a:tr h="457200">
                <a:tc>
                  <a:txBody>
                    <a:bodyPr/>
                    <a:lstStyle/>
                    <a:p>
                      <a:pPr marL="0" indent="0" algn="ctr">
                        <a:buFont typeface="+mj-lt"/>
                        <a:buNone/>
                      </a:pPr>
                      <a:r>
                        <a:rPr lang="en-US" altLang="zh-CN" sz="1200" dirty="0">
                          <a:latin typeface="微软雅黑" panose="020B0503020204020204" charset="-122"/>
                          <a:ea typeface="微软雅黑" panose="020B0503020204020204" charset="-122"/>
                        </a:rPr>
                        <a:t>2.</a:t>
                      </a:r>
                      <a:endParaRPr lang="zh-CN" altLang="en-US" sz="12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charset="-122"/>
                          <a:ea typeface="微软雅黑" panose="020B0503020204020204" charset="-122"/>
                          <a:cs typeface="微软雅黑" panose="020B0503020204020204" charset="-122"/>
                          <a:sym typeface="+mn-ea"/>
                        </a:rPr>
                        <a:t>《</a:t>
                      </a:r>
                      <a:r>
                        <a:rPr lang="zh-CN" altLang="en-US" sz="1200" dirty="0">
                          <a:latin typeface="微软雅黑" panose="020B0503020204020204" charset="-122"/>
                          <a:ea typeface="微软雅黑" panose="020B0503020204020204" charset="-122"/>
                          <a:cs typeface="微软雅黑" panose="020B0503020204020204" charset="-122"/>
                          <a:sym typeface="+mn-ea"/>
                        </a:rPr>
                        <a:t>中信银行知识工程平台元数据标准规范</a:t>
                      </a:r>
                      <a:r>
                        <a:rPr lang="en-US" altLang="zh-CN" sz="1200" dirty="0">
                          <a:latin typeface="微软雅黑" panose="020B0503020204020204" charset="-122"/>
                          <a:ea typeface="微软雅黑" panose="020B0503020204020204" charset="-122"/>
                          <a:cs typeface="微软雅黑" panose="020B0503020204020204" charset="-122"/>
                          <a:sym typeface="+mn-ea"/>
                        </a:rPr>
                        <a:t>》</a:t>
                      </a:r>
                      <a:endParaRPr lang="en-US" altLang="zh-CN" sz="1200" dirty="0">
                        <a:latin typeface="微软雅黑" panose="020B0503020204020204" charset="-122"/>
                        <a:ea typeface="微软雅黑" panose="020B0503020204020204" charset="-122"/>
                        <a:cs typeface="微软雅黑" panose="020B0503020204020204" charset="-122"/>
                        <a:sym typeface="+mn-ea"/>
                      </a:endParaRPr>
                    </a:p>
                  </a:txBody>
                  <a:tcPr anchor="ctr"/>
                </a:tc>
                <a:tc>
                  <a:txBody>
                    <a:bodyPr/>
                    <a:lstStyle/>
                    <a:p>
                      <a:pPr>
                        <a:buNone/>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包括业务元数据、管理元数据和技术元数据标准及职责分工等。</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charset="-122"/>
                          <a:ea typeface="微软雅黑" panose="020B0503020204020204" charset="-122"/>
                        </a:rPr>
                        <a:t>2026</a:t>
                      </a:r>
                      <a:r>
                        <a:rPr lang="zh-CN" altLang="en-US" sz="1200" dirty="0">
                          <a:latin typeface="微软雅黑" panose="020B0503020204020204" charset="-122"/>
                          <a:ea typeface="微软雅黑" panose="020B0503020204020204" charset="-122"/>
                        </a:rPr>
                        <a:t>年</a:t>
                      </a:r>
                      <a:r>
                        <a:rPr lang="en-US" altLang="zh-CN" sz="1200" dirty="0">
                          <a:latin typeface="微软雅黑" panose="020B0503020204020204" charset="-122"/>
                          <a:ea typeface="微软雅黑" panose="020B0503020204020204" charset="-122"/>
                        </a:rPr>
                        <a:t>Q4</a:t>
                      </a:r>
                      <a:endParaRPr lang="zh-CN" altLang="en-US" sz="1200" dirty="0">
                        <a:latin typeface="微软雅黑" panose="020B0503020204020204" charset="-122"/>
                        <a:ea typeface="微软雅黑" panose="020B0503020204020204" charset="-122"/>
                      </a:endParaRPr>
                    </a:p>
                  </a:txBody>
                  <a:tcPr anchor="ctr"/>
                </a:tc>
                <a:tc>
                  <a:txBody>
                    <a:bodyPr/>
                    <a:lstStyle/>
                    <a:p>
                      <a:pPr>
                        <a:buNone/>
                      </a:pPr>
                      <a:r>
                        <a:rPr lang="zh-CN" altLang="en-US" sz="1200" dirty="0">
                          <a:latin typeface="微软雅黑" panose="020B0503020204020204" charset="-122"/>
                          <a:ea typeface="微软雅黑" panose="020B0503020204020204" charset="-122"/>
                        </a:rPr>
                        <a:t>新增</a:t>
                      </a:r>
                      <a:endParaRPr lang="zh-CN" altLang="en-US" sz="1200" dirty="0">
                        <a:latin typeface="微软雅黑" panose="020B0503020204020204" charset="-122"/>
                        <a:ea typeface="微软雅黑" panose="020B0503020204020204" charset="-122"/>
                      </a:endParaRPr>
                    </a:p>
                  </a:txBody>
                  <a:tcPr anchor="ctr"/>
                </a:tc>
              </a:tr>
              <a:tr h="457200">
                <a:tc>
                  <a:txBody>
                    <a:bodyPr/>
                    <a:lstStyle/>
                    <a:p>
                      <a:pPr marL="0" indent="0" algn="ctr">
                        <a:buFont typeface="+mj-lt"/>
                        <a:buNone/>
                      </a:pPr>
                      <a:r>
                        <a:rPr lang="en-US" altLang="zh-CN" sz="1200" dirty="0">
                          <a:latin typeface="微软雅黑" panose="020B0503020204020204" charset="-122"/>
                          <a:ea typeface="微软雅黑" panose="020B0503020204020204" charset="-122"/>
                        </a:rPr>
                        <a:t>3.</a:t>
                      </a:r>
                      <a:endParaRPr lang="zh-CN" altLang="en-US" sz="1200" dirty="0">
                        <a:latin typeface="微软雅黑" panose="020B0503020204020204" charset="-122"/>
                        <a:ea typeface="微软雅黑" panose="020B0503020204020204" charset="-122"/>
                      </a:endParaRPr>
                    </a:p>
                  </a:txBody>
                  <a:tcPr anchor="ctr"/>
                </a:tc>
                <a:tc>
                  <a:txBody>
                    <a:bodyPr/>
                    <a:lstStyle/>
                    <a:p>
                      <a:pPr algn="l">
                        <a:buClrTx/>
                        <a:buSzTx/>
                        <a:buFontTx/>
                        <a:buNone/>
                      </a:pPr>
                      <a:r>
                        <a:rPr lang="en-US" altLang="zh-CN" sz="1200" dirty="0">
                          <a:latin typeface="微软雅黑" panose="020B0503020204020204" charset="-122"/>
                          <a:ea typeface="微软雅黑" panose="020B0503020204020204" charset="-122"/>
                          <a:cs typeface="微软雅黑" panose="020B0503020204020204" charset="-122"/>
                          <a:sym typeface="+mn-ea"/>
                        </a:rPr>
                        <a:t>《</a:t>
                      </a:r>
                      <a:r>
                        <a:rPr lang="zh-CN" altLang="en-US" sz="1200" dirty="0">
                          <a:latin typeface="微软雅黑" panose="020B0503020204020204" charset="-122"/>
                          <a:ea typeface="微软雅黑" panose="020B0503020204020204" charset="-122"/>
                          <a:cs typeface="微软雅黑" panose="020B0503020204020204" charset="-122"/>
                          <a:sym typeface="+mn-ea"/>
                        </a:rPr>
                        <a:t>中信银行</a:t>
                      </a:r>
                      <a:r>
                        <a:rPr lang="zh-CN" altLang="en-US" sz="1200" b="0" u="none" strike="noStrike" dirty="0">
                          <a:effectLst/>
                          <a:latin typeface="微软雅黑" panose="020B0503020204020204" charset="-122"/>
                          <a:ea typeface="微软雅黑" panose="020B0503020204020204" charset="-122"/>
                        </a:rPr>
                        <a:t>知识工程平台知识图谱开发规范</a:t>
                      </a:r>
                      <a:r>
                        <a:rPr lang="en-US" altLang="zh-CN" sz="1200" b="0" u="none" strike="noStrike" dirty="0">
                          <a:effectLst/>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cs typeface="微软雅黑" panose="020B0503020204020204" charset="-122"/>
                        <a:sym typeface="+mn-ea"/>
                      </a:endParaRPr>
                    </a:p>
                  </a:txBody>
                  <a:tcPr anchor="ctr"/>
                </a:tc>
                <a:tc>
                  <a:txBody>
                    <a:bodyPr/>
                    <a:lstStyle/>
                    <a:p>
                      <a:pPr>
                        <a:buNone/>
                      </a:pPr>
                      <a:r>
                        <a:rPr lang="zh-CN" altLang="en-US" sz="1200" dirty="0">
                          <a:latin typeface="微软雅黑" panose="020B0503020204020204" charset="-122"/>
                          <a:ea typeface="微软雅黑" panose="020B0503020204020204" charset="-122"/>
                        </a:rPr>
                        <a:t>包括图谱构建、数据处理、图谱分析、知识挖掘、图知识库、平台操作、上线管理等。</a:t>
                      </a:r>
                      <a:endParaRPr lang="zh-CN" altLang="en-US" sz="1200" dirty="0">
                        <a:latin typeface="微软雅黑" panose="020B0503020204020204" charset="-122"/>
                        <a:ea typeface="微软雅黑" panose="020B0503020204020204" charset="-122"/>
                      </a:endParaRPr>
                    </a:p>
                  </a:txBody>
                  <a:tcPr anchor="ctr"/>
                </a:tc>
                <a:tc>
                  <a:txBody>
                    <a:bodyPr/>
                    <a:lstStyle/>
                    <a:p>
                      <a:pPr>
                        <a:buNone/>
                      </a:pPr>
                      <a:r>
                        <a:rPr lang="en-US" altLang="zh-CN" sz="1200" dirty="0">
                          <a:latin typeface="微软雅黑" panose="020B0503020204020204" charset="-122"/>
                          <a:ea typeface="微软雅黑" panose="020B0503020204020204" charset="-122"/>
                        </a:rPr>
                        <a:t>2027</a:t>
                      </a:r>
                      <a:r>
                        <a:rPr lang="zh-CN" altLang="en-US" sz="1200" dirty="0">
                          <a:latin typeface="微软雅黑" panose="020B0503020204020204" charset="-122"/>
                          <a:ea typeface="微软雅黑" panose="020B0503020204020204" charset="-122"/>
                        </a:rPr>
                        <a:t>年</a:t>
                      </a:r>
                      <a:r>
                        <a:rPr lang="en-US" altLang="zh-CN" sz="1200" dirty="0">
                          <a:latin typeface="微软雅黑" panose="020B0503020204020204" charset="-122"/>
                          <a:ea typeface="微软雅黑" panose="020B0503020204020204" charset="-122"/>
                        </a:rPr>
                        <a:t>Q1</a:t>
                      </a:r>
                      <a:endParaRPr lang="zh-CN" altLang="en-US" sz="1200" dirty="0">
                        <a:latin typeface="微软雅黑" panose="020B0503020204020204" charset="-122"/>
                        <a:ea typeface="微软雅黑" panose="020B0503020204020204" charset="-122"/>
                      </a:endParaRPr>
                    </a:p>
                  </a:txBody>
                  <a:tcPr anchor="ctr"/>
                </a:tc>
                <a:tc>
                  <a:txBody>
                    <a:bodyPr/>
                    <a:lstStyle/>
                    <a:p>
                      <a:pPr>
                        <a:buNone/>
                      </a:pPr>
                      <a:r>
                        <a:rPr lang="zh-CN" altLang="en-US" sz="1200" dirty="0">
                          <a:latin typeface="微软雅黑" panose="020B0503020204020204" charset="-122"/>
                          <a:ea typeface="微软雅黑" panose="020B0503020204020204" charset="-122"/>
                        </a:rPr>
                        <a:t>新增</a:t>
                      </a:r>
                      <a:endParaRPr lang="zh-CN" altLang="en-US" sz="1200" dirty="0">
                        <a:latin typeface="微软雅黑" panose="020B0503020204020204" charset="-122"/>
                        <a:ea typeface="微软雅黑" panose="020B0503020204020204" charset="-122"/>
                      </a:endParaRPr>
                    </a:p>
                  </a:txBody>
                  <a:tcPr anchor="ctr"/>
                </a:tc>
              </a:tr>
              <a:tr h="457200">
                <a:tc>
                  <a:txBody>
                    <a:bodyPr/>
                    <a:lstStyle/>
                    <a:p>
                      <a:pPr marL="0" indent="0" algn="ctr">
                        <a:buFont typeface="+mj-lt"/>
                        <a:buNone/>
                      </a:pPr>
                      <a:r>
                        <a:rPr lang="en-US" altLang="zh-CN" sz="1200" dirty="0">
                          <a:latin typeface="微软雅黑" panose="020B0503020204020204" charset="-122"/>
                          <a:ea typeface="微软雅黑" panose="020B0503020204020204" charset="-122"/>
                        </a:rPr>
                        <a:t>4.</a:t>
                      </a:r>
                      <a:endParaRPr lang="zh-CN" altLang="en-US" sz="12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charset="-122"/>
                          <a:ea typeface="微软雅黑" panose="020B0503020204020204" charset="-122"/>
                          <a:cs typeface="微软雅黑" panose="020B0503020204020204" charset="-122"/>
                          <a:sym typeface="+mn-ea"/>
                        </a:rPr>
                        <a:t>《</a:t>
                      </a:r>
                      <a:r>
                        <a:rPr lang="zh-CN" altLang="en-US" sz="1200" dirty="0">
                          <a:latin typeface="微软雅黑" panose="020B0503020204020204" charset="-122"/>
                          <a:ea typeface="微软雅黑" panose="020B0503020204020204" charset="-122"/>
                          <a:cs typeface="微软雅黑" panose="020B0503020204020204" charset="-122"/>
                          <a:sym typeface="+mn-ea"/>
                        </a:rPr>
                        <a:t>中信银行</a:t>
                      </a:r>
                      <a:r>
                        <a:rPr lang="zh-CN" altLang="en-US" sz="1200" b="0" u="none" strike="noStrike" dirty="0">
                          <a:effectLst/>
                          <a:latin typeface="微软雅黑" panose="020B0503020204020204" charset="-122"/>
                          <a:ea typeface="微软雅黑" panose="020B0503020204020204" charset="-122"/>
                        </a:rPr>
                        <a:t>知识工程平台运营管理规范</a:t>
                      </a:r>
                      <a:r>
                        <a:rPr lang="en-US" altLang="zh-CN" sz="1200" b="0" u="none" strike="noStrike" dirty="0">
                          <a:effectLst/>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cs typeface="微软雅黑" panose="020B0503020204020204" charset="-122"/>
                        <a:sym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包括</a:t>
                      </a:r>
                      <a:r>
                        <a:rPr lang="zh-CN" altLang="en-US" sz="1200" kern="1200" noProof="0" dirty="0">
                          <a:solidFill>
                            <a:schemeClr val="tx1"/>
                          </a:solidFill>
                          <a:latin typeface="微软雅黑" panose="020B0503020204020204" charset="-122"/>
                          <a:ea typeface="微软雅黑" panose="020B0503020204020204" charset="-122"/>
                          <a:cs typeface="+mn-cs"/>
                        </a:rPr>
                        <a:t>知识运营监控、知识问题管理、知识迭代更新、知识运营策略管理等。</a:t>
                      </a:r>
                      <a:endParaRPr lang="zh-CN" altLang="en-US" sz="1200" kern="1200" noProof="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charset="-122"/>
                          <a:ea typeface="微软雅黑" panose="020B0503020204020204" charset="-122"/>
                        </a:rPr>
                        <a:t>2027</a:t>
                      </a:r>
                      <a:r>
                        <a:rPr lang="zh-CN" altLang="en-US" sz="1200" dirty="0">
                          <a:latin typeface="微软雅黑" panose="020B0503020204020204" charset="-122"/>
                          <a:ea typeface="微软雅黑" panose="020B0503020204020204" charset="-122"/>
                        </a:rPr>
                        <a:t>年</a:t>
                      </a:r>
                      <a:r>
                        <a:rPr lang="en-US" altLang="zh-CN" sz="1200" dirty="0">
                          <a:latin typeface="微软雅黑" panose="020B0503020204020204" charset="-122"/>
                          <a:ea typeface="微软雅黑" panose="020B0503020204020204" charset="-122"/>
                        </a:rPr>
                        <a:t>Q1</a:t>
                      </a:r>
                      <a:endParaRPr lang="zh-CN" altLang="en-US" sz="1200" dirty="0">
                        <a:latin typeface="微软雅黑" panose="020B0503020204020204" charset="-122"/>
                        <a:ea typeface="微软雅黑" panose="020B0503020204020204" charset="-122"/>
                      </a:endParaRPr>
                    </a:p>
                  </a:txBody>
                  <a:tcPr anchor="ctr"/>
                </a:tc>
                <a:tc>
                  <a:txBody>
                    <a:bodyPr/>
                    <a:lstStyle/>
                    <a:p>
                      <a:pPr>
                        <a:buNone/>
                      </a:pPr>
                      <a:r>
                        <a:rPr lang="zh-CN" altLang="en-US" sz="1200" dirty="0">
                          <a:latin typeface="微软雅黑" panose="020B0503020204020204" charset="-122"/>
                          <a:ea typeface="微软雅黑" panose="020B0503020204020204" charset="-122"/>
                        </a:rPr>
                        <a:t>新增</a:t>
                      </a:r>
                      <a:endParaRPr lang="zh-CN" altLang="en-US" sz="1200" dirty="0">
                        <a:latin typeface="微软雅黑" panose="020B0503020204020204" charset="-122"/>
                        <a:ea typeface="微软雅黑" panose="020B0503020204020204" charset="-122"/>
                      </a:endParaRPr>
                    </a:p>
                  </a:txBody>
                  <a:tcPr anchor="ctr"/>
                </a:tc>
              </a:tr>
              <a:tr h="457200">
                <a:tc>
                  <a:txBody>
                    <a:bodyPr/>
                    <a:lstStyle/>
                    <a:p>
                      <a:pPr marL="0" indent="0" algn="ctr">
                        <a:buFont typeface="+mj-lt"/>
                        <a:buNone/>
                      </a:pPr>
                      <a:r>
                        <a:rPr lang="en-US" altLang="zh-CN" sz="1200" dirty="0">
                          <a:latin typeface="微软雅黑" panose="020B0503020204020204" charset="-122"/>
                          <a:ea typeface="微软雅黑" panose="020B0503020204020204" charset="-122"/>
                        </a:rPr>
                        <a:t>5.</a:t>
                      </a:r>
                      <a:endParaRPr lang="zh-CN" altLang="en-US" sz="1200" dirty="0">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charset="-122"/>
                          <a:ea typeface="微软雅黑" panose="020B0503020204020204" charset="-122"/>
                          <a:cs typeface="微软雅黑" panose="020B0503020204020204" charset="-122"/>
                          <a:sym typeface="+mn-ea"/>
                        </a:rPr>
                        <a:t>《</a:t>
                      </a:r>
                      <a:r>
                        <a:rPr lang="zh-CN" altLang="en-US" sz="1200" dirty="0">
                          <a:latin typeface="微软雅黑" panose="020B0503020204020204" charset="-122"/>
                          <a:ea typeface="微软雅黑" panose="020B0503020204020204" charset="-122"/>
                          <a:cs typeface="微软雅黑" panose="020B0503020204020204" charset="-122"/>
                          <a:sym typeface="+mn-ea"/>
                        </a:rPr>
                        <a:t>中信银行知识工程</a:t>
                      </a:r>
                      <a:r>
                        <a:rPr lang="zh-CN" altLang="en-US" sz="1200" b="0" u="none" strike="noStrike" dirty="0">
                          <a:effectLst/>
                          <a:latin typeface="微软雅黑" panose="020B0503020204020204" charset="-122"/>
                          <a:ea typeface="微软雅黑" panose="020B0503020204020204" charset="-122"/>
                        </a:rPr>
                        <a:t>本体建模及应用规范</a:t>
                      </a:r>
                      <a:r>
                        <a:rPr lang="en-US" altLang="zh-CN" sz="1200" b="0" u="none" strike="noStrike" dirty="0">
                          <a:effectLst/>
                          <a:latin typeface="微软雅黑" panose="020B0503020204020204" charset="-122"/>
                          <a:ea typeface="微软雅黑" panose="020B0503020204020204" charset="-122"/>
                        </a:rPr>
                        <a:t>》</a:t>
                      </a:r>
                      <a:endParaRPr lang="en-US" altLang="zh-CN" sz="1200" dirty="0">
                        <a:latin typeface="微软雅黑" panose="020B0503020204020204" charset="-122"/>
                        <a:ea typeface="微软雅黑" panose="020B0503020204020204" charset="-122"/>
                        <a:cs typeface="微软雅黑" panose="020B0503020204020204" charset="-122"/>
                        <a:sym typeface="+mn-ea"/>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包括本体建模方法、建模工具使用规范、结构化数据及系统对接规范</a:t>
                      </a:r>
                      <a:r>
                        <a:rPr lang="zh-CN" altLang="en-US" sz="1200" kern="1200" noProof="0" dirty="0">
                          <a:solidFill>
                            <a:schemeClr val="tx1"/>
                          </a:solidFill>
                          <a:latin typeface="微软雅黑" panose="020B0503020204020204" charset="-122"/>
                          <a:ea typeface="微软雅黑" panose="020B0503020204020204" charset="-122"/>
                          <a:cs typeface="+mn-cs"/>
                        </a:rPr>
                        <a:t>等。</a:t>
                      </a:r>
                      <a:endParaRPr lang="zh-CN" altLang="en-US" sz="1200" kern="1200" noProof="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charset="-122"/>
                          <a:ea typeface="微软雅黑" panose="020B0503020204020204" charset="-122"/>
                        </a:rPr>
                        <a:t>2027</a:t>
                      </a:r>
                      <a:r>
                        <a:rPr lang="zh-CN" altLang="en-US" sz="1200" dirty="0">
                          <a:latin typeface="微软雅黑" panose="020B0503020204020204" charset="-122"/>
                          <a:ea typeface="微软雅黑" panose="020B0503020204020204" charset="-122"/>
                        </a:rPr>
                        <a:t>年</a:t>
                      </a:r>
                      <a:r>
                        <a:rPr lang="en-US" altLang="zh-CN" sz="1200" dirty="0">
                          <a:latin typeface="微软雅黑" panose="020B0503020204020204" charset="-122"/>
                          <a:ea typeface="微软雅黑" panose="020B0503020204020204" charset="-122"/>
                        </a:rPr>
                        <a:t>Q2</a:t>
                      </a:r>
                      <a:endParaRPr lang="zh-CN" altLang="en-US" sz="1200" dirty="0">
                        <a:latin typeface="微软雅黑" panose="020B0503020204020204" charset="-122"/>
                        <a:ea typeface="微软雅黑" panose="020B0503020204020204" charset="-122"/>
                      </a:endParaRPr>
                    </a:p>
                  </a:txBody>
                  <a:tcPr anchor="ctr"/>
                </a:tc>
                <a:tc>
                  <a:txBody>
                    <a:bodyPr/>
                    <a:lstStyle/>
                    <a:p>
                      <a:pPr>
                        <a:buNone/>
                      </a:pPr>
                      <a:r>
                        <a:rPr lang="zh-CN" altLang="en-US" sz="1200" dirty="0">
                          <a:latin typeface="微软雅黑" panose="020B0503020204020204" charset="-122"/>
                          <a:ea typeface="微软雅黑" panose="020B0503020204020204" charset="-122"/>
                        </a:rPr>
                        <a:t>新增</a:t>
                      </a:r>
                      <a:endParaRPr lang="zh-CN" altLang="en-US" sz="1200" dirty="0">
                        <a:latin typeface="微软雅黑" panose="020B0503020204020204" charset="-122"/>
                        <a:ea typeface="微软雅黑" panose="020B0503020204020204" charset="-122"/>
                      </a:endParaRPr>
                    </a:p>
                  </a:txBody>
                  <a:tcPr anchor="ctr"/>
                </a:tc>
              </a:tr>
            </a:tbl>
          </a:graphicData>
        </a:graphic>
      </p:graphicFrame>
      <p:sp>
        <p:nvSpPr>
          <p:cNvPr id="6" name="标题 1"/>
          <p:cNvSpPr/>
          <p:nvPr/>
        </p:nvSpPr>
        <p:spPr>
          <a:xfrm>
            <a:off x="344209" y="131869"/>
            <a:ext cx="10515600" cy="412536"/>
          </a:xfrm>
          <a:prstGeom prst="rect">
            <a:avLst/>
          </a:prstGeom>
        </p:spPr>
        <p:txBody>
          <a:bodyPr vert="horz" lIns="91440" tIns="45720" rIns="91440" bIns="45720" rtlCol="0" anchor="ctr">
            <a:normAutofit fontScale="90000"/>
          </a:bodyPr>
          <a:lstStyle/>
          <a:p>
            <a:pPr lvl="0" algn="l">
              <a:lnSpc>
                <a:spcPct val="90000"/>
              </a:lnSpc>
              <a:buClrTx/>
              <a:buSzTx/>
              <a:buFontTx/>
            </a:pPr>
            <a:r>
              <a:rPr lang="zh-CN" altLang="en-US" sz="2400" dirty="0">
                <a:latin typeface="楷体" panose="02010609060101010101" pitchFamily="49" charset="-122"/>
                <a:ea typeface="楷体" panose="02010609060101010101" pitchFamily="49" charset="-122"/>
                <a:cs typeface="楷体" panose="02010609060101010101" pitchFamily="49" charset="-122"/>
                <a:sym typeface="+mn-ea"/>
              </a:rPr>
              <a:t>知识运营相关规范</a:t>
            </a:r>
            <a:endParaRPr lang="zh-CN" altLang="en-US" sz="2400" dirty="0">
              <a:latin typeface="楷体" panose="02010609060101010101" pitchFamily="49" charset="-122"/>
              <a:ea typeface="楷体" panose="02010609060101010101" pitchFamily="49" charset="-122"/>
              <a:cs typeface="楷体" panose="02010609060101010101" pitchFamily="49" charset="-122"/>
              <a:sym typeface="+mn-ea"/>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156075" y="1184635"/>
            <a:ext cx="8035925" cy="2883535"/>
          </a:xfrm>
          <a:prstGeom prst="rect">
            <a:avLst/>
          </a:prstGeom>
          <a:noFill/>
        </p:spPr>
        <p:txBody>
          <a:bodyPr wrap="square" rtlCol="0" anchor="t">
            <a:spAutoFit/>
          </a:bodyPr>
          <a:lstStyle/>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rPr>
              <a:t>知识工程发展趋势</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Comic Sans Pro" panose="02010600010101010101" charset="-122"/>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知识工程平台总体规划方案</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知识工程平台运营机制</a:t>
            </a:r>
            <a:endParaRPr kumimoji="0" lang="zh-CN" altLang="en-US" sz="2200" b="1" i="0" u="none" strike="noStrike" kern="1200" cap="none" spc="0" normalizeH="0" baseline="0" noProof="0" dirty="0">
              <a:ln>
                <a:noFill/>
              </a:ln>
              <a:solidFill>
                <a:srgbClr val="0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571500" marR="0" lvl="0" indent="-360045" algn="l" defTabSz="914400" rtl="0" eaLnBrk="1" fontAlgn="auto" latinLnBrk="0" hangingPunct="1">
              <a:lnSpc>
                <a:spcPct val="165000"/>
              </a:lnSpc>
              <a:spcBef>
                <a:spcPts val="0"/>
              </a:spcBef>
              <a:spcAft>
                <a:spcPts val="0"/>
              </a:spcAft>
              <a:buClrTx/>
              <a:buSzTx/>
              <a:buFont typeface="+mj-ea"/>
              <a:buAutoNum type="ea1JpnChsDbPeriod"/>
              <a:defRPr/>
            </a:pPr>
            <a:r>
              <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rPr>
              <a:t>实施路径规划</a:t>
            </a:r>
            <a:endParaRPr kumimoji="0" lang="zh-CN" altLang="en-US" sz="2200" b="1" i="0" u="none" strike="noStrike" kern="1200" cap="none" spc="0" normalizeH="0" baseline="0" noProof="0" dirty="0">
              <a:ln>
                <a:noFill/>
              </a:ln>
              <a:solidFill>
                <a:srgbClr val="C00000">
                  <a:alpha val="100000"/>
                </a:srgbClr>
              </a:solidFill>
              <a:effectLst/>
              <a:uLnTx/>
              <a:uFillTx/>
              <a:latin typeface="Kaiti SC Bold" panose="02010600040101010101" charset="-122"/>
              <a:ea typeface="Kaiti SC Bold" panose="02010600040101010101" charset="-122"/>
              <a:cs typeface="Kaiti SC Bold" panose="02010600040101010101" charset="-122"/>
              <a:sym typeface="+mn-ea"/>
            </a:endParaRPr>
          </a:p>
          <a:p>
            <a:pPr marL="211455" marR="0" lvl="0" indent="0" algn="l" defTabSz="914400" rtl="0" eaLnBrk="1" fontAlgn="auto" latinLnBrk="0" hangingPunct="1">
              <a:lnSpc>
                <a:spcPct val="165000"/>
              </a:lnSpc>
              <a:spcBef>
                <a:spcPts val="0"/>
              </a:spcBef>
              <a:spcAft>
                <a:spcPts val="0"/>
              </a:spcAft>
              <a:buClrTx/>
              <a:buSzTx/>
              <a:buFont typeface="+mj-ea"/>
              <a:buNone/>
              <a:defRPr/>
            </a:pPr>
            <a:endParaRPr kumimoji="0" lang="zh-CN" altLang="en-US" sz="2200" b="1" i="0" u="none" strike="noStrike" kern="1200" cap="none" spc="0" normalizeH="0" baseline="0" noProof="0" dirty="0">
              <a:ln>
                <a:noFill/>
              </a:ln>
              <a:solidFill>
                <a:srgbClr val="000000"/>
              </a:solidFill>
              <a:effectLst/>
              <a:uLnTx/>
              <a:uFillTx/>
              <a:latin typeface="Kaiti SC Bold" panose="02010600040101010101" charset="-122"/>
              <a:ea typeface="Kaiti SC Bold" panose="02010600040101010101" charset="-122"/>
              <a:cs typeface="Kaiti SC Bold" panose="02010600040101010101" charset="-122"/>
              <a:sym typeface="+mn-ea"/>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solidFill>
                  <a:srgbClr val="000000">
                    <a:alpha val="100000"/>
                  </a:srgbClr>
                </a:solidFill>
                <a:latin typeface="Kaiti SC Bold" panose="02010600040101010101" charset="-122"/>
                <a:ea typeface="Kaiti SC Bold" panose="02010600040101010101" charset="-122"/>
                <a:cs typeface="Kaiti SC Bold" panose="02010600040101010101" charset="-122"/>
                <a:sym typeface="+mn-ea"/>
              </a:rPr>
              <a:t>总体实施路径规划</a:t>
            </a:r>
            <a:endParaRPr lang="zh-CN" altLang="en-US"/>
          </a:p>
        </p:txBody>
      </p:sp>
      <p:sp>
        <p:nvSpPr>
          <p:cNvPr id="27" name="矩形 40"/>
          <p:cNvSpPr/>
          <p:nvPr>
            <p:custDataLst>
              <p:tags r:id="rId1"/>
            </p:custDataLst>
          </p:nvPr>
        </p:nvSpPr>
        <p:spPr>
          <a:xfrm>
            <a:off x="511175" y="2459990"/>
            <a:ext cx="3429635" cy="2794635"/>
          </a:xfrm>
          <a:prstGeom prst="rect">
            <a:avLst/>
          </a:prstGeom>
        </p:spPr>
        <p:txBody>
          <a:bodyPr wrap="square" tIns="0" bIns="0">
            <a:noAutofit/>
          </a:bodyPr>
          <a:lstStyle/>
          <a:p>
            <a:pPr marR="0" lvl="0" indent="0" algn="just" defTabSz="914400" rtl="0" fontAlgn="auto">
              <a:lnSpc>
                <a:spcPct val="150000"/>
              </a:lnSpc>
              <a:spcBef>
                <a:spcPts val="0"/>
              </a:spcBef>
              <a:spcAft>
                <a:spcPts val="300"/>
              </a:spcAft>
              <a:buClrTx/>
              <a:buSzTx/>
              <a:buFont typeface="Wingdings" panose="05000000000000000000" pitchFamily="2" charset="2"/>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建设内容及成效：</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完成</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知识工程体系规划和方案设计</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，建立知识</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元数据标准</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，完善</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知识目录和权限管理</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，解决企业智能助手对</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30</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多个知识问答场景的整合和知识库分散建设问题</a:t>
            </a:r>
            <a:endPar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引入</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图谱构建工具</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，形成图</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向量混合检索能力，解决</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授信智能问答、零售智能客服、</a:t>
            </a:r>
            <a:r>
              <a:rPr lang="en-US" altLang="zh-CN"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 AICoding</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等场景知识检索准确度不足问题</a:t>
            </a:r>
            <a:endPar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组建专业</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 </a:t>
            </a:r>
            <a:r>
              <a:rPr lang="en-US" altLang="zh-CN"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IT </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知识运营团队</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，打造</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科技主导知识运营模式</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，形成知识全生命周期闭环管理、</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持续迭代和保鲜机制</a:t>
            </a:r>
            <a:endParaRPr kumimoji="0" lang="zh-CN" altLang="en-US" sz="12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R="0" lvl="0" indent="0" algn="just" defTabSz="914400" rtl="0" fontAlgn="auto">
              <a:lnSpc>
                <a:spcPct val="150000"/>
              </a:lnSpc>
              <a:spcBef>
                <a:spcPts val="0"/>
              </a:spcBef>
              <a:spcAft>
                <a:spcPts val="300"/>
              </a:spcAft>
              <a:buClrTx/>
              <a:buSzTx/>
              <a:buFont typeface="Wingdings" panose="05000000000000000000" pitchFamily="2" charset="2"/>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建设目标</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知识工程能力成熟度达到</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发展级</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引入非结构化知识图谱构建工具</a:t>
            </a:r>
            <a:r>
              <a:rPr kumimoji="0" lang="en-US" altLang="zh-CN"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完成基础能力追赶</a:t>
            </a:r>
            <a:endPar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5" name="矩形 11"/>
          <p:cNvSpPr/>
          <p:nvPr>
            <p:custDataLst>
              <p:tags r:id="rId2"/>
            </p:custDataLst>
          </p:nvPr>
        </p:nvSpPr>
        <p:spPr bwMode="gray">
          <a:xfrm>
            <a:off x="4219575" y="2077085"/>
            <a:ext cx="3554095" cy="4384675"/>
          </a:xfrm>
          <a:prstGeom prst="rect">
            <a:avLst/>
          </a:prstGeom>
          <a:noFill/>
          <a:ln w="19050" algn="ctr">
            <a:solidFill>
              <a:schemeClr val="accent1"/>
            </a:solidFill>
            <a:miter lim="800000"/>
          </a:ln>
        </p:spPr>
        <p:txBody>
          <a:bodyPr wrap="square" lIns="88900" tIns="88900" rIns="88900" bIns="88900" rtlCol="0" anchor="ctr"/>
          <a:lstStyle/>
          <a:p>
            <a:pPr marL="171450" marR="0" lvl="0" indent="-171450" algn="ctr" defTabSz="914400" rtl="0" eaLnBrk="1" fontAlgn="auto" latinLnBrk="0" hangingPunct="1">
              <a:lnSpc>
                <a:spcPct val="110000"/>
              </a:lnSpc>
              <a:spcBef>
                <a:spcPts val="0"/>
              </a:spcBef>
              <a:spcAft>
                <a:spcPts val="300"/>
              </a:spcAft>
              <a:buClrTx/>
              <a:buSzTx/>
              <a:buFont typeface="Wingdings" panose="05000000000000000000" pitchFamily="2" charset="2"/>
              <a:buChar char="ü"/>
              <a:defRPr/>
            </a:pPr>
            <a:endParaRPr kumimoji="0" lang="ja-JP"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6" name="矩形 11"/>
          <p:cNvSpPr/>
          <p:nvPr>
            <p:custDataLst>
              <p:tags r:id="rId3"/>
            </p:custDataLst>
          </p:nvPr>
        </p:nvSpPr>
        <p:spPr bwMode="gray">
          <a:xfrm>
            <a:off x="501015" y="2364740"/>
            <a:ext cx="3465830" cy="4150995"/>
          </a:xfrm>
          <a:prstGeom prst="rect">
            <a:avLst/>
          </a:prstGeom>
          <a:noFill/>
          <a:ln w="19050" algn="ctr">
            <a:solidFill>
              <a:schemeClr val="accent1"/>
            </a:solidFill>
            <a:miter lim="800000"/>
          </a:ln>
        </p:spPr>
        <p:txBody>
          <a:bodyPr wrap="square" lIns="88900" tIns="36000" rIns="88900" bIns="36000" rtlCol="0" anchor="ctr"/>
          <a:lstStyle/>
          <a:p>
            <a:pPr marL="171450" marR="0" lvl="0" indent="-171450" algn="just" defTabSz="914400" rtl="0" eaLnBrk="1" fontAlgn="auto" latinLnBrk="0" hangingPunct="1">
              <a:lnSpc>
                <a:spcPct val="110000"/>
              </a:lnSpc>
              <a:spcBef>
                <a:spcPts val="0"/>
              </a:spcBef>
              <a:spcAft>
                <a:spcPts val="300"/>
              </a:spcAft>
              <a:buClrTx/>
              <a:buSzTx/>
              <a:buFont typeface="Wingdings" panose="05000000000000000000" pitchFamily="2" charset="2"/>
              <a:buChar char="ü"/>
              <a:defRPr/>
            </a:pPr>
            <a:endParaRPr kumimoji="0" lang="ja-JP"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7" name="矩形 11"/>
          <p:cNvSpPr/>
          <p:nvPr>
            <p:custDataLst>
              <p:tags r:id="rId4"/>
            </p:custDataLst>
          </p:nvPr>
        </p:nvSpPr>
        <p:spPr bwMode="gray">
          <a:xfrm>
            <a:off x="7927340" y="1825625"/>
            <a:ext cx="3465830" cy="3853180"/>
          </a:xfrm>
          <a:prstGeom prst="rect">
            <a:avLst/>
          </a:prstGeom>
          <a:noFill/>
          <a:ln w="19050" algn="ctr">
            <a:solidFill>
              <a:schemeClr val="accent1"/>
            </a:solidFill>
            <a:miter lim="800000"/>
          </a:ln>
        </p:spPr>
        <p:txBody>
          <a:bodyPr wrap="square" lIns="88900" tIns="88900" rIns="88900" bIns="88900" rtlCol="0" anchor="ctr"/>
          <a:lstStyle/>
          <a:p>
            <a:pPr marL="171450" marR="0" lvl="0" indent="-171450" algn="just" defTabSz="914400" rtl="0" eaLnBrk="1" fontAlgn="auto" latinLnBrk="0" hangingPunct="1">
              <a:lnSpc>
                <a:spcPct val="110000"/>
              </a:lnSpc>
              <a:spcBef>
                <a:spcPts val="0"/>
              </a:spcBef>
              <a:spcAft>
                <a:spcPts val="300"/>
              </a:spcAft>
              <a:buClrTx/>
              <a:buSzTx/>
              <a:buFont typeface="Wingdings" panose="05000000000000000000" pitchFamily="2" charset="2"/>
              <a:buChar char="ü"/>
              <a:defRPr/>
            </a:pPr>
            <a:endParaRPr kumimoji="0" lang="ja-JP" altLang="en-US" sz="14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48" name="矩形 6"/>
          <p:cNvSpPr/>
          <p:nvPr>
            <p:custDataLst>
              <p:tags r:id="rId5"/>
            </p:custDataLst>
          </p:nvPr>
        </p:nvSpPr>
        <p:spPr bwMode="gray">
          <a:xfrm>
            <a:off x="723353" y="1391518"/>
            <a:ext cx="3128363" cy="591816"/>
          </a:xfrm>
          <a:prstGeom prst="rect">
            <a:avLst/>
          </a:prstGeom>
          <a:no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第一阶段</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补短板</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 </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 name="矩形 8"/>
          <p:cNvSpPr/>
          <p:nvPr>
            <p:custDataLst>
              <p:tags r:id="rId6"/>
            </p:custDataLst>
          </p:nvPr>
        </p:nvSpPr>
        <p:spPr bwMode="gray">
          <a:xfrm>
            <a:off x="4387215" y="1094740"/>
            <a:ext cx="3129915" cy="551180"/>
          </a:xfrm>
          <a:prstGeom prst="rect">
            <a:avLst/>
          </a:prstGeom>
          <a:no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第二阶段</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lang="zh-CN" altLang="en-US" b="1" noProof="0" dirty="0">
                <a:ln>
                  <a:noFill/>
                </a:ln>
                <a:solidFill>
                  <a:prstClr val="black"/>
                </a:solidFill>
                <a:effectLst/>
                <a:uLnTx/>
                <a:uFillTx/>
                <a:latin typeface="微软雅黑" panose="020B0503020204020204" charset="-122"/>
                <a:ea typeface="微软雅黑" panose="020B0503020204020204" charset="-122"/>
                <a:sym typeface="+mn-ea"/>
              </a:rPr>
              <a:t>筑基座</a:t>
            </a: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0" name="矩形 10"/>
          <p:cNvSpPr/>
          <p:nvPr>
            <p:custDataLst>
              <p:tags r:id="rId7"/>
            </p:custDataLst>
          </p:nvPr>
        </p:nvSpPr>
        <p:spPr bwMode="gray">
          <a:xfrm>
            <a:off x="7741285" y="869950"/>
            <a:ext cx="3817620" cy="510540"/>
          </a:xfrm>
          <a:prstGeom prst="rect">
            <a:avLst/>
          </a:prstGeom>
          <a:no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第三阶段</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拓生态</a:t>
            </a:r>
            <a:r>
              <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endParaRPr kumimoji="0" lang="en-US" altLang="zh-CN" sz="1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 name="矩形 8"/>
          <p:cNvSpPr/>
          <p:nvPr>
            <p:custDataLst>
              <p:tags r:id="rId8"/>
            </p:custDataLst>
          </p:nvPr>
        </p:nvSpPr>
        <p:spPr bwMode="gray">
          <a:xfrm>
            <a:off x="4202430" y="1582420"/>
            <a:ext cx="3583305" cy="437515"/>
          </a:xfrm>
          <a:prstGeom prst="rect">
            <a:avLst/>
          </a:prstGeom>
          <a:solidFill>
            <a:schemeClr val="accent1">
              <a:lumMod val="40000"/>
              <a:lumOff val="60000"/>
            </a:schemeClr>
          </a:solid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r>
              <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2027.1-2027.12</a:t>
            </a:r>
            <a:endParaRPr kumimoji="0" lang="en-US" altLang="zh-CN" sz="16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2" name="矩形 10"/>
          <p:cNvSpPr/>
          <p:nvPr>
            <p:custDataLst>
              <p:tags r:id="rId9"/>
            </p:custDataLst>
          </p:nvPr>
        </p:nvSpPr>
        <p:spPr bwMode="gray">
          <a:xfrm>
            <a:off x="8051633" y="1317905"/>
            <a:ext cx="3129925" cy="437512"/>
          </a:xfrm>
          <a:prstGeom prst="rect">
            <a:avLst/>
          </a:prstGeom>
          <a:solidFill>
            <a:schemeClr val="accent1"/>
          </a:solid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r>
              <a:rPr lang="en-US" altLang="zh-CN" sz="16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2028.1~2028.12</a:t>
            </a:r>
            <a:endParaRPr kumimoji="0" lang="en-US" altLang="zh-CN"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3" name="矩形 6"/>
          <p:cNvSpPr/>
          <p:nvPr>
            <p:custDataLst>
              <p:tags r:id="rId10"/>
            </p:custDataLst>
          </p:nvPr>
        </p:nvSpPr>
        <p:spPr bwMode="gray">
          <a:xfrm>
            <a:off x="646051" y="1875365"/>
            <a:ext cx="3332700" cy="437511"/>
          </a:xfrm>
          <a:prstGeom prst="rect">
            <a:avLst/>
          </a:prstGeom>
          <a:solidFill>
            <a:schemeClr val="accent1">
              <a:lumMod val="20000"/>
              <a:lumOff val="80000"/>
              <a:alpha val="40000"/>
            </a:schemeClr>
          </a:solid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anose="05020102010507070707" pitchFamily="18" charset="2"/>
              <a:buNone/>
              <a:defRPr/>
            </a:pPr>
            <a:r>
              <a:rPr lang="en-US" altLang="zh-CN" sz="1600" b="1"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2026.9-2026.12</a:t>
            </a:r>
            <a:endParaRPr kumimoji="0" lang="zh-CN" altLang="en-US" sz="1600" b="1"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54" name="Bent Arrow 92"/>
          <p:cNvSpPr/>
          <p:nvPr>
            <p:custDataLst>
              <p:tags r:id="rId11"/>
            </p:custDataLst>
          </p:nvPr>
        </p:nvSpPr>
        <p:spPr bwMode="gray">
          <a:xfrm>
            <a:off x="3707933" y="1610751"/>
            <a:ext cx="511581" cy="270409"/>
          </a:xfrm>
          <a:prstGeom prst="bentArrow">
            <a:avLst>
              <a:gd name="adj1" fmla="val 22727"/>
              <a:gd name="adj2" fmla="val 20454"/>
              <a:gd name="adj3" fmla="val 34092"/>
              <a:gd name="adj4" fmla="val 34658"/>
            </a:avLst>
          </a:prstGeom>
          <a:solidFill>
            <a:schemeClr val="bg1">
              <a:lumMod val="75000"/>
            </a:schemeClr>
          </a:solid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defRPr/>
            </a:pPr>
            <a:endParaRPr kumimoji="0" lang="en-US" sz="16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5" name="Bent Arrow 92"/>
          <p:cNvSpPr/>
          <p:nvPr>
            <p:custDataLst>
              <p:tags r:id="rId12"/>
            </p:custDataLst>
          </p:nvPr>
        </p:nvSpPr>
        <p:spPr bwMode="gray">
          <a:xfrm>
            <a:off x="7375347" y="1322147"/>
            <a:ext cx="690788" cy="270409"/>
          </a:xfrm>
          <a:prstGeom prst="bentArrow">
            <a:avLst>
              <a:gd name="adj1" fmla="val 22727"/>
              <a:gd name="adj2" fmla="val 20454"/>
              <a:gd name="adj3" fmla="val 34092"/>
              <a:gd name="adj4" fmla="val 34658"/>
            </a:avLst>
          </a:prstGeom>
          <a:solidFill>
            <a:schemeClr val="bg1">
              <a:lumMod val="75000"/>
            </a:schemeClr>
          </a:solidFill>
          <a:ln w="19050" algn="ctr">
            <a:noFill/>
            <a:miter lim="800000"/>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Tx/>
              <a:buNone/>
              <a:defRPr/>
            </a:pPr>
            <a:endParaRPr kumimoji="0" lang="en-US" sz="16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7" name="矩形 40"/>
          <p:cNvSpPr/>
          <p:nvPr>
            <p:custDataLst>
              <p:tags r:id="rId13"/>
            </p:custDataLst>
          </p:nvPr>
        </p:nvSpPr>
        <p:spPr>
          <a:xfrm>
            <a:off x="4311650" y="2121535"/>
            <a:ext cx="3429635" cy="2794635"/>
          </a:xfrm>
          <a:prstGeom prst="rect">
            <a:avLst/>
          </a:prstGeom>
        </p:spPr>
        <p:txBody>
          <a:bodyPr wrap="square" tIns="0" bIns="0">
            <a:noAutofit/>
          </a:bodyPr>
          <a:lstStyle/>
          <a:p>
            <a:pPr marR="0" lvl="0" indent="0" algn="just" defTabSz="914400" rtl="0" fontAlgn="auto">
              <a:lnSpc>
                <a:spcPct val="150000"/>
              </a:lnSpc>
              <a:spcBef>
                <a:spcPts val="0"/>
              </a:spcBef>
              <a:spcAft>
                <a:spcPts val="300"/>
              </a:spcAft>
              <a:buClrTx/>
              <a:buSzTx/>
              <a:buFont typeface="Wingdings" panose="05000000000000000000" pitchFamily="2" charset="2"/>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建设内容及成效：</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完成</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知识工程平台</a:t>
            </a:r>
            <a:r>
              <a:rPr lang="en-US" altLang="zh-CN"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5</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层规划主体功能建设</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和原</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 </a:t>
            </a:r>
            <a:r>
              <a:rPr lang="en-US" altLang="zh-CN"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RAG </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平台功能整合</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具备统一对外服务能力</a:t>
            </a:r>
            <a:endPar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构建</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企业级语义知识图谱</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专题知识图谱</a:t>
            </a:r>
            <a:r>
              <a:rPr lang="en-US" altLang="zh-CN"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覆盖对公、零售、金市、风险</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科技等各条线智能体应用场景</a:t>
            </a:r>
            <a:endPar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知识治理与运营形成</a:t>
            </a:r>
            <a:r>
              <a:rPr lang="en-US" altLang="zh-CN"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 AI </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人机协同自治运营</a:t>
            </a:r>
            <a:endPar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kumimoji="0" lang="zh-CN" altLang="en-US" sz="12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引入</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本体建模工具</a:t>
            </a:r>
            <a:r>
              <a:rPr kumimoji="0" lang="zh-CN" altLang="en-US" sz="12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，建立</a:t>
            </a:r>
            <a:r>
              <a:rPr kumimoji="0"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本体语义事理逻辑推理能力，</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试点智能体辅助决策、自主执行知识应用场景</a:t>
            </a:r>
            <a:r>
              <a:rPr kumimoji="0" lang="en-US" altLang="zh-CN"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打通非结构化知识与结构化数据的语义壁垒</a:t>
            </a:r>
            <a:endParaRPr kumimoji="0" lang="zh-CN" altLang="en-US" sz="120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R="0" lvl="0" indent="0" algn="just" defTabSz="914400" rtl="0" fontAlgn="auto">
              <a:lnSpc>
                <a:spcPct val="150000"/>
              </a:lnSpc>
              <a:spcBef>
                <a:spcPts val="0"/>
              </a:spcBef>
              <a:spcAft>
                <a:spcPts val="300"/>
              </a:spcAft>
              <a:buClrTx/>
              <a:buSzTx/>
              <a:buFont typeface="Wingdings" panose="05000000000000000000" pitchFamily="2" charset="2"/>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建设目标</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知识工程能力整体迈入</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优秀级</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知识</a:t>
            </a:r>
            <a:r>
              <a:rPr kumimoji="0" lang="en-US" altLang="zh-CN"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AI </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人机协同的自治运营形成同业首创</a:t>
            </a:r>
            <a:r>
              <a:rPr kumimoji="0" lang="en-US" altLang="zh-CN"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知识工程</a:t>
            </a:r>
            <a:r>
              <a:rPr kumimoji="0"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平台能力和应用水平</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进入同业第一梯队</a:t>
            </a:r>
            <a:endParaRPr kumimoji="0" lang="zh-CN" altLang="en-US" sz="1200"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矩形 40"/>
          <p:cNvSpPr/>
          <p:nvPr>
            <p:custDataLst>
              <p:tags r:id="rId14"/>
            </p:custDataLst>
          </p:nvPr>
        </p:nvSpPr>
        <p:spPr>
          <a:xfrm>
            <a:off x="7966710" y="1854200"/>
            <a:ext cx="3429635" cy="2794635"/>
          </a:xfrm>
          <a:prstGeom prst="rect">
            <a:avLst/>
          </a:prstGeom>
        </p:spPr>
        <p:txBody>
          <a:bodyPr wrap="square" tIns="0" bIns="0">
            <a:noAutofit/>
          </a:bodyPr>
          <a:lstStyle/>
          <a:p>
            <a:pPr marR="0" lvl="0" indent="0" algn="just" defTabSz="914400" rtl="0" fontAlgn="auto">
              <a:lnSpc>
                <a:spcPct val="150000"/>
              </a:lnSpc>
              <a:spcBef>
                <a:spcPts val="0"/>
              </a:spcBef>
              <a:spcAft>
                <a:spcPts val="300"/>
              </a:spcAft>
              <a:buClrTx/>
              <a:buSzTx/>
              <a:buFont typeface="Wingdings" panose="05000000000000000000" pitchFamily="2" charset="2"/>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建设内容及成效：</a:t>
            </a:r>
            <a:endPar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对接</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银行结构化数据</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，实现</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业务语义与业务系统数据、规则、活动对齐</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，实现</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知识生态拓展</a:t>
            </a:r>
            <a:r>
              <a:rPr lang="en-US" altLang="zh-CN"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对外</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输出基于本体的语义推理能力</a:t>
            </a:r>
            <a:r>
              <a:rPr lang="zh-CN" altLang="en-US" sz="120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200" noProof="0" dirty="0">
                <a:ln>
                  <a:noFill/>
                </a:ln>
                <a:effectLst/>
                <a:uLnTx/>
                <a:uFillTx/>
                <a:latin typeface="微软雅黑" panose="020B0503020204020204" charset="-122"/>
                <a:ea typeface="微软雅黑" panose="020B0503020204020204" charset="-122"/>
                <a:cs typeface="微软雅黑" panose="020B0503020204020204" charset="-122"/>
                <a:sym typeface="+mn-ea"/>
              </a:rPr>
              <a:t>覆盖对公、零售、金市、风险、科技等条线场景。</a:t>
            </a:r>
            <a:endPar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lang="zh-CN" altLang="en-US"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实现模型外挂</a:t>
            </a:r>
            <a:r>
              <a:rPr lang="en-US" altLang="zh-CN"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 RAG </a:t>
            </a:r>
            <a:r>
              <a:rPr lang="zh-CN" altLang="en-US"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向</a:t>
            </a:r>
            <a:r>
              <a:rPr lang="zh-CN" altLang="en-US" sz="1200" b="1"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sym typeface="+mn-ea"/>
              </a:rPr>
              <a:t>模型内化重构升级</a:t>
            </a:r>
            <a:r>
              <a:rPr lang="zh-CN" altLang="en-US"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，训练小</a:t>
            </a:r>
            <a:r>
              <a:rPr lang="zh-CN" altLang="en-US"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尺寸专家模型，通过</a:t>
            </a:r>
            <a:r>
              <a:rPr lang="en-US" altLang="zh-CN"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 MOE </a:t>
            </a:r>
            <a:r>
              <a:rPr lang="zh-CN" altLang="en-US"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稀疏架构实现多模型可插拔调度</a:t>
            </a:r>
            <a:endParaRPr lang="zh-CN" altLang="en-US" sz="12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a:p>
            <a:pPr marR="0" lvl="0" indent="0" algn="just" defTabSz="914400" rtl="0" fontAlgn="auto">
              <a:lnSpc>
                <a:spcPct val="150000"/>
              </a:lnSpc>
              <a:spcBef>
                <a:spcPts val="0"/>
              </a:spcBef>
              <a:spcAft>
                <a:spcPts val="300"/>
              </a:spcAft>
              <a:buClrTx/>
              <a:buSzTx/>
              <a:buFont typeface="Wingdings" panose="05000000000000000000" pitchFamily="2" charset="2"/>
              <a:buNone/>
              <a:defRPr/>
            </a:pPr>
            <a:r>
              <a:rPr kumimoji="0" lang="zh-CN" altLang="en-US" sz="1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建设目标</a:t>
            </a:r>
            <a:endPar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just" defTabSz="914400" rtl="0" fontAlgn="auto">
              <a:lnSpc>
                <a:spcPct val="150000"/>
              </a:lnSpc>
              <a:spcBef>
                <a:spcPts val="0"/>
              </a:spcBef>
              <a:spcAft>
                <a:spcPts val="300"/>
              </a:spcAft>
              <a:buClrTx/>
              <a:buSzTx/>
              <a:buFont typeface="Wingdings" panose="05000000000000000000" pitchFamily="2" charset="2"/>
              <a:buChar char="ü"/>
              <a:defRPr/>
            </a:pPr>
            <a:r>
              <a:rPr kumimoji="0" lang="zh-CN" altLang="en-US" sz="120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rPr>
              <a:t>知识工程能力成熟度</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达到卓越级</a:t>
            </a:r>
            <a:r>
              <a:rPr kumimoji="0" lang="zh-CN" altLang="en-US" sz="12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rPr>
              <a:t>，形成</a:t>
            </a:r>
            <a:r>
              <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rPr>
              <a:t>行业标杆</a:t>
            </a:r>
            <a:endParaRPr kumimoji="0" lang="zh-CN" altLang="en-US" sz="12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整体规划实施路径</a:t>
            </a:r>
            <a:r>
              <a:rPr kumimoji="0" lang="zh-CN" altLang="en-US" sz="2400" b="0" kern="1200"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（一阶段）</a:t>
            </a:r>
            <a:endPar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aphicFrame>
        <p:nvGraphicFramePr>
          <p:cNvPr id="3" name="表格 2"/>
          <p:cNvGraphicFramePr/>
          <p:nvPr>
            <p:custDataLst>
              <p:tags r:id="rId1"/>
            </p:custDataLst>
          </p:nvPr>
        </p:nvGraphicFramePr>
        <p:xfrm>
          <a:off x="138747" y="1292117"/>
          <a:ext cx="11914505" cy="5545222"/>
        </p:xfrm>
        <a:graphic>
          <a:graphicData uri="http://schemas.openxmlformats.org/drawingml/2006/table">
            <a:tbl>
              <a:tblPr/>
              <a:tblGrid>
                <a:gridCol w="1055776"/>
                <a:gridCol w="788035"/>
                <a:gridCol w="1216785"/>
                <a:gridCol w="3740173"/>
                <a:gridCol w="1331287"/>
                <a:gridCol w="665481"/>
                <a:gridCol w="972441"/>
                <a:gridCol w="1085153"/>
                <a:gridCol w="1059374"/>
              </a:tblGrid>
              <a:tr h="511000">
                <a:tc>
                  <a:txBody>
                    <a:bodyPr/>
                    <a:lstStyle/>
                    <a:p>
                      <a:pPr algn="ctr" fontAlgn="ctr"/>
                      <a:r>
                        <a:rPr lang="zh-CN" altLang="en-US" sz="1200" b="0" i="0">
                          <a:solidFill>
                            <a:srgbClr val="FFFFFF"/>
                          </a:solidFill>
                          <a:latin typeface="微软雅黑" panose="020B0503020204020204" charset="-122"/>
                          <a:ea typeface="微软雅黑" panose="020B0503020204020204" charset="-122"/>
                        </a:rPr>
                        <a:t>阶段</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类别</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dirty="0">
                          <a:solidFill>
                            <a:srgbClr val="FFFFFF"/>
                          </a:solidFill>
                          <a:latin typeface="微软雅黑" panose="020B0503020204020204" charset="-122"/>
                          <a:ea typeface="微软雅黑" panose="020B0503020204020204" charset="-122"/>
                        </a:rPr>
                        <a:t>专项任务</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dirty="0">
                          <a:solidFill>
                            <a:srgbClr val="FFFFFF"/>
                          </a:solidFill>
                          <a:latin typeface="微软雅黑" panose="020B0503020204020204" charset="-122"/>
                          <a:ea typeface="微软雅黑" panose="020B0503020204020204" charset="-122"/>
                        </a:rPr>
                        <a:t>任务说明</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buNone/>
                      </a:pPr>
                      <a:r>
                        <a:rPr lang="zh-CN" altLang="en-US" sz="1200" b="0" i="0" dirty="0">
                          <a:solidFill>
                            <a:srgbClr val="FFFFFF"/>
                          </a:solidFill>
                          <a:latin typeface="微软雅黑" panose="020B0503020204020204" charset="-122"/>
                          <a:ea typeface="微软雅黑" panose="020B0503020204020204" charset="-122"/>
                        </a:rPr>
                        <a:t>资源投入</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实施方式建议</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牵头方</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参与方</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计划：</a:t>
                      </a:r>
                      <a:br>
                        <a:rPr lang="zh-CN" altLang="en-US" sz="1200" b="0" i="0">
                          <a:solidFill>
                            <a:srgbClr val="FFFFFF"/>
                          </a:solidFill>
                          <a:latin typeface="微软雅黑" panose="020B0503020204020204" charset="-122"/>
                          <a:ea typeface="微软雅黑" panose="020B0503020204020204" charset="-122"/>
                        </a:rPr>
                      </a:br>
                      <a:r>
                        <a:rPr lang="zh-CN" altLang="en-US" sz="1200" b="0" i="0">
                          <a:solidFill>
                            <a:srgbClr val="FFFFFF"/>
                          </a:solidFill>
                          <a:latin typeface="微软雅黑" panose="020B0503020204020204" charset="-122"/>
                          <a:ea typeface="微软雅黑" panose="020B0503020204020204" charset="-122"/>
                        </a:rPr>
                        <a:t>开始时间</a:t>
                      </a:r>
                      <a:r>
                        <a:rPr lang="en-US" altLang="zh-CN" sz="1200" b="0" i="0">
                          <a:solidFill>
                            <a:srgbClr val="FFFFFF"/>
                          </a:solidFill>
                          <a:latin typeface="微软雅黑" panose="020B0503020204020204" charset="-122"/>
                          <a:ea typeface="微软雅黑" panose="020B0503020204020204" charset="-122"/>
                        </a:rPr>
                        <a:t>/</a:t>
                      </a:r>
                      <a:r>
                        <a:rPr lang="zh-CN" altLang="en-US" sz="1200" b="0" i="0">
                          <a:solidFill>
                            <a:srgbClr val="FFFFFF"/>
                          </a:solidFill>
                          <a:latin typeface="微软雅黑" panose="020B0503020204020204" charset="-122"/>
                          <a:ea typeface="微软雅黑" panose="020B0503020204020204" charset="-122"/>
                        </a:rPr>
                        <a:t>结束时间</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r>
              <a:tr h="567096">
                <a:tc rowSpan="10">
                  <a:txBody>
                    <a:bodyPr/>
                    <a:lstStyle/>
                    <a:p>
                      <a:pPr algn="ctr" fontAlgn="ctr"/>
                      <a:r>
                        <a:rPr lang="zh-CN" sz="1000" b="0" i="0" dirty="0">
                          <a:solidFill>
                            <a:srgbClr val="000000"/>
                          </a:solidFill>
                          <a:latin typeface="微软雅黑" panose="020B0503020204020204" charset="-122"/>
                          <a:ea typeface="微软雅黑" panose="020B0503020204020204" charset="-122"/>
                        </a:rPr>
                        <a:t>一阶段</a:t>
                      </a:r>
                      <a:endParaRPr lang="zh-CN" sz="1000" b="0" i="0" dirty="0">
                        <a:solidFill>
                          <a:srgbClr val="000000"/>
                        </a:solidFill>
                        <a:latin typeface="微软雅黑" panose="020B0503020204020204" charset="-122"/>
                        <a:ea typeface="微软雅黑" panose="020B0503020204020204" charset="-122"/>
                      </a:endParaRPr>
                    </a:p>
                    <a:p>
                      <a:pPr algn="ctr" fontAlgn="ctr"/>
                      <a:r>
                        <a:rPr lang="en-US" altLang="zh-CN" sz="1000" b="0" i="0" dirty="0">
                          <a:solidFill>
                            <a:srgbClr val="000000"/>
                          </a:solidFill>
                          <a:latin typeface="微软雅黑" panose="020B0503020204020204" charset="-122"/>
                          <a:ea typeface="微软雅黑" panose="020B0503020204020204" charset="-122"/>
                        </a:rPr>
                        <a:t>202609~202612</a:t>
                      </a:r>
                      <a:endParaRPr lang="en-US" altLang="zh-CN" sz="1000" b="0" i="0" dirty="0">
                        <a:solidFill>
                          <a:srgbClr val="000000"/>
                        </a:solidFill>
                        <a:latin typeface="微软雅黑" panose="020B0503020204020204" charset="-122"/>
                        <a:ea typeface="微软雅黑" panose="020B0503020204020204" charset="-122"/>
                      </a:endParaRPr>
                    </a:p>
                    <a:p>
                      <a:pPr algn="ctr" fontAlgn="ctr"/>
                      <a:r>
                        <a:rPr lang="zh-CN" altLang="en-US" sz="1000" b="0" i="0" dirty="0">
                          <a:solidFill>
                            <a:srgbClr val="000000"/>
                          </a:solidFill>
                          <a:latin typeface="微软雅黑" panose="020B0503020204020204" charset="-122"/>
                          <a:ea typeface="微软雅黑" panose="020B0503020204020204" charset="-122"/>
                        </a:rPr>
                        <a:t>（迭代投产，快速赋能知识应用场景）</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平台建设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知识工程平台基础功能开发</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进行知识工程平台资源层、加工层功能建设</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包括元数据标准管理、根据应用场景进行业务场景</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业务对象</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业务活动</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业务术语等业务元数据的自动解析和采集，文档目录及权限管理、统一语义图谱和专题知识图谱等功能模块开发</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zh-CN" altLang="en-US" sz="1000" b="0" i="0" dirty="0">
                          <a:solidFill>
                            <a:srgbClr val="000000"/>
                          </a:solidFill>
                          <a:latin typeface="微软雅黑" panose="020B0503020204020204" charset="-122"/>
                          <a:ea typeface="微软雅黑" panose="020B0503020204020204" charset="-122"/>
                        </a:rPr>
                        <a:t>行方</a:t>
                      </a:r>
                      <a:r>
                        <a:rPr lang="en-US" altLang="zh-CN" sz="1000" b="0" i="0" dirty="0">
                          <a:solidFill>
                            <a:srgbClr val="000000"/>
                          </a:solidFill>
                          <a:latin typeface="微软雅黑" panose="020B0503020204020204" charset="-122"/>
                          <a:ea typeface="微软雅黑" panose="020B0503020204020204" charset="-122"/>
                        </a:rPr>
                        <a:t>：10</a:t>
                      </a:r>
                      <a:r>
                        <a:rPr lang="zh-CN" altLang="en-US" sz="1000" b="0" i="0" dirty="0">
                          <a:solidFill>
                            <a:srgbClr val="000000"/>
                          </a:solidFill>
                          <a:latin typeface="微软雅黑" panose="020B0503020204020204" charset="-122"/>
                          <a:ea typeface="微软雅黑" panose="020B0503020204020204" charset="-122"/>
                        </a:rPr>
                        <a:t>人</a:t>
                      </a:r>
                      <a:endParaRPr lang="en-US" altLang="zh-CN" sz="1000" b="0" i="0" dirty="0">
                        <a:solidFill>
                          <a:srgbClr val="000000"/>
                        </a:solidFill>
                        <a:latin typeface="微软雅黑" panose="020B0503020204020204" charset="-122"/>
                        <a:ea typeface="微软雅黑" panose="020B0503020204020204" charset="-122"/>
                      </a:endParaRPr>
                    </a:p>
                    <a:p>
                      <a:pPr algn="l" fontAlgn="ctr">
                        <a:buNone/>
                      </a:pPr>
                      <a:r>
                        <a:rPr lang="zh-CN" altLang="en-US" sz="1000" b="0" i="0" dirty="0">
                          <a:solidFill>
                            <a:srgbClr val="000000"/>
                          </a:solidFill>
                          <a:latin typeface="微软雅黑" panose="020B0503020204020204" charset="-122"/>
                          <a:ea typeface="微软雅黑" panose="020B0503020204020204" charset="-122"/>
                        </a:rPr>
                        <a:t>厂商</a:t>
                      </a:r>
                      <a:r>
                        <a:rPr lang="en-US" altLang="zh-CN" sz="1000" b="0" i="0" dirty="0">
                          <a:solidFill>
                            <a:srgbClr val="000000"/>
                          </a:solidFill>
                          <a:latin typeface="微软雅黑" panose="020B0503020204020204" charset="-122"/>
                          <a:ea typeface="微软雅黑" panose="020B0503020204020204" charset="-122"/>
                        </a:rPr>
                        <a:t>：10</a:t>
                      </a:r>
                      <a:r>
                        <a:rPr lang="zh-CN" altLang="en-US" sz="1000" b="0" i="0" dirty="0">
                          <a:solidFill>
                            <a:srgbClr val="000000"/>
                          </a:solidFill>
                          <a:latin typeface="微软雅黑" panose="020B0503020204020204" charset="-122"/>
                          <a:ea typeface="微软雅黑" panose="020B0503020204020204" charset="-122"/>
                        </a:rPr>
                        <a:t>人</a:t>
                      </a:r>
                      <a:r>
                        <a:rPr lang="en-US" altLang="zh-CN" sz="1000" b="0" i="0" dirty="0">
                          <a:solidFill>
                            <a:srgbClr val="000000"/>
                          </a:solidFill>
                          <a:latin typeface="微软雅黑" panose="020B0503020204020204" charset="-122"/>
                          <a:ea typeface="微软雅黑" panose="020B0503020204020204" charset="-122"/>
                        </a:rPr>
                        <a:t>，40</a:t>
                      </a:r>
                      <a:r>
                        <a:rPr lang="zh-CN" altLang="en-US" sz="1000" b="0" i="0" dirty="0">
                          <a:solidFill>
                            <a:srgbClr val="000000"/>
                          </a:solidFill>
                          <a:latin typeface="微软雅黑" panose="020B0503020204020204" charset="-122"/>
                          <a:ea typeface="微软雅黑" panose="020B0503020204020204" charset="-122"/>
                        </a:rPr>
                        <a:t>人月</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非项目任务</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a:solidFill>
                            <a:srgbClr val="000000"/>
                          </a:solidFill>
                          <a:latin typeface="微软雅黑" panose="020B0503020204020204" charset="-122"/>
                          <a:ea typeface="微软雅黑" panose="020B0503020204020204" charset="-122"/>
                        </a:rPr>
                        <a:t>IT</a:t>
                      </a:r>
                      <a:r>
                        <a:rPr lang="zh-CN" altLang="en-US" sz="1000" b="0" i="0">
                          <a:solidFill>
                            <a:srgbClr val="000000"/>
                          </a:solidFill>
                          <a:latin typeface="微软雅黑" panose="020B0503020204020204" charset="-122"/>
                          <a:ea typeface="微软雅黑" panose="020B0503020204020204" charset="-122"/>
                        </a:rPr>
                        <a:t>知识工程团队</a:t>
                      </a: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202609~202612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r>
              <a:tr h="567096">
                <a:tc vMerge="1">
                  <a:tcPr/>
                </a:tc>
                <a:tc vMerge="1">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图谱建模工具引入</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完成语义与专题图谱建模工具引入，实现统一语义图谱及非结构化专题知识图谱构建</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标准化</a:t>
                      </a:r>
                      <a:r>
                        <a:rPr lang="en-US" altLang="zh-CN" sz="1000" b="0" i="0" dirty="0">
                          <a:solidFill>
                            <a:srgbClr val="000000"/>
                          </a:solidFill>
                          <a:latin typeface="微软雅黑" panose="020B0503020204020204" charset="-122"/>
                          <a:ea typeface="微软雅黑" panose="020B0503020204020204" charset="-122"/>
                        </a:rPr>
                        <a:t> Skill </a:t>
                      </a:r>
                      <a:r>
                        <a:rPr lang="zh-CN" altLang="en-US" sz="1000" b="0" i="0" dirty="0">
                          <a:solidFill>
                            <a:srgbClr val="000000"/>
                          </a:solidFill>
                          <a:latin typeface="微软雅黑" panose="020B0503020204020204" charset="-122"/>
                          <a:ea typeface="微软雅黑" panose="020B0503020204020204" charset="-122"/>
                        </a:rPr>
                        <a:t>服务体系支持</a:t>
                      </a:r>
                      <a:r>
                        <a:rPr lang="en-US" altLang="zh-CN" sz="1000" b="0" i="0" dirty="0">
                          <a:solidFill>
                            <a:srgbClr val="000000"/>
                          </a:solidFill>
                          <a:latin typeface="微软雅黑" panose="020B0503020204020204" charset="-122"/>
                          <a:ea typeface="微软雅黑" panose="020B0503020204020204" charset="-122"/>
                        </a:rPr>
                        <a:t>AI </a:t>
                      </a:r>
                      <a:r>
                        <a:rPr lang="zh-CN" altLang="en-US" sz="1000" b="0" i="0" dirty="0">
                          <a:solidFill>
                            <a:srgbClr val="000000"/>
                          </a:solidFill>
                          <a:latin typeface="微软雅黑" panose="020B0503020204020204" charset="-122"/>
                          <a:ea typeface="微软雅黑" panose="020B0503020204020204" charset="-122"/>
                        </a:rPr>
                        <a:t>服务自动化编排。</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buNone/>
                      </a:pPr>
                      <a:r>
                        <a:rPr lang="zh-CN" altLang="en-US" sz="1000" b="0" i="0" dirty="0">
                          <a:solidFill>
                            <a:srgbClr val="000000"/>
                          </a:solidFill>
                          <a:latin typeface="微软雅黑" panose="020B0503020204020204" charset="-122"/>
                          <a:ea typeface="微软雅黑" panose="020B0503020204020204" charset="-122"/>
                        </a:rPr>
                        <a:t>行方：复用平台建设人员</a:t>
                      </a:r>
                      <a:endParaRPr lang="en-US" altLang="zh-CN" sz="1000" b="0" i="0" dirty="0">
                        <a:solidFill>
                          <a:srgbClr val="000000"/>
                        </a:solidFill>
                        <a:latin typeface="微软雅黑" panose="020B0503020204020204" charset="-122"/>
                        <a:ea typeface="微软雅黑" panose="020B0503020204020204" charset="-122"/>
                      </a:endParaRPr>
                    </a:p>
                    <a:p>
                      <a:pPr algn="l" fontAlgn="ctr">
                        <a:buNone/>
                      </a:pPr>
                      <a:r>
                        <a:rPr lang="zh-CN" altLang="en-US" sz="1000" b="0" i="0" dirty="0">
                          <a:solidFill>
                            <a:srgbClr val="000000"/>
                          </a:solidFill>
                          <a:latin typeface="微软雅黑" panose="020B0503020204020204" charset="-122"/>
                          <a:ea typeface="微软雅黑" panose="020B0503020204020204" charset="-122"/>
                        </a:rPr>
                        <a:t>产品</a:t>
                      </a:r>
                      <a:r>
                        <a:rPr lang="en-US" altLang="zh-CN" sz="1000" b="0" i="0" dirty="0">
                          <a:solidFill>
                            <a:srgbClr val="000000"/>
                          </a:solidFill>
                          <a:latin typeface="微软雅黑" panose="020B0503020204020204" charset="-122"/>
                          <a:ea typeface="微软雅黑" panose="020B0503020204020204" charset="-122"/>
                        </a:rPr>
                        <a:t>：XX</a:t>
                      </a:r>
                      <a:r>
                        <a:rPr lang="zh-CN" altLang="en-US" sz="1000" b="0" i="0" dirty="0">
                          <a:solidFill>
                            <a:srgbClr val="000000"/>
                          </a:solidFill>
                          <a:latin typeface="微软雅黑" panose="020B0503020204020204" charset="-122"/>
                          <a:ea typeface="微软雅黑" panose="020B0503020204020204" charset="-122"/>
                        </a:rPr>
                        <a:t>万</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立项采购</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202609~202612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328174">
                <a:tc vMerge="1">
                  <a:tcPr/>
                </a:tc>
                <a:tc vMerge="1">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图数据库相关功能开发</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图数据库及知海平台相关功能开发</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buNone/>
                      </a:pPr>
                      <a:r>
                        <a:rPr lang="zh-CN" altLang="en-US" sz="1000" b="0" i="0" dirty="0">
                          <a:solidFill>
                            <a:srgbClr val="000000"/>
                          </a:solidFill>
                          <a:latin typeface="微软雅黑" panose="020B0503020204020204" charset="-122"/>
                          <a:ea typeface="微软雅黑" panose="020B0503020204020204" charset="-122"/>
                        </a:rPr>
                        <a:t>行方：</a:t>
                      </a:r>
                      <a:r>
                        <a:rPr lang="en-US" altLang="zh-CN" sz="1000" b="0" i="0" dirty="0">
                          <a:solidFill>
                            <a:srgbClr val="000000"/>
                          </a:solidFill>
                          <a:latin typeface="微软雅黑" panose="020B0503020204020204" charset="-122"/>
                          <a:ea typeface="微软雅黑" panose="020B0503020204020204" charset="-122"/>
                        </a:rPr>
                        <a:t>3</a:t>
                      </a:r>
                      <a:r>
                        <a:rPr lang="zh-CN" altLang="en-US" sz="1000" b="0" i="0" dirty="0">
                          <a:solidFill>
                            <a:srgbClr val="000000"/>
                          </a:solidFill>
                          <a:latin typeface="微软雅黑" panose="020B0503020204020204" charset="-122"/>
                          <a:ea typeface="微软雅黑" panose="020B0503020204020204" charset="-122"/>
                        </a:rPr>
                        <a:t>人</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en-US" altLang="zh-CN" sz="1000" b="0" i="0" dirty="0">
                          <a:solidFill>
                            <a:srgbClr val="000000"/>
                          </a:solidFill>
                          <a:latin typeface="微软雅黑" panose="020B0503020204020204" charset="-122"/>
                          <a:ea typeface="微软雅黑" panose="020B0503020204020204" charset="-122"/>
                        </a:rPr>
                        <a:t>--</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202609~202612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286615">
                <a:tc vMerge="1">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tcPr>
                </a:tc>
                <a:tc vMerge="1">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源端系统对接改造</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根据文档汇聚及元数据采集标准</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进行一线知识云等源端系统进行接口元数据标准改造</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zh-CN" altLang="en-US" sz="1000" dirty="0">
                          <a:solidFill>
                            <a:srgbClr val="000000"/>
                          </a:solidFill>
                          <a:latin typeface="微软雅黑" panose="020B0503020204020204" charset="-122"/>
                          <a:ea typeface="微软雅黑" panose="020B0503020204020204" charset="-122"/>
                          <a:sym typeface="+mn-ea"/>
                        </a:rPr>
                        <a:t>源系统负责</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endParaRPr lang="zh-CN" altLang="en-US" sz="100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行方主导</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a:solidFill>
                            <a:srgbClr val="000000"/>
                          </a:solidFill>
                          <a:latin typeface="微软雅黑" panose="020B0503020204020204" charset="-122"/>
                          <a:ea typeface="微软雅黑" panose="020B0503020204020204" charset="-122"/>
                        </a:rPr>
                        <a:t>IT</a:t>
                      </a:r>
                      <a:r>
                        <a:rPr lang="zh-CN" altLang="en-US" sz="1000" b="0" i="0">
                          <a:solidFill>
                            <a:srgbClr val="000000"/>
                          </a:solidFill>
                          <a:latin typeface="微软雅黑" panose="020B0503020204020204" charset="-122"/>
                          <a:ea typeface="微软雅黑" panose="020B0503020204020204" charset="-122"/>
                        </a:rPr>
                        <a:t>知识工程团队</a:t>
                      </a: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知识源系统团队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202609~202612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86615">
                <a:tc vMerge="1">
                  <a:tcPr/>
                </a:tc>
                <a:tc rowSpan="2">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场景建设</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企业智能助手及中信龙虾知识库场景建设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支撑企业智能助手</a:t>
                      </a:r>
                      <a:r>
                        <a:rPr lang="en-US" altLang="zh-CN" sz="1000" b="0" i="0" dirty="0">
                          <a:solidFill>
                            <a:srgbClr val="000000"/>
                          </a:solidFill>
                          <a:latin typeface="微软雅黑" panose="020B0503020204020204" charset="-122"/>
                          <a:ea typeface="微软雅黑" panose="020B0503020204020204" charset="-122"/>
                        </a:rPr>
                        <a:t>30</a:t>
                      </a:r>
                      <a:r>
                        <a:rPr lang="zh-CN" altLang="en-US" sz="1000" b="0" i="0" dirty="0">
                          <a:solidFill>
                            <a:srgbClr val="000000"/>
                          </a:solidFill>
                          <a:latin typeface="微软雅黑" panose="020B0503020204020204" charset="-122"/>
                          <a:ea typeface="微软雅黑" panose="020B0503020204020204" charset="-122"/>
                        </a:rPr>
                        <a:t>多个智能体整合相关知识库建设；</a:t>
                      </a:r>
                      <a:endParaRPr lang="en-US" altLang="zh-CN" sz="1000" b="0" i="0" dirty="0">
                        <a:solidFill>
                          <a:srgbClr val="000000"/>
                        </a:solidFill>
                        <a:latin typeface="微软雅黑" panose="020B0503020204020204" charset="-122"/>
                        <a:ea typeface="微软雅黑" panose="020B050302020402020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支撑中信龙虾个人知识库场景建设；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buNone/>
                      </a:pPr>
                      <a:r>
                        <a:rPr lang="zh-CN" altLang="en-US" sz="1000" dirty="0">
                          <a:solidFill>
                            <a:srgbClr val="000000"/>
                          </a:solidFill>
                          <a:latin typeface="微软雅黑" panose="020B0503020204020204" charset="-122"/>
                          <a:ea typeface="微软雅黑" panose="020B0503020204020204" charset="-122"/>
                          <a:sym typeface="+mn-ea"/>
                        </a:rPr>
                        <a:t>行方：</a:t>
                      </a:r>
                      <a:r>
                        <a:rPr lang="en-US" altLang="zh-CN" sz="1000" dirty="0">
                          <a:solidFill>
                            <a:srgbClr val="000000"/>
                          </a:solidFill>
                          <a:latin typeface="微软雅黑" panose="020B0503020204020204" charset="-122"/>
                          <a:ea typeface="微软雅黑" panose="020B0503020204020204" charset="-122"/>
                          <a:sym typeface="+mn-ea"/>
                        </a:rPr>
                        <a:t>12</a:t>
                      </a:r>
                      <a:r>
                        <a:rPr lang="zh-CN" altLang="en-US" sz="1000" dirty="0">
                          <a:solidFill>
                            <a:srgbClr val="000000"/>
                          </a:solidFill>
                          <a:latin typeface="微软雅黑" panose="020B0503020204020204" charset="-122"/>
                          <a:ea typeface="微软雅黑" panose="020B0503020204020204" charset="-122"/>
                          <a:sym typeface="+mn-ea"/>
                        </a:rPr>
                        <a:t>人</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r>
                        <a:rPr lang="zh-CN" altLang="en-US" sz="1000" dirty="0">
                          <a:solidFill>
                            <a:srgbClr val="000000"/>
                          </a:solidFill>
                          <a:latin typeface="微软雅黑" panose="020B0503020204020204" charset="-122"/>
                          <a:ea typeface="微软雅黑" panose="020B0503020204020204" charset="-122"/>
                          <a:sym typeface="+mn-ea"/>
                        </a:rPr>
                        <a:t>厂商：</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r>
                        <a:rPr lang="zh-CN" altLang="en-US" sz="1000" dirty="0">
                          <a:solidFill>
                            <a:srgbClr val="000000"/>
                          </a:solidFill>
                          <a:latin typeface="微软雅黑" panose="020B0503020204020204" charset="-122"/>
                          <a:ea typeface="微软雅黑" panose="020B0503020204020204" charset="-122"/>
                          <a:sym typeface="+mn-ea"/>
                        </a:rPr>
                        <a:t>专家</a:t>
                      </a:r>
                      <a:r>
                        <a:rPr lang="en-US" altLang="zh-CN" sz="1000" dirty="0">
                          <a:solidFill>
                            <a:srgbClr val="000000"/>
                          </a:solidFill>
                          <a:latin typeface="微软雅黑" panose="020B0503020204020204" charset="-122"/>
                          <a:ea typeface="微软雅黑" panose="020B0503020204020204" charset="-122"/>
                          <a:sym typeface="+mn-ea"/>
                        </a:rPr>
                        <a:t>5</a:t>
                      </a:r>
                      <a:r>
                        <a:rPr lang="zh-CN" altLang="en-US" sz="1000" dirty="0">
                          <a:solidFill>
                            <a:srgbClr val="000000"/>
                          </a:solidFill>
                          <a:latin typeface="微软雅黑" panose="020B0503020204020204" charset="-122"/>
                          <a:ea typeface="微软雅黑" panose="020B0503020204020204" charset="-122"/>
                          <a:sym typeface="+mn-ea"/>
                        </a:rPr>
                        <a:t>人，共</a:t>
                      </a:r>
                      <a:r>
                        <a:rPr lang="en-US" altLang="zh-CN" sz="1000" dirty="0">
                          <a:solidFill>
                            <a:srgbClr val="000000"/>
                          </a:solidFill>
                          <a:latin typeface="微软雅黑" panose="020B0503020204020204" charset="-122"/>
                          <a:ea typeface="微软雅黑" panose="020B0503020204020204" charset="-122"/>
                          <a:sym typeface="+mn-ea"/>
                        </a:rPr>
                        <a:t>20</a:t>
                      </a:r>
                      <a:r>
                        <a:rPr lang="zh-CN" altLang="en-US" sz="1000" dirty="0">
                          <a:solidFill>
                            <a:srgbClr val="000000"/>
                          </a:solidFill>
                          <a:latin typeface="微软雅黑" panose="020B0503020204020204" charset="-122"/>
                          <a:ea typeface="微软雅黑" panose="020B0503020204020204" charset="-122"/>
                          <a:sym typeface="+mn-ea"/>
                        </a:rPr>
                        <a:t>人月；</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r>
                        <a:rPr lang="zh-CN" altLang="en-US" sz="1000" dirty="0">
                          <a:solidFill>
                            <a:srgbClr val="000000"/>
                          </a:solidFill>
                          <a:latin typeface="微软雅黑" panose="020B0503020204020204" charset="-122"/>
                          <a:ea typeface="微软雅黑" panose="020B0503020204020204" charset="-122"/>
                          <a:sym typeface="+mn-ea"/>
                        </a:rPr>
                        <a:t>开发</a:t>
                      </a:r>
                      <a:r>
                        <a:rPr lang="en-US" altLang="zh-CN" sz="1000" dirty="0">
                          <a:solidFill>
                            <a:srgbClr val="000000"/>
                          </a:solidFill>
                          <a:latin typeface="微软雅黑" panose="020B0503020204020204" charset="-122"/>
                          <a:ea typeface="微软雅黑" panose="020B0503020204020204" charset="-122"/>
                          <a:sym typeface="+mn-ea"/>
                        </a:rPr>
                        <a:t>10</a:t>
                      </a:r>
                      <a:r>
                        <a:rPr lang="zh-CN" altLang="en-US" sz="1000" dirty="0">
                          <a:solidFill>
                            <a:srgbClr val="000000"/>
                          </a:solidFill>
                          <a:latin typeface="微软雅黑" panose="020B0503020204020204" charset="-122"/>
                          <a:ea typeface="微软雅黑" panose="020B0503020204020204" charset="-122"/>
                          <a:sym typeface="+mn-ea"/>
                        </a:rPr>
                        <a:t>人，共</a:t>
                      </a:r>
                      <a:r>
                        <a:rPr lang="en-US" altLang="zh-CN" sz="1000" dirty="0">
                          <a:solidFill>
                            <a:srgbClr val="000000"/>
                          </a:solidFill>
                          <a:latin typeface="微软雅黑" panose="020B0503020204020204" charset="-122"/>
                          <a:ea typeface="微软雅黑" panose="020B0503020204020204" charset="-122"/>
                          <a:sym typeface="+mn-ea"/>
                        </a:rPr>
                        <a:t>40</a:t>
                      </a:r>
                      <a:r>
                        <a:rPr lang="zh-CN" altLang="en-US" sz="1000" dirty="0">
                          <a:solidFill>
                            <a:srgbClr val="000000"/>
                          </a:solidFill>
                          <a:latin typeface="微软雅黑" panose="020B0503020204020204" charset="-122"/>
                          <a:ea typeface="微软雅黑" panose="020B0503020204020204" charset="-122"/>
                          <a:sym typeface="+mn-ea"/>
                        </a:rPr>
                        <a:t>人月</a:t>
                      </a:r>
                      <a:endParaRPr lang="en-US" altLang="zh-CN" sz="100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rowSpan="2">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非项目任务</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公共智能体团队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融合团队、</a:t>
                      </a: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67096">
                <a:tc vMerge="1">
                  <a:tcPr>
                    <a:lnT w="12700" cap="flat" cmpd="sng" algn="ctr">
                      <a:solidFill>
                        <a:srgbClr val="000000"/>
                      </a:solidFill>
                      <a:prstDash val="solid"/>
                      <a:round/>
                      <a:headEnd type="none" w="med" len="med"/>
                      <a:tailEnd type="none" w="med" len="med"/>
                    </a:lnT>
                  </a:tcPr>
                </a:tc>
                <a:tc vMerge="1">
                  <a:tcPr marL="6667" marR="6667" marT="6667"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各条线知识应用重点场景建设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包括授信智能问答、零售智能客服、</a:t>
                      </a:r>
                      <a:r>
                        <a:rPr lang="en-US" altLang="zh-CN" sz="1000" b="0" i="0" dirty="0" err="1">
                          <a:solidFill>
                            <a:srgbClr val="000000"/>
                          </a:solidFill>
                          <a:latin typeface="微软雅黑" panose="020B0503020204020204" charset="-122"/>
                          <a:ea typeface="微软雅黑" panose="020B0503020204020204" charset="-122"/>
                        </a:rPr>
                        <a:t>AiCoding</a:t>
                      </a:r>
                      <a:r>
                        <a:rPr lang="zh-CN" altLang="en-US" sz="1000" b="0" i="0" dirty="0">
                          <a:solidFill>
                            <a:srgbClr val="000000"/>
                          </a:solidFill>
                          <a:latin typeface="微软雅黑" panose="020B0503020204020204" charset="-122"/>
                          <a:ea typeface="微软雅黑" panose="020B0503020204020204" charset="-122"/>
                        </a:rPr>
                        <a:t>、大圣、公司条线一基、零售灵知、授信报告生成等场景。</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dirty="0">
                          <a:solidFill>
                            <a:srgbClr val="000000"/>
                          </a:solidFill>
                          <a:latin typeface="微软雅黑" panose="020B0503020204020204" charset="-122"/>
                          <a:ea typeface="微软雅黑" panose="020B0503020204020204" charset="-122"/>
                          <a:sym typeface="+mn-ea"/>
                        </a:rPr>
                        <a:t>IT</a:t>
                      </a:r>
                      <a:r>
                        <a:rPr lang="zh-CN" altLang="en-US" sz="1000" dirty="0">
                          <a:solidFill>
                            <a:srgbClr val="000000"/>
                          </a:solidFill>
                          <a:latin typeface="微软雅黑" panose="020B0503020204020204" charset="-122"/>
                          <a:ea typeface="微软雅黑" panose="020B0503020204020204" charset="-122"/>
                          <a:sym typeface="+mn-ea"/>
                        </a:rPr>
                        <a:t>融合团队</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业务团队、</a:t>
                      </a: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202609~202612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286615">
                <a:tc vMerge="1">
                  <a:tcPr>
                    <a:lnT w="12700" cap="flat" cmpd="sng" algn="ctr">
                      <a:solidFill>
                        <a:srgbClr val="000000"/>
                      </a:solidFill>
                      <a:prstDash val="solid"/>
                      <a:round/>
                      <a:headEnd type="none" w="med" len="med"/>
                      <a:tailEnd type="none" w="med" len="med"/>
                    </a:lnT>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标准规范制定</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元数据标准建制定</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包括：业务</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管理</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技术元数据标准规范，编写</a:t>
                      </a:r>
                      <a:r>
                        <a:rPr lang="en-US" altLang="zh-CN" sz="1000" dirty="0">
                          <a:latin typeface="微软雅黑" panose="020B0503020204020204" charset="-122"/>
                          <a:ea typeface="微软雅黑" panose="020B0503020204020204" charset="-122"/>
                          <a:cs typeface="微软雅黑" panose="020B0503020204020204" charset="-122"/>
                          <a:sym typeface="+mn-ea"/>
                        </a:rPr>
                        <a:t>《</a:t>
                      </a:r>
                      <a:r>
                        <a:rPr lang="zh-CN" altLang="en-US" sz="1000" dirty="0">
                          <a:latin typeface="微软雅黑" panose="020B0503020204020204" charset="-122"/>
                          <a:ea typeface="微软雅黑" panose="020B0503020204020204" charset="-122"/>
                          <a:cs typeface="微软雅黑" panose="020B0503020204020204" charset="-122"/>
                          <a:sym typeface="+mn-ea"/>
                        </a:rPr>
                        <a:t>中信银行知识工程平台元数据标准规范</a:t>
                      </a:r>
                      <a:r>
                        <a:rPr lang="en-US" altLang="zh-CN" sz="1000" dirty="0">
                          <a:latin typeface="微软雅黑" panose="020B0503020204020204" charset="-122"/>
                          <a:ea typeface="微软雅黑" panose="020B0503020204020204" charset="-122"/>
                          <a:cs typeface="微软雅黑" panose="020B0503020204020204" charset="-122"/>
                          <a:sym typeface="+mn-ea"/>
                        </a:rPr>
                        <a:t>》</a:t>
                      </a:r>
                      <a:endParaRPr lang="en-US" altLang="zh-CN" sz="1000" dirty="0">
                        <a:latin typeface="微软雅黑" panose="020B0503020204020204" charset="-122"/>
                        <a:ea typeface="微软雅黑" panose="020B0503020204020204" charset="-122"/>
                        <a:cs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rowSpan="2">
                  <a:txBody>
                    <a:bodyPr/>
                    <a:lstStyle/>
                    <a:p>
                      <a:pPr algn="l" fontAlgn="ctr">
                        <a:buNone/>
                      </a:pPr>
                      <a:r>
                        <a:rPr lang="zh-CN" altLang="en-US" sz="1000" b="0" i="0" dirty="0">
                          <a:solidFill>
                            <a:srgbClr val="000000"/>
                          </a:solidFill>
                          <a:latin typeface="微软雅黑" panose="020B0503020204020204" charset="-122"/>
                          <a:ea typeface="微软雅黑" panose="020B0503020204020204" charset="-122"/>
                        </a:rPr>
                        <a:t>行方</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复用平台和场景建设人员</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行方主导</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相关条线</a:t>
                      </a: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融合团队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202609~202612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280480">
                <a:tc vMerge="1">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应用接入规范制定</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dirty="0">
                          <a:latin typeface="微软雅黑" panose="020B0503020204020204" charset="-122"/>
                          <a:ea typeface="微软雅黑" panose="020B0503020204020204" charset="-122"/>
                          <a:cs typeface="微软雅黑" panose="020B0503020204020204" charset="-122"/>
                          <a:sym typeface="+mn-ea"/>
                        </a:rPr>
                        <a:t>编写</a:t>
                      </a:r>
                      <a:r>
                        <a:rPr lang="en-US" altLang="zh-CN" sz="1000" dirty="0">
                          <a:latin typeface="微软雅黑" panose="020B0503020204020204" charset="-122"/>
                          <a:ea typeface="微软雅黑" panose="020B0503020204020204" charset="-122"/>
                          <a:cs typeface="微软雅黑" panose="020B0503020204020204" charset="-122"/>
                          <a:sym typeface="+mn-ea"/>
                        </a:rPr>
                        <a:t>《</a:t>
                      </a:r>
                      <a:r>
                        <a:rPr lang="zh-CN" altLang="en-US" sz="1000" dirty="0">
                          <a:latin typeface="微软雅黑" panose="020B0503020204020204" charset="-122"/>
                          <a:ea typeface="微软雅黑" panose="020B0503020204020204" charset="-122"/>
                          <a:cs typeface="微软雅黑" panose="020B0503020204020204" charset="-122"/>
                          <a:sym typeface="+mn-ea"/>
                        </a:rPr>
                        <a:t>中信银行知识工程平台应用接入规范</a:t>
                      </a:r>
                      <a:r>
                        <a:rPr lang="en-US" altLang="zh-CN" sz="1000" dirty="0">
                          <a:latin typeface="微软雅黑" panose="020B0503020204020204" charset="-122"/>
                          <a:ea typeface="微软雅黑" panose="020B0503020204020204" charset="-122"/>
                          <a:cs typeface="微软雅黑" panose="020B0503020204020204" charset="-122"/>
                          <a:sym typeface="+mn-ea"/>
                        </a:rPr>
                        <a:t>》</a:t>
                      </a:r>
                      <a:endParaRPr lang="en-US" altLang="zh-CN" sz="1000" dirty="0">
                        <a:latin typeface="微软雅黑" panose="020B0503020204020204" charset="-122"/>
                        <a:ea typeface="微软雅黑" panose="020B0503020204020204" charset="-122"/>
                        <a:cs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426856">
                <a:tc vMerge="1">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rowSpan="2">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运营能力建设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a:solidFill>
                            <a:srgbClr val="000000"/>
                          </a:solidFill>
                          <a:latin typeface="微软雅黑" panose="020B0503020204020204" charset="-122"/>
                          <a:ea typeface="微软雅黑" panose="020B0503020204020204" charset="-122"/>
                        </a:rPr>
                        <a:t>组建</a:t>
                      </a:r>
                      <a:r>
                        <a:rPr lang="en-US" altLang="zh-CN" sz="1000" b="0" i="0">
                          <a:solidFill>
                            <a:srgbClr val="000000"/>
                          </a:solidFill>
                          <a:latin typeface="微软雅黑" panose="020B0503020204020204" charset="-122"/>
                          <a:ea typeface="微软雅黑" panose="020B0503020204020204" charset="-122"/>
                        </a:rPr>
                        <a:t>IT</a:t>
                      </a:r>
                      <a:r>
                        <a:rPr lang="zh-CN" altLang="en-US" sz="1000" b="0" i="0">
                          <a:solidFill>
                            <a:srgbClr val="000000"/>
                          </a:solidFill>
                          <a:latin typeface="微软雅黑" panose="020B0503020204020204" charset="-122"/>
                          <a:ea typeface="微软雅黑" panose="020B0503020204020204" charset="-122"/>
                        </a:rPr>
                        <a:t>知识运营团队</a:t>
                      </a: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组建</a:t>
                      </a: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知识运营团队，提供知识运营保障</a:t>
                      </a:r>
                      <a:endParaRPr lang="en-US" altLang="zh-CN" sz="1000" b="0" i="0" dirty="0">
                        <a:solidFill>
                          <a:srgbClr val="000000"/>
                        </a:solidFill>
                        <a:latin typeface="微软雅黑" panose="020B0503020204020204" charset="-122"/>
                        <a:ea typeface="微软雅黑" panose="020B0503020204020204" charset="-122"/>
                      </a:endParaRPr>
                    </a:p>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知识运营纳入分行板块四级梯队</a:t>
                      </a:r>
                      <a:endParaRPr lang="en-US" altLang="zh-CN" sz="1000" b="0" i="0" dirty="0">
                        <a:solidFill>
                          <a:srgbClr val="000000"/>
                        </a:solidFill>
                        <a:latin typeface="微软雅黑" panose="020B0503020204020204" charset="-122"/>
                        <a:ea typeface="微软雅黑" panose="020B0503020204020204" charset="-122"/>
                      </a:endParaRPr>
                    </a:p>
                    <a:p>
                      <a:pPr algn="l" fontAlgn="ctr"/>
                      <a:r>
                        <a:rPr lang="zh-CN" altLang="en-US" sz="1000" b="0" i="0" dirty="0">
                          <a:solidFill>
                            <a:srgbClr val="000000"/>
                          </a:solidFill>
                          <a:latin typeface="微软雅黑" panose="020B0503020204020204" charset="-122"/>
                          <a:ea typeface="微软雅黑" panose="020B0503020204020204" charset="-122"/>
                        </a:rPr>
                        <a:t>（</a:t>
                      </a:r>
                      <a:r>
                        <a:rPr lang="en-US" altLang="zh-CN" sz="1000" b="1" i="0" dirty="0">
                          <a:solidFill>
                            <a:srgbClr val="000000"/>
                          </a:solidFill>
                          <a:latin typeface="微软雅黑" panose="020B0503020204020204" charset="-122"/>
                          <a:ea typeface="微软雅黑" panose="020B0503020204020204" charset="-122"/>
                        </a:rPr>
                        <a:t>2026</a:t>
                      </a:r>
                      <a:r>
                        <a:rPr lang="zh-CN" altLang="en-US" sz="1000" b="1" i="0" dirty="0">
                          <a:solidFill>
                            <a:srgbClr val="000000"/>
                          </a:solidFill>
                          <a:latin typeface="微软雅黑" panose="020B0503020204020204" charset="-122"/>
                          <a:ea typeface="微软雅黑" panose="020B0503020204020204" charset="-122"/>
                        </a:rPr>
                        <a:t>年底，组建行员</a:t>
                      </a:r>
                      <a:r>
                        <a:rPr lang="en-US" altLang="zh-CN" sz="1000" b="1" i="0" dirty="0">
                          <a:solidFill>
                            <a:srgbClr val="000000"/>
                          </a:solidFill>
                          <a:latin typeface="微软雅黑" panose="020B0503020204020204" charset="-122"/>
                          <a:ea typeface="微软雅黑" panose="020B0503020204020204" charset="-122"/>
                        </a:rPr>
                        <a:t>10</a:t>
                      </a:r>
                      <a:r>
                        <a:rPr lang="zh-CN" altLang="en-US" sz="1000" b="1" i="0" dirty="0">
                          <a:solidFill>
                            <a:srgbClr val="000000"/>
                          </a:solidFill>
                          <a:latin typeface="微软雅黑" panose="020B0503020204020204" charset="-122"/>
                          <a:ea typeface="微软雅黑" panose="020B0503020204020204" charset="-122"/>
                        </a:rPr>
                        <a:t>人和若干厂商人员</a:t>
                      </a:r>
                      <a:r>
                        <a:rPr lang="zh-CN" altLang="en-US" sz="1000" b="0" i="0" dirty="0">
                          <a:solidFill>
                            <a:srgbClr val="000000"/>
                          </a:solidFill>
                          <a:latin typeface="微软雅黑" panose="020B0503020204020204" charset="-122"/>
                          <a:ea typeface="微软雅黑" panose="020B0503020204020204" charset="-122"/>
                        </a:rPr>
                        <a:t>）</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buNone/>
                      </a:pPr>
                      <a:r>
                        <a:rPr lang="en-US" altLang="zh-CN" sz="1000" b="0" i="0" dirty="0">
                          <a:solidFill>
                            <a:srgbClr val="000000"/>
                          </a:solidFill>
                          <a:latin typeface="微软雅黑" panose="020B0503020204020204" charset="-122"/>
                          <a:ea typeface="微软雅黑" panose="020B0503020204020204" charset="-122"/>
                        </a:rPr>
                        <a:t>--</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行方主导</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分行服务板块</a:t>
                      </a:r>
                      <a:endParaRPr lang="en-US" altLang="zh-CN" sz="1000" b="0" i="0" dirty="0">
                        <a:solidFill>
                          <a:srgbClr val="000000"/>
                        </a:solidFill>
                        <a:latin typeface="微软雅黑" panose="020B0503020204020204" charset="-122"/>
                        <a:ea typeface="微软雅黑" panose="020B050302020402020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科技服务支持域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202609~202610</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286615">
                <a:tc vMerge="1">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知识运营试运行</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制定知识运营规范，选择试点场景进行知识运营试运行，逐步形成复用能力，并推动完善知识工程平台</a:t>
                      </a:r>
                      <a:r>
                        <a:rPr lang="en-US" altLang="zh-CN" sz="1000" b="0" i="0" dirty="0">
                          <a:solidFill>
                            <a:srgbClr val="000000"/>
                          </a:solidFill>
                          <a:latin typeface="微软雅黑" panose="020B0503020204020204" charset="-122"/>
                          <a:ea typeface="微软雅黑" panose="020B0503020204020204" charset="-122"/>
                        </a:rPr>
                        <a:t>AI</a:t>
                      </a:r>
                      <a:r>
                        <a:rPr lang="zh-CN" altLang="en-US" sz="1000" b="0" i="0" dirty="0">
                          <a:solidFill>
                            <a:srgbClr val="000000"/>
                          </a:solidFill>
                          <a:latin typeface="微软雅黑" panose="020B0503020204020204" charset="-122"/>
                          <a:ea typeface="微软雅黑" panose="020B0503020204020204" charset="-122"/>
                        </a:rPr>
                        <a:t>智能化运营功能。</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dirty="0">
                          <a:solidFill>
                            <a:srgbClr val="000000"/>
                          </a:solidFill>
                          <a:latin typeface="微软雅黑" panose="020B0503020204020204" charset="-122"/>
                          <a:ea typeface="微软雅黑" panose="020B0503020204020204" charset="-122"/>
                        </a:rPr>
                        <a:t>--</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1000" dirty="0">
                          <a:solidFill>
                            <a:srgbClr val="000000"/>
                          </a:solidFill>
                          <a:latin typeface="微软雅黑" panose="020B0503020204020204" charset="-122"/>
                          <a:ea typeface="微软雅黑" panose="020B0503020204020204" charset="-122"/>
                          <a:sym typeface="+mn-ea"/>
                        </a:rPr>
                        <a:t>行方主导</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知识运营团队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202610~202612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r>
              <a:tr h="707336">
                <a:tc>
                  <a:txBody>
                    <a:bodyPr/>
                    <a:lstStyle/>
                    <a:p>
                      <a:pPr algn="ctr" fontAlgn="ct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合计</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buNone/>
                      </a:pPr>
                      <a:r>
                        <a:rPr lang="en-US" altLang="zh-CN" sz="1000" b="0" i="0" dirty="0">
                          <a:solidFill>
                            <a:srgbClr val="000000"/>
                          </a:solidFill>
                          <a:latin typeface="微软雅黑" panose="020B0503020204020204" charset="-122"/>
                          <a:ea typeface="微软雅黑" panose="020B0503020204020204" charset="-122"/>
                        </a:rPr>
                        <a:t>1</a:t>
                      </a:r>
                      <a:r>
                        <a:rPr lang="zh-CN" altLang="en-US" sz="1000" b="0" i="0" dirty="0">
                          <a:solidFill>
                            <a:srgbClr val="000000"/>
                          </a:solidFill>
                          <a:latin typeface="微软雅黑" panose="020B0503020204020204" charset="-122"/>
                          <a:ea typeface="微软雅黑" panose="020B0503020204020204" charset="-122"/>
                        </a:rPr>
                        <a:t>、行方：</a:t>
                      </a:r>
                      <a:r>
                        <a:rPr lang="en-US" altLang="zh-CN" sz="1000" b="0" i="0" dirty="0">
                          <a:solidFill>
                            <a:srgbClr val="000000"/>
                          </a:solidFill>
                          <a:latin typeface="微软雅黑" panose="020B0503020204020204" charset="-122"/>
                          <a:ea typeface="微软雅黑" panose="020B0503020204020204" charset="-122"/>
                        </a:rPr>
                        <a:t>25</a:t>
                      </a:r>
                      <a:r>
                        <a:rPr lang="zh-CN" altLang="en-US" sz="1000" b="0" i="0" dirty="0">
                          <a:solidFill>
                            <a:srgbClr val="000000"/>
                          </a:solidFill>
                          <a:latin typeface="微软雅黑" panose="020B0503020204020204" charset="-122"/>
                          <a:ea typeface="微软雅黑" panose="020B0503020204020204" charset="-122"/>
                        </a:rPr>
                        <a:t>人</a:t>
                      </a:r>
                      <a:endParaRPr lang="en-US" altLang="zh-CN" sz="1000" b="0" i="0" dirty="0">
                        <a:solidFill>
                          <a:srgbClr val="000000"/>
                        </a:solidFill>
                        <a:latin typeface="微软雅黑" panose="020B0503020204020204" charset="-122"/>
                        <a:ea typeface="微软雅黑" panose="020B0503020204020204" charset="-122"/>
                      </a:endParaRPr>
                    </a:p>
                    <a:p>
                      <a:pPr algn="l" fontAlgn="ctr">
                        <a:buNone/>
                      </a:pPr>
                      <a:r>
                        <a:rPr lang="en-US" altLang="zh-CN" sz="1000" b="0" i="0" dirty="0">
                          <a:solidFill>
                            <a:srgbClr val="000000"/>
                          </a:solidFill>
                          <a:latin typeface="微软雅黑" panose="020B0503020204020204" charset="-122"/>
                          <a:ea typeface="微软雅黑" panose="020B0503020204020204" charset="-122"/>
                        </a:rPr>
                        <a:t>2</a:t>
                      </a:r>
                      <a:r>
                        <a:rPr lang="zh-CN" altLang="en-US" sz="1000" b="0" i="0" dirty="0">
                          <a:solidFill>
                            <a:srgbClr val="000000"/>
                          </a:solidFill>
                          <a:latin typeface="微软雅黑" panose="020B0503020204020204" charset="-122"/>
                          <a:ea typeface="微软雅黑" panose="020B0503020204020204" charset="-122"/>
                        </a:rPr>
                        <a:t>、非项目任务厂商：</a:t>
                      </a:r>
                      <a:endParaRPr lang="en-US" altLang="zh-CN" sz="1000" b="0" i="0" dirty="0">
                        <a:solidFill>
                          <a:srgbClr val="000000"/>
                        </a:solidFill>
                        <a:latin typeface="微软雅黑" panose="020B0503020204020204" charset="-122"/>
                        <a:ea typeface="微软雅黑" panose="020B0503020204020204" charset="-122"/>
                      </a:endParaRPr>
                    </a:p>
                    <a:p>
                      <a:pPr algn="l" fontAlgn="ctr">
                        <a:buNone/>
                      </a:pPr>
                      <a:r>
                        <a:rPr lang="zh-CN" altLang="en-US" sz="1000" b="0" i="0" dirty="0">
                          <a:solidFill>
                            <a:srgbClr val="000000"/>
                          </a:solidFill>
                          <a:latin typeface="微软雅黑" panose="020B0503020204020204" charset="-122"/>
                          <a:ea typeface="微软雅黑" panose="020B0503020204020204" charset="-122"/>
                        </a:rPr>
                        <a:t>专家</a:t>
                      </a:r>
                      <a:r>
                        <a:rPr lang="en-US" altLang="zh-CN" sz="1000" b="0" i="0" dirty="0">
                          <a:solidFill>
                            <a:srgbClr val="000000"/>
                          </a:solidFill>
                          <a:latin typeface="微软雅黑" panose="020B0503020204020204" charset="-122"/>
                          <a:ea typeface="微软雅黑" panose="020B0503020204020204" charset="-122"/>
                        </a:rPr>
                        <a:t>5</a:t>
                      </a:r>
                      <a:r>
                        <a:rPr lang="zh-CN" altLang="en-US" sz="1000" b="0" i="0" dirty="0">
                          <a:solidFill>
                            <a:srgbClr val="000000"/>
                          </a:solidFill>
                          <a:latin typeface="微软雅黑" panose="020B0503020204020204" charset="-122"/>
                          <a:ea typeface="微软雅黑" panose="020B0503020204020204" charset="-122"/>
                        </a:rPr>
                        <a:t>人，</a:t>
                      </a:r>
                      <a:r>
                        <a:rPr lang="en-US" altLang="zh-CN" sz="1000" b="0" i="0" dirty="0">
                          <a:solidFill>
                            <a:srgbClr val="000000"/>
                          </a:solidFill>
                          <a:latin typeface="微软雅黑" panose="020B0503020204020204" charset="-122"/>
                          <a:ea typeface="微软雅黑" panose="020B0503020204020204" charset="-122"/>
                        </a:rPr>
                        <a:t>20</a:t>
                      </a:r>
                      <a:r>
                        <a:rPr lang="zh-CN" altLang="en-US" sz="1000" b="0" i="0" dirty="0">
                          <a:solidFill>
                            <a:srgbClr val="000000"/>
                          </a:solidFill>
                          <a:latin typeface="微软雅黑" panose="020B0503020204020204" charset="-122"/>
                          <a:ea typeface="微软雅黑" panose="020B0503020204020204" charset="-122"/>
                        </a:rPr>
                        <a:t>人月</a:t>
                      </a:r>
                      <a:endParaRPr lang="en-US" altLang="zh-CN" sz="1000" b="0" i="0" dirty="0">
                        <a:solidFill>
                          <a:srgbClr val="000000"/>
                        </a:solidFill>
                        <a:latin typeface="微软雅黑" panose="020B0503020204020204" charset="-122"/>
                        <a:ea typeface="微软雅黑" panose="020B0503020204020204" charset="-122"/>
                      </a:endParaRPr>
                    </a:p>
                    <a:p>
                      <a:pPr algn="l" fontAlgn="ctr">
                        <a:buNone/>
                      </a:pPr>
                      <a:r>
                        <a:rPr lang="zh-CN" altLang="en-US" sz="1000" b="0" i="0" dirty="0">
                          <a:solidFill>
                            <a:srgbClr val="000000"/>
                          </a:solidFill>
                          <a:latin typeface="微软雅黑" panose="020B0503020204020204" charset="-122"/>
                          <a:ea typeface="微软雅黑" panose="020B0503020204020204" charset="-122"/>
                        </a:rPr>
                        <a:t>开发</a:t>
                      </a:r>
                      <a:r>
                        <a:rPr lang="en-US" altLang="zh-CN" sz="1000" b="0" i="0" dirty="0">
                          <a:solidFill>
                            <a:srgbClr val="000000"/>
                          </a:solidFill>
                          <a:latin typeface="微软雅黑" panose="020B0503020204020204" charset="-122"/>
                          <a:ea typeface="微软雅黑" panose="020B0503020204020204" charset="-122"/>
                        </a:rPr>
                        <a:t>20</a:t>
                      </a:r>
                      <a:r>
                        <a:rPr lang="zh-CN" altLang="en-US" sz="1000" b="0" i="0" dirty="0">
                          <a:solidFill>
                            <a:srgbClr val="000000"/>
                          </a:solidFill>
                          <a:latin typeface="微软雅黑" panose="020B0503020204020204" charset="-122"/>
                          <a:ea typeface="微软雅黑" panose="020B0503020204020204" charset="-122"/>
                        </a:rPr>
                        <a:t>人，</a:t>
                      </a:r>
                      <a:r>
                        <a:rPr lang="en-US" altLang="zh-CN" sz="1000" b="0" i="0" dirty="0">
                          <a:solidFill>
                            <a:srgbClr val="000000"/>
                          </a:solidFill>
                          <a:latin typeface="微软雅黑" panose="020B0503020204020204" charset="-122"/>
                          <a:ea typeface="微软雅黑" panose="020B0503020204020204" charset="-122"/>
                        </a:rPr>
                        <a:t>80</a:t>
                      </a:r>
                      <a:r>
                        <a:rPr lang="zh-CN" altLang="en-US" sz="1000" b="0" i="0" dirty="0">
                          <a:solidFill>
                            <a:srgbClr val="000000"/>
                          </a:solidFill>
                          <a:latin typeface="微软雅黑" panose="020B0503020204020204" charset="-122"/>
                          <a:ea typeface="微软雅黑" panose="020B0503020204020204" charset="-122"/>
                        </a:rPr>
                        <a:t>人月</a:t>
                      </a:r>
                      <a:endParaRPr lang="en-US" altLang="zh-CN" sz="1000" b="0" i="0" dirty="0">
                        <a:solidFill>
                          <a:srgbClr val="000000"/>
                        </a:solidFill>
                        <a:latin typeface="微软雅黑" panose="020B0503020204020204" charset="-122"/>
                        <a:ea typeface="微软雅黑" panose="020B0503020204020204" charset="-122"/>
                      </a:endParaRPr>
                    </a:p>
                    <a:p>
                      <a:pPr algn="l" fontAlgn="ctr">
                        <a:buNone/>
                      </a:pPr>
                      <a:r>
                        <a:rPr lang="en-US" altLang="zh-CN" sz="1000" b="0" i="0" dirty="0">
                          <a:solidFill>
                            <a:srgbClr val="000000"/>
                          </a:solidFill>
                          <a:latin typeface="微软雅黑" panose="020B0503020204020204" charset="-122"/>
                          <a:ea typeface="微软雅黑" panose="020B0503020204020204" charset="-122"/>
                        </a:rPr>
                        <a:t>3</a:t>
                      </a:r>
                      <a:r>
                        <a:rPr lang="zh-CN" altLang="en-US" sz="1000" b="0" i="0" dirty="0">
                          <a:solidFill>
                            <a:srgbClr val="000000"/>
                          </a:solidFill>
                          <a:latin typeface="微软雅黑" panose="020B0503020204020204" charset="-122"/>
                          <a:ea typeface="微软雅黑" panose="020B0503020204020204" charset="-122"/>
                        </a:rPr>
                        <a:t>、产品采购：预算</a:t>
                      </a:r>
                      <a:r>
                        <a:rPr lang="en-US" altLang="zh-CN" sz="1000" b="0" i="0" dirty="0">
                          <a:solidFill>
                            <a:srgbClr val="000000"/>
                          </a:solidFill>
                          <a:latin typeface="微软雅黑" panose="020B0503020204020204" charset="-122"/>
                          <a:ea typeface="微软雅黑" panose="020B0503020204020204" charset="-122"/>
                        </a:rPr>
                        <a:t>XX</a:t>
                      </a:r>
                      <a:r>
                        <a:rPr lang="zh-CN" altLang="en-US" sz="1000" b="0" i="0" dirty="0">
                          <a:solidFill>
                            <a:srgbClr val="000000"/>
                          </a:solidFill>
                          <a:latin typeface="微软雅黑" panose="020B0503020204020204" charset="-122"/>
                          <a:ea typeface="微软雅黑" panose="020B0503020204020204" charset="-122"/>
                        </a:rPr>
                        <a:t>万</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
        <p:nvSpPr>
          <p:cNvPr id="4" name="标题 1"/>
          <p:cNvSpPr txBox="1"/>
          <p:nvPr/>
        </p:nvSpPr>
        <p:spPr bwMode="auto">
          <a:xfrm>
            <a:off x="320396" y="879581"/>
            <a:ext cx="10515600" cy="412536"/>
          </a:xfrm>
          <a:prstGeom prst="rect">
            <a:avLst/>
          </a:prstGeom>
        </p:spPr>
        <p:txBody>
          <a:bodyPr vert="horz" lIns="91440" tIns="45720" rIns="91440" bIns="45720" rtlCol="0" anchor="ctr" anchorCtr="0">
            <a:normAutofit fontScale="87500"/>
          </a:bodyPr>
          <a:lstStyle>
            <a:lvl1pPr algn="l" defTabSz="914400" rtl="0" eaLnBrk="1" fontAlgn="base" latinLnBrk="0" hangingPunct="1">
              <a:lnSpc>
                <a:spcPct val="90000"/>
              </a:lnSpc>
              <a:spcBef>
                <a:spcPct val="0"/>
              </a:spcBef>
              <a:spcAft>
                <a:spcPct val="0"/>
              </a:spcAft>
              <a:buNone/>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fontAlgn="auto"/>
            <a:r>
              <a:rPr lang="zh-CN" altLang="en-US" sz="2400" dirty="0"/>
              <a:t>年底前，知识工程团队补充</a:t>
            </a:r>
            <a:r>
              <a:rPr altLang="zh-CN" sz="2400" dirty="0"/>
              <a:t>15</a:t>
            </a:r>
            <a:r>
              <a:rPr lang="zh-CN" altLang="en-US" sz="2400" dirty="0"/>
              <a:t>人</a:t>
            </a:r>
            <a:r>
              <a:rPr altLang="zh-CN" sz="2400" dirty="0"/>
              <a:t>，</a:t>
            </a:r>
            <a:r>
              <a:rPr lang="zh-CN" altLang="en-US" sz="2400" dirty="0"/>
              <a:t>到</a:t>
            </a:r>
            <a:r>
              <a:rPr lang="en-US" altLang="zh-CN" sz="2400" dirty="0"/>
              <a:t>25</a:t>
            </a:r>
            <a:r>
              <a:rPr lang="zh-CN" altLang="en-US" sz="2400" dirty="0"/>
              <a:t>人，全面支持各条线知识场景接入需求</a:t>
            </a:r>
            <a:r>
              <a:rPr kumimoji="0" lang="zh-CN" altLang="en-US" sz="2400" b="0" kern="1200"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a:t>
            </a:r>
            <a:endParaRPr kumimoji="0" lang="zh-CN" altLang="en-US" sz="2400" b="0" kern="1200"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整体规划实施路径（二阶段）</a:t>
            </a:r>
            <a:endPar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aphicFrame>
        <p:nvGraphicFramePr>
          <p:cNvPr id="3" name="表格 2"/>
          <p:cNvGraphicFramePr/>
          <p:nvPr>
            <p:custDataLst>
              <p:tags r:id="rId1"/>
            </p:custDataLst>
          </p:nvPr>
        </p:nvGraphicFramePr>
        <p:xfrm>
          <a:off x="138747" y="1340704"/>
          <a:ext cx="11914505" cy="5464810"/>
        </p:xfrm>
        <a:graphic>
          <a:graphicData uri="http://schemas.openxmlformats.org/drawingml/2006/table">
            <a:tbl>
              <a:tblPr/>
              <a:tblGrid>
                <a:gridCol w="1055776"/>
                <a:gridCol w="942465"/>
                <a:gridCol w="1352550"/>
                <a:gridCol w="3552825"/>
                <a:gridCol w="1309370"/>
                <a:gridCol w="584551"/>
                <a:gridCol w="972441"/>
                <a:gridCol w="1085153"/>
                <a:gridCol w="1059374"/>
              </a:tblGrid>
              <a:tr h="401659">
                <a:tc>
                  <a:txBody>
                    <a:bodyPr/>
                    <a:lstStyle/>
                    <a:p>
                      <a:pPr algn="ctr" fontAlgn="ctr"/>
                      <a:r>
                        <a:rPr lang="zh-CN" altLang="en-US" sz="1200" b="0" i="0">
                          <a:solidFill>
                            <a:srgbClr val="FFFFFF"/>
                          </a:solidFill>
                          <a:latin typeface="微软雅黑" panose="020B0503020204020204" charset="-122"/>
                          <a:ea typeface="微软雅黑" panose="020B0503020204020204" charset="-122"/>
                        </a:rPr>
                        <a:t>阶段</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类别</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dirty="0">
                          <a:solidFill>
                            <a:srgbClr val="FFFFFF"/>
                          </a:solidFill>
                          <a:latin typeface="微软雅黑" panose="020B0503020204020204" charset="-122"/>
                          <a:ea typeface="微软雅黑" panose="020B0503020204020204" charset="-122"/>
                        </a:rPr>
                        <a:t>专项任务</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dirty="0">
                          <a:solidFill>
                            <a:srgbClr val="FFFFFF"/>
                          </a:solidFill>
                          <a:latin typeface="微软雅黑" panose="020B0503020204020204" charset="-122"/>
                          <a:ea typeface="微软雅黑" panose="020B0503020204020204" charset="-122"/>
                        </a:rPr>
                        <a:t>任务说明</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buNone/>
                      </a:pPr>
                      <a:r>
                        <a:rPr lang="zh-CN" altLang="en-US" sz="1200" b="0" i="0" dirty="0">
                          <a:solidFill>
                            <a:srgbClr val="FFFFFF"/>
                          </a:solidFill>
                          <a:latin typeface="微软雅黑" panose="020B0503020204020204" charset="-122"/>
                          <a:ea typeface="微软雅黑" panose="020B0503020204020204" charset="-122"/>
                        </a:rPr>
                        <a:t>资源投入</a:t>
                      </a:r>
                      <a:endParaRPr lang="en-US" altLang="zh-CN"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dirty="0">
                          <a:solidFill>
                            <a:srgbClr val="FFFFFF"/>
                          </a:solidFill>
                          <a:latin typeface="微软雅黑" panose="020B0503020204020204" charset="-122"/>
                          <a:ea typeface="微软雅黑" panose="020B0503020204020204" charset="-122"/>
                        </a:rPr>
                        <a:t>实施方式建议</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牵头方</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参与方</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计划：</a:t>
                      </a:r>
                      <a:br>
                        <a:rPr lang="zh-CN" altLang="en-US" sz="1200" b="0" i="0">
                          <a:solidFill>
                            <a:srgbClr val="FFFFFF"/>
                          </a:solidFill>
                          <a:latin typeface="微软雅黑" panose="020B0503020204020204" charset="-122"/>
                          <a:ea typeface="微软雅黑" panose="020B0503020204020204" charset="-122"/>
                        </a:rPr>
                      </a:br>
                      <a:r>
                        <a:rPr lang="zh-CN" altLang="en-US" sz="1200" b="0" i="0">
                          <a:solidFill>
                            <a:srgbClr val="FFFFFF"/>
                          </a:solidFill>
                          <a:latin typeface="微软雅黑" panose="020B0503020204020204" charset="-122"/>
                          <a:ea typeface="微软雅黑" panose="020B0503020204020204" charset="-122"/>
                        </a:rPr>
                        <a:t>开始时间</a:t>
                      </a:r>
                      <a:r>
                        <a:rPr lang="en-US" altLang="zh-CN" sz="1200" b="0" i="0">
                          <a:solidFill>
                            <a:srgbClr val="FFFFFF"/>
                          </a:solidFill>
                          <a:latin typeface="微软雅黑" panose="020B0503020204020204" charset="-122"/>
                          <a:ea typeface="微软雅黑" panose="020B0503020204020204" charset="-122"/>
                        </a:rPr>
                        <a:t>/</a:t>
                      </a:r>
                      <a:r>
                        <a:rPr lang="zh-CN" altLang="en-US" sz="1200" b="0" i="0">
                          <a:solidFill>
                            <a:srgbClr val="FFFFFF"/>
                          </a:solidFill>
                          <a:latin typeface="微软雅黑" panose="020B0503020204020204" charset="-122"/>
                          <a:ea typeface="微软雅黑" panose="020B0503020204020204" charset="-122"/>
                        </a:rPr>
                        <a:t>结束时间</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r>
              <a:tr h="632612">
                <a:tc rowSpan="9">
                  <a:txBody>
                    <a:bodyPr/>
                    <a:lstStyle/>
                    <a:p>
                      <a:pPr algn="ctr" fontAlgn="ctr"/>
                      <a:r>
                        <a:rPr lang="zh-CN" sz="1000" dirty="0">
                          <a:solidFill>
                            <a:srgbClr val="000000"/>
                          </a:solidFill>
                          <a:latin typeface="微软雅黑" panose="020B0503020204020204" charset="-122"/>
                          <a:ea typeface="微软雅黑" panose="020B0503020204020204" charset="-122"/>
                          <a:sym typeface="+mn-ea"/>
                        </a:rPr>
                        <a:t>二阶段</a:t>
                      </a:r>
                      <a:endParaRPr lang="zh-CN" sz="1000" b="0" i="0" dirty="0">
                        <a:solidFill>
                          <a:srgbClr val="000000"/>
                        </a:solidFill>
                        <a:latin typeface="微软雅黑" panose="020B0503020204020204" charset="-122"/>
                        <a:ea typeface="微软雅黑" panose="020B0503020204020204" charset="-122"/>
                      </a:endParaRPr>
                    </a:p>
                    <a:p>
                      <a:pPr algn="ctr" fontAlgn="ctr"/>
                      <a:r>
                        <a:rPr lang="en-US" altLang="zh-CN" sz="1000" dirty="0">
                          <a:solidFill>
                            <a:srgbClr val="000000"/>
                          </a:solidFill>
                          <a:latin typeface="微软雅黑" panose="020B0503020204020204" charset="-122"/>
                          <a:ea typeface="微软雅黑" panose="020B0503020204020204" charset="-122"/>
                          <a:sym typeface="+mn-ea"/>
                        </a:rPr>
                        <a:t>202701~202712</a:t>
                      </a:r>
                      <a:endParaRPr lang="en-US" altLang="zh-CN" sz="100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4">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平台建设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全面实施知识工程平台</a:t>
                      </a:r>
                      <a:r>
                        <a:rPr lang="en-US" altLang="zh-CN" sz="1000" b="0" i="0" dirty="0">
                          <a:solidFill>
                            <a:srgbClr val="000000"/>
                          </a:solidFill>
                          <a:latin typeface="微软雅黑" panose="020B0503020204020204" charset="-122"/>
                          <a:ea typeface="微软雅黑" panose="020B0503020204020204" charset="-122"/>
                        </a:rPr>
                        <a:t>5</a:t>
                      </a:r>
                      <a:r>
                        <a:rPr lang="zh-CN" altLang="en-US" sz="1000" b="0" i="0" dirty="0">
                          <a:solidFill>
                            <a:srgbClr val="000000"/>
                          </a:solidFill>
                          <a:latin typeface="微软雅黑" panose="020B0503020204020204" charset="-122"/>
                          <a:ea typeface="微软雅黑" panose="020B0503020204020204" charset="-122"/>
                        </a:rPr>
                        <a:t>层架构规划主体功能建设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完成知识工程平台</a:t>
                      </a:r>
                      <a:r>
                        <a:rPr lang="en-US" altLang="zh-CN" sz="1000" b="0" i="0" dirty="0">
                          <a:solidFill>
                            <a:srgbClr val="000000"/>
                          </a:solidFill>
                          <a:latin typeface="微软雅黑" panose="020B0503020204020204" charset="-122"/>
                          <a:ea typeface="微软雅黑" panose="020B0503020204020204" charset="-122"/>
                        </a:rPr>
                        <a:t>5</a:t>
                      </a:r>
                      <a:r>
                        <a:rPr lang="zh-CN" altLang="en-US" sz="1000" b="0" i="0" dirty="0">
                          <a:solidFill>
                            <a:srgbClr val="000000"/>
                          </a:solidFill>
                          <a:latin typeface="微软雅黑" panose="020B0503020204020204" charset="-122"/>
                          <a:ea typeface="微软雅黑" panose="020B0503020204020204" charset="-122"/>
                        </a:rPr>
                        <a:t>层规划主体功能建设，完善资源层</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包括文档汇聚</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文档校验注册</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元数据标签等</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、加工层功能建设</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并新建服务层</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监运层</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包括知识权限管理</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全链路日志管理</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运营分析报告</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运营策略中心</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运营自治智能体建设等</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功能</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集成本体推理工具完成拓展层主体功能建设</a:t>
                      </a:r>
                      <a:r>
                        <a:rPr lang="en-US" altLang="zh-CN" sz="1000" b="0" i="0" dirty="0">
                          <a:solidFill>
                            <a:srgbClr val="000000"/>
                          </a:solidFill>
                          <a:latin typeface="微软雅黑" panose="020B0503020204020204" charset="-122"/>
                          <a:ea typeface="微软雅黑" panose="020B0503020204020204" charset="-122"/>
                        </a:rPr>
                        <a:t>.</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buNone/>
                      </a:pPr>
                      <a:r>
                        <a:rPr lang="en-US" altLang="zh-CN" sz="1000" b="0" i="0" dirty="0">
                          <a:solidFill>
                            <a:srgbClr val="000000"/>
                          </a:solidFill>
                          <a:latin typeface="微软雅黑" panose="020B0503020204020204" charset="-122"/>
                          <a:ea typeface="微软雅黑" panose="020B0503020204020204" charset="-122"/>
                        </a:rPr>
                        <a:t>1、</a:t>
                      </a:r>
                      <a:r>
                        <a:rPr lang="zh-CN" altLang="en-US" sz="1000" b="0" i="0" dirty="0">
                          <a:solidFill>
                            <a:srgbClr val="000000"/>
                          </a:solidFill>
                          <a:latin typeface="微软雅黑" panose="020B0503020204020204" charset="-122"/>
                          <a:ea typeface="微软雅黑" panose="020B0503020204020204" charset="-122"/>
                        </a:rPr>
                        <a:t>人员投入</a:t>
                      </a:r>
                      <a:endParaRPr lang="zh-CN" altLang="en-US" sz="1000" b="0" i="0" dirty="0">
                        <a:solidFill>
                          <a:srgbClr val="000000"/>
                        </a:solidFill>
                        <a:latin typeface="微软雅黑" panose="020B0503020204020204" charset="-122"/>
                        <a:ea typeface="微软雅黑" panose="020B0503020204020204" charset="-122"/>
                      </a:endParaRPr>
                    </a:p>
                    <a:p>
                      <a:pPr algn="l" fontAlgn="ctr">
                        <a:buNone/>
                      </a:pPr>
                      <a:r>
                        <a:rPr lang="zh-CN" altLang="en-US" sz="1000" b="0" i="0" dirty="0">
                          <a:solidFill>
                            <a:srgbClr val="000000"/>
                          </a:solidFill>
                          <a:latin typeface="微软雅黑" panose="020B0503020204020204" charset="-122"/>
                          <a:ea typeface="微软雅黑" panose="020B0503020204020204" charset="-122"/>
                        </a:rPr>
                        <a:t>行方</a:t>
                      </a:r>
                      <a:r>
                        <a:rPr lang="en-US" altLang="zh-CN" sz="1000" b="0" i="0" dirty="0">
                          <a:solidFill>
                            <a:srgbClr val="000000"/>
                          </a:solidFill>
                          <a:latin typeface="微软雅黑" panose="020B0503020204020204" charset="-122"/>
                          <a:ea typeface="微软雅黑" panose="020B0503020204020204" charset="-122"/>
                        </a:rPr>
                        <a:t>：12</a:t>
                      </a:r>
                      <a:r>
                        <a:rPr lang="zh-CN" altLang="en-US" sz="1000" b="0" i="0" dirty="0">
                          <a:solidFill>
                            <a:srgbClr val="000000"/>
                          </a:solidFill>
                          <a:latin typeface="微软雅黑" panose="020B0503020204020204" charset="-122"/>
                          <a:ea typeface="微软雅黑" panose="020B0503020204020204" charset="-122"/>
                        </a:rPr>
                        <a:t>人</a:t>
                      </a:r>
                      <a:endParaRPr lang="zh-CN" altLang="en-US" sz="1000" b="0" i="0" dirty="0">
                        <a:solidFill>
                          <a:srgbClr val="000000"/>
                        </a:solidFill>
                        <a:latin typeface="微软雅黑" panose="020B0503020204020204" charset="-122"/>
                        <a:ea typeface="微软雅黑" panose="020B0503020204020204" charset="-122"/>
                      </a:endParaRPr>
                    </a:p>
                    <a:p>
                      <a:pPr algn="l" fontAlgn="ctr">
                        <a:buNone/>
                      </a:pPr>
                      <a:r>
                        <a:rPr lang="zh-CN" altLang="en-US" sz="1000" b="0" i="0" dirty="0">
                          <a:solidFill>
                            <a:srgbClr val="000000"/>
                          </a:solidFill>
                          <a:latin typeface="微软雅黑" panose="020B0503020204020204" charset="-122"/>
                          <a:ea typeface="微软雅黑" panose="020B0503020204020204" charset="-122"/>
                        </a:rPr>
                        <a:t>厂商</a:t>
                      </a:r>
                      <a:r>
                        <a:rPr lang="en-US" altLang="zh-CN" sz="1000" b="0" i="0" dirty="0">
                          <a:solidFill>
                            <a:srgbClr val="000000"/>
                          </a:solidFill>
                          <a:latin typeface="微软雅黑" panose="020B0503020204020204" charset="-122"/>
                          <a:ea typeface="微软雅黑" panose="020B0503020204020204" charset="-122"/>
                        </a:rPr>
                        <a:t>：25</a:t>
                      </a:r>
                      <a:r>
                        <a:rPr lang="zh-CN" altLang="en-US" sz="1000" b="0" i="0" dirty="0">
                          <a:solidFill>
                            <a:srgbClr val="000000"/>
                          </a:solidFill>
                          <a:latin typeface="微软雅黑" panose="020B0503020204020204" charset="-122"/>
                          <a:ea typeface="微软雅黑" panose="020B0503020204020204" charset="-122"/>
                        </a:rPr>
                        <a:t>人</a:t>
                      </a:r>
                      <a:r>
                        <a:rPr lang="en-US" altLang="zh-CN" sz="1000" b="0" i="0" dirty="0">
                          <a:solidFill>
                            <a:srgbClr val="000000"/>
                          </a:solidFill>
                          <a:latin typeface="微软雅黑" panose="020B0503020204020204" charset="-122"/>
                          <a:ea typeface="微软雅黑" panose="020B0503020204020204" charset="-122"/>
                        </a:rPr>
                        <a:t>，225</a:t>
                      </a:r>
                      <a:r>
                        <a:rPr lang="zh-CN" altLang="en-US" sz="1000" b="0" i="0" dirty="0">
                          <a:solidFill>
                            <a:srgbClr val="000000"/>
                          </a:solidFill>
                          <a:latin typeface="微软雅黑" panose="020B0503020204020204" charset="-122"/>
                          <a:ea typeface="微软雅黑" panose="020B0503020204020204" charset="-122"/>
                        </a:rPr>
                        <a:t>人月</a:t>
                      </a:r>
                      <a:endParaRPr lang="zh-CN" altLang="en-US" sz="1000" b="0" i="0" dirty="0">
                        <a:solidFill>
                          <a:srgbClr val="000000"/>
                        </a:solidFill>
                        <a:latin typeface="微软雅黑" panose="020B0503020204020204" charset="-122"/>
                        <a:ea typeface="微软雅黑" panose="020B0503020204020204" charset="-122"/>
                      </a:endParaRPr>
                    </a:p>
                    <a:p>
                      <a:pPr algn="l" fontAlgn="ctr">
                        <a:buNone/>
                      </a:pPr>
                      <a:r>
                        <a:rPr lang="en-US" altLang="zh-CN" sz="1000" b="0" i="0" dirty="0">
                          <a:solidFill>
                            <a:srgbClr val="000000"/>
                          </a:solidFill>
                          <a:latin typeface="微软雅黑" panose="020B0503020204020204" charset="-122"/>
                          <a:ea typeface="微软雅黑" panose="020B0503020204020204" charset="-122"/>
                        </a:rPr>
                        <a:t>2、</a:t>
                      </a:r>
                      <a:r>
                        <a:rPr lang="zh-CN" altLang="en-US" sz="1000" b="0" i="0" dirty="0">
                          <a:solidFill>
                            <a:srgbClr val="000000"/>
                          </a:solidFill>
                          <a:latin typeface="微软雅黑" panose="020B0503020204020204" charset="-122"/>
                          <a:ea typeface="微软雅黑" panose="020B0503020204020204" charset="-122"/>
                        </a:rPr>
                        <a:t>本体推理工具产品</a:t>
                      </a:r>
                      <a:r>
                        <a:rPr lang="en-US" altLang="zh-CN" sz="1000" b="0" i="0" dirty="0">
                          <a:solidFill>
                            <a:srgbClr val="000000"/>
                          </a:solidFill>
                          <a:latin typeface="微软雅黑" panose="020B0503020204020204" charset="-122"/>
                          <a:ea typeface="微软雅黑" panose="020B0503020204020204" charset="-122"/>
                        </a:rPr>
                        <a:t>：XX</a:t>
                      </a:r>
                      <a:r>
                        <a:rPr lang="zh-CN" altLang="en-US" sz="1000" b="0" i="0" dirty="0">
                          <a:solidFill>
                            <a:srgbClr val="000000"/>
                          </a:solidFill>
                          <a:latin typeface="微软雅黑" panose="020B0503020204020204" charset="-122"/>
                          <a:ea typeface="微软雅黑" panose="020B0503020204020204" charset="-122"/>
                        </a:rPr>
                        <a:t>万</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立项采购</a:t>
                      </a:r>
                      <a:endParaRPr lang="en-US" altLang="zh-CN" sz="1000" b="0" i="0" dirty="0">
                        <a:solidFill>
                          <a:srgbClr val="000000"/>
                        </a:solidFill>
                        <a:latin typeface="微软雅黑" panose="020B0503020204020204" charset="-122"/>
                        <a:ea typeface="微软雅黑" panose="020B0503020204020204" charset="-122"/>
                      </a:endParaRPr>
                    </a:p>
                    <a:p>
                      <a:pPr algn="ctr" fontAlgn="ctr"/>
                      <a:r>
                        <a:rPr lang="zh-CN" altLang="en-US" sz="1000" b="0" i="0" dirty="0">
                          <a:solidFill>
                            <a:srgbClr val="000000"/>
                          </a:solidFill>
                          <a:latin typeface="微软雅黑" panose="020B0503020204020204" charset="-122"/>
                          <a:ea typeface="微软雅黑" panose="020B0503020204020204" charset="-122"/>
                        </a:rPr>
                        <a:t>（产品</a:t>
                      </a:r>
                      <a:r>
                        <a:rPr lang="en-US" altLang="zh-CN" sz="1000" b="0" i="0" dirty="0">
                          <a:solidFill>
                            <a:srgbClr val="000000"/>
                          </a:solidFill>
                          <a:latin typeface="微软雅黑" panose="020B0503020204020204" charset="-122"/>
                          <a:ea typeface="微软雅黑" panose="020B0503020204020204" charset="-122"/>
                        </a:rPr>
                        <a:t>+</a:t>
                      </a:r>
                      <a:r>
                        <a:rPr lang="zh-CN" altLang="en-US" sz="1000" b="0" i="0" dirty="0">
                          <a:solidFill>
                            <a:srgbClr val="000000"/>
                          </a:solidFill>
                          <a:latin typeface="微软雅黑" panose="020B0503020204020204" charset="-122"/>
                          <a:ea typeface="微软雅黑" panose="020B0503020204020204" charset="-122"/>
                        </a:rPr>
                        <a:t>实施）</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a:solidFill>
                            <a:srgbClr val="000000"/>
                          </a:solidFill>
                          <a:latin typeface="微软雅黑" panose="020B0503020204020204" charset="-122"/>
                          <a:ea typeface="微软雅黑" panose="020B0503020204020204" charset="-122"/>
                        </a:rPr>
                        <a:t>IT</a:t>
                      </a:r>
                      <a:r>
                        <a:rPr lang="zh-CN" altLang="en-US" sz="1000" b="0" i="0">
                          <a:solidFill>
                            <a:srgbClr val="000000"/>
                          </a:solidFill>
                          <a:latin typeface="微软雅黑" panose="020B0503020204020204" charset="-122"/>
                          <a:ea typeface="微软雅黑" panose="020B0503020204020204" charset="-122"/>
                        </a:rPr>
                        <a:t>知识工程团队</a:t>
                      </a: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202701~202709</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338719">
                <a:tc vMerge="1">
                  <a:tcPr>
                    <a:lnT w="12700" cap="flat" cmpd="sng" algn="ctr">
                      <a:solidFill>
                        <a:srgbClr val="000000"/>
                      </a:solidFill>
                      <a:prstDash val="solid"/>
                      <a:round/>
                      <a:headEnd type="none" w="med" len="med"/>
                      <a:tailEnd type="none" w="med" len="med"/>
                    </a:lnT>
                  </a:tcPr>
                </a:tc>
                <a:tc vMerge="1">
                  <a:tcPr marL="6667" marR="6667" marT="6667"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本体推理工具引入</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引入本体推理工具，扩展本体语义事理逻辑推理能力，促进智能体知识推理能力增强；</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202701~202709</a:t>
                      </a:r>
                      <a:endParaRPr lang="en-US" altLang="zh-CN" sz="1000" b="0" i="0" dirty="0">
                        <a:solidFill>
                          <a:srgbClr val="000000"/>
                        </a:solidFill>
                        <a:latin typeface="微软雅黑" panose="020B0503020204020204" charset="-122"/>
                        <a:ea typeface="微软雅黑" panose="020B0503020204020204" charset="-122"/>
                      </a:endParaRPr>
                    </a:p>
                    <a:p>
                      <a:pPr algn="l" fontAlgn="ct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338719">
                <a:tc vMerge="1">
                  <a:tcPr/>
                </a:tc>
                <a:tc vMerge="1">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图数据库相关功能开发</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图数据库及知海平台相关功能开发</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zh-CN" altLang="en-US" sz="1000" b="0" i="0" dirty="0">
                          <a:solidFill>
                            <a:srgbClr val="000000"/>
                          </a:solidFill>
                          <a:latin typeface="微软雅黑" panose="020B0503020204020204" charset="-122"/>
                          <a:ea typeface="微软雅黑" panose="020B0503020204020204" charset="-122"/>
                        </a:rPr>
                        <a:t>行方：</a:t>
                      </a:r>
                      <a:r>
                        <a:rPr lang="en-US" altLang="zh-CN" sz="1000" b="0" i="0" dirty="0">
                          <a:solidFill>
                            <a:srgbClr val="000000"/>
                          </a:solidFill>
                          <a:latin typeface="微软雅黑" panose="020B0503020204020204" charset="-122"/>
                          <a:ea typeface="微软雅黑" panose="020B0503020204020204" charset="-122"/>
                        </a:rPr>
                        <a:t>3</a:t>
                      </a:r>
                      <a:r>
                        <a:rPr lang="zh-CN" altLang="en-US" sz="1000" b="0" i="0" dirty="0">
                          <a:solidFill>
                            <a:srgbClr val="000000"/>
                          </a:solidFill>
                          <a:latin typeface="微软雅黑" panose="020B0503020204020204" charset="-122"/>
                          <a:ea typeface="微软雅黑" panose="020B0503020204020204" charset="-122"/>
                        </a:rPr>
                        <a:t>人</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行方主导</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dirty="0">
                          <a:solidFill>
                            <a:srgbClr val="000000"/>
                          </a:solidFill>
                          <a:latin typeface="微软雅黑" panose="020B0503020204020204" charset="-122"/>
                          <a:ea typeface="微软雅黑" panose="020B0503020204020204" charset="-122"/>
                          <a:sym typeface="+mn-ea"/>
                        </a:rPr>
                        <a:t>202701~202706</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330980">
                <a:tc vMerge="1">
                  <a:tcPr>
                    <a:lnT w="12700" cap="flat" cmpd="sng" algn="ctr">
                      <a:solidFill>
                        <a:srgbClr val="000000"/>
                      </a:solidFill>
                      <a:prstDash val="solid"/>
                      <a:round/>
                      <a:headEnd type="none" w="med" len="med"/>
                      <a:tailEnd type="none" w="med" len="med"/>
                    </a:lnT>
                  </a:tcPr>
                </a:tc>
                <a:tc vMerge="1">
                  <a:tcPr>
                    <a:lnT w="12700" cap="flat" cmpd="sng" algn="ctr">
                      <a:solidFill>
                        <a:srgbClr val="000000"/>
                      </a:solidFill>
                      <a:prstDash val="solid"/>
                      <a:round/>
                      <a:headEnd type="none" w="med" len="med"/>
                      <a:tailEnd type="none" w="med" len="med"/>
                    </a:lnT>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原</a:t>
                      </a:r>
                      <a:r>
                        <a:rPr lang="en-US" altLang="zh-CN" sz="1000" b="0" i="0" dirty="0">
                          <a:solidFill>
                            <a:srgbClr val="000000"/>
                          </a:solidFill>
                          <a:latin typeface="微软雅黑" panose="020B0503020204020204" charset="-122"/>
                          <a:ea typeface="微软雅黑" panose="020B0503020204020204" charset="-122"/>
                        </a:rPr>
                        <a:t>RAG</a:t>
                      </a:r>
                      <a:r>
                        <a:rPr lang="zh-CN" altLang="en-US" sz="1000" b="0" i="0" dirty="0">
                          <a:solidFill>
                            <a:srgbClr val="000000"/>
                          </a:solidFill>
                          <a:latin typeface="微软雅黑" panose="020B0503020204020204" charset="-122"/>
                          <a:ea typeface="微软雅黑" panose="020B0503020204020204" charset="-122"/>
                        </a:rPr>
                        <a:t>平台功能整合</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基于新知识工程平台，将原</a:t>
                      </a:r>
                      <a:r>
                        <a:rPr lang="en-US" altLang="zh-CN" sz="1000" b="0" i="0" dirty="0">
                          <a:solidFill>
                            <a:srgbClr val="000000"/>
                          </a:solidFill>
                          <a:latin typeface="微软雅黑" panose="020B0503020204020204" charset="-122"/>
                          <a:ea typeface="微软雅黑" panose="020B0503020204020204" charset="-122"/>
                        </a:rPr>
                        <a:t>RAG</a:t>
                      </a:r>
                      <a:r>
                        <a:rPr lang="zh-CN" altLang="en-US" sz="1000" b="0" i="0" dirty="0">
                          <a:solidFill>
                            <a:srgbClr val="000000"/>
                          </a:solidFill>
                          <a:latin typeface="微软雅黑" panose="020B0503020204020204" charset="-122"/>
                          <a:ea typeface="微软雅黑" panose="020B0503020204020204" charset="-122"/>
                        </a:rPr>
                        <a:t>平台向量加工和检索等功能进行整合，确保新平台上线保持关联系统业务连续性</a:t>
                      </a:r>
                      <a:endParaRPr lang="zh-CN" altLang="en-US" sz="1000" b="1"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zh-CN" altLang="en-US" sz="1000" b="0" i="0" kern="1200" dirty="0">
                          <a:solidFill>
                            <a:srgbClr val="000000"/>
                          </a:solidFill>
                          <a:latin typeface="微软雅黑" panose="020B0503020204020204" charset="-122"/>
                          <a:ea typeface="微软雅黑" panose="020B0503020204020204" charset="-122"/>
                          <a:cs typeface="+mn-cs"/>
                        </a:rPr>
                        <a:t>行方：复用平台建设人员；</a:t>
                      </a:r>
                      <a:endParaRPr lang="en-US" altLang="zh-CN" sz="1000" b="0" i="0" kern="1200" dirty="0">
                        <a:solidFill>
                          <a:srgbClr val="000000"/>
                        </a:solidFill>
                        <a:latin typeface="微软雅黑" panose="020B0503020204020204" charset="-122"/>
                        <a:ea typeface="微软雅黑" panose="020B0503020204020204" charset="-122"/>
                        <a:cs typeface="+mn-cs"/>
                      </a:endParaRPr>
                    </a:p>
                    <a:p>
                      <a:pPr algn="l" fontAlgn="ctr">
                        <a:buNone/>
                      </a:pPr>
                      <a:r>
                        <a:rPr lang="zh-CN" altLang="en-US" sz="1000" b="0" i="0" kern="1200" dirty="0">
                          <a:solidFill>
                            <a:srgbClr val="000000"/>
                          </a:solidFill>
                          <a:latin typeface="微软雅黑" panose="020B0503020204020204" charset="-122"/>
                          <a:ea typeface="微软雅黑" panose="020B0503020204020204" charset="-122"/>
                          <a:cs typeface="+mn-cs"/>
                        </a:rPr>
                        <a:t>厂商：复用场景建设人月</a:t>
                      </a:r>
                      <a:endParaRPr lang="en-US" altLang="zh-CN" sz="1000" b="0" i="0" kern="1200" dirty="0">
                        <a:solidFill>
                          <a:srgbClr val="000000"/>
                        </a:solidFill>
                        <a:latin typeface="微软雅黑" panose="020B0503020204020204" charset="-122"/>
                        <a:ea typeface="微软雅黑" panose="020B0503020204020204" charset="-122"/>
                        <a:cs typeface="+mn-cs"/>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altLang="en-US" dirty="0"/>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dirty="0">
                          <a:solidFill>
                            <a:srgbClr val="000000"/>
                          </a:solidFill>
                          <a:latin typeface="微软雅黑" panose="020B0503020204020204" charset="-122"/>
                          <a:ea typeface="微软雅黑" panose="020B0503020204020204" charset="-122"/>
                          <a:sym typeface="+mn-ea"/>
                        </a:rPr>
                        <a:t>202701~202706</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320040">
                <a:tc vMerge="1">
                  <a:tcPr>
                    <a:lnT w="12700" cap="flat" cmpd="sng" algn="ctr">
                      <a:solidFill>
                        <a:srgbClr val="000000"/>
                      </a:solidFill>
                      <a:prstDash val="solid"/>
                      <a:round/>
                      <a:headEnd type="none" w="med" len="med"/>
                      <a:tailEnd type="none" w="med" len="med"/>
                    </a:lnT>
                  </a:tcPr>
                </a:tc>
                <a:tc rowSpan="3">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企业智能助手及中信龙虾知识库场景建设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支撑企业智能助手</a:t>
                      </a:r>
                      <a:r>
                        <a:rPr lang="en-US" altLang="zh-CN" sz="1000" b="0" i="0" dirty="0">
                          <a:solidFill>
                            <a:srgbClr val="000000"/>
                          </a:solidFill>
                          <a:latin typeface="微软雅黑" panose="020B0503020204020204" charset="-122"/>
                          <a:ea typeface="微软雅黑" panose="020B0503020204020204" charset="-122"/>
                        </a:rPr>
                        <a:t>30</a:t>
                      </a:r>
                      <a:r>
                        <a:rPr lang="zh-CN" altLang="en-US" sz="1000" b="0" i="0" dirty="0">
                          <a:solidFill>
                            <a:srgbClr val="000000"/>
                          </a:solidFill>
                          <a:latin typeface="微软雅黑" panose="020B0503020204020204" charset="-122"/>
                          <a:ea typeface="微软雅黑" panose="020B0503020204020204" charset="-122"/>
                        </a:rPr>
                        <a:t>多个智能体整合相关知识库建设；</a:t>
                      </a:r>
                      <a:endParaRPr lang="en-US" altLang="zh-CN" sz="1000" b="0" i="0" dirty="0">
                        <a:solidFill>
                          <a:srgbClr val="000000"/>
                        </a:solidFill>
                        <a:latin typeface="微软雅黑" panose="020B0503020204020204" charset="-122"/>
                        <a:ea typeface="微软雅黑" panose="020B050302020402020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支撑中信龙虾个人知识库场景建设；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3">
                  <a:txBody>
                    <a:bodyPr/>
                    <a:lstStyle/>
                    <a:p>
                      <a:pPr algn="l" fontAlgn="ctr"/>
                      <a:r>
                        <a:rPr lang="zh-CN" altLang="en-US" sz="1000" dirty="0">
                          <a:solidFill>
                            <a:srgbClr val="000000"/>
                          </a:solidFill>
                          <a:latin typeface="微软雅黑" panose="020B0503020204020204" charset="-122"/>
                          <a:ea typeface="微软雅黑" panose="020B0503020204020204" charset="-122"/>
                          <a:sym typeface="+mn-ea"/>
                        </a:rPr>
                        <a:t>行方：</a:t>
                      </a:r>
                      <a:r>
                        <a:rPr lang="en-US" altLang="zh-CN" sz="1000" dirty="0">
                          <a:solidFill>
                            <a:srgbClr val="000000"/>
                          </a:solidFill>
                          <a:latin typeface="微软雅黑" panose="020B0503020204020204" charset="-122"/>
                          <a:ea typeface="微软雅黑" panose="020B0503020204020204" charset="-122"/>
                          <a:sym typeface="+mn-ea"/>
                        </a:rPr>
                        <a:t>20</a:t>
                      </a:r>
                      <a:r>
                        <a:rPr lang="zh-CN" altLang="en-US" sz="1000" dirty="0">
                          <a:solidFill>
                            <a:srgbClr val="000000"/>
                          </a:solidFill>
                          <a:latin typeface="微软雅黑" panose="020B0503020204020204" charset="-122"/>
                          <a:ea typeface="微软雅黑" panose="020B0503020204020204" charset="-122"/>
                          <a:sym typeface="+mn-ea"/>
                        </a:rPr>
                        <a:t>人</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r>
                        <a:rPr lang="zh-CN" altLang="en-US" sz="1000" dirty="0">
                          <a:solidFill>
                            <a:srgbClr val="000000"/>
                          </a:solidFill>
                          <a:latin typeface="微软雅黑" panose="020B0503020204020204" charset="-122"/>
                          <a:ea typeface="微软雅黑" panose="020B0503020204020204" charset="-122"/>
                          <a:sym typeface="+mn-ea"/>
                        </a:rPr>
                        <a:t>（其中本体应用</a:t>
                      </a:r>
                      <a:r>
                        <a:rPr lang="en-US" altLang="zh-CN" sz="1000" dirty="0">
                          <a:solidFill>
                            <a:srgbClr val="000000"/>
                          </a:solidFill>
                          <a:latin typeface="微软雅黑" panose="020B0503020204020204" charset="-122"/>
                          <a:ea typeface="微软雅黑" panose="020B0503020204020204" charset="-122"/>
                          <a:sym typeface="+mn-ea"/>
                        </a:rPr>
                        <a:t>10</a:t>
                      </a:r>
                      <a:r>
                        <a:rPr lang="zh-CN" altLang="en-US" sz="1000" dirty="0">
                          <a:solidFill>
                            <a:srgbClr val="000000"/>
                          </a:solidFill>
                          <a:latin typeface="微软雅黑" panose="020B0503020204020204" charset="-122"/>
                          <a:ea typeface="微软雅黑" panose="020B0503020204020204" charset="-122"/>
                          <a:sym typeface="+mn-ea"/>
                        </a:rPr>
                        <a:t>人）</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r>
                        <a:rPr lang="zh-CN" altLang="en-US" sz="1000" b="1" dirty="0">
                          <a:solidFill>
                            <a:srgbClr val="000000"/>
                          </a:solidFill>
                          <a:latin typeface="微软雅黑" panose="020B0503020204020204" charset="-122"/>
                          <a:ea typeface="微软雅黑" panose="020B0503020204020204" charset="-122"/>
                          <a:sym typeface="+mn-ea"/>
                        </a:rPr>
                        <a:t>厂商：</a:t>
                      </a:r>
                      <a:endParaRPr lang="en-US" altLang="zh-CN" sz="1000" b="1" dirty="0">
                        <a:solidFill>
                          <a:srgbClr val="000000"/>
                        </a:solidFill>
                        <a:latin typeface="微软雅黑" panose="020B0503020204020204" charset="-122"/>
                        <a:ea typeface="微软雅黑" panose="020B0503020204020204" charset="-122"/>
                        <a:sym typeface="+mn-ea"/>
                      </a:endParaRPr>
                    </a:p>
                    <a:p>
                      <a:pPr algn="l" fontAlgn="ctr"/>
                      <a:r>
                        <a:rPr lang="zh-CN" altLang="en-US" sz="1000" b="0" dirty="0">
                          <a:solidFill>
                            <a:srgbClr val="000000"/>
                          </a:solidFill>
                          <a:latin typeface="微软雅黑" panose="020B0503020204020204" charset="-122"/>
                          <a:ea typeface="微软雅黑" panose="020B0503020204020204" charset="-122"/>
                          <a:sym typeface="+mn-ea"/>
                        </a:rPr>
                        <a:t>专家</a:t>
                      </a:r>
                      <a:r>
                        <a:rPr lang="en-US" altLang="zh-CN" sz="1000" b="0" dirty="0">
                          <a:solidFill>
                            <a:srgbClr val="000000"/>
                          </a:solidFill>
                          <a:latin typeface="微软雅黑" panose="020B0503020204020204" charset="-122"/>
                          <a:ea typeface="微软雅黑" panose="020B0503020204020204" charset="-122"/>
                          <a:sym typeface="+mn-ea"/>
                        </a:rPr>
                        <a:t>5</a:t>
                      </a:r>
                      <a:r>
                        <a:rPr lang="zh-CN" altLang="en-US" sz="1000" b="0" dirty="0">
                          <a:solidFill>
                            <a:srgbClr val="000000"/>
                          </a:solidFill>
                          <a:latin typeface="微软雅黑" panose="020B0503020204020204" charset="-122"/>
                          <a:ea typeface="微软雅黑" panose="020B0503020204020204" charset="-122"/>
                          <a:sym typeface="+mn-ea"/>
                        </a:rPr>
                        <a:t>人，</a:t>
                      </a:r>
                      <a:r>
                        <a:rPr lang="en-US" altLang="zh-CN" sz="1000" b="0" dirty="0">
                          <a:solidFill>
                            <a:srgbClr val="000000"/>
                          </a:solidFill>
                          <a:latin typeface="微软雅黑" panose="020B0503020204020204" charset="-122"/>
                          <a:ea typeface="微软雅黑" panose="020B0503020204020204" charset="-122"/>
                          <a:sym typeface="+mn-ea"/>
                        </a:rPr>
                        <a:t>60</a:t>
                      </a:r>
                      <a:r>
                        <a:rPr lang="zh-CN" altLang="en-US" sz="1000" b="0" dirty="0">
                          <a:solidFill>
                            <a:srgbClr val="000000"/>
                          </a:solidFill>
                          <a:latin typeface="微软雅黑" panose="020B0503020204020204" charset="-122"/>
                          <a:ea typeface="微软雅黑" panose="020B0503020204020204" charset="-122"/>
                          <a:sym typeface="+mn-ea"/>
                        </a:rPr>
                        <a:t>人月</a:t>
                      </a:r>
                      <a:endParaRPr lang="en-US" altLang="zh-CN" sz="1000" b="0" dirty="0">
                        <a:solidFill>
                          <a:srgbClr val="000000"/>
                        </a:solidFill>
                        <a:latin typeface="微软雅黑" panose="020B0503020204020204" charset="-122"/>
                        <a:ea typeface="微软雅黑" panose="020B0503020204020204" charset="-122"/>
                        <a:sym typeface="+mn-ea"/>
                      </a:endParaRPr>
                    </a:p>
                    <a:p>
                      <a:pPr algn="l" fontAlgn="ctr"/>
                      <a:r>
                        <a:rPr lang="zh-CN" altLang="en-US" sz="1000" b="0" dirty="0">
                          <a:solidFill>
                            <a:srgbClr val="000000"/>
                          </a:solidFill>
                          <a:latin typeface="微软雅黑" panose="020B0503020204020204" charset="-122"/>
                          <a:ea typeface="微软雅黑" panose="020B0503020204020204" charset="-122"/>
                          <a:sym typeface="+mn-ea"/>
                        </a:rPr>
                        <a:t>开发</a:t>
                      </a:r>
                      <a:r>
                        <a:rPr lang="en-US" altLang="zh-CN" sz="1000" b="0" dirty="0">
                          <a:solidFill>
                            <a:srgbClr val="000000"/>
                          </a:solidFill>
                          <a:latin typeface="微软雅黑" panose="020B0503020204020204" charset="-122"/>
                          <a:ea typeface="微软雅黑" panose="020B0503020204020204" charset="-122"/>
                          <a:sym typeface="+mn-ea"/>
                        </a:rPr>
                        <a:t>10</a:t>
                      </a:r>
                      <a:r>
                        <a:rPr lang="zh-CN" altLang="en-US" sz="1000" b="0" dirty="0">
                          <a:solidFill>
                            <a:srgbClr val="000000"/>
                          </a:solidFill>
                          <a:latin typeface="微软雅黑" panose="020B0503020204020204" charset="-122"/>
                          <a:ea typeface="微软雅黑" panose="020B0503020204020204" charset="-122"/>
                          <a:sym typeface="+mn-ea"/>
                        </a:rPr>
                        <a:t>人，</a:t>
                      </a:r>
                      <a:r>
                        <a:rPr lang="en-US" altLang="zh-CN" sz="1000" b="0" dirty="0">
                          <a:solidFill>
                            <a:srgbClr val="000000"/>
                          </a:solidFill>
                          <a:latin typeface="微软雅黑" panose="020B0503020204020204" charset="-122"/>
                          <a:ea typeface="微软雅黑" panose="020B0503020204020204" charset="-122"/>
                          <a:sym typeface="+mn-ea"/>
                        </a:rPr>
                        <a:t>120</a:t>
                      </a:r>
                      <a:r>
                        <a:rPr lang="zh-CN" altLang="en-US" sz="1000" b="0" dirty="0">
                          <a:solidFill>
                            <a:srgbClr val="000000"/>
                          </a:solidFill>
                          <a:latin typeface="微软雅黑" panose="020B0503020204020204" charset="-122"/>
                          <a:ea typeface="微软雅黑" panose="020B0503020204020204" charset="-122"/>
                          <a:sym typeface="+mn-ea"/>
                        </a:rPr>
                        <a:t>人月</a:t>
                      </a:r>
                      <a:endParaRPr lang="zh-CN" altLang="en-US" sz="1000" b="0" dirty="0">
                        <a:solidFill>
                          <a:srgbClr val="000000"/>
                        </a:solidFill>
                        <a:latin typeface="微软雅黑" panose="020B0503020204020204" charset="-122"/>
                        <a:ea typeface="微软雅黑" panose="020B0503020204020204" charset="-122"/>
                        <a:sym typeface="+mn-ea"/>
                      </a:endParaRPr>
                    </a:p>
                    <a:p>
                      <a:pPr algn="l" fontAlgn="ctr"/>
                      <a:r>
                        <a:rPr lang="zh-CN" altLang="en-US" sz="1000" b="0" dirty="0">
                          <a:solidFill>
                            <a:srgbClr val="000000"/>
                          </a:solidFill>
                          <a:latin typeface="微软雅黑" panose="020B0503020204020204" charset="-122"/>
                          <a:ea typeface="微软雅黑" panose="020B0503020204020204" charset="-122"/>
                          <a:sym typeface="+mn-ea"/>
                        </a:rPr>
                        <a:t>工作量视具体场景建设范围确定</a:t>
                      </a:r>
                      <a:endParaRPr lang="zh-CN" altLang="en-US" sz="1000" b="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rowSpan="3">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非项目任务</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公共智能体团队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融合团队、</a:t>
                      </a: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dirty="0">
                          <a:solidFill>
                            <a:srgbClr val="000000"/>
                          </a:solidFill>
                          <a:latin typeface="微软雅黑" panose="020B0503020204020204" charset="-122"/>
                          <a:ea typeface="微软雅黑" panose="020B0503020204020204" charset="-122"/>
                          <a:sym typeface="+mn-ea"/>
                        </a:rPr>
                        <a:t>202701~202712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600936">
                <a:tc vMerge="1">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各条线知识应用场景建设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结合一阶段试点经验总结，形成复用能力进行其他场景推广，覆盖对公、零售、金市、风险、科技等条线场景。</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dirty="0">
                          <a:solidFill>
                            <a:srgbClr val="000000"/>
                          </a:solidFill>
                          <a:latin typeface="微软雅黑" panose="020B0503020204020204" charset="-122"/>
                          <a:ea typeface="微软雅黑" panose="020B0503020204020204" charset="-122"/>
                          <a:sym typeface="+mn-ea"/>
                        </a:rPr>
                        <a:t>IT</a:t>
                      </a:r>
                      <a:r>
                        <a:rPr lang="zh-CN" altLang="en-US" sz="1000" dirty="0">
                          <a:solidFill>
                            <a:srgbClr val="000000"/>
                          </a:solidFill>
                          <a:latin typeface="微软雅黑" panose="020B0503020204020204" charset="-122"/>
                          <a:ea typeface="微软雅黑" panose="020B0503020204020204" charset="-122"/>
                          <a:sym typeface="+mn-ea"/>
                        </a:rPr>
                        <a:t>融合团队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202701~202712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r>
              <a:tr h="217694">
                <a:tc vMerge="1">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本体建模应用场景建设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应用本体方法论，引入外部专家经验，通过本体建模工具和试点业务系统打通，实施智能体自主决策、自动执行场景试点</a:t>
                      </a:r>
                      <a:r>
                        <a:rPr lang="en-US" altLang="zh-CN" sz="1000" b="0" i="0" dirty="0">
                          <a:solidFill>
                            <a:srgbClr val="000000"/>
                          </a:solidFill>
                          <a:latin typeface="微软雅黑" panose="020B0503020204020204" charset="-122"/>
                          <a:ea typeface="微软雅黑" panose="020B0503020204020204" charset="-122"/>
                        </a:rPr>
                        <a:t>。</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dirty="0">
                          <a:solidFill>
                            <a:srgbClr val="000000"/>
                          </a:solidFill>
                          <a:latin typeface="微软雅黑" panose="020B0503020204020204" charset="-122"/>
                          <a:ea typeface="微软雅黑" panose="020B0503020204020204" charset="-122"/>
                          <a:sym typeface="+mn-ea"/>
                        </a:rPr>
                        <a:t>IT</a:t>
                      </a:r>
                      <a:r>
                        <a:rPr lang="zh-CN" altLang="en-US" sz="1000" dirty="0">
                          <a:solidFill>
                            <a:srgbClr val="000000"/>
                          </a:solidFill>
                          <a:latin typeface="微软雅黑" panose="020B0503020204020204" charset="-122"/>
                          <a:ea typeface="微软雅黑" panose="020B0503020204020204" charset="-122"/>
                          <a:sym typeface="+mn-ea"/>
                        </a:rPr>
                        <a:t>融合团队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202704~202712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47513">
                <a:tc vMerge="1">
                  <a:tcPr marL="6667" marR="6667" marT="6667" marB="0" anchor="ctr">
                    <a:lnL w="12700" cap="flat" cmpd="sng">
                      <a:solidFill>
                        <a:srgbClr val="000000"/>
                      </a:solidFill>
                      <a:prstDash val="soli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标准规范制定</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dirty="0">
                          <a:latin typeface="微软雅黑" panose="020B0503020204020204" charset="-122"/>
                          <a:ea typeface="微软雅黑" panose="020B0503020204020204" charset="-122"/>
                          <a:cs typeface="微软雅黑" panose="020B0503020204020204" charset="-122"/>
                          <a:sym typeface="+mn-ea"/>
                        </a:rPr>
                        <a:t>《</a:t>
                      </a:r>
                      <a:r>
                        <a:rPr lang="zh-CN" altLang="en-US" sz="1000" dirty="0">
                          <a:latin typeface="微软雅黑" panose="020B0503020204020204" charset="-122"/>
                          <a:ea typeface="微软雅黑" panose="020B0503020204020204" charset="-122"/>
                          <a:cs typeface="微软雅黑" panose="020B0503020204020204" charset="-122"/>
                          <a:sym typeface="+mn-ea"/>
                        </a:rPr>
                        <a:t>中信银行</a:t>
                      </a:r>
                      <a:r>
                        <a:rPr lang="zh-CN" altLang="en-US" sz="1000" b="0" u="none" strike="noStrike" dirty="0">
                          <a:effectLst/>
                          <a:latin typeface="微软雅黑" panose="020B0503020204020204" charset="-122"/>
                          <a:ea typeface="微软雅黑" panose="020B0503020204020204" charset="-122"/>
                        </a:rPr>
                        <a:t>知识工程平台知识图谱开发规范</a:t>
                      </a:r>
                      <a:r>
                        <a:rPr lang="en-US" altLang="zh-CN" sz="1000" b="0" u="none" strike="noStrike" dirty="0">
                          <a:effectLst/>
                          <a:latin typeface="微软雅黑" panose="020B0503020204020204" charset="-122"/>
                          <a:ea typeface="微软雅黑" panose="020B0503020204020204" charset="-122"/>
                        </a:rPr>
                        <a:t>》</a:t>
                      </a:r>
                      <a:endParaRPr lang="en-US" altLang="zh-CN" sz="1000" dirty="0">
                        <a:latin typeface="微软雅黑" panose="020B0503020204020204" charset="-122"/>
                        <a:ea typeface="微软雅黑" panose="020B0503020204020204" charset="-122"/>
                        <a:cs typeface="微软雅黑" panose="020B0503020204020204" charset="-122"/>
                        <a:sym typeface="+mn-ea"/>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dirty="0">
                          <a:latin typeface="微软雅黑" panose="020B0503020204020204" charset="-122"/>
                          <a:ea typeface="微软雅黑" panose="020B0503020204020204" charset="-122"/>
                          <a:cs typeface="微软雅黑" panose="020B0503020204020204" charset="-122"/>
                          <a:sym typeface="+mn-ea"/>
                        </a:rPr>
                        <a:t>《</a:t>
                      </a:r>
                      <a:r>
                        <a:rPr lang="zh-CN" altLang="en-US" sz="1000" dirty="0">
                          <a:latin typeface="微软雅黑" panose="020B0503020204020204" charset="-122"/>
                          <a:ea typeface="微软雅黑" panose="020B0503020204020204" charset="-122"/>
                          <a:cs typeface="微软雅黑" panose="020B0503020204020204" charset="-122"/>
                          <a:sym typeface="+mn-ea"/>
                        </a:rPr>
                        <a:t>中信银行知识工程</a:t>
                      </a:r>
                      <a:r>
                        <a:rPr lang="zh-CN" altLang="en-US" sz="1000" b="0" u="none" strike="noStrike" dirty="0">
                          <a:effectLst/>
                          <a:latin typeface="微软雅黑" panose="020B0503020204020204" charset="-122"/>
                          <a:ea typeface="微软雅黑" panose="020B0503020204020204" charset="-122"/>
                        </a:rPr>
                        <a:t>本体建模及应用规范</a:t>
                      </a:r>
                      <a:r>
                        <a:rPr lang="en-US" altLang="zh-CN" sz="1000" b="0" u="none" strike="noStrike" dirty="0">
                          <a:effectLst/>
                          <a:latin typeface="微软雅黑" panose="020B0503020204020204" charset="-122"/>
                          <a:ea typeface="微软雅黑" panose="020B0503020204020204" charset="-122"/>
                        </a:rPr>
                        <a:t>》</a:t>
                      </a:r>
                      <a:endParaRPr lang="en-US" altLang="zh-CN" sz="1000" dirty="0">
                        <a:latin typeface="微软雅黑" panose="020B0503020204020204" charset="-122"/>
                        <a:ea typeface="微软雅黑" panose="020B0503020204020204" charset="-122"/>
                        <a:cs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lang="zh-CN" altLang="en-US" sz="1000" b="1"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47513">
                <a:tc vMerge="1">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运营能力建设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人机协同智能化知识运营推广</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基于智能运营功能，试运行知识自动保鲜，知识自动演进等人机协同运营新范式</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endParaRPr lang="zh-CN" altLang="en-US" sz="100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行方主导</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知识运营团队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202701~202712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r>
              <a:tr h="347513">
                <a:tc>
                  <a:txBody>
                    <a:bodyPr/>
                    <a:lstStyle/>
                    <a:p>
                      <a:pPr algn="ctr" fontAlgn="ctr"/>
                      <a:endParaRPr lang="en-US" altLang="zh-CN" sz="100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合计</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buNone/>
                      </a:pPr>
                      <a:r>
                        <a:rPr lang="en-US" altLang="zh-CN" sz="1000" dirty="0">
                          <a:solidFill>
                            <a:srgbClr val="000000"/>
                          </a:solidFill>
                          <a:latin typeface="微软雅黑" panose="020B0503020204020204" charset="-122"/>
                          <a:ea typeface="微软雅黑" panose="020B0503020204020204" charset="-122"/>
                          <a:sym typeface="+mn-ea"/>
                        </a:rPr>
                        <a:t>1</a:t>
                      </a:r>
                      <a:r>
                        <a:rPr lang="zh-CN" altLang="en-US" sz="1000" dirty="0">
                          <a:solidFill>
                            <a:srgbClr val="000000"/>
                          </a:solidFill>
                          <a:latin typeface="微软雅黑" panose="020B0503020204020204" charset="-122"/>
                          <a:ea typeface="微软雅黑" panose="020B0503020204020204" charset="-122"/>
                          <a:sym typeface="+mn-ea"/>
                        </a:rPr>
                        <a:t>、行方：</a:t>
                      </a:r>
                      <a:r>
                        <a:rPr lang="en-US" altLang="zh-CN" sz="1000" dirty="0">
                          <a:solidFill>
                            <a:srgbClr val="000000"/>
                          </a:solidFill>
                          <a:latin typeface="微软雅黑" panose="020B0503020204020204" charset="-122"/>
                          <a:ea typeface="微软雅黑" panose="020B0503020204020204" charset="-122"/>
                          <a:sym typeface="+mn-ea"/>
                        </a:rPr>
                        <a:t>35</a:t>
                      </a:r>
                      <a:r>
                        <a:rPr lang="zh-CN" altLang="en-US" sz="1000" dirty="0">
                          <a:solidFill>
                            <a:srgbClr val="000000"/>
                          </a:solidFill>
                          <a:latin typeface="微软雅黑" panose="020B0503020204020204" charset="-122"/>
                          <a:ea typeface="微软雅黑" panose="020B0503020204020204" charset="-122"/>
                          <a:sym typeface="+mn-ea"/>
                        </a:rPr>
                        <a:t>人</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r>
                        <a:rPr lang="en-US" altLang="zh-CN" sz="1000" dirty="0">
                          <a:solidFill>
                            <a:srgbClr val="000000"/>
                          </a:solidFill>
                          <a:latin typeface="微软雅黑" panose="020B0503020204020204" charset="-122"/>
                          <a:ea typeface="微软雅黑" panose="020B0503020204020204" charset="-122"/>
                          <a:sym typeface="+mn-ea"/>
                        </a:rPr>
                        <a:t>2</a:t>
                      </a:r>
                      <a:r>
                        <a:rPr lang="zh-CN" altLang="en-US" sz="1000" dirty="0">
                          <a:solidFill>
                            <a:srgbClr val="000000"/>
                          </a:solidFill>
                          <a:latin typeface="微软雅黑" panose="020B0503020204020204" charset="-122"/>
                          <a:ea typeface="微软雅黑" panose="020B0503020204020204" charset="-122"/>
                          <a:sym typeface="+mn-ea"/>
                        </a:rPr>
                        <a:t>、非项目任务厂商：</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r>
                        <a:rPr lang="zh-CN" altLang="en-US" sz="1000" dirty="0">
                          <a:solidFill>
                            <a:srgbClr val="000000"/>
                          </a:solidFill>
                          <a:latin typeface="微软雅黑" panose="020B0503020204020204" charset="-122"/>
                          <a:ea typeface="微软雅黑" panose="020B0503020204020204" charset="-122"/>
                          <a:sym typeface="+mn-ea"/>
                        </a:rPr>
                        <a:t>专家</a:t>
                      </a:r>
                      <a:r>
                        <a:rPr lang="en-US" altLang="zh-CN" sz="1000" dirty="0">
                          <a:solidFill>
                            <a:srgbClr val="000000"/>
                          </a:solidFill>
                          <a:latin typeface="微软雅黑" panose="020B0503020204020204" charset="-122"/>
                          <a:ea typeface="微软雅黑" panose="020B0503020204020204" charset="-122"/>
                          <a:sym typeface="+mn-ea"/>
                        </a:rPr>
                        <a:t>5</a:t>
                      </a:r>
                      <a:r>
                        <a:rPr lang="zh-CN" altLang="en-US" sz="1000" dirty="0">
                          <a:solidFill>
                            <a:srgbClr val="000000"/>
                          </a:solidFill>
                          <a:latin typeface="微软雅黑" panose="020B0503020204020204" charset="-122"/>
                          <a:ea typeface="微软雅黑" panose="020B0503020204020204" charset="-122"/>
                          <a:sym typeface="+mn-ea"/>
                        </a:rPr>
                        <a:t>人，</a:t>
                      </a:r>
                      <a:r>
                        <a:rPr lang="en-US" altLang="zh-CN" sz="1000" dirty="0">
                          <a:solidFill>
                            <a:srgbClr val="000000"/>
                          </a:solidFill>
                          <a:latin typeface="微软雅黑" panose="020B0503020204020204" charset="-122"/>
                          <a:ea typeface="微软雅黑" panose="020B0503020204020204" charset="-122"/>
                          <a:sym typeface="+mn-ea"/>
                        </a:rPr>
                        <a:t>60</a:t>
                      </a:r>
                      <a:r>
                        <a:rPr lang="zh-CN" altLang="en-US" sz="1000" dirty="0">
                          <a:solidFill>
                            <a:srgbClr val="000000"/>
                          </a:solidFill>
                          <a:latin typeface="微软雅黑" panose="020B0503020204020204" charset="-122"/>
                          <a:ea typeface="微软雅黑" panose="020B0503020204020204" charset="-122"/>
                          <a:sym typeface="+mn-ea"/>
                        </a:rPr>
                        <a:t>人月</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r>
                        <a:rPr lang="zh-CN" altLang="en-US" sz="1000" dirty="0">
                          <a:solidFill>
                            <a:srgbClr val="000000"/>
                          </a:solidFill>
                          <a:latin typeface="微软雅黑" panose="020B0503020204020204" charset="-122"/>
                          <a:ea typeface="微软雅黑" panose="020B0503020204020204" charset="-122"/>
                          <a:sym typeface="+mn-ea"/>
                        </a:rPr>
                        <a:t>开发</a:t>
                      </a:r>
                      <a:r>
                        <a:rPr lang="en-US" altLang="zh-CN" sz="1000" dirty="0">
                          <a:solidFill>
                            <a:srgbClr val="000000"/>
                          </a:solidFill>
                          <a:latin typeface="微软雅黑" panose="020B0503020204020204" charset="-122"/>
                          <a:ea typeface="微软雅黑" panose="020B0503020204020204" charset="-122"/>
                          <a:sym typeface="+mn-ea"/>
                        </a:rPr>
                        <a:t>10</a:t>
                      </a:r>
                      <a:r>
                        <a:rPr lang="zh-CN" altLang="en-US" sz="1000" dirty="0">
                          <a:solidFill>
                            <a:srgbClr val="000000"/>
                          </a:solidFill>
                          <a:latin typeface="微软雅黑" panose="020B0503020204020204" charset="-122"/>
                          <a:ea typeface="微软雅黑" panose="020B0503020204020204" charset="-122"/>
                          <a:sym typeface="+mn-ea"/>
                        </a:rPr>
                        <a:t>人，</a:t>
                      </a:r>
                      <a:r>
                        <a:rPr lang="en-US" altLang="zh-CN" sz="1000" dirty="0">
                          <a:solidFill>
                            <a:srgbClr val="000000"/>
                          </a:solidFill>
                          <a:latin typeface="微软雅黑" panose="020B0503020204020204" charset="-122"/>
                          <a:ea typeface="微软雅黑" panose="020B0503020204020204" charset="-122"/>
                          <a:sym typeface="+mn-ea"/>
                        </a:rPr>
                        <a:t>120</a:t>
                      </a:r>
                      <a:r>
                        <a:rPr lang="zh-CN" altLang="en-US" sz="1000" dirty="0">
                          <a:solidFill>
                            <a:srgbClr val="000000"/>
                          </a:solidFill>
                          <a:latin typeface="微软雅黑" panose="020B0503020204020204" charset="-122"/>
                          <a:ea typeface="微软雅黑" panose="020B0503020204020204" charset="-122"/>
                          <a:sym typeface="+mn-ea"/>
                        </a:rPr>
                        <a:t>人月</a:t>
                      </a:r>
                      <a:endParaRPr lang="en-US" altLang="zh-CN" sz="1000" dirty="0">
                        <a:solidFill>
                          <a:srgbClr val="000000"/>
                        </a:solidFill>
                        <a:latin typeface="微软雅黑" panose="020B0503020204020204" charset="-122"/>
                        <a:ea typeface="微软雅黑" panose="020B0503020204020204" charset="-122"/>
                        <a:sym typeface="+mn-ea"/>
                      </a:endParaRPr>
                    </a:p>
                    <a:p>
                      <a:pPr algn="l" fontAlgn="ctr">
                        <a:buNone/>
                      </a:pPr>
                      <a:r>
                        <a:rPr lang="en-US" altLang="zh-CN" sz="1000" dirty="0">
                          <a:solidFill>
                            <a:srgbClr val="000000"/>
                          </a:solidFill>
                          <a:latin typeface="微软雅黑" panose="020B0503020204020204" charset="-122"/>
                          <a:ea typeface="微软雅黑" panose="020B0503020204020204" charset="-122"/>
                          <a:sym typeface="+mn-ea"/>
                        </a:rPr>
                        <a:t>3</a:t>
                      </a:r>
                      <a:r>
                        <a:rPr lang="zh-CN" altLang="en-US" sz="1000" dirty="0">
                          <a:solidFill>
                            <a:srgbClr val="000000"/>
                          </a:solidFill>
                          <a:latin typeface="微软雅黑" panose="020B0503020204020204" charset="-122"/>
                          <a:ea typeface="微软雅黑" panose="020B0503020204020204" charset="-122"/>
                          <a:sym typeface="+mn-ea"/>
                        </a:rPr>
                        <a:t>、立项采购：产品</a:t>
                      </a:r>
                      <a:r>
                        <a:rPr lang="en-US" altLang="zh-CN" sz="1000" dirty="0">
                          <a:solidFill>
                            <a:srgbClr val="000000"/>
                          </a:solidFill>
                          <a:latin typeface="微软雅黑" panose="020B0503020204020204" charset="-122"/>
                          <a:ea typeface="微软雅黑" panose="020B0503020204020204" charset="-122"/>
                          <a:sym typeface="+mn-ea"/>
                        </a:rPr>
                        <a:t>+</a:t>
                      </a:r>
                      <a:r>
                        <a:rPr lang="zh-CN" altLang="en-US" sz="1000" dirty="0">
                          <a:solidFill>
                            <a:srgbClr val="000000"/>
                          </a:solidFill>
                          <a:latin typeface="微软雅黑" panose="020B0503020204020204" charset="-122"/>
                          <a:ea typeface="微软雅黑" panose="020B0503020204020204" charset="-122"/>
                          <a:sym typeface="+mn-ea"/>
                        </a:rPr>
                        <a:t>实施，</a:t>
                      </a:r>
                      <a:r>
                        <a:rPr lang="en-US" altLang="zh-CN" sz="1000" dirty="0">
                          <a:solidFill>
                            <a:srgbClr val="000000"/>
                          </a:solidFill>
                          <a:latin typeface="微软雅黑" panose="020B0503020204020204" charset="-122"/>
                          <a:ea typeface="微软雅黑" panose="020B0503020204020204" charset="-122"/>
                          <a:sym typeface="+mn-ea"/>
                        </a:rPr>
                        <a:t>XXX</a:t>
                      </a:r>
                      <a:r>
                        <a:rPr lang="zh-CN" altLang="en-US" sz="1000" dirty="0">
                          <a:solidFill>
                            <a:srgbClr val="000000"/>
                          </a:solidFill>
                          <a:latin typeface="微软雅黑" panose="020B0503020204020204" charset="-122"/>
                          <a:ea typeface="微软雅黑" panose="020B0503020204020204" charset="-122"/>
                          <a:sym typeface="+mn-ea"/>
                        </a:rPr>
                        <a:t>万</a:t>
                      </a:r>
                      <a:endParaRPr lang="en-US" altLang="zh-CN" sz="100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
        <p:nvSpPr>
          <p:cNvPr id="5" name="标题 1"/>
          <p:cNvSpPr txBox="1"/>
          <p:nvPr/>
        </p:nvSpPr>
        <p:spPr bwMode="auto">
          <a:xfrm>
            <a:off x="320396" y="879581"/>
            <a:ext cx="10515600" cy="412536"/>
          </a:xfrm>
          <a:prstGeom prst="rect">
            <a:avLst/>
          </a:prstGeom>
        </p:spPr>
        <p:txBody>
          <a:bodyPr vert="horz" lIns="91440" tIns="45720" rIns="91440" bIns="45720" rtlCol="0" anchor="ctr" anchorCtr="0">
            <a:normAutofit fontScale="97500"/>
          </a:bodyPr>
          <a:lstStyle>
            <a:lvl1pPr algn="l" defTabSz="914400" rtl="0" eaLnBrk="1" fontAlgn="base" latinLnBrk="0" hangingPunct="1">
              <a:lnSpc>
                <a:spcPct val="90000"/>
              </a:lnSpc>
              <a:spcBef>
                <a:spcPct val="0"/>
              </a:spcBef>
              <a:spcAft>
                <a:spcPct val="0"/>
              </a:spcAft>
              <a:buNone/>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fontAlgn="auto"/>
            <a:r>
              <a:rPr lang="en-US" altLang="zh-CN" sz="2400" dirty="0"/>
              <a:t>2027</a:t>
            </a:r>
            <a:r>
              <a:rPr lang="zh-CN" altLang="en-US" sz="2400" dirty="0"/>
              <a:t>年，知识工程团队补充</a:t>
            </a:r>
            <a:r>
              <a:rPr lang="en-US" altLang="zh-CN" sz="2400" dirty="0"/>
              <a:t>10</a:t>
            </a:r>
            <a:r>
              <a:rPr lang="zh-CN" altLang="en-US" sz="2400" dirty="0"/>
              <a:t>人，共</a:t>
            </a:r>
            <a:r>
              <a:rPr lang="en-US" altLang="zh-CN" sz="2400" dirty="0"/>
              <a:t>35</a:t>
            </a:r>
            <a:r>
              <a:rPr lang="zh-CN" altLang="en-US" sz="2400" dirty="0"/>
              <a:t>人，启动本体推理知识应用场景建设</a:t>
            </a:r>
            <a:r>
              <a:rPr kumimoji="0" lang="zh-CN" altLang="en-US" sz="2400" b="0" kern="1200"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rPr>
              <a:t>：</a:t>
            </a:r>
            <a:endParaRPr kumimoji="0" lang="zh-CN" altLang="en-US" sz="2400" b="0" kern="1200" dirty="0">
              <a:solidFill>
                <a:srgbClr val="000000">
                  <a:alpha val="100000"/>
                </a:srgbClr>
              </a:solidFill>
              <a:latin typeface="楷体" panose="02010609060101010101" pitchFamily="49" charset="-122"/>
              <a:ea typeface="楷体" panose="02010609060101010101" pitchFamily="49" charset="-122"/>
              <a:cs typeface="楷体" panose="02010609060101010101" pitchFamily="49" charset="-122"/>
              <a:sym typeface="+mn-ea"/>
            </a:endParaRP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整体规划实施路径（三阶段）</a:t>
            </a:r>
            <a:endParaRPr kumimoji="0" lang="zh-CN" altLang="en-US" sz="2400" b="0" kern="1200" dirty="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graphicFrame>
        <p:nvGraphicFramePr>
          <p:cNvPr id="3" name="表格 2"/>
          <p:cNvGraphicFramePr/>
          <p:nvPr>
            <p:custDataLst>
              <p:tags r:id="rId1"/>
            </p:custDataLst>
          </p:nvPr>
        </p:nvGraphicFramePr>
        <p:xfrm>
          <a:off x="77788" y="1216660"/>
          <a:ext cx="11914505" cy="4167823"/>
        </p:xfrm>
        <a:graphic>
          <a:graphicData uri="http://schemas.openxmlformats.org/drawingml/2006/table">
            <a:tbl>
              <a:tblPr/>
              <a:tblGrid>
                <a:gridCol w="1055776"/>
                <a:gridCol w="942465"/>
                <a:gridCol w="1470660"/>
                <a:gridCol w="3434715"/>
                <a:gridCol w="955302"/>
                <a:gridCol w="938619"/>
                <a:gridCol w="972441"/>
                <a:gridCol w="1085153"/>
                <a:gridCol w="1059374"/>
              </a:tblGrid>
              <a:tr h="574675">
                <a:tc>
                  <a:txBody>
                    <a:bodyPr/>
                    <a:lstStyle/>
                    <a:p>
                      <a:pPr algn="ctr" fontAlgn="ctr"/>
                      <a:r>
                        <a:rPr lang="zh-CN" altLang="en-US" sz="1200" b="0" i="0">
                          <a:solidFill>
                            <a:srgbClr val="FFFFFF"/>
                          </a:solidFill>
                          <a:latin typeface="微软雅黑" panose="020B0503020204020204" charset="-122"/>
                          <a:ea typeface="微软雅黑" panose="020B0503020204020204" charset="-122"/>
                        </a:rPr>
                        <a:t>阶段</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类别</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c>
                  <a:txBody>
                    <a:bodyPr/>
                    <a:lstStyle/>
                    <a:p>
                      <a:pPr algn="ctr" fontAlgn="ctr"/>
                      <a:r>
                        <a:rPr lang="zh-CN" altLang="en-US" sz="1200" b="0" i="0" dirty="0">
                          <a:solidFill>
                            <a:srgbClr val="FFFFFF"/>
                          </a:solidFill>
                          <a:latin typeface="微软雅黑" panose="020B0503020204020204" charset="-122"/>
                          <a:ea typeface="微软雅黑" panose="020B0503020204020204" charset="-122"/>
                        </a:rPr>
                        <a:t>专项任务</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c>
                  <a:txBody>
                    <a:bodyPr/>
                    <a:lstStyle/>
                    <a:p>
                      <a:pPr algn="ctr" fontAlgn="ctr"/>
                      <a:r>
                        <a:rPr lang="zh-CN" altLang="en-US" sz="1200" b="0" i="0" dirty="0">
                          <a:solidFill>
                            <a:srgbClr val="FFFFFF"/>
                          </a:solidFill>
                          <a:latin typeface="微软雅黑" panose="020B0503020204020204" charset="-122"/>
                          <a:ea typeface="微软雅黑" panose="020B0503020204020204" charset="-122"/>
                        </a:rPr>
                        <a:t>任务说明</a:t>
                      </a:r>
                      <a:endParaRPr lang="zh-CN" altLang="en-US"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c>
                  <a:txBody>
                    <a:bodyPr/>
                    <a:lstStyle/>
                    <a:p>
                      <a:pPr algn="ctr" fontAlgn="ctr">
                        <a:buNone/>
                      </a:pPr>
                      <a:r>
                        <a:rPr lang="zh-CN" altLang="en-US" sz="1200" b="0" i="0" dirty="0">
                          <a:solidFill>
                            <a:srgbClr val="FFFFFF"/>
                          </a:solidFill>
                          <a:latin typeface="微软雅黑" panose="020B0503020204020204" charset="-122"/>
                          <a:ea typeface="微软雅黑" panose="020B0503020204020204" charset="-122"/>
                        </a:rPr>
                        <a:t>资源投入</a:t>
                      </a:r>
                      <a:endParaRPr lang="en-US" altLang="zh-CN" sz="1200" b="0" i="0" dirty="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实施方式建议</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牵头方</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参与方</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c>
                  <a:txBody>
                    <a:bodyPr/>
                    <a:lstStyle/>
                    <a:p>
                      <a:pPr algn="ctr" fontAlgn="ctr"/>
                      <a:r>
                        <a:rPr lang="zh-CN" altLang="en-US" sz="1200" b="0" i="0">
                          <a:solidFill>
                            <a:srgbClr val="FFFFFF"/>
                          </a:solidFill>
                          <a:latin typeface="微软雅黑" panose="020B0503020204020204" charset="-122"/>
                          <a:ea typeface="微软雅黑" panose="020B0503020204020204" charset="-122"/>
                        </a:rPr>
                        <a:t>计划：</a:t>
                      </a:r>
                      <a:br>
                        <a:rPr lang="zh-CN" altLang="en-US" sz="1200" b="0" i="0">
                          <a:solidFill>
                            <a:srgbClr val="FFFFFF"/>
                          </a:solidFill>
                          <a:latin typeface="微软雅黑" panose="020B0503020204020204" charset="-122"/>
                          <a:ea typeface="微软雅黑" panose="020B0503020204020204" charset="-122"/>
                        </a:rPr>
                      </a:br>
                      <a:r>
                        <a:rPr lang="zh-CN" altLang="en-US" sz="1200" b="0" i="0">
                          <a:solidFill>
                            <a:srgbClr val="FFFFFF"/>
                          </a:solidFill>
                          <a:latin typeface="微软雅黑" panose="020B0503020204020204" charset="-122"/>
                          <a:ea typeface="微软雅黑" panose="020B0503020204020204" charset="-122"/>
                        </a:rPr>
                        <a:t>开始时间</a:t>
                      </a:r>
                      <a:r>
                        <a:rPr lang="en-US" altLang="zh-CN" sz="1200" b="0" i="0">
                          <a:solidFill>
                            <a:srgbClr val="FFFFFF"/>
                          </a:solidFill>
                          <a:latin typeface="微软雅黑" panose="020B0503020204020204" charset="-122"/>
                          <a:ea typeface="微软雅黑" panose="020B0503020204020204" charset="-122"/>
                        </a:rPr>
                        <a:t>/</a:t>
                      </a:r>
                      <a:r>
                        <a:rPr lang="zh-CN" altLang="en-US" sz="1200" b="0" i="0">
                          <a:solidFill>
                            <a:srgbClr val="FFFFFF"/>
                          </a:solidFill>
                          <a:latin typeface="微软雅黑" panose="020B0503020204020204" charset="-122"/>
                          <a:ea typeface="微软雅黑" panose="020B0503020204020204" charset="-122"/>
                        </a:rPr>
                        <a:t>结束时间</a:t>
                      </a:r>
                      <a:endParaRPr lang="zh-CN" altLang="en-US" sz="1200" b="0" i="0">
                        <a:solidFill>
                          <a:srgbClr val="FFFFFF"/>
                        </a:solidFill>
                        <a:latin typeface="微软雅黑" panose="020B0503020204020204" charset="-122"/>
                        <a:ea typeface="微软雅黑" panose="020B0503020204020204" charset="-122"/>
                      </a:endParaRPr>
                    </a:p>
                  </a:txBody>
                  <a:tcPr marL="6667" marR="6667" marT="6667"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solidFill>
                      <a:srgbClr val="4874CB"/>
                    </a:solidFill>
                  </a:tcPr>
                </a:tc>
              </a:tr>
              <a:tr h="580390">
                <a:tc rowSpan="6">
                  <a:txBody>
                    <a:bodyPr/>
                    <a:lstStyle/>
                    <a:p>
                      <a:pPr algn="ctr" fontAlgn="ctr"/>
                      <a:r>
                        <a:rPr lang="zh-CN" altLang="en-US" sz="1000" dirty="0">
                          <a:solidFill>
                            <a:srgbClr val="000000"/>
                          </a:solidFill>
                          <a:latin typeface="微软雅黑" panose="020B0503020204020204" charset="-122"/>
                          <a:ea typeface="微软雅黑" panose="020B0503020204020204" charset="-122"/>
                          <a:sym typeface="+mn-ea"/>
                        </a:rPr>
                        <a:t>三阶段</a:t>
                      </a:r>
                      <a:endParaRPr lang="zh-CN" altLang="en-US" sz="1000" b="0" i="0" dirty="0">
                        <a:solidFill>
                          <a:srgbClr val="000000"/>
                        </a:solidFill>
                        <a:latin typeface="微软雅黑" panose="020B0503020204020204" charset="-122"/>
                        <a:ea typeface="微软雅黑" panose="020B0503020204020204" charset="-122"/>
                      </a:endParaRPr>
                    </a:p>
                    <a:p>
                      <a:pPr algn="ctr" fontAlgn="ctr"/>
                      <a:r>
                        <a:rPr lang="en-US" altLang="zh-CN" sz="1000" dirty="0">
                          <a:solidFill>
                            <a:srgbClr val="000000"/>
                          </a:solidFill>
                          <a:latin typeface="微软雅黑" panose="020B0503020204020204" charset="-122"/>
                          <a:ea typeface="微软雅黑" panose="020B0503020204020204" charset="-122"/>
                          <a:sym typeface="+mn-ea"/>
                        </a:rPr>
                        <a:t>202801~202812</a:t>
                      </a:r>
                      <a:endParaRPr lang="en-US" altLang="zh-CN" sz="1000" dirty="0">
                        <a:solidFill>
                          <a:srgbClr val="000000"/>
                        </a:solidFill>
                        <a:latin typeface="微软雅黑" panose="020B0503020204020204" charset="-122"/>
                        <a:ea typeface="微软雅黑" panose="020B0503020204020204" charset="-122"/>
                        <a:sym typeface="+mn-ea"/>
                      </a:endParaRPr>
                    </a:p>
                  </a:txBody>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noFill/>
                  </a:tcPr>
                </a:tc>
                <a:tc rowSpan="3">
                  <a:txBody>
                    <a:bodyPr/>
                    <a:lstStyle/>
                    <a:p>
                      <a:pPr algn="ctr" fontAlgn="ctr"/>
                      <a:r>
                        <a:rPr lang="zh-CN" altLang="en-US" sz="1000" b="0" i="0" dirty="0">
                          <a:solidFill>
                            <a:srgbClr val="000000"/>
                          </a:solidFill>
                          <a:latin typeface="微软雅黑" panose="020B0503020204020204" charset="-122"/>
                          <a:ea typeface="微软雅黑" panose="020B0503020204020204" charset="-122"/>
                        </a:rPr>
                        <a:t>平台建设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知识工程平台持续完善</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基于知识工程平台</a:t>
                      </a:r>
                      <a:r>
                        <a:rPr lang="en-US" altLang="zh-CN" sz="1000" b="0" i="0" dirty="0">
                          <a:solidFill>
                            <a:srgbClr val="000000"/>
                          </a:solidFill>
                          <a:latin typeface="微软雅黑" panose="020B0503020204020204" charset="-122"/>
                          <a:ea typeface="微软雅黑" panose="020B0503020204020204" charset="-122"/>
                        </a:rPr>
                        <a:t>5</a:t>
                      </a:r>
                      <a:r>
                        <a:rPr lang="zh-CN" altLang="en-US" sz="1000" b="0" i="0" dirty="0">
                          <a:solidFill>
                            <a:srgbClr val="000000"/>
                          </a:solidFill>
                          <a:latin typeface="微软雅黑" panose="020B0503020204020204" charset="-122"/>
                          <a:ea typeface="微软雅黑" panose="020B0503020204020204" charset="-122"/>
                        </a:rPr>
                        <a:t>层规划，在完成主体功能建设基础上，持续完善各层功能</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zh-CN" altLang="en-US" sz="1000" dirty="0">
                          <a:solidFill>
                            <a:srgbClr val="000000"/>
                          </a:solidFill>
                          <a:latin typeface="微软雅黑" panose="020B0503020204020204" charset="-122"/>
                          <a:ea typeface="微软雅黑" panose="020B0503020204020204" charset="-122"/>
                          <a:sym typeface="+mn-ea"/>
                        </a:rPr>
                        <a:t>待评估</a:t>
                      </a:r>
                      <a:endParaRPr lang="zh-CN" dirty="0"/>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dirty="0"/>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202801~202812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80390">
                <a:tc vMerge="1">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模型内化重构升级</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实现模型外挂</a:t>
                      </a:r>
                      <a:r>
                        <a:rPr lang="en-US" altLang="zh-CN" sz="1000" b="0" i="0" dirty="0">
                          <a:solidFill>
                            <a:srgbClr val="000000"/>
                          </a:solidFill>
                          <a:latin typeface="微软雅黑" panose="020B0503020204020204" charset="-122"/>
                          <a:ea typeface="微软雅黑" panose="020B0503020204020204" charset="-122"/>
                        </a:rPr>
                        <a:t> RAG </a:t>
                      </a:r>
                      <a:r>
                        <a:rPr lang="zh-CN" altLang="en-US" sz="1000" b="0" i="0" dirty="0">
                          <a:solidFill>
                            <a:srgbClr val="000000"/>
                          </a:solidFill>
                          <a:latin typeface="微软雅黑" panose="020B0503020204020204" charset="-122"/>
                          <a:ea typeface="微软雅黑" panose="020B0503020204020204" charset="-122"/>
                        </a:rPr>
                        <a:t>向模型内化重构升级，训练轻量化场景专家模型，通过</a:t>
                      </a:r>
                      <a:r>
                        <a:rPr lang="en-US" altLang="zh-CN" sz="1000" b="0" i="0" dirty="0">
                          <a:solidFill>
                            <a:srgbClr val="000000"/>
                          </a:solidFill>
                          <a:latin typeface="微软雅黑" panose="020B0503020204020204" charset="-122"/>
                          <a:ea typeface="微软雅黑" panose="020B0503020204020204" charset="-122"/>
                        </a:rPr>
                        <a:t> MOE </a:t>
                      </a:r>
                      <a:r>
                        <a:rPr lang="zh-CN" altLang="en-US" sz="1000" b="0" i="0" dirty="0">
                          <a:solidFill>
                            <a:srgbClr val="000000"/>
                          </a:solidFill>
                          <a:latin typeface="微软雅黑" panose="020B0503020204020204" charset="-122"/>
                          <a:ea typeface="微软雅黑" panose="020B0503020204020204" charset="-122"/>
                        </a:rPr>
                        <a:t>稀疏架构实现多模型可插拔调度</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sym typeface="+mn-ea"/>
                        </a:rPr>
                        <a:t>待评估</a:t>
                      </a:r>
                      <a:endParaRPr kumimoji="0" lang="zh-CN"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dirty="0"/>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202801~202812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80390">
                <a:tc vMerge="1">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图数据库相关功能开发</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图数据库及知海平台相关功能开发</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zh-CN" altLang="en-US" sz="1000" b="0" i="0" dirty="0">
                          <a:solidFill>
                            <a:srgbClr val="000000"/>
                          </a:solidFill>
                          <a:latin typeface="微软雅黑" panose="020B0503020204020204" charset="-122"/>
                          <a:ea typeface="微软雅黑" panose="020B0503020204020204" charset="-122"/>
                        </a:rPr>
                        <a:t>行方：</a:t>
                      </a:r>
                      <a:r>
                        <a:rPr lang="en-US" altLang="zh-CN" sz="1000" b="0" i="0" dirty="0">
                          <a:solidFill>
                            <a:srgbClr val="000000"/>
                          </a:solidFill>
                          <a:latin typeface="微软雅黑" panose="020B0503020204020204" charset="-122"/>
                          <a:ea typeface="微软雅黑" panose="020B0503020204020204" charset="-122"/>
                        </a:rPr>
                        <a:t>3</a:t>
                      </a:r>
                      <a:r>
                        <a:rPr lang="zh-CN" altLang="en-US" sz="1000" b="0" i="0" dirty="0">
                          <a:solidFill>
                            <a:srgbClr val="000000"/>
                          </a:solidFill>
                          <a:latin typeface="微软雅黑" panose="020B0503020204020204" charset="-122"/>
                          <a:ea typeface="微软雅黑" panose="020B0503020204020204" charset="-122"/>
                        </a:rPr>
                        <a:t>人</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行方主导</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202801~202812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580390">
                <a:tc vMerge="1">
                  <a:tcPr marL="6667" marR="6667" marT="6667" marB="0" anchor="ctr">
                    <a:lnL w="12700" cap="flat" cmpd="sng">
                      <a:solidFill>
                        <a:srgbClr val="000000"/>
                      </a:solidFill>
                      <a:prstDash val="soli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rowSpan="3">
                  <a:txBody>
                    <a:bodyPr/>
                    <a:lstStyle/>
                    <a:p>
                      <a:pPr algn="ctr" fontAlgn="ctr">
                        <a:buNone/>
                      </a:pPr>
                      <a:r>
                        <a:rPr lang="zh-CN" altLang="en-US" sz="1000" b="0" i="0">
                          <a:solidFill>
                            <a:srgbClr val="000000"/>
                          </a:solidFill>
                          <a:latin typeface="微软雅黑" panose="020B0503020204020204" charset="-122"/>
                          <a:ea typeface="微软雅黑" panose="020B0503020204020204" charset="-122"/>
                        </a:rPr>
                        <a:t>场景建设</a:t>
                      </a:r>
                      <a:endParaRPr lang="zh-CN" altLang="en-US" sz="1000" b="0" i="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银行结构化数据对接</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对接银行结构化数据，实现业务语义与业务系统数据、规则、活动对齐，打通非结构化知识与结构化数据的语义壁垒</a:t>
                      </a:r>
                      <a:r>
                        <a:rPr lang="en-US" altLang="zh-CN" sz="1000" b="0" i="0" dirty="0">
                          <a:solidFill>
                            <a:srgbClr val="000000"/>
                          </a:solidFill>
                          <a:latin typeface="微软雅黑" panose="020B0503020204020204" charset="-122"/>
                          <a:ea typeface="微软雅黑" panose="020B0503020204020204" charset="-122"/>
                        </a:rPr>
                        <a:t>.</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sym typeface="+mn-ea"/>
                        </a:rPr>
                        <a:t>待评估</a:t>
                      </a:r>
                      <a:endParaRPr kumimoji="0" lang="zh-CN"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ctr" fontAlgn="ct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endParaRPr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en-US" altLang="zh-CN" sz="1000" b="0" i="0" dirty="0">
                          <a:solidFill>
                            <a:srgbClr val="000000"/>
                          </a:solidFill>
                          <a:latin typeface="微软雅黑" panose="020B0503020204020204" charset="-122"/>
                          <a:ea typeface="微软雅黑" panose="020B0503020204020204" charset="-122"/>
                        </a:rPr>
                        <a:t>202801~202812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r h="635794">
                <a:tc vMerge="1">
                  <a:tcPr/>
                </a:tc>
                <a:tc vMerge="1">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各条线知识应用场景建设</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r>
                        <a:rPr lang="zh-CN" altLang="en-US" sz="1000" b="0" i="0" dirty="0">
                          <a:solidFill>
                            <a:srgbClr val="000000"/>
                          </a:solidFill>
                          <a:latin typeface="微软雅黑" panose="020B0503020204020204" charset="-122"/>
                          <a:ea typeface="微软雅黑" panose="020B0503020204020204" charset="-122"/>
                        </a:rPr>
                        <a:t>结合一阶段试点经验总结，形成复用能力进行其他场景推广，覆盖对公、零售、金市、风险、科技等条线场景。</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0" i="0" kern="1200" noProof="0" dirty="0">
                          <a:solidFill>
                            <a:srgbClr val="000000"/>
                          </a:solidFill>
                          <a:latin typeface="微软雅黑" panose="020B0503020204020204" charset="-122"/>
                          <a:ea typeface="微软雅黑" panose="020B0503020204020204" charset="-122"/>
                          <a:cs typeface="+mn-cs"/>
                          <a:sym typeface="+mn-ea"/>
                        </a:rPr>
                        <a:t>待评估</a:t>
                      </a:r>
                      <a:endParaRPr lang="zh-CN" altLang="zh-CN" sz="1000" b="0" i="0" kern="1200" noProof="0" dirty="0">
                        <a:solidFill>
                          <a:srgbClr val="000000"/>
                        </a:solidFill>
                        <a:latin typeface="微软雅黑" panose="020B0503020204020204" charset="-122"/>
                        <a:ea typeface="微软雅黑" panose="020B0503020204020204" charset="-122"/>
                        <a:cs typeface="+mn-cs"/>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zh-CN" dirty="0"/>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algn="l" fontAlgn="ctr"/>
                      <a:r>
                        <a:rPr lang="en-US" altLang="zh-CN" sz="1000" dirty="0">
                          <a:solidFill>
                            <a:srgbClr val="000000"/>
                          </a:solidFill>
                          <a:latin typeface="微软雅黑" panose="020B0503020204020204" charset="-122"/>
                          <a:ea typeface="微软雅黑" panose="020B0503020204020204" charset="-122"/>
                          <a:sym typeface="+mn-ea"/>
                        </a:rPr>
                        <a:t>IT</a:t>
                      </a:r>
                      <a:r>
                        <a:rPr lang="zh-CN" altLang="en-US" sz="1000" dirty="0">
                          <a:solidFill>
                            <a:srgbClr val="000000"/>
                          </a:solidFill>
                          <a:latin typeface="微软雅黑" panose="020B0503020204020204" charset="-122"/>
                          <a:ea typeface="微软雅黑" panose="020B0503020204020204" charset="-122"/>
                          <a:sym typeface="+mn-ea"/>
                        </a:rPr>
                        <a:t>融合团队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2">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IT</a:t>
                      </a:r>
                      <a:r>
                        <a:rPr lang="zh-CN" altLang="en-US" sz="1000" b="0" i="0" dirty="0">
                          <a:solidFill>
                            <a:srgbClr val="000000"/>
                          </a:solidFill>
                          <a:latin typeface="微软雅黑" panose="020B0503020204020204" charset="-122"/>
                          <a:ea typeface="微软雅黑" panose="020B0503020204020204" charset="-122"/>
                        </a:rPr>
                        <a:t>知识工程团队</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202801~202812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635794">
                <a:tc vMerge="1">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000" b="0" i="0" dirty="0">
                          <a:solidFill>
                            <a:srgbClr val="000000"/>
                          </a:solidFill>
                          <a:latin typeface="微软雅黑" panose="020B0503020204020204" charset="-122"/>
                          <a:ea typeface="微软雅黑" panose="020B0503020204020204" charset="-122"/>
                        </a:rPr>
                        <a:t>本体建模应用场景建设</a:t>
                      </a:r>
                      <a:endParaRPr lang="en-US" altLang="zh-CN" sz="1000" b="0" i="0" dirty="0">
                        <a:solidFill>
                          <a:srgbClr val="000000"/>
                        </a:solidFill>
                        <a:latin typeface="微软雅黑" panose="020B0503020204020204" charset="-122"/>
                        <a:ea typeface="微软雅黑" panose="020B0503020204020204" charset="-122"/>
                      </a:endParaRPr>
                    </a:p>
                    <a:p>
                      <a:pPr algn="l" fontAlgn="ctr"/>
                      <a:r>
                        <a:rPr lang="zh-CN" altLang="en-US" sz="1000" b="0" i="0" dirty="0">
                          <a:solidFill>
                            <a:srgbClr val="000000"/>
                          </a:solidFill>
                          <a:latin typeface="微软雅黑" panose="020B0503020204020204" charset="-122"/>
                          <a:ea typeface="微软雅黑" panose="020B0503020204020204" charset="-122"/>
                        </a:rPr>
                        <a:t>深度业务自动化场景支持</a:t>
                      </a:r>
                      <a:endParaRPr lang="zh-CN" altLang="en-US"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algn="l" fontAlgn="ctr">
                        <a:buClrTx/>
                        <a:buSzTx/>
                        <a:buFontTx/>
                      </a:pPr>
                      <a:r>
                        <a:rPr lang="zh-CN" altLang="en-US" sz="1000" i="0" dirty="0">
                          <a:solidFill>
                            <a:srgbClr val="000000"/>
                          </a:solidFill>
                          <a:latin typeface="微软雅黑" panose="020B0503020204020204" charset="-122"/>
                          <a:ea typeface="微软雅黑" panose="020B0503020204020204" charset="-122"/>
                        </a:rPr>
                        <a:t>实现知识生态拓展，对外输出基于本体的语义推理能力，支撑精准营销、智能风控等深度业务自动化场景</a:t>
                      </a:r>
                      <a:endParaRPr lang="zh-CN" altLang="en-US" sz="100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mn-cs"/>
                          <a:sym typeface="+mn-ea"/>
                        </a:rPr>
                        <a:t>待评估</a:t>
                      </a:r>
                      <a:endParaRPr kumimoji="0" lang="zh-CN" altLang="zh-CN" sz="1800" b="0" i="0" u="none" strike="noStrike" kern="1200" cap="none" spc="0" normalizeH="0" baseline="0" noProof="0" dirty="0">
                        <a:ln>
                          <a:noFill/>
                        </a:ln>
                        <a:solidFill>
                          <a:prstClr val="black"/>
                        </a:solidFill>
                        <a:effectLst/>
                        <a:uLnTx/>
                        <a:uFillTx/>
                        <a:latin typeface="Calibri" panose="020F0502020204030204"/>
                        <a:ea typeface="微软雅黑" panose="020B0503020204020204" charset="-122"/>
                        <a:cs typeface="+mn-cs"/>
                      </a:endParaRPr>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lstStyle/>
                    <a:p>
                      <a:endParaRPr lang="zh-CN" dirty="0"/>
                    </a:p>
                  </a:txBody>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en-US" altLang="zh-CN" sz="1000" b="0" i="0" dirty="0">
                          <a:solidFill>
                            <a:srgbClr val="000000"/>
                          </a:solidFill>
                          <a:latin typeface="微软雅黑" panose="020B0503020204020204" charset="-122"/>
                          <a:ea typeface="微软雅黑" panose="020B0503020204020204" charset="-122"/>
                        </a:rPr>
                        <a:t>202801~202812</a:t>
                      </a:r>
                      <a:endParaRPr lang="en-US" altLang="zh-CN" sz="1000" b="0" i="0" dirty="0">
                        <a:solidFill>
                          <a:srgbClr val="000000"/>
                        </a:solidFill>
                        <a:latin typeface="微软雅黑" panose="020B0503020204020204" charset="-122"/>
                        <a:ea typeface="微软雅黑" panose="020B0503020204020204" charset="-122"/>
                      </a:endParaRPr>
                    </a:p>
                  </a:txBody>
                  <a:tcPr marL="6667" marR="6667" marT="6667" marB="0" anchor="ctr">
                    <a:lnL w="12700" cap="flat" cmpd="sng" algn="ctr">
                      <a:solidFill>
                        <a:srgbClr val="000000"/>
                      </a:solidFill>
                      <a:prstDash val="solid"/>
                      <a:round/>
                      <a:headEnd type="none" w="med" len="med"/>
                      <a:tailEnd type="none" w="med" len="med"/>
                    </a:lnL>
                    <a:lnR w="12700" cap="flat" cmpd="sng">
                      <a:solidFill>
                        <a:srgbClr val="000000"/>
                      </a:solidFill>
                      <a:prstDash val="solid"/>
                      <a:headEnd type="none" w="med" len="med"/>
                      <a:tailEnd type="none" w="med" len="med"/>
                    </a:lnR>
                    <a:lnT w="12700" cap="flat" cmpd="sng" algn="ctr">
                      <a:solidFill>
                        <a:srgbClr val="000000"/>
                      </a:solidFill>
                      <a:prstDash val="solid"/>
                      <a:round/>
                      <a:headEnd type="none" w="med" len="med"/>
                      <a:tailEnd type="none" w="med" len="med"/>
                    </a:lnT>
                    <a:lnB w="12700" cap="flat" cmpd="sng">
                      <a:solidFill>
                        <a:srgbClr val="000000"/>
                      </a:solidFill>
                      <a:prstDash val="solid"/>
                      <a:headEnd type="none" w="med" len="med"/>
                      <a:tailEnd type="none" w="med" len="med"/>
                    </a:lnB>
                    <a:noFill/>
                  </a:tcPr>
                </a:tc>
              </a:tr>
            </a:tbl>
          </a:graphicData>
        </a:graphic>
      </p:graphicFrame>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bwMode="auto"/>
        <p:txBody>
          <a:bodyPr vert="horz" lIns="91440" tIns="45720" rIns="91440" bIns="45720" rtlCol="0" anchor="ctr" anchorCtr="0">
            <a:normAutofit fontScale="90000"/>
          </a:bodyPr>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l" fontAlgn="auto">
              <a:buClrTx/>
              <a:buSzTx/>
              <a:buFontTx/>
            </a:pP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待决策</a:t>
            </a:r>
            <a:r>
              <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rPr>
              <a:t>事项</a:t>
            </a:r>
            <a:endParaRPr kumimoji="0" lang="zh-CN" altLang="en-US" sz="2400" b="0" kern="1200">
              <a:solidFill>
                <a:srgbClr val="000000">
                  <a:alpha val="100000"/>
                </a:srgbClr>
              </a:solidFill>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3" name="文本框 2"/>
          <p:cNvSpPr txBox="1"/>
          <p:nvPr/>
        </p:nvSpPr>
        <p:spPr>
          <a:xfrm>
            <a:off x="631190" y="1318260"/>
            <a:ext cx="10387965" cy="1630045"/>
          </a:xfrm>
          <a:prstGeom prst="rect">
            <a:avLst/>
          </a:prstGeom>
        </p:spPr>
        <p:txBody>
          <a:bodyPr wrap="square">
            <a:spAutoFit/>
          </a:bodyPr>
          <a:p>
            <a:pPr indent="0" fontAlgn="auto">
              <a:lnSpc>
                <a:spcPts val="4000"/>
              </a:lnSpc>
              <a:spcBef>
                <a:spcPct val="0"/>
              </a:spcBef>
              <a:spcAft>
                <a:spcPct val="0"/>
              </a:spcAft>
            </a:pPr>
            <a:r>
              <a:rPr lang="en-US" altLang="zh-CN">
                <a:latin typeface="微软雅黑" charset="0"/>
                <a:ea typeface="微软雅黑" charset="0"/>
                <a:cs typeface="微软雅黑" charset="0"/>
              </a:rPr>
              <a:t>1</a:t>
            </a:r>
            <a:r>
              <a:rPr lang="zh-CN" altLang="en-US">
                <a:latin typeface="微软雅黑" charset="0"/>
                <a:ea typeface="微软雅黑" charset="0"/>
                <a:cs typeface="微软雅黑" charset="0"/>
              </a:rPr>
              <a:t>、是否同意知识工程体系规划方案并开展实施？</a:t>
            </a:r>
            <a:endParaRPr lang="zh-CN" altLang="en-US">
              <a:latin typeface="微软雅黑" charset="0"/>
              <a:ea typeface="微软雅黑" charset="0"/>
              <a:cs typeface="微软雅黑" charset="0"/>
            </a:endParaRPr>
          </a:p>
          <a:p>
            <a:pPr indent="0" fontAlgn="auto">
              <a:lnSpc>
                <a:spcPts val="4000"/>
              </a:lnSpc>
              <a:spcBef>
                <a:spcPct val="0"/>
              </a:spcBef>
              <a:spcAft>
                <a:spcPct val="0"/>
              </a:spcAft>
            </a:pPr>
            <a:r>
              <a:rPr lang="en-US" altLang="zh-CN">
                <a:latin typeface="微软雅黑" charset="0"/>
                <a:ea typeface="微软雅黑" charset="0"/>
                <a:cs typeface="微软雅黑" charset="0"/>
              </a:rPr>
              <a:t>2</a:t>
            </a:r>
            <a:r>
              <a:rPr lang="zh-CN" altLang="en-US">
                <a:latin typeface="微软雅黑" charset="0"/>
                <a:ea typeface="微软雅黑" charset="0"/>
                <a:cs typeface="微软雅黑" charset="0"/>
              </a:rPr>
              <a:t>、是否同意知识工程团队</a:t>
            </a:r>
            <a:r>
              <a:rPr lang="en-US" altLang="zh-CN">
                <a:latin typeface="微软雅黑" charset="0"/>
                <a:ea typeface="微软雅黑" charset="0"/>
                <a:cs typeface="微软雅黑" charset="0"/>
              </a:rPr>
              <a:t>2026</a:t>
            </a:r>
            <a:r>
              <a:rPr lang="zh-CN" altLang="en-US">
                <a:latin typeface="微软雅黑" charset="0"/>
                <a:ea typeface="微软雅黑" charset="0"/>
                <a:cs typeface="微软雅黑" charset="0"/>
              </a:rPr>
              <a:t>年增加</a:t>
            </a:r>
            <a:r>
              <a:rPr lang="en-US" altLang="zh-CN">
                <a:latin typeface="微软雅黑" charset="0"/>
                <a:ea typeface="微软雅黑" charset="0"/>
                <a:cs typeface="微软雅黑" charset="0"/>
              </a:rPr>
              <a:t>15</a:t>
            </a:r>
            <a:r>
              <a:rPr lang="zh-CN" altLang="en-US">
                <a:latin typeface="微软雅黑" charset="0"/>
                <a:ea typeface="微软雅黑" charset="0"/>
                <a:cs typeface="微软雅黑" charset="0"/>
              </a:rPr>
              <a:t>人，</a:t>
            </a:r>
            <a:r>
              <a:rPr lang="en-US" altLang="zh-CN">
                <a:latin typeface="微软雅黑" charset="0"/>
                <a:ea typeface="微软雅黑" charset="0"/>
                <a:cs typeface="微软雅黑" charset="0"/>
              </a:rPr>
              <a:t>2027</a:t>
            </a:r>
            <a:r>
              <a:rPr lang="zh-CN" altLang="en-US">
                <a:latin typeface="微软雅黑" charset="0"/>
                <a:ea typeface="微软雅黑" charset="0"/>
                <a:cs typeface="微软雅黑" charset="0"/>
              </a:rPr>
              <a:t>年补充</a:t>
            </a:r>
            <a:r>
              <a:rPr lang="en-US" altLang="zh-CN">
                <a:latin typeface="微软雅黑" charset="0"/>
                <a:ea typeface="微软雅黑" charset="0"/>
                <a:cs typeface="微软雅黑" charset="0"/>
              </a:rPr>
              <a:t>10</a:t>
            </a:r>
            <a:r>
              <a:rPr lang="zh-CN" altLang="en-US">
                <a:latin typeface="微软雅黑" charset="0"/>
                <a:ea typeface="微软雅黑" charset="0"/>
                <a:cs typeface="微软雅黑" charset="0"/>
              </a:rPr>
              <a:t>人？</a:t>
            </a:r>
            <a:endParaRPr lang="zh-CN" altLang="en-US">
              <a:latin typeface="微软雅黑" charset="0"/>
              <a:ea typeface="微软雅黑" charset="0"/>
              <a:cs typeface="微软雅黑" charset="0"/>
            </a:endParaRPr>
          </a:p>
          <a:p>
            <a:pPr indent="0" fontAlgn="auto">
              <a:lnSpc>
                <a:spcPts val="4000"/>
              </a:lnSpc>
            </a:pPr>
            <a:r>
              <a:rPr lang="en-US" altLang="zh-CN">
                <a:latin typeface="微软雅黑" charset="0"/>
                <a:ea typeface="微软雅黑" charset="0"/>
                <a:cs typeface="微软雅黑" charset="0"/>
              </a:rPr>
              <a:t>3</a:t>
            </a:r>
            <a:r>
              <a:rPr lang="zh-CN" altLang="en-US">
                <a:latin typeface="微软雅黑" charset="0"/>
                <a:ea typeface="微软雅黑" charset="0"/>
                <a:cs typeface="微软雅黑" charset="0"/>
              </a:rPr>
              <a:t>、是否同意由分行板块科技服务支持域牵头组建</a:t>
            </a:r>
            <a:r>
              <a:rPr lang="en-US" altLang="zh-CN">
                <a:latin typeface="微软雅黑" charset="0"/>
                <a:ea typeface="微软雅黑" charset="0"/>
                <a:cs typeface="微软雅黑" charset="0"/>
              </a:rPr>
              <a:t>IT</a:t>
            </a:r>
            <a:r>
              <a:rPr lang="zh-CN" altLang="en-US">
                <a:latin typeface="微软雅黑" charset="0"/>
                <a:ea typeface="微软雅黑" charset="0"/>
                <a:cs typeface="微软雅黑" charset="0"/>
              </a:rPr>
              <a:t>知识运营团队，组建</a:t>
            </a:r>
            <a:r>
              <a:rPr lang="en-US" altLang="zh-CN">
                <a:latin typeface="微软雅黑" charset="0"/>
                <a:ea typeface="微软雅黑" charset="0"/>
                <a:cs typeface="微软雅黑" charset="0"/>
              </a:rPr>
              <a:t>10</a:t>
            </a:r>
            <a:r>
              <a:rPr lang="zh-CN" altLang="en-US">
                <a:latin typeface="微软雅黑" charset="0"/>
                <a:ea typeface="微软雅黑" charset="0"/>
                <a:cs typeface="微软雅黑" charset="0"/>
              </a:rPr>
              <a:t>人</a:t>
            </a:r>
            <a:r>
              <a:rPr lang="en-US" altLang="zh-CN">
                <a:latin typeface="微软雅黑" charset="0"/>
                <a:ea typeface="微软雅黑" charset="0"/>
                <a:cs typeface="微软雅黑" charset="0"/>
              </a:rPr>
              <a:t>IT</a:t>
            </a:r>
            <a:r>
              <a:rPr lang="zh-CN" altLang="en-US">
                <a:latin typeface="微软雅黑" charset="0"/>
                <a:ea typeface="微软雅黑" charset="0"/>
                <a:cs typeface="微软雅黑" charset="0"/>
              </a:rPr>
              <a:t>知识运营团队？</a:t>
            </a:r>
            <a:endParaRPr lang="zh-CN" altLang="en-US">
              <a:latin typeface="微软雅黑" charset="0"/>
              <a:ea typeface="微软雅黑" charset="0"/>
              <a:cs typeface="微软雅黑"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lstStyle/>
          <a:p>
            <a:endParaRPr lang="zh-CN" altLang="en-US"/>
          </a:p>
        </p:txBody>
      </p:sp>
      <p:sp>
        <p:nvSpPr>
          <p:cNvPr id="6" name="内容占位符 5"/>
          <p:cNvSpPr>
            <a:spLocks noGrp="1"/>
          </p:cNvSpPr>
          <p:nvPr>
            <p:ph idx="4294967295"/>
          </p:nvPr>
        </p:nvSpPr>
        <p:spPr>
          <a:xfrm>
            <a:off x="465826" y="993880"/>
            <a:ext cx="11369616" cy="4351338"/>
          </a:xfrm>
          <a:prstGeom prst="rect">
            <a:avLst/>
          </a:prstGeom>
        </p:spPr>
        <p:txBody>
          <a:bodyPr/>
          <a:lstStyle/>
          <a:p>
            <a:endParaRPr lang="zh-CN" altLang="en-US"/>
          </a:p>
        </p:txBody>
      </p:sp>
      <p:pic>
        <p:nvPicPr>
          <p:cNvPr id="2" name="图片 1"/>
          <p:cNvPicPr>
            <a:picLocks noChangeAspect="1"/>
          </p:cNvPicPr>
          <p:nvPr/>
        </p:nvPicPr>
        <p:blipFill>
          <a:blip r:embed="rId1"/>
          <a:stretch>
            <a:fillRect/>
          </a:stretch>
        </p:blipFill>
        <p:spPr>
          <a:xfrm>
            <a:off x="5638" y="0"/>
            <a:ext cx="12180725" cy="6858000"/>
          </a:xfrm>
          <a:prstGeom prst="rect">
            <a:avLst/>
          </a:prstGeom>
        </p:spPr>
      </p:pic>
      <p:sp>
        <p:nvSpPr>
          <p:cNvPr id="3" name="标题 21"/>
          <p:cNvSpPr txBox="1"/>
          <p:nvPr/>
        </p:nvSpPr>
        <p:spPr bwMode="auto">
          <a:xfrm>
            <a:off x="1892880" y="2597703"/>
            <a:ext cx="8406239" cy="1003260"/>
          </a:xfrm>
          <a:prstGeom prst="rect">
            <a:avLst/>
          </a:prstGeom>
        </p:spPr>
        <p:txBody>
          <a:bodyPr lIns="90000" tIns="0" rIns="90000" bIns="0" anchor="b" anchorCtr="0"/>
          <a:lstStyle>
            <a:lvl1pPr algn="l" rtl="0" eaLnBrk="1" fontAlgn="base" hangingPunct="1">
              <a:spcBef>
                <a:spcPct val="0"/>
              </a:spcBef>
              <a:spcAft>
                <a:spcPct val="0"/>
              </a:spcAft>
              <a:defRPr kumimoji="1" lang="en-US" altLang="zh-TW" sz="2200" b="1" kern="0" baseline="0" dirty="0" smtClean="0">
                <a:solidFill>
                  <a:schemeClr val="tx1"/>
                </a:solidFill>
                <a:latin typeface="Arial" panose="020B0604020202090204" pitchFamily="34" charset="0"/>
                <a:ea typeface="楷体_GB2312" panose="02010609030101010101" pitchFamily="49" charset="-122"/>
                <a:cs typeface="+mj-cs"/>
              </a:defRPr>
            </a:lvl1pPr>
            <a:lvl2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2pPr>
            <a:lvl3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3pPr>
            <a:lvl4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4pPr>
            <a:lvl5pPr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5pPr>
            <a:lvl6pPr marL="4953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6pPr>
            <a:lvl7pPr marL="9906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7pPr>
            <a:lvl8pPr marL="14859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8pPr>
            <a:lvl9pPr marL="1981200" algn="l" rtl="0" eaLnBrk="1" fontAlgn="base" hangingPunct="1">
              <a:spcBef>
                <a:spcPct val="0"/>
              </a:spcBef>
              <a:spcAft>
                <a:spcPct val="0"/>
              </a:spcAft>
              <a:defRPr kumimoji="1" sz="2165">
                <a:solidFill>
                  <a:srgbClr val="004599"/>
                </a:solidFill>
                <a:latin typeface="Tahoma" panose="020B0604030504040204" pitchFamily="34" charset="0"/>
                <a:ea typeface="PMingLiU" pitchFamily="18" charset="-120"/>
              </a:defRPr>
            </a:lvl9pPr>
          </a:lstStyle>
          <a:p>
            <a:pPr lvl="0" algn="ctr">
              <a:defRPr/>
            </a:pPr>
            <a:r>
              <a:rPr lang="zh-CN" altLang="en-US" sz="4800" dirty="0">
                <a:effectLst>
                  <a:outerShdw blurRad="38100" dist="19050" dir="2700000" algn="tl" rotWithShape="0">
                    <a:schemeClr val="dk1">
                      <a:alpha val="40000"/>
                    </a:schemeClr>
                  </a:outerShdw>
                </a:effectLst>
                <a:ea typeface="楷体" panose="02010609060101010101" pitchFamily="49" charset="-122"/>
                <a:cs typeface="+mn-ea"/>
                <a:sym typeface="Arial" panose="020B0604020202090204" pitchFamily="34" charset="0"/>
              </a:rPr>
              <a:t>科技赋能金融，创新引领未来</a:t>
            </a:r>
            <a:endParaRPr lang="en-US" altLang="zh-CN" sz="4800" b="0" dirty="0">
              <a:solidFill>
                <a:srgbClr val="000000"/>
              </a:solidFill>
              <a:ea typeface="楷体" panose="02010609060101010101" pitchFamily="49" charset="-122"/>
              <a:sym typeface="Arial" panose="020B0604020202090204" pitchFamily="34" charset="0"/>
            </a:endParaRPr>
          </a:p>
        </p:txBody>
      </p:sp>
      <p:sp>
        <p:nvSpPr>
          <p:cNvPr id="4" name="AutoShape 6"/>
          <p:cNvSpPr/>
          <p:nvPr/>
        </p:nvSpPr>
        <p:spPr>
          <a:xfrm>
            <a:off x="938727" y="3771721"/>
            <a:ext cx="10160000" cy="508000"/>
          </a:xfrm>
          <a:prstGeom prst="rect">
            <a:avLst/>
          </a:prstGeom>
          <a:noFill/>
          <a:ln w="12700" cap="flat" cmpd="sng">
            <a:noFill/>
            <a:prstDash val="solid"/>
            <a:round/>
          </a:ln>
        </p:spPr>
        <p:txBody>
          <a:bodyPr vert="horz" wrap="square" lIns="0" tIns="0" rIns="0" bIns="0" rtlCol="0" anchor="ctr" anchorCtr="0">
            <a:scene3d>
              <a:camera prst="orthographicFront"/>
              <a:lightRig rig="threePt" dir="t"/>
            </a:scene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a:lnSpc>
                <a:spcPct val="120000"/>
              </a:lnSpc>
              <a:defRPr/>
            </a:pPr>
            <a:r>
              <a:rPr lang="zh-CN" sz="3200" b="0" i="0" u="none" strike="noStrike" dirty="0">
                <a:solidFill>
                  <a:schemeClr val="tx1"/>
                </a:solidFill>
                <a:effectLst>
                  <a:outerShdw blurRad="38100" dist="19050" dir="2700000" algn="tl" rotWithShape="0">
                    <a:schemeClr val="dk1">
                      <a:alpha val="40000"/>
                    </a:schemeClr>
                  </a:outerShdw>
                </a:effectLst>
                <a:latin typeface="Arial" panose="020B0604020202090204" pitchFamily="34" charset="0"/>
                <a:ea typeface="楷体" panose="02010609060101010101" pitchFamily="49" charset="-122"/>
                <a:cs typeface="+mn-ea"/>
                <a:sym typeface="Arial" panose="020B0604020202090204" pitchFamily="34" charset="0"/>
              </a:rPr>
              <a:t>报告完毕</a:t>
            </a:r>
            <a:endParaRPr lang="zh-CN" sz="3200" b="0" i="0" u="none" strike="noStrike" dirty="0">
              <a:solidFill>
                <a:schemeClr val="tx1"/>
              </a:solidFill>
              <a:effectLst>
                <a:outerShdw blurRad="38100" dist="19050" dir="2700000" algn="tl" rotWithShape="0">
                  <a:schemeClr val="dk1">
                    <a:alpha val="40000"/>
                  </a:schemeClr>
                </a:outerShdw>
              </a:effectLst>
              <a:latin typeface="Arial" panose="020B0604020202090204" pitchFamily="34" charset="0"/>
              <a:ea typeface="楷体" panose="02010609060101010101" pitchFamily="49" charset="-122"/>
              <a:cs typeface="+mn-ea"/>
              <a:sym typeface="Arial" panose="020B060402020209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PA" val="v5.2.11"/>
  <p:tag name="KSO_WM_BEAUTIFY_FLAG" val=""/>
</p:tagLst>
</file>

<file path=ppt/tags/tag216.xml><?xml version="1.0" encoding="utf-8"?>
<p:tagLst xmlns:p="http://schemas.openxmlformats.org/presentationml/2006/main">
  <p:tag name="PA" val="v5.2.11"/>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TABLE_ENDDRAG_ORIGIN_RECT" val="481*319"/>
  <p:tag name="TABLE_ENDDRAG_RECT" val="32*190*481*319"/>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DIAGRAM_VIRTUALLY_FRAME" val="{&quot;height&quot;:50,&quot;left&quot;:30,&quot;top&quot;:166.15,&quot;width&quot;:898}"/>
</p:tagLst>
</file>

<file path=ppt/tags/tag309.xml><?xml version="1.0" encoding="utf-8"?>
<p:tagLst xmlns:p="http://schemas.openxmlformats.org/presentationml/2006/main">
  <p:tag name="KSO_WM_DIAGRAM_VIRTUALLY_FRAME" val="{&quot;height&quot;:50,&quot;left&quot;:30,&quot;top&quot;:166.15,&quot;width&quot;:898}"/>
</p:tagLst>
</file>

<file path=ppt/tags/tag310.xml><?xml version="1.0" encoding="utf-8"?>
<p:tagLst xmlns:p="http://schemas.openxmlformats.org/presentationml/2006/main">
  <p:tag name="KSO_WM_DIAGRAM_VIRTUALLY_FRAME" val="{&quot;height&quot;:50,&quot;left&quot;:30,&quot;top&quot;:166.15,&quot;width&quot;:898}"/>
</p:tagLst>
</file>

<file path=ppt/tags/tag311.xml><?xml version="1.0" encoding="utf-8"?>
<p:tagLst xmlns:p="http://schemas.openxmlformats.org/presentationml/2006/main">
  <p:tag name="KSO_WM_DIAGRAM_VIRTUALLY_FRAME" val="{&quot;height&quot;:50,&quot;left&quot;:30,&quot;top&quot;:166.15,&quot;width&quot;:898}"/>
</p:tagLst>
</file>

<file path=ppt/tags/tag312.xml><?xml version="1.0" encoding="utf-8"?>
<p:tagLst xmlns:p="http://schemas.openxmlformats.org/presentationml/2006/main">
  <p:tag name="KSO_WM_DIAGRAM_VIRTUALLY_FRAME" val="{&quot;height&quot;:50,&quot;left&quot;:30,&quot;top&quot;:166.15,&quot;width&quot;:898}"/>
</p:tagLst>
</file>

<file path=ppt/tags/tag313.xml><?xml version="1.0" encoding="utf-8"?>
<p:tagLst xmlns:p="http://schemas.openxmlformats.org/presentationml/2006/main">
  <p:tag name="KSO_WM_DIAGRAM_VIRTUALLY_FRAME" val="{&quot;height&quot;:50,&quot;left&quot;:30,&quot;top&quot;:166.15,&quot;width&quot;:898}"/>
</p:tagLst>
</file>

<file path=ppt/tags/tag314.xml><?xml version="1.0" encoding="utf-8"?>
<p:tagLst xmlns:p="http://schemas.openxmlformats.org/presentationml/2006/main">
  <p:tag name="KSO_WM_DIAGRAM_VIRTUALLY_FRAME" val="{&quot;height&quot;:50,&quot;left&quot;:30,&quot;top&quot;:166.15,&quot;width&quot;:898}"/>
</p:tagLst>
</file>

<file path=ppt/tags/tag315.xml><?xml version="1.0" encoding="utf-8"?>
<p:tagLst xmlns:p="http://schemas.openxmlformats.org/presentationml/2006/main">
  <p:tag name="KSO_WM_DIAGRAM_VIRTUALLY_FRAME" val="{&quot;height&quot;:50,&quot;left&quot;:30,&quot;top&quot;:166.15,&quot;width&quot;:898}"/>
</p:tagLst>
</file>

<file path=ppt/tags/tag316.xml><?xml version="1.0" encoding="utf-8"?>
<p:tagLst xmlns:p="http://schemas.openxmlformats.org/presentationml/2006/main">
  <p:tag name="KSO_WM_DIAGRAM_VIRTUALLY_FRAME" val="{&quot;height&quot;:50,&quot;left&quot;:30,&quot;top&quot;:166.15,&quot;width&quot;:898}"/>
</p:tagLst>
</file>

<file path=ppt/tags/tag317.xml><?xml version="1.0" encoding="utf-8"?>
<p:tagLst xmlns:p="http://schemas.openxmlformats.org/presentationml/2006/main">
  <p:tag name="TABLE_ENDDRAG_ORIGIN_RECT" val="480*126"/>
  <p:tag name="TABLE_ENDDRAG_RECT" val="40*185*480*126"/>
</p:tagLst>
</file>

<file path=ppt/tags/tag318.xml><?xml version="1.0" encoding="utf-8"?>
<p:tagLst xmlns:p="http://schemas.openxmlformats.org/presentationml/2006/main">
  <p:tag name="TABLE_ENDDRAG_ORIGIN_RECT" val="363*130"/>
  <p:tag name="TABLE_ENDDRAG_RECT" val="86*206*363*130"/>
</p:tagLst>
</file>

<file path=ppt/tags/tag319.xml><?xml version="1.0" encoding="utf-8"?>
<p:tagLst xmlns:p="http://schemas.openxmlformats.org/presentationml/2006/main">
  <p:tag name="TABLE_ENDDRAG_ORIGIN_RECT" val="363*145"/>
  <p:tag name="TABLE_ENDDRAG_RECT" val="86*391*363*145"/>
</p:tagLst>
</file>

<file path=ppt/tags/tag320.xml><?xml version="1.0" encoding="utf-8"?>
<p:tagLst xmlns:p="http://schemas.openxmlformats.org/presentationml/2006/main">
  <p:tag name="TABLE_ENDDRAG_ORIGIN_RECT" val="363*139"/>
  <p:tag name="TABLE_ENDDRAG_RECT" val="528*208*363*139"/>
</p:tagLst>
</file>

<file path=ppt/tags/tag321.xml><?xml version="1.0" encoding="utf-8"?>
<p:tagLst xmlns:p="http://schemas.openxmlformats.org/presentationml/2006/main">
  <p:tag name="TABLE_ENDDRAG_ORIGIN_RECT" val="363*127"/>
  <p:tag name="TABLE_ENDDRAG_RECT" val="528*387*363*127"/>
</p:tagLst>
</file>

<file path=ppt/tags/tag322.xml><?xml version="1.0" encoding="utf-8"?>
<p:tagLst xmlns:p="http://schemas.openxmlformats.org/presentationml/2006/main">
  <p:tag name="KSO_WM_DIAGRAM_VIRTUALLY_FRAME" val="{&quot;height&quot;:321,&quot;left&quot;:33.65,&quot;top&quot;:185.55,&quot;width&quot;:900}"/>
</p:tagLst>
</file>

<file path=ppt/tags/tag323.xml><?xml version="1.0" encoding="utf-8"?>
<p:tagLst xmlns:p="http://schemas.openxmlformats.org/presentationml/2006/main">
  <p:tag name="KSO_WM_DIAGRAM_VIRTUALLY_FRAME" val="{&quot;height&quot;:321,&quot;left&quot;:33.65,&quot;top&quot;:185.55,&quot;width&quot;:900}"/>
</p:tagLst>
</file>

<file path=ppt/tags/tag324.xml><?xml version="1.0" encoding="utf-8"?>
<p:tagLst xmlns:p="http://schemas.openxmlformats.org/presentationml/2006/main">
  <p:tag name="KSO_WM_DIAGRAM_VIRTUALLY_FRAME" val="{&quot;height&quot;:321,&quot;left&quot;:33.65,&quot;top&quot;:185.55,&quot;width&quot;:900}"/>
</p:tagLst>
</file>

<file path=ppt/tags/tag325.xml><?xml version="1.0" encoding="utf-8"?>
<p:tagLst xmlns:p="http://schemas.openxmlformats.org/presentationml/2006/main">
  <p:tag name="KSO_WM_DIAGRAM_VIRTUALLY_FRAME" val="{&quot;height&quot;:321,&quot;left&quot;:33.65,&quot;top&quot;:185.55,&quot;width&quot;:900}"/>
</p:tagLst>
</file>

<file path=ppt/tags/tag326.xml><?xml version="1.0" encoding="utf-8"?>
<p:tagLst xmlns:p="http://schemas.openxmlformats.org/presentationml/2006/main">
  <p:tag name="KSO_WM_DIAGRAM_VIRTUALLY_FRAME" val="{&quot;height&quot;:321,&quot;left&quot;:33.65,&quot;top&quot;:185.55,&quot;width&quot;:900}"/>
</p:tagLst>
</file>

<file path=ppt/tags/tag327.xml><?xml version="1.0" encoding="utf-8"?>
<p:tagLst xmlns:p="http://schemas.openxmlformats.org/presentationml/2006/main">
  <p:tag name="KSO_WM_DIAGRAM_VIRTUALLY_FRAME" val="{&quot;height&quot;:321,&quot;left&quot;:33.65,&quot;top&quot;:185.55,&quot;width&quot;:900}"/>
</p:tagLst>
</file>

<file path=ppt/tags/tag328.xml><?xml version="1.0" encoding="utf-8"?>
<p:tagLst xmlns:p="http://schemas.openxmlformats.org/presentationml/2006/main">
  <p:tag name="KSO_WM_DIAGRAM_VIRTUALLY_FRAME" val="{&quot;height&quot;:321,&quot;left&quot;:33.65,&quot;top&quot;:185.55,&quot;width&quot;:900}"/>
</p:tagLst>
</file>

<file path=ppt/tags/tag329.xml><?xml version="1.0" encoding="utf-8"?>
<p:tagLst xmlns:p="http://schemas.openxmlformats.org/presentationml/2006/main">
  <p:tag name="KSO_WM_DIAGRAM_VIRTUALLY_FRAME" val="{&quot;height&quot;:321,&quot;left&quot;:33.65,&quot;top&quot;:185.55,&quot;width&quot;:900}"/>
</p:tagLst>
</file>

<file path=ppt/tags/tag330.xml><?xml version="1.0" encoding="utf-8"?>
<p:tagLst xmlns:p="http://schemas.openxmlformats.org/presentationml/2006/main">
  <p:tag name="KSO_WM_DIAGRAM_VIRTUALLY_FRAME" val="{&quot;height&quot;:321,&quot;left&quot;:33.65,&quot;top&quot;:185.55,&quot;width&quot;:900}"/>
</p:tagLst>
</file>

<file path=ppt/tags/tag331.xml><?xml version="1.0" encoding="utf-8"?>
<p:tagLst xmlns:p="http://schemas.openxmlformats.org/presentationml/2006/main">
  <p:tag name="KSO_WM_DIAGRAM_VIRTUALLY_FRAME" val="{&quot;height&quot;:321,&quot;left&quot;:33.65,&quot;top&quot;:185.55,&quot;width&quot;:900}"/>
</p:tagLst>
</file>

<file path=ppt/tags/tag332.xml><?xml version="1.0" encoding="utf-8"?>
<p:tagLst xmlns:p="http://schemas.openxmlformats.org/presentationml/2006/main">
  <p:tag name="KSO_WM_DIAGRAM_VIRTUALLY_FRAME" val="{&quot;height&quot;:321,&quot;left&quot;:33.65,&quot;top&quot;:185.55,&quot;width&quot;:900}"/>
</p:tagLst>
</file>

<file path=ppt/tags/tag333.xml><?xml version="1.0" encoding="utf-8"?>
<p:tagLst xmlns:p="http://schemas.openxmlformats.org/presentationml/2006/main">
  <p:tag name="KSO_WM_DIAGRAM_VIRTUALLY_FRAME" val="{&quot;height&quot;:321,&quot;left&quot;:33.65,&quot;top&quot;:185.55,&quot;width&quot;:900}"/>
</p:tagLst>
</file>

<file path=ppt/tags/tag334.xml><?xml version="1.0" encoding="utf-8"?>
<p:tagLst xmlns:p="http://schemas.openxmlformats.org/presentationml/2006/main">
  <p:tag name="KSO_WM_DIAGRAM_VIRTUALLY_FRAME" val="{&quot;height&quot;:321,&quot;left&quot;:33.65,&quot;top&quot;:185.55,&quot;width&quot;:900}"/>
</p:tagLst>
</file>

<file path=ppt/tags/tag335.xml><?xml version="1.0" encoding="utf-8"?>
<p:tagLst xmlns:p="http://schemas.openxmlformats.org/presentationml/2006/main">
  <p:tag name="KSO_WM_DIAGRAM_VIRTUALLY_FRAME" val="{&quot;height&quot;:321,&quot;left&quot;:33.65,&quot;top&quot;:185.55,&quot;width&quot;:900}"/>
</p:tagLst>
</file>

<file path=ppt/tags/tag336.xml><?xml version="1.0" encoding="utf-8"?>
<p:tagLst xmlns:p="http://schemas.openxmlformats.org/presentationml/2006/main">
  <p:tag name="KSO_WM_DIAGRAM_VIRTUALLY_FRAME" val="{&quot;height&quot;:321,&quot;left&quot;:33.65,&quot;top&quot;:185.55,&quot;width&quot;:900}"/>
</p:tagLst>
</file>

<file path=ppt/tags/tag337.xml><?xml version="1.0" encoding="utf-8"?>
<p:tagLst xmlns:p="http://schemas.openxmlformats.org/presentationml/2006/main">
  <p:tag name="KSO_WM_DIAGRAM_VIRTUALLY_FRAME" val="{&quot;height&quot;:330,&quot;left&quot;:30,&quot;top&quot;:166.35,&quot;width&quot;:900}"/>
</p:tagLst>
</file>

<file path=ppt/tags/tag338.xml><?xml version="1.0" encoding="utf-8"?>
<p:tagLst xmlns:p="http://schemas.openxmlformats.org/presentationml/2006/main">
  <p:tag name="KSO_WM_DIAGRAM_VIRTUALLY_FRAME" val="{&quot;height&quot;:330,&quot;left&quot;:30,&quot;top&quot;:166.35,&quot;width&quot;:900}"/>
</p:tagLst>
</file>

<file path=ppt/tags/tag339.xml><?xml version="1.0" encoding="utf-8"?>
<p:tagLst xmlns:p="http://schemas.openxmlformats.org/presentationml/2006/main">
  <p:tag name="KSO_WM_DIAGRAM_VIRTUALLY_FRAME" val="{&quot;height&quot;:330,&quot;left&quot;:30,&quot;top&quot;:166.35,&quot;width&quot;:900}"/>
</p:tagLst>
</file>

<file path=ppt/tags/tag340.xml><?xml version="1.0" encoding="utf-8"?>
<p:tagLst xmlns:p="http://schemas.openxmlformats.org/presentationml/2006/main">
  <p:tag name="KSO_WM_DIAGRAM_VIRTUALLY_FRAME" val="{&quot;height&quot;:330,&quot;left&quot;:30,&quot;top&quot;:166.35,&quot;width&quot;:900}"/>
</p:tagLst>
</file>

<file path=ppt/tags/tag341.xml><?xml version="1.0" encoding="utf-8"?>
<p:tagLst xmlns:p="http://schemas.openxmlformats.org/presentationml/2006/main">
  <p:tag name="KSO_WM_DIAGRAM_VIRTUALLY_FRAME" val="{&quot;height&quot;:330,&quot;left&quot;:30,&quot;top&quot;:166.35,&quot;width&quot;:900}"/>
</p:tagLst>
</file>

<file path=ppt/tags/tag342.xml><?xml version="1.0" encoding="utf-8"?>
<p:tagLst xmlns:p="http://schemas.openxmlformats.org/presentationml/2006/main">
  <p:tag name="KSO_WM_DIAGRAM_VIRTUALLY_FRAME" val="{&quot;height&quot;:330,&quot;left&quot;:30,&quot;top&quot;:166.35,&quot;width&quot;:900}"/>
</p:tagLst>
</file>

<file path=ppt/tags/tag343.xml><?xml version="1.0" encoding="utf-8"?>
<p:tagLst xmlns:p="http://schemas.openxmlformats.org/presentationml/2006/main">
  <p:tag name="KSO_WM_DIAGRAM_VIRTUALLY_FRAME" val="{&quot;height&quot;:330,&quot;left&quot;:30,&quot;top&quot;:166.35,&quot;width&quot;:900}"/>
</p:tagLst>
</file>

<file path=ppt/tags/tag344.xml><?xml version="1.0" encoding="utf-8"?>
<p:tagLst xmlns:p="http://schemas.openxmlformats.org/presentationml/2006/main">
  <p:tag name="KSO_WM_DIAGRAM_VIRTUALLY_FRAME" val="{&quot;height&quot;:330,&quot;left&quot;:30,&quot;top&quot;:166.35,&quot;width&quot;:900}"/>
</p:tagLst>
</file>

<file path=ppt/tags/tag345.xml><?xml version="1.0" encoding="utf-8"?>
<p:tagLst xmlns:p="http://schemas.openxmlformats.org/presentationml/2006/main">
  <p:tag name="KSO_WM_DIAGRAM_VIRTUALLY_FRAME" val="{&quot;height&quot;:330,&quot;left&quot;:30,&quot;top&quot;:166.35,&quot;width&quot;:900}"/>
</p:tagLst>
</file>

<file path=ppt/tags/tag346.xml><?xml version="1.0" encoding="utf-8"?>
<p:tagLst xmlns:p="http://schemas.openxmlformats.org/presentationml/2006/main">
  <p:tag name="KSO_WM_DIAGRAM_VIRTUALLY_FRAME" val="{&quot;height&quot;:330,&quot;left&quot;:30,&quot;top&quot;:166.35,&quot;width&quot;:900}"/>
</p:tagLst>
</file>

<file path=ppt/tags/tag347.xml><?xml version="1.0" encoding="utf-8"?>
<p:tagLst xmlns:p="http://schemas.openxmlformats.org/presentationml/2006/main">
  <p:tag name="KSO_WM_DIAGRAM_VIRTUALLY_FRAME" val="{&quot;height&quot;:330,&quot;left&quot;:30,&quot;top&quot;:166.35,&quot;width&quot;:900}"/>
</p:tagLst>
</file>

<file path=ppt/tags/tag348.xml><?xml version="1.0" encoding="utf-8"?>
<p:tagLst xmlns:p="http://schemas.openxmlformats.org/presentationml/2006/main">
  <p:tag name="KSO_WM_DIAGRAM_VIRTUALLY_FRAME" val="{&quot;height&quot;:330,&quot;left&quot;:30,&quot;top&quot;:166.35,&quot;width&quot;:900}"/>
</p:tagLst>
</file>

<file path=ppt/tags/tag349.xml><?xml version="1.0" encoding="utf-8"?>
<p:tagLst xmlns:p="http://schemas.openxmlformats.org/presentationml/2006/main">
  <p:tag name="KSO_WM_DIAGRAM_VIRTUALLY_FRAME" val="{&quot;height&quot;:330,&quot;left&quot;:30,&quot;top&quot;:166.35,&quot;width&quot;:900}"/>
</p:tagLst>
</file>

<file path=ppt/tags/tag350.xml><?xml version="1.0" encoding="utf-8"?>
<p:tagLst xmlns:p="http://schemas.openxmlformats.org/presentationml/2006/main">
  <p:tag name="KSO_WM_DIAGRAM_VIRTUALLY_FRAME" val="{&quot;height&quot;:330,&quot;left&quot;:30,&quot;top&quot;:166.35,&quot;width&quot;:900}"/>
</p:tagLst>
</file>

<file path=ppt/tags/tag351.xml><?xml version="1.0" encoding="utf-8"?>
<p:tagLst xmlns:p="http://schemas.openxmlformats.org/presentationml/2006/main">
  <p:tag name="KSO_WM_DIAGRAM_VIRTUALLY_FRAME" val="{&quot;height&quot;:330,&quot;left&quot;:30,&quot;top&quot;:166.35,&quot;width&quot;:900}"/>
</p:tagLst>
</file>

<file path=ppt/tags/tag352.xml><?xml version="1.0" encoding="utf-8"?>
<p:tagLst xmlns:p="http://schemas.openxmlformats.org/presentationml/2006/main">
  <p:tag name="TABLE_ENDDRAG_ORIGIN_RECT" val="885*134"/>
  <p:tag name="TABLE_ENDDRAG_RECT" val="36*339*885*134"/>
</p:tagLst>
</file>

<file path=ppt/tags/tag353.xml><?xml version="1.0" encoding="utf-8"?>
<p:tagLst xmlns:p="http://schemas.openxmlformats.org/presentationml/2006/main">
  <p:tag name="KSO_WM_DIAGRAM_VIRTUALLY_FRAME" val="{&quot;height&quot;:260,&quot;left&quot;:31.9,&quot;top&quot;:191.9,&quot;width&quot;:888}"/>
</p:tagLst>
</file>

<file path=ppt/tags/tag354.xml><?xml version="1.0" encoding="utf-8"?>
<p:tagLst xmlns:p="http://schemas.openxmlformats.org/presentationml/2006/main">
  <p:tag name="KSO_WM_DIAGRAM_VIRTUALLY_FRAME" val="{&quot;height&quot;:260,&quot;left&quot;:31.9,&quot;top&quot;:191.9,&quot;width&quot;:888}"/>
</p:tagLst>
</file>

<file path=ppt/tags/tag355.xml><?xml version="1.0" encoding="utf-8"?>
<p:tagLst xmlns:p="http://schemas.openxmlformats.org/presentationml/2006/main">
  <p:tag name="TABLE_ENDDRAG_ORIGIN_RECT" val="414*161"/>
  <p:tag name="TABLE_ENDDRAG_RECT" val="42*340*414*161"/>
</p:tagLst>
</file>

<file path=ppt/tags/tag356.xml><?xml version="1.0" encoding="utf-8"?>
<p:tagLst xmlns:p="http://schemas.openxmlformats.org/presentationml/2006/main">
  <p:tag name="TABLE_ENDDRAG_ORIGIN_RECT" val="414*161"/>
  <p:tag name="TABLE_ENDDRAG_RECT" val="42*340*414*161"/>
</p:tagLst>
</file>

<file path=ppt/tags/tag357.xml><?xml version="1.0" encoding="utf-8"?>
<p:tagLst xmlns:p="http://schemas.openxmlformats.org/presentationml/2006/main">
  <p:tag name="KSO_WM_DIAGRAM_VIRTUALLY_FRAME" val="{&quot;height&quot;:250,&quot;left&quot;:35,&quot;top&quot;:190,&quot;width&quot;:889}"/>
</p:tagLst>
</file>

<file path=ppt/tags/tag358.xml><?xml version="1.0" encoding="utf-8"?>
<p:tagLst xmlns:p="http://schemas.openxmlformats.org/presentationml/2006/main">
  <p:tag name="KSO_WM_DIAGRAM_VIRTUALLY_FRAME" val="{&quot;height&quot;:250,&quot;left&quot;:35,&quot;top&quot;:190,&quot;width&quot;:889}"/>
</p:tagLst>
</file>

<file path=ppt/tags/tag359.xml><?xml version="1.0" encoding="utf-8"?>
<p:tagLst xmlns:p="http://schemas.openxmlformats.org/presentationml/2006/main">
  <p:tag name="KSO_WM_DIAGRAM_VIRTUALLY_FRAME" val="{&quot;height&quot;:250,&quot;left&quot;:35,&quot;top&quot;:190,&quot;width&quot;:889}"/>
</p:tagLst>
</file>

<file path=ppt/tags/tag360.xml><?xml version="1.0" encoding="utf-8"?>
<p:tagLst xmlns:p="http://schemas.openxmlformats.org/presentationml/2006/main">
  <p:tag name="KSO_WM_DIAGRAM_VIRTUALLY_FRAME" val="{&quot;height&quot;:250,&quot;left&quot;:35,&quot;top&quot;:190,&quot;width&quot;:889}"/>
</p:tagLst>
</file>

<file path=ppt/tags/tag361.xml><?xml version="1.0" encoding="utf-8"?>
<p:tagLst xmlns:p="http://schemas.openxmlformats.org/presentationml/2006/main">
  <p:tag name="KSO_WM_DIAGRAM_VIRTUALLY_FRAME" val="{&quot;height&quot;:250,&quot;left&quot;:35,&quot;top&quot;:190,&quot;width&quot;:889}"/>
</p:tagLst>
</file>

<file path=ppt/tags/tag362.xml><?xml version="1.0" encoding="utf-8"?>
<p:tagLst xmlns:p="http://schemas.openxmlformats.org/presentationml/2006/main">
  <p:tag name="KSO_WM_DIAGRAM_VIRTUALLY_FRAME" val="{&quot;height&quot;:250,&quot;left&quot;:35,&quot;top&quot;:190,&quot;width&quot;:889}"/>
</p:tagLst>
</file>

<file path=ppt/tags/tag363.xml><?xml version="1.0" encoding="utf-8"?>
<p:tagLst xmlns:p="http://schemas.openxmlformats.org/presentationml/2006/main">
  <p:tag name="KSO_WM_DIAGRAM_VIRTUALLY_FRAME" val="{&quot;height&quot;:250,&quot;left&quot;:35,&quot;top&quot;:190,&quot;width&quot;:889}"/>
</p:tagLst>
</file>

<file path=ppt/tags/tag364.xml><?xml version="1.0" encoding="utf-8"?>
<p:tagLst xmlns:p="http://schemas.openxmlformats.org/presentationml/2006/main">
  <p:tag name="KSO_WM_DIAGRAM_VIRTUALLY_FRAME" val="{&quot;height&quot;:250,&quot;left&quot;:35,&quot;top&quot;:190,&quot;width&quot;:889}"/>
</p:tagLst>
</file>

<file path=ppt/tags/tag365.xml><?xml version="1.0" encoding="utf-8"?>
<p:tagLst xmlns:p="http://schemas.openxmlformats.org/presentationml/2006/main">
  <p:tag name="KSO_WM_DIAGRAM_VIRTUALLY_FRAME" val="{&quot;height&quot;:250,&quot;left&quot;:35,&quot;top&quot;:190,&quot;width&quot;:889}"/>
</p:tagLst>
</file>

<file path=ppt/tags/tag366.xml><?xml version="1.0" encoding="utf-8"?>
<p:tagLst xmlns:p="http://schemas.openxmlformats.org/presentationml/2006/main">
  <p:tag name="KSO_WM_DIAGRAM_VIRTUALLY_FRAME" val="{&quot;height&quot;:250,&quot;left&quot;:35,&quot;top&quot;:190,&quot;width&quot;:889}"/>
</p:tagLst>
</file>

<file path=ppt/tags/tag367.xml><?xml version="1.0" encoding="utf-8"?>
<p:tagLst xmlns:p="http://schemas.openxmlformats.org/presentationml/2006/main">
  <p:tag name="KSO_WM_DIAGRAM_VIRTUALLY_FRAME" val="{&quot;height&quot;:250,&quot;left&quot;:35,&quot;top&quot;:190,&quot;width&quot;:889}"/>
</p:tagLst>
</file>

<file path=ppt/tags/tag368.xml><?xml version="1.0" encoding="utf-8"?>
<p:tagLst xmlns:p="http://schemas.openxmlformats.org/presentationml/2006/main">
  <p:tag name="KSO_WM_DIAGRAM_VIRTUALLY_FRAME" val="{&quot;height&quot;:250,&quot;left&quot;:35,&quot;top&quot;:190,&quot;width&quot;:889}"/>
</p:tagLst>
</file>

<file path=ppt/tags/tag369.xml><?xml version="1.0" encoding="utf-8"?>
<p:tagLst xmlns:p="http://schemas.openxmlformats.org/presentationml/2006/main">
  <p:tag name="KSO_WM_DIAGRAM_VIRTUALLY_FRAME" val="{&quot;height&quot;:250,&quot;left&quot;:35,&quot;top&quot;:190,&quot;width&quot;:889}"/>
</p:tagLst>
</file>

<file path=ppt/tags/tag370.xml><?xml version="1.0" encoding="utf-8"?>
<p:tagLst xmlns:p="http://schemas.openxmlformats.org/presentationml/2006/main">
  <p:tag name="KSO_WM_DIAGRAM_VIRTUALLY_FRAME" val="{&quot;height&quot;:250,&quot;left&quot;:35,&quot;top&quot;:190,&quot;width&quot;:889}"/>
</p:tagLst>
</file>

<file path=ppt/tags/tag371.xml><?xml version="1.0" encoding="utf-8"?>
<p:tagLst xmlns:p="http://schemas.openxmlformats.org/presentationml/2006/main">
  <p:tag name="KSO_WM_DIAGRAM_VIRTUALLY_FRAME" val="{&quot;height&quot;:250,&quot;left&quot;:35,&quot;top&quot;:190,&quot;width&quot;:889}"/>
</p:tagLst>
</file>

<file path=ppt/tags/tag372.xml><?xml version="1.0" encoding="utf-8"?>
<p:tagLst xmlns:p="http://schemas.openxmlformats.org/presentationml/2006/main">
  <p:tag name="KSO_WM_DIAGRAM_VIRTUALLY_FRAME" val="{&quot;height&quot;:250,&quot;left&quot;:35,&quot;top&quot;:190,&quot;width&quot;:889}"/>
</p:tagLst>
</file>

<file path=ppt/tags/tag373.xml><?xml version="1.0" encoding="utf-8"?>
<p:tagLst xmlns:p="http://schemas.openxmlformats.org/presentationml/2006/main">
  <p:tag name="KSO_WM_DIAGRAM_VIRTUALLY_FRAME" val="{&quot;height&quot;:250,&quot;left&quot;:35,&quot;top&quot;:190,&quot;width&quot;:889}"/>
</p:tagLst>
</file>

<file path=ppt/tags/tag374.xml><?xml version="1.0" encoding="utf-8"?>
<p:tagLst xmlns:p="http://schemas.openxmlformats.org/presentationml/2006/main">
  <p:tag name="KSO_WM_DIAGRAM_VIRTUALLY_FRAME" val="{&quot;height&quot;:250,&quot;left&quot;:35,&quot;top&quot;:190,&quot;width&quot;:889}"/>
</p:tagLst>
</file>

<file path=ppt/tags/tag375.xml><?xml version="1.0" encoding="utf-8"?>
<p:tagLst xmlns:p="http://schemas.openxmlformats.org/presentationml/2006/main">
  <p:tag name="KSO_WM_DIAGRAM_VIRTUALLY_FRAME" val="{&quot;height&quot;:250,&quot;left&quot;:35,&quot;top&quot;:190,&quot;width&quot;:889}"/>
</p:tagLst>
</file>

<file path=ppt/tags/tag376.xml><?xml version="1.0" encoding="utf-8"?>
<p:tagLst xmlns:p="http://schemas.openxmlformats.org/presentationml/2006/main">
  <p:tag name="KSO_WM_DIAGRAM_VIRTUALLY_FRAME" val="{&quot;height&quot;:250,&quot;left&quot;:35,&quot;top&quot;:190,&quot;width&quot;:889}"/>
</p:tagLst>
</file>

<file path=ppt/tags/tag37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5_2*n_h_h_f*1_2_1_1"/>
  <p:tag name="KSO_WM_TEMPLATE_CATEGORY" val="diagram"/>
  <p:tag name="KSO_WM_TEMPLATE_INDEX" val="20230945"/>
  <p:tag name="KSO_WM_UNIT_LAYERLEVEL" val="1_1_1_1"/>
  <p:tag name="KSO_WM_TAG_VERSION" val="3.0"/>
  <p:tag name="KSO_WM_DIAGRAM_VERSION" val="3"/>
  <p:tag name="KSO_WM_DIAGRAM_COLOR_TRICK" val="3"/>
  <p:tag name="KSO_WM_DIAGRAM_COLOR_TEXT_CAN_REMOVE" val="n"/>
  <p:tag name="KSO_WM_DIAGRAM_GROUP_CODE" val="n1-1"/>
  <p:tag name="KSO_WM_DIAGRAM_MAX_ITEMCNT" val="4"/>
  <p:tag name="KSO_WM_DIAGRAM_MIN_ITEMCNT" val="2"/>
  <p:tag name="KSO_WM_DIAGRAM_VIRTUALLY_FRAME" val="{&quot;height&quot;:487.7964660644531,&quot;left&quot;:132.1,&quot;top&quot;:66.22676696777344,&quot;width&quot;:821.35007874015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形项正文，文字是您思想的提炼，请尽量言简意赅的阐述观点。单击此处输入你的智能图形项正文，文字是您思想的提炼。 单击此处输入你的智能图形项正文，文字是您思想的提炼。"/>
  <p:tag name="KSO_WM_UNIT_TEXT_FILL_FORE_SCHEMECOLOR_INDEX" val="1"/>
  <p:tag name="KSO_WM_UNIT_TEXT_FILL_TYPE" val="1"/>
  <p:tag name="KSO_WM_DIAGRAM_USE_COLOR_VALUE" val="{&quot;color_scheme&quot;:1,&quot;color_type&quot;:1,&quot;theme_color_indexes&quot;:[5,6,5,6,5,6]}"/>
</p:tagLst>
</file>

<file path=ppt/tags/tag378.xml><?xml version="1.0" encoding="utf-8"?>
<p:tagLst xmlns:p="http://schemas.openxmlformats.org/presentationml/2006/main">
  <p:tag name="TABLE_ENDDRAG_ORIGIN_RECT" val="451*105"/>
  <p:tag name="TABLE_ENDDRAG_RECT" val="51*378*451*105"/>
</p:tagLst>
</file>

<file path=ppt/tags/tag379.xml><?xml version="1.0" encoding="utf-8"?>
<p:tagLst xmlns:p="http://schemas.openxmlformats.org/presentationml/2006/main">
  <p:tag name="KSO_WM_DIAGRAM_VIRTUALLY_FRAME" val="{&quot;height&quot;:106.05,&quot;left&quot;:130.2,&quot;top&quot;:339.35,&quot;width&quot;:777.55}"/>
</p:tagLst>
</file>

<file path=ppt/tags/tag380.xml><?xml version="1.0" encoding="utf-8"?>
<p:tagLst xmlns:p="http://schemas.openxmlformats.org/presentationml/2006/main">
  <p:tag name="KSO_WM_DIAGRAM_VIRTUALLY_FRAME" val="{&quot;height&quot;:106.05,&quot;left&quot;:130.2,&quot;top&quot;:339.35,&quot;width&quot;:777.55}"/>
</p:tagLst>
</file>

<file path=ppt/tags/tag381.xml><?xml version="1.0" encoding="utf-8"?>
<p:tagLst xmlns:p="http://schemas.openxmlformats.org/presentationml/2006/main">
  <p:tag name="KSO_WM_DIAGRAM_VIRTUALLY_FRAME" val="{&quot;height&quot;:106.05,&quot;left&quot;:130.2,&quot;top&quot;:339.35,&quot;width&quot;:777.55}"/>
</p:tagLst>
</file>

<file path=ppt/tags/tag382.xml><?xml version="1.0" encoding="utf-8"?>
<p:tagLst xmlns:p="http://schemas.openxmlformats.org/presentationml/2006/main">
  <p:tag name="KSO_WM_DIAGRAM_VIRTUALLY_FRAME" val="{&quot;height&quot;:106.05,&quot;left&quot;:130.2,&quot;top&quot;:339.35,&quot;width&quot;:777.55}"/>
</p:tagLst>
</file>

<file path=ppt/tags/tag383.xml><?xml version="1.0" encoding="utf-8"?>
<p:tagLst xmlns:p="http://schemas.openxmlformats.org/presentationml/2006/main">
  <p:tag name="KSO_WM_DIAGRAM_VIRTUALLY_FRAME" val="{&quot;height&quot;:106.05,&quot;left&quot;:130.2,&quot;top&quot;:339.35,&quot;width&quot;:777.55}"/>
</p:tagLst>
</file>

<file path=ppt/tags/tag384.xml><?xml version="1.0" encoding="utf-8"?>
<p:tagLst xmlns:p="http://schemas.openxmlformats.org/presentationml/2006/main">
  <p:tag name="KSO_WM_DIAGRAM_VIRTUALLY_FRAME" val="{&quot;height&quot;:106.05,&quot;left&quot;:130.2,&quot;top&quot;:339.35,&quot;width&quot;:777.55}"/>
</p:tagLst>
</file>

<file path=ppt/tags/tag385.xml><?xml version="1.0" encoding="utf-8"?>
<p:tagLst xmlns:p="http://schemas.openxmlformats.org/presentationml/2006/main">
  <p:tag name="KSO_WM_DIAGRAM_VIRTUALLY_FRAME" val="{&quot;height&quot;:106.05,&quot;left&quot;:130.2,&quot;top&quot;:339.35,&quot;width&quot;:777.55}"/>
</p:tagLst>
</file>

<file path=ppt/tags/tag386.xml><?xml version="1.0" encoding="utf-8"?>
<p:tagLst xmlns:p="http://schemas.openxmlformats.org/presentationml/2006/main">
  <p:tag name="KSO_WM_DIAGRAM_VIRTUALLY_FRAME" val="{&quot;height&quot;:106.05,&quot;left&quot;:130.2,&quot;top&quot;:339.35,&quot;width&quot;:777.55}"/>
</p:tagLst>
</file>

<file path=ppt/tags/tag387.xml><?xml version="1.0" encoding="utf-8"?>
<p:tagLst xmlns:p="http://schemas.openxmlformats.org/presentationml/2006/main">
  <p:tag name="KSO_WM_DIAGRAM_VIRTUALLY_FRAME" val="{&quot;height&quot;:106.05,&quot;left&quot;:130.2,&quot;top&quot;:339.35,&quot;width&quot;:777.55}"/>
</p:tagLst>
</file>

<file path=ppt/tags/tag388.xml><?xml version="1.0" encoding="utf-8"?>
<p:tagLst xmlns:p="http://schemas.openxmlformats.org/presentationml/2006/main">
  <p:tag name="KSO_WM_DIAGRAM_VIRTUALLY_FRAME" val="{&quot;height&quot;:106.05,&quot;left&quot;:130.2,&quot;top&quot;:339.35,&quot;width&quot;:777.55}"/>
</p:tagLst>
</file>

<file path=ppt/tags/tag389.xml><?xml version="1.0" encoding="utf-8"?>
<p:tagLst xmlns:p="http://schemas.openxmlformats.org/presentationml/2006/main">
  <p:tag name="KSO_WM_DIAGRAM_VIRTUALLY_FRAME" val="{&quot;height&quot;:106.05,&quot;left&quot;:130.2,&quot;top&quot;:339.35,&quot;width&quot;:777.55}"/>
</p:tagLst>
</file>

<file path=ppt/tags/tag390.xml><?xml version="1.0" encoding="utf-8"?>
<p:tagLst xmlns:p="http://schemas.openxmlformats.org/presentationml/2006/main">
  <p:tag name="KSO_WM_DIAGRAM_VIRTUALLY_FRAME" val="{&quot;height&quot;:106.05,&quot;left&quot;:130.2,&quot;top&quot;:339.35,&quot;width&quot;:777.55}"/>
</p:tagLst>
</file>

<file path=ppt/tags/tag391.xml><?xml version="1.0" encoding="utf-8"?>
<p:tagLst xmlns:p="http://schemas.openxmlformats.org/presentationml/2006/main">
  <p:tag name="KSO_WM_DIAGRAM_VIRTUALLY_FRAME" val="{&quot;height&quot;:106.05,&quot;left&quot;:130.2,&quot;top&quot;:339.35,&quot;width&quot;:777.55}"/>
</p:tagLst>
</file>

<file path=ppt/tags/tag392.xml><?xml version="1.0" encoding="utf-8"?>
<p:tagLst xmlns:p="http://schemas.openxmlformats.org/presentationml/2006/main">
  <p:tag name="KSO_WM_DIAGRAM_VIRTUALLY_FRAME" val="{&quot;height&quot;:106.05,&quot;left&quot;:130.2,&quot;top&quot;:339.35,&quot;width&quot;:777.55}"/>
</p:tagLst>
</file>

<file path=ppt/tags/tag393.xml><?xml version="1.0" encoding="utf-8"?>
<p:tagLst xmlns:p="http://schemas.openxmlformats.org/presentationml/2006/main">
  <p:tag name="KSO_WM_DIAGRAM_VIRTUALLY_FRAME" val="{&quot;height&quot;:106.05,&quot;left&quot;:130.2,&quot;top&quot;:339.35,&quot;width&quot;:777.55}"/>
</p:tagLst>
</file>

<file path=ppt/tags/tag394.xml><?xml version="1.0" encoding="utf-8"?>
<p:tagLst xmlns:p="http://schemas.openxmlformats.org/presentationml/2006/main">
  <p:tag name="KSO_WM_DIAGRAM_VIRTUALLY_FRAME" val="{&quot;height&quot;:260,&quot;left&quot;:31.9,&quot;top&quot;:191.9,&quot;width&quot;:888}"/>
</p:tagLst>
</file>

<file path=ppt/tags/tag395.xml><?xml version="1.0" encoding="utf-8"?>
<p:tagLst xmlns:p="http://schemas.openxmlformats.org/presentationml/2006/main">
  <p:tag name="KSO_WM_DIAGRAM_VIRTUALLY_FRAME" val="{&quot;height&quot;:260,&quot;left&quot;:31.9,&quot;top&quot;:191.9,&quot;width&quot;:888}"/>
</p:tagLst>
</file>

<file path=ppt/tags/tag396.xml><?xml version="1.0" encoding="utf-8"?>
<p:tagLst xmlns:p="http://schemas.openxmlformats.org/presentationml/2006/main">
  <p:tag name="KSO_WM_DIAGRAM_VIRTUALLY_FRAME" val="{&quot;height&quot;:260,&quot;left&quot;:31.9,&quot;top&quot;:191.9,&quot;width&quot;:888}"/>
</p:tagLst>
</file>

<file path=ppt/tags/tag397.xml><?xml version="1.0" encoding="utf-8"?>
<p:tagLst xmlns:p="http://schemas.openxmlformats.org/presentationml/2006/main">
  <p:tag name="KSO_WM_DIAGRAM_VIRTUALLY_FRAME" val="{&quot;height&quot;:260,&quot;left&quot;:31.9,&quot;top&quot;:191.9,&quot;width&quot;:888}"/>
</p:tagLst>
</file>

<file path=ppt/tags/tag398.xml><?xml version="1.0" encoding="utf-8"?>
<p:tagLst xmlns:p="http://schemas.openxmlformats.org/presentationml/2006/main">
  <p:tag name="KSO_WM_DIAGRAM_VIRTUALLY_FRAME" val="{&quot;height&quot;:260,&quot;left&quot;:31.9,&quot;top&quot;:191.9,&quot;width&quot;:888}"/>
</p:tagLst>
</file>

<file path=ppt/tags/tag399.xml><?xml version="1.0" encoding="utf-8"?>
<p:tagLst xmlns:p="http://schemas.openxmlformats.org/presentationml/2006/main">
  <p:tag name="KSO_WM_DIAGRAM_VIRTUALLY_FRAME" val="{&quot;height&quot;:260,&quot;left&quot;:31.9,&quot;top&quot;:191.9,&quot;width&quot;:888}"/>
</p:tagLst>
</file>

<file path=ppt/tags/tag400.xml><?xml version="1.0" encoding="utf-8"?>
<p:tagLst xmlns:p="http://schemas.openxmlformats.org/presentationml/2006/main">
  <p:tag name="KSO_WM_DIAGRAM_VIRTUALLY_FRAME" val="{&quot;height&quot;:260,&quot;left&quot;:31.9,&quot;top&quot;:191.9,&quot;width&quot;:888}"/>
</p:tagLst>
</file>

<file path=ppt/tags/tag401.xml><?xml version="1.0" encoding="utf-8"?>
<p:tagLst xmlns:p="http://schemas.openxmlformats.org/presentationml/2006/main">
  <p:tag name="KSO_WM_DIAGRAM_VIRTUALLY_FRAME" val="{&quot;height&quot;:260,&quot;left&quot;:31.9,&quot;top&quot;:191.9,&quot;width&quot;:888}"/>
</p:tagLst>
</file>

<file path=ppt/tags/tag402.xml><?xml version="1.0" encoding="utf-8"?>
<p:tagLst xmlns:p="http://schemas.openxmlformats.org/presentationml/2006/main">
  <p:tag name="KSO_WM_DIAGRAM_VIRTUALLY_FRAME" val="{&quot;height&quot;:260,&quot;left&quot;:31.9,&quot;top&quot;:191.9,&quot;width&quot;:888}"/>
</p:tagLst>
</file>

<file path=ppt/tags/tag403.xml><?xml version="1.0" encoding="utf-8"?>
<p:tagLst xmlns:p="http://schemas.openxmlformats.org/presentationml/2006/main">
  <p:tag name="KSO_WM_DIAGRAM_VIRTUALLY_FRAME" val="{&quot;height&quot;:260,&quot;left&quot;:31.9,&quot;top&quot;:191.9,&quot;width&quot;:888}"/>
</p:tagLst>
</file>

<file path=ppt/tags/tag404.xml><?xml version="1.0" encoding="utf-8"?>
<p:tagLst xmlns:p="http://schemas.openxmlformats.org/presentationml/2006/main">
  <p:tag name="KSO_WM_DIAGRAM_VIRTUALLY_FRAME" val="{&quot;height&quot;:260,&quot;left&quot;:31.9,&quot;top&quot;:191.9,&quot;width&quot;:888}"/>
</p:tagLst>
</file>

<file path=ppt/tags/tag405.xml><?xml version="1.0" encoding="utf-8"?>
<p:tagLst xmlns:p="http://schemas.openxmlformats.org/presentationml/2006/main">
  <p:tag name="KSO_WM_DIAGRAM_VIRTUALLY_FRAME" val="{&quot;height&quot;:260,&quot;left&quot;:31.9,&quot;top&quot;:191.9,&quot;width&quot;:888}"/>
</p:tagLst>
</file>

<file path=ppt/tags/tag406.xml><?xml version="1.0" encoding="utf-8"?>
<p:tagLst xmlns:p="http://schemas.openxmlformats.org/presentationml/2006/main">
  <p:tag name="KSO_WM_DIAGRAM_VIRTUALLY_FRAME" val="{&quot;height&quot;:260,&quot;left&quot;:31.9,&quot;top&quot;:191.9,&quot;width&quot;:888}"/>
</p:tagLst>
</file>

<file path=ppt/tags/tag407.xml><?xml version="1.0" encoding="utf-8"?>
<p:tagLst xmlns:p="http://schemas.openxmlformats.org/presentationml/2006/main">
  <p:tag name="KSO_WM_DIAGRAM_VIRTUALLY_FRAME" val="{&quot;height&quot;:260,&quot;left&quot;:31.9,&quot;top&quot;:191.9,&quot;width&quot;:888}"/>
</p:tagLst>
</file>

<file path=ppt/tags/tag408.xml><?xml version="1.0" encoding="utf-8"?>
<p:tagLst xmlns:p="http://schemas.openxmlformats.org/presentationml/2006/main">
  <p:tag name="KSO_WM_DIAGRAM_VIRTUALLY_FRAME" val="{&quot;height&quot;:260,&quot;left&quot;:31.9,&quot;top&quot;:191.9,&quot;width&quot;:888}"/>
</p:tagLst>
</file>

<file path=ppt/tags/tag409.xml><?xml version="1.0" encoding="utf-8"?>
<p:tagLst xmlns:p="http://schemas.openxmlformats.org/presentationml/2006/main">
  <p:tag name="KSO_WM_DIAGRAM_VIRTUALLY_FRAME" val="{&quot;height&quot;:260,&quot;left&quot;:31.9,&quot;top&quot;:191.9,&quot;width&quot;:888}"/>
</p:tagLst>
</file>

<file path=ppt/tags/tag410.xml><?xml version="1.0" encoding="utf-8"?>
<p:tagLst xmlns:p="http://schemas.openxmlformats.org/presentationml/2006/main">
  <p:tag name="KSO_WM_DIAGRAM_VIRTUALLY_FRAME" val="{&quot;height&quot;:260,&quot;left&quot;:31.9,&quot;top&quot;:191.9,&quot;width&quot;:888}"/>
</p:tagLst>
</file>

<file path=ppt/tags/tag411.xml><?xml version="1.0" encoding="utf-8"?>
<p:tagLst xmlns:p="http://schemas.openxmlformats.org/presentationml/2006/main">
  <p:tag name="KSO_WM_DIAGRAM_VIRTUALLY_FRAME" val="{&quot;height&quot;:260,&quot;left&quot;:31.9,&quot;top&quot;:191.9,&quot;width&quot;:888}"/>
</p:tagLst>
</file>

<file path=ppt/tags/tag412.xml><?xml version="1.0" encoding="utf-8"?>
<p:tagLst xmlns:p="http://schemas.openxmlformats.org/presentationml/2006/main">
  <p:tag name="KSO_WM_DIAGRAM_VIRTUALLY_FRAME" val="{&quot;height&quot;:260,&quot;left&quot;:31.9,&quot;top&quot;:191.9,&quot;width&quot;:888}"/>
</p:tagLst>
</file>

<file path=ppt/tags/tag413.xml><?xml version="1.0" encoding="utf-8"?>
<p:tagLst xmlns:p="http://schemas.openxmlformats.org/presentationml/2006/main">
  <p:tag name="KSO_WM_DIAGRAM_VIRTUALLY_FRAME" val="{&quot;height&quot;:260,&quot;left&quot;:31.9,&quot;top&quot;:191.9,&quot;width&quot;:888}"/>
</p:tagLst>
</file>

<file path=ppt/tags/tag414.xml><?xml version="1.0" encoding="utf-8"?>
<p:tagLst xmlns:p="http://schemas.openxmlformats.org/presentationml/2006/main">
  <p:tag name="KSO_WM_DIAGRAM_VIRTUALLY_FRAME" val="{&quot;height&quot;:260,&quot;left&quot;:31.9,&quot;top&quot;:191.9,&quot;width&quot;:888}"/>
</p:tagLst>
</file>

<file path=ppt/tags/tag415.xml><?xml version="1.0" encoding="utf-8"?>
<p:tagLst xmlns:p="http://schemas.openxmlformats.org/presentationml/2006/main">
  <p:tag name="KSO_WM_DIAGRAM_VIRTUALLY_FRAME" val="{&quot;height&quot;:260,&quot;left&quot;:31.9,&quot;top&quot;:191.9,&quot;width&quot;:888}"/>
</p:tagLst>
</file>

<file path=ppt/tags/tag416.xml><?xml version="1.0" encoding="utf-8"?>
<p:tagLst xmlns:p="http://schemas.openxmlformats.org/presentationml/2006/main">
  <p:tag name="KSO_WM_DIAGRAM_VIRTUALLY_FRAME" val="{&quot;height&quot;:260,&quot;left&quot;:31.9,&quot;top&quot;:191.9,&quot;width&quot;:888}"/>
</p:tagLst>
</file>

<file path=ppt/tags/tag417.xml><?xml version="1.0" encoding="utf-8"?>
<p:tagLst xmlns:p="http://schemas.openxmlformats.org/presentationml/2006/main">
  <p:tag name="KSO_WM_DIAGRAM_VIRTUALLY_FRAME" val="{&quot;height&quot;:119.7,&quot;left&quot;:668.55,&quot;top&quot;:331.25,&quot;width&quot;:255.55}"/>
</p:tagLst>
</file>

<file path=ppt/tags/tag418.xml><?xml version="1.0" encoding="utf-8"?>
<p:tagLst xmlns:p="http://schemas.openxmlformats.org/presentationml/2006/main">
  <p:tag name="KSO_WM_DIAGRAM_VIRTUALLY_FRAME" val="{&quot;height&quot;:119.7,&quot;left&quot;:668.55,&quot;top&quot;:331.25,&quot;width&quot;:255.55}"/>
</p:tagLst>
</file>

<file path=ppt/tags/tag419.xml><?xml version="1.0" encoding="utf-8"?>
<p:tagLst xmlns:p="http://schemas.openxmlformats.org/presentationml/2006/main">
  <p:tag name="KSO_WM_DIAGRAM_VIRTUALLY_FRAME" val="{&quot;height&quot;:119.7,&quot;left&quot;:668.55,&quot;top&quot;:331.25,&quot;width&quot;:255.55}"/>
</p:tagLst>
</file>

<file path=ppt/tags/tag420.xml><?xml version="1.0" encoding="utf-8"?>
<p:tagLst xmlns:p="http://schemas.openxmlformats.org/presentationml/2006/main">
  <p:tag name="KSO_WM_DIAGRAM_VIRTUALLY_FRAME" val="{&quot;height&quot;:119.7,&quot;left&quot;:668.55,&quot;top&quot;:331.25,&quot;width&quot;:255.55}"/>
</p:tagLst>
</file>

<file path=ppt/tags/tag421.xml><?xml version="1.0" encoding="utf-8"?>
<p:tagLst xmlns:p="http://schemas.openxmlformats.org/presentationml/2006/main">
  <p:tag name="TABLE_ENDDRAG_ORIGIN_RECT" val="385*173"/>
  <p:tag name="TABLE_ENDDRAG_RECT" val="25*144*385*173"/>
</p:tagLst>
</file>

<file path=ppt/tags/tag422.xml><?xml version="1.0" encoding="utf-8"?>
<p:tagLst xmlns:p="http://schemas.openxmlformats.org/presentationml/2006/main">
  <p:tag name="TABLE_ENDDRAG_ORIGIN_RECT" val="385*136"/>
  <p:tag name="TABLE_ENDDRAG_RECT" val="25*340*385*136"/>
</p:tagLst>
</file>

<file path=ppt/tags/tag42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2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2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2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27.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28.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2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7.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8.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3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7.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8.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4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7.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8.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5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467.xml><?xml version="1.0" encoding="utf-8"?>
<p:tagLst xmlns:p="http://schemas.openxmlformats.org/presentationml/2006/main">
  <p:tag name="KSO_WM_DIAGRAM_VIRTUALLY_FRAME" val="{&quot;height&quot;:397.75,&quot;left&quot;:25.25,&quot;top&quot;:115.05,&quot;width&quot;:895.05}"/>
</p:tagLst>
</file>

<file path=ppt/tags/tag468.xml><?xml version="1.0" encoding="utf-8"?>
<p:tagLst xmlns:p="http://schemas.openxmlformats.org/presentationml/2006/main">
  <p:tag name="KSO_WM_DIAGRAM_VIRTUALLY_FRAME" val="{&quot;height&quot;:397.75,&quot;left&quot;:25.25,&quot;top&quot;:115.05,&quot;width&quot;:895.05}"/>
</p:tagLst>
</file>

<file path=ppt/tags/tag469.xml><?xml version="1.0" encoding="utf-8"?>
<p:tagLst xmlns:p="http://schemas.openxmlformats.org/presentationml/2006/main">
  <p:tag name="KSO_WM_DIAGRAM_VIRTUALLY_FRAME" val="{&quot;height&quot;:397.75,&quot;left&quot;:25.25,&quot;top&quot;:115.05,&quot;width&quot;:895.05}"/>
</p:tagLst>
</file>

<file path=ppt/tags/tag470.xml><?xml version="1.0" encoding="utf-8"?>
<p:tagLst xmlns:p="http://schemas.openxmlformats.org/presentationml/2006/main">
  <p:tag name="KSO_WM_DIAGRAM_VIRTUALLY_FRAME" val="{&quot;height&quot;:397.75,&quot;left&quot;:25.25,&quot;top&quot;:115.05,&quot;width&quot;:895.05}"/>
</p:tagLst>
</file>

<file path=ppt/tags/tag471.xml><?xml version="1.0" encoding="utf-8"?>
<p:tagLst xmlns:p="http://schemas.openxmlformats.org/presentationml/2006/main">
  <p:tag name="KSO_WM_DIAGRAM_VIRTUALLY_FRAME" val="{&quot;height&quot;:397.75,&quot;left&quot;:25.25,&quot;top&quot;:115.05,&quot;width&quot;:895.05}"/>
</p:tagLst>
</file>

<file path=ppt/tags/tag472.xml><?xml version="1.0" encoding="utf-8"?>
<p:tagLst xmlns:p="http://schemas.openxmlformats.org/presentationml/2006/main">
  <p:tag name="KSO_WM_DIAGRAM_VIRTUALLY_FRAME" val="{&quot;height&quot;:397.75,&quot;left&quot;:25.25,&quot;top&quot;:115.05,&quot;width&quot;:895.05}"/>
</p:tagLst>
</file>

<file path=ppt/tags/tag473.xml><?xml version="1.0" encoding="utf-8"?>
<p:tagLst xmlns:p="http://schemas.openxmlformats.org/presentationml/2006/main">
  <p:tag name="KSO_WM_DIAGRAM_VIRTUALLY_FRAME" val="{&quot;height&quot;:397.75,&quot;left&quot;:25.25,&quot;top&quot;:115.05,&quot;width&quot;:895.05}"/>
</p:tagLst>
</file>

<file path=ppt/tags/tag474.xml><?xml version="1.0" encoding="utf-8"?>
<p:tagLst xmlns:p="http://schemas.openxmlformats.org/presentationml/2006/main">
  <p:tag name="KSO_WM_DIAGRAM_VIRTUALLY_FRAME" val="{&quot;height&quot;:397.75,&quot;left&quot;:25.25,&quot;top&quot;:115.05,&quot;width&quot;:895.05}"/>
</p:tagLst>
</file>

<file path=ppt/tags/tag475.xml><?xml version="1.0" encoding="utf-8"?>
<p:tagLst xmlns:p="http://schemas.openxmlformats.org/presentationml/2006/main">
  <p:tag name="KSO_WM_DIAGRAM_VIRTUALLY_FRAME" val="{&quot;height&quot;:397.75,&quot;left&quot;:25.25,&quot;top&quot;:115.05,&quot;width&quot;:895.05}"/>
</p:tagLst>
</file>

<file path=ppt/tags/tag476.xml><?xml version="1.0" encoding="utf-8"?>
<p:tagLst xmlns:p="http://schemas.openxmlformats.org/presentationml/2006/main">
  <p:tag name="KSO_WM_DIAGRAM_VIRTUALLY_FRAME" val="{&quot;height&quot;:397.75,&quot;left&quot;:25.25,&quot;top&quot;:115.05,&quot;width&quot;:895.05}"/>
</p:tagLst>
</file>

<file path=ppt/tags/tag477.xml><?xml version="1.0" encoding="utf-8"?>
<p:tagLst xmlns:p="http://schemas.openxmlformats.org/presentationml/2006/main">
  <p:tag name="KSO_WM_DIAGRAM_VIRTUALLY_FRAME" val="{&quot;height&quot;:397.75,&quot;left&quot;:25.25,&quot;top&quot;:115.05,&quot;width&quot;:895.05}"/>
</p:tagLst>
</file>

<file path=ppt/tags/tag478.xml><?xml version="1.0" encoding="utf-8"?>
<p:tagLst xmlns:p="http://schemas.openxmlformats.org/presentationml/2006/main">
  <p:tag name="KSO_WM_DIAGRAM_VIRTUALLY_FRAME" val="{&quot;height&quot;:397.75,&quot;left&quot;:25.25,&quot;top&quot;:115.05,&quot;width&quot;:895.05}"/>
</p:tagLst>
</file>

<file path=ppt/tags/tag479.xml><?xml version="1.0" encoding="utf-8"?>
<p:tagLst xmlns:p="http://schemas.openxmlformats.org/presentationml/2006/main">
  <p:tag name="KSO_WM_DIAGRAM_VIRTUALLY_FRAME" val="{&quot;height&quot;:397.75,&quot;left&quot;:25.25,&quot;top&quot;:115.05,&quot;width&quot;:895.05}"/>
</p:tagLst>
</file>

<file path=ppt/tags/tag480.xml><?xml version="1.0" encoding="utf-8"?>
<p:tagLst xmlns:p="http://schemas.openxmlformats.org/presentationml/2006/main">
  <p:tag name="KSO_WM_DIAGRAM_VIRTUALLY_FRAME" val="{&quot;height&quot;:397.75,&quot;left&quot;:25.25,&quot;top&quot;:115.05,&quot;width&quot;:895.05}"/>
</p:tagLst>
</file>

<file path=ppt/tags/tag481.xml><?xml version="1.0" encoding="utf-8"?>
<p:tagLst xmlns:p="http://schemas.openxmlformats.org/presentationml/2006/main">
  <p:tag name="KSO_WM_DIAGRAM_VIRTUALLY_FRAME" val="{&quot;height&quot;:397.75,&quot;left&quot;:25.25,&quot;top&quot;:115.05,&quot;width&quot;:895.05}"/>
</p:tagLst>
</file>

<file path=ppt/tags/tag482.xml><?xml version="1.0" encoding="utf-8"?>
<p:tagLst xmlns:p="http://schemas.openxmlformats.org/presentationml/2006/main">
  <p:tag name="KSO_WM_DIAGRAM_VIRTUALLY_FRAME" val="{&quot;height&quot;:397.75,&quot;left&quot;:25.25,&quot;top&quot;:115.05,&quot;width&quot;:895.05}"/>
</p:tagLst>
</file>

<file path=ppt/tags/tag483.xml><?xml version="1.0" encoding="utf-8"?>
<p:tagLst xmlns:p="http://schemas.openxmlformats.org/presentationml/2006/main">
  <p:tag name="KSO_WM_DIAGRAM_VIRTUALLY_FRAME" val="{&quot;height&quot;:397.75,&quot;left&quot;:25.25,&quot;top&quot;:115.05,&quot;width&quot;:895.05}"/>
</p:tagLst>
</file>

<file path=ppt/tags/tag484.xml><?xml version="1.0" encoding="utf-8"?>
<p:tagLst xmlns:p="http://schemas.openxmlformats.org/presentationml/2006/main">
  <p:tag name="KSO_WM_DIAGRAM_VIRTUALLY_FRAME" val="{&quot;height&quot;:397.75,&quot;left&quot;:25.25,&quot;top&quot;:115.05,&quot;width&quot;:895.05}"/>
</p:tagLst>
</file>

<file path=ppt/tags/tag485.xml><?xml version="1.0" encoding="utf-8"?>
<p:tagLst xmlns:p="http://schemas.openxmlformats.org/presentationml/2006/main">
  <p:tag name="KSO_WM_DIAGRAM_VIRTUALLY_FRAME" val="{&quot;height&quot;:360.9,&quot;left&quot;:25.25,&quot;top&quot;:163.3,&quot;width&quot;:895.6}"/>
</p:tagLst>
</file>

<file path=ppt/tags/tag486.xml><?xml version="1.0" encoding="utf-8"?>
<p:tagLst xmlns:p="http://schemas.openxmlformats.org/presentationml/2006/main">
  <p:tag name="KSO_WM_DIAGRAM_VIRTUALLY_FRAME" val="{&quot;height&quot;:360.9,&quot;left&quot;:25.25,&quot;top&quot;:163.3,&quot;width&quot;:895.6}"/>
</p:tagLst>
</file>

<file path=ppt/tags/tag487.xml><?xml version="1.0" encoding="utf-8"?>
<p:tagLst xmlns:p="http://schemas.openxmlformats.org/presentationml/2006/main">
  <p:tag name="KSO_WM_DIAGRAM_VIRTUALLY_FRAME" val="{&quot;height&quot;:360.9,&quot;left&quot;:25.25,&quot;top&quot;:163.3,&quot;width&quot;:895.6}"/>
</p:tagLst>
</file>

<file path=ppt/tags/tag488.xml><?xml version="1.0" encoding="utf-8"?>
<p:tagLst xmlns:p="http://schemas.openxmlformats.org/presentationml/2006/main">
  <p:tag name="KSO_WM_DIAGRAM_VIRTUALLY_FRAME" val="{&quot;height&quot;:360.9,&quot;left&quot;:25.25,&quot;top&quot;:163.3,&quot;width&quot;:895.6}"/>
</p:tagLst>
</file>

<file path=ppt/tags/tag489.xml><?xml version="1.0" encoding="utf-8"?>
<p:tagLst xmlns:p="http://schemas.openxmlformats.org/presentationml/2006/main">
  <p:tag name="KSO_WM_DIAGRAM_VIRTUALLY_FRAME" val="{&quot;height&quot;:360.9,&quot;left&quot;:25.25,&quot;top&quot;:163.3,&quot;width&quot;:895.6}"/>
</p:tagLst>
</file>

<file path=ppt/tags/tag490.xml><?xml version="1.0" encoding="utf-8"?>
<p:tagLst xmlns:p="http://schemas.openxmlformats.org/presentationml/2006/main">
  <p:tag name="KSO_WM_DIAGRAM_VIRTUALLY_FRAME" val="{&quot;height&quot;:360.9,&quot;left&quot;:25.25,&quot;top&quot;:163.3,&quot;width&quot;:895.6}"/>
</p:tagLst>
</file>

<file path=ppt/tags/tag491.xml><?xml version="1.0" encoding="utf-8"?>
<p:tagLst xmlns:p="http://schemas.openxmlformats.org/presentationml/2006/main">
  <p:tag name="KSO_WM_DIAGRAM_VIRTUALLY_FRAME" val="{&quot;height&quot;:360.9,&quot;left&quot;:25.25,&quot;top&quot;:163.3,&quot;width&quot;:895.6}"/>
</p:tagLst>
</file>

<file path=ppt/tags/tag492.xml><?xml version="1.0" encoding="utf-8"?>
<p:tagLst xmlns:p="http://schemas.openxmlformats.org/presentationml/2006/main">
  <p:tag name="KSO_WM_DIAGRAM_VIRTUALLY_FRAME" val="{&quot;height&quot;:360.9,&quot;left&quot;:25.25,&quot;top&quot;:163.3,&quot;width&quot;:895.6}"/>
</p:tagLst>
</file>

<file path=ppt/tags/tag493.xml><?xml version="1.0" encoding="utf-8"?>
<p:tagLst xmlns:p="http://schemas.openxmlformats.org/presentationml/2006/main">
  <p:tag name="KSO_WM_DIAGRAM_VIRTUALLY_FRAME" val="{&quot;height&quot;:360.9,&quot;left&quot;:25.25,&quot;top&quot;:163.3,&quot;width&quot;:895.6}"/>
</p:tagLst>
</file>

<file path=ppt/tags/tag494.xml><?xml version="1.0" encoding="utf-8"?>
<p:tagLst xmlns:p="http://schemas.openxmlformats.org/presentationml/2006/main">
  <p:tag name="KSO_WM_DIAGRAM_VIRTUALLY_FRAME" val="{&quot;height&quot;:360.9,&quot;left&quot;:25.25,&quot;top&quot;:163.3,&quot;width&quot;:895.6}"/>
</p:tagLst>
</file>

<file path=ppt/tags/tag495.xml><?xml version="1.0" encoding="utf-8"?>
<p:tagLst xmlns:p="http://schemas.openxmlformats.org/presentationml/2006/main">
  <p:tag name="KSO_WM_DIAGRAM_VIRTUALLY_FRAME" val="{&quot;height&quot;:360.9,&quot;left&quot;:25.25,&quot;top&quot;:163.3,&quot;width&quot;:895.6}"/>
</p:tagLst>
</file>

<file path=ppt/tags/tag496.xml><?xml version="1.0" encoding="utf-8"?>
<p:tagLst xmlns:p="http://schemas.openxmlformats.org/presentationml/2006/main">
  <p:tag name="KSO_WM_DIAGRAM_VIRTUALLY_FRAME" val="{&quot;height&quot;:360.9,&quot;left&quot;:25.25,&quot;top&quot;:163.3,&quot;width&quot;:895.6}"/>
</p:tagLst>
</file>

<file path=ppt/tags/tag497.xml><?xml version="1.0" encoding="utf-8"?>
<p:tagLst xmlns:p="http://schemas.openxmlformats.org/presentationml/2006/main">
  <p:tag name="KSO_WM_DIAGRAM_VIRTUALLY_FRAME" val="{&quot;height&quot;:360.9,&quot;left&quot;:25.25,&quot;top&quot;:163.3,&quot;width&quot;:895.6}"/>
</p:tagLst>
</file>

<file path=ppt/tags/tag498.xml><?xml version="1.0" encoding="utf-8"?>
<p:tagLst xmlns:p="http://schemas.openxmlformats.org/presentationml/2006/main">
  <p:tag name="KSO_WM_DIAGRAM_VIRTUALLY_FRAME" val="{&quot;height&quot;:360.9,&quot;left&quot;:25.25,&quot;top&quot;:163.3,&quot;width&quot;:895.6}"/>
</p:tagLst>
</file>

<file path=ppt/tags/tag499.xml><?xml version="1.0" encoding="utf-8"?>
<p:tagLst xmlns:p="http://schemas.openxmlformats.org/presentationml/2006/main">
  <p:tag name="KSO_WM_DIAGRAM_VIRTUALLY_FRAME" val="{&quot;height&quot;:360.9,&quot;left&quot;:25.25,&quot;top&quot;:163.3,&quot;width&quot;:895.6}"/>
</p:tagLst>
</file>

<file path=ppt/tags/tag500.xml><?xml version="1.0" encoding="utf-8"?>
<p:tagLst xmlns:p="http://schemas.openxmlformats.org/presentationml/2006/main">
  <p:tag name="TABLE_ENDDRAG_ORIGIN_RECT" val="538*256"/>
  <p:tag name="TABLE_ENDDRAG_RECT" val="381*230*538*256"/>
</p:tagLst>
</file>

<file path=ppt/tags/tag501.xml><?xml version="1.0" encoding="utf-8"?>
<p:tagLst xmlns:p="http://schemas.openxmlformats.org/presentationml/2006/main">
  <p:tag name="KSO_WM_DIAGRAM_VIRTUALLY_FRAME" val="{&quot;height&quot;:338.45,&quot;left&quot;:23.1,&quot;top&quot;:162.5,&quot;width&quot;:900}"/>
</p:tagLst>
</file>

<file path=ppt/tags/tag502.xml><?xml version="1.0" encoding="utf-8"?>
<p:tagLst xmlns:p="http://schemas.openxmlformats.org/presentationml/2006/main">
  <p:tag name="KSO_WM_DIAGRAM_VIRTUALLY_FRAME" val="{&quot;height&quot;:338.45,&quot;left&quot;:23.1,&quot;top&quot;:162.5,&quot;width&quot;:900}"/>
</p:tagLst>
</file>

<file path=ppt/tags/tag503.xml><?xml version="1.0" encoding="utf-8"?>
<p:tagLst xmlns:p="http://schemas.openxmlformats.org/presentationml/2006/main">
  <p:tag name="KSO_WM_DIAGRAM_VIRTUALLY_FRAME" val="{&quot;height&quot;:338.45,&quot;left&quot;:23.1,&quot;top&quot;:162.5,&quot;width&quot;:900}"/>
</p:tagLst>
</file>

<file path=ppt/tags/tag504.xml><?xml version="1.0" encoding="utf-8"?>
<p:tagLst xmlns:p="http://schemas.openxmlformats.org/presentationml/2006/main">
  <p:tag name="KSO_WM_DIAGRAM_VIRTUALLY_FRAME" val="{&quot;height&quot;:338.45,&quot;left&quot;:23.1,&quot;top&quot;:162.5,&quot;width&quot;:900}"/>
</p:tagLst>
</file>

<file path=ppt/tags/tag505.xml><?xml version="1.0" encoding="utf-8"?>
<p:tagLst xmlns:p="http://schemas.openxmlformats.org/presentationml/2006/main">
  <p:tag name="KSO_WM_DIAGRAM_VIRTUALLY_FRAME" val="{&quot;height&quot;:338.45,&quot;left&quot;:23.1,&quot;top&quot;:162.5,&quot;width&quot;:900}"/>
</p:tagLst>
</file>

<file path=ppt/tags/tag506.xml><?xml version="1.0" encoding="utf-8"?>
<p:tagLst xmlns:p="http://schemas.openxmlformats.org/presentationml/2006/main">
  <p:tag name="KSO_WM_DIAGRAM_VIRTUALLY_FRAME" val="{&quot;height&quot;:338.45,&quot;left&quot;:23.1,&quot;top&quot;:162.5,&quot;width&quot;:900}"/>
</p:tagLst>
</file>

<file path=ppt/tags/tag507.xml><?xml version="1.0" encoding="utf-8"?>
<p:tagLst xmlns:p="http://schemas.openxmlformats.org/presentationml/2006/main">
  <p:tag name="KSO_WM_DIAGRAM_VIRTUALLY_FRAME" val="{&quot;height&quot;:338.45,&quot;left&quot;:23.1,&quot;top&quot;:162.5,&quot;width&quot;:900}"/>
</p:tagLst>
</file>

<file path=ppt/tags/tag508.xml><?xml version="1.0" encoding="utf-8"?>
<p:tagLst xmlns:p="http://schemas.openxmlformats.org/presentationml/2006/main">
  <p:tag name="KSO_WM_DIAGRAM_VIRTUALLY_FRAME" val="{&quot;height&quot;:338.45,&quot;left&quot;:23.1,&quot;top&quot;:162.5,&quot;width&quot;:900}"/>
</p:tagLst>
</file>

<file path=ppt/tags/tag509.xml><?xml version="1.0" encoding="utf-8"?>
<p:tagLst xmlns:p="http://schemas.openxmlformats.org/presentationml/2006/main">
  <p:tag name="KSO_WM_DIAGRAM_VIRTUALLY_FRAME" val="{&quot;height&quot;:338.45,&quot;left&quot;:23.1,&quot;top&quot;:162.5,&quot;width&quot;:900}"/>
</p:tagLst>
</file>

<file path=ppt/tags/tag510.xml><?xml version="1.0" encoding="utf-8"?>
<p:tagLst xmlns:p="http://schemas.openxmlformats.org/presentationml/2006/main">
  <p:tag name="KSO_WM_DIAGRAM_VIRTUALLY_FRAME" val="{&quot;height&quot;:338.45,&quot;left&quot;:23.1,&quot;top&quot;:162.5,&quot;width&quot;:900}"/>
</p:tagLst>
</file>

<file path=ppt/tags/tag511.xml><?xml version="1.0" encoding="utf-8"?>
<p:tagLst xmlns:p="http://schemas.openxmlformats.org/presentationml/2006/main">
  <p:tag name="KSO_WM_DIAGRAM_VIRTUALLY_FRAME" val="{&quot;height&quot;:338.45,&quot;left&quot;:23.1,&quot;top&quot;:162.5,&quot;width&quot;:900}"/>
</p:tagLst>
</file>

<file path=ppt/tags/tag512.xml><?xml version="1.0" encoding="utf-8"?>
<p:tagLst xmlns:p="http://schemas.openxmlformats.org/presentationml/2006/main">
  <p:tag name="KSO_WM_DIAGRAM_VIRTUALLY_FRAME" val="{&quot;height&quot;:338.45,&quot;left&quot;:23.1,&quot;top&quot;:162.5,&quot;width&quot;:900}"/>
</p:tagLst>
</file>

<file path=ppt/tags/tag513.xml><?xml version="1.0" encoding="utf-8"?>
<p:tagLst xmlns:p="http://schemas.openxmlformats.org/presentationml/2006/main">
  <p:tag name="KSO_WM_DIAGRAM_VIRTUALLY_FRAME" val="{&quot;height&quot;:338.45,&quot;left&quot;:23.1,&quot;top&quot;:162.5,&quot;width&quot;:900}"/>
</p:tagLst>
</file>

<file path=ppt/tags/tag514.xml><?xml version="1.0" encoding="utf-8"?>
<p:tagLst xmlns:p="http://schemas.openxmlformats.org/presentationml/2006/main">
  <p:tag name="KSO_WM_DIAGRAM_VIRTUALLY_FRAME" val="{&quot;height&quot;:338.45,&quot;left&quot;:23.1,&quot;top&quot;:162.5,&quot;width&quot;:900}"/>
</p:tagLst>
</file>

<file path=ppt/tags/tag515.xml><?xml version="1.0" encoding="utf-8"?>
<p:tagLst xmlns:p="http://schemas.openxmlformats.org/presentationml/2006/main">
  <p:tag name="KSO_WM_DIAGRAM_VIRTUALLY_FRAME" val="{&quot;height&quot;:338.45,&quot;left&quot;:23.1,&quot;top&quot;:162.5,&quot;width&quot;:900}"/>
</p:tagLst>
</file>

<file path=ppt/tags/tag516.xml><?xml version="1.0" encoding="utf-8"?>
<p:tagLst xmlns:p="http://schemas.openxmlformats.org/presentationml/2006/main">
  <p:tag name="KSO_WM_DIAGRAM_VIRTUALLY_FRAME" val="{&quot;height&quot;:338.45,&quot;left&quot;:23.1,&quot;top&quot;:162.5,&quot;width&quot;:900}"/>
</p:tagLst>
</file>

<file path=ppt/tags/tag517.xml><?xml version="1.0" encoding="utf-8"?>
<p:tagLst xmlns:p="http://schemas.openxmlformats.org/presentationml/2006/main">
  <p:tag name="KSO_WM_DIAGRAM_VIRTUALLY_FRAME" val="{&quot;height&quot;:431.8,&quot;left&quot;:24,&quot;top&quot;:81.85,&quot;width&quot;:301.45}"/>
</p:tagLst>
</file>

<file path=ppt/tags/tag518.xml><?xml version="1.0" encoding="utf-8"?>
<p:tagLst xmlns:p="http://schemas.openxmlformats.org/presentationml/2006/main">
  <p:tag name="KSO_WM_DIAGRAM_VIRTUALLY_FRAME" val="{&quot;height&quot;:431.8,&quot;left&quot;:24,&quot;top&quot;:81.85,&quot;width&quot;:301.45}"/>
</p:tagLst>
</file>

<file path=ppt/tags/tag519.xml><?xml version="1.0" encoding="utf-8"?>
<p:tagLst xmlns:p="http://schemas.openxmlformats.org/presentationml/2006/main">
  <p:tag name="KSO_WM_DIAGRAM_VIRTUALLY_FRAME" val="{&quot;height&quot;:398.05,&quot;left&quot;:32.35,&quot;top&quot;:160,&quot;width&quot;:887.65}"/>
</p:tagLst>
</file>

<file path=ppt/tags/tag520.xml><?xml version="1.0" encoding="utf-8"?>
<p:tagLst xmlns:p="http://schemas.openxmlformats.org/presentationml/2006/main">
  <p:tag name="TABLE_ENDDRAG_ORIGIN_RECT" val="461*114"/>
  <p:tag name="TABLE_ENDDRAG_RECT" val="18*393*461*114"/>
</p:tagLst>
</file>

<file path=ppt/tags/tag521.xml><?xml version="1.0" encoding="utf-8"?>
<p:tagLst xmlns:p="http://schemas.openxmlformats.org/presentationml/2006/main">
  <p:tag name="KSO_WM_DIAGRAM_VIRTUALLY_FRAME" val="{&quot;height&quot;:398.05,&quot;left&quot;:32.35,&quot;top&quot;:160,&quot;width&quot;:887.65}"/>
</p:tagLst>
</file>

<file path=ppt/tags/tag522.xml><?xml version="1.0" encoding="utf-8"?>
<p:tagLst xmlns:p="http://schemas.openxmlformats.org/presentationml/2006/main">
  <p:tag name="KSO_WM_DIAGRAM_VIRTUALLY_FRAME" val="{&quot;height&quot;:235,&quot;left&quot;:80,&quot;top&quot;:71.35,&quot;width&quot;:820}"/>
</p:tagLst>
</file>

<file path=ppt/tags/tag523.xml><?xml version="1.0" encoding="utf-8"?>
<p:tagLst xmlns:p="http://schemas.openxmlformats.org/presentationml/2006/main">
  <p:tag name="KSO_WM_DIAGRAM_VIRTUALLY_FRAME" val="{&quot;height&quot;:235,&quot;left&quot;:80,&quot;top&quot;:71.35,&quot;width&quot;:820}"/>
</p:tagLst>
</file>

<file path=ppt/tags/tag524.xml><?xml version="1.0" encoding="utf-8"?>
<p:tagLst xmlns:p="http://schemas.openxmlformats.org/presentationml/2006/main">
  <p:tag name="KSO_WM_DIAGRAM_VIRTUALLY_FRAME" val="{&quot;height&quot;:235,&quot;left&quot;:80,&quot;top&quot;:71.35,&quot;width&quot;:820}"/>
</p:tagLst>
</file>

<file path=ppt/tags/tag525.xml><?xml version="1.0" encoding="utf-8"?>
<p:tagLst xmlns:p="http://schemas.openxmlformats.org/presentationml/2006/main">
  <p:tag name="KSO_WM_DIAGRAM_VIRTUALLY_FRAME" val="{&quot;height&quot;:235,&quot;left&quot;:80,&quot;top&quot;:71.35,&quot;width&quot;:820}"/>
</p:tagLst>
</file>

<file path=ppt/tags/tag526.xml><?xml version="1.0" encoding="utf-8"?>
<p:tagLst xmlns:p="http://schemas.openxmlformats.org/presentationml/2006/main">
  <p:tag name="KSO_WM_DIAGRAM_VIRTUALLY_FRAME" val="{&quot;height&quot;:235,&quot;left&quot;:80,&quot;top&quot;:71.35,&quot;width&quot;:820}"/>
</p:tagLst>
</file>

<file path=ppt/tags/tag527.xml><?xml version="1.0" encoding="utf-8"?>
<p:tagLst xmlns:p="http://schemas.openxmlformats.org/presentationml/2006/main">
  <p:tag name="KSO_WM_DIAGRAM_VIRTUALLY_FRAME" val="{&quot;height&quot;:235,&quot;left&quot;:80,&quot;top&quot;:71.35,&quot;width&quot;:820}"/>
</p:tagLst>
</file>

<file path=ppt/tags/tag528.xml><?xml version="1.0" encoding="utf-8"?>
<p:tagLst xmlns:p="http://schemas.openxmlformats.org/presentationml/2006/main">
  <p:tag name="TABLE_ENDDRAG_ORIGIN_RECT" val="480*205"/>
  <p:tag name="TABLE_ENDDRAG_RECT" val="16*291*480*205"/>
</p:tagLst>
</file>

<file path=ppt/tags/tag529.xml><?xml version="1.0" encoding="utf-8"?>
<p:tagLst xmlns:p="http://schemas.openxmlformats.org/presentationml/2006/main">
  <p:tag name="KSO_WM_DIAGRAM_VIRTUALLY_FRAME" val="{&quot;height&quot;:398.05,&quot;left&quot;:32.35,&quot;top&quot;:160,&quot;width&quot;:887.65}"/>
</p:tagLst>
</file>

<file path=ppt/tags/tag530.xml><?xml version="1.0" encoding="utf-8"?>
<p:tagLst xmlns:p="http://schemas.openxmlformats.org/presentationml/2006/main">
  <p:tag name="KSO_WM_DIAGRAM_VIRTUALLY_FRAME" val="{&quot;height&quot;:350.85,&quot;left&quot;:23.55,&quot;top&quot;:172.05,&quot;width&quot;:896.45}"/>
</p:tagLst>
</file>

<file path=ppt/tags/tag531.xml><?xml version="1.0" encoding="utf-8"?>
<p:tagLst xmlns:p="http://schemas.openxmlformats.org/presentationml/2006/main">
  <p:tag name="KSO_WM_DIAGRAM_VIRTUALLY_FRAME" val="{&quot;height&quot;:350.85,&quot;left&quot;:23.55,&quot;top&quot;:172.05,&quot;width&quot;:896.45}"/>
</p:tagLst>
</file>

<file path=ppt/tags/tag532.xml><?xml version="1.0" encoding="utf-8"?>
<p:tagLst xmlns:p="http://schemas.openxmlformats.org/presentationml/2006/main">
  <p:tag name="KSO_WM_DIAGRAM_VIRTUALLY_FRAME" val="{&quot;height&quot;:350.85,&quot;left&quot;:23.55,&quot;top&quot;:172.05,&quot;width&quot;:896.45}"/>
</p:tagLst>
</file>

<file path=ppt/tags/tag533.xml><?xml version="1.0" encoding="utf-8"?>
<p:tagLst xmlns:p="http://schemas.openxmlformats.org/presentationml/2006/main">
  <p:tag name="KSO_WM_DIAGRAM_VIRTUALLY_FRAME" val="{&quot;height&quot;:350.85,&quot;left&quot;:23.55,&quot;top&quot;:172.05,&quot;width&quot;:896.45}"/>
</p:tagLst>
</file>

<file path=ppt/tags/tag534.xml><?xml version="1.0" encoding="utf-8"?>
<p:tagLst xmlns:p="http://schemas.openxmlformats.org/presentationml/2006/main">
  <p:tag name="KSO_WM_DIAGRAM_VIRTUALLY_FRAME" val="{&quot;height&quot;:350.85,&quot;left&quot;:23.55,&quot;top&quot;:172.05,&quot;width&quot;:896.45}"/>
</p:tagLst>
</file>

<file path=ppt/tags/tag535.xml><?xml version="1.0" encoding="utf-8"?>
<p:tagLst xmlns:p="http://schemas.openxmlformats.org/presentationml/2006/main">
  <p:tag name="KSO_WM_DIAGRAM_VIRTUALLY_FRAME" val="{&quot;height&quot;:350.85,&quot;left&quot;:23.55,&quot;top&quot;:172.05,&quot;width&quot;:896.45}"/>
</p:tagLst>
</file>

<file path=ppt/tags/tag536.xml><?xml version="1.0" encoding="utf-8"?>
<p:tagLst xmlns:p="http://schemas.openxmlformats.org/presentationml/2006/main">
  <p:tag name="KSO_WM_DIAGRAM_VIRTUALLY_FRAME" val="{&quot;height&quot;:350.85,&quot;left&quot;:23.55,&quot;top&quot;:172.05,&quot;width&quot;:896.45}"/>
</p:tagLst>
</file>

<file path=ppt/tags/tag537.xml><?xml version="1.0" encoding="utf-8"?>
<p:tagLst xmlns:p="http://schemas.openxmlformats.org/presentationml/2006/main">
  <p:tag name="KSO_WM_DIAGRAM_VIRTUALLY_FRAME" val="{&quot;height&quot;:398.05,&quot;left&quot;:32.35,&quot;top&quot;:160,&quot;width&quot;:887.65}"/>
</p:tagLst>
</file>

<file path=ppt/tags/tag538.xml><?xml version="1.0" encoding="utf-8"?>
<p:tagLst xmlns:p="http://schemas.openxmlformats.org/presentationml/2006/main">
  <p:tag name="KSO_WM_DIAGRAM_VIRTUALLY_FRAME" val="{&quot;height&quot;:350.85,&quot;left&quot;:23.55,&quot;top&quot;:172.05,&quot;width&quot;:896.45}"/>
</p:tagLst>
</file>

<file path=ppt/tags/tag539.xml><?xml version="1.0" encoding="utf-8"?>
<p:tagLst xmlns:p="http://schemas.openxmlformats.org/presentationml/2006/main">
  <p:tag name="KSO_WM_DIAGRAM_VIRTUALLY_FRAME" val="{&quot;height&quot;:333.1,&quot;left&quot;:31.9,&quot;top&quot;:135.3,&quot;width&quot;:888}"/>
</p:tagLst>
</file>

<file path=ppt/tags/tag540.xml><?xml version="1.0" encoding="utf-8"?>
<p:tagLst xmlns:p="http://schemas.openxmlformats.org/presentationml/2006/main">
  <p:tag name="KSO_WM_DIAGRAM_VIRTUALLY_FRAME" val="{&quot;height&quot;:333.1,&quot;left&quot;:31.9,&quot;top&quot;:135.3,&quot;width&quot;:888}"/>
</p:tagLst>
</file>

<file path=ppt/tags/tag541.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2.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3.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4.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5.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6.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7.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8.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49.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50.xml><?xml version="1.0" encoding="utf-8"?>
<p:tagLst xmlns:p="http://schemas.openxmlformats.org/presentationml/2006/main">
  <p:tag name="KSO_WM_DIAGRAM_VIRTUALLY_FRAME" val="{&quot;height&quot;:355.45960629921257,&quot;left&quot;:621.4882677165353,&quot;top&quot;:142.0171653543307,&quot;width&quot;:322.91015748031504}"/>
</p:tagLst>
</file>

<file path=ppt/tags/tag551.xml><?xml version="1.0" encoding="utf-8"?>
<p:tagLst xmlns:p="http://schemas.openxmlformats.org/presentationml/2006/main">
  <p:tag name="KSO_WM_DIAGRAM_VIRTUALLY_FRAME" val="{&quot;height&quot;:120.5,&quot;left&quot;:207.3,&quot;top&quot;:180.3,&quot;width&quot;:520.3}"/>
</p:tagLst>
</file>

<file path=ppt/tags/tag552.xml><?xml version="1.0" encoding="utf-8"?>
<p:tagLst xmlns:p="http://schemas.openxmlformats.org/presentationml/2006/main">
  <p:tag name="KSO_WM_DIAGRAM_VIRTUALLY_FRAME" val="{&quot;height&quot;:120.5,&quot;left&quot;:207.3,&quot;top&quot;:180.3,&quot;width&quot;:520.3}"/>
</p:tagLst>
</file>

<file path=ppt/tags/tag553.xml><?xml version="1.0" encoding="utf-8"?>
<p:tagLst xmlns:p="http://schemas.openxmlformats.org/presentationml/2006/main">
  <p:tag name="KSO_WM_DIAGRAM_VIRTUALLY_FRAME" val="{&quot;height&quot;:120.5,&quot;left&quot;:207.3,&quot;top&quot;:180.3,&quot;width&quot;:520.3}"/>
</p:tagLst>
</file>

<file path=ppt/tags/tag554.xml><?xml version="1.0" encoding="utf-8"?>
<p:tagLst xmlns:p="http://schemas.openxmlformats.org/presentationml/2006/main">
  <p:tag name="KSO_WM_DIAGRAM_VIRTUALLY_FRAME" val="{&quot;height&quot;:120.5,&quot;left&quot;:207.3,&quot;top&quot;:180.3,&quot;width&quot;:520.3}"/>
</p:tagLst>
</file>

<file path=ppt/tags/tag555.xml><?xml version="1.0" encoding="utf-8"?>
<p:tagLst xmlns:p="http://schemas.openxmlformats.org/presentationml/2006/main">
  <p:tag name="KSO_WM_DIAGRAM_VIRTUALLY_FRAME" val="{&quot;height&quot;:85.05,&quot;left&quot;:33,&quot;top&quot;:60.45,&quot;width&quot;:883.4}"/>
</p:tagLst>
</file>

<file path=ppt/tags/tag556.xml><?xml version="1.0" encoding="utf-8"?>
<p:tagLst xmlns:p="http://schemas.openxmlformats.org/presentationml/2006/main">
  <p:tag name="KSO_WM_DIAGRAM_VIRTUALLY_FRAME" val="{&quot;height&quot;:85.05,&quot;left&quot;:33,&quot;top&quot;:60.45,&quot;width&quot;:883.4}"/>
</p:tagLst>
</file>

<file path=ppt/tags/tag557.xml><?xml version="1.0" encoding="utf-8"?>
<p:tagLst xmlns:p="http://schemas.openxmlformats.org/presentationml/2006/main">
  <p:tag name="KSO_WM_DIAGRAM_VIRTUALLY_FRAME" val="{&quot;height&quot;:85.05,&quot;left&quot;:33,&quot;top&quot;:60.45,&quot;width&quot;:883.4}"/>
</p:tagLst>
</file>

<file path=ppt/tags/tag558.xml><?xml version="1.0" encoding="utf-8"?>
<p:tagLst xmlns:p="http://schemas.openxmlformats.org/presentationml/2006/main">
  <p:tag name="KSO_WM_DIAGRAM_VIRTUALLY_FRAME" val="{&quot;height&quot;:85.05,&quot;left&quot;:33,&quot;top&quot;:60.45,&quot;width&quot;:883.4}"/>
</p:tagLst>
</file>

<file path=ppt/tags/tag55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7.xml><?xml version="1.0" encoding="utf-8"?>
<p:tagLst xmlns:p="http://schemas.openxmlformats.org/presentationml/2006/main">
  <p:tag name="KSO_WM_DIAGRAM_VIRTUALLY_FRAME" val="{&quot;height&quot;:85.05,&quot;left&quot;:33,&quot;top&quot;:60.45,&quot;width&quot;:883.4}"/>
</p:tagLst>
</file>

<file path=ppt/tags/tag568.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6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7.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8.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7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7.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8.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89.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0.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1.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2.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3.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4.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5.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6.xml><?xml version="1.0" encoding="utf-8"?>
<p:tagLst xmlns:p="http://schemas.openxmlformats.org/presentationml/2006/main">
  <p:tag name="KSO_WM_DIAGRAM_VIRTUALLY_FRAME" val="{&quot;height&quot;:326.63968503937014,&quot;left&quot;:27.875433070866144,&quot;top&quot;:164.21748031496062,&quot;width&quot;:887.8498425196851}"/>
</p:tagLst>
</file>

<file path=ppt/tags/tag597.xml><?xml version="1.0" encoding="utf-8"?>
<p:tagLst xmlns:p="http://schemas.openxmlformats.org/presentationml/2006/main">
  <p:tag name="KSO_WM_DIAGRAM_VIRTUALLY_FRAME" val="{&quot;height&quot;:31.4,&quot;left&quot;:207.1,&quot;top&quot;:65.65,&quot;width&quot;:761.25}"/>
</p:tagLst>
</file>

<file path=ppt/tags/tag598.xml><?xml version="1.0" encoding="utf-8"?>
<p:tagLst xmlns:p="http://schemas.openxmlformats.org/presentationml/2006/main">
  <p:tag name="KSO_WM_DIAGRAM_VIRTUALLY_FRAME" val="{&quot;height&quot;:31.4,&quot;left&quot;:207.1,&quot;top&quot;:65.65,&quot;width&quot;:761.25}"/>
</p:tagLst>
</file>

<file path=ppt/tags/tag599.xml><?xml version="1.0" encoding="utf-8"?>
<p:tagLst xmlns:p="http://schemas.openxmlformats.org/presentationml/2006/main">
  <p:tag name="KSO_WM_DIAGRAM_VIRTUALLY_FRAME" val="{&quot;height&quot;:31.4,&quot;left&quot;:207.1,&quot;top&quot;:65.65,&quot;width&quot;:761.25}"/>
</p:tagLst>
</file>

<file path=ppt/tags/tag600.xml><?xml version="1.0" encoding="utf-8"?>
<p:tagLst xmlns:p="http://schemas.openxmlformats.org/presentationml/2006/main">
  <p:tag name="TABLE_ENDDRAG_ORIGIN_RECT" val="875*343"/>
  <p:tag name="TABLE_ENDDRAG_RECT" val="36*85*875*343"/>
</p:tagLst>
</file>

<file path=ppt/tags/tag601.xml><?xml version="1.0" encoding="utf-8"?>
<p:tagLst xmlns:p="http://schemas.openxmlformats.org/presentationml/2006/main">
  <p:tag name="KSO_WM_DIAGRAM_VIRTUALLY_FRAME" val="{&quot;height&quot;:31.4,&quot;left&quot;:207.1,&quot;top&quot;:65.65,&quot;width&quot;:761.25}"/>
</p:tagLst>
</file>

<file path=ppt/tags/tag602.xml><?xml version="1.0" encoding="utf-8"?>
<p:tagLst xmlns:p="http://schemas.openxmlformats.org/presentationml/2006/main">
  <p:tag name="KSO_WM_DIAGRAM_VIRTUALLY_FRAME" val="{&quot;height&quot;:31.4,&quot;left&quot;:207.1,&quot;top&quot;:65.65,&quot;width&quot;:761.25}"/>
</p:tagLst>
</file>

<file path=ppt/tags/tag603.xml><?xml version="1.0" encoding="utf-8"?>
<p:tagLst xmlns:p="http://schemas.openxmlformats.org/presentationml/2006/main">
  <p:tag name="KSO_WM_DIAGRAM_VIRTUALLY_FRAME" val="{&quot;height&quot;:31.4,&quot;left&quot;:207.1,&quot;top&quot;:65.65,&quot;width&quot;:761.25}"/>
</p:tagLst>
</file>

<file path=ppt/tags/tag604.xml><?xml version="1.0" encoding="utf-8"?>
<p:tagLst xmlns:p="http://schemas.openxmlformats.org/presentationml/2006/main">
  <p:tag name="TABLE_ENDDRAG_ORIGIN_RECT" val="902*451"/>
  <p:tag name="TABLE_ENDDRAG_RECT" val="18*82*902*451"/>
</p:tagLst>
</file>

<file path=ppt/tags/tag605.xml><?xml version="1.0" encoding="utf-8"?>
<p:tagLst xmlns:p="http://schemas.openxmlformats.org/presentationml/2006/main">
  <p:tag name="KSO_WM_DIAGRAM_VIRTUALLY_FRAME" val="{&quot;height&quot;:452.0654330708661,&quot;left&quot;:39.45,&quot;top&quot;:84.3127559055118,&quot;width&quot;:857.6679527559056}"/>
</p:tagLst>
</file>

<file path=ppt/tags/tag606.xml><?xml version="1.0" encoding="utf-8"?>
<p:tagLst xmlns:p="http://schemas.openxmlformats.org/presentationml/2006/main">
  <p:tag name="KSO_WM_DIAGRAM_VIRTUALLY_FRAME" val="{&quot;height&quot;:452.0654330708661,&quot;left&quot;:39.45,&quot;top&quot;:84.3127559055118,&quot;width&quot;:857.6679527559056}"/>
</p:tagLst>
</file>

<file path=ppt/tags/tag607.xml><?xml version="1.0" encoding="utf-8"?>
<p:tagLst xmlns:p="http://schemas.openxmlformats.org/presentationml/2006/main">
  <p:tag name="KSO_WM_DIAGRAM_VIRTUALLY_FRAME" val="{&quot;height&quot;:452.0654330708661,&quot;left&quot;:39.45,&quot;top&quot;:84.3127559055118,&quot;width&quot;:857.6679527559056}"/>
</p:tagLst>
</file>

<file path=ppt/tags/tag608.xml><?xml version="1.0" encoding="utf-8"?>
<p:tagLst xmlns:p="http://schemas.openxmlformats.org/presentationml/2006/main">
  <p:tag name="KSO_WM_DIAGRAM_VIRTUALLY_FRAME" val="{&quot;height&quot;:452.0654330708661,&quot;left&quot;:39.45,&quot;top&quot;:84.3127559055118,&quot;width&quot;:857.6679527559056}"/>
</p:tagLst>
</file>

<file path=ppt/tags/tag609.xml><?xml version="1.0" encoding="utf-8"?>
<p:tagLst xmlns:p="http://schemas.openxmlformats.org/presentationml/2006/main">
  <p:tag name="KSO_WM_DIAGRAM_VIRTUALLY_FRAME" val="{&quot;height&quot;:452.0654330708661,&quot;left&quot;:39.45,&quot;top&quot;:84.3127559055118,&quot;width&quot;:857.6679527559056}"/>
</p:tagLst>
</file>

<file path=ppt/tags/tag610.xml><?xml version="1.0" encoding="utf-8"?>
<p:tagLst xmlns:p="http://schemas.openxmlformats.org/presentationml/2006/main">
  <p:tag name="KSO_WM_DIAGRAM_VIRTUALLY_FRAME" val="{&quot;height&quot;:452.0654330708661,&quot;left&quot;:39.45,&quot;top&quot;:84.3127559055118,&quot;width&quot;:857.6679527559056}"/>
</p:tagLst>
</file>

<file path=ppt/tags/tag611.xml><?xml version="1.0" encoding="utf-8"?>
<p:tagLst xmlns:p="http://schemas.openxmlformats.org/presentationml/2006/main">
  <p:tag name="KSO_WM_DIAGRAM_VIRTUALLY_FRAME" val="{&quot;height&quot;:452.0654330708661,&quot;left&quot;:39.45,&quot;top&quot;:84.3127559055118,&quot;width&quot;:857.6679527559056}"/>
</p:tagLst>
</file>

<file path=ppt/tags/tag612.xml><?xml version="1.0" encoding="utf-8"?>
<p:tagLst xmlns:p="http://schemas.openxmlformats.org/presentationml/2006/main">
  <p:tag name="KSO_WM_DIAGRAM_VIRTUALLY_FRAME" val="{&quot;height&quot;:452.0654330708661,&quot;left&quot;:39.45,&quot;top&quot;:84.3127559055118,&quot;width&quot;:857.6679527559056}"/>
</p:tagLst>
</file>

<file path=ppt/tags/tag613.xml><?xml version="1.0" encoding="utf-8"?>
<p:tagLst xmlns:p="http://schemas.openxmlformats.org/presentationml/2006/main">
  <p:tag name="KSO_WM_DIAGRAM_VIRTUALLY_FRAME" val="{&quot;height&quot;:452.0654330708661,&quot;left&quot;:39.45,&quot;top&quot;:84.3127559055118,&quot;width&quot;:857.6679527559056}"/>
</p:tagLst>
</file>

<file path=ppt/tags/tag614.xml><?xml version="1.0" encoding="utf-8"?>
<p:tagLst xmlns:p="http://schemas.openxmlformats.org/presentationml/2006/main">
  <p:tag name="KSO_WM_DIAGRAM_VIRTUALLY_FRAME" val="{&quot;height&quot;:452.0654330708661,&quot;left&quot;:39.45,&quot;top&quot;:84.3127559055118,&quot;width&quot;:857.6679527559056}"/>
</p:tagLst>
</file>

<file path=ppt/tags/tag615.xml><?xml version="1.0" encoding="utf-8"?>
<p:tagLst xmlns:p="http://schemas.openxmlformats.org/presentationml/2006/main">
  <p:tag name="KSO_WM_DIAGRAM_VIRTUALLY_FRAME" val="{&quot;height&quot;:452.0654330708661,&quot;left&quot;:39.45,&quot;top&quot;:84.3127559055118,&quot;width&quot;:857.6679527559056}"/>
</p:tagLst>
</file>

<file path=ppt/tags/tag616.xml><?xml version="1.0" encoding="utf-8"?>
<p:tagLst xmlns:p="http://schemas.openxmlformats.org/presentationml/2006/main">
  <p:tag name="KSO_WM_DIAGRAM_VIRTUALLY_FRAME" val="{&quot;height&quot;:452.0654330708661,&quot;left&quot;:39.45,&quot;top&quot;:84.3127559055118,&quot;width&quot;:857.6679527559056}"/>
</p:tagLst>
</file>

<file path=ppt/tags/tag617.xml><?xml version="1.0" encoding="utf-8"?>
<p:tagLst xmlns:p="http://schemas.openxmlformats.org/presentationml/2006/main">
  <p:tag name="KSO_WM_DIAGRAM_VIRTUALLY_FRAME" val="{&quot;height&quot;:452.0654330708661,&quot;left&quot;:39.45,&quot;top&quot;:84.3127559055118,&quot;width&quot;:857.6679527559056}"/>
</p:tagLst>
</file>

<file path=ppt/tags/tag618.xml><?xml version="1.0" encoding="utf-8"?>
<p:tagLst xmlns:p="http://schemas.openxmlformats.org/presentationml/2006/main">
  <p:tag name="KSO_WM_DIAGRAM_VIRTUALLY_FRAME" val="{&quot;height&quot;:452.0654330708661,&quot;left&quot;:39.45,&quot;top&quot;:84.3127559055118,&quot;width&quot;:857.6679527559056}"/>
</p:tagLst>
</file>

<file path=ppt/tags/tag619.xml><?xml version="1.0" encoding="utf-8"?>
<p:tagLst xmlns:p="http://schemas.openxmlformats.org/presentationml/2006/main">
  <p:tag name="TABLE_ENDDRAG_ORIGIN_RECT" val="938*463"/>
  <p:tag name="TABLE_ENDDRAG_RECT" val="7*76*938*463"/>
</p:tagLst>
</file>

<file path=ppt/tags/tag620.xml><?xml version="1.0" encoding="utf-8"?>
<p:tagLst xmlns:p="http://schemas.openxmlformats.org/presentationml/2006/main">
  <p:tag name="TABLE_ENDDRAG_ORIGIN_RECT" val="938*463"/>
  <p:tag name="TABLE_ENDDRAG_RECT" val="7*76*938*463"/>
</p:tagLst>
</file>

<file path=ppt/tags/tag621.xml><?xml version="1.0" encoding="utf-8"?>
<p:tagLst xmlns:p="http://schemas.openxmlformats.org/presentationml/2006/main">
  <p:tag name="TABLE_ENDDRAG_ORIGIN_RECT" val="938*463"/>
  <p:tag name="TABLE_ENDDRAG_RECT" val="7*76*938*463"/>
</p:tagLst>
</file>

<file path=ppt/tags/tag622.xml><?xml version="1.0" encoding="utf-8"?>
<p:tagLst xmlns:p="http://schemas.openxmlformats.org/presentationml/2006/main">
  <p:tag name="RESOURCE_RECORD_KEY" val="{&quot;10&quot;:[3637846],&quot;70&quot;:[331241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中等线繁"/>
        <a:ea typeface=""/>
        <a:cs typeface=""/>
        <a:font script="Jpan" typeface="游ゴシック Light"/>
        <a:font script="Hang" typeface="맑은 고딕"/>
        <a:font script="Hans" typeface="汉仪中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中等线繁"/>
        <a:ea typeface=""/>
        <a:cs typeface=""/>
        <a:font script="Jpan" typeface="游ゴシック Light"/>
        <a:font script="Hang" typeface="맑은 고딕"/>
        <a:font script="Hans" typeface="汉仪中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楷体_GB2312"/>
        <a:ea typeface="楷体_GB2312"/>
        <a:cs typeface=""/>
      </a:majorFont>
      <a:minorFont>
        <a:latin typeface="楷体"/>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59806</Words>
  <Application>WPS 演示</Application>
  <PresentationFormat>宽屏</PresentationFormat>
  <Paragraphs>7545</Paragraphs>
  <Slides>116</Slides>
  <Notes>51</Notes>
  <HiddenSlides>0</HiddenSlides>
  <MMClips>0</MMClips>
  <ScaleCrop>false</ScaleCrop>
  <HeadingPairs>
    <vt:vector size="8" baseType="variant">
      <vt:variant>
        <vt:lpstr>已用的字体</vt:lpstr>
      </vt:variant>
      <vt:variant>
        <vt:i4>61</vt:i4>
      </vt:variant>
      <vt:variant>
        <vt:lpstr>主题</vt:lpstr>
      </vt:variant>
      <vt:variant>
        <vt:i4>6</vt:i4>
      </vt:variant>
      <vt:variant>
        <vt:lpstr>嵌入 OLE 服务器</vt:lpstr>
      </vt:variant>
      <vt:variant>
        <vt:i4>4</vt:i4>
      </vt:variant>
      <vt:variant>
        <vt:lpstr>幻灯片标题</vt:lpstr>
      </vt:variant>
      <vt:variant>
        <vt:i4>116</vt:i4>
      </vt:variant>
    </vt:vector>
  </HeadingPairs>
  <TitlesOfParts>
    <vt:vector size="187" baseType="lpstr">
      <vt:lpstr>Arial</vt:lpstr>
      <vt:lpstr>宋体</vt:lpstr>
      <vt:lpstr>Wingdings</vt:lpstr>
      <vt:lpstr>Wingdings</vt:lpstr>
      <vt:lpstr>KaiTi_GB2312</vt:lpstr>
      <vt:lpstr>华文宋体</vt:lpstr>
      <vt:lpstr>Kaiti SC</vt:lpstr>
      <vt:lpstr>楷体_GB2312</vt:lpstr>
      <vt:lpstr>汉仪楷体简</vt:lpstr>
      <vt:lpstr>Tahoma</vt:lpstr>
      <vt:lpstr>PMingLiU</vt:lpstr>
      <vt:lpstr>宋体-繁</vt:lpstr>
      <vt:lpstr>Helvetica</vt:lpstr>
      <vt:lpstr>楷体</vt:lpstr>
      <vt:lpstr>汉仪楷体KW</vt:lpstr>
      <vt:lpstr>Kaiti SC Bold</vt:lpstr>
      <vt:lpstr>Comic Sans Pro</vt:lpstr>
      <vt:lpstr>微软雅黑</vt:lpstr>
      <vt:lpstr>汉仪旗黑</vt:lpstr>
      <vt:lpstr>苹方-简</vt:lpstr>
      <vt:lpstr>Wingdings 2</vt:lpstr>
      <vt:lpstr>Calibri</vt:lpstr>
      <vt:lpstr>微软雅黑</vt:lpstr>
      <vt:lpstr>等线</vt:lpstr>
      <vt:lpstr>Songti SC</vt:lpstr>
      <vt:lpstr>宋体</vt:lpstr>
      <vt:lpstr>Arial Unicode MS</vt:lpstr>
      <vt:lpstr>华文楷体</vt:lpstr>
      <vt:lpstr>Times New Roman</vt:lpstr>
      <vt:lpstr>Arial</vt:lpstr>
      <vt:lpstr>Noto Sans SC</vt:lpstr>
      <vt:lpstr>微软雅黑</vt:lpstr>
      <vt:lpstr>Calibri</vt:lpstr>
      <vt:lpstr>MiSans</vt:lpstr>
      <vt:lpstr>MiSans</vt:lpstr>
      <vt:lpstr>Inter</vt:lpstr>
      <vt:lpstr>微软雅黑 Light</vt:lpstr>
      <vt:lpstr>汉仪书宋二KW</vt:lpstr>
      <vt:lpstr>微软雅黑</vt:lpstr>
      <vt:lpstr>MiSans Bold</vt:lpstr>
      <vt:lpstr>Calibri</vt:lpstr>
      <vt:lpstr>Carlito</vt:lpstr>
      <vt:lpstr>等线 Light</vt:lpstr>
      <vt:lpstr>汉仪中等线KW</vt:lpstr>
      <vt:lpstr>Helvetica Neue</vt:lpstr>
      <vt:lpstr>PMingLiU</vt:lpstr>
      <vt:lpstr>冬青黑体简体中文</vt:lpstr>
      <vt:lpstr>汉仪中黑KW</vt:lpstr>
      <vt:lpstr>Carlito</vt:lpstr>
      <vt:lpstr>Comic Sans Pro</vt:lpstr>
      <vt:lpstr>Inter</vt:lpstr>
      <vt:lpstr>KaiTi_GB2312</vt:lpstr>
      <vt:lpstr>MiSans</vt:lpstr>
      <vt:lpstr>MiSans Bold</vt:lpstr>
      <vt:lpstr>Noto Sans SC</vt:lpstr>
      <vt:lpstr>Wingdings 2</vt:lpstr>
      <vt:lpstr>微软雅黑 Light</vt:lpstr>
      <vt:lpstr>楷体</vt:lpstr>
      <vt:lpstr>楷体_GB2312</vt:lpstr>
      <vt:lpstr>等线</vt:lpstr>
      <vt:lpstr>Apple Color Emoji</vt:lpstr>
      <vt:lpstr>Office 主题​​</vt:lpstr>
      <vt:lpstr>1_Office 主题​​</vt:lpstr>
      <vt:lpstr>2_Office 主题​​</vt:lpstr>
      <vt:lpstr>1_WPS</vt:lpstr>
      <vt:lpstr>3_Office 主题​​</vt:lpstr>
      <vt:lpstr>2_WPS</vt:lpstr>
      <vt:lpstr>Word.Document.12</vt:lpstr>
      <vt:lpstr>Excel.Sheet.12</vt:lpstr>
      <vt:lpstr>Package</vt:lpstr>
      <vt:lpstr>Package</vt:lpstr>
      <vt:lpstr>中信银行知识工程整体建设方案</vt:lpstr>
      <vt:lpstr>PowerPoint 演示文稿</vt:lpstr>
      <vt:lpstr>什么是知识工程：知识、知识工程定义</vt:lpstr>
      <vt:lpstr>什么是知识工程：知识工程建设的宗旨及关键要素</vt:lpstr>
      <vt:lpstr>什么是知识工程：从知识接入到知识发布的业界通用范式</vt:lpstr>
      <vt:lpstr>大模型时代为什么需要知识工程：大模型的“能”与“不能”</vt:lpstr>
      <vt:lpstr>PowerPoint 演示文稿</vt:lpstr>
      <vt:lpstr>PowerPoint 演示文稿</vt:lpstr>
      <vt:lpstr>PowerPoint 演示文稿</vt:lpstr>
      <vt:lpstr>PowerPoint 演示文稿</vt:lpstr>
      <vt:lpstr>看大势：全面步入人工智能阶段知识工程面临的新形势——国家政策及监管要求</vt:lpstr>
      <vt:lpstr>看大势：全面步入人工智能阶段知识工程面临的新形势——行业标准</vt:lpstr>
      <vt:lpstr>看同业—工商银行基于知识图谱探索本体知识组织模式，支撑工银智涌大模型推理服务</vt:lpstr>
      <vt:lpstr>看同业—平安银行打造知识工程平台，初步实现本体构建、知识抽取及知识服务的工程化落地能力</vt:lpstr>
      <vt:lpstr>PowerPoint 演示文稿</vt:lpstr>
      <vt:lpstr>看自身：对标信通院知识工程成熟度评价，我行知识工程处于初始级</vt:lpstr>
      <vt:lpstr>核心挑战和建设目标</vt:lpstr>
      <vt:lpstr>PowerPoint 演示文稿</vt:lpstr>
      <vt:lpstr>知识工程平台总体规划思路</vt:lpstr>
      <vt:lpstr>知识工程平台总体规划思路</vt:lpstr>
      <vt:lpstr>知识工程平台整体功能架构规划</vt:lpstr>
      <vt:lpstr>与现状比较，知识工程平台规划主要能力提升点</vt:lpstr>
      <vt:lpstr>PowerPoint 演示文稿</vt:lpstr>
      <vt:lpstr>2.2 资源层建设背景及目标</vt:lpstr>
      <vt:lpstr>2.2 L1资源层整体建设框架</vt:lpstr>
      <vt:lpstr>2.2  L1资源层文档汇聚流程</vt:lpstr>
      <vt:lpstr>2.2  L1资源层文档汇聚流程（示例）</vt:lpstr>
      <vt:lpstr>2.2.1 元数据标准管理（业务元数据）</vt:lpstr>
      <vt:lpstr>2.2.1 元数据标准管理（管理&amp;技术元数据）</vt:lpstr>
      <vt:lpstr>2.2.1 元数据标准审核、发布、更新</vt:lpstr>
      <vt:lpstr>2.2.2 知识汇聚--源端配置</vt:lpstr>
      <vt:lpstr>2.2.2 知识汇聚--文档预处理</vt:lpstr>
      <vt:lpstr>2.2.2 知识汇聚--元数据采集</vt:lpstr>
      <vt:lpstr>2.2.2 知识汇聚--元数据校验注册</vt:lpstr>
      <vt:lpstr>2.2.2 知识汇聚--文档校验存储</vt:lpstr>
      <vt:lpstr>2.2.3 资源管理--文档库管理</vt:lpstr>
      <vt:lpstr>2.2.3 资源管理--知识标签分类</vt:lpstr>
      <vt:lpstr>2.2.3 资源管理--知识标签加工及应用示例</vt:lpstr>
      <vt:lpstr>2.2.3 资源管理--多租户、多空间管理</vt:lpstr>
      <vt:lpstr>2.2.4 知识目录--目录管理发布</vt:lpstr>
      <vt:lpstr>2.2.4 知识目录--目录视图</vt:lpstr>
      <vt:lpstr>2.2.4 知识目录--检索及授权服务</vt:lpstr>
      <vt:lpstr>PowerPoint 演示文稿</vt:lpstr>
      <vt:lpstr>2.3 加工层建设背景及目标</vt:lpstr>
      <vt:lpstr>2.3 加工层整体建设框架</vt:lpstr>
      <vt:lpstr>2.3.1 什么是语义知识图谱</vt:lpstr>
      <vt:lpstr>2.3.1 语义知识图谱本体包含哪些内容</vt:lpstr>
      <vt:lpstr>2.3.1 语义知识图谱的形态介绍</vt:lpstr>
      <vt:lpstr>2.3.1 语义知识图谱核心概念定义</vt:lpstr>
      <vt:lpstr>2.3.1 统一语义知识图谱加工流程</vt:lpstr>
      <vt:lpstr>2.3.1 语义知识图谱加工-本体建模</vt:lpstr>
      <vt:lpstr>2.3.1 统一语义图谱加工-图谱数据接入</vt:lpstr>
      <vt:lpstr>2.3.1 统一语义图谱加工-图谱数据接入功能界面</vt:lpstr>
      <vt:lpstr>2.3.1 语义知识图谱加工-图谱可视化&amp;图谱查询 </vt:lpstr>
      <vt:lpstr>2.3.1 语义知识图谱示例</vt:lpstr>
      <vt:lpstr>2.3.2 专题知识图谱加工流程</vt:lpstr>
      <vt:lpstr>2.3.2 专题知识图谱加工-本体建模</vt:lpstr>
      <vt:lpstr>2.3.2 专题知识图谱加工-文档结构化解析</vt:lpstr>
      <vt:lpstr>2.3.2 专题知识图谱加工-知识抽取</vt:lpstr>
      <vt:lpstr>2.3.2 专题知识图谱加工-图谱生成</vt:lpstr>
      <vt:lpstr>2.3.2 明细实体文档加工流程示例</vt:lpstr>
      <vt:lpstr>2.3.2 明细实体文档检索流程示例</vt:lpstr>
      <vt:lpstr>2.3.3 向量知识库加工流程</vt:lpstr>
      <vt:lpstr>2.3.3 向量知识库加工-基础配置</vt:lpstr>
      <vt:lpstr>2.3.3 向量知识库加工-文档解析</vt:lpstr>
      <vt:lpstr>2.3.3 向量知识库加工-文档解析示例</vt:lpstr>
      <vt:lpstr>2.3.3 向量知识库加工-文档切片</vt:lpstr>
      <vt:lpstr>2.3.3 向量知识库加工-文档切片示例</vt:lpstr>
      <vt:lpstr>2.3.3 向量知识库加工-向量生成</vt:lpstr>
      <vt:lpstr>2.3.3 向量知识库加工-向量生成应用示例</vt:lpstr>
      <vt:lpstr>2.3.3 向量知识库加工流程（类实体文档示例）</vt:lpstr>
      <vt:lpstr>2.3.3 类实体文档检索流程示例</vt:lpstr>
      <vt:lpstr>2.3.4 知识存储</vt:lpstr>
      <vt:lpstr>PowerPoint 演示文稿</vt:lpstr>
      <vt:lpstr>2.4 L3服务层定位及整体框架</vt:lpstr>
      <vt:lpstr>2.4.1 混合索引--文档对象索引 + 文档内容索引</vt:lpstr>
      <vt:lpstr>2.4.1 索引服务--基于“文档对象索引+文档内容索引”的混合索引服务</vt:lpstr>
      <vt:lpstr>2.4.2 核心索引能力API/MCP/ Skill 化封装 </vt:lpstr>
      <vt:lpstr>2.4.2 标准化基础知识服务能力建设——API/MCP</vt:lpstr>
      <vt:lpstr>2.4.2 核心索引能力 Skill 化封装--语义图谱+向量混合检索skill示例</vt:lpstr>
      <vt:lpstr>2.4.2 核心索引能力 Skill 化封装--混合检索skill应用示例</vt:lpstr>
      <vt:lpstr>2.4.2 核心索引能力 Skill 化封装 --Skill 管理工具</vt:lpstr>
      <vt:lpstr>PowerPoint 演示文稿</vt:lpstr>
      <vt:lpstr>2.5 L4监运层建设背景及目标</vt:lpstr>
      <vt:lpstr>2.5 监运层：运营管理自治化，实现智力可进化</vt:lpstr>
      <vt:lpstr>2.5 L4监运层定位及整体框架</vt:lpstr>
      <vt:lpstr>2.5.1 可控制：精细化知识授权（ABAC）+角色功能（RBAC）权限管控</vt:lpstr>
      <vt:lpstr>2.5.1 可观测:全链路Trace埋点 · AI推理黑盒行为可视化审计</vt:lpstr>
      <vt:lpstr>2.5.2 可观测:全链路Trace埋点 · AI推理黑盒行为可视化审计</vt:lpstr>
      <vt:lpstr>2.5.3 可溯源:生成即溯源 · 证据链强绑定 </vt:lpstr>
      <vt:lpstr>2.5.3 可溯源:生成即溯源 · 证据链强绑定</vt:lpstr>
      <vt:lpstr>2.5.4 可解释:知识冲突识别 · 权威抬升与过期沉降</vt:lpstr>
      <vt:lpstr>2.5.5 可演进:通过AI自动化任务实现知识自迭代与增量学习</vt:lpstr>
      <vt:lpstr>2.5.5 可演进: 通过AI自动化任务实现知识自迭代与增量学习</vt:lpstr>
      <vt:lpstr>2.5.6 可闭环:感知-决策-执行-反馈全生命周期自治运营</vt:lpstr>
      <vt:lpstr>PowerPoint 演示文稿</vt:lpstr>
      <vt:lpstr>2.6 L5拓展层：业务衔接延展化，实现支撑可拓展</vt:lpstr>
      <vt:lpstr>2.6.1 业务语义向数字化全域场景延伸</vt:lpstr>
      <vt:lpstr>2.6.1 业务语义向数字化全域场景延伸</vt:lpstr>
      <vt:lpstr>2.6.1 基于语义本体的自主分析决策--信贷领域本体示例</vt:lpstr>
      <vt:lpstr>2.6.1 基于语义本体的自主分析决策--信贷本体结构示例</vt:lpstr>
      <vt:lpstr>2.6.2 模型外挂 RAG 向模型内化重构升级</vt:lpstr>
      <vt:lpstr>PowerPoint 演示文稿</vt:lpstr>
      <vt:lpstr>科技主导的知识建设模式方案</vt:lpstr>
      <vt:lpstr>知识运营团队组织形式</vt:lpstr>
      <vt:lpstr>知识运营流程—知识需求实施流程</vt:lpstr>
      <vt:lpstr>知识运营流程——知识演进及保鲜流程</vt:lpstr>
      <vt:lpstr>知识运营流程——日常知识运营管理</vt:lpstr>
      <vt:lpstr>PowerPoint 演示文稿</vt:lpstr>
      <vt:lpstr>PowerPoint 演示文稿</vt:lpstr>
      <vt:lpstr>总体实施路径规划</vt:lpstr>
      <vt:lpstr>整体规划实施路径（一阶段）</vt:lpstr>
      <vt:lpstr>整体规划实施路径（二阶段）</vt:lpstr>
      <vt:lpstr>整体规划实施路径（三阶段）</vt:lpstr>
      <vt:lpstr>待决策事项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fzchw</dc:creator>
  <cp:lastModifiedBy>WPS_1624193710</cp:lastModifiedBy>
  <cp:revision>858</cp:revision>
  <dcterms:created xsi:type="dcterms:W3CDTF">2026-08-19T09:34:27Z</dcterms:created>
  <dcterms:modified xsi:type="dcterms:W3CDTF">2026-08-19T09:34:27Z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2052-12.1.23540.23540</vt:lpwstr>
  </property>
  <property fmtid="{D5CDD505-2E9C-101B-9397-08002B2CF9AE}" pid="3" name="ICV">
    <vt:lpwstr>67CE57670BBBEED6A278856A475FAE48_43</vt:lpwstr>
  </property>
</Properties>
</file>